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5"/>
  </p:notesMasterIdLst>
  <p:handoutMasterIdLst>
    <p:handoutMasterId r:id="rId190"/>
  </p:handoutMasterIdLst>
  <p:sldIdLst>
    <p:sldId id="256" r:id="rId4"/>
    <p:sldId id="469" r:id="rId5"/>
    <p:sldId id="281" r:id="rId6"/>
    <p:sldId id="284" r:id="rId7"/>
    <p:sldId id="291" r:id="rId8"/>
    <p:sldId id="312" r:id="rId9"/>
    <p:sldId id="470" r:id="rId10"/>
    <p:sldId id="314" r:id="rId11"/>
    <p:sldId id="315" r:id="rId12"/>
    <p:sldId id="316" r:id="rId13"/>
    <p:sldId id="473" r:id="rId14"/>
    <p:sldId id="317" r:id="rId16"/>
    <p:sldId id="318" r:id="rId17"/>
    <p:sldId id="319" r:id="rId18"/>
    <p:sldId id="320" r:id="rId19"/>
    <p:sldId id="321" r:id="rId20"/>
    <p:sldId id="322" r:id="rId21"/>
    <p:sldId id="325" r:id="rId22"/>
    <p:sldId id="326" r:id="rId23"/>
    <p:sldId id="327" r:id="rId24"/>
    <p:sldId id="328" r:id="rId25"/>
    <p:sldId id="329" r:id="rId26"/>
    <p:sldId id="330" r:id="rId27"/>
    <p:sldId id="331" r:id="rId28"/>
    <p:sldId id="332" r:id="rId29"/>
    <p:sldId id="333" r:id="rId30"/>
    <p:sldId id="334" r:id="rId31"/>
    <p:sldId id="335" r:id="rId32"/>
    <p:sldId id="336" r:id="rId33"/>
    <p:sldId id="337" r:id="rId34"/>
    <p:sldId id="338" r:id="rId35"/>
    <p:sldId id="339" r:id="rId36"/>
    <p:sldId id="341" r:id="rId37"/>
    <p:sldId id="342" r:id="rId38"/>
    <p:sldId id="343" r:id="rId39"/>
    <p:sldId id="344" r:id="rId40"/>
    <p:sldId id="477" r:id="rId41"/>
    <p:sldId id="346" r:id="rId42"/>
    <p:sldId id="347" r:id="rId43"/>
    <p:sldId id="348" r:id="rId44"/>
    <p:sldId id="478" r:id="rId45"/>
    <p:sldId id="479" r:id="rId46"/>
    <p:sldId id="480" r:id="rId47"/>
    <p:sldId id="349" r:id="rId48"/>
    <p:sldId id="350" r:id="rId49"/>
    <p:sldId id="351" r:id="rId50"/>
    <p:sldId id="353" r:id="rId51"/>
    <p:sldId id="354" r:id="rId52"/>
    <p:sldId id="355" r:id="rId53"/>
    <p:sldId id="357" r:id="rId54"/>
    <p:sldId id="645" r:id="rId55"/>
    <p:sldId id="358" r:id="rId56"/>
    <p:sldId id="359" r:id="rId57"/>
    <p:sldId id="360" r:id="rId58"/>
    <p:sldId id="361" r:id="rId59"/>
    <p:sldId id="362" r:id="rId60"/>
    <p:sldId id="363" r:id="rId61"/>
    <p:sldId id="364" r:id="rId62"/>
    <p:sldId id="365" r:id="rId63"/>
    <p:sldId id="366" r:id="rId64"/>
    <p:sldId id="367" r:id="rId65"/>
    <p:sldId id="370" r:id="rId66"/>
    <p:sldId id="646" r:id="rId67"/>
    <p:sldId id="371" r:id="rId68"/>
    <p:sldId id="373" r:id="rId69"/>
    <p:sldId id="374" r:id="rId70"/>
    <p:sldId id="375" r:id="rId71"/>
    <p:sldId id="482" r:id="rId72"/>
    <p:sldId id="483" r:id="rId73"/>
    <p:sldId id="484" r:id="rId74"/>
    <p:sldId id="376" r:id="rId75"/>
    <p:sldId id="485" r:id="rId76"/>
    <p:sldId id="487" r:id="rId77"/>
    <p:sldId id="486" r:id="rId78"/>
    <p:sldId id="378" r:id="rId79"/>
    <p:sldId id="490" r:id="rId80"/>
    <p:sldId id="491" r:id="rId81"/>
    <p:sldId id="492" r:id="rId82"/>
    <p:sldId id="493" r:id="rId83"/>
    <p:sldId id="509" r:id="rId84"/>
    <p:sldId id="510" r:id="rId85"/>
    <p:sldId id="495" r:id="rId86"/>
    <p:sldId id="647" r:id="rId87"/>
    <p:sldId id="497" r:id="rId88"/>
    <p:sldId id="498" r:id="rId89"/>
    <p:sldId id="499" r:id="rId90"/>
    <p:sldId id="496" r:id="rId91"/>
    <p:sldId id="500" r:id="rId92"/>
    <p:sldId id="501" r:id="rId93"/>
    <p:sldId id="502" r:id="rId94"/>
    <p:sldId id="382" r:id="rId95"/>
    <p:sldId id="383" r:id="rId96"/>
    <p:sldId id="384" r:id="rId97"/>
    <p:sldId id="385" r:id="rId98"/>
    <p:sldId id="386" r:id="rId99"/>
    <p:sldId id="387" r:id="rId100"/>
    <p:sldId id="388" r:id="rId101"/>
    <p:sldId id="389" r:id="rId102"/>
    <p:sldId id="391" r:id="rId103"/>
    <p:sldId id="392" r:id="rId104"/>
    <p:sldId id="393" r:id="rId105"/>
    <p:sldId id="531" r:id="rId106"/>
    <p:sldId id="396" r:id="rId107"/>
    <p:sldId id="397" r:id="rId108"/>
    <p:sldId id="398" r:id="rId109"/>
    <p:sldId id="503" r:id="rId110"/>
    <p:sldId id="530" r:id="rId111"/>
    <p:sldId id="504" r:id="rId112"/>
    <p:sldId id="399" r:id="rId113"/>
    <p:sldId id="400" r:id="rId114"/>
    <p:sldId id="506" r:id="rId115"/>
    <p:sldId id="507" r:id="rId116"/>
    <p:sldId id="401" r:id="rId117"/>
    <p:sldId id="532" r:id="rId118"/>
    <p:sldId id="403" r:id="rId119"/>
    <p:sldId id="404" r:id="rId120"/>
    <p:sldId id="405" r:id="rId121"/>
    <p:sldId id="649" r:id="rId122"/>
    <p:sldId id="410" r:id="rId123"/>
    <p:sldId id="412" r:id="rId124"/>
    <p:sldId id="413" r:id="rId125"/>
    <p:sldId id="414" r:id="rId126"/>
    <p:sldId id="415" r:id="rId127"/>
    <p:sldId id="513" r:id="rId128"/>
    <p:sldId id="416" r:id="rId129"/>
    <p:sldId id="418" r:id="rId130"/>
    <p:sldId id="419" r:id="rId131"/>
    <p:sldId id="420" r:id="rId132"/>
    <p:sldId id="514" r:id="rId133"/>
    <p:sldId id="422" r:id="rId134"/>
    <p:sldId id="424" r:id="rId135"/>
    <p:sldId id="515" r:id="rId136"/>
    <p:sldId id="426" r:id="rId137"/>
    <p:sldId id="508" r:id="rId138"/>
    <p:sldId id="428" r:id="rId139"/>
    <p:sldId id="429" r:id="rId140"/>
    <p:sldId id="430" r:id="rId141"/>
    <p:sldId id="432" r:id="rId142"/>
    <p:sldId id="433" r:id="rId143"/>
    <p:sldId id="529" r:id="rId144"/>
    <p:sldId id="434" r:id="rId145"/>
    <p:sldId id="435" r:id="rId146"/>
    <p:sldId id="440" r:id="rId147"/>
    <p:sldId id="437" r:id="rId148"/>
    <p:sldId id="439" r:id="rId149"/>
    <p:sldId id="441" r:id="rId150"/>
    <p:sldId id="651" r:id="rId151"/>
    <p:sldId id="652" r:id="rId152"/>
    <p:sldId id="442" r:id="rId153"/>
    <p:sldId id="516" r:id="rId154"/>
    <p:sldId id="517" r:id="rId155"/>
    <p:sldId id="518" r:id="rId156"/>
    <p:sldId id="522" r:id="rId157"/>
    <p:sldId id="523" r:id="rId158"/>
    <p:sldId id="524" r:id="rId159"/>
    <p:sldId id="525" r:id="rId160"/>
    <p:sldId id="446" r:id="rId161"/>
    <p:sldId id="447" r:id="rId162"/>
    <p:sldId id="520" r:id="rId163"/>
    <p:sldId id="521" r:id="rId164"/>
    <p:sldId id="526" r:id="rId165"/>
    <p:sldId id="448" r:id="rId166"/>
    <p:sldId id="449" r:id="rId167"/>
    <p:sldId id="450" r:id="rId168"/>
    <p:sldId id="451" r:id="rId169"/>
    <p:sldId id="452" r:id="rId170"/>
    <p:sldId id="453" r:id="rId171"/>
    <p:sldId id="454" r:id="rId172"/>
    <p:sldId id="527" r:id="rId173"/>
    <p:sldId id="528" r:id="rId174"/>
    <p:sldId id="654" r:id="rId175"/>
    <p:sldId id="655" r:id="rId176"/>
    <p:sldId id="656" r:id="rId177"/>
    <p:sldId id="456" r:id="rId178"/>
    <p:sldId id="457" r:id="rId179"/>
    <p:sldId id="458" r:id="rId180"/>
    <p:sldId id="459" r:id="rId181"/>
    <p:sldId id="460" r:id="rId182"/>
    <p:sldId id="461" r:id="rId183"/>
    <p:sldId id="462" r:id="rId184"/>
    <p:sldId id="463" r:id="rId185"/>
    <p:sldId id="464" r:id="rId186"/>
    <p:sldId id="465" r:id="rId187"/>
    <p:sldId id="466" r:id="rId188"/>
    <p:sldId id="467" r:id="rId189"/>
  </p:sldIdLst>
  <p:sldSz cx="9144000" cy="6858000" type="screen4x3"/>
  <p:notesSz cx="6858000" cy="9144000"/>
  <p:custDataLst>
    <p:tags r:id="rId194"/>
  </p:custDataLst>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29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B2B2B2"/>
    <a:srgbClr val="FFFFFF"/>
    <a:srgbClr val="692A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8418"/>
    <p:restoredTop sz="94660"/>
  </p:normalViewPr>
  <p:slideViewPr>
    <p:cSldViewPr showGuides="1">
      <p:cViewPr varScale="1">
        <p:scale>
          <a:sx n="66" d="100"/>
          <a:sy n="66" d="100"/>
        </p:scale>
        <p:origin x="-540" y="-114"/>
      </p:cViewPr>
      <p:guideLst>
        <p:guide orient="horz" pos="2159"/>
        <p:guide pos="2928"/>
      </p:guideLst>
    </p:cSldViewPr>
  </p:slideViewPr>
  <p:notesTextViewPr>
    <p:cViewPr>
      <p:scale>
        <a:sx n="1" d="1"/>
        <a:sy n="1" d="1"/>
      </p:scale>
      <p:origin x="0" y="0"/>
    </p:cViewPr>
  </p:notesTextViewPr>
  <p:gridSpacing cx="71999" cy="71999"/>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4" Type="http://schemas.openxmlformats.org/officeDocument/2006/relationships/tags" Target="tags/tag19.xml"/><Relationship Id="rId193" Type="http://schemas.openxmlformats.org/officeDocument/2006/relationships/tableStyles" Target="tableStyles.xml"/><Relationship Id="rId192" Type="http://schemas.openxmlformats.org/officeDocument/2006/relationships/viewProps" Target="viewProps.xml"/><Relationship Id="rId191" Type="http://schemas.openxmlformats.org/officeDocument/2006/relationships/presProps" Target="presProps.xml"/><Relationship Id="rId190" Type="http://schemas.openxmlformats.org/officeDocument/2006/relationships/handoutMaster" Target="handoutMasters/handoutMaster1.xml"/><Relationship Id="rId19" Type="http://schemas.openxmlformats.org/officeDocument/2006/relationships/slide" Target="slides/slide15.xml"/><Relationship Id="rId189" Type="http://schemas.openxmlformats.org/officeDocument/2006/relationships/slide" Target="slides/slide185.xml"/><Relationship Id="rId188" Type="http://schemas.openxmlformats.org/officeDocument/2006/relationships/slide" Target="slides/slide184.xml"/><Relationship Id="rId187" Type="http://schemas.openxmlformats.org/officeDocument/2006/relationships/slide" Target="slides/slide183.xml"/><Relationship Id="rId186" Type="http://schemas.openxmlformats.org/officeDocument/2006/relationships/slide" Target="slides/slide182.xml"/><Relationship Id="rId185" Type="http://schemas.openxmlformats.org/officeDocument/2006/relationships/slide" Target="slides/slide181.xml"/><Relationship Id="rId184" Type="http://schemas.openxmlformats.org/officeDocument/2006/relationships/slide" Target="slides/slide180.xml"/><Relationship Id="rId183" Type="http://schemas.openxmlformats.org/officeDocument/2006/relationships/slide" Target="slides/slide179.xml"/><Relationship Id="rId182" Type="http://schemas.openxmlformats.org/officeDocument/2006/relationships/slide" Target="slides/slide178.xml"/><Relationship Id="rId181" Type="http://schemas.openxmlformats.org/officeDocument/2006/relationships/slide" Target="slides/slide177.xml"/><Relationship Id="rId180" Type="http://schemas.openxmlformats.org/officeDocument/2006/relationships/slide" Target="slides/slide176.xml"/><Relationship Id="rId18" Type="http://schemas.openxmlformats.org/officeDocument/2006/relationships/slide" Target="slides/slide14.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3.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2.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notesMaster" Target="notesMasters/notesMaster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1.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页眉占位符 1"/>
          <p:cNvSpPr>
            <a:spLocks noGrp="1" noChangeArrowheads="1"/>
          </p:cNvSpPr>
          <p:nvPr>
            <p:ph type="hdr" sz="quarter"/>
          </p:nvPr>
        </p:nvSpPr>
        <p:spPr bwMode="auto">
          <a:xfrm>
            <a:off x="0" y="0"/>
            <a:ext cx="2971800" cy="458788"/>
          </a:xfrm>
          <a:prstGeom prst="rect">
            <a:avLst/>
          </a:prstGeom>
          <a:noFill/>
          <a:ln>
            <a:noFill/>
          </a:ln>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5" name="日期占位符 2"/>
          <p:cNvSpPr>
            <a:spLocks noGrp="1" noChangeArrowheads="1"/>
          </p:cNvSpPr>
          <p:nvPr>
            <p:ph type="dt" idx="1"/>
          </p:nvPr>
        </p:nvSpPr>
        <p:spPr bwMode="auto">
          <a:xfrm>
            <a:off x="3884613" y="0"/>
            <a:ext cx="2971800" cy="458788"/>
          </a:xfrm>
          <a:prstGeom prst="rect">
            <a:avLst/>
          </a:prstGeom>
          <a:noFill/>
          <a:ln>
            <a:noFill/>
          </a:ln>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86372" name="幻灯片图像占位符 3"/>
          <p:cNvSpPr>
            <a:spLocks noGrp="1"/>
          </p:cNvSpPr>
          <p:nvPr>
            <p:ph type="sldImg"/>
          </p:nvPr>
        </p:nvSpPr>
        <p:spPr>
          <a:xfrm>
            <a:off x="1371600" y="1143000"/>
            <a:ext cx="4114800" cy="3086100"/>
          </a:xfrm>
          <a:prstGeom prst="rect">
            <a:avLst/>
          </a:prstGeom>
          <a:noFill/>
          <a:ln w="9525">
            <a:noFill/>
          </a:ln>
        </p:spPr>
      </p:sp>
      <p:sp>
        <p:nvSpPr>
          <p:cNvPr id="3077" name="备注占位符 4"/>
          <p:cNvSpPr>
            <a:spLocks noGrp="1" noChangeArrowheads="1"/>
          </p:cNvSpPr>
          <p:nvPr>
            <p:ph type="body" sz="quarter" idx="3"/>
          </p:nvPr>
        </p:nvSpPr>
        <p:spPr bwMode="auto">
          <a:xfrm>
            <a:off x="685800" y="4400550"/>
            <a:ext cx="5486400" cy="3600450"/>
          </a:xfrm>
          <a:prstGeom prst="rect">
            <a:avLst/>
          </a:prstGeom>
          <a:noFill/>
          <a:ln>
            <a:noFill/>
          </a:ln>
        </p:spPr>
        <p:txBody>
          <a:bodyPr vert="horz" wrap="square" lIns="91440" tIns="45720" rIns="91440" bIns="45720" numCol="1" anchor="ctr" anchorCtr="0" compatLnSpc="1"/>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078" name="页脚占位符 5"/>
          <p:cNvSpPr>
            <a:spLocks noGrp="1" noChangeArrowheads="1"/>
          </p:cNvSpPr>
          <p:nvPr>
            <p:ph type="ftr" sz="quarter" idx="4"/>
          </p:nvPr>
        </p:nvSpPr>
        <p:spPr bwMode="auto">
          <a:xfrm>
            <a:off x="0" y="8685213"/>
            <a:ext cx="2971800" cy="458788"/>
          </a:xfrm>
          <a:prstGeom prst="rect">
            <a:avLst/>
          </a:prstGeom>
          <a:noFill/>
          <a:ln>
            <a:noFill/>
          </a:ln>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9" name="灯片编号占位符 6"/>
          <p:cNvSpPr>
            <a:spLocks noGrp="1" noChangeArrowheads="1"/>
          </p:cNvSpPr>
          <p:nvPr>
            <p:ph type="sldNum" sz="quarter" idx="5"/>
          </p:nvPr>
        </p:nvSpPr>
        <p:spPr bwMode="auto">
          <a:xfrm>
            <a:off x="3884613" y="8685213"/>
            <a:ext cx="2971800" cy="458788"/>
          </a:xfrm>
          <a:prstGeom prst="rect">
            <a:avLst/>
          </a:prstGeom>
          <a:noFill/>
          <a:ln>
            <a:noFill/>
          </a:ln>
        </p:spPr>
        <p:txBody>
          <a:bodyPr vert="horz" wrap="square" lIns="91440" tIns="45720" rIns="91440" bIns="45720" numCol="1" anchor="b" anchorCtr="0" compatLnSpc="1"/>
          <a:p>
            <a:pPr lvl="0" algn="r">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sym typeface="+mn-ea"/>
              </a:rPr>
              <a:t>dubug</a:t>
            </a:r>
            <a:r>
              <a:rPr lang="zh-CN" altLang="en-US">
                <a:sym typeface="+mn-ea"/>
              </a:rPr>
              <a:t>调试中，</a:t>
            </a:r>
            <a:r>
              <a:rPr lang="en-US" altLang="zh-CN">
                <a:sym typeface="+mn-ea"/>
              </a:rPr>
              <a:t>mov cs </a:t>
            </a:r>
            <a:r>
              <a:rPr lang="zh-CN" altLang="en-US">
                <a:sym typeface="+mn-ea"/>
              </a:rPr>
              <a:t>，</a:t>
            </a:r>
            <a:r>
              <a:rPr lang="en-US" altLang="zh-CN">
                <a:sym typeface="+mn-ea"/>
              </a:rPr>
              <a:t>ax</a:t>
            </a:r>
            <a:r>
              <a:rPr lang="zh-CN" altLang="en-US">
                <a:sym typeface="+mn-ea"/>
              </a:rPr>
              <a:t>虽然可以执行，但是会发现执行的结果是找不到指令，所以还是不允许的。</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en-US" altLang="zh-CN"/>
              <a:t>debug</a:t>
            </a:r>
            <a:r>
              <a:rPr lang="zh-CN" altLang="en-US"/>
              <a:t>测试</a:t>
            </a:r>
            <a:r>
              <a:rPr lang="en-US" altLang="zh-CN"/>
              <a:t>mov ax,80h,neg ax</a:t>
            </a:r>
            <a:r>
              <a:rPr lang="zh-CN" altLang="en-US"/>
              <a:t>发现</a:t>
            </a:r>
            <a:r>
              <a:rPr lang="en-US" altLang="zh-CN"/>
              <a:t>OV</a:t>
            </a:r>
            <a:r>
              <a:rPr lang="zh-CN" altLang="en-US"/>
              <a:t>并没有置</a:t>
            </a:r>
            <a:r>
              <a:rPr lang="en-US" altLang="zh-CN"/>
              <a:t>1</a:t>
            </a:r>
            <a:r>
              <a:rPr lang="zh-CN" altLang="en-US"/>
              <a:t>，这是因为目的操作数是</a:t>
            </a:r>
            <a:r>
              <a:rPr lang="en-US" altLang="zh-CN"/>
              <a:t>16</a:t>
            </a:r>
            <a:r>
              <a:rPr lang="zh-CN" altLang="en-US"/>
              <a:t>位，这是</a:t>
            </a:r>
            <a:r>
              <a:rPr lang="en-US" altLang="zh-CN"/>
              <a:t>80H</a:t>
            </a:r>
            <a:r>
              <a:rPr lang="zh-CN" altLang="en-US"/>
              <a:t>是正数，</a:t>
            </a:r>
            <a:r>
              <a:rPr lang="en-US" altLang="zh-CN"/>
              <a:t>0-80H=-128</a:t>
            </a:r>
            <a:r>
              <a:rPr lang="zh-CN" altLang="en-US"/>
              <a:t>，这个值还在</a:t>
            </a:r>
            <a:r>
              <a:rPr lang="en-US" altLang="zh-CN"/>
              <a:t>-32767~+32768</a:t>
            </a:r>
            <a:r>
              <a:rPr lang="zh-CN" altLang="en-US"/>
              <a:t>范围（</a:t>
            </a:r>
            <a:r>
              <a:rPr lang="en-US" altLang="zh-CN"/>
              <a:t>16</a:t>
            </a:r>
            <a:r>
              <a:rPr lang="zh-CN" altLang="en-US"/>
              <a:t>位），所以没有溢出</a:t>
            </a:r>
            <a:r>
              <a:rPr lang="en-US" altLang="zh-CN"/>
              <a:t>OF=0</a:t>
            </a:r>
            <a:endParaRPr lang="en-US" altLang="zh-CN"/>
          </a:p>
          <a:p>
            <a:r>
              <a:rPr lang="zh-CN" altLang="en-US"/>
              <a:t>如果改成</a:t>
            </a:r>
            <a:r>
              <a:rPr lang="en-US" altLang="zh-CN"/>
              <a:t>mov  al,80h,neg al</a:t>
            </a:r>
            <a:r>
              <a:rPr lang="zh-CN" altLang="en-US"/>
              <a:t>发现</a:t>
            </a:r>
            <a:r>
              <a:rPr lang="en-US" altLang="zh-CN"/>
              <a:t>OV</a:t>
            </a:r>
            <a:r>
              <a:rPr lang="zh-CN" altLang="en-US"/>
              <a:t>和</a:t>
            </a:r>
            <a:r>
              <a:rPr lang="en-US" altLang="zh-CN"/>
              <a:t>CF</a:t>
            </a:r>
            <a:r>
              <a:rPr lang="zh-CN" altLang="en-US"/>
              <a:t>都被置</a:t>
            </a:r>
            <a:r>
              <a:rPr lang="en-US" altLang="zh-CN"/>
              <a:t>1</a:t>
            </a:r>
            <a:r>
              <a:rPr lang="zh-CN" altLang="en-US"/>
              <a:t>，这是因为目的操作数是</a:t>
            </a:r>
            <a:r>
              <a:rPr lang="en-US" altLang="zh-CN"/>
              <a:t>8</a:t>
            </a:r>
            <a:r>
              <a:rPr lang="zh-CN" altLang="en-US"/>
              <a:t>位，</a:t>
            </a:r>
            <a:r>
              <a:rPr lang="en-US" altLang="zh-CN"/>
              <a:t>80H</a:t>
            </a:r>
            <a:r>
              <a:rPr lang="zh-CN" altLang="en-US"/>
              <a:t>对应</a:t>
            </a:r>
            <a:r>
              <a:rPr lang="en-US" altLang="zh-CN"/>
              <a:t>-128,0-80H=+128,</a:t>
            </a:r>
            <a:r>
              <a:rPr lang="zh-CN" altLang="en-US"/>
              <a:t>超出有符号数范围</a:t>
            </a:r>
            <a:r>
              <a:rPr lang="en-US" altLang="zh-CN"/>
              <a:t>-128~127</a:t>
            </a:r>
            <a:r>
              <a:rPr lang="zh-CN" altLang="en-US"/>
              <a:t>，所以发生溢出，</a:t>
            </a:r>
            <a:r>
              <a:rPr lang="en-US" altLang="zh-CN"/>
              <a:t>OF=1</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对于有符号乘法，设：</a:t>
            </a:r>
            <a:endParaRPr lang="zh-CN" altLang="en-US"/>
          </a:p>
          <a:p>
            <a:r>
              <a:rPr lang="zh-CN" altLang="en-US"/>
              <a:t>乘数</a:t>
            </a:r>
            <a:r>
              <a:rPr lang="en-US" altLang="zh-CN"/>
              <a:t> A</a:t>
            </a:r>
            <a:r>
              <a:rPr lang="zh-CN" altLang="en-US"/>
              <a:t>、</a:t>
            </a:r>
            <a:r>
              <a:rPr lang="en-US" altLang="zh-CN"/>
              <a:t>B</a:t>
            </a:r>
            <a:r>
              <a:rPr lang="zh-CN" altLang="en-US"/>
              <a:t>（</a:t>
            </a:r>
            <a:r>
              <a:rPr lang="en-US" altLang="zh-CN"/>
              <a:t>n </a:t>
            </a:r>
            <a:r>
              <a:rPr lang="zh-CN" altLang="en-US"/>
              <a:t>位有符号数）</a:t>
            </a:r>
            <a:endParaRPr lang="zh-CN" altLang="en-US"/>
          </a:p>
          <a:p>
            <a:r>
              <a:rPr lang="zh-CN" altLang="en-US"/>
              <a:t>乘积</a:t>
            </a:r>
            <a:r>
              <a:rPr lang="en-US" altLang="zh-CN"/>
              <a:t> P = A </a:t>
            </a:r>
            <a:r>
              <a:rPr lang="en-US" altLang="en-US"/>
              <a:t>×</a:t>
            </a:r>
            <a:r>
              <a:rPr lang="en-US" altLang="zh-CN"/>
              <a:t> B</a:t>
            </a:r>
            <a:r>
              <a:rPr lang="zh-CN" altLang="en-US"/>
              <a:t>（</a:t>
            </a:r>
            <a:r>
              <a:rPr lang="en-US" altLang="zh-CN"/>
              <a:t>2n </a:t>
            </a:r>
            <a:r>
              <a:rPr lang="zh-CN" altLang="en-US"/>
              <a:t>位）</a:t>
            </a:r>
            <a:endParaRPr lang="en-US" altLang="zh-CN"/>
          </a:p>
          <a:p>
            <a:r>
              <a:rPr lang="zh-CN" altLang="en-US"/>
              <a:t>关键点：</a:t>
            </a:r>
            <a:r>
              <a:rPr lang="en-US" altLang="zh-CN"/>
              <a:t>2n </a:t>
            </a:r>
            <a:r>
              <a:rPr lang="zh-CN" altLang="en-US"/>
              <a:t>位的乘积可以完整表示</a:t>
            </a:r>
            <a:r>
              <a:rPr lang="en-US" altLang="zh-CN"/>
              <a:t> A</a:t>
            </a:r>
            <a:r>
              <a:rPr lang="en-US" altLang="en-US"/>
              <a:t>×</a:t>
            </a:r>
            <a:r>
              <a:rPr lang="en-US" altLang="zh-CN"/>
              <a:t>B </a:t>
            </a:r>
            <a:r>
              <a:rPr lang="zh-CN" altLang="en-US"/>
              <a:t>的精确值（不会溢出），但我们通常只取低</a:t>
            </a:r>
            <a:r>
              <a:rPr lang="en-US" altLang="zh-CN"/>
              <a:t> n </a:t>
            </a:r>
            <a:r>
              <a:rPr lang="zh-CN" altLang="en-US"/>
              <a:t>位作为结果。</a:t>
            </a:r>
            <a:endParaRPr lang="zh-CN" altLang="en-US"/>
          </a:p>
          <a:p>
            <a:r>
              <a:rPr lang="zh-CN" altLang="en-US"/>
              <a:t>判断标准：</a:t>
            </a:r>
            <a:endParaRPr lang="en-US" altLang="zh-CN"/>
          </a:p>
          <a:p>
            <a:r>
              <a:rPr lang="zh-CN" altLang="en-US"/>
              <a:t>如果高</a:t>
            </a:r>
            <a:r>
              <a:rPr lang="en-US" altLang="zh-CN"/>
              <a:t> n </a:t>
            </a:r>
            <a:r>
              <a:rPr lang="zh-CN" altLang="en-US"/>
              <a:t>位仅仅是低</a:t>
            </a:r>
            <a:r>
              <a:rPr lang="en-US" altLang="zh-CN"/>
              <a:t> n </a:t>
            </a:r>
            <a:r>
              <a:rPr lang="zh-CN" altLang="en-US"/>
              <a:t>位的符号扩展，说明低</a:t>
            </a:r>
            <a:r>
              <a:rPr lang="en-US" altLang="zh-CN"/>
              <a:t> n </a:t>
            </a:r>
            <a:r>
              <a:rPr lang="zh-CN" altLang="en-US"/>
              <a:t>位已经能正确表示乘积（没有丢失有效信息）</a:t>
            </a:r>
            <a:endParaRPr lang="en-US" altLang="zh-CN"/>
          </a:p>
          <a:p>
            <a:r>
              <a:rPr lang="zh-CN" altLang="en-US"/>
              <a:t>如果高</a:t>
            </a:r>
            <a:r>
              <a:rPr lang="en-US" altLang="zh-CN"/>
              <a:t> n </a:t>
            </a:r>
            <a:r>
              <a:rPr lang="zh-CN" altLang="en-US"/>
              <a:t>位不只是符号扩展，说明乘积需要高</a:t>
            </a:r>
            <a:r>
              <a:rPr lang="en-US" altLang="zh-CN"/>
              <a:t> n </a:t>
            </a:r>
            <a:r>
              <a:rPr lang="zh-CN" altLang="en-US"/>
              <a:t>位才能完整表示，低</a:t>
            </a:r>
            <a:r>
              <a:rPr lang="en-US" altLang="zh-CN"/>
              <a:t> n </a:t>
            </a:r>
            <a:r>
              <a:rPr lang="zh-CN" altLang="en-US"/>
              <a:t>位丢失了有效信息（发生溢出）</a:t>
            </a:r>
            <a:endParaRPr lang="zh-CN" altLang="en-US"/>
          </a:p>
          <a:p>
            <a:r>
              <a:rPr lang="zh-CN" altLang="en-US"/>
              <a:t>以</a:t>
            </a:r>
            <a:r>
              <a:rPr lang="en-US" altLang="zh-CN"/>
              <a:t>8</a:t>
            </a:r>
            <a:r>
              <a:rPr lang="zh-CN" altLang="en-US"/>
              <a:t>位乘法为例，正确情况（没有溢出）：</a:t>
            </a:r>
            <a:endParaRPr lang="zh-CN" altLang="en-US"/>
          </a:p>
          <a:p>
            <a:r>
              <a:rPr lang="zh-CN" altLang="en-US"/>
              <a:t>正数</a:t>
            </a:r>
            <a:r>
              <a:rPr lang="en-US" altLang="zh-CN"/>
              <a:t> </a:t>
            </a:r>
            <a:r>
              <a:rPr lang="en-US" altLang="en-US"/>
              <a:t>×</a:t>
            </a:r>
            <a:r>
              <a:rPr lang="en-US" altLang="zh-CN"/>
              <a:t> </a:t>
            </a:r>
            <a:r>
              <a:rPr lang="zh-CN" altLang="en-US"/>
              <a:t>正数</a:t>
            </a:r>
            <a:r>
              <a:rPr lang="en-US" altLang="zh-CN"/>
              <a:t> = </a:t>
            </a:r>
            <a:r>
              <a:rPr lang="zh-CN" altLang="en-US"/>
              <a:t>正数</a:t>
            </a:r>
            <a:endParaRPr lang="zh-CN" altLang="en-US"/>
          </a:p>
          <a:p>
            <a:r>
              <a:rPr lang="zh-CN" altLang="en-US"/>
              <a:t>例：</a:t>
            </a:r>
            <a:r>
              <a:rPr lang="en-US" altLang="zh-CN"/>
              <a:t>3 </a:t>
            </a:r>
            <a:r>
              <a:rPr lang="en-US" altLang="en-US"/>
              <a:t>×</a:t>
            </a:r>
            <a:r>
              <a:rPr lang="en-US" altLang="zh-CN"/>
              <a:t> 4 = 12</a:t>
            </a:r>
            <a:endParaRPr lang="en-US" altLang="zh-CN"/>
          </a:p>
          <a:p>
            <a:r>
              <a:rPr lang="zh-CN" altLang="en-US"/>
              <a:t>乘积：</a:t>
            </a:r>
            <a:r>
              <a:rPr lang="en-US" altLang="zh-CN"/>
              <a:t>0000 1100</a:t>
            </a:r>
            <a:r>
              <a:rPr lang="zh-CN" altLang="en-US"/>
              <a:t>（</a:t>
            </a:r>
            <a:r>
              <a:rPr lang="en-US" altLang="zh-CN"/>
              <a:t>12</a:t>
            </a:r>
            <a:r>
              <a:rPr lang="zh-CN" altLang="en-US"/>
              <a:t>）</a:t>
            </a:r>
            <a:endParaRPr lang="zh-CN" altLang="en-US"/>
          </a:p>
          <a:p>
            <a:r>
              <a:rPr lang="zh-CN" altLang="en-US"/>
              <a:t>高</a:t>
            </a:r>
            <a:r>
              <a:rPr lang="en-US" altLang="zh-CN"/>
              <a:t>8</a:t>
            </a:r>
            <a:r>
              <a:rPr lang="zh-CN" altLang="en-US"/>
              <a:t>位：</a:t>
            </a:r>
            <a:r>
              <a:rPr lang="en-US" altLang="zh-CN"/>
              <a:t>0000 0000</a:t>
            </a:r>
            <a:r>
              <a:rPr lang="zh-CN" altLang="en-US"/>
              <a:t>（全是</a:t>
            </a:r>
            <a:r>
              <a:rPr lang="en-US" altLang="zh-CN"/>
              <a:t>0</a:t>
            </a:r>
            <a:r>
              <a:rPr lang="zh-CN" altLang="en-US"/>
              <a:t>，是低</a:t>
            </a:r>
            <a:r>
              <a:rPr lang="en-US" altLang="zh-CN"/>
              <a:t>8</a:t>
            </a:r>
            <a:r>
              <a:rPr lang="zh-CN" altLang="en-US"/>
              <a:t>位符号位</a:t>
            </a:r>
            <a:r>
              <a:rPr lang="en-US" altLang="zh-CN"/>
              <a:t>0</a:t>
            </a:r>
            <a:r>
              <a:rPr lang="zh-CN" altLang="en-US"/>
              <a:t>的扩展）</a:t>
            </a:r>
            <a:endParaRPr lang="zh-CN" altLang="en-US"/>
          </a:p>
          <a:p>
            <a:r>
              <a:rPr lang="zh-CN" altLang="en-US"/>
              <a:t>正数</a:t>
            </a:r>
            <a:r>
              <a:rPr lang="en-US" altLang="zh-CN"/>
              <a:t> </a:t>
            </a:r>
            <a:r>
              <a:rPr lang="en-US" altLang="en-US"/>
              <a:t>×</a:t>
            </a:r>
            <a:r>
              <a:rPr lang="en-US" altLang="zh-CN"/>
              <a:t> </a:t>
            </a:r>
            <a:r>
              <a:rPr lang="zh-CN" altLang="en-US"/>
              <a:t>负数</a:t>
            </a:r>
            <a:r>
              <a:rPr lang="en-US" altLang="zh-CN"/>
              <a:t> = </a:t>
            </a:r>
            <a:r>
              <a:rPr lang="zh-CN" altLang="en-US"/>
              <a:t>负数</a:t>
            </a:r>
            <a:endParaRPr lang="zh-CN" altLang="en-US"/>
          </a:p>
          <a:p>
            <a:r>
              <a:rPr lang="zh-CN" altLang="en-US"/>
              <a:t>例：</a:t>
            </a:r>
            <a:r>
              <a:rPr lang="en-US" altLang="zh-CN"/>
              <a:t>3 </a:t>
            </a:r>
            <a:r>
              <a:rPr lang="en-US" altLang="en-US"/>
              <a:t>×</a:t>
            </a:r>
            <a:r>
              <a:rPr lang="en-US" altLang="zh-CN"/>
              <a:t> (-4) = -12</a:t>
            </a:r>
            <a:endParaRPr lang="en-US" altLang="zh-CN"/>
          </a:p>
          <a:p>
            <a:r>
              <a:rPr lang="zh-CN" altLang="en-US"/>
              <a:t>乘积：</a:t>
            </a:r>
            <a:r>
              <a:rPr lang="en-US" altLang="zh-CN"/>
              <a:t>1111 0100</a:t>
            </a:r>
            <a:r>
              <a:rPr lang="zh-CN" altLang="en-US"/>
              <a:t>（</a:t>
            </a:r>
            <a:r>
              <a:rPr lang="en-US" altLang="zh-CN"/>
              <a:t>-12</a:t>
            </a:r>
            <a:r>
              <a:rPr lang="zh-CN" altLang="en-US"/>
              <a:t>）</a:t>
            </a:r>
            <a:endParaRPr lang="zh-CN" altLang="en-US"/>
          </a:p>
          <a:p>
            <a:r>
              <a:rPr lang="zh-CN" altLang="en-US"/>
              <a:t>高</a:t>
            </a:r>
            <a:r>
              <a:rPr lang="en-US" altLang="zh-CN"/>
              <a:t>8</a:t>
            </a:r>
            <a:r>
              <a:rPr lang="zh-CN" altLang="en-US"/>
              <a:t>位：</a:t>
            </a:r>
            <a:r>
              <a:rPr lang="en-US" altLang="zh-CN"/>
              <a:t>1111 1111</a:t>
            </a:r>
            <a:r>
              <a:rPr lang="zh-CN" altLang="en-US"/>
              <a:t>（全是</a:t>
            </a:r>
            <a:r>
              <a:rPr lang="en-US" altLang="zh-CN"/>
              <a:t>1</a:t>
            </a:r>
            <a:r>
              <a:rPr lang="zh-CN" altLang="en-US"/>
              <a:t>，是低</a:t>
            </a:r>
            <a:r>
              <a:rPr lang="en-US" altLang="zh-CN"/>
              <a:t>8</a:t>
            </a:r>
            <a:r>
              <a:rPr lang="zh-CN" altLang="en-US"/>
              <a:t>位符号位</a:t>
            </a:r>
            <a:r>
              <a:rPr lang="en-US" altLang="zh-CN"/>
              <a:t>1</a:t>
            </a:r>
            <a:r>
              <a:rPr lang="zh-CN" altLang="en-US"/>
              <a:t>的扩展）</a:t>
            </a:r>
            <a:endParaRPr lang="zh-CN" altLang="en-US"/>
          </a:p>
          <a:p>
            <a:r>
              <a:rPr lang="zh-CN" altLang="en-US"/>
              <a:t>溢出情况：</a:t>
            </a:r>
            <a:endParaRPr lang="zh-CN" altLang="en-US"/>
          </a:p>
          <a:p>
            <a:r>
              <a:rPr lang="zh-CN" altLang="en-US"/>
              <a:t>例：</a:t>
            </a:r>
            <a:r>
              <a:rPr lang="en-US" altLang="zh-CN"/>
              <a:t>100 </a:t>
            </a:r>
            <a:r>
              <a:rPr lang="en-US" altLang="en-US"/>
              <a:t>×</a:t>
            </a:r>
            <a:r>
              <a:rPr lang="en-US" altLang="zh-CN"/>
              <a:t> 100 = 10000</a:t>
            </a:r>
            <a:endParaRPr lang="en-US" altLang="zh-CN"/>
          </a:p>
          <a:p>
            <a:r>
              <a:rPr lang="en-US" altLang="zh-CN"/>
              <a:t>8</a:t>
            </a:r>
            <a:r>
              <a:rPr lang="zh-CN" altLang="en-US"/>
              <a:t>位有符号数：</a:t>
            </a:r>
            <a:r>
              <a:rPr lang="en-US" altLang="zh-CN"/>
              <a:t>100</a:t>
            </a:r>
            <a:r>
              <a:rPr lang="zh-CN" altLang="en-US"/>
              <a:t>（</a:t>
            </a:r>
            <a:r>
              <a:rPr lang="en-US" altLang="zh-CN"/>
              <a:t>0110 0100</a:t>
            </a:r>
            <a:r>
              <a:rPr lang="zh-CN" altLang="en-US"/>
              <a:t>）</a:t>
            </a:r>
            <a:endParaRPr lang="zh-CN" altLang="en-US"/>
          </a:p>
          <a:p>
            <a:r>
              <a:rPr lang="zh-CN" altLang="en-US"/>
              <a:t>乘积：</a:t>
            </a:r>
            <a:r>
              <a:rPr lang="en-US" altLang="zh-CN"/>
              <a:t>10000 = 0010 0111 0001 0000</a:t>
            </a:r>
            <a:endParaRPr lang="en-US" altLang="zh-CN"/>
          </a:p>
          <a:p>
            <a:r>
              <a:rPr lang="zh-CN" altLang="en-US"/>
              <a:t>低</a:t>
            </a:r>
            <a:r>
              <a:rPr lang="en-US" altLang="zh-CN"/>
              <a:t>8</a:t>
            </a:r>
            <a:r>
              <a:rPr lang="zh-CN" altLang="en-US"/>
              <a:t>位：</a:t>
            </a:r>
            <a:r>
              <a:rPr lang="en-US" altLang="zh-CN"/>
              <a:t>0111 0001</a:t>
            </a:r>
            <a:r>
              <a:rPr lang="zh-CN" altLang="en-US"/>
              <a:t>（</a:t>
            </a:r>
            <a:r>
              <a:rPr lang="en-US" altLang="zh-CN"/>
              <a:t>113</a:t>
            </a:r>
            <a:r>
              <a:rPr lang="zh-CN" altLang="en-US"/>
              <a:t>）</a:t>
            </a:r>
            <a:endParaRPr lang="zh-CN" altLang="en-US"/>
          </a:p>
          <a:p>
            <a:r>
              <a:rPr lang="zh-CN" altLang="en-US"/>
              <a:t>高</a:t>
            </a:r>
            <a:r>
              <a:rPr lang="en-US" altLang="zh-CN"/>
              <a:t>8</a:t>
            </a:r>
            <a:r>
              <a:rPr lang="zh-CN" altLang="en-US"/>
              <a:t>位：</a:t>
            </a:r>
            <a:r>
              <a:rPr lang="en-US" altLang="zh-CN"/>
              <a:t>0010 0111</a:t>
            </a:r>
            <a:r>
              <a:rPr lang="zh-CN" altLang="en-US"/>
              <a:t>（</a:t>
            </a:r>
            <a:r>
              <a:rPr lang="en-US" altLang="zh-CN"/>
              <a:t>39</a:t>
            </a:r>
            <a:r>
              <a:rPr lang="zh-CN" altLang="en-US"/>
              <a:t>）</a:t>
            </a:r>
            <a:endParaRPr lang="zh-CN" altLang="en-US"/>
          </a:p>
          <a:p>
            <a:r>
              <a:rPr lang="zh-CN" altLang="en-US"/>
              <a:t>高</a:t>
            </a:r>
            <a:r>
              <a:rPr lang="en-US" altLang="zh-CN"/>
              <a:t>8</a:t>
            </a:r>
            <a:r>
              <a:rPr lang="zh-CN" altLang="en-US"/>
              <a:t>位既不是全</a:t>
            </a:r>
            <a:r>
              <a:rPr lang="en-US" altLang="zh-CN"/>
              <a:t>0</a:t>
            </a:r>
            <a:r>
              <a:rPr lang="zh-CN" altLang="en-US"/>
              <a:t>也不是全</a:t>
            </a:r>
            <a:r>
              <a:rPr lang="en-US" altLang="zh-CN"/>
              <a:t>1</a:t>
            </a:r>
            <a:r>
              <a:rPr lang="zh-CN" altLang="en-US"/>
              <a:t>，不是低</a:t>
            </a:r>
            <a:r>
              <a:rPr lang="en-US" altLang="zh-CN"/>
              <a:t>8</a:t>
            </a:r>
            <a:r>
              <a:rPr lang="zh-CN" altLang="en-US"/>
              <a:t>位的符号扩展</a:t>
            </a:r>
            <a:r>
              <a:rPr lang="en-US" altLang="zh-CN"/>
              <a:t> </a:t>
            </a:r>
            <a:r>
              <a:rPr lang="en-US" altLang="en-US"/>
              <a:t>→</a:t>
            </a:r>
            <a:r>
              <a:rPr lang="en-US" altLang="zh-CN"/>
              <a:t> </a:t>
            </a:r>
            <a:r>
              <a:rPr lang="zh-CN" altLang="en-US"/>
              <a:t>溢出</a:t>
            </a:r>
            <a:endParaRPr lang="zh-CN" altLang="en-US"/>
          </a:p>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87394" name="幻灯片图像占位符 1"/>
          <p:cNvSpPr>
            <a:spLocks noGrp="1" noRot="1" noChangeAspect="1" noTextEdit="1"/>
          </p:cNvSpPr>
          <p:nvPr>
            <p:ph type="sldImg"/>
          </p:nvPr>
        </p:nvSpPr>
        <p:spPr>
          <a:ln>
            <a:solidFill>
              <a:srgbClr val="000000">
                <a:alpha val="100000"/>
              </a:srgbClr>
            </a:solidFill>
            <a:miter/>
          </a:ln>
        </p:spPr>
      </p:sp>
      <p:sp>
        <p:nvSpPr>
          <p:cNvPr id="187395" name="备注占位符 2"/>
          <p:cNvSpPr>
            <a:spLocks noGrp="1"/>
          </p:cNvSpPr>
          <p:nvPr>
            <p:ph type="body"/>
          </p:nvPr>
        </p:nvSpPr>
        <p:spPr/>
        <p:txBody>
          <a:bodyPr wrap="square" lIns="91440" tIns="45720" rIns="91440" bIns="45720" anchor="t" anchorCtr="0"/>
          <a:p>
            <a:pPr lvl="0"/>
            <a:r>
              <a:rPr lang="zh-CN" altLang="en-US" dirty="0">
                <a:ea typeface="宋体" panose="02010600030101010101" pitchFamily="2" charset="-122"/>
              </a:rPr>
              <a:t>注意：有符号数乘法时，给出的数一般都是补码，必须先转换成源码才能相乘。</a:t>
            </a:r>
            <a:endParaRPr lang="zh-CN" altLang="en-US" dirty="0">
              <a:ea typeface="宋体" panose="02010600030101010101" pitchFamily="2" charset="-122"/>
            </a:endParaRPr>
          </a:p>
        </p:txBody>
      </p:sp>
      <p:sp>
        <p:nvSpPr>
          <p:cNvPr id="187396" name="灯片编号占位符 3"/>
          <p:cNvSpPr txBox="1">
            <a:spLocks noGrp="1"/>
          </p:cNvSpPr>
          <p:nvPr/>
        </p:nvSpPr>
        <p:spPr>
          <a:xfrm>
            <a:off x="3884613" y="8685213"/>
            <a:ext cx="2971800" cy="458787"/>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88418" name="Rectangle 2"/>
          <p:cNvSpPr>
            <a:spLocks noGrp="1" noTextEdit="1"/>
          </p:cNvSpPr>
          <p:nvPr>
            <p:ph type="sldImg"/>
          </p:nvPr>
        </p:nvSpPr>
        <p:spPr/>
      </p:sp>
      <p:sp>
        <p:nvSpPr>
          <p:cNvPr id="188419" name="Rectangle 3"/>
          <p:cNvSpPr>
            <a:spLocks noGrp="1"/>
          </p:cNvSpPr>
          <p:nvPr>
            <p:ph type="body"/>
          </p:nvPr>
        </p:nvSpPr>
        <p:spPr/>
        <p:txBody>
          <a:bodyPr wrap="square" lIns="91440" tIns="45720" rIns="91440" bIns="45720" anchor="ctr" anchorCtr="0"/>
          <a:p>
            <a:pPr lvl="0"/>
            <a:r>
              <a:rPr lang="en-US" altLang="zh-CN" dirty="0">
                <a:ea typeface="宋体" panose="02010600030101010101" pitchFamily="2" charset="-122"/>
              </a:rPr>
              <a:t>BCD</a:t>
            </a:r>
            <a:r>
              <a:rPr lang="zh-CN" altLang="en-US" dirty="0">
                <a:ea typeface="宋体" panose="02010600030101010101" pitchFamily="2" charset="-122"/>
              </a:rPr>
              <a:t>码使用频率不高，所以任何</a:t>
            </a:r>
            <a:r>
              <a:rPr lang="en-US" altLang="zh-CN" dirty="0">
                <a:ea typeface="宋体" panose="02010600030101010101" pitchFamily="2" charset="-122"/>
              </a:rPr>
              <a:t>CPU</a:t>
            </a:r>
            <a:r>
              <a:rPr lang="zh-CN" altLang="en-US" dirty="0">
                <a:ea typeface="宋体" panose="02010600030101010101" pitchFamily="2" charset="-122"/>
              </a:rPr>
              <a:t>都不会设置专门的</a:t>
            </a:r>
            <a:r>
              <a:rPr lang="en-US" altLang="zh-CN" dirty="0">
                <a:ea typeface="宋体" panose="02010600030101010101" pitchFamily="2" charset="-122"/>
              </a:rPr>
              <a:t>BCD</a:t>
            </a:r>
            <a:r>
              <a:rPr lang="zh-CN" altLang="en-US" dirty="0">
                <a:ea typeface="宋体" panose="02010600030101010101" pitchFamily="2" charset="-122"/>
              </a:rPr>
              <a:t>运算指令。遇到</a:t>
            </a:r>
            <a:r>
              <a:rPr lang="en-US" altLang="zh-CN" dirty="0">
                <a:ea typeface="宋体" panose="02010600030101010101" pitchFamily="2" charset="-122"/>
              </a:rPr>
              <a:t>BCD</a:t>
            </a:r>
            <a:r>
              <a:rPr lang="zh-CN" altLang="en-US" dirty="0">
                <a:ea typeface="宋体" panose="02010600030101010101" pitchFamily="2" charset="-122"/>
              </a:rPr>
              <a:t>码的运算，只能利用普通</a:t>
            </a:r>
            <a:r>
              <a:rPr lang="en-US" altLang="zh-CN" dirty="0">
                <a:ea typeface="宋体" panose="02010600030101010101" pitchFamily="2" charset="-122"/>
              </a:rPr>
              <a:t>2</a:t>
            </a:r>
            <a:r>
              <a:rPr lang="zh-CN" altLang="en-US" dirty="0">
                <a:ea typeface="宋体" panose="02010600030101010101" pitchFamily="2" charset="-122"/>
              </a:rPr>
              <a:t>进制运算指令来进行。但是，运用</a:t>
            </a:r>
            <a:r>
              <a:rPr lang="en-US" altLang="zh-CN" dirty="0">
                <a:ea typeface="宋体" panose="02010600030101010101" pitchFamily="2" charset="-122"/>
              </a:rPr>
              <a:t>2</a:t>
            </a:r>
            <a:r>
              <a:rPr lang="zh-CN" altLang="en-US" dirty="0">
                <a:ea typeface="宋体" panose="02010600030101010101" pitchFamily="2" charset="-122"/>
              </a:rPr>
              <a:t>进制的运算指令得到的结果就会失去</a:t>
            </a:r>
            <a:r>
              <a:rPr lang="en-US" altLang="zh-CN" dirty="0">
                <a:ea typeface="宋体" panose="02010600030101010101" pitchFamily="2" charset="-122"/>
              </a:rPr>
              <a:t>BCD</a:t>
            </a:r>
            <a:r>
              <a:rPr lang="zh-CN" altLang="en-US" dirty="0">
                <a:ea typeface="宋体" panose="02010600030101010101" pitchFamily="2" charset="-122"/>
              </a:rPr>
              <a:t>码的特征。</a:t>
            </a:r>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所有位向左移动</a:t>
            </a:r>
            <a:r>
              <a:rPr lang="en-US" altLang="zh-CN"/>
              <a:t> n </a:t>
            </a:r>
            <a:r>
              <a:rPr lang="zh-CN" altLang="en-US"/>
              <a:t>位</a:t>
            </a:r>
            <a:endParaRPr lang="zh-CN" altLang="en-US"/>
          </a:p>
          <a:p>
            <a:r>
              <a:rPr lang="zh-CN" altLang="en-US"/>
              <a:t>高位依次移入</a:t>
            </a:r>
            <a:r>
              <a:rPr lang="en-US" altLang="zh-CN"/>
              <a:t> CF</a:t>
            </a:r>
            <a:r>
              <a:rPr lang="zh-CN" altLang="en-US"/>
              <a:t>（最后移出的那一位）</a:t>
            </a:r>
            <a:endParaRPr lang="en-US" altLang="zh-CN"/>
          </a:p>
          <a:p>
            <a:r>
              <a:rPr lang="zh-CN" altLang="en-US"/>
              <a:t>低位补</a:t>
            </a:r>
            <a:r>
              <a:rPr lang="en-US" altLang="zh-CN"/>
              <a:t>0</a:t>
            </a:r>
            <a:endParaRPr lang="en-US" altLang="zh-CN"/>
          </a:p>
          <a:p>
            <a:r>
              <a:rPr lang="zh-CN" altLang="en-US"/>
              <a:t>相当于无符号数乘以</a:t>
            </a:r>
            <a:r>
              <a:rPr lang="en-US" altLang="zh-CN"/>
              <a:t> 2^n</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幻灯片图像占位符 1"/>
          <p:cNvSpPr>
            <a:spLocks noGrp="1" noTextEdit="1"/>
          </p:cNvSpPr>
          <p:nvPr>
            <p:ph type="sldImg"/>
          </p:nvPr>
        </p:nvSpPr>
        <p:spPr/>
      </p:sp>
      <p:sp>
        <p:nvSpPr>
          <p:cNvPr id="189443" name="文本占位符 2"/>
          <p:cNvSpPr/>
          <p:nvPr>
            <p:ph type="body"/>
          </p:nvPr>
        </p:nvSpPr>
        <p:spPr/>
        <p:txBody>
          <a:bodyPr wrap="square" lIns="91440" tIns="45720" rIns="91440" bIns="45720" anchor="ctr" anchorCtr="0"/>
          <a:p>
            <a:pPr lvl="0"/>
            <a:r>
              <a:rPr lang="zh-CN" altLang="en-US" dirty="0">
                <a:ea typeface="宋体" panose="02010600030101010101" pitchFamily="2" charset="-122"/>
              </a:rPr>
              <a:t>右移等同于除法，在有符号除法中，当除数的符号为正时，商的符号要和被除数符号相同，所以才要求符号位（最高位）向右移到次高位的同时其值保持不变。</a:t>
            </a:r>
            <a:endParaRPr lang="zh-CN" altLang="en-US"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所有位向左移动</a:t>
            </a:r>
            <a:r>
              <a:rPr lang="en-US" altLang="zh-CN"/>
              <a:t> 1 </a:t>
            </a:r>
            <a:r>
              <a:rPr lang="zh-CN" altLang="en-US"/>
              <a:t>位</a:t>
            </a:r>
            <a:endParaRPr lang="en-US" altLang="zh-CN"/>
          </a:p>
          <a:p>
            <a:r>
              <a:rPr lang="en-US" altLang="zh-CN"/>
              <a:t>CF </a:t>
            </a:r>
            <a:r>
              <a:rPr lang="zh-CN" altLang="en-US"/>
              <a:t>移入最低位</a:t>
            </a:r>
            <a:endParaRPr lang="en-US" altLang="zh-CN"/>
          </a:p>
          <a:p>
            <a:r>
              <a:rPr lang="zh-CN" altLang="en-US"/>
              <a:t>最高位移入</a:t>
            </a:r>
            <a:r>
              <a:rPr lang="en-US" altLang="zh-CN"/>
              <a:t> CF</a:t>
            </a:r>
            <a:endParaRPr lang="en-US" altLang="zh-CN"/>
          </a:p>
          <a:p>
            <a:r>
              <a:rPr lang="zh-CN" altLang="en-US"/>
              <a:t>形成一个</a:t>
            </a:r>
            <a:r>
              <a:rPr lang="en-US" altLang="zh-CN"/>
              <a:t> n+1 </a:t>
            </a:r>
            <a:r>
              <a:rPr lang="zh-CN" altLang="en-US"/>
              <a:t>位的循环（</a:t>
            </a:r>
            <a:r>
              <a:rPr lang="en-US" altLang="zh-CN"/>
              <a:t>n </a:t>
            </a:r>
            <a:r>
              <a:rPr lang="zh-CN" altLang="en-US"/>
              <a:t>位数据</a:t>
            </a:r>
            <a:r>
              <a:rPr lang="en-US" altLang="zh-CN"/>
              <a:t> + CF</a:t>
            </a:r>
            <a:r>
              <a:rPr lang="zh-CN" altLang="en-US"/>
              <a:t>）</a:t>
            </a:r>
            <a:endParaRPr lang="zh-CN" altLang="en-US"/>
          </a:p>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幻灯片图像占位符 1"/>
          <p:cNvSpPr>
            <a:spLocks noGrp="1" noTextEdit="1"/>
          </p:cNvSpPr>
          <p:nvPr>
            <p:ph type="sldImg"/>
          </p:nvPr>
        </p:nvSpPr>
        <p:spPr/>
      </p:sp>
      <p:sp>
        <p:nvSpPr>
          <p:cNvPr id="190467" name="文本占位符 2"/>
          <p:cNvSpPr/>
          <p:nvPr>
            <p:ph type="body"/>
          </p:nvPr>
        </p:nvSpPr>
        <p:spPr/>
        <p:txBody>
          <a:bodyPr wrap="square" lIns="91440" tIns="45720" rIns="91440" bIns="45720" anchor="ctr" anchorCtr="0"/>
          <a:p>
            <a:pPr lvl="0"/>
            <a:r>
              <a:rPr lang="zh-CN" altLang="en-US" dirty="0">
                <a:ea typeface="宋体" panose="02010600030101010101" pitchFamily="2" charset="-122"/>
              </a:rPr>
              <a:t>汇编语言HLT和 END的不同</a:t>
            </a:r>
            <a:r>
              <a:rPr lang="en-US" altLang="zh-CN" dirty="0">
                <a:ea typeface="宋体" panose="02010600030101010101" pitchFamily="2" charset="-122"/>
              </a:rPr>
              <a:t>:前者是cpu暂停，等到有复位信号或中断信号输入再运行,后者直接结束</a:t>
            </a:r>
            <a:endParaRPr lang="en-US" altLang="zh-CN"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来源于知乎</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幻灯片图像占位符 1"/>
          <p:cNvSpPr>
            <a:spLocks noGrp="1" noRot="1" noChangeAspect="1" noTextEdit="1"/>
          </p:cNvSpPr>
          <p:nvPr>
            <p:ph type="sldImg"/>
          </p:nvPr>
        </p:nvSpPr>
        <p:spPr/>
      </p:sp>
      <p:sp>
        <p:nvSpPr>
          <p:cNvPr id="191491" name="备注占位符 2"/>
          <p:cNvSpPr>
            <a:spLocks noGrp="1"/>
          </p:cNvSpPr>
          <p:nvPr>
            <p:ph type="body"/>
          </p:nvPr>
        </p:nvSpPr>
        <p:spPr/>
        <p:txBody>
          <a:bodyPr wrap="square" lIns="91440" tIns="45720" rIns="91440" bIns="45720" anchor="ctr" anchorCtr="0"/>
          <a:p>
            <a:pPr lvl="0"/>
            <a:r>
              <a:rPr lang="zh-CN" altLang="en-US" dirty="0">
                <a:ea typeface="宋体" panose="02010600030101010101" pitchFamily="2" charset="-122"/>
              </a:rPr>
              <a:t>清理堆栈</a:t>
            </a:r>
            <a:r>
              <a:rPr lang="en-US" altLang="zh-CN" dirty="0">
                <a:ea typeface="宋体" panose="02010600030101010101" pitchFamily="2" charset="-122"/>
              </a:rPr>
              <a:t>:一般在调用某个子程序之前，会像堆栈中压入一些参数供子程序使用。那么，子程序在返回时，如果要主动废除这些压入的参数的话，就可以通过RET XX来实现。XX--〉代表压入的参数的字节数目。</a:t>
            </a:r>
            <a:endParaRPr lang="en-US" altLang="zh-CN" dirty="0">
              <a:ea typeface="宋体" panose="02010600030101010101" pitchFamily="2" charset="-122"/>
            </a:endParaRPr>
          </a:p>
        </p:txBody>
      </p:sp>
      <p:sp>
        <p:nvSpPr>
          <p:cNvPr id="191492"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幻灯片图像占位符 1"/>
          <p:cNvSpPr>
            <a:spLocks noGrp="1" noRot="1" noChangeAspect="1" noTextEdit="1"/>
          </p:cNvSpPr>
          <p:nvPr>
            <p:ph type="sldImg"/>
          </p:nvPr>
        </p:nvSpPr>
        <p:spPr/>
      </p:sp>
      <p:sp>
        <p:nvSpPr>
          <p:cNvPr id="192515" name="备注占位符 2"/>
          <p:cNvSpPr>
            <a:spLocks noGrp="1"/>
          </p:cNvSpPr>
          <p:nvPr>
            <p:ph type="body"/>
          </p:nvPr>
        </p:nvSpPr>
        <p:spPr/>
        <p:txBody>
          <a:bodyPr wrap="square" lIns="91440" tIns="45720" rIns="91440" bIns="45720" anchor="ctr" anchorCtr="0"/>
          <a:p>
            <a:pPr lvl="0"/>
            <a:r>
              <a:rPr lang="en-US" altLang="zh-CN" dirty="0">
                <a:ea typeface="宋体" panose="02010600030101010101" pitchFamily="2" charset="-122"/>
              </a:rPr>
              <a:t>RET</a:t>
            </a:r>
            <a:r>
              <a:rPr lang="zh-CN" altLang="en-US" dirty="0">
                <a:ea typeface="宋体" panose="02010600030101010101" pitchFamily="2" charset="-122"/>
              </a:rPr>
              <a:t>之前修改执行 </a:t>
            </a:r>
            <a:r>
              <a:rPr lang="en-US" altLang="zh-CN" dirty="0">
                <a:ea typeface="宋体" panose="02010600030101010101" pitchFamily="2" charset="-122"/>
              </a:rPr>
              <a:t>mov bx,0; push bx </a:t>
            </a:r>
            <a:r>
              <a:rPr lang="zh-CN" altLang="en-US" dirty="0">
                <a:ea typeface="宋体" panose="02010600030101010101" pitchFamily="2" charset="-122"/>
              </a:rPr>
              <a:t>会发生什么？</a:t>
            </a:r>
            <a:endParaRPr lang="zh-CN" altLang="en-US" dirty="0">
              <a:ea typeface="宋体" panose="02010600030101010101" pitchFamily="2" charset="-122"/>
            </a:endParaRPr>
          </a:p>
        </p:txBody>
      </p:sp>
      <p:sp>
        <p:nvSpPr>
          <p:cNvPr id="192516"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buFont typeface="Arial" panose="020B0604020202020204" pitchFamily="34" charset="0"/>
              <a:buChar char="•"/>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执行的主要过程</a:t>
            </a:r>
            <a:endParaRPr lang="zh-CN" altLang="en-US"/>
          </a:p>
          <a:p>
            <a:r>
              <a:rPr lang="zh-CN" altLang="en-US"/>
              <a:t>我们来看一下</a:t>
            </a:r>
            <a:r>
              <a:rPr lang="en-US" altLang="zh-CN"/>
              <a:t> CPU </a:t>
            </a:r>
            <a:r>
              <a:rPr lang="zh-CN" altLang="en-US"/>
              <a:t>执行这个程序的主要过程：</a:t>
            </a:r>
            <a:endParaRPr lang="en-US" altLang="zh-CN"/>
          </a:p>
          <a:p>
            <a:r>
              <a:rPr lang="zh-CN" altLang="en-US"/>
              <a:t>（</a:t>
            </a:r>
            <a:r>
              <a:rPr lang="en-US" altLang="zh-CN"/>
              <a:t>1</a:t>
            </a:r>
            <a:r>
              <a:rPr lang="zh-CN" altLang="en-US"/>
              <a:t>）</a:t>
            </a:r>
            <a:r>
              <a:rPr lang="en-US" altLang="zh-CN"/>
              <a:t>CPU </a:t>
            </a:r>
            <a:r>
              <a:rPr lang="zh-CN" altLang="en-US"/>
              <a:t>将</a:t>
            </a:r>
            <a:r>
              <a:rPr lang="en-US" altLang="zh-CN"/>
              <a:t>call s</a:t>
            </a:r>
            <a:r>
              <a:rPr lang="zh-CN" altLang="en-US"/>
              <a:t>指令的机器码读入，</a:t>
            </a:r>
            <a:r>
              <a:rPr lang="en-US" altLang="zh-CN"/>
              <a:t>IP</a:t>
            </a:r>
            <a:r>
              <a:rPr lang="zh-CN" altLang="en-US"/>
              <a:t>指向了</a:t>
            </a:r>
            <a:r>
              <a:rPr lang="en-US" altLang="zh-CN"/>
              <a:t>call s</a:t>
            </a:r>
            <a:r>
              <a:rPr lang="zh-CN" altLang="en-US"/>
              <a:t>后的指令</a:t>
            </a:r>
            <a:r>
              <a:rPr lang="en-US" altLang="zh-CN"/>
              <a:t>mov bx,ax</a:t>
            </a:r>
            <a:r>
              <a:rPr lang="zh-CN" altLang="en-US"/>
              <a:t>，然后</a:t>
            </a:r>
            <a:r>
              <a:rPr lang="en-US" altLang="zh-CN"/>
              <a:t>CPU</a:t>
            </a:r>
            <a:r>
              <a:rPr lang="zh-CN" altLang="en-US"/>
              <a:t>执行</a:t>
            </a:r>
            <a:r>
              <a:rPr lang="en-US" altLang="zh-CN"/>
              <a:t>call s</a:t>
            </a:r>
            <a:r>
              <a:rPr lang="zh-CN" altLang="en-US"/>
              <a:t>指令，将当前的</a:t>
            </a:r>
            <a:r>
              <a:rPr lang="en-US" altLang="zh-CN"/>
              <a:t> IP</a:t>
            </a:r>
            <a:r>
              <a:rPr lang="zh-CN" altLang="en-US"/>
              <a:t>值（指令</a:t>
            </a:r>
            <a:r>
              <a:rPr lang="en-US" altLang="zh-CN"/>
              <a:t>mov bx,ax</a:t>
            </a:r>
            <a:r>
              <a:rPr lang="zh-CN" altLang="en-US"/>
              <a:t>的偏移地址）压栈，并将</a:t>
            </a:r>
            <a:r>
              <a:rPr lang="en-US" altLang="zh-CN"/>
              <a:t> IP </a:t>
            </a:r>
            <a:r>
              <a:rPr lang="zh-CN" altLang="en-US"/>
              <a:t>的值改变为标号</a:t>
            </a:r>
            <a:r>
              <a:rPr lang="en-US" altLang="zh-CN"/>
              <a:t> s </a:t>
            </a:r>
            <a:r>
              <a:rPr lang="zh-CN" altLang="en-US"/>
              <a:t>处的偏移地址；</a:t>
            </a:r>
            <a:endParaRPr lang="en-US" altLang="zh-CN"/>
          </a:p>
          <a:p>
            <a:r>
              <a:rPr lang="zh-CN" altLang="en-US"/>
              <a:t>（</a:t>
            </a:r>
            <a:r>
              <a:rPr lang="en-US" altLang="zh-CN"/>
              <a:t>2</a:t>
            </a:r>
            <a:r>
              <a:rPr lang="zh-CN" altLang="en-US"/>
              <a:t>）</a:t>
            </a:r>
            <a:r>
              <a:rPr lang="en-US" altLang="zh-CN"/>
              <a:t>CPU</a:t>
            </a:r>
            <a:r>
              <a:rPr lang="zh-CN" altLang="en-US"/>
              <a:t>从标号</a:t>
            </a:r>
            <a:r>
              <a:rPr lang="en-US" altLang="zh-CN"/>
              <a:t> s </a:t>
            </a:r>
            <a:r>
              <a:rPr lang="zh-CN" altLang="en-US"/>
              <a:t>处开始执行指令，</a:t>
            </a:r>
            <a:r>
              <a:rPr lang="en-US" altLang="zh-CN"/>
              <a:t>loop</a:t>
            </a:r>
            <a:r>
              <a:rPr lang="zh-CN" altLang="en-US"/>
              <a:t>循环完毕，</a:t>
            </a:r>
            <a:r>
              <a:rPr lang="en-US" altLang="zh-CN"/>
              <a:t>(ax)=8</a:t>
            </a:r>
            <a:r>
              <a:rPr lang="zh-CN" altLang="en-US"/>
              <a:t>；</a:t>
            </a:r>
            <a:endParaRPr lang="en-US" altLang="zh-CN"/>
          </a:p>
          <a:p>
            <a:r>
              <a:rPr lang="zh-CN" altLang="en-US"/>
              <a:t>（</a:t>
            </a:r>
            <a:r>
              <a:rPr lang="en-US" altLang="zh-CN"/>
              <a:t>3</a:t>
            </a:r>
            <a:r>
              <a:rPr lang="zh-CN" altLang="en-US"/>
              <a:t>）</a:t>
            </a:r>
            <a:r>
              <a:rPr lang="en-US" altLang="zh-CN"/>
              <a:t>CPU</a:t>
            </a:r>
            <a:r>
              <a:rPr lang="zh-CN" altLang="en-US"/>
              <a:t>将</a:t>
            </a:r>
            <a:r>
              <a:rPr lang="en-US" altLang="zh-CN"/>
              <a:t>ret</a:t>
            </a:r>
            <a:r>
              <a:rPr lang="zh-CN" altLang="en-US"/>
              <a:t>指令的机器码读入，</a:t>
            </a:r>
            <a:r>
              <a:rPr lang="en-US" altLang="zh-CN"/>
              <a:t>IP</a:t>
            </a:r>
            <a:r>
              <a:rPr lang="zh-CN" altLang="en-US"/>
              <a:t>指向了</a:t>
            </a:r>
            <a:r>
              <a:rPr lang="en-US" altLang="zh-CN"/>
              <a:t>ret </a:t>
            </a:r>
            <a:r>
              <a:rPr lang="zh-CN" altLang="en-US"/>
              <a:t>指令后的内存单元，然后</a:t>
            </a:r>
            <a:r>
              <a:rPr lang="en-US" altLang="zh-CN"/>
              <a:t>CPU </a:t>
            </a:r>
            <a:r>
              <a:rPr lang="zh-CN" altLang="en-US"/>
              <a:t>执行</a:t>
            </a:r>
            <a:r>
              <a:rPr lang="en-US" altLang="zh-CN"/>
              <a:t> ret </a:t>
            </a:r>
            <a:r>
              <a:rPr lang="zh-CN" altLang="en-US"/>
              <a:t>指令</a:t>
            </a:r>
            <a:r>
              <a:rPr lang="en-US" altLang="zh-CN"/>
              <a:t> </a:t>
            </a:r>
            <a:r>
              <a:rPr lang="zh-CN" altLang="en-US"/>
              <a:t>，从栈中弹出一个值（即</a:t>
            </a:r>
            <a:r>
              <a:rPr lang="en-US" altLang="zh-CN"/>
              <a:t> call </a:t>
            </a:r>
            <a:r>
              <a:rPr lang="zh-CN" altLang="en-US"/>
              <a:t>先前压入的</a:t>
            </a:r>
            <a:r>
              <a:rPr lang="en-US" altLang="zh-CN"/>
              <a:t> mov bx,ax </a:t>
            </a:r>
            <a:r>
              <a:rPr lang="zh-CN" altLang="en-US"/>
              <a:t>指令的偏移地址）送入</a:t>
            </a:r>
            <a:r>
              <a:rPr lang="en-US" altLang="zh-CN"/>
              <a:t> IP </a:t>
            </a:r>
            <a:r>
              <a:rPr lang="zh-CN" altLang="en-US"/>
              <a:t>中。则</a:t>
            </a:r>
            <a:r>
              <a:rPr lang="en-US" altLang="zh-CN"/>
              <a:t>CS:IP</a:t>
            </a:r>
            <a:r>
              <a:rPr lang="zh-CN" altLang="en-US"/>
              <a:t>指向指令</a:t>
            </a:r>
            <a:r>
              <a:rPr lang="en-US" altLang="zh-CN"/>
              <a:t>mov bx,ax</a:t>
            </a:r>
            <a:r>
              <a:rPr lang="zh-CN" altLang="en-US"/>
              <a:t>；</a:t>
            </a:r>
            <a:endParaRPr lang="en-US" altLang="zh-CN"/>
          </a:p>
          <a:p>
            <a:r>
              <a:rPr lang="zh-CN" altLang="en-US"/>
              <a:t>（</a:t>
            </a:r>
            <a:r>
              <a:rPr lang="en-US" altLang="zh-CN"/>
              <a:t>4</a:t>
            </a:r>
            <a:r>
              <a:rPr lang="zh-CN" altLang="en-US"/>
              <a:t>）</a:t>
            </a:r>
            <a:r>
              <a:rPr lang="en-US" altLang="zh-CN"/>
              <a:t>CPU</a:t>
            </a:r>
            <a:r>
              <a:rPr lang="zh-CN" altLang="en-US"/>
              <a:t>从</a:t>
            </a:r>
            <a:r>
              <a:rPr lang="en-US" altLang="zh-CN"/>
              <a:t> mov bx,ax </a:t>
            </a:r>
            <a:r>
              <a:rPr lang="zh-CN" altLang="en-US"/>
              <a:t>开始执行指令，直至完成。</a:t>
            </a:r>
            <a:endParaRPr lang="en-US" altLang="zh-CN"/>
          </a:p>
          <a:p>
            <a:r>
              <a:rPr lang="zh-CN" altLang="en-US"/>
              <a:t>得出结果</a:t>
            </a:r>
            <a:endParaRPr lang="zh-CN" altLang="en-US"/>
          </a:p>
          <a:p>
            <a:r>
              <a:rPr lang="zh-CN" altLang="en-US"/>
              <a:t>因此，程序返回前，</a:t>
            </a:r>
            <a:r>
              <a:rPr lang="en-US" altLang="zh-CN"/>
              <a:t>(bx)=8 </a:t>
            </a:r>
            <a:r>
              <a:rPr lang="zh-CN" altLang="en-US"/>
              <a:t>。我们可以看出，从标号</a:t>
            </a:r>
            <a:r>
              <a:rPr lang="en-US" altLang="zh-CN"/>
              <a:t> s </a:t>
            </a:r>
            <a:r>
              <a:rPr lang="zh-CN" altLang="en-US"/>
              <a:t>到</a:t>
            </a:r>
            <a:r>
              <a:rPr lang="en-US" altLang="zh-CN"/>
              <a:t>ret</a:t>
            </a:r>
            <a:r>
              <a:rPr lang="zh-CN" altLang="en-US"/>
              <a:t>的程序段的作用是计算</a:t>
            </a:r>
            <a:r>
              <a:rPr lang="en-US" altLang="zh-CN"/>
              <a:t>2</a:t>
            </a:r>
            <a:r>
              <a:rPr lang="zh-CN" altLang="en-US"/>
              <a:t>的</a:t>
            </a:r>
            <a:r>
              <a:rPr lang="en-US" altLang="zh-CN"/>
              <a:t>N</a:t>
            </a:r>
            <a:r>
              <a:rPr lang="zh-CN" altLang="en-US"/>
              <a:t>次方，计算前，</a:t>
            </a:r>
            <a:r>
              <a:rPr lang="en-US" altLang="zh-CN"/>
              <a:t>N</a:t>
            </a:r>
            <a:r>
              <a:rPr lang="zh-CN" altLang="en-US"/>
              <a:t>的值由</a:t>
            </a:r>
            <a:r>
              <a:rPr lang="en-US" altLang="zh-CN"/>
              <a:t>CX</a:t>
            </a:r>
            <a:r>
              <a:rPr lang="zh-CN" altLang="en-US"/>
              <a:t>提供。</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zh-CN" altLang="en-US" noProof="1"/>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smtClean="0"/>
              <a:t>单击此处编辑母版文本样式</a:t>
            </a:r>
            <a:endParaRPr lang="zh-CN" altLang="en-US" noProof="1" smtClean="0"/>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990600"/>
            <a:ext cx="4114800" cy="54102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724400" y="990600"/>
            <a:ext cx="4114800" cy="54102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630238" y="2505075"/>
            <a:ext cx="3868737"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灯片编号占位符 6"/>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灯片编号占位符 2"/>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
        <p:nvSpPr>
          <p:cNvPr id="5" name="灯片编号占位符 4"/>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43700" y="152400"/>
            <a:ext cx="2095500" cy="62484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52400"/>
            <a:ext cx="6134100" cy="62484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灯片编号占位符 3"/>
          <p:cNvSpPr>
            <a:spLocks noGrp="1"/>
          </p:cNvSpPr>
          <p:nvPr>
            <p:ph type="sldNum" sz="quarter" idx="10"/>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zh-CN" altLang="en-US"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990600"/>
            <a:ext cx="4114800" cy="54102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724400" y="990600"/>
            <a:ext cx="4114800" cy="54102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630238" y="2505075"/>
            <a:ext cx="3868737"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43700" y="152400"/>
            <a:ext cx="2095500" cy="62484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52400"/>
            <a:ext cx="6134100" cy="62484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0" Type="http://schemas.openxmlformats.org/officeDocument/2006/relationships/theme" Target="../theme/theme2.xml"/><Relationship Id="rId2" Type="http://schemas.openxmlformats.org/officeDocument/2006/relationships/slideLayout" Target="../slideLayouts/slideLayout13.xml"/><Relationship Id="rId19" Type="http://schemas.openxmlformats.org/officeDocument/2006/relationships/vmlDrawing" Target="../drawings/vmlDrawing1.vml"/><Relationship Id="rId18" Type="http://schemas.openxmlformats.org/officeDocument/2006/relationships/image" Target="../media/image6.jpeg"/><Relationship Id="rId17" Type="http://schemas.openxmlformats.org/officeDocument/2006/relationships/image" Target="../media/image5.png"/><Relationship Id="rId16" Type="http://schemas.openxmlformats.org/officeDocument/2006/relationships/image" Target="../media/image4.jpeg"/><Relationship Id="rId15" Type="http://schemas.openxmlformats.org/officeDocument/2006/relationships/image" Target="../media/image3.jpeg"/><Relationship Id="rId14" Type="http://schemas.openxmlformats.org/officeDocument/2006/relationships/image" Target="../media/image1.jpeg"/><Relationship Id="rId13" Type="http://schemas.openxmlformats.org/officeDocument/2006/relationships/image" Target="../media/image2.png"/><Relationship Id="rId12" Type="http://schemas.openxmlformats.org/officeDocument/2006/relationships/oleObject" Target="../embeddings/oleObject1.bin"/><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auto">
          <a:xfrm>
            <a:off x="1676400" y="0"/>
            <a:ext cx="7469188" cy="850900"/>
          </a:xfrm>
          <a:prstGeom prst="rect">
            <a:avLst/>
          </a:prstGeom>
          <a:solidFill>
            <a:schemeClr val="tx2"/>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7" name="Rectangle 3"/>
          <p:cNvSpPr>
            <a:spLocks noChangeArrowheads="1"/>
          </p:cNvSpPr>
          <p:nvPr/>
        </p:nvSpPr>
        <p:spPr bwMode="auto">
          <a:xfrm>
            <a:off x="0" y="0"/>
            <a:ext cx="185738" cy="854075"/>
          </a:xfrm>
          <a:prstGeom prst="rect">
            <a:avLst/>
          </a:prstGeom>
          <a:solidFill>
            <a:schemeClr val="hlink"/>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Grp="1"/>
          </p:cNvSpPr>
          <p:nvPr>
            <p:ph type="body"/>
          </p:nvPr>
        </p:nvSpPr>
        <p:spPr>
          <a:xfrm>
            <a:off x="457200" y="990600"/>
            <a:ext cx="8382000" cy="5410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9" name="Rectangle 5"/>
          <p:cNvSpPr>
            <a:spLocks noGrp="1" noChangeArrowheads="1"/>
          </p:cNvSpPr>
          <p:nvPr>
            <p:ph type="sldNum" sz="quarter" idx="4"/>
          </p:nvPr>
        </p:nvSpPr>
        <p:spPr bwMode="auto">
          <a:xfrm>
            <a:off x="76200" y="6477000"/>
            <a:ext cx="609600" cy="304800"/>
          </a:xfrm>
          <a:prstGeom prst="rect">
            <a:avLst/>
          </a:prstGeom>
          <a:noFill/>
          <a:ln>
            <a:noFill/>
          </a:ln>
          <a:effectLst/>
        </p:spPr>
        <p:txBody>
          <a:bodyPr vert="horz" wrap="square" lIns="91440" tIns="45720" rIns="91440" bIns="45720" numCol="1" anchor="t" anchorCtr="0" compatLnSpc="1"/>
          <a:lstStyle>
            <a:lvl1pPr algn="ctr">
              <a:defRPr sz="1400">
                <a:ea typeface="宋体" panose="02010600030101010101" pitchFamily="2" charset="-122"/>
              </a:defRPr>
            </a:lvl1p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pic>
        <p:nvPicPr>
          <p:cNvPr id="2054" name="Picture 6"/>
          <p:cNvPicPr>
            <a:picLocks noChangeAspect="1"/>
          </p:cNvPicPr>
          <p:nvPr/>
        </p:nvPicPr>
        <p:blipFill>
          <a:blip r:embed="rId12"/>
          <a:stretch>
            <a:fillRect/>
          </a:stretch>
        </p:blipFill>
        <p:spPr>
          <a:xfrm>
            <a:off x="180975" y="0"/>
            <a:ext cx="1520825" cy="846138"/>
          </a:xfrm>
          <a:prstGeom prst="rect">
            <a:avLst/>
          </a:prstGeom>
          <a:noFill/>
          <a:ln w="9525">
            <a:noFill/>
          </a:ln>
        </p:spPr>
      </p:pic>
      <p:sp>
        <p:nvSpPr>
          <p:cNvPr id="2055" name="Rectangle 7"/>
          <p:cNvSpPr>
            <a:spLocks noGrp="1"/>
          </p:cNvSpPr>
          <p:nvPr>
            <p:ph type="title"/>
          </p:nvPr>
        </p:nvSpPr>
        <p:spPr>
          <a:xfrm>
            <a:off x="1828800" y="152400"/>
            <a:ext cx="6553200" cy="563563"/>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2800" b="1" kern="1200">
          <a:solidFill>
            <a:schemeClr val="bg1"/>
          </a:solidFill>
          <a:latin typeface="+mj-lt"/>
          <a:ea typeface="+mj-ea"/>
          <a:cs typeface="+mj-cs"/>
        </a:defRPr>
      </a:lvl1pPr>
      <a:lvl2pPr algn="l" rtl="0" eaLnBrk="0" fontAlgn="base" hangingPunct="0">
        <a:spcBef>
          <a:spcPct val="0"/>
        </a:spcBef>
        <a:spcAft>
          <a:spcPct val="0"/>
        </a:spcAft>
        <a:defRPr sz="2800" b="1">
          <a:solidFill>
            <a:schemeClr val="bg1"/>
          </a:solidFill>
          <a:latin typeface="Arial" panose="020B0604020202020204" pitchFamily="34" charset="0"/>
        </a:defRPr>
      </a:lvl2pPr>
      <a:lvl3pPr algn="l" rtl="0" eaLnBrk="0" fontAlgn="base" hangingPunct="0">
        <a:spcBef>
          <a:spcPct val="0"/>
        </a:spcBef>
        <a:spcAft>
          <a:spcPct val="0"/>
        </a:spcAft>
        <a:defRPr sz="2800" b="1">
          <a:solidFill>
            <a:schemeClr val="bg1"/>
          </a:solidFill>
          <a:latin typeface="Arial" panose="020B0604020202020204" pitchFamily="34" charset="0"/>
        </a:defRPr>
      </a:lvl3pPr>
      <a:lvl4pPr algn="l" rtl="0" eaLnBrk="0" fontAlgn="base" hangingPunct="0">
        <a:spcBef>
          <a:spcPct val="0"/>
        </a:spcBef>
        <a:spcAft>
          <a:spcPct val="0"/>
        </a:spcAft>
        <a:defRPr sz="2800" b="1">
          <a:solidFill>
            <a:schemeClr val="bg1"/>
          </a:solidFill>
          <a:latin typeface="Arial" panose="020B0604020202020204" pitchFamily="34" charset="0"/>
        </a:defRPr>
      </a:lvl4pPr>
      <a:lvl5pPr algn="l" rtl="0" eaLnBrk="0" fontAlgn="base" hangingPunct="0">
        <a:spcBef>
          <a:spcPct val="0"/>
        </a:spcBef>
        <a:spcAft>
          <a:spcPct val="0"/>
        </a:spcAft>
        <a:defRPr sz="2800" b="1">
          <a:solidFill>
            <a:schemeClr val="bg1"/>
          </a:solidFill>
          <a:latin typeface="Arial" panose="020B0604020202020204" pitchFamily="34" charset="0"/>
        </a:defRPr>
      </a:lvl5pPr>
      <a:lvl6pPr marL="457200" algn="l" rtl="0" eaLnBrk="0" fontAlgn="base" hangingPunct="0">
        <a:spcBef>
          <a:spcPct val="0"/>
        </a:spcBef>
        <a:spcAft>
          <a:spcPct val="0"/>
        </a:spcAft>
        <a:defRPr sz="2800" b="1">
          <a:solidFill>
            <a:schemeClr val="bg1"/>
          </a:solidFill>
          <a:latin typeface="Arial" panose="020B0604020202020204" pitchFamily="34" charset="0"/>
        </a:defRPr>
      </a:lvl6pPr>
      <a:lvl7pPr marL="914400" algn="l" rtl="0" eaLnBrk="0" fontAlgn="base" hangingPunct="0">
        <a:spcBef>
          <a:spcPct val="0"/>
        </a:spcBef>
        <a:spcAft>
          <a:spcPct val="0"/>
        </a:spcAft>
        <a:defRPr sz="2800" b="1">
          <a:solidFill>
            <a:schemeClr val="bg1"/>
          </a:solidFill>
          <a:latin typeface="Arial" panose="020B0604020202020204" pitchFamily="34" charset="0"/>
        </a:defRPr>
      </a:lvl7pPr>
      <a:lvl8pPr marL="1371600" algn="l" rtl="0" eaLnBrk="0" fontAlgn="base" hangingPunct="0">
        <a:spcBef>
          <a:spcPct val="0"/>
        </a:spcBef>
        <a:spcAft>
          <a:spcPct val="0"/>
        </a:spcAft>
        <a:defRPr sz="2800" b="1">
          <a:solidFill>
            <a:schemeClr val="bg1"/>
          </a:solidFill>
          <a:latin typeface="Arial" panose="020B0604020202020204" pitchFamily="34" charset="0"/>
        </a:defRPr>
      </a:lvl8pPr>
      <a:lvl9pPr marL="1828800" algn="l" rtl="0" eaLnBrk="0" fontAlgn="base" hangingPunct="0">
        <a:spcBef>
          <a:spcPct val="0"/>
        </a:spcBef>
        <a:spcAft>
          <a:spcPct val="0"/>
        </a:spcAft>
        <a:defRPr sz="2800" b="1">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Char char="§"/>
        <a:defRPr sz="2400" b="1" kern="1200">
          <a:solidFill>
            <a:schemeClr val="tx1"/>
          </a:solidFill>
          <a:latin typeface="+mj-lt"/>
          <a:ea typeface="+mn-ea"/>
          <a:cs typeface="+mn-cs"/>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200" b="1" kern="1200">
          <a:solidFill>
            <a:schemeClr val="tx1"/>
          </a:solidFill>
          <a:latin typeface="+mj-lt"/>
          <a:ea typeface="+mn-ea"/>
          <a:cs typeface="+mn-cs"/>
        </a:defRPr>
      </a:lvl3pPr>
      <a:lvl4pPr marL="1600200" indent="-228600" algn="l" rtl="0" eaLnBrk="0" fontAlgn="base" hangingPunct="0">
        <a:spcBef>
          <a:spcPct val="20000"/>
        </a:spcBef>
        <a:spcAft>
          <a:spcPct val="0"/>
        </a:spcAft>
        <a:buFont typeface="Wingdings" panose="05000000000000000000" pitchFamily="2" charset="2"/>
        <a:buChar char="–"/>
        <a:defRPr sz="2000" b="1" kern="1200">
          <a:solidFill>
            <a:schemeClr val="tx1"/>
          </a:solidFill>
          <a:latin typeface="+mj-lt"/>
          <a:ea typeface="+mn-ea"/>
          <a:cs typeface="+mn-cs"/>
        </a:defRPr>
      </a:lvl4pPr>
      <a:lvl5pPr marL="2057400" indent="-228600" algn="l" rtl="0" eaLnBrk="0" fontAlgn="base" hangingPunct="0">
        <a:spcBef>
          <a:spcPct val="20000"/>
        </a:spcBef>
        <a:spcAft>
          <a:spcPct val="0"/>
        </a:spcAft>
        <a:buFont typeface="Wingdings" panose="05000000000000000000" pitchFamily="2" charset="2"/>
        <a:buChar char="»"/>
        <a:defRPr sz="20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050" name="Rectangle 2"/>
          <p:cNvSpPr>
            <a:spLocks noChangeArrowheads="1"/>
          </p:cNvSpPr>
          <p:nvPr/>
        </p:nvSpPr>
        <p:spPr bwMode="auto">
          <a:xfrm>
            <a:off x="0" y="1412875"/>
            <a:ext cx="468313" cy="3298825"/>
          </a:xfrm>
          <a:prstGeom prst="rect">
            <a:avLst/>
          </a:prstGeom>
          <a:solidFill>
            <a:schemeClr val="hlink"/>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ChangeArrowheads="1"/>
          </p:cNvSpPr>
          <p:nvPr/>
        </p:nvSpPr>
        <p:spPr bwMode="auto">
          <a:xfrm>
            <a:off x="0" y="0"/>
            <a:ext cx="9144000" cy="1412875"/>
          </a:xfrm>
          <a:prstGeom prst="rect">
            <a:avLst/>
          </a:prstGeom>
          <a:gradFill rotWithShape="1">
            <a:gsLst>
              <a:gs pos="0">
                <a:schemeClr val="tx2"/>
              </a:gs>
              <a:gs pos="100000">
                <a:srgbClr val="1C3071"/>
              </a:gs>
            </a:gsLst>
            <a:lin ang="5400000" scaled="1"/>
          </a:gra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ChangeArrowheads="1"/>
          </p:cNvSpPr>
          <p:nvPr/>
        </p:nvSpPr>
        <p:spPr bwMode="auto">
          <a:xfrm>
            <a:off x="438150" y="0"/>
            <a:ext cx="1739900" cy="4724400"/>
          </a:xfrm>
          <a:prstGeom prst="rect">
            <a:avLst/>
          </a:prstGeom>
          <a:gradFill rotWithShape="1">
            <a:gsLst>
              <a:gs pos="0">
                <a:schemeClr val="tx2"/>
              </a:gs>
              <a:gs pos="100000">
                <a:srgbClr val="FFFFFF"/>
              </a:gs>
            </a:gsLst>
            <a:lin ang="5400000" scaled="1"/>
          </a:gra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graphicFrame>
        <p:nvGraphicFramePr>
          <p:cNvPr id="1026" name="Object 6"/>
          <p:cNvGraphicFramePr>
            <a:graphicFrameLocks noChangeAspect="1"/>
          </p:cNvGraphicFramePr>
          <p:nvPr/>
        </p:nvGraphicFramePr>
        <p:xfrm>
          <a:off x="442913" y="3151188"/>
          <a:ext cx="1711325" cy="784225"/>
        </p:xfrm>
        <a:graphic>
          <a:graphicData uri="http://schemas.openxmlformats.org/presentationml/2006/ole">
            <mc:AlternateContent xmlns:mc="http://schemas.openxmlformats.org/markup-compatibility/2006">
              <mc:Choice xmlns:v="urn:schemas-microsoft-com:vml" Requires="v">
                <p:oleObj spid="_x0000_s3076" name="" r:id="rId12" imgW="1219200" imgH="890270" progId="">
                  <p:embed/>
                </p:oleObj>
              </mc:Choice>
              <mc:Fallback>
                <p:oleObj name="" r:id="rId12" imgW="1219200" imgH="890270" progId="">
                  <p:embed/>
                  <p:pic>
                    <p:nvPicPr>
                      <p:cNvPr id="0" name="图片 3075"/>
                      <p:cNvPicPr/>
                      <p:nvPr/>
                    </p:nvPicPr>
                    <p:blipFill>
                      <a:blip r:embed="rId13"/>
                      <a:stretch>
                        <a:fillRect/>
                      </a:stretch>
                    </p:blipFill>
                    <p:spPr>
                      <a:xfrm>
                        <a:off x="442913" y="3151188"/>
                        <a:ext cx="1711325" cy="784225"/>
                      </a:xfrm>
                      <a:prstGeom prst="rect">
                        <a:avLst/>
                      </a:prstGeom>
                      <a:noFill/>
                      <a:ln w="38100">
                        <a:noFill/>
                        <a:miter/>
                      </a:ln>
                    </p:spPr>
                  </p:pic>
                </p:oleObj>
              </mc:Fallback>
            </mc:AlternateContent>
          </a:graphicData>
        </a:graphic>
      </p:graphicFrame>
      <p:pic>
        <p:nvPicPr>
          <p:cNvPr id="1031" name="Picture 7"/>
          <p:cNvPicPr>
            <a:picLocks noChangeAspect="1"/>
          </p:cNvPicPr>
          <p:nvPr/>
        </p:nvPicPr>
        <p:blipFill>
          <a:blip r:embed="rId14"/>
          <a:stretch>
            <a:fillRect/>
          </a:stretch>
        </p:blipFill>
        <p:spPr>
          <a:xfrm>
            <a:off x="439738" y="1412875"/>
            <a:ext cx="1711325" cy="820738"/>
          </a:xfrm>
          <a:prstGeom prst="rect">
            <a:avLst/>
          </a:prstGeom>
          <a:noFill/>
          <a:ln w="9525">
            <a:noFill/>
          </a:ln>
        </p:spPr>
      </p:pic>
      <p:pic>
        <p:nvPicPr>
          <p:cNvPr id="1032" name="Picture 8"/>
          <p:cNvPicPr>
            <a:picLocks noChangeAspect="1"/>
          </p:cNvPicPr>
          <p:nvPr/>
        </p:nvPicPr>
        <p:blipFill>
          <a:blip r:embed="rId15"/>
          <a:stretch>
            <a:fillRect/>
          </a:stretch>
        </p:blipFill>
        <p:spPr>
          <a:xfrm>
            <a:off x="438150" y="3976688"/>
            <a:ext cx="1711325" cy="728662"/>
          </a:xfrm>
          <a:prstGeom prst="rect">
            <a:avLst/>
          </a:prstGeom>
          <a:noFill/>
          <a:ln w="9525">
            <a:noFill/>
          </a:ln>
        </p:spPr>
      </p:pic>
      <p:pic>
        <p:nvPicPr>
          <p:cNvPr id="1033" name="Picture 9"/>
          <p:cNvPicPr>
            <a:picLocks noChangeAspect="1"/>
          </p:cNvPicPr>
          <p:nvPr/>
        </p:nvPicPr>
        <p:blipFill>
          <a:blip r:embed="rId16"/>
          <a:stretch>
            <a:fillRect/>
          </a:stretch>
        </p:blipFill>
        <p:spPr>
          <a:xfrm>
            <a:off x="439738" y="2262188"/>
            <a:ext cx="1698625" cy="860425"/>
          </a:xfrm>
          <a:prstGeom prst="rect">
            <a:avLst/>
          </a:prstGeom>
          <a:noFill/>
          <a:ln w="9525">
            <a:noFill/>
          </a:ln>
        </p:spPr>
      </p:pic>
      <p:pic>
        <p:nvPicPr>
          <p:cNvPr id="1034" name="Picture 11" descr="hui"/>
          <p:cNvPicPr>
            <a:picLocks noChangeAspect="1"/>
          </p:cNvPicPr>
          <p:nvPr userDrawn="1"/>
        </p:nvPicPr>
        <p:blipFill>
          <a:blip r:embed="rId17"/>
          <a:stretch>
            <a:fillRect/>
          </a:stretch>
        </p:blipFill>
        <p:spPr>
          <a:xfrm>
            <a:off x="684213" y="44450"/>
            <a:ext cx="1314450" cy="1314450"/>
          </a:xfrm>
          <a:prstGeom prst="rect">
            <a:avLst/>
          </a:prstGeom>
          <a:noFill/>
          <a:ln w="9525">
            <a:noFill/>
          </a:ln>
        </p:spPr>
      </p:pic>
      <p:pic>
        <p:nvPicPr>
          <p:cNvPr id="1035" name="Picture 2" descr="image02"/>
          <p:cNvPicPr>
            <a:picLocks noChangeAspect="1"/>
          </p:cNvPicPr>
          <p:nvPr userDrawn="1"/>
        </p:nvPicPr>
        <p:blipFill>
          <a:blip r:embed="rId18"/>
          <a:srcRect t="6381" b="8911"/>
          <a:stretch>
            <a:fillRect/>
          </a:stretch>
        </p:blipFill>
        <p:spPr>
          <a:xfrm>
            <a:off x="2178050" y="1412875"/>
            <a:ext cx="6965950" cy="3292475"/>
          </a:xfrm>
          <a:prstGeom prst="rect">
            <a:avLst/>
          </a:prstGeom>
          <a:noFill/>
          <a:ln w="9525">
            <a:noFill/>
          </a:ln>
        </p:spPr>
      </p:pic>
      <p:sp>
        <p:nvSpPr>
          <p:cNvPr id="1036" name="Rectangle 4"/>
          <p:cNvSpPr>
            <a:spLocks noGrp="1"/>
          </p:cNvSpPr>
          <p:nvPr>
            <p:ph type="body"/>
          </p:nvPr>
        </p:nvSpPr>
        <p:spPr>
          <a:xfrm>
            <a:off x="457200" y="990600"/>
            <a:ext cx="8382000" cy="5410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7" name="Rectangle 7"/>
          <p:cNvSpPr>
            <a:spLocks noGrp="1"/>
          </p:cNvSpPr>
          <p:nvPr>
            <p:ph type="title"/>
          </p:nvPr>
        </p:nvSpPr>
        <p:spPr>
          <a:xfrm>
            <a:off x="1828800" y="152400"/>
            <a:ext cx="6553200" cy="563563"/>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0" fontAlgn="base" hangingPunct="0">
        <a:spcBef>
          <a:spcPct val="0"/>
        </a:spcBef>
        <a:spcAft>
          <a:spcPct val="0"/>
        </a:spcAft>
        <a:defRPr sz="2800" b="1" kern="1200">
          <a:solidFill>
            <a:schemeClr val="bg1"/>
          </a:solidFill>
          <a:latin typeface="+mj-lt"/>
          <a:ea typeface="+mj-ea"/>
          <a:cs typeface="+mj-cs"/>
        </a:defRPr>
      </a:lvl1pPr>
      <a:lvl2pPr algn="l" rtl="0" eaLnBrk="0" fontAlgn="base" hangingPunct="0">
        <a:spcBef>
          <a:spcPct val="0"/>
        </a:spcBef>
        <a:spcAft>
          <a:spcPct val="0"/>
        </a:spcAft>
        <a:defRPr sz="2800" b="1">
          <a:solidFill>
            <a:schemeClr val="bg1"/>
          </a:solidFill>
          <a:latin typeface="Arial" panose="020B0604020202020204" pitchFamily="34" charset="0"/>
        </a:defRPr>
      </a:lvl2pPr>
      <a:lvl3pPr algn="l" rtl="0" eaLnBrk="0" fontAlgn="base" hangingPunct="0">
        <a:spcBef>
          <a:spcPct val="0"/>
        </a:spcBef>
        <a:spcAft>
          <a:spcPct val="0"/>
        </a:spcAft>
        <a:defRPr sz="2800" b="1">
          <a:solidFill>
            <a:schemeClr val="bg1"/>
          </a:solidFill>
          <a:latin typeface="Arial" panose="020B0604020202020204" pitchFamily="34" charset="0"/>
        </a:defRPr>
      </a:lvl3pPr>
      <a:lvl4pPr algn="l" rtl="0" eaLnBrk="0" fontAlgn="base" hangingPunct="0">
        <a:spcBef>
          <a:spcPct val="0"/>
        </a:spcBef>
        <a:spcAft>
          <a:spcPct val="0"/>
        </a:spcAft>
        <a:defRPr sz="2800" b="1">
          <a:solidFill>
            <a:schemeClr val="bg1"/>
          </a:solidFill>
          <a:latin typeface="Arial" panose="020B0604020202020204" pitchFamily="34" charset="0"/>
        </a:defRPr>
      </a:lvl4pPr>
      <a:lvl5pPr algn="l" rtl="0" eaLnBrk="0" fontAlgn="base" hangingPunct="0">
        <a:spcBef>
          <a:spcPct val="0"/>
        </a:spcBef>
        <a:spcAft>
          <a:spcPct val="0"/>
        </a:spcAft>
        <a:defRPr sz="2800" b="1">
          <a:solidFill>
            <a:schemeClr val="bg1"/>
          </a:solidFill>
          <a:latin typeface="Arial" panose="020B0604020202020204" pitchFamily="34" charset="0"/>
        </a:defRPr>
      </a:lvl5pPr>
      <a:lvl6pPr marL="457200" algn="l" rtl="0" eaLnBrk="0" fontAlgn="base" hangingPunct="0">
        <a:spcBef>
          <a:spcPct val="0"/>
        </a:spcBef>
        <a:spcAft>
          <a:spcPct val="0"/>
        </a:spcAft>
        <a:defRPr sz="2800" b="1">
          <a:solidFill>
            <a:schemeClr val="bg1"/>
          </a:solidFill>
          <a:latin typeface="Arial" panose="020B0604020202020204" pitchFamily="34" charset="0"/>
        </a:defRPr>
      </a:lvl6pPr>
      <a:lvl7pPr marL="914400" algn="l" rtl="0" eaLnBrk="0" fontAlgn="base" hangingPunct="0">
        <a:spcBef>
          <a:spcPct val="0"/>
        </a:spcBef>
        <a:spcAft>
          <a:spcPct val="0"/>
        </a:spcAft>
        <a:defRPr sz="2800" b="1">
          <a:solidFill>
            <a:schemeClr val="bg1"/>
          </a:solidFill>
          <a:latin typeface="Arial" panose="020B0604020202020204" pitchFamily="34" charset="0"/>
        </a:defRPr>
      </a:lvl7pPr>
      <a:lvl8pPr marL="1371600" algn="l" rtl="0" eaLnBrk="0" fontAlgn="base" hangingPunct="0">
        <a:spcBef>
          <a:spcPct val="0"/>
        </a:spcBef>
        <a:spcAft>
          <a:spcPct val="0"/>
        </a:spcAft>
        <a:defRPr sz="2800" b="1">
          <a:solidFill>
            <a:schemeClr val="bg1"/>
          </a:solidFill>
          <a:latin typeface="Arial" panose="020B0604020202020204" pitchFamily="34" charset="0"/>
        </a:defRPr>
      </a:lvl8pPr>
      <a:lvl9pPr marL="1828800" algn="l" rtl="0" eaLnBrk="0" fontAlgn="base" hangingPunct="0">
        <a:spcBef>
          <a:spcPct val="0"/>
        </a:spcBef>
        <a:spcAft>
          <a:spcPct val="0"/>
        </a:spcAft>
        <a:defRPr sz="2800" b="1">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Font typeface="Wingdings" panose="05000000000000000000" pitchFamily="2" charset="2"/>
        <a:buChar char="§"/>
        <a:defRPr sz="2400" b="1" kern="1200">
          <a:solidFill>
            <a:schemeClr val="tx1"/>
          </a:solidFill>
          <a:latin typeface="+mj-lt"/>
          <a:ea typeface="+mn-ea"/>
          <a:cs typeface="+mn-cs"/>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200" b="1" kern="1200">
          <a:solidFill>
            <a:schemeClr val="tx1"/>
          </a:solidFill>
          <a:latin typeface="+mj-lt"/>
          <a:ea typeface="+mn-ea"/>
          <a:cs typeface="+mn-cs"/>
        </a:defRPr>
      </a:lvl3pPr>
      <a:lvl4pPr marL="1600200" indent="-228600" algn="l" rtl="0" eaLnBrk="0" fontAlgn="base" hangingPunct="0">
        <a:spcBef>
          <a:spcPct val="20000"/>
        </a:spcBef>
        <a:spcAft>
          <a:spcPct val="0"/>
        </a:spcAft>
        <a:buFont typeface="Wingdings" panose="05000000000000000000" pitchFamily="2" charset="2"/>
        <a:buChar char="–"/>
        <a:defRPr sz="2000" b="1" kern="1200">
          <a:solidFill>
            <a:schemeClr val="tx1"/>
          </a:solidFill>
          <a:latin typeface="+mj-lt"/>
          <a:ea typeface="+mn-ea"/>
          <a:cs typeface="+mn-cs"/>
        </a:defRPr>
      </a:lvl4pPr>
      <a:lvl5pPr marL="2057400" indent="-228600" algn="l" rtl="0" eaLnBrk="0" fontAlgn="base" hangingPunct="0">
        <a:spcBef>
          <a:spcPct val="20000"/>
        </a:spcBef>
        <a:spcAft>
          <a:spcPct val="0"/>
        </a:spcAft>
        <a:buFont typeface="Wingdings" panose="05000000000000000000" pitchFamily="2" charset="2"/>
        <a:buChar char="»"/>
        <a:defRPr sz="2000" b="1"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slideLayout" Target="../slideLayouts/slideLayout7.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emf"/></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emf"/></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jpeg"/><Relationship Id="rId1" Type="http://schemas.openxmlformats.org/officeDocument/2006/relationships/image" Target="../media/image13.jpeg"/></Relationships>
</file>

<file path=ppt/slides/_rels/slide148.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7.xml"/><Relationship Id="rId4" Type="http://schemas.openxmlformats.org/officeDocument/2006/relationships/image" Target="../media/image18.jpeg"/><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87.xml"/></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8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7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20.png"/></Relationships>
</file>

<file path=ppt/slides/_rels/slide1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3"/>
          <p:cNvSpPr>
            <a:spLocks noGrp="1"/>
          </p:cNvSpPr>
          <p:nvPr>
            <p:ph type="ctrTitle" idx="4294967295"/>
          </p:nvPr>
        </p:nvSpPr>
        <p:spPr>
          <a:xfrm>
            <a:off x="250825" y="4800600"/>
            <a:ext cx="8642350" cy="762000"/>
          </a:xfrm>
        </p:spPr>
        <p:txBody>
          <a:bodyPr vert="horz" wrap="square" lIns="91440" tIns="45720" rIns="91440" bIns="45720" anchor="ctr" anchorCtr="0"/>
          <a:lstStyle>
            <a:lvl1pPr lvl="0">
              <a:buClrTx/>
              <a:buSzTx/>
              <a:buFontTx/>
              <a:defRPr/>
            </a:lvl1pPr>
          </a:lstStyle>
          <a:p>
            <a:pPr lvl="0" algn="ctr" eaLnBrk="1" hangingPunct="1"/>
            <a:r>
              <a:rPr lang="zh-CN" altLang="en-US" sz="3600" dirty="0">
                <a:solidFill>
                  <a:schemeClr val="tx1"/>
                </a:solidFill>
                <a:ea typeface="宋体" panose="02010600030101010101" pitchFamily="2" charset="-122"/>
              </a:rPr>
              <a:t>汇编语言与微机</a:t>
            </a:r>
            <a:r>
              <a:rPr lang="zh-CN" altLang="en-US" sz="3600" dirty="0">
                <a:solidFill>
                  <a:schemeClr val="tx1"/>
                </a:solidFill>
                <a:ea typeface="宋体" panose="02010600030101010101" pitchFamily="2" charset="-122"/>
              </a:rPr>
              <a:t>原理</a:t>
            </a:r>
            <a:endParaRPr lang="zh-CN" altLang="en-US" sz="3600" dirty="0">
              <a:solidFill>
                <a:schemeClr val="tx1"/>
              </a:solidFill>
              <a:ea typeface="宋体" panose="02010600030101010101" pitchFamily="2" charset="-122"/>
            </a:endParaRPr>
          </a:p>
        </p:txBody>
      </p:sp>
      <p:sp>
        <p:nvSpPr>
          <p:cNvPr id="3075" name="Rectangle 4"/>
          <p:cNvSpPr>
            <a:spLocks noGrp="1"/>
          </p:cNvSpPr>
          <p:nvPr/>
        </p:nvSpPr>
        <p:spPr>
          <a:xfrm>
            <a:off x="6445250" y="5535613"/>
            <a:ext cx="2447925" cy="1366837"/>
          </a:xfrm>
          <a:prstGeom prst="rect">
            <a:avLst/>
          </a:prstGeom>
          <a:noFill/>
          <a:ln w="9525">
            <a:noFill/>
          </a:ln>
        </p:spPr>
        <p:txBody>
          <a:bodyPr/>
          <a:p>
            <a:pPr>
              <a:spcBef>
                <a:spcPct val="20000"/>
              </a:spcBef>
              <a:buClr>
                <a:schemeClr val="hlink"/>
              </a:buClr>
              <a:buFont typeface="Wingdings" panose="05000000000000000000" pitchFamily="2" charset="2"/>
            </a:pPr>
            <a:r>
              <a:rPr lang="zh-CN" altLang="en-US" b="1" dirty="0">
                <a:latin typeface="隶书" panose="02010509060101010101" pitchFamily="49" charset="-122"/>
                <a:ea typeface="隶书" panose="02010509060101010101" pitchFamily="49" charset="-122"/>
              </a:rPr>
              <a:t>熊迎军</a:t>
            </a:r>
            <a:endParaRPr lang="en-US" altLang="zh-CN" b="1" dirty="0">
              <a:latin typeface="隶书" panose="02010509060101010101" pitchFamily="49" charset="-122"/>
              <a:ea typeface="隶书" panose="02010509060101010101" pitchFamily="49" charset="-122"/>
            </a:endParaRPr>
          </a:p>
          <a:p>
            <a:pPr>
              <a:spcBef>
                <a:spcPct val="20000"/>
              </a:spcBef>
              <a:buClr>
                <a:schemeClr val="hlink"/>
              </a:buClr>
              <a:buFont typeface="Wingdings" panose="05000000000000000000" pitchFamily="2" charset="2"/>
            </a:pPr>
            <a:r>
              <a:rPr lang="en-US" altLang="zh-CN" b="1" dirty="0">
                <a:latin typeface="隶书" panose="02010509060101010101" pitchFamily="49" charset="-122"/>
                <a:ea typeface="隶书" panose="02010509060101010101" pitchFamily="49" charset="-122"/>
              </a:rPr>
              <a:t>xyj@njau.edu.cn</a:t>
            </a:r>
            <a:endParaRPr lang="en-US" altLang="zh-CN" b="1" dirty="0">
              <a:latin typeface="隶书" panose="02010509060101010101" pitchFamily="49" charset="-122"/>
              <a:ea typeface="隶书" panose="02010509060101010101" pitchFamily="49" charset="-122"/>
            </a:endParaRPr>
          </a:p>
          <a:p>
            <a:pPr>
              <a:spcBef>
                <a:spcPct val="20000"/>
              </a:spcBef>
              <a:buClr>
                <a:schemeClr val="hlink"/>
              </a:buClr>
              <a:buFont typeface="Wingdings" panose="05000000000000000000" pitchFamily="2" charset="2"/>
            </a:pPr>
            <a:r>
              <a:rPr lang="en-US" altLang="zh-CN" b="1" dirty="0">
                <a:latin typeface="隶书" panose="02010509060101010101" pitchFamily="49" charset="-122"/>
                <a:ea typeface="隶书" panose="02010509060101010101" pitchFamily="49" charset="-122"/>
              </a:rPr>
              <a:t>13776655525</a:t>
            </a:r>
            <a:endParaRPr lang="zh-CN" altLang="en-US" b="1" dirty="0">
              <a:latin typeface="隶书" panose="02010509060101010101" pitchFamily="49" charset="-122"/>
              <a:ea typeface="隶书" panose="02010509060101010101" pitchFamily="49" charset="-122"/>
            </a:endParaRPr>
          </a:p>
        </p:txBody>
      </p:sp>
      <p:cxnSp>
        <p:nvCxnSpPr>
          <p:cNvPr id="3076" name="直接连接符 3"/>
          <p:cNvCxnSpPr/>
          <p:nvPr/>
        </p:nvCxnSpPr>
        <p:spPr>
          <a:xfrm>
            <a:off x="0" y="5538788"/>
            <a:ext cx="9144000" cy="0"/>
          </a:xfrm>
          <a:prstGeom prst="line">
            <a:avLst/>
          </a:prstGeom>
          <a:ln w="38100" cap="flat" cmpd="sng">
            <a:solidFill>
              <a:schemeClr val="tx1"/>
            </a:solidFill>
            <a:prstDash val="soli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标题 1"/>
          <p:cNvSpPr>
            <a:spLocks noGrp="1"/>
          </p:cNvSpPr>
          <p:nvPr>
            <p:ph type="title" idx="4294967295"/>
          </p:nvPr>
        </p:nvSpPr>
        <p:spPr>
          <a:xfrm>
            <a:off x="1042988" y="1484313"/>
            <a:ext cx="6553200" cy="563562"/>
          </a:xfrm>
        </p:spPr>
        <p:txBody>
          <a:bodyPr vert="horz" wrap="square" lIns="91440" tIns="45720" rIns="91440" bIns="45720" anchor="ctr" anchorCtr="0"/>
          <a:p>
            <a:r>
              <a:rPr lang="en-US" altLang="zh-CN" dirty="0">
                <a:ea typeface="宋体" panose="02010600030101010101" pitchFamily="2" charset="-122"/>
              </a:rPr>
              <a:t>Di            </a:t>
            </a:r>
            <a:r>
              <a:rPr lang="zh-CN" altLang="en-US" sz="4000" dirty="0">
                <a:solidFill>
                  <a:srgbClr val="002060"/>
                </a:solidFill>
                <a:latin typeface="宋体" panose="02010600030101010101" pitchFamily="2" charset="-122"/>
                <a:ea typeface="宋体" panose="02010600030101010101" pitchFamily="2" charset="-122"/>
              </a:rPr>
              <a:t>第三章 指令系统</a:t>
            </a:r>
            <a:r>
              <a:rPr lang="en-US" altLang="zh-CN" sz="4000" dirty="0">
                <a:solidFill>
                  <a:srgbClr val="002060"/>
                </a:solidFill>
                <a:latin typeface="宋体" panose="02010600030101010101" pitchFamily="2" charset="-122"/>
                <a:ea typeface="宋体" panose="02010600030101010101" pitchFamily="2" charset="-122"/>
              </a:rPr>
              <a:t> </a:t>
            </a:r>
            <a:endParaRPr lang="zh-CN" altLang="en-US" sz="4000" dirty="0">
              <a:solidFill>
                <a:srgbClr val="002060"/>
              </a:solidFill>
              <a:latin typeface="宋体" panose="02010600030101010101" pitchFamily="2" charset="-122"/>
              <a:ea typeface="宋体" panose="02010600030101010101" pitchFamily="2" charset="-122"/>
            </a:endParaRPr>
          </a:p>
        </p:txBody>
      </p:sp>
      <p:sp>
        <p:nvSpPr>
          <p:cNvPr id="4099" name="文本框 3"/>
          <p:cNvSpPr txBox="1"/>
          <p:nvPr/>
        </p:nvSpPr>
        <p:spPr>
          <a:xfrm>
            <a:off x="1763713" y="2565400"/>
            <a:ext cx="4081462" cy="1930400"/>
          </a:xfrm>
          <a:prstGeom prst="rect">
            <a:avLst/>
          </a:prstGeom>
          <a:noFill/>
          <a:ln w="9525">
            <a:noFill/>
          </a:ln>
        </p:spPr>
        <p:txBody>
          <a:bodyPr>
            <a:spAutoFit/>
          </a:bodyPr>
          <a:p>
            <a:pPr eaLnBrk="0" hangingPunct="0">
              <a:lnSpc>
                <a:spcPct val="150000"/>
              </a:lnSpc>
              <a:buFont typeface="Wingdings" panose="05000000000000000000" pitchFamily="2" charset="2"/>
            </a:pPr>
            <a:r>
              <a:rPr lang="en-US" altLang="zh-CN" sz="2800" dirty="0">
                <a:latin typeface="宋体" panose="02010600030101010101" pitchFamily="2" charset="-122"/>
                <a:ea typeface="宋体" panose="02010600030101010101" pitchFamily="2" charset="-122"/>
              </a:rPr>
              <a:t>3.1 </a:t>
            </a:r>
            <a:r>
              <a:rPr lang="zh-CN" altLang="en-US" sz="2800" dirty="0">
                <a:latin typeface="宋体" panose="02010600030101010101" pitchFamily="2" charset="-122"/>
                <a:ea typeface="宋体" panose="02010600030101010101" pitchFamily="2" charset="-122"/>
              </a:rPr>
              <a:t>指令与指令系统</a:t>
            </a:r>
            <a:endParaRPr lang="en-US" altLang="zh-CN" sz="2800"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800" dirty="0">
                <a:latin typeface="宋体" panose="02010600030101010101" pitchFamily="2" charset="-122"/>
                <a:ea typeface="宋体" panose="02010600030101010101" pitchFamily="2" charset="-122"/>
              </a:rPr>
              <a:t>3.2 IA-32</a:t>
            </a:r>
            <a:r>
              <a:rPr lang="zh-CN" altLang="en-US" sz="2800" dirty="0">
                <a:latin typeface="宋体" panose="02010600030101010101" pitchFamily="2" charset="-122"/>
                <a:ea typeface="宋体" panose="02010600030101010101" pitchFamily="2" charset="-122"/>
              </a:rPr>
              <a:t>指令系统</a:t>
            </a:r>
            <a:endParaRPr lang="en-US" altLang="zh-CN" sz="2800"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800" dirty="0">
                <a:latin typeface="宋体" panose="02010600030101010101" pitchFamily="2" charset="-122"/>
                <a:ea typeface="宋体" panose="02010600030101010101" pitchFamily="2" charset="-122"/>
              </a:rPr>
              <a:t>3.3 </a:t>
            </a:r>
            <a:r>
              <a:rPr lang="zh-CN" altLang="en-US" sz="2800" dirty="0">
                <a:latin typeface="宋体" panose="02010600030101010101" pitchFamily="2" charset="-122"/>
                <a:ea typeface="宋体" panose="02010600030101010101" pitchFamily="2" charset="-122"/>
              </a:rPr>
              <a:t>本章小结</a:t>
            </a:r>
            <a:endParaRPr lang="en-US" altLang="zh-CN" sz="2800" dirty="0">
              <a:latin typeface="宋体" panose="02010600030101010101" pitchFamily="2" charset="-122"/>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idx="4294967295"/>
          </p:nvPr>
        </p:nvSpPr>
        <p:spPr/>
        <p:txBody>
          <a:bodyPr vert="horz" wrap="square" lIns="91440" tIns="45720" rIns="91440" bIns="45720" anchor="ctr" anchorCtr="0"/>
          <a:p>
            <a:pPr eaLnBrk="1" hangingPunct="1"/>
            <a:r>
              <a:rPr lang="en-US" altLang="zh-CN" sz="3600" dirty="0">
                <a:latin typeface="宋体" panose="02010600030101010101" pitchFamily="2" charset="-122"/>
                <a:ea typeface="宋体" panose="02010600030101010101" pitchFamily="2" charset="-122"/>
              </a:rPr>
              <a:t>3.1 </a:t>
            </a:r>
            <a:r>
              <a:rPr lang="zh-CN" altLang="en-US" sz="3600" dirty="0">
                <a:latin typeface="宋体" panose="02010600030101010101" pitchFamily="2" charset="-122"/>
                <a:ea typeface="宋体" panose="02010600030101010101" pitchFamily="2" charset="-122"/>
              </a:rPr>
              <a:t>指令与指令系统</a:t>
            </a:r>
            <a:endParaRPr lang="zh-CN" altLang="en-US" sz="3600" dirty="0">
              <a:latin typeface="宋体" panose="02010600030101010101" pitchFamily="2" charset="-122"/>
              <a:ea typeface="宋体" panose="02010600030101010101" pitchFamily="2" charset="-122"/>
            </a:endParaRPr>
          </a:p>
        </p:txBody>
      </p:sp>
      <p:sp>
        <p:nvSpPr>
          <p:cNvPr id="6147" name="Rectangle 3"/>
          <p:cNvSpPr>
            <a:spLocks noGrp="1"/>
          </p:cNvSpPr>
          <p:nvPr>
            <p:ph type="body" idx="4294967295"/>
          </p:nvPr>
        </p:nvSpPr>
        <p:spPr>
          <a:xfrm>
            <a:off x="900113" y="1268413"/>
            <a:ext cx="7673975" cy="5300662"/>
          </a:xfrm>
        </p:spPr>
        <p:txBody>
          <a:bodyPr vert="horz" wrap="square" lIns="91440" tIns="45720" rIns="91440" bIns="45720" anchor="t" anchorCtr="0"/>
          <a:p>
            <a:pPr eaLnBrk="1" hangingPunct="1">
              <a:lnSpc>
                <a:spcPct val="110000"/>
              </a:lnSpc>
              <a:spcBef>
                <a:spcPct val="50000"/>
              </a:spcBef>
              <a:spcAft>
                <a:spcPct val="35000"/>
              </a:spcAft>
              <a:buFont typeface="Wingdings" panose="05000000000000000000" pitchFamily="2" charset="2"/>
              <a:buChar char="Ø"/>
            </a:pPr>
            <a:r>
              <a:rPr lang="zh-CN" altLang="en-US" dirty="0">
                <a:solidFill>
                  <a:srgbClr val="A50021"/>
                </a:solidFill>
                <a:latin typeface="宋体" panose="02010600030101010101" pitchFamily="2" charset="-122"/>
                <a:ea typeface="宋体" panose="02010600030101010101" pitchFamily="2" charset="-122"/>
              </a:rPr>
              <a:t>指令</a:t>
            </a:r>
            <a:endParaRPr lang="zh-CN" altLang="en-US" dirty="0">
              <a:solidFill>
                <a:srgbClr val="A50021"/>
              </a:solidFill>
              <a:latin typeface="宋体" panose="02010600030101010101" pitchFamily="2" charset="-122"/>
              <a:ea typeface="宋体" panose="02010600030101010101" pitchFamily="2" charset="-122"/>
            </a:endParaRPr>
          </a:p>
          <a:p>
            <a:pPr eaLnBrk="1" hangingPunct="1">
              <a:lnSpc>
                <a:spcPct val="110000"/>
              </a:lnSpc>
              <a:buNone/>
            </a:pPr>
            <a:r>
              <a:rPr lang="zh-CN" altLang="en-US" b="0" dirty="0">
                <a:latin typeface="宋体" panose="02010600030101010101" pitchFamily="2" charset="-122"/>
                <a:ea typeface="宋体" panose="02010600030101010101" pitchFamily="2" charset="-122"/>
              </a:rPr>
              <a:t>   控制计算机完成某种操作的命令</a:t>
            </a:r>
            <a:endParaRPr lang="zh-CN" altLang="en-US" b="0" dirty="0">
              <a:latin typeface="宋体" panose="02010600030101010101" pitchFamily="2" charset="-122"/>
              <a:ea typeface="宋体" panose="02010600030101010101" pitchFamily="2" charset="-122"/>
            </a:endParaRPr>
          </a:p>
          <a:p>
            <a:pPr eaLnBrk="1" hangingPunct="1">
              <a:lnSpc>
                <a:spcPct val="110000"/>
              </a:lnSpc>
              <a:spcBef>
                <a:spcPct val="50000"/>
              </a:spcBef>
              <a:spcAft>
                <a:spcPct val="30000"/>
              </a:spcAft>
              <a:buFont typeface="Wingdings" panose="05000000000000000000" pitchFamily="2" charset="2"/>
              <a:buChar char="Ø"/>
            </a:pPr>
            <a:r>
              <a:rPr lang="zh-CN" altLang="en-US" dirty="0">
                <a:solidFill>
                  <a:srgbClr val="A50021"/>
                </a:solidFill>
                <a:latin typeface="宋体" panose="02010600030101010101" pitchFamily="2" charset="-122"/>
                <a:ea typeface="宋体" panose="02010600030101010101" pitchFamily="2" charset="-122"/>
              </a:rPr>
              <a:t>指令系统</a:t>
            </a:r>
            <a:endParaRPr lang="en-US" altLang="zh-CN" dirty="0">
              <a:solidFill>
                <a:srgbClr val="A50021"/>
              </a:solidFill>
              <a:latin typeface="宋体" panose="02010600030101010101" pitchFamily="2" charset="-122"/>
              <a:ea typeface="宋体" panose="02010600030101010101" pitchFamily="2" charset="-122"/>
            </a:endParaRPr>
          </a:p>
          <a:p>
            <a:pPr eaLnBrk="1" hangingPunct="1">
              <a:lnSpc>
                <a:spcPct val="110000"/>
              </a:lnSpc>
              <a:spcBef>
                <a:spcPct val="50000"/>
              </a:spcBef>
              <a:spcAft>
                <a:spcPct val="30000"/>
              </a:spcAft>
              <a:buNone/>
            </a:pPr>
            <a:r>
              <a:rPr lang="en-US" altLang="zh-CN" b="0" dirty="0">
                <a:solidFill>
                  <a:srgbClr val="A50021"/>
                </a:solidFill>
                <a:latin typeface="宋体" panose="02010600030101010101" pitchFamily="2" charset="-122"/>
                <a:ea typeface="宋体" panose="02010600030101010101" pitchFamily="2" charset="-122"/>
              </a:rPr>
              <a:t>    </a:t>
            </a:r>
            <a:r>
              <a:rPr lang="zh-CN" altLang="en-US" b="0" dirty="0">
                <a:latin typeface="宋体" panose="02010600030101010101" pitchFamily="2" charset="-122"/>
                <a:ea typeface="宋体" panose="02010600030101010101" pitchFamily="2" charset="-122"/>
              </a:rPr>
              <a:t>处理器所能识别的所有指令的集合</a:t>
            </a:r>
            <a:endParaRPr lang="zh-CN" altLang="en-US" b="0" dirty="0">
              <a:latin typeface="宋体" panose="02010600030101010101" pitchFamily="2" charset="-122"/>
              <a:ea typeface="宋体" panose="02010600030101010101" pitchFamily="2" charset="-122"/>
            </a:endParaRPr>
          </a:p>
          <a:p>
            <a:pPr eaLnBrk="1" hangingPunct="1">
              <a:lnSpc>
                <a:spcPct val="110000"/>
              </a:lnSpc>
              <a:spcBef>
                <a:spcPct val="50000"/>
              </a:spcBef>
              <a:spcAft>
                <a:spcPct val="35000"/>
              </a:spcAft>
              <a:buFont typeface="Wingdings" panose="05000000000000000000" pitchFamily="2" charset="2"/>
              <a:buChar char="Ø"/>
            </a:pPr>
            <a:r>
              <a:rPr lang="zh-CN" altLang="en-US" dirty="0">
                <a:solidFill>
                  <a:srgbClr val="A50021"/>
                </a:solidFill>
                <a:latin typeface="宋体" panose="02010600030101010101" pitchFamily="2" charset="-122"/>
                <a:ea typeface="宋体" panose="02010600030101010101" pitchFamily="2" charset="-122"/>
              </a:rPr>
              <a:t>指令的兼容性：</a:t>
            </a:r>
            <a:endParaRPr lang="zh-CN" altLang="en-US" dirty="0">
              <a:solidFill>
                <a:srgbClr val="A50021"/>
              </a:solidFill>
              <a:latin typeface="宋体" panose="02010600030101010101" pitchFamily="2" charset="-122"/>
              <a:ea typeface="宋体" panose="02010600030101010101" pitchFamily="2" charset="-122"/>
            </a:endParaRPr>
          </a:p>
          <a:p>
            <a:pPr eaLnBrk="1" hangingPunct="1">
              <a:lnSpc>
                <a:spcPct val="110000"/>
              </a:lnSpc>
              <a:buNone/>
            </a:pPr>
            <a:r>
              <a:rPr lang="zh-CN" altLang="en-US" b="0" dirty="0">
                <a:latin typeface="宋体" panose="02010600030101010101" pitchFamily="2" charset="-122"/>
                <a:ea typeface="宋体" panose="02010600030101010101" pitchFamily="2" charset="-122"/>
              </a:rPr>
              <a:t>   同一系列机的指令都是兼容的。</a:t>
            </a:r>
            <a:endParaRPr lang="en-US" altLang="zh-CN" b="0" dirty="0">
              <a:latin typeface="宋体" panose="02010600030101010101" pitchFamily="2" charset="-122"/>
              <a:ea typeface="宋体" panose="02010600030101010101" pitchFamily="2" charset="-122"/>
            </a:endParaRPr>
          </a:p>
          <a:p>
            <a:pPr eaLnBrk="1" hangingPunct="1">
              <a:lnSpc>
                <a:spcPct val="110000"/>
              </a:lnSpc>
              <a:buFont typeface="Wingdings" panose="05000000000000000000" pitchFamily="2" charset="2"/>
              <a:buChar char="Ø"/>
            </a:pPr>
            <a:r>
              <a:rPr lang="en-US" altLang="zh-CN" b="0" dirty="0">
                <a:solidFill>
                  <a:srgbClr val="FF0000"/>
                </a:solidFill>
                <a:latin typeface="宋体" panose="02010600030101010101" pitchFamily="2" charset="-122"/>
                <a:ea typeface="宋体" panose="02010600030101010101" pitchFamily="2" charset="-122"/>
              </a:rPr>
              <a:t>16</a:t>
            </a:r>
            <a:r>
              <a:rPr lang="zh-CN" altLang="en-US" b="0" dirty="0">
                <a:solidFill>
                  <a:srgbClr val="FF0000"/>
                </a:solidFill>
                <a:latin typeface="宋体" panose="02010600030101010101" pitchFamily="2" charset="-122"/>
                <a:ea typeface="宋体" panose="02010600030101010101" pitchFamily="2" charset="-122"/>
              </a:rPr>
              <a:t>位</a:t>
            </a:r>
            <a:r>
              <a:rPr lang="en-US" altLang="zh-CN" b="0" dirty="0">
                <a:solidFill>
                  <a:srgbClr val="FF0000"/>
                </a:solidFill>
                <a:latin typeface="宋体" panose="02010600030101010101" pitchFamily="2" charset="-122"/>
                <a:ea typeface="宋体" panose="02010600030101010101" pitchFamily="2" charset="-122"/>
              </a:rPr>
              <a:t>8086</a:t>
            </a:r>
            <a:r>
              <a:rPr lang="zh-CN" altLang="en-US" b="0" dirty="0">
                <a:solidFill>
                  <a:srgbClr val="FF0000"/>
                </a:solidFill>
                <a:latin typeface="宋体" panose="02010600030101010101" pitchFamily="2" charset="-122"/>
                <a:ea typeface="宋体" panose="02010600030101010101" pitchFamily="2" charset="-122"/>
              </a:rPr>
              <a:t>指令系统是</a:t>
            </a:r>
            <a:r>
              <a:rPr lang="en-US" altLang="zh-CN" b="0" dirty="0">
                <a:solidFill>
                  <a:srgbClr val="FF0000"/>
                </a:solidFill>
                <a:latin typeface="宋体" panose="02010600030101010101" pitchFamily="2" charset="-122"/>
                <a:ea typeface="宋体" panose="02010600030101010101" pitchFamily="2" charset="-122"/>
              </a:rPr>
              <a:t>Intel 80x86</a:t>
            </a:r>
            <a:r>
              <a:rPr lang="zh-CN" altLang="en-US" b="0" dirty="0">
                <a:solidFill>
                  <a:srgbClr val="FF0000"/>
                </a:solidFill>
                <a:latin typeface="宋体" panose="02010600030101010101" pitchFamily="2" charset="-122"/>
                <a:ea typeface="宋体" panose="02010600030101010101" pitchFamily="2" charset="-122"/>
              </a:rPr>
              <a:t>系列微处理器指令系统的基础</a:t>
            </a:r>
            <a:endParaRPr lang="zh-CN" altLang="en-US" b="0"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47">
                                            <p:txEl>
                                              <p:charRg st="0" end="3"/>
                                            </p:txEl>
                                          </p:spTgt>
                                        </p:tgtEl>
                                        <p:attrNameLst>
                                          <p:attrName>style.visibility</p:attrName>
                                        </p:attrNameLst>
                                      </p:cBhvr>
                                      <p:to>
                                        <p:strVal val="visible"/>
                                      </p:to>
                                    </p:set>
                                    <p:animEffect transition="in" filter="wipe(left)">
                                      <p:cBhvr>
                                        <p:cTn id="7" dur="500"/>
                                        <p:tgtEl>
                                          <p:spTgt spid="6147">
                                            <p:txEl>
                                              <p:charRg st="0" end="3"/>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47">
                                            <p:txEl>
                                              <p:charRg st="3" end="21"/>
                                            </p:txEl>
                                          </p:spTgt>
                                        </p:tgtEl>
                                        <p:attrNameLst>
                                          <p:attrName>style.visibility</p:attrName>
                                        </p:attrNameLst>
                                      </p:cBhvr>
                                      <p:to>
                                        <p:strVal val="visible"/>
                                      </p:to>
                                    </p:set>
                                    <p:animEffect transition="in" filter="wipe(left)">
                                      <p:cBhvr>
                                        <p:cTn id="11" dur="500"/>
                                        <p:tgtEl>
                                          <p:spTgt spid="6147">
                                            <p:txEl>
                                              <p:charRg st="3" end="2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147">
                                            <p:txEl>
                                              <p:charRg st="21" end="26"/>
                                            </p:txEl>
                                          </p:spTgt>
                                        </p:tgtEl>
                                        <p:attrNameLst>
                                          <p:attrName>style.visibility</p:attrName>
                                        </p:attrNameLst>
                                      </p:cBhvr>
                                      <p:to>
                                        <p:strVal val="visible"/>
                                      </p:to>
                                    </p:set>
                                    <p:animEffect transition="in" filter="wipe(left)">
                                      <p:cBhvr>
                                        <p:cTn id="16" dur="500"/>
                                        <p:tgtEl>
                                          <p:spTgt spid="6147">
                                            <p:txEl>
                                              <p:charRg st="21" end="2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147">
                                            <p:txEl>
                                              <p:charRg st="26" end="46"/>
                                            </p:txEl>
                                          </p:spTgt>
                                        </p:tgtEl>
                                        <p:attrNameLst>
                                          <p:attrName>style.visibility</p:attrName>
                                        </p:attrNameLst>
                                      </p:cBhvr>
                                      <p:to>
                                        <p:strVal val="visible"/>
                                      </p:to>
                                    </p:set>
                                    <p:animEffect transition="in" filter="wipe(left)">
                                      <p:cBhvr>
                                        <p:cTn id="21" dur="500"/>
                                        <p:tgtEl>
                                          <p:spTgt spid="6147">
                                            <p:txEl>
                                              <p:charRg st="26" end="4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147">
                                            <p:txEl>
                                              <p:charRg st="46" end="54"/>
                                            </p:txEl>
                                          </p:spTgt>
                                        </p:tgtEl>
                                        <p:attrNameLst>
                                          <p:attrName>style.visibility</p:attrName>
                                        </p:attrNameLst>
                                      </p:cBhvr>
                                      <p:to>
                                        <p:strVal val="visible"/>
                                      </p:to>
                                    </p:set>
                                    <p:animEffect transition="in" filter="wipe(left)">
                                      <p:cBhvr>
                                        <p:cTn id="26" dur="500"/>
                                        <p:tgtEl>
                                          <p:spTgt spid="6147">
                                            <p:txEl>
                                              <p:charRg st="46" end="5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147">
                                            <p:txEl>
                                              <p:charRg st="54" end="72"/>
                                            </p:txEl>
                                          </p:spTgt>
                                        </p:tgtEl>
                                        <p:attrNameLst>
                                          <p:attrName>style.visibility</p:attrName>
                                        </p:attrNameLst>
                                      </p:cBhvr>
                                      <p:to>
                                        <p:strVal val="visible"/>
                                      </p:to>
                                    </p:set>
                                    <p:animEffect transition="in" filter="wipe(left)">
                                      <p:cBhvr>
                                        <p:cTn id="31" dur="500"/>
                                        <p:tgtEl>
                                          <p:spTgt spid="6147">
                                            <p:txEl>
                                              <p:charRg st="54" end="7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147">
                                            <p:txEl>
                                              <p:charRg st="72" end="109"/>
                                            </p:txEl>
                                          </p:spTgt>
                                        </p:tgtEl>
                                        <p:attrNameLst>
                                          <p:attrName>style.visibility</p:attrName>
                                        </p:attrNameLst>
                                      </p:cBhvr>
                                      <p:to>
                                        <p:strVal val="visible"/>
                                      </p:to>
                                    </p:set>
                                    <p:animEffect transition="in" filter="wipe(left)">
                                      <p:cBhvr>
                                        <p:cTn id="36" dur="500"/>
                                        <p:tgtEl>
                                          <p:spTgt spid="6147">
                                            <p:txEl>
                                              <p:charRg st="72" end="10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AutoShape 4"/>
          <p:cNvSpPr/>
          <p:nvPr/>
        </p:nvSpPr>
        <p:spPr>
          <a:xfrm>
            <a:off x="1906588" y="2852738"/>
            <a:ext cx="288925" cy="2079625"/>
          </a:xfrm>
          <a:prstGeom prst="leftBrace">
            <a:avLst>
              <a:gd name="adj1" fmla="val 59515"/>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7171" name="Text Box 9"/>
          <p:cNvSpPr txBox="1"/>
          <p:nvPr/>
        </p:nvSpPr>
        <p:spPr>
          <a:xfrm>
            <a:off x="2268538" y="2636838"/>
            <a:ext cx="6623050" cy="2443162"/>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800" b="1" dirty="0">
                <a:latin typeface="Times New Roman" panose="02020603050405020304" pitchFamily="18" charset="0"/>
                <a:ea typeface="宋体" panose="02010600030101010101" pitchFamily="2" charset="-122"/>
              </a:rPr>
              <a:t>零操作数指令： 操作码 </a:t>
            </a:r>
            <a:endParaRPr lang="en-US" altLang="zh-CN" sz="2800" b="1" dirty="0">
              <a:latin typeface="Times New Roman" panose="02020603050405020304" pitchFamily="18" charset="0"/>
              <a:ea typeface="宋体" panose="02010600030101010101" pitchFamily="2" charset="-122"/>
            </a:endParaRPr>
          </a:p>
          <a:p>
            <a:pPr eaLnBrk="0" hangingPunct="0">
              <a:spcBef>
                <a:spcPct val="50000"/>
              </a:spcBef>
              <a:buFont typeface="Wingdings" panose="05000000000000000000" pitchFamily="2" charset="2"/>
            </a:pPr>
            <a:r>
              <a:rPr lang="zh-CN" altLang="en-US" sz="2800" b="1" dirty="0">
                <a:latin typeface="Times New Roman" panose="02020603050405020304" pitchFamily="18" charset="0"/>
                <a:ea typeface="宋体" panose="02010600030101010101" pitchFamily="2" charset="-122"/>
              </a:rPr>
              <a:t>单操作数指令： 操作码  操作数</a:t>
            </a:r>
            <a:endParaRPr lang="zh-CN" altLang="en-US" sz="2800" b="1" dirty="0">
              <a:latin typeface="Times New Roman" panose="02020603050405020304" pitchFamily="18" charset="0"/>
              <a:ea typeface="宋体" panose="02010600030101010101" pitchFamily="2" charset="-122"/>
            </a:endParaRPr>
          </a:p>
          <a:p>
            <a:pPr eaLnBrk="0" hangingPunct="0">
              <a:spcBef>
                <a:spcPct val="50000"/>
              </a:spcBef>
              <a:buFont typeface="Wingdings" panose="05000000000000000000" pitchFamily="2" charset="2"/>
            </a:pPr>
            <a:r>
              <a:rPr lang="zh-CN" altLang="en-US" sz="2800" b="1" dirty="0">
                <a:latin typeface="Times New Roman" panose="02020603050405020304" pitchFamily="18" charset="0"/>
                <a:ea typeface="宋体" panose="02010600030101010101" pitchFamily="2" charset="-122"/>
              </a:rPr>
              <a:t>双操作数指令： 操作码  操作数，操作数</a:t>
            </a:r>
            <a:endParaRPr lang="zh-CN" altLang="en-US" sz="2800" b="1" dirty="0">
              <a:latin typeface="Times New Roman" panose="02020603050405020304" pitchFamily="18" charset="0"/>
              <a:ea typeface="宋体" panose="02010600030101010101" pitchFamily="2" charset="-122"/>
            </a:endParaRPr>
          </a:p>
          <a:p>
            <a:pPr eaLnBrk="0" hangingPunct="0">
              <a:spcBef>
                <a:spcPct val="50000"/>
              </a:spcBef>
              <a:buFont typeface="Wingdings" panose="05000000000000000000" pitchFamily="2" charset="2"/>
            </a:pPr>
            <a:r>
              <a:rPr lang="zh-CN" altLang="en-US" sz="2800" b="1" dirty="0">
                <a:latin typeface="Times New Roman" panose="02020603050405020304" pitchFamily="18" charset="0"/>
                <a:ea typeface="宋体" panose="02010600030101010101" pitchFamily="2" charset="-122"/>
              </a:rPr>
              <a:t>多操作数指令： 三操作数及以上</a:t>
            </a:r>
            <a:endParaRPr lang="zh-CN" altLang="en-US" sz="2800" b="1" dirty="0">
              <a:latin typeface="Times New Roman" panose="02020603050405020304" pitchFamily="18" charset="0"/>
              <a:ea typeface="宋体" panose="02010600030101010101" pitchFamily="2" charset="-122"/>
            </a:endParaRPr>
          </a:p>
        </p:txBody>
      </p:sp>
      <p:sp>
        <p:nvSpPr>
          <p:cNvPr id="7172" name="Rectangle 3"/>
          <p:cNvSpPr txBox="1"/>
          <p:nvPr/>
        </p:nvSpPr>
        <p:spPr>
          <a:xfrm>
            <a:off x="395288" y="3317875"/>
            <a:ext cx="1143000" cy="1081088"/>
          </a:xfrm>
          <a:prstGeom prst="rect">
            <a:avLst/>
          </a:prstGeom>
          <a:noFill/>
          <a:ln w="9525">
            <a:noFill/>
          </a:ln>
        </p:spPr>
        <p:txBody>
          <a:bodyPr/>
          <a:p>
            <a:pPr>
              <a:spcBef>
                <a:spcPct val="20000"/>
              </a:spcBef>
              <a:buClr>
                <a:schemeClr val="hlink"/>
              </a:buClr>
              <a:buFont typeface="Wingdings" panose="05000000000000000000" pitchFamily="2" charset="2"/>
            </a:pPr>
            <a:r>
              <a:rPr lang="zh-CN" altLang="en-US" sz="2800" b="1" dirty="0">
                <a:latin typeface="Arial" panose="020B0604020202020204" pitchFamily="34" charset="0"/>
                <a:ea typeface="宋体" panose="02010600030101010101" pitchFamily="2" charset="-122"/>
              </a:rPr>
              <a:t>指令</a:t>
            </a:r>
            <a:endParaRPr lang="en-US" altLang="zh-CN" sz="2800" b="1" dirty="0">
              <a:latin typeface="Verdana" panose="020B0604030504040204" pitchFamily="34" charset="0"/>
              <a:ea typeface="宋体" panose="02010600030101010101" pitchFamily="2" charset="-122"/>
            </a:endParaRPr>
          </a:p>
          <a:p>
            <a:pPr>
              <a:spcBef>
                <a:spcPct val="20000"/>
              </a:spcBef>
              <a:buClr>
                <a:schemeClr val="hlink"/>
              </a:buClr>
              <a:buFont typeface="Wingdings" panose="05000000000000000000" pitchFamily="2" charset="2"/>
            </a:pPr>
            <a:r>
              <a:rPr lang="zh-CN" altLang="en-US" sz="2800" b="1" dirty="0">
                <a:latin typeface="Arial" panose="020B0604020202020204" pitchFamily="34" charset="0"/>
                <a:ea typeface="宋体" panose="02010600030101010101" pitchFamily="2" charset="-122"/>
              </a:rPr>
              <a:t>长度</a:t>
            </a:r>
            <a:endParaRPr lang="zh-CN" altLang="en-US" sz="2800" b="1" dirty="0">
              <a:latin typeface="Arial" panose="020B0604020202020204" pitchFamily="34"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171">
                                            <p:txEl>
                                              <p:charRg st="0" end="13"/>
                                            </p:txEl>
                                          </p:spTgt>
                                        </p:tgtEl>
                                        <p:attrNameLst>
                                          <p:attrName>style.visibility</p:attrName>
                                        </p:attrNameLst>
                                      </p:cBhvr>
                                      <p:to>
                                        <p:strVal val="visible"/>
                                      </p:to>
                                    </p:set>
                                    <p:animEffect transition="in" filter="wipe(left)">
                                      <p:cBhvr>
                                        <p:cTn id="7" dur="500"/>
                                        <p:tgtEl>
                                          <p:spTgt spid="7171">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171">
                                            <p:txEl>
                                              <p:charRg st="13" end="30"/>
                                            </p:txEl>
                                          </p:spTgt>
                                        </p:tgtEl>
                                        <p:attrNameLst>
                                          <p:attrName>style.visibility</p:attrName>
                                        </p:attrNameLst>
                                      </p:cBhvr>
                                      <p:to>
                                        <p:strVal val="visible"/>
                                      </p:to>
                                    </p:set>
                                    <p:animEffect transition="in" filter="wipe(left)">
                                      <p:cBhvr>
                                        <p:cTn id="12" dur="500"/>
                                        <p:tgtEl>
                                          <p:spTgt spid="7171">
                                            <p:txEl>
                                              <p:charRg st="13" end="3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171">
                                            <p:txEl>
                                              <p:charRg st="30" end="51"/>
                                            </p:txEl>
                                          </p:spTgt>
                                        </p:tgtEl>
                                        <p:attrNameLst>
                                          <p:attrName>style.visibility</p:attrName>
                                        </p:attrNameLst>
                                      </p:cBhvr>
                                      <p:to>
                                        <p:strVal val="visible"/>
                                      </p:to>
                                    </p:set>
                                    <p:animEffect transition="in" filter="wipe(left)">
                                      <p:cBhvr>
                                        <p:cTn id="17" dur="500"/>
                                        <p:tgtEl>
                                          <p:spTgt spid="7171">
                                            <p:txEl>
                                              <p:charRg st="30" end="5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171">
                                            <p:txEl>
                                              <p:charRg st="51" end="67"/>
                                            </p:txEl>
                                          </p:spTgt>
                                        </p:tgtEl>
                                        <p:attrNameLst>
                                          <p:attrName>style.visibility</p:attrName>
                                        </p:attrNameLst>
                                      </p:cBhvr>
                                      <p:to>
                                        <p:strVal val="visible"/>
                                      </p:to>
                                    </p:set>
                                    <p:animEffect transition="in" filter="wipe(left)">
                                      <p:cBhvr>
                                        <p:cTn id="22" dur="500"/>
                                        <p:tgtEl>
                                          <p:spTgt spid="7171">
                                            <p:txEl>
                                              <p:charRg st="51" end="67"/>
                                            </p:txEl>
                                          </p:spTgt>
                                        </p:tgtEl>
                                      </p:cBhvr>
                                    </p:animEffect>
                                  </p:childTnLst>
                                </p:cTn>
                              </p:par>
                            </p:childTnLst>
                          </p:cTn>
                        </p:par>
                        <p:par>
                          <p:cTn id="23" fill="hold">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7170"/>
                                        </p:tgtEl>
                                        <p:attrNameLst>
                                          <p:attrName>style.visibility</p:attrName>
                                        </p:attrNameLst>
                                      </p:cBhvr>
                                      <p:to>
                                        <p:strVal val="visible"/>
                                      </p:to>
                                    </p:set>
                                    <p:animEffect transition="in" filter="wipe(up)">
                                      <p:cBhvr>
                                        <p:cTn id="26" dur="500"/>
                                        <p:tgtEl>
                                          <p:spTgt spid="7170"/>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7172">
                                            <p:txEl>
                                              <p:charRg st="0" end="3"/>
                                            </p:txEl>
                                          </p:spTgt>
                                        </p:tgtEl>
                                        <p:attrNameLst>
                                          <p:attrName>style.visibility</p:attrName>
                                        </p:attrNameLst>
                                      </p:cBhvr>
                                      <p:to>
                                        <p:strVal val="visible"/>
                                      </p:to>
                                    </p:set>
                                    <p:animEffect transition="in" filter="wipe(left)">
                                      <p:cBhvr>
                                        <p:cTn id="30" dur="500"/>
                                        <p:tgtEl>
                                          <p:spTgt spid="7172">
                                            <p:txEl>
                                              <p:charRg st="0" end="3"/>
                                            </p:txEl>
                                          </p:spTgt>
                                        </p:tgtEl>
                                      </p:cBhvr>
                                    </p:animEffect>
                                  </p:childTnLst>
                                </p:cTn>
                              </p:par>
                            </p:childTnLst>
                          </p:cTn>
                        </p:par>
                        <p:par>
                          <p:cTn id="31" fill="hold">
                            <p:stCondLst>
                              <p:cond delay="1500"/>
                            </p:stCondLst>
                            <p:childTnLst>
                              <p:par>
                                <p:cTn id="32" presetID="22" presetClass="entr" presetSubtype="8" fill="hold" grpId="0" nodeType="afterEffect">
                                  <p:stCondLst>
                                    <p:cond delay="0"/>
                                  </p:stCondLst>
                                  <p:childTnLst>
                                    <p:set>
                                      <p:cBhvr>
                                        <p:cTn id="33" dur="1" fill="hold">
                                          <p:stCondLst>
                                            <p:cond delay="0"/>
                                          </p:stCondLst>
                                        </p:cTn>
                                        <p:tgtEl>
                                          <p:spTgt spid="7172">
                                            <p:txEl>
                                              <p:charRg st="3" end="6"/>
                                            </p:txEl>
                                          </p:spTgt>
                                        </p:tgtEl>
                                        <p:attrNameLst>
                                          <p:attrName>style.visibility</p:attrName>
                                        </p:attrNameLst>
                                      </p:cBhvr>
                                      <p:to>
                                        <p:strVal val="visible"/>
                                      </p:to>
                                    </p:set>
                                    <p:animEffect transition="in" filter="wipe(left)">
                                      <p:cBhvr>
                                        <p:cTn id="34" dur="500"/>
                                        <p:tgtEl>
                                          <p:spTgt spid="7172">
                                            <p:txEl>
                                              <p:charRg st="3"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animBg="1"/>
      <p:bldP spid="717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idx="4294967295"/>
          </p:nvPr>
        </p:nvSpPr>
        <p:spPr>
          <a:xfrm>
            <a:off x="2513013" y="1346200"/>
            <a:ext cx="3570287" cy="563563"/>
          </a:xfrm>
        </p:spPr>
        <p:txBody>
          <a:bodyPr vert="horz" wrap="square" lIns="91440" tIns="45720" rIns="91440" bIns="45720" anchor="ctr" anchorCtr="0"/>
          <a:p>
            <a:pPr eaLnBrk="1" hangingPunct="1"/>
            <a:r>
              <a:rPr lang="zh-CN" altLang="en-US" sz="3600" dirty="0">
                <a:solidFill>
                  <a:srgbClr val="C00000"/>
                </a:solidFill>
                <a:latin typeface="宋体" panose="02010600030101010101" pitchFamily="2" charset="-122"/>
                <a:ea typeface="宋体" panose="02010600030101010101" pitchFamily="2" charset="-122"/>
              </a:rPr>
              <a:t>指令的执行速度</a:t>
            </a:r>
            <a:endParaRPr lang="zh-CN" altLang="en-US" sz="3600" dirty="0">
              <a:solidFill>
                <a:srgbClr val="C00000"/>
              </a:solidFill>
              <a:latin typeface="宋体" panose="02010600030101010101" pitchFamily="2" charset="-122"/>
              <a:ea typeface="宋体" panose="02010600030101010101" pitchFamily="2" charset="-122"/>
            </a:endParaRPr>
          </a:p>
        </p:txBody>
      </p:sp>
      <p:sp>
        <p:nvSpPr>
          <p:cNvPr id="8195" name="Rectangle 3"/>
          <p:cNvSpPr>
            <a:spLocks noGrp="1"/>
          </p:cNvSpPr>
          <p:nvPr>
            <p:ph type="body" idx="4294967295"/>
          </p:nvPr>
        </p:nvSpPr>
        <p:spPr>
          <a:xfrm>
            <a:off x="971550" y="2276475"/>
            <a:ext cx="7061200" cy="3810000"/>
          </a:xfrm>
        </p:spPr>
        <p:txBody>
          <a:bodyPr vert="horz" wrap="square" lIns="91440" tIns="45720" rIns="91440" bIns="45720" anchor="t" anchorCtr="0"/>
          <a:p>
            <a:pPr eaLnBrk="1" hangingPunct="1">
              <a:lnSpc>
                <a:spcPct val="150000"/>
              </a:lnSpc>
              <a:spcBef>
                <a:spcPct val="40000"/>
              </a:spcBef>
              <a:spcAft>
                <a:spcPct val="10000"/>
              </a:spcAft>
              <a:buFont typeface="Wingdings" panose="05000000000000000000" pitchFamily="2" charset="2"/>
              <a:buChar char="Ø"/>
            </a:pPr>
            <a:r>
              <a:rPr lang="zh-CN" altLang="en-US" dirty="0">
                <a:ea typeface="宋体" panose="02010600030101010101" pitchFamily="2" charset="-122"/>
              </a:rPr>
              <a:t>指令的字长影响指令的执行速度</a:t>
            </a:r>
            <a:endParaRPr lang="zh-CN" altLang="en-US" dirty="0">
              <a:ea typeface="宋体" panose="02010600030101010101" pitchFamily="2" charset="-122"/>
            </a:endParaRPr>
          </a:p>
          <a:p>
            <a:pPr eaLnBrk="1" hangingPunct="1">
              <a:lnSpc>
                <a:spcPct val="150000"/>
              </a:lnSpc>
              <a:buFont typeface="Wingdings" panose="05000000000000000000" pitchFamily="2" charset="2"/>
              <a:buChar char="Ø"/>
            </a:pPr>
            <a:r>
              <a:rPr lang="zh-CN" altLang="en-US" dirty="0">
                <a:ea typeface="宋体" panose="02010600030101010101" pitchFamily="2" charset="-122"/>
              </a:rPr>
              <a:t>对不同的操作数，指令执行的时间不同：</a:t>
            </a:r>
            <a:endParaRPr lang="zh-CN" altLang="en-US" dirty="0">
              <a:ea typeface="宋体" panose="02010600030101010101" pitchFamily="2" charset="-122"/>
            </a:endParaRPr>
          </a:p>
          <a:p>
            <a:pPr eaLnBrk="1" hangingPunct="1">
              <a:buNone/>
            </a:pPr>
            <a:r>
              <a:rPr lang="zh-CN" altLang="en-US" dirty="0">
                <a:ea typeface="宋体" panose="02010600030101010101" pitchFamily="2" charset="-122"/>
              </a:rPr>
              <a:t>   </a:t>
            </a:r>
            <a:endParaRPr lang="zh-CN" altLang="en-US" dirty="0">
              <a:ea typeface="宋体" panose="02010600030101010101" pitchFamily="2" charset="-122"/>
            </a:endParaRPr>
          </a:p>
          <a:p>
            <a:pPr eaLnBrk="1" hangingPunct="1">
              <a:buNone/>
            </a:pPr>
            <a:r>
              <a:rPr lang="zh-CN" altLang="en-US" dirty="0">
                <a:ea typeface="宋体" panose="02010600030101010101" pitchFamily="2" charset="-122"/>
              </a:rPr>
              <a:t>    </a:t>
            </a:r>
            <a:endParaRPr lang="zh-CN" altLang="en-US" dirty="0">
              <a:ea typeface="宋体" panose="02010600030101010101" pitchFamily="2" charset="-122"/>
            </a:endParaRPr>
          </a:p>
        </p:txBody>
      </p:sp>
      <p:sp>
        <p:nvSpPr>
          <p:cNvPr id="8196" name="Line 5"/>
          <p:cNvSpPr/>
          <p:nvPr/>
        </p:nvSpPr>
        <p:spPr>
          <a:xfrm>
            <a:off x="2873375" y="4684713"/>
            <a:ext cx="912813" cy="0"/>
          </a:xfrm>
          <a:prstGeom prst="line">
            <a:avLst/>
          </a:prstGeom>
          <a:ln w="22225" cap="sq" cmpd="sng">
            <a:solidFill>
              <a:srgbClr val="FF6600"/>
            </a:solidFill>
            <a:prstDash val="solid"/>
            <a:headEnd type="none" w="med" len="med"/>
            <a:tailEnd type="triangle" w="lg" len="lg"/>
          </a:ln>
        </p:spPr>
      </p:sp>
      <p:sp>
        <p:nvSpPr>
          <p:cNvPr id="8197" name="Line 6"/>
          <p:cNvSpPr/>
          <p:nvPr/>
        </p:nvSpPr>
        <p:spPr>
          <a:xfrm>
            <a:off x="5019675" y="4683125"/>
            <a:ext cx="912813" cy="0"/>
          </a:xfrm>
          <a:prstGeom prst="line">
            <a:avLst/>
          </a:prstGeom>
          <a:ln w="22225" cap="sq" cmpd="sng">
            <a:solidFill>
              <a:srgbClr val="FF6600"/>
            </a:solidFill>
            <a:prstDash val="solid"/>
            <a:headEnd type="none" w="med" len="med"/>
            <a:tailEnd type="triangle" w="lg" len="lg"/>
          </a:ln>
        </p:spPr>
      </p:sp>
      <p:sp>
        <p:nvSpPr>
          <p:cNvPr id="8198" name="Line 7"/>
          <p:cNvSpPr/>
          <p:nvPr/>
        </p:nvSpPr>
        <p:spPr>
          <a:xfrm>
            <a:off x="2774950" y="5251450"/>
            <a:ext cx="3046413" cy="0"/>
          </a:xfrm>
          <a:prstGeom prst="line">
            <a:avLst/>
          </a:prstGeom>
          <a:ln w="25400" cap="sq" cmpd="sng">
            <a:solidFill>
              <a:srgbClr val="FF6600"/>
            </a:solidFill>
            <a:prstDash val="solid"/>
            <a:headEnd type="none" w="med" len="med"/>
            <a:tailEnd type="triangle" w="lg" len="lg"/>
          </a:ln>
        </p:spPr>
      </p:sp>
      <p:sp>
        <p:nvSpPr>
          <p:cNvPr id="8199" name="Text Box 8"/>
          <p:cNvSpPr txBox="1"/>
          <p:nvPr/>
        </p:nvSpPr>
        <p:spPr>
          <a:xfrm>
            <a:off x="3916363" y="5403850"/>
            <a:ext cx="990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快！</a:t>
            </a:r>
            <a:endParaRPr lang="zh-CN" altLang="en-US" sz="2400" b="1" dirty="0">
              <a:latin typeface="Times New Roman" panose="02020603050405020304" pitchFamily="18" charset="0"/>
              <a:ea typeface="宋体" panose="02010600030101010101" pitchFamily="2" charset="-122"/>
            </a:endParaRPr>
          </a:p>
        </p:txBody>
      </p:sp>
      <p:sp>
        <p:nvSpPr>
          <p:cNvPr id="8200" name="Text Box 9"/>
          <p:cNvSpPr txBox="1"/>
          <p:nvPr/>
        </p:nvSpPr>
        <p:spPr>
          <a:xfrm>
            <a:off x="3709988" y="4395788"/>
            <a:ext cx="1512887" cy="519112"/>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zh-CN" altLang="en-US" sz="2800" b="1" dirty="0">
                <a:solidFill>
                  <a:schemeClr val="tx2"/>
                </a:solidFill>
                <a:latin typeface="Times New Roman" panose="02020603050405020304" pitchFamily="18" charset="0"/>
                <a:ea typeface="宋体" panose="02010600030101010101" pitchFamily="2" charset="-122"/>
              </a:rPr>
              <a:t>立即数</a:t>
            </a:r>
            <a:endParaRPr lang="zh-CN" altLang="en-US" sz="2800" b="1" dirty="0">
              <a:solidFill>
                <a:schemeClr val="tx2"/>
              </a:solidFill>
              <a:latin typeface="Times New Roman" panose="02020603050405020304" pitchFamily="18" charset="0"/>
              <a:ea typeface="宋体" panose="02010600030101010101" pitchFamily="2" charset="-122"/>
            </a:endParaRPr>
          </a:p>
        </p:txBody>
      </p:sp>
      <p:sp>
        <p:nvSpPr>
          <p:cNvPr id="8201" name="Text Box 10"/>
          <p:cNvSpPr txBox="1"/>
          <p:nvPr/>
        </p:nvSpPr>
        <p:spPr>
          <a:xfrm>
            <a:off x="5884863" y="4410075"/>
            <a:ext cx="1728787" cy="519113"/>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zh-CN" altLang="en-US" sz="2800" b="1" dirty="0">
                <a:solidFill>
                  <a:schemeClr val="tx2"/>
                </a:solidFill>
                <a:latin typeface="Times New Roman" panose="02020603050405020304" pitchFamily="18" charset="0"/>
                <a:ea typeface="宋体" panose="02010600030101010101" pitchFamily="2" charset="-122"/>
              </a:rPr>
              <a:t>寄存器</a:t>
            </a:r>
            <a:endParaRPr lang="zh-CN" altLang="en-US" sz="2800" dirty="0">
              <a:latin typeface="Times New Roman" panose="02020603050405020304" pitchFamily="18" charset="0"/>
              <a:ea typeface="宋体" panose="02010600030101010101" pitchFamily="2" charset="-122"/>
            </a:endParaRPr>
          </a:p>
        </p:txBody>
      </p:sp>
      <p:sp>
        <p:nvSpPr>
          <p:cNvPr id="8202" name="Text Box 9"/>
          <p:cNvSpPr txBox="1"/>
          <p:nvPr/>
        </p:nvSpPr>
        <p:spPr>
          <a:xfrm>
            <a:off x="1592263" y="4395788"/>
            <a:ext cx="1512887" cy="519112"/>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zh-CN" altLang="en-US" sz="2800" b="1" dirty="0">
                <a:solidFill>
                  <a:schemeClr val="tx2"/>
                </a:solidFill>
                <a:latin typeface="Times New Roman" panose="02020603050405020304" pitchFamily="18" charset="0"/>
                <a:ea typeface="宋体" panose="02010600030101010101" pitchFamily="2" charset="-122"/>
              </a:rPr>
              <a:t>存储器</a:t>
            </a:r>
            <a:endParaRPr lang="zh-CN" altLang="en-US" sz="2800" b="1" dirty="0">
              <a:solidFill>
                <a:schemeClr val="tx2"/>
              </a:solidFill>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195">
                                            <p:txEl>
                                              <p:charRg st="38" end="43"/>
                                            </p:txEl>
                                          </p:spTgt>
                                        </p:tgtEl>
                                        <p:attrNameLst>
                                          <p:attrName>style.visibility</p:attrName>
                                        </p:attrNameLst>
                                      </p:cBhvr>
                                      <p:to>
                                        <p:strVal val="visible"/>
                                      </p:to>
                                    </p:set>
                                    <p:animEffect transition="in" filter="wipe(left)">
                                      <p:cBhvr>
                                        <p:cTn id="7" dur="500"/>
                                        <p:tgtEl>
                                          <p:spTgt spid="8195">
                                            <p:txEl>
                                              <p:charRg st="38" end="43"/>
                                            </p:txEl>
                                          </p:spTgt>
                                        </p:tgtEl>
                                      </p:cBhvr>
                                    </p:animEffect>
                                  </p:childTnLst>
                                </p:cTn>
                              </p:par>
                            </p:childTnLst>
                          </p:cTn>
                        </p:par>
                        <p:par>
                          <p:cTn id="8" fill="hold">
                            <p:stCondLst>
                              <p:cond delay="500"/>
                            </p:stCondLst>
                            <p:childTnLst>
                              <p:par>
                                <p:cTn id="9" presetID="22" presetClass="entr" presetSubtype="8" fill="hold" nodeType="afterEffect">
                                  <p:stCondLst>
                                    <p:cond delay="500"/>
                                  </p:stCondLst>
                                  <p:childTnLst>
                                    <p:set>
                                      <p:cBhvr>
                                        <p:cTn id="10" dur="1" fill="hold">
                                          <p:stCondLst>
                                            <p:cond delay="0"/>
                                          </p:stCondLst>
                                        </p:cTn>
                                        <p:tgtEl>
                                          <p:spTgt spid="8196"/>
                                        </p:tgtEl>
                                        <p:attrNameLst>
                                          <p:attrName>style.visibility</p:attrName>
                                        </p:attrNameLst>
                                      </p:cBhvr>
                                      <p:to>
                                        <p:strVal val="visible"/>
                                      </p:to>
                                    </p:set>
                                    <p:animEffect transition="in" filter="wipe(left)">
                                      <p:cBhvr>
                                        <p:cTn id="11" dur="500"/>
                                        <p:tgtEl>
                                          <p:spTgt spid="8196"/>
                                        </p:tgtEl>
                                      </p:cBhvr>
                                    </p:animEffect>
                                  </p:childTnLst>
                                </p:cTn>
                              </p:par>
                            </p:childTnLst>
                          </p:cTn>
                        </p:par>
                        <p:par>
                          <p:cTn id="12" fill="hold">
                            <p:stCondLst>
                              <p:cond delay="1500"/>
                            </p:stCondLst>
                            <p:childTnLst>
                              <p:par>
                                <p:cTn id="13" presetID="22" presetClass="entr" presetSubtype="8" fill="hold" grpId="0" nodeType="afterEffect">
                                  <p:stCondLst>
                                    <p:cond delay="1000"/>
                                  </p:stCondLst>
                                  <p:childTnLst>
                                    <p:set>
                                      <p:cBhvr>
                                        <p:cTn id="14" dur="1" fill="hold">
                                          <p:stCondLst>
                                            <p:cond delay="0"/>
                                          </p:stCondLst>
                                        </p:cTn>
                                        <p:tgtEl>
                                          <p:spTgt spid="8200"/>
                                        </p:tgtEl>
                                        <p:attrNameLst>
                                          <p:attrName>style.visibility</p:attrName>
                                        </p:attrNameLst>
                                      </p:cBhvr>
                                      <p:to>
                                        <p:strVal val="visible"/>
                                      </p:to>
                                    </p:set>
                                    <p:animEffect transition="in" filter="wipe(left)">
                                      <p:cBhvr>
                                        <p:cTn id="15" dur="500"/>
                                        <p:tgtEl>
                                          <p:spTgt spid="8200"/>
                                        </p:tgtEl>
                                      </p:cBhvr>
                                    </p:animEffect>
                                  </p:childTnLst>
                                </p:cTn>
                              </p:par>
                            </p:childTnLst>
                          </p:cTn>
                        </p:par>
                        <p:par>
                          <p:cTn id="16" fill="hold">
                            <p:stCondLst>
                              <p:cond delay="3000"/>
                            </p:stCondLst>
                            <p:childTnLst>
                              <p:par>
                                <p:cTn id="17" presetID="22" presetClass="entr" presetSubtype="8" fill="hold" nodeType="afterEffect">
                                  <p:stCondLst>
                                    <p:cond delay="500"/>
                                  </p:stCondLst>
                                  <p:childTnLst>
                                    <p:set>
                                      <p:cBhvr>
                                        <p:cTn id="18" dur="1" fill="hold">
                                          <p:stCondLst>
                                            <p:cond delay="0"/>
                                          </p:stCondLst>
                                        </p:cTn>
                                        <p:tgtEl>
                                          <p:spTgt spid="8197"/>
                                        </p:tgtEl>
                                        <p:attrNameLst>
                                          <p:attrName>style.visibility</p:attrName>
                                        </p:attrNameLst>
                                      </p:cBhvr>
                                      <p:to>
                                        <p:strVal val="visible"/>
                                      </p:to>
                                    </p:set>
                                    <p:animEffect transition="in" filter="wipe(left)">
                                      <p:cBhvr>
                                        <p:cTn id="19" dur="500"/>
                                        <p:tgtEl>
                                          <p:spTgt spid="819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1000"/>
                                  </p:stCondLst>
                                  <p:childTnLst>
                                    <p:set>
                                      <p:cBhvr>
                                        <p:cTn id="23" dur="1" fill="hold">
                                          <p:stCondLst>
                                            <p:cond delay="0"/>
                                          </p:stCondLst>
                                        </p:cTn>
                                        <p:tgtEl>
                                          <p:spTgt spid="8201"/>
                                        </p:tgtEl>
                                        <p:attrNameLst>
                                          <p:attrName>style.visibility</p:attrName>
                                        </p:attrNameLst>
                                      </p:cBhvr>
                                      <p:to>
                                        <p:strVal val="visible"/>
                                      </p:to>
                                    </p:set>
                                    <p:animEffect transition="in" filter="wipe(left)">
                                      <p:cBhvr>
                                        <p:cTn id="24" dur="500"/>
                                        <p:tgtEl>
                                          <p:spTgt spid="8201"/>
                                        </p:tgtEl>
                                      </p:cBhvr>
                                    </p:animEffect>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8198"/>
                                        </p:tgtEl>
                                        <p:attrNameLst>
                                          <p:attrName>style.visibility</p:attrName>
                                        </p:attrNameLst>
                                      </p:cBhvr>
                                      <p:to>
                                        <p:strVal val="visible"/>
                                      </p:to>
                                    </p:set>
                                    <p:animEffect transition="in" filter="wipe(left)">
                                      <p:cBhvr>
                                        <p:cTn id="28" dur="500"/>
                                        <p:tgtEl>
                                          <p:spTgt spid="8198"/>
                                        </p:tgtEl>
                                      </p:cBhvr>
                                    </p:animEffect>
                                  </p:childTnLst>
                                </p:cTn>
                              </p:par>
                            </p:childTnLst>
                          </p:cTn>
                        </p:par>
                        <p:par>
                          <p:cTn id="29" fill="hold">
                            <p:stCondLst>
                              <p:cond delay="2000"/>
                            </p:stCondLst>
                            <p:childTnLst>
                              <p:par>
                                <p:cTn id="30" presetID="22" presetClass="entr" presetSubtype="8" fill="hold" grpId="0" nodeType="afterEffect">
                                  <p:stCondLst>
                                    <p:cond delay="0"/>
                                  </p:stCondLst>
                                  <p:childTnLst>
                                    <p:set>
                                      <p:cBhvr>
                                        <p:cTn id="31" dur="1" fill="hold">
                                          <p:stCondLst>
                                            <p:cond delay="0"/>
                                          </p:stCondLst>
                                        </p:cTn>
                                        <p:tgtEl>
                                          <p:spTgt spid="8199"/>
                                        </p:tgtEl>
                                        <p:attrNameLst>
                                          <p:attrName>style.visibility</p:attrName>
                                        </p:attrNameLst>
                                      </p:cBhvr>
                                      <p:to>
                                        <p:strVal val="visible"/>
                                      </p:to>
                                    </p:set>
                                    <p:animEffect transition="in" filter="wipe(left)">
                                      <p:cBhvr>
                                        <p:cTn id="32" dur="500"/>
                                        <p:tgtEl>
                                          <p:spTgt spid="8199"/>
                                        </p:tgtEl>
                                      </p:cBhvr>
                                    </p:animEffect>
                                  </p:childTnLst>
                                </p:cTn>
                              </p:par>
                            </p:childTnLst>
                          </p:cTn>
                        </p:par>
                        <p:par>
                          <p:cTn id="33" fill="hold">
                            <p:stCondLst>
                              <p:cond delay="2500"/>
                            </p:stCondLst>
                            <p:childTnLst>
                              <p:par>
                                <p:cTn id="34" presetID="22" presetClass="entr" presetSubtype="8" fill="hold" grpId="0" nodeType="afterEffect">
                                  <p:stCondLst>
                                    <p:cond delay="1000"/>
                                  </p:stCondLst>
                                  <p:childTnLst>
                                    <p:set>
                                      <p:cBhvr>
                                        <p:cTn id="35" dur="1" fill="hold">
                                          <p:stCondLst>
                                            <p:cond delay="0"/>
                                          </p:stCondLst>
                                        </p:cTn>
                                        <p:tgtEl>
                                          <p:spTgt spid="8202"/>
                                        </p:tgtEl>
                                        <p:attrNameLst>
                                          <p:attrName>style.visibility</p:attrName>
                                        </p:attrNameLst>
                                      </p:cBhvr>
                                      <p:to>
                                        <p:strVal val="visible"/>
                                      </p:to>
                                    </p:set>
                                    <p:animEffect transition="in" filter="wipe(left)">
                                      <p:cBhvr>
                                        <p:cTn id="36" dur="500"/>
                                        <p:tgtEl>
                                          <p:spTgt spid="8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9" grpId="0"/>
      <p:bldP spid="8200" grpId="0"/>
      <p:bldP spid="8201" grpId="0"/>
      <p:bldP spid="820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3"/>
          <p:cNvSpPr>
            <a:spLocks noGrp="1"/>
          </p:cNvSpPr>
          <p:nvPr>
            <p:ph type="body" idx="4294967295"/>
          </p:nvPr>
        </p:nvSpPr>
        <p:spPr>
          <a:xfrm>
            <a:off x="558800" y="3352800"/>
            <a:ext cx="4038600" cy="762000"/>
          </a:xfrm>
        </p:spPr>
        <p:txBody>
          <a:bodyPr vert="horz" wrap="square" lIns="91440" tIns="45720" rIns="91440" bIns="45720" anchor="t" anchorCtr="0"/>
          <a:p>
            <a:pPr eaLnBrk="1" hangingPunct="1">
              <a:buNone/>
            </a:pPr>
            <a:r>
              <a:rPr lang="zh-CN" altLang="en-US" dirty="0">
                <a:solidFill>
                  <a:srgbClr val="FF0000"/>
                </a:solidFill>
                <a:ea typeface="宋体" panose="02010600030101010101" pitchFamily="2" charset="-122"/>
              </a:rPr>
              <a:t>按功能划分为六大类：</a:t>
            </a:r>
            <a:endParaRPr lang="zh-CN" altLang="en-US" dirty="0">
              <a:solidFill>
                <a:srgbClr val="FF0000"/>
              </a:solidFill>
              <a:ea typeface="宋体" panose="02010600030101010101" pitchFamily="2" charset="-122"/>
            </a:endParaRPr>
          </a:p>
        </p:txBody>
      </p:sp>
      <p:sp>
        <p:nvSpPr>
          <p:cNvPr id="8195" name="Text Box 4"/>
          <p:cNvSpPr txBox="1"/>
          <p:nvPr/>
        </p:nvSpPr>
        <p:spPr>
          <a:xfrm>
            <a:off x="4427538" y="1916113"/>
            <a:ext cx="3049587" cy="3382962"/>
          </a:xfrm>
          <a:prstGeom prst="rect">
            <a:avLst/>
          </a:prstGeom>
          <a:noFill/>
          <a:ln w="9525">
            <a:noFill/>
          </a:ln>
        </p:spPr>
        <p:txBody>
          <a:bodyPr>
            <a:spAutoFit/>
          </a:bodyPr>
          <a:p>
            <a:pPr eaLnBrk="0" hangingPunct="0">
              <a:lnSpc>
                <a:spcPct val="120000"/>
              </a:lnSpc>
              <a:spcBef>
                <a:spcPct val="10000"/>
              </a:spcBef>
              <a:buFont typeface="Wingdings" panose="05000000000000000000" pitchFamily="2" charset="2"/>
            </a:pPr>
            <a:r>
              <a:rPr lang="zh-CN" altLang="en-US" sz="2800" b="1" dirty="0">
                <a:latin typeface="Times New Roman" panose="02020603050405020304" pitchFamily="18" charset="0"/>
                <a:ea typeface="楷体_GB2312" pitchFamily="49" charset="-122"/>
              </a:rPr>
              <a:t>数据传送</a:t>
            </a:r>
            <a:endParaRPr lang="zh-CN" altLang="en-US" sz="2800" b="1" dirty="0">
              <a:latin typeface="Times New Roman" panose="02020603050405020304" pitchFamily="18" charset="0"/>
              <a:ea typeface="楷体_GB2312" pitchFamily="49" charset="-122"/>
            </a:endParaRPr>
          </a:p>
          <a:p>
            <a:pPr eaLnBrk="0" hangingPunct="0">
              <a:lnSpc>
                <a:spcPct val="120000"/>
              </a:lnSpc>
              <a:spcBef>
                <a:spcPct val="10000"/>
              </a:spcBef>
              <a:buFont typeface="Wingdings" panose="05000000000000000000" pitchFamily="2" charset="2"/>
            </a:pPr>
            <a:r>
              <a:rPr lang="zh-CN" altLang="en-US" sz="2800" b="1" dirty="0">
                <a:latin typeface="Times New Roman" panose="02020603050405020304" pitchFamily="18" charset="0"/>
                <a:ea typeface="楷体_GB2312" pitchFamily="49" charset="-122"/>
              </a:rPr>
              <a:t>算术运算</a:t>
            </a:r>
            <a:endParaRPr lang="zh-CN" altLang="en-US" sz="2800" b="1" dirty="0">
              <a:latin typeface="Times New Roman" panose="02020603050405020304" pitchFamily="18" charset="0"/>
              <a:ea typeface="楷体_GB2312" pitchFamily="49" charset="-122"/>
            </a:endParaRPr>
          </a:p>
          <a:p>
            <a:pPr eaLnBrk="0" hangingPunct="0">
              <a:lnSpc>
                <a:spcPct val="120000"/>
              </a:lnSpc>
              <a:spcBef>
                <a:spcPct val="10000"/>
              </a:spcBef>
              <a:buFont typeface="Wingdings" panose="05000000000000000000" pitchFamily="2" charset="2"/>
            </a:pPr>
            <a:r>
              <a:rPr lang="zh-CN" altLang="en-US" sz="2800" b="1" dirty="0">
                <a:latin typeface="Times New Roman" panose="02020603050405020304" pitchFamily="18" charset="0"/>
                <a:ea typeface="楷体_GB2312" pitchFamily="49" charset="-122"/>
              </a:rPr>
              <a:t>逻辑运算和移位</a:t>
            </a:r>
            <a:endParaRPr lang="zh-CN" altLang="en-US" sz="2800" b="1" dirty="0">
              <a:latin typeface="Times New Roman" panose="02020603050405020304" pitchFamily="18" charset="0"/>
              <a:ea typeface="楷体_GB2312" pitchFamily="49" charset="-122"/>
            </a:endParaRPr>
          </a:p>
          <a:p>
            <a:pPr eaLnBrk="0" hangingPunct="0">
              <a:lnSpc>
                <a:spcPct val="120000"/>
              </a:lnSpc>
              <a:spcBef>
                <a:spcPct val="10000"/>
              </a:spcBef>
              <a:buFont typeface="Wingdings" panose="05000000000000000000" pitchFamily="2" charset="2"/>
            </a:pPr>
            <a:r>
              <a:rPr lang="zh-CN" altLang="en-US" sz="2800" b="1" dirty="0">
                <a:latin typeface="Times New Roman" panose="02020603050405020304" pitchFamily="18" charset="0"/>
                <a:ea typeface="楷体_GB2312" pitchFamily="49" charset="-122"/>
              </a:rPr>
              <a:t>串操作</a:t>
            </a:r>
            <a:endParaRPr lang="zh-CN" altLang="en-US" sz="2800" b="1" dirty="0">
              <a:latin typeface="Times New Roman" panose="02020603050405020304" pitchFamily="18" charset="0"/>
              <a:ea typeface="楷体_GB2312" pitchFamily="49" charset="-122"/>
            </a:endParaRPr>
          </a:p>
          <a:p>
            <a:pPr eaLnBrk="0" hangingPunct="0">
              <a:lnSpc>
                <a:spcPct val="120000"/>
              </a:lnSpc>
              <a:spcBef>
                <a:spcPct val="10000"/>
              </a:spcBef>
              <a:buFont typeface="Wingdings" panose="05000000000000000000" pitchFamily="2" charset="2"/>
            </a:pPr>
            <a:r>
              <a:rPr lang="zh-CN" altLang="en-US" sz="2800" b="1" dirty="0">
                <a:latin typeface="Times New Roman" panose="02020603050405020304" pitchFamily="18" charset="0"/>
                <a:ea typeface="楷体_GB2312" pitchFamily="49" charset="-122"/>
              </a:rPr>
              <a:t>程序控制</a:t>
            </a:r>
            <a:endParaRPr lang="zh-CN" altLang="en-US" sz="2800" b="1" dirty="0">
              <a:latin typeface="Times New Roman" panose="02020603050405020304" pitchFamily="18" charset="0"/>
              <a:ea typeface="楷体_GB2312" pitchFamily="49" charset="-122"/>
            </a:endParaRPr>
          </a:p>
          <a:p>
            <a:pPr eaLnBrk="0" hangingPunct="0">
              <a:lnSpc>
                <a:spcPct val="120000"/>
              </a:lnSpc>
              <a:spcBef>
                <a:spcPct val="10000"/>
              </a:spcBef>
              <a:buFont typeface="Wingdings" panose="05000000000000000000" pitchFamily="2" charset="2"/>
            </a:pPr>
            <a:r>
              <a:rPr lang="zh-CN" altLang="en-US" sz="2800" b="1" dirty="0">
                <a:latin typeface="Times New Roman" panose="02020603050405020304" pitchFamily="18" charset="0"/>
                <a:ea typeface="楷体_GB2312" pitchFamily="49" charset="-122"/>
              </a:rPr>
              <a:t>处理器控制</a:t>
            </a:r>
            <a:endParaRPr lang="zh-CN" altLang="en-US" sz="2800" b="1" dirty="0">
              <a:latin typeface="Times New Roman" panose="02020603050405020304" pitchFamily="18" charset="0"/>
              <a:ea typeface="楷体_GB2312" pitchFamily="49" charset="-122"/>
            </a:endParaRPr>
          </a:p>
        </p:txBody>
      </p:sp>
      <p:sp>
        <p:nvSpPr>
          <p:cNvPr id="8196" name="AutoShape 5"/>
          <p:cNvSpPr/>
          <p:nvPr/>
        </p:nvSpPr>
        <p:spPr>
          <a:xfrm>
            <a:off x="4092575" y="2216150"/>
            <a:ext cx="257175" cy="2762250"/>
          </a:xfrm>
          <a:prstGeom prst="leftBrace">
            <a:avLst>
              <a:gd name="adj1" fmla="val 88810"/>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8197" name="Rectangle 2"/>
          <p:cNvSpPr>
            <a:spLocks noGrp="1"/>
          </p:cNvSpPr>
          <p:nvPr/>
        </p:nvSpPr>
        <p:spPr>
          <a:xfrm>
            <a:off x="1908175" y="188913"/>
            <a:ext cx="6553200"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3.2 IA-32</a:t>
            </a:r>
            <a:r>
              <a:rPr lang="zh-CN" altLang="en-US" sz="3600" b="1" dirty="0">
                <a:solidFill>
                  <a:schemeClr val="bg1"/>
                </a:solidFill>
                <a:latin typeface="宋体" panose="02010600030101010101" pitchFamily="2" charset="-122"/>
                <a:ea typeface="宋体" panose="02010600030101010101" pitchFamily="2" charset="-122"/>
              </a:rPr>
              <a:t>指令系统</a:t>
            </a:r>
            <a:endParaRPr lang="zh-CN" altLang="en-US" sz="3600" b="1" dirty="0">
              <a:solidFill>
                <a:schemeClr val="bg1"/>
              </a:solidFill>
              <a:latin typeface="宋体" panose="02010600030101010101" pitchFamily="2" charset="-122"/>
              <a:ea typeface="宋体" panose="02010600030101010101" pitchFamily="2" charset="-122"/>
            </a:endParaRPr>
          </a:p>
        </p:txBody>
      </p:sp>
      <p:sp>
        <p:nvSpPr>
          <p:cNvPr id="8198" name="矩形 1"/>
          <p:cNvSpPr/>
          <p:nvPr/>
        </p:nvSpPr>
        <p:spPr>
          <a:xfrm>
            <a:off x="1363663" y="5853113"/>
            <a:ext cx="6467475" cy="523875"/>
          </a:xfrm>
          <a:prstGeom prst="rect">
            <a:avLst/>
          </a:prstGeom>
          <a:noFill/>
          <a:ln w="28575" cap="flat" cmpd="sng">
            <a:solidFill>
              <a:schemeClr val="tx1"/>
            </a:solidFill>
            <a:prstDash val="solid"/>
            <a:miter/>
            <a:headEnd type="none" w="med" len="med"/>
            <a:tailEnd type="none" w="med" len="med"/>
          </a:ln>
        </p:spPr>
        <p:txBody>
          <a:bodyPr wrap="none">
            <a:spAutoFit/>
          </a:bodyPr>
          <a:p>
            <a:pPr eaLnBrk="0" hangingPunct="0">
              <a:buFont typeface="Wingdings" panose="05000000000000000000" pitchFamily="2" charset="2"/>
            </a:pPr>
            <a:r>
              <a:rPr lang="en-US" altLang="zh-CN" sz="2800" dirty="0">
                <a:latin typeface="宋体" panose="02010600030101010101" pitchFamily="2" charset="-122"/>
                <a:ea typeface="宋体" panose="02010600030101010101" pitchFamily="2" charset="-122"/>
              </a:rPr>
              <a:t>Intel 8086</a:t>
            </a:r>
            <a:r>
              <a:rPr lang="zh-CN" altLang="en-US" sz="2800" dirty="0">
                <a:latin typeface="宋体" panose="02010600030101010101" pitchFamily="2" charset="-122"/>
                <a:ea typeface="宋体" panose="02010600030101010101" pitchFamily="2" charset="-122"/>
              </a:rPr>
              <a:t>指令系统共有</a:t>
            </a:r>
            <a:r>
              <a:rPr lang="en-US" altLang="zh-CN" sz="2800" dirty="0">
                <a:latin typeface="宋体" panose="02010600030101010101" pitchFamily="2" charset="-122"/>
                <a:ea typeface="宋体" panose="02010600030101010101" pitchFamily="2" charset="-122"/>
              </a:rPr>
              <a:t>117</a:t>
            </a:r>
            <a:r>
              <a:rPr lang="zh-CN" altLang="en-US" sz="2800" dirty="0">
                <a:latin typeface="宋体" panose="02010600030101010101" pitchFamily="2" charset="-122"/>
                <a:ea typeface="宋体" panose="02010600030101010101" pitchFamily="2" charset="-122"/>
              </a:rPr>
              <a:t>条基本指令</a:t>
            </a:r>
            <a:endParaRPr lang="zh-CN" altLang="en-US" sz="2800"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5"/>
          <p:cNvSpPr txBox="1"/>
          <p:nvPr/>
        </p:nvSpPr>
        <p:spPr>
          <a:xfrm>
            <a:off x="755650" y="1916113"/>
            <a:ext cx="6400800" cy="2735262"/>
          </a:xfrm>
          <a:prstGeom prst="rect">
            <a:avLst/>
          </a:prstGeom>
          <a:noFill/>
          <a:ln w="9525">
            <a:noFill/>
          </a:ln>
        </p:spPr>
        <p:txBody>
          <a:bodyPr/>
          <a:p>
            <a:pPr marL="2246630" indent="-457200">
              <a:lnSpc>
                <a:spcPct val="150000"/>
              </a:lnSpc>
              <a:spcBef>
                <a:spcPct val="15000"/>
              </a:spcBef>
              <a:buClr>
                <a:schemeClr val="hlink"/>
              </a:buClr>
              <a:buFont typeface="Wingdings" panose="05000000000000000000" pitchFamily="2" charset="2"/>
              <a:buChar char="Ø"/>
            </a:pPr>
            <a:r>
              <a:rPr lang="zh-CN" altLang="en-US" sz="2800" b="1" dirty="0">
                <a:latin typeface="Arial" panose="020B0604020202020204" pitchFamily="34" charset="0"/>
                <a:ea typeface="宋体" panose="02010600030101010101" pitchFamily="2" charset="-122"/>
              </a:rPr>
              <a:t>通用数据传送</a:t>
            </a:r>
            <a:endParaRPr lang="zh-CN" altLang="en-US" sz="2800" b="1" dirty="0">
              <a:latin typeface="Arial" panose="020B0604020202020204" pitchFamily="34" charset="0"/>
              <a:ea typeface="宋体" panose="02010600030101010101" pitchFamily="2" charset="-122"/>
            </a:endParaRPr>
          </a:p>
          <a:p>
            <a:pPr marL="2246630" indent="-457200">
              <a:lnSpc>
                <a:spcPct val="150000"/>
              </a:lnSpc>
              <a:spcBef>
                <a:spcPct val="15000"/>
              </a:spcBef>
              <a:buClr>
                <a:schemeClr val="hlink"/>
              </a:buClr>
              <a:buFont typeface="Wingdings" panose="05000000000000000000" pitchFamily="2" charset="2"/>
              <a:buChar char="Ø"/>
            </a:pPr>
            <a:r>
              <a:rPr lang="zh-CN" altLang="en-US" sz="2800" b="1" dirty="0">
                <a:latin typeface="Arial" panose="020B0604020202020204" pitchFamily="34" charset="0"/>
                <a:ea typeface="宋体" panose="02010600030101010101" pitchFamily="2" charset="-122"/>
              </a:rPr>
              <a:t>输入输出</a:t>
            </a:r>
            <a:endParaRPr lang="zh-CN" altLang="en-US" sz="2800" b="1" dirty="0">
              <a:latin typeface="Arial" panose="020B0604020202020204" pitchFamily="34" charset="0"/>
              <a:ea typeface="宋体" panose="02010600030101010101" pitchFamily="2" charset="-122"/>
            </a:endParaRPr>
          </a:p>
          <a:p>
            <a:pPr marL="2246630" indent="-457200">
              <a:lnSpc>
                <a:spcPct val="150000"/>
              </a:lnSpc>
              <a:spcBef>
                <a:spcPct val="15000"/>
              </a:spcBef>
              <a:buClr>
                <a:schemeClr val="hlink"/>
              </a:buClr>
              <a:buFont typeface="Wingdings" panose="05000000000000000000" pitchFamily="2" charset="2"/>
              <a:buChar char="Ø"/>
            </a:pPr>
            <a:r>
              <a:rPr lang="zh-CN" altLang="en-US" sz="2800" b="1" dirty="0">
                <a:latin typeface="Arial" panose="020B0604020202020204" pitchFamily="34" charset="0"/>
                <a:ea typeface="宋体" panose="02010600030101010101" pitchFamily="2" charset="-122"/>
              </a:rPr>
              <a:t>地址传送</a:t>
            </a:r>
            <a:endParaRPr lang="zh-CN" altLang="en-US" sz="2800" b="1" dirty="0">
              <a:latin typeface="Arial" panose="020B0604020202020204" pitchFamily="34" charset="0"/>
              <a:ea typeface="宋体" panose="02010600030101010101" pitchFamily="2" charset="-122"/>
            </a:endParaRPr>
          </a:p>
          <a:p>
            <a:pPr marL="2246630" indent="-457200">
              <a:lnSpc>
                <a:spcPct val="150000"/>
              </a:lnSpc>
              <a:spcBef>
                <a:spcPct val="15000"/>
              </a:spcBef>
              <a:buClr>
                <a:schemeClr val="hlink"/>
              </a:buClr>
              <a:buFont typeface="Wingdings" panose="05000000000000000000" pitchFamily="2" charset="2"/>
              <a:buChar char="Ø"/>
            </a:pPr>
            <a:r>
              <a:rPr lang="zh-CN" altLang="en-US" sz="2800" b="1" dirty="0">
                <a:latin typeface="Arial" panose="020B0604020202020204" pitchFamily="34" charset="0"/>
                <a:ea typeface="宋体" panose="02010600030101010101" pitchFamily="2" charset="-122"/>
              </a:rPr>
              <a:t>标志位操作</a:t>
            </a:r>
            <a:endParaRPr lang="zh-CN" altLang="en-US" sz="2800" b="1" dirty="0">
              <a:latin typeface="Arial" panose="020B0604020202020204" pitchFamily="34" charset="0"/>
              <a:ea typeface="宋体" panose="02010600030101010101" pitchFamily="2" charset="-122"/>
            </a:endParaRPr>
          </a:p>
        </p:txBody>
      </p:sp>
      <p:sp>
        <p:nvSpPr>
          <p:cNvPr id="9219" name="Rectangle 2"/>
          <p:cNvSpPr>
            <a:spLocks noGrp="1"/>
          </p:cNvSpPr>
          <p:nvPr/>
        </p:nvSpPr>
        <p:spPr>
          <a:xfrm>
            <a:off x="1908175" y="188913"/>
            <a:ext cx="6553200"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3.2.1 </a:t>
            </a:r>
            <a:r>
              <a:rPr lang="zh-CN" altLang="en-US" sz="3600" b="1" dirty="0">
                <a:solidFill>
                  <a:schemeClr val="bg1"/>
                </a:solidFill>
                <a:latin typeface="宋体" panose="02010600030101010101" pitchFamily="2" charset="-122"/>
                <a:ea typeface="宋体" panose="02010600030101010101" pitchFamily="2" charset="-122"/>
              </a:rPr>
              <a:t>数据传送类指令</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3"/>
          <p:cNvSpPr>
            <a:spLocks noGrp="1"/>
          </p:cNvSpPr>
          <p:nvPr>
            <p:ph type="body" idx="4294967295"/>
          </p:nvPr>
        </p:nvSpPr>
        <p:spPr>
          <a:xfrm>
            <a:off x="2843213" y="1700213"/>
            <a:ext cx="4419600" cy="2667000"/>
          </a:xfrm>
        </p:spPr>
        <p:txBody>
          <a:bodyPr vert="horz" wrap="square" lIns="91440" tIns="45720" rIns="91440" bIns="45720" anchor="t" anchorCtr="0"/>
          <a:p>
            <a:pPr eaLnBrk="1" hangingPunct="1">
              <a:spcBef>
                <a:spcPct val="10000"/>
              </a:spcBef>
              <a:buNone/>
            </a:pPr>
            <a:r>
              <a:rPr lang="zh-CN" altLang="en-US" dirty="0">
                <a:ea typeface="宋体" panose="02010600030101010101" pitchFamily="2" charset="-122"/>
              </a:rPr>
              <a:t>一般数据传送指令</a:t>
            </a:r>
            <a:endParaRPr lang="zh-CN" altLang="en-US" dirty="0">
              <a:ea typeface="宋体" panose="02010600030101010101" pitchFamily="2" charset="-122"/>
            </a:endParaRPr>
          </a:p>
          <a:p>
            <a:pPr eaLnBrk="1" hangingPunct="1">
              <a:spcBef>
                <a:spcPct val="10000"/>
              </a:spcBef>
              <a:buNone/>
            </a:pPr>
            <a:r>
              <a:rPr lang="zh-CN" altLang="en-US" dirty="0">
                <a:ea typeface="宋体" panose="02010600030101010101" pitchFamily="2" charset="-122"/>
              </a:rPr>
              <a:t>堆栈操作指令</a:t>
            </a:r>
            <a:endParaRPr lang="zh-CN" altLang="en-US" dirty="0">
              <a:ea typeface="宋体" panose="02010600030101010101" pitchFamily="2" charset="-122"/>
            </a:endParaRPr>
          </a:p>
          <a:p>
            <a:pPr eaLnBrk="1" hangingPunct="1">
              <a:spcBef>
                <a:spcPct val="10000"/>
              </a:spcBef>
              <a:buNone/>
            </a:pPr>
            <a:r>
              <a:rPr lang="zh-CN" altLang="en-US" dirty="0">
                <a:ea typeface="宋体" panose="02010600030101010101" pitchFamily="2" charset="-122"/>
              </a:rPr>
              <a:t>交换指令</a:t>
            </a:r>
            <a:endParaRPr lang="zh-CN" altLang="en-US" dirty="0">
              <a:ea typeface="宋体" panose="02010600030101010101" pitchFamily="2" charset="-122"/>
            </a:endParaRPr>
          </a:p>
          <a:p>
            <a:pPr eaLnBrk="1" hangingPunct="1">
              <a:spcBef>
                <a:spcPct val="10000"/>
              </a:spcBef>
              <a:buNone/>
            </a:pPr>
            <a:r>
              <a:rPr lang="zh-CN" altLang="en-US" dirty="0">
                <a:ea typeface="宋体" panose="02010600030101010101" pitchFamily="2" charset="-122"/>
              </a:rPr>
              <a:t>查表转换指令</a:t>
            </a:r>
            <a:endParaRPr lang="zh-CN" altLang="en-US" dirty="0">
              <a:ea typeface="宋体" panose="02010600030101010101" pitchFamily="2" charset="-122"/>
            </a:endParaRPr>
          </a:p>
          <a:p>
            <a:pPr eaLnBrk="1" hangingPunct="1">
              <a:spcBef>
                <a:spcPct val="10000"/>
              </a:spcBef>
              <a:buNone/>
            </a:pPr>
            <a:r>
              <a:rPr lang="zh-CN" altLang="en-US" dirty="0">
                <a:ea typeface="宋体" panose="02010600030101010101" pitchFamily="2" charset="-122"/>
              </a:rPr>
              <a:t>字位扩展指令</a:t>
            </a:r>
            <a:endParaRPr lang="zh-CN" altLang="en-US" dirty="0">
              <a:ea typeface="宋体" panose="02010600030101010101" pitchFamily="2" charset="-122"/>
            </a:endParaRPr>
          </a:p>
        </p:txBody>
      </p:sp>
      <p:sp>
        <p:nvSpPr>
          <p:cNvPr id="11267" name="Text Box 4"/>
          <p:cNvSpPr txBox="1"/>
          <p:nvPr/>
        </p:nvSpPr>
        <p:spPr>
          <a:xfrm>
            <a:off x="1042988" y="4868863"/>
            <a:ext cx="6553200" cy="1160462"/>
          </a:xfrm>
          <a:prstGeom prst="rect">
            <a:avLst/>
          </a:prstGeom>
          <a:noFill/>
          <a:ln w="9525">
            <a:noFill/>
          </a:ln>
        </p:spPr>
        <p:txBody>
          <a:bodyPr>
            <a:spAutoFit/>
          </a:bodyPr>
          <a:p>
            <a:pPr marL="363855" indent="-363855" eaLnBrk="0" hangingPunct="0">
              <a:spcBef>
                <a:spcPct val="20000"/>
              </a:spcBef>
              <a:spcAft>
                <a:spcPct val="30000"/>
              </a:spcAft>
              <a:buClr>
                <a:srgbClr val="FF0000"/>
              </a:buClr>
              <a:buSzPct val="65000"/>
              <a:buFont typeface="Wingdings" panose="05000000000000000000" pitchFamily="2" charset="2"/>
              <a:buChar char="n"/>
            </a:pPr>
            <a:r>
              <a:rPr lang="zh-CN" altLang="en-US" sz="2800" b="1" dirty="0">
                <a:latin typeface="Arial" panose="020B0604020202020204" pitchFamily="34" charset="0"/>
                <a:ea typeface="宋体" panose="02010600030101010101" pitchFamily="2" charset="-122"/>
              </a:rPr>
              <a:t>特点：</a:t>
            </a:r>
            <a:endParaRPr lang="zh-CN" altLang="en-US" sz="2800" b="1" dirty="0">
              <a:latin typeface="Arial" panose="020B0604020202020204" pitchFamily="34" charset="0"/>
              <a:ea typeface="宋体" panose="02010600030101010101" pitchFamily="2" charset="-122"/>
            </a:endParaRPr>
          </a:p>
          <a:p>
            <a:pPr marL="812800" lvl="1" indent="-269875" eaLnBrk="0" hangingPunct="0">
              <a:spcBef>
                <a:spcPct val="20000"/>
              </a:spcBef>
              <a:buClr>
                <a:srgbClr val="FF0000"/>
              </a:buClr>
              <a:buSzPct val="65000"/>
              <a:buFont typeface="Wingdings" panose="05000000000000000000" pitchFamily="2" charset="2"/>
              <a:buChar char="n"/>
            </a:pPr>
            <a:r>
              <a:rPr lang="zh-CN" altLang="en-US" sz="2400" b="1" dirty="0">
                <a:solidFill>
                  <a:srgbClr val="FF0000"/>
                </a:solidFill>
                <a:latin typeface="Arial" panose="020B0604020202020204" pitchFamily="34" charset="0"/>
                <a:ea typeface="楷体_GB2312" pitchFamily="49" charset="-122"/>
              </a:rPr>
              <a:t>该类指令的执行对标志位不产生影响</a:t>
            </a:r>
            <a:r>
              <a:rPr lang="zh-CN" altLang="en-US" sz="2800" b="1" dirty="0">
                <a:latin typeface="Arial" panose="020B0604020202020204" pitchFamily="34"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sp>
        <p:nvSpPr>
          <p:cNvPr id="10244" name="AutoShape 5"/>
          <p:cNvSpPr/>
          <p:nvPr/>
        </p:nvSpPr>
        <p:spPr>
          <a:xfrm>
            <a:off x="2332038" y="1916113"/>
            <a:ext cx="304800" cy="2057400"/>
          </a:xfrm>
          <a:prstGeom prst="leftBrace">
            <a:avLst>
              <a:gd name="adj1" fmla="val 56250"/>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0245" name="Rectangle 2"/>
          <p:cNvSpPr>
            <a:spLocks noGrp="1"/>
          </p:cNvSpPr>
          <p:nvPr/>
        </p:nvSpPr>
        <p:spPr>
          <a:xfrm>
            <a:off x="1908175" y="188913"/>
            <a:ext cx="6553200"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3.2.1.1 </a:t>
            </a:r>
            <a:r>
              <a:rPr lang="zh-CN" altLang="en-US" sz="3600" b="1" dirty="0">
                <a:solidFill>
                  <a:schemeClr val="bg1"/>
                </a:solidFill>
                <a:latin typeface="宋体" panose="02010600030101010101" pitchFamily="2" charset="-122"/>
                <a:ea typeface="宋体" panose="02010600030101010101" pitchFamily="2" charset="-122"/>
              </a:rPr>
              <a:t>通用数据传送类指令</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
                                            <p:txEl>
                                              <p:charRg st="0" end="4"/>
                                            </p:txEl>
                                          </p:spTgt>
                                        </p:tgtEl>
                                        <p:attrNameLst>
                                          <p:attrName>style.visibility</p:attrName>
                                        </p:attrNameLst>
                                      </p:cBhvr>
                                      <p:to>
                                        <p:strVal val="visible"/>
                                      </p:to>
                                    </p:set>
                                    <p:animEffect transition="in" filter="wipe(left)">
                                      <p:cBhvr>
                                        <p:cTn id="7" dur="500"/>
                                        <p:tgtEl>
                                          <p:spTgt spid="11267">
                                            <p:txEl>
                                              <p:charRg st="0"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267">
                                            <p:txEl>
                                              <p:charRg st="4" end="23"/>
                                            </p:txEl>
                                          </p:spTgt>
                                        </p:tgtEl>
                                        <p:attrNameLst>
                                          <p:attrName>style.visibility</p:attrName>
                                        </p:attrNameLst>
                                      </p:cBhvr>
                                      <p:to>
                                        <p:strVal val="visible"/>
                                      </p:to>
                                    </p:set>
                                    <p:animEffect transition="in" filter="wipe(left)">
                                      <p:cBhvr>
                                        <p:cTn id="12" dur="500"/>
                                        <p:tgtEl>
                                          <p:spTgt spid="11267">
                                            <p:txEl>
                                              <p:charRg st="4" end="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idx="4294967295"/>
          </p:nvPr>
        </p:nvSpPr>
        <p:spPr>
          <a:xfrm>
            <a:off x="900113" y="1042988"/>
            <a:ext cx="6553200" cy="563562"/>
          </a:xfrm>
        </p:spPr>
        <p:txBody>
          <a:bodyPr vert="horz" wrap="square" lIns="91440" tIns="45720" rIns="91440" bIns="45720" anchor="ctr" anchorCtr="0"/>
          <a:p>
            <a:pPr eaLnBrk="1" hangingPunct="1"/>
            <a:r>
              <a:rPr lang="zh-CN" altLang="en-US" dirty="0">
                <a:solidFill>
                  <a:srgbClr val="002060"/>
                </a:solidFill>
                <a:latin typeface="宋体" panose="02010600030101010101" pitchFamily="2" charset="-122"/>
                <a:ea typeface="宋体" panose="02010600030101010101" pitchFamily="2" charset="-122"/>
              </a:rPr>
              <a:t> （</a:t>
            </a:r>
            <a:r>
              <a:rPr lang="en-US" altLang="zh-CN" dirty="0">
                <a:solidFill>
                  <a:srgbClr val="002060"/>
                </a:solidFill>
                <a:latin typeface="宋体" panose="02010600030101010101" pitchFamily="2" charset="-122"/>
                <a:ea typeface="宋体" panose="02010600030101010101" pitchFamily="2" charset="-122"/>
              </a:rPr>
              <a:t>1</a:t>
            </a:r>
            <a:r>
              <a:rPr lang="zh-CN" altLang="en-US" dirty="0">
                <a:solidFill>
                  <a:srgbClr val="002060"/>
                </a:solidFill>
                <a:latin typeface="宋体" panose="02010600030101010101" pitchFamily="2" charset="-122"/>
                <a:ea typeface="宋体" panose="02010600030101010101" pitchFamily="2" charset="-122"/>
              </a:rPr>
              <a:t>）一般数据传送指令</a:t>
            </a:r>
            <a:endParaRPr lang="zh-CN" altLang="en-US" dirty="0">
              <a:solidFill>
                <a:srgbClr val="002060"/>
              </a:solidFill>
              <a:latin typeface="宋体" panose="02010600030101010101" pitchFamily="2" charset="-122"/>
              <a:ea typeface="宋体" panose="02010600030101010101" pitchFamily="2" charset="-122"/>
            </a:endParaRPr>
          </a:p>
        </p:txBody>
      </p:sp>
      <p:sp>
        <p:nvSpPr>
          <p:cNvPr id="12291" name="Rectangle 3"/>
          <p:cNvSpPr>
            <a:spLocks noGrp="1"/>
          </p:cNvSpPr>
          <p:nvPr>
            <p:ph type="body" idx="4294967295"/>
          </p:nvPr>
        </p:nvSpPr>
        <p:spPr>
          <a:xfrm>
            <a:off x="1331913" y="1989138"/>
            <a:ext cx="6121400" cy="4217987"/>
          </a:xfrm>
        </p:spPr>
        <p:txBody>
          <a:bodyPr vert="horz" wrap="square" lIns="91440" tIns="45720" rIns="91440" bIns="45720" anchor="t" anchorCtr="0"/>
          <a:p>
            <a:pPr eaLnBrk="1" hangingPunct="1">
              <a:spcAft>
                <a:spcPct val="20000"/>
              </a:spcAft>
              <a:buFont typeface="Wingdings" panose="05000000000000000000" pitchFamily="2" charset="2"/>
              <a:buChar char="Ø"/>
            </a:pPr>
            <a:r>
              <a:rPr lang="zh-CN" altLang="en-US" dirty="0">
                <a:ea typeface="宋体" panose="02010600030101010101" pitchFamily="2" charset="-122"/>
              </a:rPr>
              <a:t>一般数据传送指令： </a:t>
            </a:r>
            <a:r>
              <a:rPr lang="en-US" altLang="zh-CN" dirty="0">
                <a:ea typeface="宋体" panose="02010600030101010101" pitchFamily="2" charset="-122"/>
              </a:rPr>
              <a:t>MOV</a:t>
            </a:r>
            <a:endParaRPr lang="en-US" altLang="zh-CN" dirty="0">
              <a:ea typeface="宋体" panose="02010600030101010101" pitchFamily="2" charset="-122"/>
            </a:endParaRPr>
          </a:p>
          <a:p>
            <a:pPr eaLnBrk="1" hangingPunct="1">
              <a:spcAft>
                <a:spcPct val="20000"/>
              </a:spcAft>
              <a:buFont typeface="Wingdings" panose="05000000000000000000" pitchFamily="2" charset="2"/>
              <a:buChar char="l"/>
            </a:pPr>
            <a:r>
              <a:rPr lang="zh-CN" altLang="en-US" dirty="0">
                <a:ea typeface="宋体" panose="02010600030101010101" pitchFamily="2" charset="-122"/>
              </a:rPr>
              <a:t>格式：</a:t>
            </a:r>
            <a:endParaRPr lang="zh-CN" altLang="en-US" dirty="0">
              <a:ea typeface="宋体" panose="02010600030101010101" pitchFamily="2" charset="-122"/>
            </a:endParaRPr>
          </a:p>
          <a:p>
            <a:pPr marL="457200" lvl="1" indent="0" eaLnBrk="1" hangingPunct="1">
              <a:spcBef>
                <a:spcPct val="0"/>
              </a:spcBef>
              <a:spcAft>
                <a:spcPct val="20000"/>
              </a:spcAft>
              <a:buNone/>
            </a:pPr>
            <a:r>
              <a:rPr lang="en-US" altLang="zh-CN" dirty="0">
                <a:ea typeface="宋体" panose="02010600030101010101" pitchFamily="2" charset="-122"/>
              </a:rPr>
              <a:t>MOV  dest，src</a:t>
            </a:r>
            <a:endParaRPr lang="en-US" altLang="zh-CN" dirty="0">
              <a:ea typeface="宋体" panose="02010600030101010101" pitchFamily="2" charset="-122"/>
            </a:endParaRPr>
          </a:p>
          <a:p>
            <a:pPr eaLnBrk="1" hangingPunct="1">
              <a:spcAft>
                <a:spcPct val="20000"/>
              </a:spcAft>
              <a:buFont typeface="Wingdings" panose="05000000000000000000" pitchFamily="2" charset="2"/>
              <a:buChar char="l"/>
            </a:pPr>
            <a:r>
              <a:rPr lang="zh-CN" altLang="en-US" dirty="0">
                <a:ea typeface="宋体" panose="02010600030101010101" pitchFamily="2" charset="-122"/>
              </a:rPr>
              <a:t>操作：</a:t>
            </a:r>
            <a:endParaRPr lang="zh-CN" altLang="en-US" dirty="0">
              <a:ea typeface="宋体" panose="02010600030101010101" pitchFamily="2" charset="-122"/>
            </a:endParaRPr>
          </a:p>
          <a:p>
            <a:pPr marL="457200" lvl="1" indent="0" eaLnBrk="1" hangingPunct="1">
              <a:spcBef>
                <a:spcPct val="0"/>
              </a:spcBef>
              <a:spcAft>
                <a:spcPct val="20000"/>
              </a:spcAft>
              <a:buNone/>
            </a:pPr>
            <a:r>
              <a:rPr lang="en-US" altLang="zh-CN" dirty="0">
                <a:ea typeface="宋体" panose="02010600030101010101" pitchFamily="2" charset="-122"/>
              </a:rPr>
              <a:t>src</a:t>
            </a:r>
            <a:endParaRPr lang="en-US" altLang="zh-CN" dirty="0">
              <a:ea typeface="宋体" panose="02010600030101010101" pitchFamily="2" charset="-122"/>
            </a:endParaRPr>
          </a:p>
          <a:p>
            <a:pPr eaLnBrk="1" hangingPunct="1">
              <a:spcAft>
                <a:spcPct val="20000"/>
              </a:spcAft>
              <a:buNone/>
            </a:pPr>
            <a:r>
              <a:rPr lang="zh-CN" altLang="en-US" dirty="0">
                <a:ea typeface="宋体" panose="02010600030101010101" pitchFamily="2" charset="-122"/>
              </a:rPr>
              <a:t>   例：</a:t>
            </a:r>
            <a:endParaRPr lang="zh-CN" altLang="en-US" dirty="0">
              <a:ea typeface="宋体" panose="02010600030101010101" pitchFamily="2" charset="-122"/>
            </a:endParaRPr>
          </a:p>
          <a:p>
            <a:pPr marL="457200" lvl="1" indent="0" eaLnBrk="1" hangingPunct="1">
              <a:spcBef>
                <a:spcPct val="0"/>
              </a:spcBef>
              <a:spcAft>
                <a:spcPct val="20000"/>
              </a:spcAft>
              <a:buNone/>
            </a:pPr>
            <a:r>
              <a:rPr lang="zh-CN" altLang="en-US" dirty="0">
                <a:ea typeface="宋体" panose="02010600030101010101" pitchFamily="2" charset="-122"/>
              </a:rPr>
              <a:t> </a:t>
            </a:r>
            <a:r>
              <a:rPr lang="en-US" altLang="zh-CN" dirty="0">
                <a:ea typeface="宋体" panose="02010600030101010101" pitchFamily="2" charset="-122"/>
              </a:rPr>
              <a:t>MOV  AL，BL</a:t>
            </a:r>
            <a:endParaRPr lang="zh-CN" altLang="en-US" dirty="0">
              <a:ea typeface="宋体" panose="02010600030101010101" pitchFamily="2" charset="-122"/>
            </a:endParaRPr>
          </a:p>
        </p:txBody>
      </p:sp>
      <p:sp>
        <p:nvSpPr>
          <p:cNvPr id="12292" name="Line 4"/>
          <p:cNvSpPr/>
          <p:nvPr/>
        </p:nvSpPr>
        <p:spPr>
          <a:xfrm>
            <a:off x="2843213" y="4348163"/>
            <a:ext cx="685800" cy="0"/>
          </a:xfrm>
          <a:prstGeom prst="line">
            <a:avLst/>
          </a:prstGeom>
          <a:ln w="25400" cap="sq" cmpd="sng">
            <a:solidFill>
              <a:srgbClr val="FF6600"/>
            </a:solidFill>
            <a:prstDash val="solid"/>
            <a:headEnd type="none" w="med" len="med"/>
            <a:tailEnd type="triangle" w="lg" len="lg"/>
          </a:ln>
        </p:spPr>
      </p:sp>
      <p:sp>
        <p:nvSpPr>
          <p:cNvPr id="12293" name="Text Box 6"/>
          <p:cNvSpPr txBox="1"/>
          <p:nvPr/>
        </p:nvSpPr>
        <p:spPr>
          <a:xfrm>
            <a:off x="3436938" y="4089400"/>
            <a:ext cx="1739900" cy="519113"/>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800"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dest</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291">
                                            <p:txEl>
                                              <p:charRg st="0" end="14"/>
                                            </p:txEl>
                                          </p:spTgt>
                                        </p:tgtEl>
                                        <p:attrNameLst>
                                          <p:attrName>style.visibility</p:attrName>
                                        </p:attrNameLst>
                                      </p:cBhvr>
                                      <p:to>
                                        <p:strVal val="visible"/>
                                      </p:to>
                                    </p:set>
                                    <p:animEffect transition="in" filter="wipe(left)">
                                      <p:cBhvr>
                                        <p:cTn id="7" dur="500"/>
                                        <p:tgtEl>
                                          <p:spTgt spid="12291">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91">
                                            <p:txEl>
                                              <p:charRg st="14" end="18"/>
                                            </p:txEl>
                                          </p:spTgt>
                                        </p:tgtEl>
                                        <p:attrNameLst>
                                          <p:attrName>style.visibility</p:attrName>
                                        </p:attrNameLst>
                                      </p:cBhvr>
                                      <p:to>
                                        <p:strVal val="visible"/>
                                      </p:to>
                                    </p:set>
                                    <p:animEffect transition="in" filter="wipe(left)">
                                      <p:cBhvr>
                                        <p:cTn id="12" dur="500"/>
                                        <p:tgtEl>
                                          <p:spTgt spid="12291">
                                            <p:txEl>
                                              <p:charRg st="14" end="18"/>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2291">
                                            <p:txEl>
                                              <p:charRg st="18" end="32"/>
                                            </p:txEl>
                                          </p:spTgt>
                                        </p:tgtEl>
                                        <p:attrNameLst>
                                          <p:attrName>style.visibility</p:attrName>
                                        </p:attrNameLst>
                                      </p:cBhvr>
                                      <p:to>
                                        <p:strVal val="visible"/>
                                      </p:to>
                                    </p:set>
                                    <p:animEffect transition="in" filter="wipe(left)">
                                      <p:cBhvr>
                                        <p:cTn id="16" dur="500"/>
                                        <p:tgtEl>
                                          <p:spTgt spid="12291">
                                            <p:txEl>
                                              <p:charRg st="18" end="3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291">
                                            <p:txEl>
                                              <p:charRg st="32" end="36"/>
                                            </p:txEl>
                                          </p:spTgt>
                                        </p:tgtEl>
                                        <p:attrNameLst>
                                          <p:attrName>style.visibility</p:attrName>
                                        </p:attrNameLst>
                                      </p:cBhvr>
                                      <p:to>
                                        <p:strVal val="visible"/>
                                      </p:to>
                                    </p:set>
                                    <p:animEffect transition="in" filter="wipe(left)">
                                      <p:cBhvr>
                                        <p:cTn id="21" dur="500"/>
                                        <p:tgtEl>
                                          <p:spTgt spid="12291">
                                            <p:txEl>
                                              <p:charRg st="32" end="36"/>
                                            </p:txEl>
                                          </p:spTgt>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2291">
                                            <p:txEl>
                                              <p:charRg st="36" end="40"/>
                                            </p:txEl>
                                          </p:spTgt>
                                        </p:tgtEl>
                                        <p:attrNameLst>
                                          <p:attrName>style.visibility</p:attrName>
                                        </p:attrNameLst>
                                      </p:cBhvr>
                                      <p:to>
                                        <p:strVal val="visible"/>
                                      </p:to>
                                    </p:set>
                                    <p:animEffect transition="in" filter="wipe(left)">
                                      <p:cBhvr>
                                        <p:cTn id="25" dur="500"/>
                                        <p:tgtEl>
                                          <p:spTgt spid="12291">
                                            <p:txEl>
                                              <p:charRg st="36" end="40"/>
                                            </p:txEl>
                                          </p:spTgt>
                                        </p:tgtEl>
                                      </p:cBhvr>
                                    </p:animEffect>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12292"/>
                                        </p:tgtEl>
                                        <p:attrNameLst>
                                          <p:attrName>style.visibility</p:attrName>
                                        </p:attrNameLst>
                                      </p:cBhvr>
                                      <p:to>
                                        <p:strVal val="visible"/>
                                      </p:to>
                                    </p:set>
                                    <p:animEffect transition="in" filter="wipe(left)">
                                      <p:cBhvr>
                                        <p:cTn id="29" dur="500"/>
                                        <p:tgtEl>
                                          <p:spTgt spid="12292"/>
                                        </p:tgtEl>
                                      </p:cBhvr>
                                    </p:animEffect>
                                  </p:childTnLst>
                                </p:cTn>
                              </p:par>
                            </p:childTnLst>
                          </p:cTn>
                        </p:par>
                        <p:par>
                          <p:cTn id="3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12293"/>
                                        </p:tgtEl>
                                        <p:attrNameLst>
                                          <p:attrName>style.visibility</p:attrName>
                                        </p:attrNameLst>
                                      </p:cBhvr>
                                      <p:to>
                                        <p:strVal val="visible"/>
                                      </p:to>
                                    </p:set>
                                    <p:animEffect transition="in" filter="wipe(left)">
                                      <p:cBhvr>
                                        <p:cTn id="33" dur="500"/>
                                        <p:tgtEl>
                                          <p:spTgt spid="1229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2291">
                                            <p:txEl>
                                              <p:charRg st="40" end="46"/>
                                            </p:txEl>
                                          </p:spTgt>
                                        </p:tgtEl>
                                        <p:attrNameLst>
                                          <p:attrName>style.visibility</p:attrName>
                                        </p:attrNameLst>
                                      </p:cBhvr>
                                      <p:to>
                                        <p:strVal val="visible"/>
                                      </p:to>
                                    </p:set>
                                    <p:animEffect transition="in" filter="wipe(left)">
                                      <p:cBhvr>
                                        <p:cTn id="38" dur="500"/>
                                        <p:tgtEl>
                                          <p:spTgt spid="12291">
                                            <p:txEl>
                                              <p:charRg st="40" end="46"/>
                                            </p:txEl>
                                          </p:spTgt>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12291">
                                            <p:txEl>
                                              <p:charRg st="46" end="58"/>
                                            </p:txEl>
                                          </p:spTgt>
                                        </p:tgtEl>
                                        <p:attrNameLst>
                                          <p:attrName>style.visibility</p:attrName>
                                        </p:attrNameLst>
                                      </p:cBhvr>
                                      <p:to>
                                        <p:strVal val="visible"/>
                                      </p:to>
                                    </p:set>
                                    <p:animEffect transition="in" filter="wipe(left)">
                                      <p:cBhvr>
                                        <p:cTn id="42" dur="500"/>
                                        <p:tgtEl>
                                          <p:spTgt spid="12291">
                                            <p:txEl>
                                              <p:charRg st="46" end="5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P spid="1229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3"/>
          <p:cNvSpPr>
            <a:spLocks noGrp="1"/>
          </p:cNvSpPr>
          <p:nvPr>
            <p:ph type="body" idx="4294967295"/>
          </p:nvPr>
        </p:nvSpPr>
        <p:spPr>
          <a:xfrm>
            <a:off x="323850" y="1052513"/>
            <a:ext cx="8569325" cy="5329237"/>
          </a:xfrm>
        </p:spPr>
        <p:txBody>
          <a:bodyPr vert="horz" wrap="square" lIns="91440" tIns="45720" rIns="91440" bIns="45720" anchor="t" anchorCtr="0"/>
          <a:p>
            <a:pPr eaLnBrk="1" hangingPunct="1">
              <a:spcAft>
                <a:spcPct val="15000"/>
              </a:spcAft>
              <a:buFont typeface="Wingdings" panose="05000000000000000000" pitchFamily="2" charset="2"/>
              <a:buChar char="Ø"/>
            </a:pPr>
            <a:r>
              <a:rPr lang="zh-CN" altLang="en-US" dirty="0">
                <a:ea typeface="宋体" panose="02010600030101010101" pitchFamily="2" charset="-122"/>
              </a:rPr>
              <a:t>注意点：</a:t>
            </a:r>
            <a:endParaRPr lang="zh-CN" altLang="en-US" dirty="0">
              <a:ea typeface="宋体" panose="02010600030101010101" pitchFamily="2" charset="-122"/>
            </a:endParaRPr>
          </a:p>
          <a:p>
            <a:pPr marL="784225" lvl="1" indent="-342900" eaLnBrk="1" hangingPunct="1">
              <a:lnSpc>
                <a:spcPct val="150000"/>
              </a:lnSpc>
              <a:spcBef>
                <a:spcPct val="10000"/>
              </a:spcBef>
              <a:buFont typeface="Wingdings" panose="05000000000000000000" pitchFamily="2" charset="2"/>
              <a:buChar char="l"/>
            </a:pPr>
            <a:r>
              <a:rPr lang="zh-CN" altLang="en-US" sz="2000" b="0" dirty="0">
                <a:solidFill>
                  <a:srgbClr val="FF0000"/>
                </a:solidFill>
                <a:latin typeface="宋体" panose="02010600030101010101" pitchFamily="2" charset="-122"/>
                <a:ea typeface="宋体" panose="02010600030101010101" pitchFamily="2" charset="-122"/>
              </a:rPr>
              <a:t>两操作数字长必须相同</a:t>
            </a:r>
            <a:r>
              <a:rPr lang="zh-CN" altLang="en-US" sz="2000" b="0" dirty="0">
                <a:latin typeface="宋体" panose="02010600030101010101" pitchFamily="2" charset="-122"/>
                <a:ea typeface="宋体" panose="02010600030101010101" pitchFamily="2" charset="-122"/>
              </a:rPr>
              <a:t>；</a:t>
            </a:r>
            <a:endParaRPr lang="zh-CN" altLang="en-US" sz="2000" b="0" dirty="0">
              <a:latin typeface="宋体" panose="02010600030101010101" pitchFamily="2" charset="-122"/>
              <a:ea typeface="宋体" panose="02010600030101010101" pitchFamily="2" charset="-122"/>
            </a:endParaRPr>
          </a:p>
          <a:p>
            <a:pPr marL="784225" lvl="1" indent="-342900" eaLnBrk="1" hangingPunct="1">
              <a:lnSpc>
                <a:spcPct val="150000"/>
              </a:lnSpc>
              <a:spcBef>
                <a:spcPct val="10000"/>
              </a:spcBef>
              <a:buFont typeface="Wingdings" panose="05000000000000000000" pitchFamily="2" charset="2"/>
              <a:buChar char="l"/>
            </a:pPr>
            <a:r>
              <a:rPr lang="zh-CN" altLang="en-US" sz="2000" b="0" dirty="0">
                <a:solidFill>
                  <a:srgbClr val="FF0000"/>
                </a:solidFill>
                <a:latin typeface="宋体" panose="02010600030101010101" pitchFamily="2" charset="-122"/>
                <a:ea typeface="宋体" panose="02010600030101010101" pitchFamily="2" charset="-122"/>
              </a:rPr>
              <a:t>两操作数不允许同时为存储器操作数</a:t>
            </a:r>
            <a:r>
              <a:rPr lang="zh-CN" altLang="en-US" sz="2000" b="0" dirty="0">
                <a:latin typeface="宋体" panose="02010600030101010101" pitchFamily="2" charset="-122"/>
                <a:ea typeface="宋体" panose="02010600030101010101" pitchFamily="2" charset="-122"/>
              </a:rPr>
              <a:t>；</a:t>
            </a:r>
            <a:r>
              <a:rPr lang="zh-CN" altLang="en-US" sz="2000" b="0" dirty="0">
                <a:solidFill>
                  <a:srgbClr val="FF0000"/>
                </a:solidFill>
                <a:latin typeface="宋体" panose="02010600030101010101" pitchFamily="2" charset="-122"/>
                <a:ea typeface="宋体" panose="02010600030101010101" pitchFamily="2" charset="-122"/>
              </a:rPr>
              <a:t>两操作数不允许同时为段寄存器</a:t>
            </a:r>
            <a:r>
              <a:rPr lang="zh-CN" altLang="en-US" sz="2000" b="0" dirty="0">
                <a:latin typeface="宋体" panose="02010600030101010101" pitchFamily="2" charset="-122"/>
                <a:ea typeface="宋体" panose="02010600030101010101" pitchFamily="2" charset="-122"/>
              </a:rPr>
              <a:t>；</a:t>
            </a:r>
            <a:endParaRPr lang="zh-CN" altLang="en-US" sz="2000" b="0" dirty="0">
              <a:latin typeface="宋体" panose="02010600030101010101" pitchFamily="2" charset="-122"/>
              <a:ea typeface="宋体" panose="02010600030101010101" pitchFamily="2" charset="-122"/>
            </a:endParaRPr>
          </a:p>
          <a:p>
            <a:pPr marL="784225" lvl="1" indent="-342900" eaLnBrk="1" hangingPunct="1">
              <a:lnSpc>
                <a:spcPct val="150000"/>
              </a:lnSpc>
              <a:spcBef>
                <a:spcPct val="10000"/>
              </a:spcBef>
              <a:buFont typeface="Wingdings" panose="05000000000000000000" pitchFamily="2" charset="2"/>
              <a:buChar char="l"/>
            </a:pPr>
            <a:r>
              <a:rPr lang="zh-CN" altLang="en-US" sz="2000" b="0" dirty="0">
                <a:solidFill>
                  <a:srgbClr val="FF0000"/>
                </a:solidFill>
                <a:latin typeface="宋体" panose="02010600030101010101" pitchFamily="2" charset="-122"/>
                <a:ea typeface="宋体" panose="02010600030101010101" pitchFamily="2" charset="-122"/>
              </a:rPr>
              <a:t>在源操作数是立即数时，目标操作数不能是段寄存器，</a:t>
            </a:r>
            <a:endParaRPr lang="zh-CN" altLang="en-US" sz="2000" b="0" dirty="0">
              <a:solidFill>
                <a:srgbClr val="FF0000"/>
              </a:solidFill>
              <a:latin typeface="宋体" panose="02010600030101010101" pitchFamily="2" charset="-122"/>
              <a:ea typeface="宋体" panose="02010600030101010101" pitchFamily="2" charset="-122"/>
            </a:endParaRPr>
          </a:p>
          <a:p>
            <a:pPr marL="784225" lvl="1" indent="-342900" eaLnBrk="1" hangingPunct="1">
              <a:lnSpc>
                <a:spcPct val="150000"/>
              </a:lnSpc>
              <a:spcBef>
                <a:spcPct val="10000"/>
              </a:spcBef>
              <a:buFont typeface="Wingdings" panose="05000000000000000000" pitchFamily="2" charset="2"/>
              <a:buChar char="l"/>
            </a:pPr>
            <a:r>
              <a:rPr lang="zh-CN" altLang="en-US" sz="2000" b="0" dirty="0">
                <a:solidFill>
                  <a:srgbClr val="FF0000"/>
                </a:solidFill>
                <a:latin typeface="宋体" panose="02010600030101010101" pitchFamily="2" charset="-122"/>
                <a:ea typeface="宋体" panose="02010600030101010101" pitchFamily="2" charset="-122"/>
              </a:rPr>
              <a:t>在</a:t>
            </a:r>
            <a:r>
              <a:rPr lang="en-US" altLang="zh-CN" sz="2000" b="0" dirty="0">
                <a:solidFill>
                  <a:srgbClr val="FF0000"/>
                </a:solidFill>
                <a:latin typeface="宋体" panose="02010600030101010101" pitchFamily="2" charset="-122"/>
                <a:ea typeface="宋体" panose="02010600030101010101" pitchFamily="2" charset="-122"/>
              </a:rPr>
              <a:t>debug</a:t>
            </a:r>
            <a:r>
              <a:rPr lang="zh-CN" altLang="en-US" sz="2000" b="0" dirty="0">
                <a:solidFill>
                  <a:srgbClr val="FF0000"/>
                </a:solidFill>
                <a:latin typeface="宋体" panose="02010600030101010101" pitchFamily="2" charset="-122"/>
                <a:ea typeface="宋体" panose="02010600030101010101" pitchFamily="2" charset="-122"/>
              </a:rPr>
              <a:t>调试中，如果目标操作数是存储器操作数时，前面要加</a:t>
            </a:r>
            <a:r>
              <a:rPr lang="en-US" altLang="zh-CN" sz="2000" b="0" dirty="0">
                <a:solidFill>
                  <a:srgbClr val="FF0000"/>
                </a:solidFill>
                <a:latin typeface="宋体" panose="02010600030101010101" pitchFamily="2" charset="-122"/>
                <a:ea typeface="宋体" panose="02010600030101010101" pitchFamily="2" charset="-122"/>
              </a:rPr>
              <a:t>byte</a:t>
            </a:r>
            <a:r>
              <a:rPr lang="zh-CN" altLang="en-US" sz="2000" b="0" dirty="0">
                <a:solidFill>
                  <a:srgbClr val="FF0000"/>
                </a:solidFill>
                <a:latin typeface="宋体" panose="02010600030101010101" pitchFamily="2" charset="-122"/>
                <a:ea typeface="宋体" panose="02010600030101010101" pitchFamily="2" charset="-122"/>
              </a:rPr>
              <a:t>或者</a:t>
            </a:r>
            <a:r>
              <a:rPr lang="en-US" altLang="zh-CN" sz="2000" b="0" dirty="0">
                <a:solidFill>
                  <a:srgbClr val="FF0000"/>
                </a:solidFill>
                <a:latin typeface="宋体" panose="02010600030101010101" pitchFamily="2" charset="-122"/>
                <a:ea typeface="宋体" panose="02010600030101010101" pitchFamily="2" charset="-122"/>
              </a:rPr>
              <a:t>word</a:t>
            </a:r>
            <a:endParaRPr lang="en-US" altLang="zh-CN" sz="2000" b="0" dirty="0">
              <a:latin typeface="宋体" panose="02010600030101010101" pitchFamily="2" charset="-122"/>
              <a:ea typeface="宋体" panose="02010600030101010101" pitchFamily="2" charset="-122"/>
            </a:endParaRPr>
          </a:p>
          <a:p>
            <a:pPr marL="784225" lvl="1" indent="-342900" eaLnBrk="1" hangingPunct="1">
              <a:lnSpc>
                <a:spcPct val="150000"/>
              </a:lnSpc>
              <a:spcBef>
                <a:spcPct val="10000"/>
              </a:spcBef>
              <a:buFont typeface="Wingdings" panose="05000000000000000000" pitchFamily="2" charset="2"/>
              <a:buChar char="l"/>
            </a:pPr>
            <a:r>
              <a:rPr lang="en-US" altLang="zh-CN" sz="2000" b="0" dirty="0">
                <a:latin typeface="宋体" panose="02010600030101010101" pitchFamily="2" charset="-122"/>
                <a:ea typeface="宋体" panose="02010600030101010101" pitchFamily="2" charset="-122"/>
              </a:rPr>
              <a:t>IP</a:t>
            </a:r>
            <a:r>
              <a:rPr lang="zh-CN" altLang="en-US" sz="2000" b="0" dirty="0">
                <a:latin typeface="宋体" panose="02010600030101010101" pitchFamily="2" charset="-122"/>
                <a:ea typeface="宋体" panose="02010600030101010101" pitchFamily="2" charset="-122"/>
              </a:rPr>
              <a:t>和</a:t>
            </a:r>
            <a:r>
              <a:rPr lang="en-US" altLang="zh-CN" sz="2000" b="0" dirty="0">
                <a:latin typeface="宋体" panose="02010600030101010101" pitchFamily="2" charset="-122"/>
                <a:ea typeface="宋体" panose="02010600030101010101" pitchFamily="2" charset="-122"/>
              </a:rPr>
              <a:t>CS</a:t>
            </a:r>
            <a:r>
              <a:rPr lang="zh-CN" altLang="en-US" sz="2000" b="0" dirty="0">
                <a:latin typeface="宋体" panose="02010600030101010101" pitchFamily="2" charset="-122"/>
                <a:ea typeface="宋体" panose="02010600030101010101" pitchFamily="2" charset="-122"/>
              </a:rPr>
              <a:t>不作为目标操作数，</a:t>
            </a:r>
            <a:r>
              <a:rPr lang="en-US" altLang="zh-CN" sz="2000" b="0" dirty="0">
                <a:latin typeface="宋体" panose="02010600030101010101" pitchFamily="2" charset="-122"/>
                <a:ea typeface="宋体" panose="02010600030101010101" pitchFamily="2" charset="-122"/>
              </a:rPr>
              <a:t>FLAGS</a:t>
            </a:r>
            <a:r>
              <a:rPr lang="zh-CN" altLang="en-US" sz="2000" b="0" dirty="0">
                <a:latin typeface="宋体" panose="02010600030101010101" pitchFamily="2" charset="-122"/>
                <a:ea typeface="宋体" panose="02010600030101010101" pitchFamily="2" charset="-122"/>
              </a:rPr>
              <a:t>一般也不作为操作数在指令中出现。</a:t>
            </a:r>
            <a:endParaRPr lang="zh-CN" altLang="en-US" sz="2000" b="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314">
                                            <p:txEl>
                                              <p:charRg st="0" end="5"/>
                                            </p:txEl>
                                          </p:spTgt>
                                        </p:tgtEl>
                                        <p:attrNameLst>
                                          <p:attrName>style.visibility</p:attrName>
                                        </p:attrNameLst>
                                      </p:cBhvr>
                                      <p:to>
                                        <p:strVal val="visible"/>
                                      </p:to>
                                    </p:set>
                                    <p:animEffect transition="in" filter="wipe(left)">
                                      <p:cBhvr>
                                        <p:cTn id="7" dur="500"/>
                                        <p:tgtEl>
                                          <p:spTgt spid="13314">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314">
                                            <p:txEl>
                                              <p:charRg st="5" end="17"/>
                                            </p:txEl>
                                          </p:spTgt>
                                        </p:tgtEl>
                                        <p:attrNameLst>
                                          <p:attrName>style.visibility</p:attrName>
                                        </p:attrNameLst>
                                      </p:cBhvr>
                                      <p:to>
                                        <p:strVal val="visible"/>
                                      </p:to>
                                    </p:set>
                                    <p:animEffect transition="in" filter="wipe(left)">
                                      <p:cBhvr>
                                        <p:cTn id="12" dur="500"/>
                                        <p:tgtEl>
                                          <p:spTgt spid="13314">
                                            <p:txEl>
                                              <p:charRg st="5" end="1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314">
                                            <p:txEl>
                                              <p:charRg st="17" end="74"/>
                                            </p:txEl>
                                          </p:spTgt>
                                        </p:tgtEl>
                                        <p:attrNameLst>
                                          <p:attrName>style.visibility</p:attrName>
                                        </p:attrNameLst>
                                      </p:cBhvr>
                                      <p:to>
                                        <p:strVal val="visible"/>
                                      </p:to>
                                    </p:set>
                                    <p:animEffect transition="in" filter="wipe(left)">
                                      <p:cBhvr>
                                        <p:cTn id="17" dur="500"/>
                                        <p:tgtEl>
                                          <p:spTgt spid="13314">
                                            <p:txEl>
                                              <p:charRg st="17" end="7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314">
                                            <p:txEl>
                                              <p:charRg st="3" end="3"/>
                                            </p:txEl>
                                          </p:spTgt>
                                        </p:tgtEl>
                                        <p:attrNameLst>
                                          <p:attrName>style.visibility</p:attrName>
                                        </p:attrNameLst>
                                      </p:cBhvr>
                                      <p:to>
                                        <p:strVal val="visible"/>
                                      </p:to>
                                    </p:set>
                                    <p:animEffect transition="in" filter="wipe(left)">
                                      <p:cBhvr>
                                        <p:cTn id="22" dur="500"/>
                                        <p:tgtEl>
                                          <p:spTgt spid="13314">
                                            <p:txEl>
                                              <p:char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314">
                                            <p:txEl>
                                              <p:charRg st="4" end="4"/>
                                            </p:txEl>
                                          </p:spTgt>
                                        </p:tgtEl>
                                        <p:attrNameLst>
                                          <p:attrName>style.visibility</p:attrName>
                                        </p:attrNameLst>
                                      </p:cBhvr>
                                      <p:to>
                                        <p:strVal val="visible"/>
                                      </p:to>
                                    </p:set>
                                    <p:animEffect transition="in" filter="wipe(left)">
                                      <p:cBhvr>
                                        <p:cTn id="27" dur="500"/>
                                        <p:tgtEl>
                                          <p:spTgt spid="13314">
                                            <p:txEl>
                                              <p:char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3314">
                                            <p:txEl>
                                              <p:charRg st="74" end="110"/>
                                            </p:txEl>
                                          </p:spTgt>
                                        </p:tgtEl>
                                        <p:attrNameLst>
                                          <p:attrName>style.visibility</p:attrName>
                                        </p:attrNameLst>
                                      </p:cBhvr>
                                      <p:to>
                                        <p:strVal val="visible"/>
                                      </p:to>
                                    </p:set>
                                    <p:animEffect transition="in" filter="blinds(horizontal)">
                                      <p:cBhvr>
                                        <p:cTn id="32" dur="500"/>
                                        <p:tgtEl>
                                          <p:spTgt spid="13314">
                                            <p:txEl>
                                              <p:charRg st="74" end="1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矩形 3"/>
          <p:cNvSpPr/>
          <p:nvPr/>
        </p:nvSpPr>
        <p:spPr>
          <a:xfrm>
            <a:off x="468313" y="2636838"/>
            <a:ext cx="7920037" cy="3163887"/>
          </a:xfrm>
          <a:prstGeom prst="rect">
            <a:avLst/>
          </a:prstGeom>
          <a:noFill/>
          <a:ln w="9525">
            <a:noFill/>
          </a:ln>
        </p:spPr>
        <p:txBody>
          <a:bodyPr>
            <a:spAutoFit/>
          </a:bodyPr>
          <a:p>
            <a:pPr marL="3408680" indent="-3408680" eaLnBrk="0" hangingPunct="0">
              <a:lnSpc>
                <a:spcPct val="120000"/>
              </a:lnSpc>
              <a:buFont typeface="Wingdings" panose="05000000000000000000" pitchFamily="2" charset="2"/>
            </a:pPr>
            <a:r>
              <a:rPr lang="zh-CN" altLang="en-US" sz="2400" dirty="0">
                <a:solidFill>
                  <a:srgbClr val="000000"/>
                </a:solidFill>
                <a:latin typeface="宋体" panose="02010600030101010101" pitchFamily="2" charset="-122"/>
                <a:ea typeface="宋体" panose="02010600030101010101" pitchFamily="2" charset="-122"/>
              </a:rPr>
              <a:t>  </a:t>
            </a:r>
            <a:r>
              <a:rPr lang="en-US" altLang="zh-CN" sz="2400" dirty="0">
                <a:solidFill>
                  <a:srgbClr val="FF5050"/>
                </a:solidFill>
                <a:latin typeface="宋体" panose="02010600030101010101" pitchFamily="2" charset="-122"/>
                <a:ea typeface="宋体" panose="02010600030101010101" pitchFamily="2" charset="-122"/>
              </a:rPr>
              <a:t>MOV  CS,3000H</a:t>
            </a:r>
            <a:r>
              <a:rPr lang="en-US" altLang="zh-CN" sz="2400" dirty="0">
                <a:solidFill>
                  <a:srgbClr val="000000"/>
                </a:solidFill>
                <a:latin typeface="宋体" panose="02010600030101010101" pitchFamily="2" charset="-122"/>
                <a:ea typeface="宋体" panose="02010600030101010101" pitchFamily="2" charset="-122"/>
              </a:rPr>
              <a:t>   </a:t>
            </a:r>
            <a:r>
              <a:rPr lang="zh-CN" altLang="en-US" sz="2400" dirty="0">
                <a:solidFill>
                  <a:srgbClr val="FF5050"/>
                </a:solidFill>
                <a:latin typeface="宋体" panose="02010600030101010101" pitchFamily="2" charset="-122"/>
                <a:ea typeface="宋体" panose="02010600030101010101" pitchFamily="2" charset="-122"/>
              </a:rPr>
              <a:t>；不正确</a:t>
            </a:r>
            <a:endParaRPr lang="zh-CN" altLang="en-US" sz="2400" dirty="0">
              <a:solidFill>
                <a:srgbClr val="FF5050"/>
              </a:solidFill>
              <a:latin typeface="宋体" panose="02010600030101010101" pitchFamily="2" charset="-122"/>
              <a:ea typeface="宋体" panose="02010600030101010101" pitchFamily="2" charset="-122"/>
            </a:endParaRPr>
          </a:p>
          <a:p>
            <a:pPr marL="3408680" indent="-3408680" eaLnBrk="0" hangingPunct="0">
              <a:lnSpc>
                <a:spcPct val="120000"/>
              </a:lnSpc>
              <a:buFont typeface="Wingdings" panose="05000000000000000000" pitchFamily="2" charset="2"/>
            </a:pPr>
            <a:r>
              <a:rPr lang="zh-CN" altLang="en-US" sz="2400" dirty="0">
                <a:solidFill>
                  <a:srgbClr val="002060"/>
                </a:solidFill>
                <a:latin typeface="宋体" panose="02010600030101010101" pitchFamily="2" charset="-122"/>
                <a:ea typeface="宋体" panose="02010600030101010101" pitchFamily="2" charset="-122"/>
              </a:rPr>
              <a:t>  </a:t>
            </a:r>
            <a:r>
              <a:rPr lang="en-US" altLang="zh-CN" sz="2400" dirty="0">
                <a:solidFill>
                  <a:srgbClr val="002060"/>
                </a:solidFill>
                <a:latin typeface="宋体" panose="02010600030101010101" pitchFamily="2" charset="-122"/>
                <a:ea typeface="宋体" panose="02010600030101010101" pitchFamily="2" charset="-122"/>
              </a:rPr>
              <a:t>MOV  AX,3000H   ; </a:t>
            </a:r>
            <a:endParaRPr lang="en-US" altLang="zh-CN" sz="2400" dirty="0">
              <a:solidFill>
                <a:srgbClr val="002060"/>
              </a:solidFill>
              <a:latin typeface="宋体" panose="02010600030101010101" pitchFamily="2" charset="-122"/>
              <a:ea typeface="宋体" panose="02010600030101010101" pitchFamily="2" charset="-122"/>
            </a:endParaRPr>
          </a:p>
          <a:p>
            <a:pPr marL="3408680" indent="-3408680" eaLnBrk="0" hangingPunct="0">
              <a:lnSpc>
                <a:spcPct val="120000"/>
              </a:lnSpc>
              <a:buFont typeface="Wingdings" panose="05000000000000000000" pitchFamily="2" charset="2"/>
            </a:pPr>
            <a:r>
              <a:rPr lang="en-US" altLang="zh-CN" sz="2400" dirty="0">
                <a:solidFill>
                  <a:srgbClr val="000000"/>
                </a:solidFill>
                <a:latin typeface="宋体" panose="02010600030101010101" pitchFamily="2" charset="-122"/>
                <a:ea typeface="宋体" panose="02010600030101010101" pitchFamily="2" charset="-122"/>
              </a:rPr>
              <a:t>  </a:t>
            </a:r>
            <a:r>
              <a:rPr lang="en-US" altLang="zh-CN" sz="2400" dirty="0">
                <a:solidFill>
                  <a:srgbClr val="002060"/>
                </a:solidFill>
                <a:latin typeface="宋体" panose="02010600030101010101" pitchFamily="2" charset="-122"/>
                <a:ea typeface="宋体" panose="02010600030101010101" pitchFamily="2" charset="-122"/>
              </a:rPr>
              <a:t>MOV  CS,AX      </a:t>
            </a:r>
            <a:r>
              <a:rPr lang="zh-CN" altLang="en-US" sz="2400" dirty="0">
                <a:solidFill>
                  <a:srgbClr val="002060"/>
                </a:solidFill>
                <a:latin typeface="宋体" panose="02010600030101010101" pitchFamily="2" charset="-122"/>
                <a:ea typeface="宋体" panose="02010600030101010101" pitchFamily="2" charset="-122"/>
              </a:rPr>
              <a:t>；不正确</a:t>
            </a:r>
            <a:endParaRPr lang="en-US" altLang="zh-CN" sz="2400" dirty="0">
              <a:solidFill>
                <a:srgbClr val="002060"/>
              </a:solidFill>
              <a:latin typeface="宋体" panose="02010600030101010101" pitchFamily="2" charset="-122"/>
              <a:ea typeface="宋体" panose="02010600030101010101" pitchFamily="2" charset="-122"/>
            </a:endParaRPr>
          </a:p>
          <a:p>
            <a:pPr marL="3408680" indent="-3408680" eaLnBrk="0" hangingPunct="0">
              <a:lnSpc>
                <a:spcPct val="120000"/>
              </a:lnSpc>
              <a:buFont typeface="Wingdings" panose="05000000000000000000" pitchFamily="2" charset="2"/>
            </a:pPr>
            <a:endParaRPr lang="en-US" altLang="zh-CN" sz="2400" dirty="0">
              <a:solidFill>
                <a:srgbClr val="000000"/>
              </a:solidFill>
              <a:latin typeface="宋体" panose="02010600030101010101" pitchFamily="2" charset="-122"/>
              <a:ea typeface="宋体" panose="02010600030101010101" pitchFamily="2" charset="-122"/>
            </a:endParaRPr>
          </a:p>
          <a:p>
            <a:pPr marL="3408680" indent="-3408680" eaLnBrk="0" hangingPunct="0">
              <a:lnSpc>
                <a:spcPct val="120000"/>
              </a:lnSpc>
              <a:buFont typeface="Wingdings" panose="05000000000000000000" pitchFamily="2" charset="2"/>
            </a:pPr>
            <a:r>
              <a:rPr lang="en-US" altLang="zh-CN" sz="2400" dirty="0">
                <a:solidFill>
                  <a:srgbClr val="000000"/>
                </a:solidFill>
                <a:latin typeface="宋体" panose="02010600030101010101" pitchFamily="2" charset="-122"/>
                <a:ea typeface="宋体" panose="02010600030101010101" pitchFamily="2" charset="-122"/>
              </a:rPr>
              <a:t>  </a:t>
            </a:r>
            <a:r>
              <a:rPr lang="en-US" altLang="zh-CN" sz="2400" dirty="0">
                <a:solidFill>
                  <a:srgbClr val="FF5050"/>
                </a:solidFill>
                <a:latin typeface="宋体" panose="02010600030101010101" pitchFamily="2" charset="-122"/>
                <a:ea typeface="宋体" panose="02010600030101010101" pitchFamily="2" charset="-122"/>
              </a:rPr>
              <a:t>MOV  SS,1000H   </a:t>
            </a:r>
            <a:r>
              <a:rPr lang="zh-CN" altLang="en-US" sz="2400" dirty="0">
                <a:solidFill>
                  <a:srgbClr val="FF5050"/>
                </a:solidFill>
                <a:latin typeface="宋体" panose="02010600030101010101" pitchFamily="2" charset="-122"/>
                <a:ea typeface="宋体" panose="02010600030101010101" pitchFamily="2" charset="-122"/>
              </a:rPr>
              <a:t>；不正确</a:t>
            </a:r>
            <a:endParaRPr lang="zh-CN" altLang="en-US" sz="2400" dirty="0">
              <a:solidFill>
                <a:srgbClr val="FF5050"/>
              </a:solidFill>
              <a:latin typeface="宋体" panose="02010600030101010101" pitchFamily="2" charset="-122"/>
              <a:ea typeface="宋体" panose="02010600030101010101" pitchFamily="2" charset="-122"/>
            </a:endParaRPr>
          </a:p>
          <a:p>
            <a:pPr marL="3408680" indent="-3408680" eaLnBrk="0" hangingPunct="0">
              <a:lnSpc>
                <a:spcPct val="120000"/>
              </a:lnSpc>
              <a:buFont typeface="Wingdings" panose="05000000000000000000" pitchFamily="2" charset="2"/>
            </a:pPr>
            <a:r>
              <a:rPr lang="zh-CN" altLang="en-US" sz="2400" dirty="0">
                <a:solidFill>
                  <a:srgbClr val="000000"/>
                </a:solidFill>
                <a:latin typeface="宋体" panose="02010600030101010101" pitchFamily="2" charset="-122"/>
                <a:ea typeface="宋体" panose="02010600030101010101" pitchFamily="2" charset="-122"/>
              </a:rPr>
              <a:t>  </a:t>
            </a:r>
            <a:r>
              <a:rPr lang="en-US" altLang="zh-CN" sz="2400" dirty="0">
                <a:solidFill>
                  <a:srgbClr val="002060"/>
                </a:solidFill>
                <a:latin typeface="宋体" panose="02010600030101010101" pitchFamily="2" charset="-122"/>
                <a:ea typeface="宋体" panose="02010600030101010101" pitchFamily="2" charset="-122"/>
              </a:rPr>
              <a:t>MOV  DI,1000H</a:t>
            </a:r>
            <a:endParaRPr lang="en-US" altLang="zh-CN" sz="2400" dirty="0">
              <a:solidFill>
                <a:srgbClr val="002060"/>
              </a:solidFill>
              <a:latin typeface="宋体" panose="02010600030101010101" pitchFamily="2" charset="-122"/>
              <a:ea typeface="宋体" panose="02010600030101010101" pitchFamily="2" charset="-122"/>
            </a:endParaRPr>
          </a:p>
          <a:p>
            <a:pPr marL="3408680" indent="-3408680" eaLnBrk="0" hangingPunct="0">
              <a:lnSpc>
                <a:spcPct val="120000"/>
              </a:lnSpc>
              <a:buFont typeface="Wingdings" panose="05000000000000000000" pitchFamily="2" charset="2"/>
            </a:pPr>
            <a:r>
              <a:rPr lang="en-US" altLang="zh-CN" sz="2400" dirty="0">
                <a:solidFill>
                  <a:srgbClr val="002060"/>
                </a:solidFill>
                <a:latin typeface="宋体" panose="02010600030101010101" pitchFamily="2" charset="-122"/>
                <a:ea typeface="宋体" panose="02010600030101010101" pitchFamily="2" charset="-122"/>
              </a:rPr>
              <a:t>  MOV  SS,DI      </a:t>
            </a:r>
            <a:r>
              <a:rPr lang="zh-CN" altLang="en-US" sz="2400" dirty="0">
                <a:solidFill>
                  <a:srgbClr val="002060"/>
                </a:solidFill>
                <a:latin typeface="宋体" panose="02010600030101010101" pitchFamily="2" charset="-122"/>
                <a:ea typeface="宋体" panose="02010600030101010101" pitchFamily="2" charset="-122"/>
              </a:rPr>
              <a:t>；正确</a:t>
            </a:r>
            <a:endParaRPr lang="en-US" altLang="zh-CN" sz="2400" dirty="0">
              <a:solidFill>
                <a:srgbClr val="002060"/>
              </a:solidFill>
              <a:latin typeface="宋体" panose="02010600030101010101" pitchFamily="2" charset="-122"/>
              <a:ea typeface="宋体" panose="02010600030101010101" pitchFamily="2" charset="-122"/>
            </a:endParaRPr>
          </a:p>
        </p:txBody>
      </p:sp>
      <p:sp>
        <p:nvSpPr>
          <p:cNvPr id="13315" name="矩形 4"/>
          <p:cNvSpPr/>
          <p:nvPr/>
        </p:nvSpPr>
        <p:spPr>
          <a:xfrm>
            <a:off x="468313" y="1268413"/>
            <a:ext cx="7991475" cy="842962"/>
          </a:xfrm>
          <a:prstGeom prst="rect">
            <a:avLst/>
          </a:prstGeom>
          <a:noFill/>
          <a:ln w="19050" cap="flat" cmpd="sng">
            <a:solidFill>
              <a:schemeClr val="tx1"/>
            </a:solidFill>
            <a:prstDash val="solid"/>
            <a:miter/>
            <a:headEnd type="none" w="med" len="med"/>
            <a:tailEnd type="none" w="med" len="med"/>
          </a:ln>
        </p:spPr>
        <p:txBody>
          <a:bodyPr>
            <a:spAutoFit/>
          </a:bodyPr>
          <a:p>
            <a:pPr eaLnBrk="0" hangingPunct="0">
              <a:buFont typeface="Wingdings" panose="05000000000000000000" pitchFamily="2" charset="2"/>
            </a:pPr>
            <a:r>
              <a:rPr lang="zh-CN" altLang="en-US" sz="2400" dirty="0">
                <a:latin typeface="宋体" panose="02010600030101010101" pitchFamily="2" charset="-122"/>
                <a:ea typeface="宋体" panose="02010600030101010101" pitchFamily="2" charset="-122"/>
              </a:rPr>
              <a:t>如果要将数据送入段寄存器</a:t>
            </a:r>
            <a:r>
              <a:rPr lang="en-US" altLang="zh-CN" sz="2400" dirty="0">
                <a:latin typeface="宋体" panose="02010600030101010101" pitchFamily="2" charset="-122"/>
                <a:ea typeface="宋体" panose="02010600030101010101" pitchFamily="2" charset="-122"/>
              </a:rPr>
              <a:t>(DS</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ES</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SS)</a:t>
            </a:r>
            <a:r>
              <a:rPr lang="zh-CN" altLang="en-US" sz="2400" dirty="0">
                <a:latin typeface="宋体" panose="02010600030101010101" pitchFamily="2" charset="-122"/>
                <a:ea typeface="宋体" panose="02010600030101010101" pitchFamily="2" charset="-122"/>
              </a:rPr>
              <a:t>，</a:t>
            </a:r>
            <a:r>
              <a:rPr lang="zh-CN" altLang="en-US" sz="2400" dirty="0">
                <a:solidFill>
                  <a:srgbClr val="FF0000"/>
                </a:solidFill>
                <a:latin typeface="宋体" panose="02010600030101010101" pitchFamily="2" charset="-122"/>
                <a:ea typeface="宋体" panose="02010600030101010101" pitchFamily="2" charset="-122"/>
              </a:rPr>
              <a:t>必须先将这个数送入一个非段寄存器，然后在送到段寄存器。</a:t>
            </a:r>
            <a:endParaRPr lang="zh-CN" altLang="en-US" sz="2400" dirty="0">
              <a:solidFill>
                <a:srgbClr val="FF0000"/>
              </a:solidFill>
              <a:latin typeface="宋体" panose="02010600030101010101" pitchFamily="2" charset="-122"/>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idx="4294967295"/>
          </p:nvPr>
        </p:nvSpPr>
        <p:spPr>
          <a:xfrm>
            <a:off x="827088" y="1063625"/>
            <a:ext cx="1368425" cy="563563"/>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02060"/>
                </a:solidFill>
                <a:ea typeface="宋体" panose="02010600030101010101" pitchFamily="2" charset="-122"/>
              </a:rPr>
              <a:t>例</a:t>
            </a:r>
            <a:r>
              <a:rPr lang="en-US" altLang="zh-CN" dirty="0">
                <a:solidFill>
                  <a:srgbClr val="002060"/>
                </a:solidFill>
                <a:ea typeface="宋体" panose="02010600030101010101" pitchFamily="2" charset="-122"/>
              </a:rPr>
              <a:t>1</a:t>
            </a:r>
            <a:endParaRPr lang="zh-CN" altLang="en-US" dirty="0">
              <a:solidFill>
                <a:srgbClr val="002060"/>
              </a:solidFill>
              <a:ea typeface="宋体" panose="02010600030101010101" pitchFamily="2" charset="-122"/>
            </a:endParaRPr>
          </a:p>
        </p:txBody>
      </p:sp>
      <p:sp>
        <p:nvSpPr>
          <p:cNvPr id="15363" name="Rectangle 3"/>
          <p:cNvSpPr>
            <a:spLocks noGrp="1"/>
          </p:cNvSpPr>
          <p:nvPr>
            <p:ph type="body" idx="4294967295"/>
          </p:nvPr>
        </p:nvSpPr>
        <p:spPr>
          <a:xfrm>
            <a:off x="323850" y="1633538"/>
            <a:ext cx="8640763" cy="4941887"/>
          </a:xfrm>
        </p:spPr>
        <p:txBody>
          <a:bodyPr vert="horz" wrap="square" lIns="91440" tIns="45720" rIns="91440" bIns="45720" anchor="t" anchorCtr="0"/>
          <a:p>
            <a:pPr marL="0" indent="0" eaLnBrk="1" hangingPunct="1">
              <a:spcAft>
                <a:spcPct val="35000"/>
              </a:spcAft>
              <a:buNone/>
            </a:pPr>
            <a:r>
              <a:rPr lang="zh-CN" altLang="en-US" dirty="0">
                <a:ea typeface="宋体" panose="02010600030101010101" pitchFamily="2" charset="-122"/>
              </a:rPr>
              <a:t>   </a:t>
            </a:r>
            <a:r>
              <a:rPr lang="zh-CN" altLang="en-US" b="0" dirty="0">
                <a:ea typeface="宋体" panose="02010600030101010101" pitchFamily="2" charset="-122"/>
              </a:rPr>
              <a:t>判断下列指令的正确性：</a:t>
            </a:r>
            <a:endParaRPr lang="zh-CN" altLang="en-US" b="0" dirty="0">
              <a:ea typeface="宋体" panose="02010600030101010101" pitchFamily="2" charset="-122"/>
            </a:endParaRPr>
          </a:p>
          <a:p>
            <a:pPr lvl="1" eaLnBrk="1" hangingPunct="1">
              <a:lnSpc>
                <a:spcPct val="150000"/>
              </a:lnSpc>
              <a:buFont typeface="Wingdings" panose="05000000000000000000" pitchFamily="2" charset="2"/>
              <a:buChar char="l"/>
            </a:pPr>
            <a:r>
              <a:rPr lang="en-US" altLang="zh-CN" b="0" dirty="0">
                <a:latin typeface="宋体" panose="02010600030101010101" pitchFamily="2" charset="-122"/>
                <a:ea typeface="宋体" panose="02010600030101010101" pitchFamily="2" charset="-122"/>
              </a:rPr>
              <a:t>MOV  AL，BX</a:t>
            </a:r>
            <a:r>
              <a:rPr lang="zh-CN" altLang="en-US" b="0" dirty="0">
                <a:latin typeface="宋体" panose="02010600030101010101" pitchFamily="2" charset="-122"/>
                <a:ea typeface="宋体" panose="02010600030101010101" pitchFamily="2" charset="-122"/>
              </a:rPr>
              <a:t>；错误，操作数类型不同</a:t>
            </a:r>
            <a:endParaRPr lang="en-US" altLang="zh-CN" b="0" dirty="0">
              <a:latin typeface="宋体" panose="02010600030101010101" pitchFamily="2" charset="-122"/>
              <a:ea typeface="宋体" panose="02010600030101010101" pitchFamily="2" charset="-122"/>
            </a:endParaRPr>
          </a:p>
          <a:p>
            <a:pPr lvl="1" eaLnBrk="1" hangingPunct="1">
              <a:lnSpc>
                <a:spcPct val="150000"/>
              </a:lnSpc>
              <a:buFont typeface="Wingdings" panose="05000000000000000000" pitchFamily="2" charset="2"/>
              <a:buChar char="l"/>
            </a:pPr>
            <a:r>
              <a:rPr lang="en-US" altLang="zh-CN" b="0" dirty="0">
                <a:latin typeface="宋体" panose="02010600030101010101" pitchFamily="2" charset="-122"/>
                <a:ea typeface="宋体" panose="02010600030101010101" pitchFamily="2" charset="-122"/>
              </a:rPr>
              <a:t>MOV  AX，[SI]05H</a:t>
            </a:r>
            <a:r>
              <a:rPr lang="zh-CN" altLang="en-US" b="0" dirty="0">
                <a:latin typeface="宋体" panose="02010600030101010101" pitchFamily="2" charset="-122"/>
                <a:ea typeface="宋体" panose="02010600030101010101" pitchFamily="2" charset="-122"/>
              </a:rPr>
              <a:t>；正确</a:t>
            </a:r>
            <a:endParaRPr lang="en-US" altLang="zh-CN" b="0" dirty="0">
              <a:latin typeface="宋体" panose="02010600030101010101" pitchFamily="2" charset="-122"/>
              <a:ea typeface="宋体" panose="02010600030101010101" pitchFamily="2" charset="-122"/>
            </a:endParaRPr>
          </a:p>
          <a:p>
            <a:pPr lvl="1" eaLnBrk="1" hangingPunct="1">
              <a:lnSpc>
                <a:spcPct val="150000"/>
              </a:lnSpc>
              <a:buFont typeface="Wingdings" panose="05000000000000000000" pitchFamily="2" charset="2"/>
              <a:buChar char="l"/>
            </a:pPr>
            <a:r>
              <a:rPr lang="en-US" altLang="zh-CN" b="0" dirty="0">
                <a:latin typeface="宋体" panose="02010600030101010101" pitchFamily="2" charset="-122"/>
                <a:ea typeface="宋体" panose="02010600030101010101" pitchFamily="2" charset="-122"/>
              </a:rPr>
              <a:t>MOV  [BX][BP]，BX</a:t>
            </a:r>
            <a:r>
              <a:rPr lang="zh-CN" altLang="en-US" b="0" dirty="0">
                <a:latin typeface="宋体" panose="02010600030101010101" pitchFamily="2" charset="-122"/>
                <a:ea typeface="宋体" panose="02010600030101010101" pitchFamily="2" charset="-122"/>
              </a:rPr>
              <a:t>；错误，不能将两个基址寄存器组合一起寻址</a:t>
            </a:r>
            <a:endParaRPr lang="en-US" altLang="zh-CN" b="0" dirty="0">
              <a:latin typeface="宋体" panose="02010600030101010101" pitchFamily="2" charset="-122"/>
              <a:ea typeface="宋体" panose="02010600030101010101" pitchFamily="2" charset="-122"/>
            </a:endParaRPr>
          </a:p>
          <a:p>
            <a:pPr lvl="1" eaLnBrk="1" hangingPunct="1">
              <a:lnSpc>
                <a:spcPct val="150000"/>
              </a:lnSpc>
              <a:buFont typeface="Wingdings" panose="05000000000000000000" pitchFamily="2" charset="2"/>
              <a:buChar char="l"/>
            </a:pPr>
            <a:r>
              <a:rPr lang="en-US" altLang="zh-CN" b="0" dirty="0">
                <a:latin typeface="宋体" panose="02010600030101010101" pitchFamily="2" charset="-122"/>
                <a:ea typeface="宋体" panose="02010600030101010101" pitchFamily="2" charset="-122"/>
              </a:rPr>
              <a:t>MOV  DS，1000H</a:t>
            </a:r>
            <a:r>
              <a:rPr lang="zh-CN" altLang="en-US" b="0" dirty="0">
                <a:latin typeface="宋体" panose="02010600030101010101" pitchFamily="2" charset="-122"/>
                <a:ea typeface="宋体" panose="02010600030101010101" pitchFamily="2" charset="-122"/>
              </a:rPr>
              <a:t>；错误，立即数不能给段寄存器赋值</a:t>
            </a:r>
            <a:endParaRPr lang="en-US" altLang="zh-CN" b="0" dirty="0">
              <a:latin typeface="宋体" panose="02010600030101010101" pitchFamily="2" charset="-122"/>
              <a:ea typeface="宋体" panose="02010600030101010101" pitchFamily="2" charset="-122"/>
            </a:endParaRPr>
          </a:p>
          <a:p>
            <a:pPr lvl="1" eaLnBrk="1" hangingPunct="1">
              <a:lnSpc>
                <a:spcPct val="150000"/>
              </a:lnSpc>
              <a:buFont typeface="Wingdings" panose="05000000000000000000" pitchFamily="2" charset="2"/>
              <a:buChar char="l"/>
            </a:pPr>
            <a:r>
              <a:rPr lang="en-US" altLang="zh-CN" b="0" dirty="0">
                <a:latin typeface="宋体" panose="02010600030101010101" pitchFamily="2" charset="-122"/>
                <a:ea typeface="宋体" panose="02010600030101010101" pitchFamily="2" charset="-122"/>
              </a:rPr>
              <a:t>MOV  [1200]，[SI]</a:t>
            </a:r>
            <a:r>
              <a:rPr lang="zh-CN" altLang="en-US" b="0" dirty="0">
                <a:latin typeface="宋体" panose="02010600030101010101" pitchFamily="2" charset="-122"/>
                <a:ea typeface="宋体" panose="02010600030101010101" pitchFamily="2" charset="-122"/>
              </a:rPr>
              <a:t>；错误，不能用</a:t>
            </a:r>
            <a:r>
              <a:rPr lang="en-US" altLang="zh-CN" b="0" dirty="0">
                <a:latin typeface="宋体" panose="02010600030101010101" pitchFamily="2" charset="-122"/>
                <a:ea typeface="宋体" panose="02010600030101010101" pitchFamily="2" charset="-122"/>
              </a:rPr>
              <a:t>1</a:t>
            </a:r>
            <a:r>
              <a:rPr lang="zh-CN" altLang="en-US" b="0" dirty="0">
                <a:latin typeface="宋体" panose="02010600030101010101" pitchFamily="2" charset="-122"/>
                <a:ea typeface="宋体" panose="02010600030101010101" pitchFamily="2" charset="-122"/>
              </a:rPr>
              <a:t>条指令完成两个存储单元之间的数据传送</a:t>
            </a:r>
            <a:endParaRPr lang="en-US" altLang="zh-CN" b="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363">
                                            <p:txEl>
                                              <p:charRg st="0" end="15"/>
                                            </p:txEl>
                                          </p:spTgt>
                                        </p:tgtEl>
                                        <p:attrNameLst>
                                          <p:attrName>style.visibility</p:attrName>
                                        </p:attrNameLst>
                                      </p:cBhvr>
                                      <p:to>
                                        <p:strVal val="visible"/>
                                      </p:to>
                                    </p:set>
                                    <p:animEffect transition="in" filter="wipe(left)">
                                      <p:cBhvr>
                                        <p:cTn id="7" dur="500"/>
                                        <p:tgtEl>
                                          <p:spTgt spid="15363">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363">
                                            <p:txEl>
                                              <p:charRg st="15" end="37"/>
                                            </p:txEl>
                                          </p:spTgt>
                                        </p:tgtEl>
                                        <p:attrNameLst>
                                          <p:attrName>style.visibility</p:attrName>
                                        </p:attrNameLst>
                                      </p:cBhvr>
                                      <p:to>
                                        <p:strVal val="visible"/>
                                      </p:to>
                                    </p:set>
                                    <p:animEffect transition="in" filter="wipe(left)">
                                      <p:cBhvr>
                                        <p:cTn id="12" dur="500"/>
                                        <p:tgtEl>
                                          <p:spTgt spid="15363">
                                            <p:txEl>
                                              <p:charRg st="15" end="3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363">
                                            <p:txEl>
                                              <p:charRg st="37" end="56"/>
                                            </p:txEl>
                                          </p:spTgt>
                                        </p:tgtEl>
                                        <p:attrNameLst>
                                          <p:attrName>style.visibility</p:attrName>
                                        </p:attrNameLst>
                                      </p:cBhvr>
                                      <p:to>
                                        <p:strVal val="visible"/>
                                      </p:to>
                                    </p:set>
                                    <p:animEffect transition="in" filter="wipe(left)">
                                      <p:cBhvr>
                                        <p:cTn id="17" dur="500"/>
                                        <p:tgtEl>
                                          <p:spTgt spid="15363">
                                            <p:txEl>
                                              <p:charRg st="37" end="5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363">
                                            <p:txEl>
                                              <p:charRg st="56" end="93"/>
                                            </p:txEl>
                                          </p:spTgt>
                                        </p:tgtEl>
                                        <p:attrNameLst>
                                          <p:attrName>style.visibility</p:attrName>
                                        </p:attrNameLst>
                                      </p:cBhvr>
                                      <p:to>
                                        <p:strVal val="visible"/>
                                      </p:to>
                                    </p:set>
                                    <p:animEffect transition="in" filter="wipe(left)">
                                      <p:cBhvr>
                                        <p:cTn id="22" dur="500"/>
                                        <p:tgtEl>
                                          <p:spTgt spid="15363">
                                            <p:txEl>
                                              <p:charRg st="56" end="9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363">
                                            <p:txEl>
                                              <p:charRg st="93" end="123"/>
                                            </p:txEl>
                                          </p:spTgt>
                                        </p:tgtEl>
                                        <p:attrNameLst>
                                          <p:attrName>style.visibility</p:attrName>
                                        </p:attrNameLst>
                                      </p:cBhvr>
                                      <p:to>
                                        <p:strVal val="visible"/>
                                      </p:to>
                                    </p:set>
                                    <p:animEffect transition="in" filter="wipe(left)">
                                      <p:cBhvr>
                                        <p:cTn id="27" dur="500"/>
                                        <p:tgtEl>
                                          <p:spTgt spid="15363">
                                            <p:txEl>
                                              <p:charRg st="93" end="12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363">
                                            <p:txEl>
                                              <p:charRg st="123" end="166"/>
                                            </p:txEl>
                                          </p:spTgt>
                                        </p:tgtEl>
                                        <p:attrNameLst>
                                          <p:attrName>style.visibility</p:attrName>
                                        </p:attrNameLst>
                                      </p:cBhvr>
                                      <p:to>
                                        <p:strVal val="visible"/>
                                      </p:to>
                                    </p:set>
                                    <p:animEffect transition="in" filter="wipe(left)">
                                      <p:cBhvr>
                                        <p:cTn id="32" dur="500"/>
                                        <p:tgtEl>
                                          <p:spTgt spid="15363">
                                            <p:txEl>
                                              <p:charRg st="123" end="16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idx="4294967295"/>
          </p:nvPr>
        </p:nvSpPr>
        <p:spPr>
          <a:xfrm>
            <a:off x="682625" y="1103313"/>
            <a:ext cx="6553200" cy="565150"/>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02060"/>
                </a:solidFill>
                <a:latin typeface="宋体" panose="02010600030101010101" pitchFamily="2" charset="-122"/>
                <a:ea typeface="宋体" panose="02010600030101010101" pitchFamily="2" charset="-122"/>
              </a:rPr>
              <a:t>例</a:t>
            </a:r>
            <a:r>
              <a:rPr lang="en-US" altLang="zh-CN" dirty="0">
                <a:solidFill>
                  <a:srgbClr val="002060"/>
                </a:solidFill>
                <a:latin typeface="宋体" panose="02010600030101010101" pitchFamily="2" charset="-122"/>
                <a:ea typeface="宋体" panose="02010600030101010101" pitchFamily="2" charset="-122"/>
              </a:rPr>
              <a:t>2</a:t>
            </a:r>
            <a:r>
              <a:rPr lang="zh-CN" altLang="en-US" dirty="0">
                <a:ea typeface="宋体" panose="02010600030101010101" pitchFamily="2" charset="-122"/>
              </a:rPr>
              <a:t>例</a:t>
            </a:r>
            <a:endParaRPr lang="zh-CN" altLang="en-US" dirty="0">
              <a:ea typeface="宋体" panose="02010600030101010101" pitchFamily="2" charset="-122"/>
            </a:endParaRPr>
          </a:p>
        </p:txBody>
      </p:sp>
      <p:sp>
        <p:nvSpPr>
          <p:cNvPr id="16387" name="Rectangle 3"/>
          <p:cNvSpPr>
            <a:spLocks noGrp="1"/>
          </p:cNvSpPr>
          <p:nvPr>
            <p:ph type="body" idx="4294967295"/>
          </p:nvPr>
        </p:nvSpPr>
        <p:spPr>
          <a:xfrm>
            <a:off x="682625" y="1844675"/>
            <a:ext cx="8351838" cy="4840288"/>
          </a:xfrm>
        </p:spPr>
        <p:txBody>
          <a:bodyPr vert="horz" wrap="square" lIns="91440" tIns="45720" rIns="91440" bIns="45720" anchor="t" anchorCtr="0"/>
          <a:p>
            <a:pPr marL="0" indent="0" eaLnBrk="1" hangingPunct="1">
              <a:lnSpc>
                <a:spcPct val="105000"/>
              </a:lnSpc>
              <a:spcBef>
                <a:spcPct val="15000"/>
              </a:spcBef>
              <a:buNone/>
            </a:pPr>
            <a:r>
              <a:rPr lang="zh-CN" altLang="en-US" dirty="0">
                <a:latin typeface="宋体" panose="02010600030101010101" pitchFamily="2" charset="-122"/>
                <a:ea typeface="宋体" panose="02010600030101010101" pitchFamily="2" charset="-122"/>
              </a:rPr>
              <a:t>   将立即数2</a:t>
            </a:r>
            <a:r>
              <a:rPr lang="en-US" altLang="zh-CN" dirty="0">
                <a:latin typeface="宋体" panose="02010600030101010101" pitchFamily="2" charset="-122"/>
                <a:ea typeface="宋体" panose="02010600030101010101" pitchFamily="2" charset="-122"/>
              </a:rPr>
              <a:t>AH</a:t>
            </a:r>
            <a:r>
              <a:rPr lang="zh-CN" altLang="en-US" dirty="0">
                <a:latin typeface="宋体" panose="02010600030101010101" pitchFamily="2" charset="-122"/>
                <a:ea typeface="宋体" panose="02010600030101010101" pitchFamily="2" charset="-122"/>
              </a:rPr>
              <a:t>送入内存数据段</a:t>
            </a:r>
            <a:r>
              <a:rPr lang="en-US" altLang="zh-CN" dirty="0">
                <a:latin typeface="宋体" panose="02010600030101010101" pitchFamily="2" charset="-122"/>
                <a:ea typeface="宋体" panose="02010600030101010101" pitchFamily="2" charset="-122"/>
              </a:rPr>
              <a:t>1000H</a:t>
            </a:r>
            <a:r>
              <a:rPr lang="zh-CN" altLang="en-US" dirty="0">
                <a:latin typeface="宋体" panose="02010600030101010101" pitchFamily="2" charset="-122"/>
                <a:ea typeface="宋体" panose="02010600030101010101" pitchFamily="2" charset="-122"/>
              </a:rPr>
              <a:t>开始的100个单元中。</a:t>
            </a:r>
            <a:endParaRPr lang="zh-CN" altLang="en-US" dirty="0">
              <a:latin typeface="宋体" panose="02010600030101010101" pitchFamily="2" charset="-122"/>
              <a:ea typeface="宋体" panose="02010600030101010101" pitchFamily="2" charset="-122"/>
            </a:endParaRPr>
          </a:p>
          <a:p>
            <a:pPr marL="0" indent="0" eaLnBrk="1" hangingPunct="1">
              <a:lnSpc>
                <a:spcPct val="105000"/>
              </a:lnSpc>
              <a:spcBef>
                <a:spcPct val="15000"/>
              </a:spcBef>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题目分析：</a:t>
            </a:r>
            <a:endParaRPr lang="zh-CN" altLang="en-US" dirty="0">
              <a:latin typeface="宋体" panose="02010600030101010101" pitchFamily="2" charset="-122"/>
              <a:ea typeface="宋体" panose="02010600030101010101" pitchFamily="2" charset="-122"/>
            </a:endParaRPr>
          </a:p>
          <a:p>
            <a:pPr lvl="1" eaLnBrk="1" hangingPunct="1">
              <a:lnSpc>
                <a:spcPct val="105000"/>
              </a:lnSpc>
              <a:spcBef>
                <a:spcPct val="15000"/>
              </a:spcBef>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确定首地址</a:t>
            </a:r>
            <a:endParaRPr lang="zh-CN" altLang="en-US" dirty="0">
              <a:latin typeface="宋体" panose="02010600030101010101" pitchFamily="2" charset="-122"/>
              <a:ea typeface="宋体" panose="02010600030101010101" pitchFamily="2" charset="-122"/>
            </a:endParaRPr>
          </a:p>
          <a:p>
            <a:pPr lvl="1" eaLnBrk="1" hangingPunct="1">
              <a:lnSpc>
                <a:spcPct val="105000"/>
              </a:lnSpc>
              <a:spcBef>
                <a:spcPct val="15000"/>
              </a:spcBef>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确定数据长度</a:t>
            </a:r>
            <a:endParaRPr lang="zh-CN" altLang="en-US" dirty="0">
              <a:latin typeface="宋体" panose="02010600030101010101" pitchFamily="2" charset="-122"/>
              <a:ea typeface="宋体" panose="02010600030101010101" pitchFamily="2" charset="-122"/>
            </a:endParaRPr>
          </a:p>
          <a:p>
            <a:pPr lvl="1" eaLnBrk="1" hangingPunct="1">
              <a:lnSpc>
                <a:spcPct val="105000"/>
              </a:lnSpc>
              <a:spcBef>
                <a:spcPct val="15000"/>
              </a:spcBef>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写一次数据</a:t>
            </a:r>
            <a:endParaRPr lang="zh-CN" altLang="en-US" dirty="0">
              <a:latin typeface="宋体" panose="02010600030101010101" pitchFamily="2" charset="-122"/>
              <a:ea typeface="宋体" panose="02010600030101010101" pitchFamily="2" charset="-122"/>
            </a:endParaRPr>
          </a:p>
          <a:p>
            <a:pPr lvl="1" eaLnBrk="1" hangingPunct="1">
              <a:lnSpc>
                <a:spcPct val="105000"/>
              </a:lnSpc>
              <a:spcBef>
                <a:spcPct val="15000"/>
              </a:spcBef>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修改单元地址</a:t>
            </a:r>
            <a:endParaRPr lang="zh-CN" altLang="en-US" dirty="0">
              <a:latin typeface="宋体" panose="02010600030101010101" pitchFamily="2" charset="-122"/>
              <a:ea typeface="宋体" panose="02010600030101010101" pitchFamily="2" charset="-122"/>
            </a:endParaRPr>
          </a:p>
          <a:p>
            <a:pPr lvl="1" eaLnBrk="1" hangingPunct="1">
              <a:lnSpc>
                <a:spcPct val="105000"/>
              </a:lnSpc>
              <a:spcBef>
                <a:spcPct val="15000"/>
              </a:spcBef>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修改长度值</a:t>
            </a:r>
            <a:endParaRPr lang="zh-CN" altLang="en-US" dirty="0">
              <a:latin typeface="宋体" panose="02010600030101010101" pitchFamily="2" charset="-122"/>
              <a:ea typeface="宋体" panose="02010600030101010101" pitchFamily="2" charset="-122"/>
            </a:endParaRPr>
          </a:p>
          <a:p>
            <a:pPr lvl="1" eaLnBrk="1" hangingPunct="1">
              <a:lnSpc>
                <a:spcPct val="105000"/>
              </a:lnSpc>
              <a:spcBef>
                <a:spcPct val="15000"/>
              </a:spcBef>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判断写完否？</a:t>
            </a:r>
            <a:endParaRPr lang="zh-CN" altLang="en-US" dirty="0">
              <a:latin typeface="宋体" panose="02010600030101010101" pitchFamily="2" charset="-122"/>
              <a:ea typeface="宋体" panose="02010600030101010101" pitchFamily="2" charset="-122"/>
            </a:endParaRPr>
          </a:p>
          <a:p>
            <a:pPr lvl="1" eaLnBrk="1" hangingPunct="1">
              <a:lnSpc>
                <a:spcPct val="105000"/>
              </a:lnSpc>
              <a:spcBef>
                <a:spcPct val="15000"/>
              </a:spcBef>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未完继续写入，否则结束</a:t>
            </a:r>
            <a:endParaRPr lang="zh-CN" altLang="en-US" dirty="0">
              <a:latin typeface="宋体" panose="02010600030101010101" pitchFamily="2" charset="-122"/>
              <a:ea typeface="宋体" panose="02010600030101010101" pitchFamily="2" charset="-122"/>
            </a:endParaRPr>
          </a:p>
        </p:txBody>
      </p:sp>
      <p:sp>
        <p:nvSpPr>
          <p:cNvPr id="16388" name="Text Box 12"/>
          <p:cNvSpPr txBox="1"/>
          <p:nvPr/>
        </p:nvSpPr>
        <p:spPr>
          <a:xfrm>
            <a:off x="4537075" y="5484813"/>
            <a:ext cx="1042988" cy="396875"/>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1063H</a:t>
            </a:r>
            <a:endParaRPr lang="en-US" altLang="zh-CN" sz="2000" b="1" dirty="0">
              <a:latin typeface="Times New Roman" panose="02020603050405020304" pitchFamily="18" charset="0"/>
              <a:ea typeface="宋体" panose="02010600030101010101" pitchFamily="2" charset="-122"/>
            </a:endParaRPr>
          </a:p>
        </p:txBody>
      </p:sp>
      <p:sp>
        <p:nvSpPr>
          <p:cNvPr id="16389" name="Line 13"/>
          <p:cNvSpPr/>
          <p:nvPr/>
        </p:nvSpPr>
        <p:spPr>
          <a:xfrm>
            <a:off x="5541963" y="5699125"/>
            <a:ext cx="576262" cy="0"/>
          </a:xfrm>
          <a:prstGeom prst="line">
            <a:avLst/>
          </a:prstGeom>
          <a:ln w="22225" cap="flat" cmpd="sng">
            <a:solidFill>
              <a:srgbClr val="FF6600"/>
            </a:solidFill>
            <a:prstDash val="solid"/>
            <a:headEnd type="none" w="med" len="med"/>
            <a:tailEnd type="triangle" w="lg" len="lg"/>
          </a:ln>
        </p:spPr>
      </p:sp>
      <p:sp>
        <p:nvSpPr>
          <p:cNvPr id="16390" name="Text Box 14"/>
          <p:cNvSpPr txBox="1"/>
          <p:nvPr/>
        </p:nvSpPr>
        <p:spPr>
          <a:xfrm>
            <a:off x="8128000" y="4514850"/>
            <a:ext cx="75565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100B</a:t>
            </a:r>
            <a:endParaRPr lang="en-US" altLang="zh-CN" sz="2000" b="1" dirty="0">
              <a:latin typeface="Times New Roman" panose="02020603050405020304" pitchFamily="18" charset="0"/>
              <a:ea typeface="宋体" panose="02010600030101010101" pitchFamily="2" charset="-122"/>
            </a:endParaRPr>
          </a:p>
        </p:txBody>
      </p:sp>
      <p:sp>
        <p:nvSpPr>
          <p:cNvPr id="16391" name="AutoShape 15"/>
          <p:cNvSpPr/>
          <p:nvPr/>
        </p:nvSpPr>
        <p:spPr>
          <a:xfrm>
            <a:off x="7777163" y="3997325"/>
            <a:ext cx="304800" cy="1670050"/>
          </a:xfrm>
          <a:prstGeom prst="rightBrace">
            <a:avLst>
              <a:gd name="adj1" fmla="val 45304"/>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6392" name="Text Box 16"/>
          <p:cNvSpPr txBox="1"/>
          <p:nvPr/>
        </p:nvSpPr>
        <p:spPr>
          <a:xfrm>
            <a:off x="4527550" y="3854450"/>
            <a:ext cx="1052513" cy="396875"/>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1000H</a:t>
            </a:r>
            <a:endParaRPr lang="en-US" altLang="zh-CN" sz="2000" b="1" dirty="0">
              <a:latin typeface="Times New Roman" panose="02020603050405020304" pitchFamily="18" charset="0"/>
              <a:ea typeface="宋体" panose="02010600030101010101" pitchFamily="2" charset="-122"/>
            </a:endParaRPr>
          </a:p>
        </p:txBody>
      </p:sp>
      <p:sp>
        <p:nvSpPr>
          <p:cNvPr id="16393" name="Line 17"/>
          <p:cNvSpPr/>
          <p:nvPr/>
        </p:nvSpPr>
        <p:spPr>
          <a:xfrm>
            <a:off x="5541963" y="4089400"/>
            <a:ext cx="576262" cy="0"/>
          </a:xfrm>
          <a:prstGeom prst="line">
            <a:avLst/>
          </a:prstGeom>
          <a:ln w="22225" cap="flat" cmpd="sng">
            <a:solidFill>
              <a:srgbClr val="FF6600"/>
            </a:solidFill>
            <a:prstDash val="solid"/>
            <a:headEnd type="none" w="med" len="med"/>
            <a:tailEnd type="triangle" w="lg" len="lg"/>
          </a:ln>
        </p:spPr>
      </p:sp>
      <p:grpSp>
        <p:nvGrpSpPr>
          <p:cNvPr id="2" name="Group 22"/>
          <p:cNvGrpSpPr/>
          <p:nvPr/>
        </p:nvGrpSpPr>
        <p:grpSpPr>
          <a:xfrm>
            <a:off x="6132513" y="3217863"/>
            <a:ext cx="1501775" cy="3451225"/>
            <a:chOff x="0" y="0"/>
            <a:chExt cx="946" cy="2174"/>
          </a:xfrm>
        </p:grpSpPr>
        <p:sp>
          <p:nvSpPr>
            <p:cNvPr id="15377" name="Rectangle 4"/>
            <p:cNvSpPr/>
            <p:nvPr/>
          </p:nvSpPr>
          <p:spPr>
            <a:xfrm>
              <a:off x="20" y="638"/>
              <a:ext cx="919" cy="24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378" name="Rectangle 5"/>
            <p:cNvSpPr/>
            <p:nvPr/>
          </p:nvSpPr>
          <p:spPr>
            <a:xfrm>
              <a:off x="20" y="867"/>
              <a:ext cx="919" cy="24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379" name="Rectangle 6"/>
            <p:cNvSpPr/>
            <p:nvPr/>
          </p:nvSpPr>
          <p:spPr>
            <a:xfrm>
              <a:off x="20" y="1435"/>
              <a:ext cx="919" cy="240"/>
            </a:xfrm>
            <a:prstGeom prst="rect">
              <a:avLst/>
            </a:prstGeom>
            <a:solidFill>
              <a:srgbClr val="99CCFF"/>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380" name="Line 7"/>
            <p:cNvSpPr/>
            <p:nvPr/>
          </p:nvSpPr>
          <p:spPr>
            <a:xfrm>
              <a:off x="20" y="5"/>
              <a:ext cx="0" cy="2123"/>
            </a:xfrm>
            <a:prstGeom prst="line">
              <a:avLst/>
            </a:prstGeom>
            <a:ln w="12700" cap="sq" cmpd="sng">
              <a:solidFill>
                <a:schemeClr val="tx1"/>
              </a:solidFill>
              <a:prstDash val="solid"/>
              <a:headEnd type="none" w="med" len="med"/>
              <a:tailEnd type="none" w="med" len="med"/>
            </a:ln>
          </p:spPr>
        </p:sp>
        <p:sp>
          <p:nvSpPr>
            <p:cNvPr id="15381" name="Line 8"/>
            <p:cNvSpPr/>
            <p:nvPr/>
          </p:nvSpPr>
          <p:spPr>
            <a:xfrm>
              <a:off x="940" y="0"/>
              <a:ext cx="0" cy="2091"/>
            </a:xfrm>
            <a:prstGeom prst="line">
              <a:avLst/>
            </a:prstGeom>
            <a:ln w="12700" cap="sq" cmpd="sng">
              <a:solidFill>
                <a:schemeClr val="tx1"/>
              </a:solidFill>
              <a:prstDash val="solid"/>
              <a:headEnd type="none" w="med" len="med"/>
              <a:tailEnd type="none" w="med" len="med"/>
            </a:ln>
          </p:spPr>
        </p:sp>
        <p:sp>
          <p:nvSpPr>
            <p:cNvPr id="15382" name="Freeform 9"/>
            <p:cNvSpPr/>
            <p:nvPr/>
          </p:nvSpPr>
          <p:spPr>
            <a:xfrm>
              <a:off x="0" y="1894"/>
              <a:ext cx="946" cy="280"/>
            </a:xfrm>
            <a:custGeom>
              <a:avLst/>
              <a:gdLst>
                <a:gd name="txL" fmla="*/ 0 w 1091"/>
                <a:gd name="txT" fmla="*/ 0 h 280"/>
                <a:gd name="txR" fmla="*/ 1091 w 1091"/>
                <a:gd name="txB" fmla="*/ 280 h 280"/>
              </a:gdLst>
              <a:ahLst/>
              <a:cxnLst>
                <a:cxn ang="0">
                  <a:pos x="9" y="222"/>
                </a:cxn>
                <a:cxn ang="0">
                  <a:pos x="36" y="185"/>
                </a:cxn>
                <a:cxn ang="0">
                  <a:pos x="77" y="148"/>
                </a:cxn>
                <a:cxn ang="0">
                  <a:pos x="154" y="83"/>
                </a:cxn>
                <a:cxn ang="0">
                  <a:pos x="251" y="0"/>
                </a:cxn>
                <a:cxn ang="0">
                  <a:pos x="328" y="9"/>
                </a:cxn>
                <a:cxn ang="0">
                  <a:pos x="369" y="65"/>
                </a:cxn>
                <a:cxn ang="0">
                  <a:pos x="439" y="120"/>
                </a:cxn>
                <a:cxn ang="0">
                  <a:pos x="647" y="259"/>
                </a:cxn>
                <a:cxn ang="0">
                  <a:pos x="772" y="259"/>
                </a:cxn>
                <a:cxn ang="0">
                  <a:pos x="786" y="240"/>
                </a:cxn>
                <a:cxn ang="0">
                  <a:pos x="806" y="222"/>
                </a:cxn>
                <a:cxn ang="0">
                  <a:pos x="820" y="203"/>
                </a:cxn>
              </a:cxnLst>
              <a:rect l="txL" t="txT" r="txR" b="txB"/>
              <a:pathLst>
                <a:path w="1091" h="280">
                  <a:moveTo>
                    <a:pt x="11" y="222"/>
                  </a:moveTo>
                  <a:cubicBezTo>
                    <a:pt x="85" y="198"/>
                    <a:pt x="0" y="234"/>
                    <a:pt x="48" y="185"/>
                  </a:cubicBezTo>
                  <a:cubicBezTo>
                    <a:pt x="64" y="169"/>
                    <a:pt x="87" y="164"/>
                    <a:pt x="103" y="148"/>
                  </a:cubicBezTo>
                  <a:cubicBezTo>
                    <a:pt x="133" y="118"/>
                    <a:pt x="166" y="97"/>
                    <a:pt x="205" y="83"/>
                  </a:cubicBezTo>
                  <a:cubicBezTo>
                    <a:pt x="245" y="43"/>
                    <a:pt x="281" y="17"/>
                    <a:pt x="334" y="0"/>
                  </a:cubicBezTo>
                  <a:cubicBezTo>
                    <a:pt x="368" y="3"/>
                    <a:pt x="403" y="1"/>
                    <a:pt x="436" y="9"/>
                  </a:cubicBezTo>
                  <a:cubicBezTo>
                    <a:pt x="452" y="13"/>
                    <a:pt x="477" y="54"/>
                    <a:pt x="491" y="65"/>
                  </a:cubicBezTo>
                  <a:cubicBezTo>
                    <a:pt x="535" y="99"/>
                    <a:pt x="540" y="99"/>
                    <a:pt x="583" y="120"/>
                  </a:cubicBezTo>
                  <a:cubicBezTo>
                    <a:pt x="660" y="197"/>
                    <a:pt x="753" y="242"/>
                    <a:pt x="860" y="259"/>
                  </a:cubicBezTo>
                  <a:cubicBezTo>
                    <a:pt x="925" y="280"/>
                    <a:pt x="912" y="279"/>
                    <a:pt x="1026" y="259"/>
                  </a:cubicBezTo>
                  <a:cubicBezTo>
                    <a:pt x="1035" y="257"/>
                    <a:pt x="1038" y="246"/>
                    <a:pt x="1045" y="240"/>
                  </a:cubicBezTo>
                  <a:cubicBezTo>
                    <a:pt x="1054" y="233"/>
                    <a:pt x="1064" y="229"/>
                    <a:pt x="1073" y="222"/>
                  </a:cubicBezTo>
                  <a:cubicBezTo>
                    <a:pt x="1080" y="217"/>
                    <a:pt x="1091" y="203"/>
                    <a:pt x="1091" y="203"/>
                  </a:cubicBezTo>
                </a:path>
              </a:pathLst>
            </a:custGeom>
            <a:noFill/>
            <a:ln w="12700" cap="sq" cmpd="sng">
              <a:solidFill>
                <a:schemeClr val="tx1">
                  <a:alpha val="100000"/>
                </a:schemeClr>
              </a:solidFill>
              <a:prstDash val="solid"/>
              <a:miter lim="800000"/>
              <a:headEnd type="none" w="med" len="med"/>
              <a:tailEnd type="none" w="med" len="med"/>
            </a:ln>
          </p:spPr>
          <p:txBody>
            <a:bodyPr/>
            <a:p>
              <a:endParaRPr lang="zh-CN" altLang="en-US"/>
            </a:p>
          </p:txBody>
        </p:sp>
        <p:sp>
          <p:nvSpPr>
            <p:cNvPr id="15383" name="Text Box 10"/>
            <p:cNvSpPr txBox="1"/>
            <p:nvPr/>
          </p:nvSpPr>
          <p:spPr>
            <a:xfrm>
              <a:off x="308" y="77"/>
              <a:ext cx="384" cy="288"/>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latin typeface="宋体" panose="02010600030101010101" pitchFamily="2" charset="-122"/>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p:txBody>
        </p:sp>
        <p:sp>
          <p:nvSpPr>
            <p:cNvPr id="15384" name="Rectangle 11"/>
            <p:cNvSpPr/>
            <p:nvPr/>
          </p:nvSpPr>
          <p:spPr>
            <a:xfrm>
              <a:off x="20" y="405"/>
              <a:ext cx="919" cy="24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385" name="Text Box 20"/>
            <p:cNvSpPr txBox="1"/>
            <p:nvPr/>
          </p:nvSpPr>
          <p:spPr>
            <a:xfrm>
              <a:off x="310" y="1126"/>
              <a:ext cx="384" cy="288"/>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latin typeface="宋体" panose="02010600030101010101" pitchFamily="2" charset="-122"/>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p:txBody>
        </p:sp>
      </p:grpSp>
      <p:sp>
        <p:nvSpPr>
          <p:cNvPr id="3" name="Text Box 19"/>
          <p:cNvSpPr txBox="1"/>
          <p:nvPr/>
        </p:nvSpPr>
        <p:spPr>
          <a:xfrm>
            <a:off x="6551613" y="3854450"/>
            <a:ext cx="936625" cy="366713"/>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2AH</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4" name="AutoShape 23"/>
          <p:cNvSpPr/>
          <p:nvPr/>
        </p:nvSpPr>
        <p:spPr>
          <a:xfrm>
            <a:off x="7777163" y="3494088"/>
            <a:ext cx="304800" cy="2736850"/>
          </a:xfrm>
          <a:prstGeom prst="rightBrace">
            <a:avLst>
              <a:gd name="adj1" fmla="val 74244"/>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5" name="Text Box 24"/>
          <p:cNvSpPr txBox="1"/>
          <p:nvPr/>
        </p:nvSpPr>
        <p:spPr>
          <a:xfrm>
            <a:off x="8062913" y="4930775"/>
            <a:ext cx="97155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数据段</a:t>
            </a:r>
            <a:endParaRPr lang="zh-CN" altLang="en-US" sz="2000" b="1" dirty="0">
              <a:latin typeface="Times New Roman" panose="02020603050405020304" pitchFamily="18" charset="0"/>
              <a:ea typeface="宋体" panose="02010600030101010101" pitchFamily="2" charset="-122"/>
            </a:endParaRPr>
          </a:p>
        </p:txBody>
      </p:sp>
      <p:sp>
        <p:nvSpPr>
          <p:cNvPr id="6" name="Text Box 25"/>
          <p:cNvSpPr txBox="1"/>
          <p:nvPr/>
        </p:nvSpPr>
        <p:spPr>
          <a:xfrm>
            <a:off x="6553200" y="4214813"/>
            <a:ext cx="936625" cy="366712"/>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2AH</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7" name="Text Box 26"/>
          <p:cNvSpPr txBox="1"/>
          <p:nvPr/>
        </p:nvSpPr>
        <p:spPr>
          <a:xfrm>
            <a:off x="6553200" y="4598988"/>
            <a:ext cx="936625" cy="366712"/>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2AH</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8" name="Text Box 27"/>
          <p:cNvSpPr txBox="1"/>
          <p:nvPr/>
        </p:nvSpPr>
        <p:spPr>
          <a:xfrm>
            <a:off x="6553200" y="5510213"/>
            <a:ext cx="936625" cy="366712"/>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2AH</a:t>
            </a:r>
            <a:endParaRPr lang="en-US" altLang="zh-CN" sz="2400" b="1" dirty="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6387">
                                            <p:txEl>
                                              <p:charRg st="0" end="34"/>
                                            </p:txEl>
                                          </p:spTgt>
                                        </p:tgtEl>
                                        <p:attrNameLst>
                                          <p:attrName>style.visibility</p:attrName>
                                        </p:attrNameLst>
                                      </p:cBhvr>
                                      <p:to>
                                        <p:strVal val="visible"/>
                                      </p:to>
                                    </p:set>
                                    <p:anim calcmode="lin" valueType="num">
                                      <p:cBhvr>
                                        <p:cTn id="7" dur="1000" fill="hold"/>
                                        <p:tgtEl>
                                          <p:spTgt spid="16387">
                                            <p:txEl>
                                              <p:charRg st="0" end="34"/>
                                            </p:txEl>
                                          </p:spTgt>
                                        </p:tgtEl>
                                        <p:attrNameLst>
                                          <p:attrName>ppt_w</p:attrName>
                                        </p:attrNameLst>
                                      </p:cBhvr>
                                      <p:tavLst>
                                        <p:tav tm="0">
                                          <p:val>
                                            <p:strVal val="#ppt_w*0.70"/>
                                          </p:val>
                                        </p:tav>
                                        <p:tav tm="100000">
                                          <p:val>
                                            <p:strVal val="#ppt_w"/>
                                          </p:val>
                                        </p:tav>
                                      </p:tavLst>
                                    </p:anim>
                                    <p:anim calcmode="lin" valueType="num">
                                      <p:cBhvr>
                                        <p:cTn id="8" dur="1000" fill="hold"/>
                                        <p:tgtEl>
                                          <p:spTgt spid="16387">
                                            <p:txEl>
                                              <p:charRg st="0" end="34"/>
                                            </p:txEl>
                                          </p:spTgt>
                                        </p:tgtEl>
                                        <p:attrNameLst>
                                          <p:attrName>ppt_h</p:attrName>
                                        </p:attrNameLst>
                                      </p:cBhvr>
                                      <p:tavLst>
                                        <p:tav tm="0">
                                          <p:val>
                                            <p:strVal val="#ppt_h"/>
                                          </p:val>
                                        </p:tav>
                                        <p:tav tm="100000">
                                          <p:val>
                                            <p:strVal val="#ppt_h"/>
                                          </p:val>
                                        </p:tav>
                                      </p:tavLst>
                                    </p:anim>
                                    <p:animEffect transition="in" filter="fade">
                                      <p:cBhvr>
                                        <p:cTn id="9" dur="1000"/>
                                        <p:tgtEl>
                                          <p:spTgt spid="16387">
                                            <p:txEl>
                                              <p:charRg st="0" end="34"/>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16387">
                                            <p:txEl>
                                              <p:charRg st="34" end="40"/>
                                            </p:txEl>
                                          </p:spTgt>
                                        </p:tgtEl>
                                        <p:attrNameLst>
                                          <p:attrName>style.visibility</p:attrName>
                                        </p:attrNameLst>
                                      </p:cBhvr>
                                      <p:to>
                                        <p:strVal val="visible"/>
                                      </p:to>
                                    </p:set>
                                    <p:animEffect transition="in" filter="wipe(left)">
                                      <p:cBhvr>
                                        <p:cTn id="14" dur="500"/>
                                        <p:tgtEl>
                                          <p:spTgt spid="16387">
                                            <p:txEl>
                                              <p:charRg st="34" end="4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ppt_x</p:attrName>
                                        </p:attrNameLst>
                                      </p:cBhvr>
                                      <p:tavLst>
                                        <p:tav tm="0">
                                          <p:val>
                                            <p:strVal val="#ppt_x"/>
                                          </p:val>
                                        </p:tav>
                                        <p:tav tm="100000">
                                          <p:val>
                                            <p:strVal val="#ppt_x"/>
                                          </p:val>
                                        </p:tav>
                                      </p:tavLst>
                                    </p:anim>
                                    <p:anim calcmode="lin" valueType="num">
                                      <p:cBhvr>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8" presetClass="entr" presetSubtype="12"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strips(downLeft)">
                                      <p:cBhvr>
                                        <p:cTn id="25" dur="500"/>
                                        <p:tgtEl>
                                          <p:spTgt spid="4"/>
                                        </p:tgtEl>
                                      </p:cBhvr>
                                    </p:animEffect>
                                  </p:childTnLst>
                                </p:cTn>
                              </p:par>
                            </p:childTnLst>
                          </p:cTn>
                        </p:par>
                        <p:par>
                          <p:cTn id="26" fill="hold">
                            <p:stCondLst>
                              <p:cond delay="500"/>
                            </p:stCondLst>
                            <p:childTnLst>
                              <p:par>
                                <p:cTn id="27" presetID="3" presetClass="entr" presetSubtype="10"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blinds(horizontal)">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6392"/>
                                        </p:tgtEl>
                                        <p:attrNameLst>
                                          <p:attrName>style.visibility</p:attrName>
                                        </p:attrNameLst>
                                      </p:cBhvr>
                                      <p:to>
                                        <p:strVal val="visible"/>
                                      </p:to>
                                    </p:set>
                                    <p:animEffect transition="in" filter="wipe(left)">
                                      <p:cBhvr>
                                        <p:cTn id="34" dur="500"/>
                                        <p:tgtEl>
                                          <p:spTgt spid="16392"/>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16393"/>
                                        </p:tgtEl>
                                        <p:attrNameLst>
                                          <p:attrName>style.visibility</p:attrName>
                                        </p:attrNameLst>
                                      </p:cBhvr>
                                      <p:to>
                                        <p:strVal val="visible"/>
                                      </p:to>
                                    </p:set>
                                    <p:animEffect transition="in" filter="wipe(left)">
                                      <p:cBhvr>
                                        <p:cTn id="38" dur="500"/>
                                        <p:tgtEl>
                                          <p:spTgt spid="16393"/>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xit" presetSubtype="10" fill="hold" grpId="1" nodeType="clickEffect">
                                  <p:stCondLst>
                                    <p:cond delay="0"/>
                                  </p:stCondLst>
                                  <p:childTnLst>
                                    <p:animEffect transition="out" filter="blinds(horizontal)">
                                      <p:cBhvr>
                                        <p:cTn id="42" dur="500"/>
                                        <p:tgtEl>
                                          <p:spTgt spid="4"/>
                                        </p:tgtEl>
                                      </p:cBhvr>
                                    </p:animEffect>
                                    <p:set>
                                      <p:cBhvr>
                                        <p:cTn id="43" dur="1" fill="hold">
                                          <p:stCondLst>
                                            <p:cond delay="499"/>
                                          </p:stCondLst>
                                        </p:cTn>
                                        <p:tgtEl>
                                          <p:spTgt spid="4"/>
                                        </p:tgtEl>
                                        <p:attrNameLst>
                                          <p:attrName>style.visibility</p:attrName>
                                        </p:attrNameLst>
                                      </p:cBhvr>
                                      <p:to>
                                        <p:strVal val="hidden"/>
                                      </p:to>
                                    </p:set>
                                  </p:childTnLst>
                                </p:cTn>
                              </p:par>
                              <p:par>
                                <p:cTn id="44" presetID="3" presetClass="exit" presetSubtype="10" fill="hold" grpId="1" nodeType="withEffect">
                                  <p:stCondLst>
                                    <p:cond delay="0"/>
                                  </p:stCondLst>
                                  <p:childTnLst>
                                    <p:animEffect transition="out" filter="blinds(horizontal)">
                                      <p:cBhvr>
                                        <p:cTn id="45" dur="500"/>
                                        <p:tgtEl>
                                          <p:spTgt spid="5"/>
                                        </p:tgtEl>
                                      </p:cBhvr>
                                    </p:animEffect>
                                    <p:set>
                                      <p:cBhvr>
                                        <p:cTn id="46" dur="1" fill="hold">
                                          <p:stCondLst>
                                            <p:cond delay="499"/>
                                          </p:stCondLst>
                                        </p:cTn>
                                        <p:tgtEl>
                                          <p:spTgt spid="5"/>
                                        </p:tgtEl>
                                        <p:attrNameLst>
                                          <p:attrName>style.visibility</p:attrName>
                                        </p:attrNameLst>
                                      </p:cBhvr>
                                      <p:to>
                                        <p:strVal val="hidden"/>
                                      </p:to>
                                    </p:set>
                                  </p:childTnLst>
                                </p:cTn>
                              </p:par>
                            </p:childTnLst>
                          </p:cTn>
                        </p:par>
                        <p:par>
                          <p:cTn id="47" fill="hold">
                            <p:stCondLst>
                              <p:cond delay="500"/>
                            </p:stCondLst>
                            <p:childTnLst>
                              <p:par>
                                <p:cTn id="48" presetID="18" presetClass="entr" presetSubtype="12" fill="hold" grpId="0" nodeType="afterEffect">
                                  <p:stCondLst>
                                    <p:cond delay="0"/>
                                  </p:stCondLst>
                                  <p:childTnLst>
                                    <p:set>
                                      <p:cBhvr>
                                        <p:cTn id="49" dur="1" fill="hold">
                                          <p:stCondLst>
                                            <p:cond delay="0"/>
                                          </p:stCondLst>
                                        </p:cTn>
                                        <p:tgtEl>
                                          <p:spTgt spid="16391"/>
                                        </p:tgtEl>
                                        <p:attrNameLst>
                                          <p:attrName>style.visibility</p:attrName>
                                        </p:attrNameLst>
                                      </p:cBhvr>
                                      <p:to>
                                        <p:strVal val="visible"/>
                                      </p:to>
                                    </p:set>
                                    <p:animEffect transition="in" filter="strips(downLeft)">
                                      <p:cBhvr>
                                        <p:cTn id="50" dur="500"/>
                                        <p:tgtEl>
                                          <p:spTgt spid="16391"/>
                                        </p:tgtEl>
                                      </p:cBhvr>
                                    </p:animEffect>
                                  </p:childTnLst>
                                </p:cTn>
                              </p:par>
                            </p:childTnLst>
                          </p:cTn>
                        </p:par>
                        <p:par>
                          <p:cTn id="51" fill="hold">
                            <p:stCondLst>
                              <p:cond delay="1000"/>
                            </p:stCondLst>
                            <p:childTnLst>
                              <p:par>
                                <p:cTn id="52" presetID="3" presetClass="entr" presetSubtype="10" fill="hold" grpId="0" nodeType="afterEffect">
                                  <p:stCondLst>
                                    <p:cond delay="0"/>
                                  </p:stCondLst>
                                  <p:childTnLst>
                                    <p:set>
                                      <p:cBhvr>
                                        <p:cTn id="53" dur="1" fill="hold">
                                          <p:stCondLst>
                                            <p:cond delay="0"/>
                                          </p:stCondLst>
                                        </p:cTn>
                                        <p:tgtEl>
                                          <p:spTgt spid="16390"/>
                                        </p:tgtEl>
                                        <p:attrNameLst>
                                          <p:attrName>style.visibility</p:attrName>
                                        </p:attrNameLst>
                                      </p:cBhvr>
                                      <p:to>
                                        <p:strVal val="visible"/>
                                      </p:to>
                                    </p:set>
                                    <p:animEffect transition="in" filter="blinds(horizontal)">
                                      <p:cBhvr>
                                        <p:cTn id="54" dur="500"/>
                                        <p:tgtEl>
                                          <p:spTgt spid="1639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6388"/>
                                        </p:tgtEl>
                                        <p:attrNameLst>
                                          <p:attrName>style.visibility</p:attrName>
                                        </p:attrNameLst>
                                      </p:cBhvr>
                                      <p:to>
                                        <p:strVal val="visible"/>
                                      </p:to>
                                    </p:set>
                                    <p:animEffect transition="in" filter="wipe(left)">
                                      <p:cBhvr>
                                        <p:cTn id="59" dur="500"/>
                                        <p:tgtEl>
                                          <p:spTgt spid="16388"/>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16389"/>
                                        </p:tgtEl>
                                        <p:attrNameLst>
                                          <p:attrName>style.visibility</p:attrName>
                                        </p:attrNameLst>
                                      </p:cBhvr>
                                      <p:to>
                                        <p:strVal val="visible"/>
                                      </p:to>
                                    </p:set>
                                    <p:animEffect transition="in" filter="wipe(left)">
                                      <p:cBhvr>
                                        <p:cTn id="63" dur="500"/>
                                        <p:tgtEl>
                                          <p:spTgt spid="16389"/>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1" fill="hold" grpId="0" nodeType="clickEffect">
                                  <p:stCondLst>
                                    <p:cond delay="0"/>
                                  </p:stCondLst>
                                  <p:childTnLst>
                                    <p:set>
                                      <p:cBhvr>
                                        <p:cTn id="67" dur="1" fill="hold">
                                          <p:stCondLst>
                                            <p:cond delay="0"/>
                                          </p:stCondLst>
                                        </p:cTn>
                                        <p:tgtEl>
                                          <p:spTgt spid="3"/>
                                        </p:tgtEl>
                                        <p:attrNameLst>
                                          <p:attrName>style.visibility</p:attrName>
                                        </p:attrNameLst>
                                      </p:cBhvr>
                                      <p:to>
                                        <p:strVal val="visible"/>
                                      </p:to>
                                    </p:set>
                                    <p:anim calcmode="lin" valueType="num">
                                      <p:cBhvr>
                                        <p:cTn id="68" dur="500" fill="hold"/>
                                        <p:tgtEl>
                                          <p:spTgt spid="3"/>
                                        </p:tgtEl>
                                        <p:attrNameLst>
                                          <p:attrName>ppt_x</p:attrName>
                                        </p:attrNameLst>
                                      </p:cBhvr>
                                      <p:tavLst>
                                        <p:tav tm="0">
                                          <p:val>
                                            <p:strVal val="#ppt_x"/>
                                          </p:val>
                                        </p:tav>
                                        <p:tav tm="100000">
                                          <p:val>
                                            <p:strVal val="#ppt_x"/>
                                          </p:val>
                                        </p:tav>
                                      </p:tavLst>
                                    </p:anim>
                                    <p:anim calcmode="lin" valueType="num">
                                      <p:cBhvr>
                                        <p:cTn id="69" dur="500" fill="hold"/>
                                        <p:tgtEl>
                                          <p:spTgt spid="3"/>
                                        </p:tgtEl>
                                        <p:attrNameLst>
                                          <p:attrName>ppt_y</p:attrName>
                                        </p:attrNameLst>
                                      </p:cBhvr>
                                      <p:tavLst>
                                        <p:tav tm="0">
                                          <p:val>
                                            <p:strVal val="0-#ppt_h/2"/>
                                          </p:val>
                                        </p:tav>
                                        <p:tav tm="100000">
                                          <p:val>
                                            <p:strVal val="#ppt_y"/>
                                          </p:val>
                                        </p:tav>
                                      </p:tavLst>
                                    </p:anim>
                                  </p:childTnLst>
                                </p:cTn>
                              </p:par>
                            </p:childTnLst>
                          </p:cTn>
                        </p:par>
                        <p:par>
                          <p:cTn id="70" fill="hold">
                            <p:stCondLst>
                              <p:cond delay="500"/>
                            </p:stCondLst>
                            <p:childTnLst>
                              <p:par>
                                <p:cTn id="71" presetID="2" presetClass="entr" presetSubtype="1" fill="hold" grpId="0" nodeType="afterEffect">
                                  <p:stCondLst>
                                    <p:cond delay="500"/>
                                  </p:stCondLst>
                                  <p:childTnLst>
                                    <p:set>
                                      <p:cBhvr>
                                        <p:cTn id="72" dur="1" fill="hold">
                                          <p:stCondLst>
                                            <p:cond delay="0"/>
                                          </p:stCondLst>
                                        </p:cTn>
                                        <p:tgtEl>
                                          <p:spTgt spid="6"/>
                                        </p:tgtEl>
                                        <p:attrNameLst>
                                          <p:attrName>style.visibility</p:attrName>
                                        </p:attrNameLst>
                                      </p:cBhvr>
                                      <p:to>
                                        <p:strVal val="visible"/>
                                      </p:to>
                                    </p:set>
                                    <p:anim calcmode="lin" valueType="num">
                                      <p:cBhvr>
                                        <p:cTn id="73" dur="500" fill="hold"/>
                                        <p:tgtEl>
                                          <p:spTgt spid="6"/>
                                        </p:tgtEl>
                                        <p:attrNameLst>
                                          <p:attrName>ppt_x</p:attrName>
                                        </p:attrNameLst>
                                      </p:cBhvr>
                                      <p:tavLst>
                                        <p:tav tm="0">
                                          <p:val>
                                            <p:strVal val="#ppt_x"/>
                                          </p:val>
                                        </p:tav>
                                        <p:tav tm="100000">
                                          <p:val>
                                            <p:strVal val="#ppt_x"/>
                                          </p:val>
                                        </p:tav>
                                      </p:tavLst>
                                    </p:anim>
                                    <p:anim calcmode="lin" valueType="num">
                                      <p:cBhvr>
                                        <p:cTn id="74" dur="500" fill="hold"/>
                                        <p:tgtEl>
                                          <p:spTgt spid="6"/>
                                        </p:tgtEl>
                                        <p:attrNameLst>
                                          <p:attrName>ppt_y</p:attrName>
                                        </p:attrNameLst>
                                      </p:cBhvr>
                                      <p:tavLst>
                                        <p:tav tm="0">
                                          <p:val>
                                            <p:strVal val="0-#ppt_h/2"/>
                                          </p:val>
                                        </p:tav>
                                        <p:tav tm="100000">
                                          <p:val>
                                            <p:strVal val="#ppt_y"/>
                                          </p:val>
                                        </p:tav>
                                      </p:tavLst>
                                    </p:anim>
                                  </p:childTnLst>
                                </p:cTn>
                              </p:par>
                            </p:childTnLst>
                          </p:cTn>
                        </p:par>
                        <p:par>
                          <p:cTn id="75" fill="hold">
                            <p:stCondLst>
                              <p:cond delay="1500"/>
                            </p:stCondLst>
                            <p:childTnLst>
                              <p:par>
                                <p:cTn id="76" presetID="2" presetClass="entr" presetSubtype="1" fill="hold" grpId="0" nodeType="afterEffect">
                                  <p:stCondLst>
                                    <p:cond delay="500"/>
                                  </p:stCondLst>
                                  <p:childTnLst>
                                    <p:set>
                                      <p:cBhvr>
                                        <p:cTn id="77" dur="1" fill="hold">
                                          <p:stCondLst>
                                            <p:cond delay="0"/>
                                          </p:stCondLst>
                                        </p:cTn>
                                        <p:tgtEl>
                                          <p:spTgt spid="7"/>
                                        </p:tgtEl>
                                        <p:attrNameLst>
                                          <p:attrName>style.visibility</p:attrName>
                                        </p:attrNameLst>
                                      </p:cBhvr>
                                      <p:to>
                                        <p:strVal val="visible"/>
                                      </p:to>
                                    </p:set>
                                    <p:anim calcmode="lin" valueType="num">
                                      <p:cBhvr>
                                        <p:cTn id="78" dur="500" fill="hold"/>
                                        <p:tgtEl>
                                          <p:spTgt spid="7"/>
                                        </p:tgtEl>
                                        <p:attrNameLst>
                                          <p:attrName>ppt_x</p:attrName>
                                        </p:attrNameLst>
                                      </p:cBhvr>
                                      <p:tavLst>
                                        <p:tav tm="0">
                                          <p:val>
                                            <p:strVal val="#ppt_x"/>
                                          </p:val>
                                        </p:tav>
                                        <p:tav tm="100000">
                                          <p:val>
                                            <p:strVal val="#ppt_x"/>
                                          </p:val>
                                        </p:tav>
                                      </p:tavLst>
                                    </p:anim>
                                    <p:anim calcmode="lin" valueType="num">
                                      <p:cBhvr>
                                        <p:cTn id="79" dur="500" fill="hold"/>
                                        <p:tgtEl>
                                          <p:spTgt spid="7"/>
                                        </p:tgtEl>
                                        <p:attrNameLst>
                                          <p:attrName>ppt_y</p:attrName>
                                        </p:attrNameLst>
                                      </p:cBhvr>
                                      <p:tavLst>
                                        <p:tav tm="0">
                                          <p:val>
                                            <p:strVal val="0-#ppt_h/2"/>
                                          </p:val>
                                        </p:tav>
                                        <p:tav tm="100000">
                                          <p:val>
                                            <p:strVal val="#ppt_y"/>
                                          </p:val>
                                        </p:tav>
                                      </p:tavLst>
                                    </p:anim>
                                  </p:childTnLst>
                                </p:cTn>
                              </p:par>
                            </p:childTnLst>
                          </p:cTn>
                        </p:par>
                        <p:par>
                          <p:cTn id="80" fill="hold">
                            <p:stCondLst>
                              <p:cond delay="2500"/>
                            </p:stCondLst>
                            <p:childTnLst>
                              <p:par>
                                <p:cTn id="81" presetID="2" presetClass="entr" presetSubtype="1" fill="hold" grpId="0" nodeType="afterEffect">
                                  <p:stCondLst>
                                    <p:cond delay="500"/>
                                  </p:stCondLst>
                                  <p:childTnLst>
                                    <p:set>
                                      <p:cBhvr>
                                        <p:cTn id="82" dur="1" fill="hold">
                                          <p:stCondLst>
                                            <p:cond delay="0"/>
                                          </p:stCondLst>
                                        </p:cTn>
                                        <p:tgtEl>
                                          <p:spTgt spid="8"/>
                                        </p:tgtEl>
                                        <p:attrNameLst>
                                          <p:attrName>style.visibility</p:attrName>
                                        </p:attrNameLst>
                                      </p:cBhvr>
                                      <p:to>
                                        <p:strVal val="visible"/>
                                      </p:to>
                                    </p:set>
                                    <p:anim calcmode="lin" valueType="num">
                                      <p:cBhvr>
                                        <p:cTn id="83" dur="500" fill="hold"/>
                                        <p:tgtEl>
                                          <p:spTgt spid="8"/>
                                        </p:tgtEl>
                                        <p:attrNameLst>
                                          <p:attrName>ppt_x</p:attrName>
                                        </p:attrNameLst>
                                      </p:cBhvr>
                                      <p:tavLst>
                                        <p:tav tm="0">
                                          <p:val>
                                            <p:strVal val="#ppt_x"/>
                                          </p:val>
                                        </p:tav>
                                        <p:tav tm="100000">
                                          <p:val>
                                            <p:strVal val="#ppt_x"/>
                                          </p:val>
                                        </p:tav>
                                      </p:tavLst>
                                    </p:anim>
                                    <p:anim calcmode="lin" valueType="num">
                                      <p:cBhvr>
                                        <p:cTn id="84"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16387">
                                            <p:txEl>
                                              <p:charRg st="40" end="46"/>
                                            </p:txEl>
                                          </p:spTgt>
                                        </p:tgtEl>
                                        <p:attrNameLst>
                                          <p:attrName>style.visibility</p:attrName>
                                        </p:attrNameLst>
                                      </p:cBhvr>
                                      <p:to>
                                        <p:strVal val="visible"/>
                                      </p:to>
                                    </p:set>
                                    <p:animEffect transition="in" filter="wipe(left)">
                                      <p:cBhvr>
                                        <p:cTn id="89" dur="500"/>
                                        <p:tgtEl>
                                          <p:spTgt spid="16387">
                                            <p:txEl>
                                              <p:charRg st="40" end="46"/>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16387">
                                            <p:txEl>
                                              <p:charRg st="46" end="53"/>
                                            </p:txEl>
                                          </p:spTgt>
                                        </p:tgtEl>
                                        <p:attrNameLst>
                                          <p:attrName>style.visibility</p:attrName>
                                        </p:attrNameLst>
                                      </p:cBhvr>
                                      <p:to>
                                        <p:strVal val="visible"/>
                                      </p:to>
                                    </p:set>
                                    <p:animEffect transition="in" filter="wipe(left)">
                                      <p:cBhvr>
                                        <p:cTn id="94" dur="500"/>
                                        <p:tgtEl>
                                          <p:spTgt spid="16387">
                                            <p:txEl>
                                              <p:charRg st="46" end="53"/>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16387">
                                            <p:txEl>
                                              <p:charRg st="53" end="59"/>
                                            </p:txEl>
                                          </p:spTgt>
                                        </p:tgtEl>
                                        <p:attrNameLst>
                                          <p:attrName>style.visibility</p:attrName>
                                        </p:attrNameLst>
                                      </p:cBhvr>
                                      <p:to>
                                        <p:strVal val="visible"/>
                                      </p:to>
                                    </p:set>
                                    <p:animEffect transition="in" filter="wipe(left)">
                                      <p:cBhvr>
                                        <p:cTn id="99" dur="500"/>
                                        <p:tgtEl>
                                          <p:spTgt spid="16387">
                                            <p:txEl>
                                              <p:charRg st="53" end="59"/>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16387">
                                            <p:txEl>
                                              <p:charRg st="59" end="66"/>
                                            </p:txEl>
                                          </p:spTgt>
                                        </p:tgtEl>
                                        <p:attrNameLst>
                                          <p:attrName>style.visibility</p:attrName>
                                        </p:attrNameLst>
                                      </p:cBhvr>
                                      <p:to>
                                        <p:strVal val="visible"/>
                                      </p:to>
                                    </p:set>
                                    <p:animEffect transition="in" filter="wipe(left)">
                                      <p:cBhvr>
                                        <p:cTn id="104" dur="500"/>
                                        <p:tgtEl>
                                          <p:spTgt spid="16387">
                                            <p:txEl>
                                              <p:charRg st="59" end="66"/>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16387">
                                            <p:txEl>
                                              <p:charRg st="66" end="72"/>
                                            </p:txEl>
                                          </p:spTgt>
                                        </p:tgtEl>
                                        <p:attrNameLst>
                                          <p:attrName>style.visibility</p:attrName>
                                        </p:attrNameLst>
                                      </p:cBhvr>
                                      <p:to>
                                        <p:strVal val="visible"/>
                                      </p:to>
                                    </p:set>
                                    <p:animEffect transition="in" filter="wipe(left)">
                                      <p:cBhvr>
                                        <p:cTn id="109" dur="500"/>
                                        <p:tgtEl>
                                          <p:spTgt spid="16387">
                                            <p:txEl>
                                              <p:charRg st="66" end="72"/>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16387">
                                            <p:txEl>
                                              <p:charRg st="72" end="79"/>
                                            </p:txEl>
                                          </p:spTgt>
                                        </p:tgtEl>
                                        <p:attrNameLst>
                                          <p:attrName>style.visibility</p:attrName>
                                        </p:attrNameLst>
                                      </p:cBhvr>
                                      <p:to>
                                        <p:strVal val="visible"/>
                                      </p:to>
                                    </p:set>
                                    <p:animEffect transition="in" filter="wipe(left)">
                                      <p:cBhvr>
                                        <p:cTn id="114" dur="500"/>
                                        <p:tgtEl>
                                          <p:spTgt spid="16387">
                                            <p:txEl>
                                              <p:charRg st="72" end="79"/>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16387">
                                            <p:txEl>
                                              <p:charRg st="79" end="91"/>
                                            </p:txEl>
                                          </p:spTgt>
                                        </p:tgtEl>
                                        <p:attrNameLst>
                                          <p:attrName>style.visibility</p:attrName>
                                        </p:attrNameLst>
                                      </p:cBhvr>
                                      <p:to>
                                        <p:strVal val="visible"/>
                                      </p:to>
                                    </p:set>
                                    <p:animEffect transition="in" filter="wipe(left)">
                                      <p:cBhvr>
                                        <p:cTn id="119" dur="500"/>
                                        <p:tgtEl>
                                          <p:spTgt spid="16387">
                                            <p:txEl>
                                              <p:charRg st="79" end="9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p:bldP spid="16390" grpId="0"/>
      <p:bldP spid="16391" grpId="0" animBg="1"/>
      <p:bldP spid="16392" grpId="0"/>
      <p:bldP spid="3" grpId="0"/>
      <p:bldP spid="4" grpId="0" animBg="1"/>
      <p:bldP spid="4" grpId="1" animBg="1"/>
      <p:bldP spid="5" grpId="0"/>
      <p:bldP spid="5" grpId="1"/>
      <p:bldP spid="6"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3"/>
          <p:cNvSpPr>
            <a:spLocks noGrp="1"/>
          </p:cNvSpPr>
          <p:nvPr>
            <p:ph type="body" idx="4294967295"/>
          </p:nvPr>
        </p:nvSpPr>
        <p:spPr>
          <a:xfrm>
            <a:off x="1150938" y="1341438"/>
            <a:ext cx="6840537" cy="4764087"/>
          </a:xfrm>
        </p:spPr>
        <p:txBody>
          <a:bodyPr vert="horz" wrap="square" lIns="91440" tIns="45720" rIns="91440" bIns="45720" anchor="t" anchorCtr="0"/>
          <a:p>
            <a:pPr eaLnBrk="1" hangingPunct="1">
              <a:lnSpc>
                <a:spcPct val="105000"/>
              </a:lnSpc>
              <a:spcBef>
                <a:spcPct val="0"/>
              </a:spcBef>
              <a:spcAft>
                <a:spcPct val="20000"/>
              </a:spcAft>
              <a:buNone/>
            </a:pPr>
            <a:r>
              <a:rPr lang="zh-CN" altLang="en-US" sz="3200" dirty="0">
                <a:latin typeface="宋体" panose="02010600030101010101" pitchFamily="2" charset="-122"/>
                <a:ea typeface="宋体" panose="02010600030101010101" pitchFamily="2" charset="-122"/>
              </a:rPr>
              <a:t>程序段：</a:t>
            </a:r>
            <a:endParaRPr lang="zh-CN" altLang="en-US" sz="3200" dirty="0">
              <a:latin typeface="宋体" panose="02010600030101010101" pitchFamily="2" charset="-122"/>
              <a:ea typeface="宋体" panose="02010600030101010101" pitchFamily="2" charset="-122"/>
            </a:endParaRPr>
          </a:p>
          <a:p>
            <a:pPr eaLnBrk="1" hangingPunct="1">
              <a:buNone/>
            </a:pPr>
            <a:r>
              <a:rPr lang="zh-CN" altLang="en-US" dirty="0">
                <a:latin typeface="Times New Roman" panose="02020603050405020304" pitchFamily="18" charset="0"/>
                <a:ea typeface="宋体" panose="02010600030101010101" pitchFamily="2" charset="-122"/>
              </a:rPr>
              <a:t>            </a:t>
            </a:r>
            <a:r>
              <a:rPr lang="en-US" altLang="zh-CN" sz="2400" dirty="0">
                <a:latin typeface="宋体" panose="02010600030101010101" pitchFamily="2" charset="-122"/>
                <a:ea typeface="宋体" panose="02010600030101010101" pitchFamily="2" charset="-122"/>
              </a:rPr>
              <a:t>MOV  DI，1000H</a:t>
            </a:r>
            <a:endParaRPr lang="en-US" altLang="zh-CN" sz="2400" dirty="0">
              <a:latin typeface="宋体" panose="02010600030101010101" pitchFamily="2" charset="-122"/>
              <a:ea typeface="宋体" panose="02010600030101010101" pitchFamily="2" charset="-122"/>
            </a:endParaRPr>
          </a:p>
          <a:p>
            <a:pPr eaLnBrk="1" hangingPunct="1">
              <a:spcBef>
                <a:spcPct val="0"/>
              </a:spcBef>
              <a:buNone/>
            </a:pPr>
            <a:r>
              <a:rPr lang="en-US" altLang="zh-CN" sz="2400" dirty="0">
                <a:latin typeface="宋体" panose="02010600030101010101" pitchFamily="2" charset="-122"/>
                <a:ea typeface="宋体" panose="02010600030101010101" pitchFamily="2" charset="-122"/>
              </a:rPr>
              <a:t>       MOV  CX，64H</a:t>
            </a:r>
            <a:endParaRPr lang="en-US" altLang="zh-CN" sz="2400" dirty="0">
              <a:latin typeface="宋体" panose="02010600030101010101" pitchFamily="2" charset="-122"/>
              <a:ea typeface="宋体" panose="02010600030101010101" pitchFamily="2" charset="-122"/>
            </a:endParaRPr>
          </a:p>
          <a:p>
            <a:pPr eaLnBrk="1" hangingPunct="1">
              <a:spcBef>
                <a:spcPct val="0"/>
              </a:spcBef>
              <a:buNone/>
            </a:pPr>
            <a:r>
              <a:rPr lang="en-US" altLang="zh-CN" sz="2400" dirty="0">
                <a:latin typeface="宋体" panose="02010600030101010101" pitchFamily="2" charset="-122"/>
                <a:ea typeface="宋体" panose="02010600030101010101" pitchFamily="2" charset="-122"/>
              </a:rPr>
              <a:t>       MOV  AL，2AH</a:t>
            </a:r>
            <a:endParaRPr lang="en-US" altLang="zh-CN" sz="2400" dirty="0">
              <a:latin typeface="宋体" panose="02010600030101010101" pitchFamily="2" charset="-122"/>
              <a:ea typeface="宋体" panose="02010600030101010101" pitchFamily="2" charset="-122"/>
            </a:endParaRPr>
          </a:p>
          <a:p>
            <a:pPr eaLnBrk="1" hangingPunct="1">
              <a:spcBef>
                <a:spcPct val="0"/>
              </a:spcBef>
              <a:buNone/>
            </a:pPr>
            <a:r>
              <a:rPr lang="en-US" altLang="zh-CN" sz="2400" dirty="0">
                <a:latin typeface="宋体" panose="02010600030101010101" pitchFamily="2" charset="-122"/>
                <a:ea typeface="宋体" panose="02010600030101010101" pitchFamily="2" charset="-122"/>
              </a:rPr>
              <a:t>AGAIN：MOV  [DI]，AL</a:t>
            </a:r>
            <a:endParaRPr lang="en-US" altLang="zh-CN" sz="2400" dirty="0">
              <a:latin typeface="宋体" panose="02010600030101010101" pitchFamily="2" charset="-122"/>
              <a:ea typeface="宋体" panose="02010600030101010101" pitchFamily="2" charset="-122"/>
            </a:endParaRPr>
          </a:p>
          <a:p>
            <a:pPr eaLnBrk="1" hangingPunct="1">
              <a:spcBef>
                <a:spcPct val="0"/>
              </a:spcBef>
              <a:buNone/>
            </a:pPr>
            <a:r>
              <a:rPr lang="en-US" altLang="zh-CN" sz="2400" dirty="0">
                <a:latin typeface="宋体" panose="02010600030101010101" pitchFamily="2" charset="-122"/>
                <a:ea typeface="宋体" panose="02010600030101010101" pitchFamily="2" charset="-122"/>
              </a:rPr>
              <a:t>       INC  DI              </a:t>
            </a:r>
            <a:r>
              <a:rPr lang="en-US" altLang="zh-CN" sz="2400" dirty="0">
                <a:solidFill>
                  <a:srgbClr val="FF0000"/>
                </a:solidFill>
                <a:latin typeface="宋体" panose="02010600030101010101" pitchFamily="2" charset="-122"/>
                <a:ea typeface="宋体" panose="02010600030101010101" pitchFamily="2" charset="-122"/>
              </a:rPr>
              <a:t>；DI+1</a:t>
            </a:r>
            <a:endParaRPr lang="en-US" altLang="zh-CN" sz="2400" dirty="0">
              <a:solidFill>
                <a:srgbClr val="FF0000"/>
              </a:solidFill>
              <a:latin typeface="Times New Roman" panose="02020603050405020304" pitchFamily="18" charset="0"/>
              <a:ea typeface="宋体" panose="02010600030101010101" pitchFamily="2" charset="-122"/>
            </a:endParaRPr>
          </a:p>
          <a:p>
            <a:pPr eaLnBrk="1" hangingPunct="1">
              <a:spcBef>
                <a:spcPct val="0"/>
              </a:spcBef>
              <a:buNone/>
            </a:pPr>
            <a:r>
              <a:rPr lang="en-US" altLang="zh-CN" sz="2400" dirty="0">
                <a:latin typeface="Times New Roman" panose="02020603050405020304" pitchFamily="18" charset="0"/>
                <a:ea typeface="宋体" panose="02010600030101010101" pitchFamily="2" charset="-122"/>
              </a:rPr>
              <a:t>              </a:t>
            </a:r>
            <a:r>
              <a:rPr lang="en-US" altLang="zh-CN" sz="2400" dirty="0">
                <a:latin typeface="宋体" panose="02010600030101010101" pitchFamily="2" charset="-122"/>
                <a:ea typeface="宋体" panose="02010600030101010101" pitchFamily="2" charset="-122"/>
              </a:rPr>
              <a:t>DEC  CX              </a:t>
            </a:r>
            <a:r>
              <a:rPr lang="en-US" altLang="zh-CN" sz="2400" dirty="0">
                <a:solidFill>
                  <a:srgbClr val="FF0000"/>
                </a:solidFill>
                <a:latin typeface="宋体" panose="02010600030101010101" pitchFamily="2" charset="-122"/>
                <a:ea typeface="宋体" panose="02010600030101010101" pitchFamily="2" charset="-122"/>
              </a:rPr>
              <a:t>；CX-1</a:t>
            </a:r>
            <a:endParaRPr lang="en-US" altLang="zh-CN" sz="2400" dirty="0">
              <a:solidFill>
                <a:srgbClr val="FF0000"/>
              </a:solidFill>
              <a:latin typeface="宋体" panose="02010600030101010101" pitchFamily="2" charset="-122"/>
              <a:ea typeface="宋体" panose="02010600030101010101" pitchFamily="2" charset="-122"/>
            </a:endParaRPr>
          </a:p>
          <a:p>
            <a:pPr eaLnBrk="1" hangingPunct="1">
              <a:spcBef>
                <a:spcPct val="0"/>
              </a:spcBef>
              <a:buNone/>
            </a:pPr>
            <a:r>
              <a:rPr lang="en-US" altLang="zh-CN" sz="2400" dirty="0">
                <a:latin typeface="宋体" panose="02010600030101010101" pitchFamily="2" charset="-122"/>
                <a:ea typeface="宋体" panose="02010600030101010101" pitchFamily="2" charset="-122"/>
              </a:rPr>
              <a:t>       JNZ  AGAIN           </a:t>
            </a:r>
            <a:r>
              <a:rPr lang="en-US" altLang="zh-CN" sz="2400" dirty="0">
                <a:solidFill>
                  <a:srgbClr val="FF0000"/>
                </a:solidFill>
                <a:latin typeface="宋体" panose="02010600030101010101" pitchFamily="2" charset="-122"/>
                <a:ea typeface="宋体" panose="02010600030101010101" pitchFamily="2" charset="-122"/>
              </a:rPr>
              <a:t>；CX≠0</a:t>
            </a:r>
            <a:r>
              <a:rPr lang="zh-CN" altLang="en-US" sz="2400" dirty="0">
                <a:solidFill>
                  <a:srgbClr val="FF0000"/>
                </a:solidFill>
                <a:latin typeface="宋体" panose="02010600030101010101" pitchFamily="2" charset="-122"/>
                <a:ea typeface="宋体" panose="02010600030101010101" pitchFamily="2" charset="-122"/>
              </a:rPr>
              <a:t>则继续</a:t>
            </a:r>
            <a:endParaRPr lang="zh-CN" altLang="en-US" sz="2400" dirty="0">
              <a:solidFill>
                <a:srgbClr val="FF0000"/>
              </a:solidFill>
              <a:latin typeface="宋体" panose="02010600030101010101" pitchFamily="2" charset="-122"/>
              <a:ea typeface="宋体" panose="02010600030101010101" pitchFamily="2" charset="-122"/>
            </a:endParaRPr>
          </a:p>
          <a:p>
            <a:pPr eaLnBrk="1" hangingPunct="1">
              <a:spcBef>
                <a:spcPct val="0"/>
              </a:spcBef>
              <a:buNone/>
            </a:pPr>
            <a:r>
              <a:rPr lang="en-US" altLang="zh-CN" sz="2400" dirty="0">
                <a:latin typeface="宋体" panose="02010600030101010101" pitchFamily="2" charset="-122"/>
                <a:ea typeface="宋体" panose="02010600030101010101" pitchFamily="2" charset="-122"/>
              </a:rPr>
              <a:t>       INT  20H;</a:t>
            </a:r>
            <a:r>
              <a:rPr lang="zh-CN" altLang="en-US" sz="2400" dirty="0">
                <a:latin typeface="宋体" panose="02010600030101010101" pitchFamily="2" charset="-122"/>
                <a:ea typeface="宋体" panose="02010600030101010101" pitchFamily="2" charset="-122"/>
              </a:rPr>
              <a:t>结束程序</a:t>
            </a:r>
            <a:r>
              <a:rPr lang="en-US" altLang="zh-CN" sz="2400" dirty="0">
                <a:latin typeface="宋体" panose="02010600030101010101" pitchFamily="2" charset="-122"/>
                <a:ea typeface="宋体" panose="02010600030101010101" pitchFamily="2" charset="-122"/>
              </a:rPr>
              <a:t>            </a:t>
            </a:r>
            <a:endParaRPr lang="zh-CN" altLang="en-US" sz="2400"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410">
                                            <p:txEl>
                                              <p:charRg st="0" end="5"/>
                                            </p:txEl>
                                          </p:spTgt>
                                        </p:tgtEl>
                                        <p:attrNameLst>
                                          <p:attrName>style.visibility</p:attrName>
                                        </p:attrNameLst>
                                      </p:cBhvr>
                                      <p:to>
                                        <p:strVal val="visible"/>
                                      </p:to>
                                    </p:set>
                                    <p:animEffect transition="in" filter="wipe(left)">
                                      <p:cBhvr>
                                        <p:cTn id="7" dur="500"/>
                                        <p:tgtEl>
                                          <p:spTgt spid="17410">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410">
                                            <p:txEl>
                                              <p:charRg st="5" end="31"/>
                                            </p:txEl>
                                          </p:spTgt>
                                        </p:tgtEl>
                                        <p:attrNameLst>
                                          <p:attrName>style.visibility</p:attrName>
                                        </p:attrNameLst>
                                      </p:cBhvr>
                                      <p:to>
                                        <p:strVal val="visible"/>
                                      </p:to>
                                    </p:set>
                                    <p:animEffect transition="in" filter="wipe(left)">
                                      <p:cBhvr>
                                        <p:cTn id="12" dur="500"/>
                                        <p:tgtEl>
                                          <p:spTgt spid="17410">
                                            <p:txEl>
                                              <p:charRg st="5" end="3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410">
                                            <p:txEl>
                                              <p:charRg st="31" end="50"/>
                                            </p:txEl>
                                          </p:spTgt>
                                        </p:tgtEl>
                                        <p:attrNameLst>
                                          <p:attrName>style.visibility</p:attrName>
                                        </p:attrNameLst>
                                      </p:cBhvr>
                                      <p:to>
                                        <p:strVal val="visible"/>
                                      </p:to>
                                    </p:set>
                                    <p:animEffect transition="in" filter="wipe(left)">
                                      <p:cBhvr>
                                        <p:cTn id="17" dur="500"/>
                                        <p:tgtEl>
                                          <p:spTgt spid="17410">
                                            <p:txEl>
                                              <p:charRg st="31" end="5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410">
                                            <p:txEl>
                                              <p:charRg st="50" end="69"/>
                                            </p:txEl>
                                          </p:spTgt>
                                        </p:tgtEl>
                                        <p:attrNameLst>
                                          <p:attrName>style.visibility</p:attrName>
                                        </p:attrNameLst>
                                      </p:cBhvr>
                                      <p:to>
                                        <p:strVal val="visible"/>
                                      </p:to>
                                    </p:set>
                                    <p:animEffect transition="in" filter="wipe(left)">
                                      <p:cBhvr>
                                        <p:cTn id="22" dur="500"/>
                                        <p:tgtEl>
                                          <p:spTgt spid="17410">
                                            <p:txEl>
                                              <p:charRg st="50" end="6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410">
                                            <p:txEl>
                                              <p:charRg st="69" end="88"/>
                                            </p:txEl>
                                          </p:spTgt>
                                        </p:tgtEl>
                                        <p:attrNameLst>
                                          <p:attrName>style.visibility</p:attrName>
                                        </p:attrNameLst>
                                      </p:cBhvr>
                                      <p:to>
                                        <p:strVal val="visible"/>
                                      </p:to>
                                    </p:set>
                                    <p:animEffect transition="in" filter="wipe(left)">
                                      <p:cBhvr>
                                        <p:cTn id="27" dur="500"/>
                                        <p:tgtEl>
                                          <p:spTgt spid="17410">
                                            <p:txEl>
                                              <p:charRg st="69" end="8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410">
                                            <p:txEl>
                                              <p:charRg st="88" end="122"/>
                                            </p:txEl>
                                          </p:spTgt>
                                        </p:tgtEl>
                                        <p:attrNameLst>
                                          <p:attrName>style.visibility</p:attrName>
                                        </p:attrNameLst>
                                      </p:cBhvr>
                                      <p:to>
                                        <p:strVal val="visible"/>
                                      </p:to>
                                    </p:set>
                                    <p:animEffect transition="in" filter="wipe(left)">
                                      <p:cBhvr>
                                        <p:cTn id="32" dur="500"/>
                                        <p:tgtEl>
                                          <p:spTgt spid="17410">
                                            <p:txEl>
                                              <p:charRg st="88" end="122"/>
                                            </p:txEl>
                                          </p:spTgt>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17410">
                                            <p:txEl>
                                              <p:charRg st="122" end="163"/>
                                            </p:txEl>
                                          </p:spTgt>
                                        </p:tgtEl>
                                        <p:attrNameLst>
                                          <p:attrName>style.visibility</p:attrName>
                                        </p:attrNameLst>
                                      </p:cBhvr>
                                      <p:to>
                                        <p:strVal val="visible"/>
                                      </p:to>
                                    </p:set>
                                    <p:animEffect transition="in" filter="wipe(left)">
                                      <p:cBhvr>
                                        <p:cTn id="36" dur="500"/>
                                        <p:tgtEl>
                                          <p:spTgt spid="17410">
                                            <p:txEl>
                                              <p:charRg st="122" end="163"/>
                                            </p:txEl>
                                          </p:spTgt>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17410">
                                            <p:txEl>
                                              <p:charRg st="163" end="200"/>
                                            </p:txEl>
                                          </p:spTgt>
                                        </p:tgtEl>
                                        <p:attrNameLst>
                                          <p:attrName>style.visibility</p:attrName>
                                        </p:attrNameLst>
                                      </p:cBhvr>
                                      <p:to>
                                        <p:strVal val="visible"/>
                                      </p:to>
                                    </p:set>
                                    <p:animEffect transition="in" filter="wipe(left)">
                                      <p:cBhvr>
                                        <p:cTn id="40" dur="500"/>
                                        <p:tgtEl>
                                          <p:spTgt spid="17410">
                                            <p:txEl>
                                              <p:charRg st="163" end="200"/>
                                            </p:txEl>
                                          </p:spTgt>
                                        </p:tgtEl>
                                      </p:cBhvr>
                                    </p:animEffect>
                                  </p:childTnLst>
                                </p:cTn>
                              </p:par>
                            </p:childTnLst>
                          </p:cTn>
                        </p:par>
                        <p:par>
                          <p:cTn id="41" fill="hold">
                            <p:stCondLst>
                              <p:cond delay="1500"/>
                            </p:stCondLst>
                            <p:childTnLst>
                              <p:par>
                                <p:cTn id="42" presetID="22" presetClass="entr" presetSubtype="8" fill="hold" nodeType="afterEffect">
                                  <p:stCondLst>
                                    <p:cond delay="0"/>
                                  </p:stCondLst>
                                  <p:childTnLst>
                                    <p:set>
                                      <p:cBhvr>
                                        <p:cTn id="43" dur="1" fill="hold">
                                          <p:stCondLst>
                                            <p:cond delay="0"/>
                                          </p:stCondLst>
                                        </p:cTn>
                                        <p:tgtEl>
                                          <p:spTgt spid="17410">
                                            <p:txEl>
                                              <p:charRg st="200" end="216"/>
                                            </p:txEl>
                                          </p:spTgt>
                                        </p:tgtEl>
                                        <p:attrNameLst>
                                          <p:attrName>style.visibility</p:attrName>
                                        </p:attrNameLst>
                                      </p:cBhvr>
                                      <p:to>
                                        <p:strVal val="visible"/>
                                      </p:to>
                                    </p:set>
                                    <p:animEffect transition="in" filter="wipe(left)">
                                      <p:cBhvr>
                                        <p:cTn id="44" dur="500"/>
                                        <p:tgtEl>
                                          <p:spTgt spid="17410">
                                            <p:txEl>
                                              <p:charRg st="200" end="2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idx="4294967295"/>
          </p:nvPr>
        </p:nvSpPr>
        <p:spPr>
          <a:xfrm>
            <a:off x="882650" y="908050"/>
            <a:ext cx="8153400" cy="762000"/>
          </a:xfrm>
        </p:spPr>
        <p:txBody>
          <a:bodyPr vert="horz" wrap="square" lIns="91440" tIns="45720" rIns="91440" bIns="45720" anchor="ctr" anchorCtr="0"/>
          <a:p>
            <a:pPr eaLnBrk="1" hangingPunct="1"/>
            <a:r>
              <a:rPr lang="zh-CN" altLang="en-US" dirty="0">
                <a:latin typeface="宋体" panose="02010600030101010101" pitchFamily="2" charset="-122"/>
                <a:ea typeface="宋体" panose="02010600030101010101" pitchFamily="2" charset="-122"/>
              </a:rPr>
              <a:t>上段程序在代码段中的存放形式</a:t>
            </a:r>
            <a:endParaRPr lang="zh-CN" altLang="en-US" dirty="0">
              <a:latin typeface="宋体" panose="02010600030101010101" pitchFamily="2" charset="-122"/>
              <a:ea typeface="宋体" panose="02010600030101010101" pitchFamily="2" charset="-122"/>
            </a:endParaRPr>
          </a:p>
        </p:txBody>
      </p:sp>
      <p:sp>
        <p:nvSpPr>
          <p:cNvPr id="18435" name="Rectangle 3"/>
          <p:cNvSpPr>
            <a:spLocks noGrp="1"/>
          </p:cNvSpPr>
          <p:nvPr>
            <p:ph type="body" idx="4294967295"/>
          </p:nvPr>
        </p:nvSpPr>
        <p:spPr>
          <a:xfrm>
            <a:off x="755650" y="1476375"/>
            <a:ext cx="7777163" cy="4767263"/>
          </a:xfrm>
        </p:spPr>
        <p:txBody>
          <a:bodyPr vert="horz" wrap="square" lIns="91440" tIns="45720" rIns="91440" bIns="45720" anchor="t" anchorCtr="0"/>
          <a:p>
            <a:pPr eaLnBrk="1" hangingPunct="1">
              <a:spcBef>
                <a:spcPct val="0"/>
              </a:spcBef>
              <a:buSzPct val="75000"/>
            </a:pPr>
            <a:r>
              <a:rPr lang="zh-CN" altLang="en-US" sz="2400" dirty="0">
                <a:latin typeface="宋体" panose="02010600030101010101" pitchFamily="2" charset="-122"/>
                <a:ea typeface="宋体" panose="02010600030101010101" pitchFamily="2" charset="-122"/>
              </a:rPr>
              <a:t>设</a:t>
            </a:r>
            <a:r>
              <a:rPr lang="en-US" altLang="zh-CN" sz="2400" dirty="0">
                <a:latin typeface="宋体" panose="02010600030101010101" pitchFamily="2" charset="-122"/>
                <a:ea typeface="宋体" panose="02010600030101010101" pitchFamily="2" charset="-122"/>
              </a:rPr>
              <a:t>CS=109EH，IP=0100H，</a:t>
            </a:r>
            <a:r>
              <a:rPr lang="zh-CN" altLang="en-US" sz="2400" dirty="0">
                <a:latin typeface="宋体" panose="02010600030101010101" pitchFamily="2" charset="-122"/>
                <a:ea typeface="宋体" panose="02010600030101010101" pitchFamily="2" charset="-122"/>
              </a:rPr>
              <a:t>则各条指令在代码段中的存放地址如下：</a:t>
            </a:r>
            <a:endParaRPr lang="zh-CN" altLang="en-US" sz="2400" dirty="0">
              <a:latin typeface="Times New Roman" panose="02020603050405020304" pitchFamily="18" charset="0"/>
              <a:ea typeface="宋体" panose="02010600030101010101" pitchFamily="2" charset="-122"/>
            </a:endParaRPr>
          </a:p>
          <a:p>
            <a:pPr eaLnBrk="1" hangingPunct="1">
              <a:spcBef>
                <a:spcPct val="40000"/>
              </a:spcBef>
              <a:buNone/>
            </a:pPr>
            <a:r>
              <a:rPr lang="zh-CN" altLang="en-US" sz="2400" dirty="0">
                <a:latin typeface="宋体" panose="02010600030101010101" pitchFamily="2" charset="-122"/>
                <a:ea typeface="宋体" panose="02010600030101010101" pitchFamily="2" charset="-122"/>
              </a:rPr>
              <a:t>     </a:t>
            </a:r>
            <a:r>
              <a:rPr lang="en-US" altLang="zh-CN" sz="2400" dirty="0">
                <a:solidFill>
                  <a:srgbClr val="FF0000"/>
                </a:solidFill>
                <a:latin typeface="宋体" panose="02010600030101010101" pitchFamily="2" charset="-122"/>
                <a:ea typeface="宋体" panose="02010600030101010101" pitchFamily="2" charset="-122"/>
              </a:rPr>
              <a:t>CS :  IP  </a:t>
            </a:r>
            <a:r>
              <a:rPr lang="zh-CN" altLang="en-US" sz="2400" dirty="0">
                <a:solidFill>
                  <a:srgbClr val="FF0000"/>
                </a:solidFill>
                <a:latin typeface="宋体" panose="02010600030101010101" pitchFamily="2" charset="-122"/>
                <a:ea typeface="宋体" panose="02010600030101010101" pitchFamily="2" charset="-122"/>
              </a:rPr>
              <a:t>机器指令    汇编指令</a:t>
            </a:r>
            <a:endParaRPr lang="zh-CN" altLang="en-US" sz="2400" dirty="0">
              <a:solidFill>
                <a:srgbClr val="FF0000"/>
              </a:solidFill>
              <a:latin typeface="宋体" panose="02010600030101010101" pitchFamily="2" charset="-122"/>
              <a:ea typeface="宋体" panose="02010600030101010101" pitchFamily="2" charset="-122"/>
            </a:endParaRPr>
          </a:p>
          <a:p>
            <a:pPr eaLnBrk="1" hangingPunct="1">
              <a:lnSpc>
                <a:spcPct val="105000"/>
              </a:lnSpc>
              <a:spcBef>
                <a:spcPct val="0"/>
              </a:spcBef>
              <a:buNone/>
            </a:pPr>
            <a:r>
              <a:rPr lang="en-US" altLang="zh-CN" sz="2400" dirty="0">
                <a:latin typeface="宋体" panose="02010600030101010101" pitchFamily="2" charset="-122"/>
                <a:ea typeface="宋体" panose="02010600030101010101" pitchFamily="2" charset="-122"/>
              </a:rPr>
              <a:t>    109E：0100  B80010   MOV DI，1000H</a:t>
            </a:r>
            <a:endParaRPr lang="en-US" altLang="zh-CN" sz="2400" dirty="0">
              <a:latin typeface="宋体" panose="02010600030101010101" pitchFamily="2" charset="-122"/>
              <a:ea typeface="宋体" panose="02010600030101010101" pitchFamily="2" charset="-122"/>
            </a:endParaRPr>
          </a:p>
          <a:p>
            <a:pPr eaLnBrk="1" hangingPunct="1">
              <a:lnSpc>
                <a:spcPct val="105000"/>
              </a:lnSpc>
              <a:spcBef>
                <a:spcPct val="0"/>
              </a:spcBef>
              <a:buNone/>
            </a:pPr>
            <a:r>
              <a:rPr lang="en-US" altLang="zh-CN" sz="2400" dirty="0">
                <a:latin typeface="宋体" panose="02010600030101010101" pitchFamily="2" charset="-122"/>
                <a:ea typeface="宋体" panose="02010600030101010101" pitchFamily="2" charset="-122"/>
              </a:rPr>
              <a:t>    109E：0103     </a:t>
            </a:r>
            <a:r>
              <a:rPr lang="en-US" altLang="zh-CN"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     MOV CX，64H</a:t>
            </a:r>
            <a:endParaRPr lang="en-US" altLang="zh-CN" sz="2400" dirty="0">
              <a:latin typeface="宋体" panose="02010600030101010101" pitchFamily="2" charset="-122"/>
              <a:ea typeface="宋体" panose="02010600030101010101" pitchFamily="2" charset="-122"/>
            </a:endParaRPr>
          </a:p>
          <a:p>
            <a:pPr eaLnBrk="1" hangingPunct="1">
              <a:lnSpc>
                <a:spcPct val="105000"/>
              </a:lnSpc>
              <a:spcBef>
                <a:spcPct val="0"/>
              </a:spcBef>
              <a:buNone/>
            </a:pPr>
            <a:r>
              <a:rPr lang="en-US" altLang="zh-CN" sz="2400" dirty="0">
                <a:latin typeface="宋体" panose="02010600030101010101" pitchFamily="2" charset="-122"/>
                <a:ea typeface="宋体" panose="02010600030101010101" pitchFamily="2" charset="-122"/>
              </a:rPr>
              <a:t>    109E：0105     </a:t>
            </a:r>
            <a:r>
              <a:rPr lang="en-US" altLang="zh-CN"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     MOV AL，2AH</a:t>
            </a:r>
            <a:endParaRPr lang="en-US" altLang="zh-CN" sz="2400" dirty="0">
              <a:latin typeface="宋体" panose="02010600030101010101" pitchFamily="2" charset="-122"/>
              <a:ea typeface="宋体" panose="02010600030101010101" pitchFamily="2" charset="-122"/>
            </a:endParaRPr>
          </a:p>
          <a:p>
            <a:pPr eaLnBrk="1" hangingPunct="1">
              <a:lnSpc>
                <a:spcPct val="105000"/>
              </a:lnSpc>
              <a:spcBef>
                <a:spcPct val="0"/>
              </a:spcBef>
              <a:buNone/>
            </a:pPr>
            <a:r>
              <a:rPr lang="en-US" altLang="zh-CN" sz="2400" dirty="0">
                <a:latin typeface="宋体" panose="02010600030101010101" pitchFamily="2" charset="-122"/>
                <a:ea typeface="宋体" panose="02010600030101010101" pitchFamily="2" charset="-122"/>
              </a:rPr>
              <a:t>    109E：0107     </a:t>
            </a:r>
            <a:r>
              <a:rPr lang="en-US" altLang="zh-CN"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     MOV [DI]，AL</a:t>
            </a:r>
            <a:endParaRPr lang="en-US" altLang="zh-CN" sz="2400" dirty="0">
              <a:latin typeface="宋体" panose="02010600030101010101" pitchFamily="2" charset="-122"/>
              <a:ea typeface="宋体" panose="02010600030101010101" pitchFamily="2" charset="-122"/>
            </a:endParaRPr>
          </a:p>
          <a:p>
            <a:pPr eaLnBrk="1" hangingPunct="1">
              <a:lnSpc>
                <a:spcPct val="105000"/>
              </a:lnSpc>
              <a:spcBef>
                <a:spcPct val="0"/>
              </a:spcBef>
              <a:buNone/>
            </a:pPr>
            <a:r>
              <a:rPr lang="en-US" altLang="zh-CN" sz="2400" dirty="0">
                <a:latin typeface="宋体" panose="02010600030101010101" pitchFamily="2" charset="-122"/>
                <a:ea typeface="宋体" panose="02010600030101010101" pitchFamily="2" charset="-122"/>
              </a:rPr>
              <a:t>    109E：0109           INC DI</a:t>
            </a:r>
            <a:endParaRPr lang="en-US" altLang="zh-CN" sz="2400" dirty="0">
              <a:latin typeface="Times New Roman" panose="02020603050405020304" pitchFamily="18" charset="0"/>
              <a:ea typeface="宋体" panose="02010600030101010101" pitchFamily="2" charset="-122"/>
            </a:endParaRPr>
          </a:p>
          <a:p>
            <a:pPr eaLnBrk="1" hangingPunct="1">
              <a:lnSpc>
                <a:spcPct val="105000"/>
              </a:lnSpc>
              <a:spcBef>
                <a:spcPct val="0"/>
              </a:spcBef>
              <a:buNone/>
            </a:pPr>
            <a:r>
              <a:rPr lang="en-US" altLang="zh-CN" sz="2400" dirty="0">
                <a:latin typeface="宋体" panose="02010600030101010101" pitchFamily="2" charset="-122"/>
                <a:ea typeface="宋体" panose="02010600030101010101" pitchFamily="2" charset="-122"/>
              </a:rPr>
              <a:t>    109E：010A           DEC CX</a:t>
            </a:r>
            <a:endParaRPr lang="en-US" altLang="zh-CN" sz="2400" dirty="0">
              <a:latin typeface="宋体" panose="02010600030101010101" pitchFamily="2" charset="-122"/>
              <a:ea typeface="宋体" panose="02010600030101010101" pitchFamily="2" charset="-122"/>
            </a:endParaRPr>
          </a:p>
          <a:p>
            <a:pPr eaLnBrk="1" hangingPunct="1">
              <a:lnSpc>
                <a:spcPct val="105000"/>
              </a:lnSpc>
              <a:spcBef>
                <a:spcPct val="0"/>
              </a:spcBef>
              <a:buNone/>
            </a:pPr>
            <a:r>
              <a:rPr lang="en-US" altLang="zh-CN" sz="2400" dirty="0">
                <a:latin typeface="宋体" panose="02010600030101010101" pitchFamily="2" charset="-122"/>
                <a:ea typeface="宋体" panose="02010600030101010101" pitchFamily="2" charset="-122"/>
              </a:rPr>
              <a:t>    109E：010B           JNZ 0107H</a:t>
            </a:r>
            <a:endParaRPr lang="en-US" altLang="zh-CN" sz="2400" dirty="0">
              <a:latin typeface="宋体" panose="02010600030101010101" pitchFamily="2" charset="-122"/>
              <a:ea typeface="宋体" panose="02010600030101010101" pitchFamily="2" charset="-122"/>
            </a:endParaRPr>
          </a:p>
          <a:p>
            <a:pPr eaLnBrk="1" hangingPunct="1">
              <a:lnSpc>
                <a:spcPct val="105000"/>
              </a:lnSpc>
              <a:spcBef>
                <a:spcPct val="0"/>
              </a:spcBef>
              <a:buNone/>
            </a:pPr>
            <a:r>
              <a:rPr lang="en-US" altLang="zh-CN" sz="2400" dirty="0">
                <a:latin typeface="宋体" panose="02010600030101010101" pitchFamily="2" charset="-122"/>
                <a:ea typeface="宋体" panose="02010600030101010101" pitchFamily="2" charset="-122"/>
              </a:rPr>
              <a:t>    109E：010D           HLT</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8435">
                                            <p:txEl>
                                              <p:charRg st="0" end="38"/>
                                            </p:txEl>
                                          </p:spTgt>
                                        </p:tgtEl>
                                        <p:attrNameLst>
                                          <p:attrName>style.visibility</p:attrName>
                                        </p:attrNameLst>
                                      </p:cBhvr>
                                      <p:to>
                                        <p:strVal val="visible"/>
                                      </p:to>
                                    </p:set>
                                    <p:anim calcmode="lin" valueType="num">
                                      <p:cBhvr>
                                        <p:cTn id="7" dur="1000" fill="hold"/>
                                        <p:tgtEl>
                                          <p:spTgt spid="18435">
                                            <p:txEl>
                                              <p:charRg st="0" end="38"/>
                                            </p:txEl>
                                          </p:spTgt>
                                        </p:tgtEl>
                                        <p:attrNameLst>
                                          <p:attrName>ppt_w</p:attrName>
                                        </p:attrNameLst>
                                      </p:cBhvr>
                                      <p:tavLst>
                                        <p:tav tm="0">
                                          <p:val>
                                            <p:strVal val="#ppt_w*0.70"/>
                                          </p:val>
                                        </p:tav>
                                        <p:tav tm="100000">
                                          <p:val>
                                            <p:strVal val="#ppt_w"/>
                                          </p:val>
                                        </p:tav>
                                      </p:tavLst>
                                    </p:anim>
                                    <p:anim calcmode="lin" valueType="num">
                                      <p:cBhvr>
                                        <p:cTn id="8" dur="1000" fill="hold"/>
                                        <p:tgtEl>
                                          <p:spTgt spid="18435">
                                            <p:txEl>
                                              <p:charRg st="0" end="38"/>
                                            </p:txEl>
                                          </p:spTgt>
                                        </p:tgtEl>
                                        <p:attrNameLst>
                                          <p:attrName>ppt_h</p:attrName>
                                        </p:attrNameLst>
                                      </p:cBhvr>
                                      <p:tavLst>
                                        <p:tav tm="0">
                                          <p:val>
                                            <p:strVal val="#ppt_h"/>
                                          </p:val>
                                        </p:tav>
                                        <p:tav tm="100000">
                                          <p:val>
                                            <p:strVal val="#ppt_h"/>
                                          </p:val>
                                        </p:tav>
                                      </p:tavLst>
                                    </p:anim>
                                    <p:animEffect transition="in" filter="fade">
                                      <p:cBhvr>
                                        <p:cTn id="9" dur="1000"/>
                                        <p:tgtEl>
                                          <p:spTgt spid="18435">
                                            <p:txEl>
                                              <p:charRg st="0" end="38"/>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18435">
                                            <p:txEl>
                                              <p:charRg st="38" end="66"/>
                                            </p:txEl>
                                          </p:spTgt>
                                        </p:tgtEl>
                                        <p:attrNameLst>
                                          <p:attrName>style.visibility</p:attrName>
                                        </p:attrNameLst>
                                      </p:cBhvr>
                                      <p:to>
                                        <p:strVal val="visible"/>
                                      </p:to>
                                    </p:set>
                                    <p:animEffect transition="in" filter="blinds(horizontal)">
                                      <p:cBhvr>
                                        <p:cTn id="14" dur="500"/>
                                        <p:tgtEl>
                                          <p:spTgt spid="18435">
                                            <p:txEl>
                                              <p:charRg st="38" end="66"/>
                                            </p:txEl>
                                          </p:spTgt>
                                        </p:tgtEl>
                                      </p:cBhvr>
                                    </p:animEffect>
                                  </p:childTnLst>
                                </p:cTn>
                              </p:par>
                              <p:par>
                                <p:cTn id="15" presetID="3" presetClass="entr" presetSubtype="10" fill="hold" nodeType="withEffect">
                                  <p:stCondLst>
                                    <p:cond delay="0"/>
                                  </p:stCondLst>
                                  <p:childTnLst>
                                    <p:set>
                                      <p:cBhvr>
                                        <p:cTn id="16" dur="1" fill="hold">
                                          <p:stCondLst>
                                            <p:cond delay="0"/>
                                          </p:stCondLst>
                                        </p:cTn>
                                        <p:tgtEl>
                                          <p:spTgt spid="18435">
                                            <p:txEl>
                                              <p:charRg st="66" end="103"/>
                                            </p:txEl>
                                          </p:spTgt>
                                        </p:tgtEl>
                                        <p:attrNameLst>
                                          <p:attrName>style.visibility</p:attrName>
                                        </p:attrNameLst>
                                      </p:cBhvr>
                                      <p:to>
                                        <p:strVal val="visible"/>
                                      </p:to>
                                    </p:set>
                                    <p:animEffect transition="in" filter="blinds(horizontal)">
                                      <p:cBhvr>
                                        <p:cTn id="17" dur="500"/>
                                        <p:tgtEl>
                                          <p:spTgt spid="18435">
                                            <p:txEl>
                                              <p:charRg st="66" end="103"/>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8435">
                                            <p:txEl>
                                              <p:charRg st="103" end="138"/>
                                            </p:txEl>
                                          </p:spTgt>
                                        </p:tgtEl>
                                        <p:attrNameLst>
                                          <p:attrName>style.visibility</p:attrName>
                                        </p:attrNameLst>
                                      </p:cBhvr>
                                      <p:to>
                                        <p:strVal val="visible"/>
                                      </p:to>
                                    </p:set>
                                    <p:animEffect transition="in" filter="blinds(horizontal)">
                                      <p:cBhvr>
                                        <p:cTn id="20" dur="500"/>
                                        <p:tgtEl>
                                          <p:spTgt spid="18435">
                                            <p:txEl>
                                              <p:charRg st="103" end="138"/>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18435">
                                            <p:txEl>
                                              <p:charRg st="138" end="173"/>
                                            </p:txEl>
                                          </p:spTgt>
                                        </p:tgtEl>
                                        <p:attrNameLst>
                                          <p:attrName>style.visibility</p:attrName>
                                        </p:attrNameLst>
                                      </p:cBhvr>
                                      <p:to>
                                        <p:strVal val="visible"/>
                                      </p:to>
                                    </p:set>
                                    <p:animEffect transition="in" filter="blinds(horizontal)">
                                      <p:cBhvr>
                                        <p:cTn id="23" dur="500"/>
                                        <p:tgtEl>
                                          <p:spTgt spid="18435">
                                            <p:txEl>
                                              <p:charRg st="138" end="173"/>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8435">
                                            <p:txEl>
                                              <p:charRg st="173" end="209"/>
                                            </p:txEl>
                                          </p:spTgt>
                                        </p:tgtEl>
                                        <p:attrNameLst>
                                          <p:attrName>style.visibility</p:attrName>
                                        </p:attrNameLst>
                                      </p:cBhvr>
                                      <p:to>
                                        <p:strVal val="visible"/>
                                      </p:to>
                                    </p:set>
                                    <p:animEffect transition="in" filter="blinds(horizontal)">
                                      <p:cBhvr>
                                        <p:cTn id="26" dur="500"/>
                                        <p:tgtEl>
                                          <p:spTgt spid="18435">
                                            <p:txEl>
                                              <p:charRg st="173" end="209"/>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18435">
                                            <p:txEl>
                                              <p:charRg st="209" end="240"/>
                                            </p:txEl>
                                          </p:spTgt>
                                        </p:tgtEl>
                                        <p:attrNameLst>
                                          <p:attrName>style.visibility</p:attrName>
                                        </p:attrNameLst>
                                      </p:cBhvr>
                                      <p:to>
                                        <p:strVal val="visible"/>
                                      </p:to>
                                    </p:set>
                                    <p:animEffect transition="in" filter="blinds(horizontal)">
                                      <p:cBhvr>
                                        <p:cTn id="29" dur="500"/>
                                        <p:tgtEl>
                                          <p:spTgt spid="18435">
                                            <p:txEl>
                                              <p:charRg st="209" end="240"/>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18435">
                                            <p:txEl>
                                              <p:charRg st="240" end="271"/>
                                            </p:txEl>
                                          </p:spTgt>
                                        </p:tgtEl>
                                        <p:attrNameLst>
                                          <p:attrName>style.visibility</p:attrName>
                                        </p:attrNameLst>
                                      </p:cBhvr>
                                      <p:to>
                                        <p:strVal val="visible"/>
                                      </p:to>
                                    </p:set>
                                    <p:animEffect transition="in" filter="blinds(horizontal)">
                                      <p:cBhvr>
                                        <p:cTn id="32" dur="500"/>
                                        <p:tgtEl>
                                          <p:spTgt spid="18435">
                                            <p:txEl>
                                              <p:charRg st="240" end="271"/>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18435">
                                            <p:txEl>
                                              <p:charRg st="271" end="305"/>
                                            </p:txEl>
                                          </p:spTgt>
                                        </p:tgtEl>
                                        <p:attrNameLst>
                                          <p:attrName>style.visibility</p:attrName>
                                        </p:attrNameLst>
                                      </p:cBhvr>
                                      <p:to>
                                        <p:strVal val="visible"/>
                                      </p:to>
                                    </p:set>
                                    <p:animEffect transition="in" filter="blinds(horizontal)">
                                      <p:cBhvr>
                                        <p:cTn id="35" dur="500"/>
                                        <p:tgtEl>
                                          <p:spTgt spid="18435">
                                            <p:txEl>
                                              <p:charRg st="271" end="305"/>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8435">
                                            <p:txEl>
                                              <p:charRg st="305" end="333"/>
                                            </p:txEl>
                                          </p:spTgt>
                                        </p:tgtEl>
                                        <p:attrNameLst>
                                          <p:attrName>style.visibility</p:attrName>
                                        </p:attrNameLst>
                                      </p:cBhvr>
                                      <p:to>
                                        <p:strVal val="visible"/>
                                      </p:to>
                                    </p:set>
                                    <p:animEffect transition="in" filter="blinds(horizontal)">
                                      <p:cBhvr>
                                        <p:cTn id="38" dur="500"/>
                                        <p:tgtEl>
                                          <p:spTgt spid="18435">
                                            <p:txEl>
                                              <p:charRg st="305" end="33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idx="4294967295"/>
          </p:nvPr>
        </p:nvSpPr>
        <p:spPr>
          <a:xfrm>
            <a:off x="900113" y="1176338"/>
            <a:ext cx="6553200" cy="563562"/>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61E27"/>
                </a:solidFill>
                <a:latin typeface="宋体" panose="02010600030101010101" pitchFamily="2" charset="-122"/>
                <a:ea typeface="宋体" panose="02010600030101010101" pitchFamily="2" charset="-122"/>
              </a:rPr>
              <a:t>数据段中的分布</a:t>
            </a:r>
            <a:r>
              <a:rPr lang="en-US" altLang="zh-CN" sz="4800" dirty="0">
                <a:solidFill>
                  <a:srgbClr val="061E27"/>
                </a:solidFill>
                <a:latin typeface="宋体" panose="02010600030101010101" pitchFamily="2" charset="-122"/>
                <a:ea typeface="宋体" panose="02010600030101010101" pitchFamily="2" charset="-122"/>
              </a:rPr>
              <a:t> </a:t>
            </a:r>
            <a:endParaRPr lang="en-US" altLang="zh-CN" sz="4800" dirty="0">
              <a:solidFill>
                <a:srgbClr val="061E27"/>
              </a:solidFill>
              <a:latin typeface="宋体" panose="02010600030101010101" pitchFamily="2" charset="-122"/>
              <a:ea typeface="宋体" panose="02010600030101010101" pitchFamily="2" charset="-122"/>
            </a:endParaRPr>
          </a:p>
        </p:txBody>
      </p:sp>
      <p:sp>
        <p:nvSpPr>
          <p:cNvPr id="19459" name="Rectangle 3"/>
          <p:cNvSpPr>
            <a:spLocks noGrp="1"/>
          </p:cNvSpPr>
          <p:nvPr>
            <p:ph type="body" idx="4294967295"/>
          </p:nvPr>
        </p:nvSpPr>
        <p:spPr>
          <a:xfrm>
            <a:off x="755650" y="2276475"/>
            <a:ext cx="7916863" cy="2808288"/>
          </a:xfrm>
        </p:spPr>
        <p:txBody>
          <a:bodyPr vert="horz" wrap="square" lIns="91440" tIns="45720" rIns="91440" bIns="45720" anchor="t" anchorCtr="0"/>
          <a:p>
            <a:pPr marL="0" indent="0" eaLnBrk="1" hangingPunct="1">
              <a:spcBef>
                <a:spcPct val="0"/>
              </a:spcBef>
              <a:buSzPct val="75000"/>
              <a:buNone/>
            </a:pPr>
            <a:r>
              <a:rPr lang="zh-CN" altLang="en-US" dirty="0">
                <a:latin typeface="宋体" panose="02010600030101010101" pitchFamily="2" charset="-122"/>
                <a:ea typeface="宋体" panose="02010600030101010101" pitchFamily="2" charset="-122"/>
              </a:rPr>
              <a:t>送上2</a:t>
            </a:r>
            <a:r>
              <a:rPr lang="en-US" altLang="zh-CN" dirty="0">
                <a:latin typeface="宋体" panose="02010600030101010101" pitchFamily="2" charset="-122"/>
                <a:ea typeface="宋体" panose="02010600030101010101" pitchFamily="2" charset="-122"/>
              </a:rPr>
              <a:t>AH</a:t>
            </a:r>
            <a:r>
              <a:rPr lang="zh-CN" altLang="en-US" dirty="0">
                <a:latin typeface="宋体" panose="02010600030101010101" pitchFamily="2" charset="-122"/>
                <a:ea typeface="宋体" panose="02010600030101010101" pitchFamily="2" charset="-122"/>
              </a:rPr>
              <a:t>后数据段中相应存储单元的内容改变如下：</a:t>
            </a:r>
            <a:endParaRPr lang="zh-CN" altLang="en-US" dirty="0">
              <a:latin typeface="宋体" panose="02010600030101010101" pitchFamily="2" charset="-122"/>
              <a:ea typeface="宋体" panose="02010600030101010101" pitchFamily="2" charset="-122"/>
            </a:endParaRPr>
          </a:p>
          <a:p>
            <a:pPr marL="0" indent="0" eaLnBrk="1" hangingPunct="1">
              <a:spcBef>
                <a:spcPct val="0"/>
              </a:spcBef>
              <a:buNone/>
            </a:pPr>
            <a:r>
              <a:rPr lang="en-US" altLang="zh-CN" sz="2000" dirty="0">
                <a:latin typeface="宋体" panose="02010600030101010101" pitchFamily="2" charset="-122"/>
                <a:ea typeface="宋体" panose="02010600030101010101" pitchFamily="2" charset="-122"/>
              </a:rPr>
              <a:t>DS：1000  2A 2A 2A 2A 2A 2A 2A 2A-2A 2A 2A 2A 2A 2A 2A 2A   </a:t>
            </a:r>
            <a:endParaRPr lang="en-US" altLang="zh-CN" sz="2000" dirty="0">
              <a:latin typeface="宋体" panose="02010600030101010101" pitchFamily="2" charset="-122"/>
              <a:ea typeface="宋体" panose="02010600030101010101" pitchFamily="2" charset="-122"/>
            </a:endParaRPr>
          </a:p>
          <a:p>
            <a:pPr marL="0" indent="0" eaLnBrk="1" hangingPunct="1">
              <a:spcBef>
                <a:spcPct val="0"/>
              </a:spcBef>
              <a:buNone/>
            </a:pPr>
            <a:r>
              <a:rPr lang="en-US" altLang="zh-CN" sz="2000" dirty="0">
                <a:latin typeface="宋体" panose="02010600030101010101" pitchFamily="2" charset="-122"/>
                <a:ea typeface="宋体" panose="02010600030101010101" pitchFamily="2" charset="-122"/>
              </a:rPr>
              <a:t>DS：1010  2A 2A 2A 2A 2A 2A 2A 2A-2A 2A 2A 2A 2A 2A 2A 2A </a:t>
            </a:r>
            <a:endParaRPr lang="en-US" altLang="zh-CN" sz="2000" dirty="0">
              <a:latin typeface="宋体" panose="02010600030101010101" pitchFamily="2" charset="-122"/>
              <a:ea typeface="宋体" panose="02010600030101010101" pitchFamily="2" charset="-122"/>
            </a:endParaRPr>
          </a:p>
          <a:p>
            <a:pPr marL="0" indent="0" eaLnBrk="1" hangingPunct="1">
              <a:spcBef>
                <a:spcPct val="0"/>
              </a:spcBef>
              <a:buNone/>
            </a:pPr>
            <a:r>
              <a:rPr lang="en-US" altLang="zh-CN" sz="2000" dirty="0">
                <a:latin typeface="宋体" panose="02010600030101010101" pitchFamily="2" charset="-122"/>
                <a:ea typeface="宋体" panose="02010600030101010101" pitchFamily="2" charset="-122"/>
              </a:rPr>
              <a:t>DS：1020  2A 2A 2A 2A 2A 2A 2A 2A-2A 2A 2A 2A 2A 2A 2A 2A   </a:t>
            </a:r>
            <a:endParaRPr lang="en-US" altLang="zh-CN" sz="2000" dirty="0">
              <a:latin typeface="宋体" panose="02010600030101010101" pitchFamily="2" charset="-122"/>
              <a:ea typeface="宋体" panose="02010600030101010101" pitchFamily="2" charset="-122"/>
            </a:endParaRPr>
          </a:p>
          <a:p>
            <a:pPr marL="0" indent="0" eaLnBrk="1" hangingPunct="1">
              <a:spcBef>
                <a:spcPct val="0"/>
              </a:spcBef>
              <a:buNone/>
            </a:pPr>
            <a:r>
              <a:rPr lang="en-US" altLang="zh-CN" sz="2000" dirty="0">
                <a:latin typeface="宋体" panose="02010600030101010101" pitchFamily="2" charset="-122"/>
                <a:ea typeface="宋体" panose="02010600030101010101" pitchFamily="2" charset="-122"/>
              </a:rPr>
              <a:t>DS：1030  2A 2A 2A 2A 2A 2A 2A 2A-2A 2A 2A 2A 2A 2A 2A 2A</a:t>
            </a:r>
            <a:endParaRPr lang="en-US" altLang="zh-CN" sz="2000" dirty="0">
              <a:latin typeface="宋体" panose="02010600030101010101" pitchFamily="2" charset="-122"/>
              <a:ea typeface="宋体" panose="02010600030101010101" pitchFamily="2" charset="-122"/>
            </a:endParaRPr>
          </a:p>
          <a:p>
            <a:pPr marL="0" indent="0" eaLnBrk="1" hangingPunct="1">
              <a:spcBef>
                <a:spcPct val="0"/>
              </a:spcBef>
              <a:buNone/>
            </a:pPr>
            <a:r>
              <a:rPr lang="en-US" altLang="zh-CN" sz="2000" dirty="0">
                <a:latin typeface="宋体" panose="02010600030101010101" pitchFamily="2" charset="-122"/>
                <a:ea typeface="宋体" panose="02010600030101010101" pitchFamily="2" charset="-122"/>
              </a:rPr>
              <a:t>DS：1040  2A 2A 2A 2A 2A 2A 2A 2A-2A 2A 2A 2A 2A 2A 2A 2A   </a:t>
            </a:r>
            <a:endParaRPr lang="en-US" altLang="zh-CN" sz="2000" dirty="0">
              <a:latin typeface="宋体" panose="02010600030101010101" pitchFamily="2" charset="-122"/>
              <a:ea typeface="宋体" panose="02010600030101010101" pitchFamily="2" charset="-122"/>
            </a:endParaRPr>
          </a:p>
          <a:p>
            <a:pPr marL="0" indent="0" eaLnBrk="1" hangingPunct="1">
              <a:spcBef>
                <a:spcPct val="0"/>
              </a:spcBef>
              <a:buNone/>
            </a:pPr>
            <a:r>
              <a:rPr lang="en-US" altLang="zh-CN" sz="2000" dirty="0">
                <a:latin typeface="宋体" panose="02010600030101010101" pitchFamily="2" charset="-122"/>
                <a:ea typeface="宋体" panose="02010600030101010101" pitchFamily="2" charset="-122"/>
              </a:rPr>
              <a:t>DS：1050  2A 2A 2A 2A 2A 2A 2A 2A-2A 2A 2A 2A 2A 2A 2A 2A   </a:t>
            </a:r>
            <a:endParaRPr lang="en-US" altLang="zh-CN" sz="2000" dirty="0">
              <a:latin typeface="宋体" panose="02010600030101010101" pitchFamily="2" charset="-122"/>
              <a:ea typeface="宋体" panose="02010600030101010101" pitchFamily="2" charset="-122"/>
            </a:endParaRPr>
          </a:p>
          <a:p>
            <a:pPr marL="0" indent="0" eaLnBrk="1" hangingPunct="1">
              <a:spcBef>
                <a:spcPct val="0"/>
              </a:spcBef>
              <a:buNone/>
            </a:pPr>
            <a:r>
              <a:rPr lang="en-US" altLang="zh-CN" sz="2000" dirty="0">
                <a:latin typeface="宋体" panose="02010600030101010101" pitchFamily="2" charset="-122"/>
                <a:ea typeface="宋体" panose="02010600030101010101" pitchFamily="2" charset="-122"/>
              </a:rPr>
              <a:t>DS：1060  2A 2A 2A 2A 00 00 00 00 00 00 00 00 00 00 00 00</a:t>
            </a:r>
            <a:endParaRPr lang="zh-CN" altLang="en-US" sz="2000" dirty="0">
              <a:ea typeface="宋体" panose="02010600030101010101" pitchFamily="2" charset="-122"/>
            </a:endParaRPr>
          </a:p>
        </p:txBody>
      </p:sp>
      <p:sp>
        <p:nvSpPr>
          <p:cNvPr id="19460" name="Text Box 4"/>
          <p:cNvSpPr txBox="1"/>
          <p:nvPr/>
        </p:nvSpPr>
        <p:spPr>
          <a:xfrm>
            <a:off x="1763713" y="5805488"/>
            <a:ext cx="19939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偏移地址[</a:t>
            </a:r>
            <a:r>
              <a:rPr lang="en-US" altLang="zh-CN" sz="2000" b="1" dirty="0">
                <a:latin typeface="Times New Roman" panose="02020603050405020304" pitchFamily="18" charset="0"/>
                <a:ea typeface="宋体" panose="02010600030101010101" pitchFamily="2" charset="-122"/>
              </a:rPr>
              <a:t>DI]</a:t>
            </a:r>
            <a:endParaRPr lang="en-US" altLang="zh-CN" sz="2000" b="1" dirty="0">
              <a:latin typeface="Times New Roman" panose="02020603050405020304" pitchFamily="18" charset="0"/>
              <a:ea typeface="宋体" panose="02010600030101010101" pitchFamily="2" charset="-122"/>
            </a:endParaRPr>
          </a:p>
        </p:txBody>
      </p:sp>
      <p:sp>
        <p:nvSpPr>
          <p:cNvPr id="19461" name="Line 5"/>
          <p:cNvSpPr/>
          <p:nvPr/>
        </p:nvSpPr>
        <p:spPr>
          <a:xfrm>
            <a:off x="1619250" y="5056188"/>
            <a:ext cx="576263" cy="649287"/>
          </a:xfrm>
          <a:prstGeom prst="line">
            <a:avLst/>
          </a:prstGeom>
          <a:ln w="25400" cap="sq" cmpd="sng">
            <a:solidFill>
              <a:srgbClr val="FF6600"/>
            </a:solidFill>
            <a:prstDash val="solid"/>
            <a:headEnd type="none" w="med" len="med"/>
            <a:tailEnd type="triangle" w="lg" len="lg"/>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9459">
                                            <p:txEl>
                                              <p:charRg st="0" end="25"/>
                                            </p:txEl>
                                          </p:spTgt>
                                        </p:tgtEl>
                                        <p:attrNameLst>
                                          <p:attrName>style.visibility</p:attrName>
                                        </p:attrNameLst>
                                      </p:cBhvr>
                                      <p:to>
                                        <p:strVal val="visible"/>
                                      </p:to>
                                    </p:set>
                                    <p:anim calcmode="lin" valueType="num">
                                      <p:cBhvr>
                                        <p:cTn id="7" dur="1000" fill="hold"/>
                                        <p:tgtEl>
                                          <p:spTgt spid="19459">
                                            <p:txEl>
                                              <p:charRg st="0" end="25"/>
                                            </p:txEl>
                                          </p:spTgt>
                                        </p:tgtEl>
                                        <p:attrNameLst>
                                          <p:attrName>ppt_w</p:attrName>
                                        </p:attrNameLst>
                                      </p:cBhvr>
                                      <p:tavLst>
                                        <p:tav tm="0">
                                          <p:val>
                                            <p:strVal val="#ppt_w*0.70"/>
                                          </p:val>
                                        </p:tav>
                                        <p:tav tm="100000">
                                          <p:val>
                                            <p:strVal val="#ppt_w"/>
                                          </p:val>
                                        </p:tav>
                                      </p:tavLst>
                                    </p:anim>
                                    <p:anim calcmode="lin" valueType="num">
                                      <p:cBhvr>
                                        <p:cTn id="8" dur="1000" fill="hold"/>
                                        <p:tgtEl>
                                          <p:spTgt spid="19459">
                                            <p:txEl>
                                              <p:charRg st="0" end="25"/>
                                            </p:txEl>
                                          </p:spTgt>
                                        </p:tgtEl>
                                        <p:attrNameLst>
                                          <p:attrName>ppt_h</p:attrName>
                                        </p:attrNameLst>
                                      </p:cBhvr>
                                      <p:tavLst>
                                        <p:tav tm="0">
                                          <p:val>
                                            <p:strVal val="#ppt_h"/>
                                          </p:val>
                                        </p:tav>
                                        <p:tav tm="100000">
                                          <p:val>
                                            <p:strVal val="#ppt_h"/>
                                          </p:val>
                                        </p:tav>
                                      </p:tavLst>
                                    </p:anim>
                                    <p:animEffect transition="in" filter="fade">
                                      <p:cBhvr>
                                        <p:cTn id="9" dur="1000"/>
                                        <p:tgtEl>
                                          <p:spTgt spid="19459">
                                            <p:txEl>
                                              <p:charRg st="0" end="25"/>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8" presetClass="entr" presetSubtype="6" fill="hold" nodeType="clickEffect">
                                  <p:stCondLst>
                                    <p:cond delay="0"/>
                                  </p:stCondLst>
                                  <p:childTnLst>
                                    <p:set>
                                      <p:cBhvr>
                                        <p:cTn id="13" dur="1" fill="hold">
                                          <p:stCondLst>
                                            <p:cond delay="0"/>
                                          </p:stCondLst>
                                        </p:cTn>
                                        <p:tgtEl>
                                          <p:spTgt spid="19459">
                                            <p:txEl>
                                              <p:charRg st="25" end="85"/>
                                            </p:txEl>
                                          </p:spTgt>
                                        </p:tgtEl>
                                        <p:attrNameLst>
                                          <p:attrName>style.visibility</p:attrName>
                                        </p:attrNameLst>
                                      </p:cBhvr>
                                      <p:to>
                                        <p:strVal val="visible"/>
                                      </p:to>
                                    </p:set>
                                    <p:animEffect transition="in" filter="strips(downRight)">
                                      <p:cBhvr>
                                        <p:cTn id="14" dur="500"/>
                                        <p:tgtEl>
                                          <p:spTgt spid="19459">
                                            <p:txEl>
                                              <p:charRg st="25" end="85"/>
                                            </p:txEl>
                                          </p:spTgt>
                                        </p:tgtEl>
                                      </p:cBhvr>
                                    </p:animEffect>
                                  </p:childTnLst>
                                </p:cTn>
                              </p:par>
                            </p:childTnLst>
                          </p:cTn>
                        </p:par>
                        <p:par>
                          <p:cTn id="15" fill="hold">
                            <p:stCondLst>
                              <p:cond delay="500"/>
                            </p:stCondLst>
                            <p:childTnLst>
                              <p:par>
                                <p:cTn id="16" presetID="18" presetClass="entr" presetSubtype="6" fill="hold" nodeType="afterEffect">
                                  <p:stCondLst>
                                    <p:cond delay="0"/>
                                  </p:stCondLst>
                                  <p:childTnLst>
                                    <p:set>
                                      <p:cBhvr>
                                        <p:cTn id="17" dur="1" fill="hold">
                                          <p:stCondLst>
                                            <p:cond delay="0"/>
                                          </p:stCondLst>
                                        </p:cTn>
                                        <p:tgtEl>
                                          <p:spTgt spid="19459">
                                            <p:txEl>
                                              <p:charRg st="85" end="143"/>
                                            </p:txEl>
                                          </p:spTgt>
                                        </p:tgtEl>
                                        <p:attrNameLst>
                                          <p:attrName>style.visibility</p:attrName>
                                        </p:attrNameLst>
                                      </p:cBhvr>
                                      <p:to>
                                        <p:strVal val="visible"/>
                                      </p:to>
                                    </p:set>
                                    <p:animEffect transition="in" filter="strips(downRight)">
                                      <p:cBhvr>
                                        <p:cTn id="18" dur="500"/>
                                        <p:tgtEl>
                                          <p:spTgt spid="19459">
                                            <p:txEl>
                                              <p:charRg st="85" end="143"/>
                                            </p:txEl>
                                          </p:spTgt>
                                        </p:tgtEl>
                                      </p:cBhvr>
                                    </p:animEffect>
                                  </p:childTnLst>
                                </p:cTn>
                              </p:par>
                            </p:childTnLst>
                          </p:cTn>
                        </p:par>
                        <p:par>
                          <p:cTn id="19" fill="hold">
                            <p:stCondLst>
                              <p:cond delay="1000"/>
                            </p:stCondLst>
                            <p:childTnLst>
                              <p:par>
                                <p:cTn id="20" presetID="18" presetClass="entr" presetSubtype="6" fill="hold" nodeType="afterEffect">
                                  <p:stCondLst>
                                    <p:cond delay="0"/>
                                  </p:stCondLst>
                                  <p:childTnLst>
                                    <p:set>
                                      <p:cBhvr>
                                        <p:cTn id="21" dur="1" fill="hold">
                                          <p:stCondLst>
                                            <p:cond delay="0"/>
                                          </p:stCondLst>
                                        </p:cTn>
                                        <p:tgtEl>
                                          <p:spTgt spid="19459">
                                            <p:txEl>
                                              <p:charRg st="143" end="203"/>
                                            </p:txEl>
                                          </p:spTgt>
                                        </p:tgtEl>
                                        <p:attrNameLst>
                                          <p:attrName>style.visibility</p:attrName>
                                        </p:attrNameLst>
                                      </p:cBhvr>
                                      <p:to>
                                        <p:strVal val="visible"/>
                                      </p:to>
                                    </p:set>
                                    <p:animEffect transition="in" filter="strips(downRight)">
                                      <p:cBhvr>
                                        <p:cTn id="22" dur="500"/>
                                        <p:tgtEl>
                                          <p:spTgt spid="19459">
                                            <p:txEl>
                                              <p:charRg st="143" end="203"/>
                                            </p:txEl>
                                          </p:spTgt>
                                        </p:tgtEl>
                                      </p:cBhvr>
                                    </p:animEffect>
                                  </p:childTnLst>
                                </p:cTn>
                              </p:par>
                            </p:childTnLst>
                          </p:cTn>
                        </p:par>
                        <p:par>
                          <p:cTn id="23" fill="hold">
                            <p:stCondLst>
                              <p:cond delay="1500"/>
                            </p:stCondLst>
                            <p:childTnLst>
                              <p:par>
                                <p:cTn id="24" presetID="18" presetClass="entr" presetSubtype="6" fill="hold" nodeType="afterEffect">
                                  <p:stCondLst>
                                    <p:cond delay="0"/>
                                  </p:stCondLst>
                                  <p:childTnLst>
                                    <p:set>
                                      <p:cBhvr>
                                        <p:cTn id="25" dur="1" fill="hold">
                                          <p:stCondLst>
                                            <p:cond delay="0"/>
                                          </p:stCondLst>
                                        </p:cTn>
                                        <p:tgtEl>
                                          <p:spTgt spid="19459">
                                            <p:txEl>
                                              <p:charRg st="203" end="260"/>
                                            </p:txEl>
                                          </p:spTgt>
                                        </p:tgtEl>
                                        <p:attrNameLst>
                                          <p:attrName>style.visibility</p:attrName>
                                        </p:attrNameLst>
                                      </p:cBhvr>
                                      <p:to>
                                        <p:strVal val="visible"/>
                                      </p:to>
                                    </p:set>
                                    <p:animEffect transition="in" filter="strips(downRight)">
                                      <p:cBhvr>
                                        <p:cTn id="26" dur="500"/>
                                        <p:tgtEl>
                                          <p:spTgt spid="19459">
                                            <p:txEl>
                                              <p:charRg st="203" end="260"/>
                                            </p:txEl>
                                          </p:spTgt>
                                        </p:tgtEl>
                                      </p:cBhvr>
                                    </p:animEffect>
                                  </p:childTnLst>
                                </p:cTn>
                              </p:par>
                            </p:childTnLst>
                          </p:cTn>
                        </p:par>
                        <p:par>
                          <p:cTn id="27" fill="hold">
                            <p:stCondLst>
                              <p:cond delay="2000"/>
                            </p:stCondLst>
                            <p:childTnLst>
                              <p:par>
                                <p:cTn id="28" presetID="18" presetClass="entr" presetSubtype="6" fill="hold" nodeType="afterEffect">
                                  <p:stCondLst>
                                    <p:cond delay="0"/>
                                  </p:stCondLst>
                                  <p:childTnLst>
                                    <p:set>
                                      <p:cBhvr>
                                        <p:cTn id="29" dur="1" fill="hold">
                                          <p:stCondLst>
                                            <p:cond delay="0"/>
                                          </p:stCondLst>
                                        </p:cTn>
                                        <p:tgtEl>
                                          <p:spTgt spid="19459">
                                            <p:txEl>
                                              <p:charRg st="260" end="320"/>
                                            </p:txEl>
                                          </p:spTgt>
                                        </p:tgtEl>
                                        <p:attrNameLst>
                                          <p:attrName>style.visibility</p:attrName>
                                        </p:attrNameLst>
                                      </p:cBhvr>
                                      <p:to>
                                        <p:strVal val="visible"/>
                                      </p:to>
                                    </p:set>
                                    <p:animEffect transition="in" filter="strips(downRight)">
                                      <p:cBhvr>
                                        <p:cTn id="30" dur="500"/>
                                        <p:tgtEl>
                                          <p:spTgt spid="19459">
                                            <p:txEl>
                                              <p:charRg st="260" end="320"/>
                                            </p:txEl>
                                          </p:spTgt>
                                        </p:tgtEl>
                                      </p:cBhvr>
                                    </p:animEffect>
                                  </p:childTnLst>
                                </p:cTn>
                              </p:par>
                            </p:childTnLst>
                          </p:cTn>
                        </p:par>
                        <p:par>
                          <p:cTn id="31" fill="hold">
                            <p:stCondLst>
                              <p:cond delay="2500"/>
                            </p:stCondLst>
                            <p:childTnLst>
                              <p:par>
                                <p:cTn id="32" presetID="18" presetClass="entr" presetSubtype="6" fill="hold" nodeType="afterEffect">
                                  <p:stCondLst>
                                    <p:cond delay="0"/>
                                  </p:stCondLst>
                                  <p:childTnLst>
                                    <p:set>
                                      <p:cBhvr>
                                        <p:cTn id="33" dur="1" fill="hold">
                                          <p:stCondLst>
                                            <p:cond delay="0"/>
                                          </p:stCondLst>
                                        </p:cTn>
                                        <p:tgtEl>
                                          <p:spTgt spid="19459">
                                            <p:txEl>
                                              <p:charRg st="320" end="380"/>
                                            </p:txEl>
                                          </p:spTgt>
                                        </p:tgtEl>
                                        <p:attrNameLst>
                                          <p:attrName>style.visibility</p:attrName>
                                        </p:attrNameLst>
                                      </p:cBhvr>
                                      <p:to>
                                        <p:strVal val="visible"/>
                                      </p:to>
                                    </p:set>
                                    <p:animEffect transition="in" filter="strips(downRight)">
                                      <p:cBhvr>
                                        <p:cTn id="34" dur="500"/>
                                        <p:tgtEl>
                                          <p:spTgt spid="19459">
                                            <p:txEl>
                                              <p:charRg st="320" end="380"/>
                                            </p:txEl>
                                          </p:spTgt>
                                        </p:tgtEl>
                                      </p:cBhvr>
                                    </p:animEffect>
                                  </p:childTnLst>
                                </p:cTn>
                              </p:par>
                            </p:childTnLst>
                          </p:cTn>
                        </p:par>
                        <p:par>
                          <p:cTn id="35" fill="hold">
                            <p:stCondLst>
                              <p:cond delay="3000"/>
                            </p:stCondLst>
                            <p:childTnLst>
                              <p:par>
                                <p:cTn id="36" presetID="18" presetClass="entr" presetSubtype="6" fill="hold" nodeType="afterEffect">
                                  <p:stCondLst>
                                    <p:cond delay="0"/>
                                  </p:stCondLst>
                                  <p:childTnLst>
                                    <p:set>
                                      <p:cBhvr>
                                        <p:cTn id="37" dur="1" fill="hold">
                                          <p:stCondLst>
                                            <p:cond delay="0"/>
                                          </p:stCondLst>
                                        </p:cTn>
                                        <p:tgtEl>
                                          <p:spTgt spid="19459">
                                            <p:txEl>
                                              <p:charRg st="380" end="437"/>
                                            </p:txEl>
                                          </p:spTgt>
                                        </p:tgtEl>
                                        <p:attrNameLst>
                                          <p:attrName>style.visibility</p:attrName>
                                        </p:attrNameLst>
                                      </p:cBhvr>
                                      <p:to>
                                        <p:strVal val="visible"/>
                                      </p:to>
                                    </p:set>
                                    <p:animEffect transition="in" filter="strips(downRight)">
                                      <p:cBhvr>
                                        <p:cTn id="38" dur="500"/>
                                        <p:tgtEl>
                                          <p:spTgt spid="19459">
                                            <p:txEl>
                                              <p:charRg st="380" end="43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6" fill="hold" nodeType="clickEffect">
                                  <p:stCondLst>
                                    <p:cond delay="0"/>
                                  </p:stCondLst>
                                  <p:childTnLst>
                                    <p:set>
                                      <p:cBhvr>
                                        <p:cTn id="42" dur="1" fill="hold">
                                          <p:stCondLst>
                                            <p:cond delay="0"/>
                                          </p:stCondLst>
                                        </p:cTn>
                                        <p:tgtEl>
                                          <p:spTgt spid="19461"/>
                                        </p:tgtEl>
                                        <p:attrNameLst>
                                          <p:attrName>style.visibility</p:attrName>
                                        </p:attrNameLst>
                                      </p:cBhvr>
                                      <p:to>
                                        <p:strVal val="visible"/>
                                      </p:to>
                                    </p:set>
                                    <p:animEffect transition="in" filter="strips(downRight)">
                                      <p:cBhvr>
                                        <p:cTn id="43" dur="1000"/>
                                        <p:tgtEl>
                                          <p:spTgt spid="19461"/>
                                        </p:tgtEl>
                                      </p:cBhvr>
                                    </p:animEffect>
                                  </p:childTnLst>
                                </p:cTn>
                              </p:par>
                            </p:childTnLst>
                          </p:cTn>
                        </p:par>
                        <p:par>
                          <p:cTn id="44" fill="hold">
                            <p:stCondLst>
                              <p:cond delay="1000"/>
                            </p:stCondLst>
                            <p:childTnLst>
                              <p:par>
                                <p:cTn id="45" presetID="3" presetClass="entr" presetSubtype="10" fill="hold" grpId="0" nodeType="afterEffect">
                                  <p:stCondLst>
                                    <p:cond delay="0"/>
                                  </p:stCondLst>
                                  <p:childTnLst>
                                    <p:set>
                                      <p:cBhvr>
                                        <p:cTn id="46" dur="1" fill="hold">
                                          <p:stCondLst>
                                            <p:cond delay="0"/>
                                          </p:stCondLst>
                                        </p:cTn>
                                        <p:tgtEl>
                                          <p:spTgt spid="19460"/>
                                        </p:tgtEl>
                                        <p:attrNameLst>
                                          <p:attrName>style.visibility</p:attrName>
                                        </p:attrNameLst>
                                      </p:cBhvr>
                                      <p:to>
                                        <p:strVal val="visible"/>
                                      </p:to>
                                    </p:set>
                                    <p:animEffect transition="in" filter="blinds(horizontal)">
                                      <p:cBhvr>
                                        <p:cTn id="47" dur="500"/>
                                        <p:tgtEl>
                                          <p:spTgt spid="19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050"/>
          <p:cNvSpPr>
            <a:spLocks noGrp="1"/>
          </p:cNvSpPr>
          <p:nvPr>
            <p:ph type="title" idx="4294967295"/>
          </p:nvPr>
        </p:nvSpPr>
        <p:spPr>
          <a:xfrm>
            <a:off x="914400" y="1125538"/>
            <a:ext cx="6553200" cy="563562"/>
          </a:xfrm>
        </p:spPr>
        <p:txBody>
          <a:bodyPr vert="horz" wrap="square" lIns="91440" tIns="45720" rIns="91440" bIns="45720" anchor="ctr" anchorCtr="0"/>
          <a:p>
            <a:pPr eaLnBrk="1" hangingPunct="1"/>
            <a:r>
              <a:rPr lang="zh-CN" altLang="en-US" dirty="0">
                <a:solidFill>
                  <a:srgbClr val="061E27"/>
                </a:solidFill>
                <a:latin typeface="宋体" panose="02010600030101010101" pitchFamily="2" charset="-122"/>
                <a:ea typeface="宋体" panose="02010600030101010101" pitchFamily="2" charset="-122"/>
              </a:rPr>
              <a:t>（</a:t>
            </a:r>
            <a:r>
              <a:rPr lang="en-US" altLang="zh-CN" dirty="0">
                <a:solidFill>
                  <a:srgbClr val="061E27"/>
                </a:solidFill>
                <a:latin typeface="宋体" panose="02010600030101010101" pitchFamily="2" charset="-122"/>
                <a:ea typeface="宋体" panose="02010600030101010101" pitchFamily="2" charset="-122"/>
              </a:rPr>
              <a:t>2</a:t>
            </a:r>
            <a:r>
              <a:rPr lang="zh-CN" altLang="en-US" dirty="0">
                <a:solidFill>
                  <a:srgbClr val="061E27"/>
                </a:solidFill>
                <a:latin typeface="宋体" panose="02010600030101010101" pitchFamily="2" charset="-122"/>
                <a:ea typeface="宋体" panose="02010600030101010101" pitchFamily="2" charset="-122"/>
              </a:rPr>
              <a:t>）堆栈操作指令</a:t>
            </a:r>
            <a:endParaRPr lang="zh-CN" altLang="en-US" dirty="0">
              <a:solidFill>
                <a:srgbClr val="061E27"/>
              </a:solidFill>
              <a:latin typeface="宋体" panose="02010600030101010101" pitchFamily="2" charset="-122"/>
              <a:ea typeface="宋体" panose="02010600030101010101" pitchFamily="2" charset="-122"/>
            </a:endParaRPr>
          </a:p>
        </p:txBody>
      </p:sp>
      <p:sp>
        <p:nvSpPr>
          <p:cNvPr id="20483" name="Rectangle 3"/>
          <p:cNvSpPr txBox="1"/>
          <p:nvPr/>
        </p:nvSpPr>
        <p:spPr>
          <a:xfrm>
            <a:off x="944563" y="2119313"/>
            <a:ext cx="6477000" cy="3756025"/>
          </a:xfrm>
          <a:prstGeom prst="rect">
            <a:avLst/>
          </a:prstGeom>
          <a:noFill/>
          <a:ln w="9525">
            <a:noFill/>
          </a:ln>
        </p:spPr>
        <p:txBody>
          <a:bodyPr/>
          <a:p>
            <a:pPr marL="342900" indent="-342900">
              <a:spcBef>
                <a:spcPct val="20000"/>
              </a:spcBef>
              <a:spcAft>
                <a:spcPct val="30000"/>
              </a:spcAft>
              <a:buClr>
                <a:schemeClr val="hlink"/>
              </a:buClr>
              <a:buFont typeface="Wingdings" panose="05000000000000000000" pitchFamily="2" charset="2"/>
              <a:buChar char="Ø"/>
            </a:pPr>
            <a:r>
              <a:rPr lang="zh-CN" altLang="en-US" sz="2800" b="1" dirty="0">
                <a:latin typeface="宋体" panose="02010600030101010101" pitchFamily="2" charset="-122"/>
                <a:ea typeface="宋体" panose="02010600030101010101" pitchFamily="2" charset="-122"/>
              </a:rPr>
              <a:t>压栈指令 </a:t>
            </a:r>
            <a:r>
              <a:rPr lang="en-US" altLang="zh-CN" sz="2800" b="1" dirty="0">
                <a:latin typeface="宋体" panose="02010600030101010101" pitchFamily="2" charset="-122"/>
                <a:ea typeface="宋体" panose="02010600030101010101" pitchFamily="2" charset="-122"/>
              </a:rPr>
              <a:t>PUSH</a:t>
            </a:r>
            <a:endParaRPr lang="en-US" altLang="zh-CN" sz="2800" b="1" dirty="0">
              <a:latin typeface="宋体" panose="02010600030101010101" pitchFamily="2" charset="-122"/>
              <a:ea typeface="宋体" panose="02010600030101010101" pitchFamily="2" charset="-122"/>
            </a:endParaRPr>
          </a:p>
          <a:p>
            <a:pPr marL="342900" indent="-342900">
              <a:spcBef>
                <a:spcPct val="20000"/>
              </a:spcBef>
              <a:spcAft>
                <a:spcPct val="30000"/>
              </a:spcAft>
              <a:buClr>
                <a:schemeClr val="hlink"/>
              </a:buClr>
              <a:buFont typeface="Wingdings" panose="05000000000000000000" pitchFamily="2" charset="2"/>
            </a:pP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格式</a:t>
            </a:r>
            <a:r>
              <a:rPr lang="en-US" altLang="zh-CN" sz="2800" b="1" dirty="0">
                <a:latin typeface="宋体" panose="02010600030101010101" pitchFamily="2" charset="-122"/>
                <a:ea typeface="宋体" panose="02010600030101010101" pitchFamily="2" charset="-122"/>
              </a:rPr>
              <a:t>:  PUSH  OPRD</a:t>
            </a:r>
            <a:endParaRPr lang="en-US" altLang="zh-CN" sz="2800" b="1" dirty="0">
              <a:latin typeface="宋体" panose="02010600030101010101" pitchFamily="2" charset="-122"/>
              <a:ea typeface="宋体" panose="02010600030101010101" pitchFamily="2" charset="-122"/>
            </a:endParaRPr>
          </a:p>
          <a:p>
            <a:pPr marL="342900" indent="-342900" algn="just">
              <a:spcBef>
                <a:spcPct val="50000"/>
              </a:spcBef>
              <a:spcAft>
                <a:spcPct val="30000"/>
              </a:spcAft>
              <a:buClr>
                <a:schemeClr val="hlink"/>
              </a:buClr>
              <a:buFont typeface="Wingdings" panose="05000000000000000000" pitchFamily="2" charset="2"/>
              <a:buChar char="Ø"/>
            </a:pPr>
            <a:r>
              <a:rPr lang="zh-CN" altLang="en-US" sz="2800" b="1" dirty="0">
                <a:latin typeface="宋体" panose="02010600030101010101" pitchFamily="2" charset="-122"/>
                <a:ea typeface="宋体" panose="02010600030101010101" pitchFamily="2" charset="-122"/>
              </a:rPr>
              <a:t>出栈指令 </a:t>
            </a:r>
            <a:r>
              <a:rPr lang="en-US" altLang="zh-CN" sz="2800" b="1" dirty="0">
                <a:latin typeface="宋体" panose="02010600030101010101" pitchFamily="2" charset="-122"/>
                <a:ea typeface="宋体" panose="02010600030101010101" pitchFamily="2" charset="-122"/>
              </a:rPr>
              <a:t>POP</a:t>
            </a:r>
            <a:endParaRPr lang="en-US" altLang="zh-CN" sz="2800" b="1" dirty="0">
              <a:latin typeface="宋体" panose="02010600030101010101" pitchFamily="2" charset="-122"/>
              <a:ea typeface="宋体" panose="02010600030101010101" pitchFamily="2" charset="-122"/>
            </a:endParaRPr>
          </a:p>
          <a:p>
            <a:pPr marL="342900" indent="-342900" algn="just">
              <a:spcBef>
                <a:spcPct val="20000"/>
              </a:spcBef>
              <a:spcAft>
                <a:spcPct val="30000"/>
              </a:spcAft>
              <a:buClr>
                <a:schemeClr val="hlink"/>
              </a:buClr>
              <a:buFont typeface="Wingdings" panose="05000000000000000000" pitchFamily="2" charset="2"/>
            </a:pPr>
            <a:r>
              <a:rPr lang="en-US" altLang="zh-CN" sz="2800" b="1" dirty="0">
                <a:latin typeface="宋体" panose="02010600030101010101" pitchFamily="2" charset="-122"/>
                <a:ea typeface="宋体" panose="02010600030101010101" pitchFamily="2" charset="-122"/>
              </a:rPr>
              <a:t>     </a:t>
            </a:r>
            <a:r>
              <a:rPr lang="zh-CN" altLang="en-US" sz="2800" b="1" dirty="0">
                <a:latin typeface="宋体" panose="02010600030101010101" pitchFamily="2" charset="-122"/>
                <a:ea typeface="宋体" panose="02010600030101010101" pitchFamily="2" charset="-122"/>
              </a:rPr>
              <a:t>格式</a:t>
            </a:r>
            <a:r>
              <a:rPr lang="en-US" altLang="zh-CN" sz="2800" b="1" dirty="0">
                <a:latin typeface="宋体" panose="02010600030101010101" pitchFamily="2" charset="-122"/>
                <a:ea typeface="宋体" panose="02010600030101010101" pitchFamily="2" charset="-122"/>
              </a:rPr>
              <a:t>:  POP  OPRD</a:t>
            </a:r>
            <a:endParaRPr lang="en-US" altLang="zh-CN" sz="2800" b="1" dirty="0">
              <a:latin typeface="宋体" panose="02010600030101010101" pitchFamily="2" charset="-122"/>
              <a:ea typeface="宋体" panose="02010600030101010101" pitchFamily="2" charset="-122"/>
            </a:endParaRPr>
          </a:p>
        </p:txBody>
      </p:sp>
      <p:sp>
        <p:nvSpPr>
          <p:cNvPr id="19460" name="文本框 1"/>
          <p:cNvSpPr txBox="1"/>
          <p:nvPr/>
        </p:nvSpPr>
        <p:spPr>
          <a:xfrm>
            <a:off x="315913" y="5205413"/>
            <a:ext cx="8512175" cy="517525"/>
          </a:xfrm>
          <a:prstGeom prst="rect">
            <a:avLst/>
          </a:prstGeom>
          <a:noFill/>
          <a:ln w="19050" cap="flat" cmpd="sng">
            <a:solidFill>
              <a:schemeClr val="tx1"/>
            </a:solidFill>
            <a:prstDash val="solid"/>
            <a:miter/>
            <a:headEnd type="none" w="med" len="med"/>
            <a:tailEnd type="none" w="med" len="med"/>
          </a:ln>
        </p:spPr>
        <p:txBody>
          <a:bodyPr>
            <a:spAutoFit/>
          </a:bodyPr>
          <a:p>
            <a:pPr eaLnBrk="0" hangingPunct="0">
              <a:buFont typeface="Wingdings" panose="05000000000000000000" pitchFamily="2" charset="2"/>
            </a:pPr>
            <a:r>
              <a:rPr lang="en-US" altLang="zh-CN" sz="2800" dirty="0">
                <a:latin typeface="Arial" panose="020B0604020202020204" pitchFamily="34" charset="0"/>
                <a:ea typeface="楷体_GB2312" pitchFamily="49" charset="-122"/>
              </a:rPr>
              <a:t>OPRD</a:t>
            </a:r>
            <a:r>
              <a:rPr lang="zh-CN" altLang="en-US" sz="2800" dirty="0">
                <a:latin typeface="Arial" panose="020B0604020202020204" pitchFamily="34" charset="0"/>
                <a:ea typeface="楷体_GB2312" pitchFamily="49" charset="-122"/>
              </a:rPr>
              <a:t>只能是</a:t>
            </a:r>
            <a:r>
              <a:rPr lang="en-US" altLang="zh-CN" sz="2800" dirty="0">
                <a:latin typeface="Arial" panose="020B0604020202020204" pitchFamily="34" charset="0"/>
                <a:ea typeface="楷体_GB2312" pitchFamily="49" charset="-122"/>
              </a:rPr>
              <a:t>16</a:t>
            </a:r>
            <a:r>
              <a:rPr lang="zh-CN" altLang="en-US" sz="2800" dirty="0">
                <a:latin typeface="Arial" panose="020B0604020202020204" pitchFamily="34" charset="0"/>
                <a:ea typeface="楷体_GB2312" pitchFamily="49" charset="-122"/>
              </a:rPr>
              <a:t>位寄存器或存储器操作数（两单元）</a:t>
            </a:r>
            <a:endParaRPr lang="zh-CN" altLang="en-US" sz="2800" dirty="0">
              <a:latin typeface="Arial" panose="020B0604020202020204" pitchFamily="34" charset="0"/>
              <a:ea typeface="楷体_GB2312" pitchFamily="49"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483">
                                            <p:txEl>
                                              <p:charRg st="0" end="10"/>
                                            </p:txEl>
                                          </p:spTgt>
                                        </p:tgtEl>
                                        <p:attrNameLst>
                                          <p:attrName>style.visibility</p:attrName>
                                        </p:attrNameLst>
                                      </p:cBhvr>
                                      <p:to>
                                        <p:strVal val="visible"/>
                                      </p:to>
                                    </p:set>
                                    <p:animEffect transition="in" filter="wipe(left)">
                                      <p:cBhvr>
                                        <p:cTn id="7" dur="500"/>
                                        <p:tgtEl>
                                          <p:spTgt spid="20483">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3">
                                            <p:txEl>
                                              <p:charRg st="10" end="31"/>
                                            </p:txEl>
                                          </p:spTgt>
                                        </p:tgtEl>
                                        <p:attrNameLst>
                                          <p:attrName>style.visibility</p:attrName>
                                        </p:attrNameLst>
                                      </p:cBhvr>
                                      <p:to>
                                        <p:strVal val="visible"/>
                                      </p:to>
                                    </p:set>
                                    <p:animEffect transition="in" filter="wipe(left)">
                                      <p:cBhvr>
                                        <p:cTn id="12" dur="500"/>
                                        <p:tgtEl>
                                          <p:spTgt spid="20483">
                                            <p:txEl>
                                              <p:charRg st="10" end="3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3">
                                            <p:txEl>
                                              <p:charRg st="31" end="40"/>
                                            </p:txEl>
                                          </p:spTgt>
                                        </p:tgtEl>
                                        <p:attrNameLst>
                                          <p:attrName>style.visibility</p:attrName>
                                        </p:attrNameLst>
                                      </p:cBhvr>
                                      <p:to>
                                        <p:strVal val="visible"/>
                                      </p:to>
                                    </p:set>
                                    <p:animEffect transition="in" filter="wipe(left)">
                                      <p:cBhvr>
                                        <p:cTn id="17" dur="500"/>
                                        <p:tgtEl>
                                          <p:spTgt spid="20483">
                                            <p:txEl>
                                              <p:charRg st="31" end="4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3">
                                            <p:txEl>
                                              <p:charRg st="40" end="60"/>
                                            </p:txEl>
                                          </p:spTgt>
                                        </p:tgtEl>
                                        <p:attrNameLst>
                                          <p:attrName>style.visibility</p:attrName>
                                        </p:attrNameLst>
                                      </p:cBhvr>
                                      <p:to>
                                        <p:strVal val="visible"/>
                                      </p:to>
                                    </p:set>
                                    <p:animEffect transition="in" filter="wipe(left)">
                                      <p:cBhvr>
                                        <p:cTn id="22" dur="500"/>
                                        <p:tgtEl>
                                          <p:spTgt spid="20483">
                                            <p:txEl>
                                              <p:charRg st="40" end="6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idx="4294967295"/>
          </p:nvPr>
        </p:nvSpPr>
        <p:spPr>
          <a:xfrm>
            <a:off x="636588" y="1096963"/>
            <a:ext cx="6553200" cy="563562"/>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61E27"/>
                </a:solidFill>
                <a:latin typeface="宋体" panose="02010600030101010101" pitchFamily="2" charset="-122"/>
                <a:ea typeface="宋体" panose="02010600030101010101" pitchFamily="2" charset="-122"/>
              </a:rPr>
              <a:t>压栈指令 </a:t>
            </a:r>
            <a:r>
              <a:rPr lang="en-US" altLang="zh-CN" dirty="0">
                <a:solidFill>
                  <a:srgbClr val="061E27"/>
                </a:solidFill>
                <a:latin typeface="宋体" panose="02010600030101010101" pitchFamily="2" charset="-122"/>
                <a:ea typeface="宋体" panose="02010600030101010101" pitchFamily="2" charset="-122"/>
              </a:rPr>
              <a:t>PUSH</a:t>
            </a:r>
            <a:endParaRPr lang="en-US" altLang="zh-CN" dirty="0">
              <a:solidFill>
                <a:srgbClr val="061E27"/>
              </a:solidFill>
              <a:latin typeface="宋体" panose="02010600030101010101" pitchFamily="2" charset="-122"/>
              <a:ea typeface="宋体" panose="02010600030101010101" pitchFamily="2" charset="-122"/>
            </a:endParaRPr>
          </a:p>
        </p:txBody>
      </p:sp>
      <p:sp>
        <p:nvSpPr>
          <p:cNvPr id="21507" name="Rectangle 3"/>
          <p:cNvSpPr>
            <a:spLocks noGrp="1"/>
          </p:cNvSpPr>
          <p:nvPr>
            <p:ph type="body" idx="4294967295"/>
          </p:nvPr>
        </p:nvSpPr>
        <p:spPr>
          <a:xfrm>
            <a:off x="611188" y="2049463"/>
            <a:ext cx="4973637" cy="3540125"/>
          </a:xfrm>
        </p:spPr>
        <p:txBody>
          <a:bodyPr vert="horz" wrap="square" lIns="91440" tIns="45720" rIns="91440" bIns="45720" anchor="t" anchorCtr="0"/>
          <a:p>
            <a:pPr algn="just" eaLnBrk="1" hangingPunct="1">
              <a:spcAft>
                <a:spcPct val="30000"/>
              </a:spcAft>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指令执行过程：</a:t>
            </a:r>
            <a:endParaRPr lang="zh-CN" altLang="en-US" dirty="0">
              <a:latin typeface="宋体" panose="02010600030101010101" pitchFamily="2" charset="-122"/>
              <a:ea typeface="宋体" panose="02010600030101010101" pitchFamily="2" charset="-122"/>
            </a:endParaRPr>
          </a:p>
          <a:p>
            <a:pPr marL="457200" lvl="1" indent="0" algn="just" eaLnBrk="1" hangingPunct="1">
              <a:lnSpc>
                <a:spcPct val="115000"/>
              </a:lnSpc>
              <a:buNone/>
            </a:pPr>
            <a:r>
              <a:rPr lang="en-US" altLang="zh-CN" dirty="0">
                <a:latin typeface="宋体" panose="02010600030101010101" pitchFamily="2" charset="-122"/>
                <a:ea typeface="宋体" panose="02010600030101010101" pitchFamily="2" charset="-122"/>
              </a:rPr>
              <a:t>SP - 2 </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 SP</a:t>
            </a:r>
            <a:endParaRPr lang="en-US" altLang="zh-CN" dirty="0">
              <a:latin typeface="宋体" panose="02010600030101010101" pitchFamily="2" charset="-122"/>
              <a:ea typeface="宋体" panose="02010600030101010101" pitchFamily="2" charset="-122"/>
            </a:endParaRPr>
          </a:p>
          <a:p>
            <a:pPr marL="457200" lvl="1" indent="0" algn="just" eaLnBrk="1" hangingPunct="1">
              <a:lnSpc>
                <a:spcPct val="115000"/>
              </a:lnSpc>
              <a:buNone/>
            </a:pPr>
            <a:r>
              <a:rPr lang="zh-CN" altLang="en-US" dirty="0">
                <a:latin typeface="宋体" panose="02010600030101010101" pitchFamily="2" charset="-122"/>
                <a:ea typeface="宋体" panose="02010600030101010101" pitchFamily="2" charset="-122"/>
              </a:rPr>
              <a:t>操作数高字节 → </a:t>
            </a:r>
            <a:r>
              <a:rPr lang="en-US" altLang="zh-CN" dirty="0">
                <a:latin typeface="宋体" panose="02010600030101010101" pitchFamily="2" charset="-122"/>
                <a:ea typeface="宋体" panose="02010600030101010101" pitchFamily="2" charset="-122"/>
              </a:rPr>
              <a:t>SP+1</a:t>
            </a:r>
            <a:endParaRPr lang="zh-CN" altLang="en-US" dirty="0">
              <a:latin typeface="宋体" panose="02010600030101010101" pitchFamily="2" charset="-122"/>
              <a:ea typeface="宋体" panose="02010600030101010101" pitchFamily="2" charset="-122"/>
            </a:endParaRPr>
          </a:p>
          <a:p>
            <a:pPr marL="457200" lvl="1" indent="0" algn="just" eaLnBrk="1" hangingPunct="1">
              <a:lnSpc>
                <a:spcPct val="115000"/>
              </a:lnSpc>
              <a:buNone/>
            </a:pPr>
            <a:r>
              <a:rPr lang="zh-CN" altLang="en-US" dirty="0">
                <a:latin typeface="宋体" panose="02010600030101010101" pitchFamily="2" charset="-122"/>
                <a:ea typeface="宋体" panose="02010600030101010101" pitchFamily="2" charset="-122"/>
              </a:rPr>
              <a:t>操作数低字节 → </a:t>
            </a:r>
            <a:r>
              <a:rPr lang="en-US" altLang="zh-CN" dirty="0">
                <a:latin typeface="宋体" panose="02010600030101010101" pitchFamily="2" charset="-122"/>
                <a:ea typeface="宋体" panose="02010600030101010101" pitchFamily="2" charset="-122"/>
              </a:rPr>
              <a:t>SP</a:t>
            </a:r>
            <a:endParaRPr lang="zh-CN" altLang="en-US" dirty="0">
              <a:latin typeface="宋体" panose="02010600030101010101" pitchFamily="2" charset="-122"/>
              <a:ea typeface="宋体" panose="02010600030101010101" pitchFamily="2" charset="-122"/>
            </a:endParaRPr>
          </a:p>
        </p:txBody>
      </p:sp>
      <p:sp>
        <p:nvSpPr>
          <p:cNvPr id="21508" name="Rectangle 5"/>
          <p:cNvSpPr/>
          <p:nvPr/>
        </p:nvSpPr>
        <p:spPr>
          <a:xfrm>
            <a:off x="6343650" y="4238625"/>
            <a:ext cx="1458913"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1509" name="Rectangle 6"/>
          <p:cNvSpPr/>
          <p:nvPr/>
        </p:nvSpPr>
        <p:spPr>
          <a:xfrm>
            <a:off x="6343650" y="4602163"/>
            <a:ext cx="1458913"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1510" name="Rectangle 7"/>
          <p:cNvSpPr/>
          <p:nvPr/>
        </p:nvSpPr>
        <p:spPr>
          <a:xfrm>
            <a:off x="6343650" y="4962525"/>
            <a:ext cx="1458913" cy="381000"/>
          </a:xfrm>
          <a:prstGeom prst="rect">
            <a:avLst/>
          </a:prstGeom>
          <a:solidFill>
            <a:srgbClr val="99CCFF"/>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1511" name="Line 8"/>
          <p:cNvSpPr/>
          <p:nvPr/>
        </p:nvSpPr>
        <p:spPr>
          <a:xfrm>
            <a:off x="6343650" y="3233738"/>
            <a:ext cx="0" cy="2903537"/>
          </a:xfrm>
          <a:prstGeom prst="line">
            <a:avLst/>
          </a:prstGeom>
          <a:ln w="12700" cap="sq" cmpd="sng">
            <a:solidFill>
              <a:schemeClr val="tx1"/>
            </a:solidFill>
            <a:prstDash val="solid"/>
            <a:headEnd type="none" w="med" len="med"/>
            <a:tailEnd type="none" w="med" len="med"/>
          </a:ln>
        </p:spPr>
      </p:sp>
      <p:sp>
        <p:nvSpPr>
          <p:cNvPr id="21512" name="Line 9"/>
          <p:cNvSpPr/>
          <p:nvPr/>
        </p:nvSpPr>
        <p:spPr>
          <a:xfrm>
            <a:off x="7804150" y="3213100"/>
            <a:ext cx="0" cy="2903538"/>
          </a:xfrm>
          <a:prstGeom prst="line">
            <a:avLst/>
          </a:prstGeom>
          <a:ln w="12700" cap="sq" cmpd="sng">
            <a:solidFill>
              <a:schemeClr val="tx1"/>
            </a:solidFill>
            <a:prstDash val="solid"/>
            <a:headEnd type="none" w="med" len="med"/>
            <a:tailEnd type="none" w="med" len="med"/>
          </a:ln>
        </p:spPr>
      </p:sp>
      <p:sp>
        <p:nvSpPr>
          <p:cNvPr id="21513" name="Freeform 10"/>
          <p:cNvSpPr/>
          <p:nvPr/>
        </p:nvSpPr>
        <p:spPr>
          <a:xfrm>
            <a:off x="6343650" y="5799138"/>
            <a:ext cx="1457325" cy="444500"/>
          </a:xfrm>
          <a:custGeom>
            <a:avLst/>
            <a:gdLst>
              <a:gd name="txL" fmla="*/ 0 w 1091"/>
              <a:gd name="txT" fmla="*/ 0 h 280"/>
              <a:gd name="txR" fmla="*/ 1091 w 1091"/>
              <a:gd name="txB" fmla="*/ 280 h 280"/>
            </a:gdLst>
            <a:ahLst/>
            <a:cxnLst>
              <a:cxn ang="0">
                <a:pos x="19626464" y="559474642"/>
              </a:cxn>
              <a:cxn ang="0">
                <a:pos x="85645544" y="466228108"/>
              </a:cxn>
              <a:cxn ang="0">
                <a:pos x="183780572" y="372983062"/>
              </a:cxn>
              <a:cxn ang="0">
                <a:pos x="365777892" y="209172183"/>
              </a:cxn>
              <a:cxn ang="0">
                <a:pos x="595949650" y="0"/>
              </a:cxn>
              <a:cxn ang="0">
                <a:pos x="777947053" y="22680609"/>
              </a:cxn>
              <a:cxn ang="0">
                <a:pos x="876082019" y="163810928"/>
              </a:cxn>
              <a:cxn ang="0">
                <a:pos x="1040236049" y="302418717"/>
              </a:cxn>
              <a:cxn ang="0">
                <a:pos x="1534481724" y="652721176"/>
              </a:cxn>
              <a:cxn ang="0">
                <a:pos x="1830672546" y="652721176"/>
              </a:cxn>
              <a:cxn ang="0">
                <a:pos x="1864574371" y="604837435"/>
              </a:cxn>
              <a:cxn ang="0">
                <a:pos x="1914533480" y="559474642"/>
              </a:cxn>
              <a:cxn ang="0">
                <a:pos x="1946650718" y="511590900"/>
              </a:cxn>
            </a:cxnLst>
            <a:rect l="txL" t="txT" r="txR" b="txB"/>
            <a:pathLst>
              <a:path w="1091" h="280">
                <a:moveTo>
                  <a:pt x="11" y="222"/>
                </a:moveTo>
                <a:cubicBezTo>
                  <a:pt x="85" y="198"/>
                  <a:pt x="0" y="234"/>
                  <a:pt x="48" y="185"/>
                </a:cubicBezTo>
                <a:cubicBezTo>
                  <a:pt x="64" y="169"/>
                  <a:pt x="87" y="164"/>
                  <a:pt x="103" y="148"/>
                </a:cubicBezTo>
                <a:cubicBezTo>
                  <a:pt x="133" y="118"/>
                  <a:pt x="166" y="97"/>
                  <a:pt x="205" y="83"/>
                </a:cubicBezTo>
                <a:cubicBezTo>
                  <a:pt x="245" y="43"/>
                  <a:pt x="281" y="17"/>
                  <a:pt x="334" y="0"/>
                </a:cubicBezTo>
                <a:cubicBezTo>
                  <a:pt x="368" y="3"/>
                  <a:pt x="403" y="1"/>
                  <a:pt x="436" y="9"/>
                </a:cubicBezTo>
                <a:cubicBezTo>
                  <a:pt x="452" y="13"/>
                  <a:pt x="477" y="54"/>
                  <a:pt x="491" y="65"/>
                </a:cubicBezTo>
                <a:cubicBezTo>
                  <a:pt x="535" y="99"/>
                  <a:pt x="540" y="99"/>
                  <a:pt x="583" y="120"/>
                </a:cubicBezTo>
                <a:cubicBezTo>
                  <a:pt x="660" y="197"/>
                  <a:pt x="753" y="242"/>
                  <a:pt x="860" y="259"/>
                </a:cubicBezTo>
                <a:cubicBezTo>
                  <a:pt x="925" y="280"/>
                  <a:pt x="912" y="279"/>
                  <a:pt x="1026" y="259"/>
                </a:cubicBezTo>
                <a:cubicBezTo>
                  <a:pt x="1035" y="257"/>
                  <a:pt x="1038" y="246"/>
                  <a:pt x="1045" y="240"/>
                </a:cubicBezTo>
                <a:cubicBezTo>
                  <a:pt x="1054" y="233"/>
                  <a:pt x="1064" y="229"/>
                  <a:pt x="1073" y="222"/>
                </a:cubicBezTo>
                <a:cubicBezTo>
                  <a:pt x="1080" y="217"/>
                  <a:pt x="1091" y="203"/>
                  <a:pt x="1091" y="203"/>
                </a:cubicBezTo>
              </a:path>
            </a:pathLst>
          </a:custGeom>
          <a:noFill/>
          <a:ln w="12700" cap="sq" cmpd="sng">
            <a:solidFill>
              <a:schemeClr val="tx1">
                <a:alpha val="100000"/>
              </a:schemeClr>
            </a:solidFill>
            <a:prstDash val="solid"/>
            <a:miter lim="800000"/>
            <a:headEnd type="none" w="med" len="med"/>
            <a:tailEnd type="none" w="med" len="med"/>
          </a:ln>
        </p:spPr>
        <p:txBody>
          <a:bodyPr/>
          <a:p>
            <a:endParaRPr lang="zh-CN" altLang="en-US"/>
          </a:p>
        </p:txBody>
      </p:sp>
      <p:sp>
        <p:nvSpPr>
          <p:cNvPr id="21514" name="Text Box 11"/>
          <p:cNvSpPr txBox="1"/>
          <p:nvPr/>
        </p:nvSpPr>
        <p:spPr>
          <a:xfrm>
            <a:off x="6800850" y="3348038"/>
            <a:ext cx="609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latin typeface="宋体" panose="02010600030101010101" pitchFamily="2" charset="-122"/>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p:txBody>
      </p:sp>
      <p:sp>
        <p:nvSpPr>
          <p:cNvPr id="21515" name="Rectangle 12"/>
          <p:cNvSpPr/>
          <p:nvPr/>
        </p:nvSpPr>
        <p:spPr>
          <a:xfrm>
            <a:off x="6343650" y="3868738"/>
            <a:ext cx="1458913"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1516" name="Text Box 13"/>
          <p:cNvSpPr txBox="1"/>
          <p:nvPr/>
        </p:nvSpPr>
        <p:spPr>
          <a:xfrm>
            <a:off x="5148263" y="4948238"/>
            <a:ext cx="792162" cy="457200"/>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SP</a:t>
            </a:r>
            <a:endParaRPr lang="en-US" altLang="zh-CN" sz="2400" b="1" dirty="0">
              <a:latin typeface="Times New Roman" panose="02020603050405020304" pitchFamily="18" charset="0"/>
              <a:ea typeface="宋体" panose="02010600030101010101" pitchFamily="2" charset="-122"/>
            </a:endParaRPr>
          </a:p>
        </p:txBody>
      </p:sp>
      <p:sp>
        <p:nvSpPr>
          <p:cNvPr id="21517" name="Line 14"/>
          <p:cNvSpPr/>
          <p:nvPr/>
        </p:nvSpPr>
        <p:spPr>
          <a:xfrm>
            <a:off x="5721350" y="5162550"/>
            <a:ext cx="576263" cy="0"/>
          </a:xfrm>
          <a:prstGeom prst="line">
            <a:avLst/>
          </a:prstGeom>
          <a:ln w="22225" cap="flat" cmpd="sng">
            <a:solidFill>
              <a:srgbClr val="FF6600"/>
            </a:solidFill>
            <a:prstDash val="solid"/>
            <a:headEnd type="none" w="med" len="med"/>
            <a:tailEnd type="triangle" w="lg" len="lg"/>
          </a:ln>
        </p:spPr>
      </p:sp>
      <p:sp>
        <p:nvSpPr>
          <p:cNvPr id="21518" name="Text Box 15"/>
          <p:cNvSpPr txBox="1"/>
          <p:nvPr/>
        </p:nvSpPr>
        <p:spPr>
          <a:xfrm>
            <a:off x="8239125" y="4060825"/>
            <a:ext cx="457200" cy="10064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堆栈段</a:t>
            </a:r>
            <a:endParaRPr lang="zh-CN" altLang="en-US" sz="2000" b="1" dirty="0">
              <a:latin typeface="Times New Roman" panose="02020603050405020304" pitchFamily="18" charset="0"/>
              <a:ea typeface="宋体" panose="02010600030101010101" pitchFamily="2" charset="-122"/>
            </a:endParaRPr>
          </a:p>
        </p:txBody>
      </p:sp>
      <p:sp>
        <p:nvSpPr>
          <p:cNvPr id="21519" name="AutoShape 16"/>
          <p:cNvSpPr/>
          <p:nvPr/>
        </p:nvSpPr>
        <p:spPr>
          <a:xfrm>
            <a:off x="7939088" y="3848100"/>
            <a:ext cx="304800" cy="1447800"/>
          </a:xfrm>
          <a:prstGeom prst="rightBrace">
            <a:avLst>
              <a:gd name="adj1" fmla="val 39275"/>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1520" name="Text Box 17"/>
          <p:cNvSpPr txBox="1"/>
          <p:nvPr/>
        </p:nvSpPr>
        <p:spPr>
          <a:xfrm>
            <a:off x="5148263" y="4227513"/>
            <a:ext cx="862012" cy="457200"/>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SP</a:t>
            </a:r>
            <a:endParaRPr lang="en-US" altLang="zh-CN" sz="2400" b="1" dirty="0">
              <a:latin typeface="Times New Roman" panose="02020603050405020304" pitchFamily="18" charset="0"/>
              <a:ea typeface="宋体" panose="02010600030101010101" pitchFamily="2" charset="-122"/>
            </a:endParaRPr>
          </a:p>
        </p:txBody>
      </p:sp>
      <p:sp>
        <p:nvSpPr>
          <p:cNvPr id="21521" name="Line 18"/>
          <p:cNvSpPr/>
          <p:nvPr/>
        </p:nvSpPr>
        <p:spPr>
          <a:xfrm>
            <a:off x="5721350" y="4441825"/>
            <a:ext cx="576263" cy="0"/>
          </a:xfrm>
          <a:prstGeom prst="line">
            <a:avLst/>
          </a:prstGeom>
          <a:ln w="22225" cap="flat" cmpd="sng">
            <a:solidFill>
              <a:srgbClr val="FF6600"/>
            </a:solidFill>
            <a:prstDash val="solid"/>
            <a:headEnd type="none" w="med" len="med"/>
            <a:tailEnd type="triangle" w="lg" len="lg"/>
          </a:ln>
        </p:spPr>
      </p:sp>
      <p:sp>
        <p:nvSpPr>
          <p:cNvPr id="21522" name="Text Box 19"/>
          <p:cNvSpPr txBox="1"/>
          <p:nvPr/>
        </p:nvSpPr>
        <p:spPr>
          <a:xfrm>
            <a:off x="6403975" y="4587875"/>
            <a:ext cx="1219200" cy="461963"/>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高</a:t>
            </a:r>
            <a:r>
              <a:rPr lang="en-US" altLang="zh-CN" sz="2400" b="1" dirty="0">
                <a:solidFill>
                  <a:schemeClr val="bg1"/>
                </a:solidFill>
                <a:latin typeface="Times New Roman" panose="02020603050405020304" pitchFamily="18" charset="0"/>
                <a:ea typeface="宋体" panose="02010600030101010101" pitchFamily="2" charset="-122"/>
              </a:rPr>
              <a:t>8</a:t>
            </a:r>
            <a:r>
              <a:rPr lang="zh-CN" altLang="en-US" sz="2400" b="1" dirty="0">
                <a:solidFill>
                  <a:schemeClr val="bg1"/>
                </a:solidFill>
                <a:latin typeface="Times New Roman" panose="02020603050405020304" pitchFamily="18" charset="0"/>
                <a:ea typeface="宋体" panose="02010600030101010101" pitchFamily="2" charset="-122"/>
              </a:rPr>
              <a:t>位</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21523" name="Text Box 20"/>
          <p:cNvSpPr txBox="1"/>
          <p:nvPr/>
        </p:nvSpPr>
        <p:spPr>
          <a:xfrm>
            <a:off x="6432550" y="4227513"/>
            <a:ext cx="1190625" cy="461962"/>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低</a:t>
            </a:r>
            <a:r>
              <a:rPr lang="en-US" altLang="zh-CN" sz="2400" b="1" dirty="0">
                <a:solidFill>
                  <a:schemeClr val="bg1"/>
                </a:solidFill>
                <a:latin typeface="Times New Roman" panose="02020603050405020304" pitchFamily="18" charset="0"/>
                <a:ea typeface="宋体" panose="02010600030101010101" pitchFamily="2" charset="-122"/>
              </a:rPr>
              <a:t>8</a:t>
            </a:r>
            <a:r>
              <a:rPr lang="zh-CN" altLang="en-US" sz="2400" b="1" dirty="0">
                <a:solidFill>
                  <a:schemeClr val="bg1"/>
                </a:solidFill>
                <a:latin typeface="Times New Roman" panose="02020603050405020304" pitchFamily="18" charset="0"/>
                <a:ea typeface="宋体" panose="02010600030101010101" pitchFamily="2" charset="-122"/>
              </a:rPr>
              <a:t>位</a:t>
            </a:r>
            <a:endParaRPr lang="zh-CN" altLang="en-US" sz="2400" b="1" dirty="0">
              <a:solidFill>
                <a:schemeClr val="bg1"/>
              </a:solidFill>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1507">
                                            <p:txEl>
                                              <p:charRg st="0" end="8"/>
                                            </p:txEl>
                                          </p:spTgt>
                                        </p:tgtEl>
                                        <p:attrNameLst>
                                          <p:attrName>style.visibility</p:attrName>
                                        </p:attrNameLst>
                                      </p:cBhvr>
                                      <p:to>
                                        <p:strVal val="visible"/>
                                      </p:to>
                                    </p:set>
                                    <p:animEffect transition="in" filter="wipe(left)">
                                      <p:cBhvr>
                                        <p:cTn id="7" dur="500"/>
                                        <p:tgtEl>
                                          <p:spTgt spid="21507">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1508"/>
                                        </p:tgtEl>
                                        <p:attrNameLst>
                                          <p:attrName>style.visibility</p:attrName>
                                        </p:attrNameLst>
                                      </p:cBhvr>
                                      <p:to>
                                        <p:strVal val="visible"/>
                                      </p:to>
                                    </p:set>
                                    <p:anim calcmode="lin" valueType="num">
                                      <p:cBhvr>
                                        <p:cTn id="12" dur="500" fill="hold"/>
                                        <p:tgtEl>
                                          <p:spTgt spid="21508"/>
                                        </p:tgtEl>
                                        <p:attrNameLst>
                                          <p:attrName>ppt_x</p:attrName>
                                        </p:attrNameLst>
                                      </p:cBhvr>
                                      <p:tavLst>
                                        <p:tav tm="0">
                                          <p:val>
                                            <p:strVal val="#ppt_x"/>
                                          </p:val>
                                        </p:tav>
                                        <p:tav tm="100000">
                                          <p:val>
                                            <p:strVal val="#ppt_x"/>
                                          </p:val>
                                        </p:tav>
                                      </p:tavLst>
                                    </p:anim>
                                    <p:anim calcmode="lin" valueType="num">
                                      <p:cBhvr>
                                        <p:cTn id="13" dur="500" fill="hold"/>
                                        <p:tgtEl>
                                          <p:spTgt spid="21508"/>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21509"/>
                                        </p:tgtEl>
                                        <p:attrNameLst>
                                          <p:attrName>style.visibility</p:attrName>
                                        </p:attrNameLst>
                                      </p:cBhvr>
                                      <p:to>
                                        <p:strVal val="visible"/>
                                      </p:to>
                                    </p:set>
                                    <p:anim calcmode="lin" valueType="num">
                                      <p:cBhvr>
                                        <p:cTn id="16" dur="500" fill="hold"/>
                                        <p:tgtEl>
                                          <p:spTgt spid="21509"/>
                                        </p:tgtEl>
                                        <p:attrNameLst>
                                          <p:attrName>ppt_x</p:attrName>
                                        </p:attrNameLst>
                                      </p:cBhvr>
                                      <p:tavLst>
                                        <p:tav tm="0">
                                          <p:val>
                                            <p:strVal val="#ppt_x"/>
                                          </p:val>
                                        </p:tav>
                                        <p:tav tm="100000">
                                          <p:val>
                                            <p:strVal val="#ppt_x"/>
                                          </p:val>
                                        </p:tav>
                                      </p:tavLst>
                                    </p:anim>
                                    <p:anim calcmode="lin" valueType="num">
                                      <p:cBhvr>
                                        <p:cTn id="17" dur="500" fill="hold"/>
                                        <p:tgtEl>
                                          <p:spTgt spid="21509"/>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1510"/>
                                        </p:tgtEl>
                                        <p:attrNameLst>
                                          <p:attrName>style.visibility</p:attrName>
                                        </p:attrNameLst>
                                      </p:cBhvr>
                                      <p:to>
                                        <p:strVal val="visible"/>
                                      </p:to>
                                    </p:set>
                                    <p:anim calcmode="lin" valueType="num">
                                      <p:cBhvr>
                                        <p:cTn id="20" dur="500" fill="hold"/>
                                        <p:tgtEl>
                                          <p:spTgt spid="21510"/>
                                        </p:tgtEl>
                                        <p:attrNameLst>
                                          <p:attrName>ppt_x</p:attrName>
                                        </p:attrNameLst>
                                      </p:cBhvr>
                                      <p:tavLst>
                                        <p:tav tm="0">
                                          <p:val>
                                            <p:strVal val="#ppt_x"/>
                                          </p:val>
                                        </p:tav>
                                        <p:tav tm="100000">
                                          <p:val>
                                            <p:strVal val="#ppt_x"/>
                                          </p:val>
                                        </p:tav>
                                      </p:tavLst>
                                    </p:anim>
                                    <p:anim calcmode="lin" valueType="num">
                                      <p:cBhvr>
                                        <p:cTn id="21" dur="500" fill="hold"/>
                                        <p:tgtEl>
                                          <p:spTgt spid="21510"/>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21511"/>
                                        </p:tgtEl>
                                        <p:attrNameLst>
                                          <p:attrName>style.visibility</p:attrName>
                                        </p:attrNameLst>
                                      </p:cBhvr>
                                      <p:to>
                                        <p:strVal val="visible"/>
                                      </p:to>
                                    </p:set>
                                    <p:anim calcmode="lin" valueType="num">
                                      <p:cBhvr>
                                        <p:cTn id="24" dur="500" fill="hold"/>
                                        <p:tgtEl>
                                          <p:spTgt spid="21511"/>
                                        </p:tgtEl>
                                        <p:attrNameLst>
                                          <p:attrName>ppt_x</p:attrName>
                                        </p:attrNameLst>
                                      </p:cBhvr>
                                      <p:tavLst>
                                        <p:tav tm="0">
                                          <p:val>
                                            <p:strVal val="#ppt_x"/>
                                          </p:val>
                                        </p:tav>
                                        <p:tav tm="100000">
                                          <p:val>
                                            <p:strVal val="#ppt_x"/>
                                          </p:val>
                                        </p:tav>
                                      </p:tavLst>
                                    </p:anim>
                                    <p:anim calcmode="lin" valueType="num">
                                      <p:cBhvr>
                                        <p:cTn id="25" dur="500" fill="hold"/>
                                        <p:tgtEl>
                                          <p:spTgt spid="21511"/>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21512"/>
                                        </p:tgtEl>
                                        <p:attrNameLst>
                                          <p:attrName>style.visibility</p:attrName>
                                        </p:attrNameLst>
                                      </p:cBhvr>
                                      <p:to>
                                        <p:strVal val="visible"/>
                                      </p:to>
                                    </p:set>
                                    <p:anim calcmode="lin" valueType="num">
                                      <p:cBhvr>
                                        <p:cTn id="28" dur="500" fill="hold"/>
                                        <p:tgtEl>
                                          <p:spTgt spid="21512"/>
                                        </p:tgtEl>
                                        <p:attrNameLst>
                                          <p:attrName>ppt_x</p:attrName>
                                        </p:attrNameLst>
                                      </p:cBhvr>
                                      <p:tavLst>
                                        <p:tav tm="0">
                                          <p:val>
                                            <p:strVal val="#ppt_x"/>
                                          </p:val>
                                        </p:tav>
                                        <p:tav tm="100000">
                                          <p:val>
                                            <p:strVal val="#ppt_x"/>
                                          </p:val>
                                        </p:tav>
                                      </p:tavLst>
                                    </p:anim>
                                    <p:anim calcmode="lin" valueType="num">
                                      <p:cBhvr>
                                        <p:cTn id="29" dur="500" fill="hold"/>
                                        <p:tgtEl>
                                          <p:spTgt spid="21512"/>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1513"/>
                                        </p:tgtEl>
                                        <p:attrNameLst>
                                          <p:attrName>style.visibility</p:attrName>
                                        </p:attrNameLst>
                                      </p:cBhvr>
                                      <p:to>
                                        <p:strVal val="visible"/>
                                      </p:to>
                                    </p:set>
                                    <p:anim calcmode="lin" valueType="num">
                                      <p:cBhvr>
                                        <p:cTn id="32" dur="500" fill="hold"/>
                                        <p:tgtEl>
                                          <p:spTgt spid="21513"/>
                                        </p:tgtEl>
                                        <p:attrNameLst>
                                          <p:attrName>ppt_x</p:attrName>
                                        </p:attrNameLst>
                                      </p:cBhvr>
                                      <p:tavLst>
                                        <p:tav tm="0">
                                          <p:val>
                                            <p:strVal val="#ppt_x"/>
                                          </p:val>
                                        </p:tav>
                                        <p:tav tm="100000">
                                          <p:val>
                                            <p:strVal val="#ppt_x"/>
                                          </p:val>
                                        </p:tav>
                                      </p:tavLst>
                                    </p:anim>
                                    <p:anim calcmode="lin" valueType="num">
                                      <p:cBhvr>
                                        <p:cTn id="33" dur="500" fill="hold"/>
                                        <p:tgtEl>
                                          <p:spTgt spid="21513"/>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21514"/>
                                        </p:tgtEl>
                                        <p:attrNameLst>
                                          <p:attrName>style.visibility</p:attrName>
                                        </p:attrNameLst>
                                      </p:cBhvr>
                                      <p:to>
                                        <p:strVal val="visible"/>
                                      </p:to>
                                    </p:set>
                                    <p:anim calcmode="lin" valueType="num">
                                      <p:cBhvr>
                                        <p:cTn id="36" dur="500" fill="hold"/>
                                        <p:tgtEl>
                                          <p:spTgt spid="21514"/>
                                        </p:tgtEl>
                                        <p:attrNameLst>
                                          <p:attrName>ppt_x</p:attrName>
                                        </p:attrNameLst>
                                      </p:cBhvr>
                                      <p:tavLst>
                                        <p:tav tm="0">
                                          <p:val>
                                            <p:strVal val="#ppt_x"/>
                                          </p:val>
                                        </p:tav>
                                        <p:tav tm="100000">
                                          <p:val>
                                            <p:strVal val="#ppt_x"/>
                                          </p:val>
                                        </p:tav>
                                      </p:tavLst>
                                    </p:anim>
                                    <p:anim calcmode="lin" valueType="num">
                                      <p:cBhvr>
                                        <p:cTn id="37" dur="500" fill="hold"/>
                                        <p:tgtEl>
                                          <p:spTgt spid="21514"/>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21515"/>
                                        </p:tgtEl>
                                        <p:attrNameLst>
                                          <p:attrName>style.visibility</p:attrName>
                                        </p:attrNameLst>
                                      </p:cBhvr>
                                      <p:to>
                                        <p:strVal val="visible"/>
                                      </p:to>
                                    </p:set>
                                    <p:anim calcmode="lin" valueType="num">
                                      <p:cBhvr>
                                        <p:cTn id="40" dur="500" fill="hold"/>
                                        <p:tgtEl>
                                          <p:spTgt spid="21515"/>
                                        </p:tgtEl>
                                        <p:attrNameLst>
                                          <p:attrName>ppt_x</p:attrName>
                                        </p:attrNameLst>
                                      </p:cBhvr>
                                      <p:tavLst>
                                        <p:tav tm="0">
                                          <p:val>
                                            <p:strVal val="#ppt_x"/>
                                          </p:val>
                                        </p:tav>
                                        <p:tav tm="100000">
                                          <p:val>
                                            <p:strVal val="#ppt_x"/>
                                          </p:val>
                                        </p:tav>
                                      </p:tavLst>
                                    </p:anim>
                                    <p:anim calcmode="lin" valueType="num">
                                      <p:cBhvr>
                                        <p:cTn id="41" dur="500" fill="hold"/>
                                        <p:tgtEl>
                                          <p:spTgt spid="21515"/>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21518"/>
                                        </p:tgtEl>
                                        <p:attrNameLst>
                                          <p:attrName>style.visibility</p:attrName>
                                        </p:attrNameLst>
                                      </p:cBhvr>
                                      <p:to>
                                        <p:strVal val="visible"/>
                                      </p:to>
                                    </p:set>
                                    <p:anim calcmode="lin" valueType="num">
                                      <p:cBhvr>
                                        <p:cTn id="44" dur="500" fill="hold"/>
                                        <p:tgtEl>
                                          <p:spTgt spid="21518"/>
                                        </p:tgtEl>
                                        <p:attrNameLst>
                                          <p:attrName>ppt_x</p:attrName>
                                        </p:attrNameLst>
                                      </p:cBhvr>
                                      <p:tavLst>
                                        <p:tav tm="0">
                                          <p:val>
                                            <p:strVal val="#ppt_x"/>
                                          </p:val>
                                        </p:tav>
                                        <p:tav tm="100000">
                                          <p:val>
                                            <p:strVal val="#ppt_x"/>
                                          </p:val>
                                        </p:tav>
                                      </p:tavLst>
                                    </p:anim>
                                    <p:anim calcmode="lin" valueType="num">
                                      <p:cBhvr>
                                        <p:cTn id="45" dur="500" fill="hold"/>
                                        <p:tgtEl>
                                          <p:spTgt spid="21518"/>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21519"/>
                                        </p:tgtEl>
                                        <p:attrNameLst>
                                          <p:attrName>style.visibility</p:attrName>
                                        </p:attrNameLst>
                                      </p:cBhvr>
                                      <p:to>
                                        <p:strVal val="visible"/>
                                      </p:to>
                                    </p:set>
                                    <p:anim calcmode="lin" valueType="num">
                                      <p:cBhvr>
                                        <p:cTn id="48" dur="500" fill="hold"/>
                                        <p:tgtEl>
                                          <p:spTgt spid="21519"/>
                                        </p:tgtEl>
                                        <p:attrNameLst>
                                          <p:attrName>ppt_x</p:attrName>
                                        </p:attrNameLst>
                                      </p:cBhvr>
                                      <p:tavLst>
                                        <p:tav tm="0">
                                          <p:val>
                                            <p:strVal val="#ppt_x"/>
                                          </p:val>
                                        </p:tav>
                                        <p:tav tm="100000">
                                          <p:val>
                                            <p:strVal val="#ppt_x"/>
                                          </p:val>
                                        </p:tav>
                                      </p:tavLst>
                                    </p:anim>
                                    <p:anim calcmode="lin" valueType="num">
                                      <p:cBhvr>
                                        <p:cTn id="49" dur="500" fill="hold"/>
                                        <p:tgtEl>
                                          <p:spTgt spid="21519"/>
                                        </p:tgtEl>
                                        <p:attrNameLst>
                                          <p:attrName>ppt_y</p:attrName>
                                        </p:attrNameLst>
                                      </p:cBhvr>
                                      <p:tavLst>
                                        <p:tav tm="0">
                                          <p:val>
                                            <p:strVal val="1+#ppt_h/2"/>
                                          </p:val>
                                        </p:tav>
                                        <p:tav tm="100000">
                                          <p:val>
                                            <p:strVal val="#ppt_y"/>
                                          </p:val>
                                        </p:tav>
                                      </p:tavLst>
                                    </p:anim>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21516"/>
                                        </p:tgtEl>
                                        <p:attrNameLst>
                                          <p:attrName>style.visibility</p:attrName>
                                        </p:attrNameLst>
                                      </p:cBhvr>
                                      <p:to>
                                        <p:strVal val="visible"/>
                                      </p:to>
                                    </p:set>
                                    <p:animEffect transition="in" filter="wipe(left)">
                                      <p:cBhvr>
                                        <p:cTn id="53" dur="500"/>
                                        <p:tgtEl>
                                          <p:spTgt spid="21516"/>
                                        </p:tgtEl>
                                      </p:cBhvr>
                                    </p:animEffect>
                                  </p:childTnLst>
                                </p:cTn>
                              </p:par>
                            </p:childTnLst>
                          </p:cTn>
                        </p:par>
                        <p:par>
                          <p:cTn id="54" fill="hold">
                            <p:stCondLst>
                              <p:cond delay="1000"/>
                            </p:stCondLst>
                            <p:childTnLst>
                              <p:par>
                                <p:cTn id="55" presetID="22" presetClass="entr" presetSubtype="8" fill="hold" nodeType="afterEffect">
                                  <p:stCondLst>
                                    <p:cond delay="0"/>
                                  </p:stCondLst>
                                  <p:childTnLst>
                                    <p:set>
                                      <p:cBhvr>
                                        <p:cTn id="56" dur="1" fill="hold">
                                          <p:stCondLst>
                                            <p:cond delay="0"/>
                                          </p:stCondLst>
                                        </p:cTn>
                                        <p:tgtEl>
                                          <p:spTgt spid="21517"/>
                                        </p:tgtEl>
                                        <p:attrNameLst>
                                          <p:attrName>style.visibility</p:attrName>
                                        </p:attrNameLst>
                                      </p:cBhvr>
                                      <p:to>
                                        <p:strVal val="visible"/>
                                      </p:to>
                                    </p:set>
                                    <p:animEffect transition="in" filter="wipe(left)">
                                      <p:cBhvr>
                                        <p:cTn id="57" dur="500"/>
                                        <p:tgtEl>
                                          <p:spTgt spid="2151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1507">
                                            <p:txEl>
                                              <p:charRg st="8" end="20"/>
                                            </p:txEl>
                                          </p:spTgt>
                                        </p:tgtEl>
                                        <p:attrNameLst>
                                          <p:attrName>style.visibility</p:attrName>
                                        </p:attrNameLst>
                                      </p:cBhvr>
                                      <p:to>
                                        <p:strVal val="visible"/>
                                      </p:to>
                                    </p:set>
                                    <p:animEffect transition="in" filter="wipe(left)">
                                      <p:cBhvr>
                                        <p:cTn id="62" dur="500"/>
                                        <p:tgtEl>
                                          <p:spTgt spid="21507">
                                            <p:txEl>
                                              <p:charRg st="8" end="20"/>
                                            </p:txEl>
                                          </p:spTgt>
                                        </p:tgtEl>
                                      </p:cBhvr>
                                    </p:animEffect>
                                  </p:childTnLst>
                                </p:cTn>
                              </p:par>
                            </p:childTnLst>
                          </p:cTn>
                        </p:par>
                        <p:par>
                          <p:cTn id="63" fill="hold">
                            <p:stCondLst>
                              <p:cond delay="500"/>
                            </p:stCondLst>
                            <p:childTnLst>
                              <p:par>
                                <p:cTn id="64" presetID="22" presetClass="entr" presetSubtype="8" fill="hold" grpId="0" nodeType="afterEffect">
                                  <p:stCondLst>
                                    <p:cond delay="500"/>
                                  </p:stCondLst>
                                  <p:childTnLst>
                                    <p:set>
                                      <p:cBhvr>
                                        <p:cTn id="65" dur="1" fill="hold">
                                          <p:stCondLst>
                                            <p:cond delay="0"/>
                                          </p:stCondLst>
                                        </p:cTn>
                                        <p:tgtEl>
                                          <p:spTgt spid="21520"/>
                                        </p:tgtEl>
                                        <p:attrNameLst>
                                          <p:attrName>style.visibility</p:attrName>
                                        </p:attrNameLst>
                                      </p:cBhvr>
                                      <p:to>
                                        <p:strVal val="visible"/>
                                      </p:to>
                                    </p:set>
                                    <p:animEffect transition="in" filter="wipe(left)">
                                      <p:cBhvr>
                                        <p:cTn id="66" dur="500"/>
                                        <p:tgtEl>
                                          <p:spTgt spid="21520"/>
                                        </p:tgtEl>
                                      </p:cBhvr>
                                    </p:animEffect>
                                  </p:childTnLst>
                                </p:cTn>
                              </p:par>
                            </p:childTnLst>
                          </p:cTn>
                        </p:par>
                        <p:par>
                          <p:cTn id="67" fill="hold">
                            <p:stCondLst>
                              <p:cond delay="1500"/>
                            </p:stCondLst>
                            <p:childTnLst>
                              <p:par>
                                <p:cTn id="68" presetID="22" presetClass="entr" presetSubtype="8" fill="hold" nodeType="afterEffect">
                                  <p:stCondLst>
                                    <p:cond delay="0"/>
                                  </p:stCondLst>
                                  <p:childTnLst>
                                    <p:set>
                                      <p:cBhvr>
                                        <p:cTn id="69" dur="1" fill="hold">
                                          <p:stCondLst>
                                            <p:cond delay="0"/>
                                          </p:stCondLst>
                                        </p:cTn>
                                        <p:tgtEl>
                                          <p:spTgt spid="21521"/>
                                        </p:tgtEl>
                                        <p:attrNameLst>
                                          <p:attrName>style.visibility</p:attrName>
                                        </p:attrNameLst>
                                      </p:cBhvr>
                                      <p:to>
                                        <p:strVal val="visible"/>
                                      </p:to>
                                    </p:set>
                                    <p:animEffect transition="in" filter="wipe(left)">
                                      <p:cBhvr>
                                        <p:cTn id="70" dur="500"/>
                                        <p:tgtEl>
                                          <p:spTgt spid="21521"/>
                                        </p:tgtEl>
                                      </p:cBhvr>
                                    </p:animEffect>
                                  </p:childTnLst>
                                </p:cTn>
                              </p:par>
                            </p:childTnLst>
                          </p:cTn>
                        </p:par>
                        <p:par>
                          <p:cTn id="71" fill="hold">
                            <p:stCondLst>
                              <p:cond delay="2000"/>
                            </p:stCondLst>
                            <p:childTnLst>
                              <p:par>
                                <p:cTn id="72" presetID="4" presetClass="exit" presetSubtype="16" fill="hold" grpId="1" nodeType="afterEffect">
                                  <p:stCondLst>
                                    <p:cond delay="0"/>
                                  </p:stCondLst>
                                  <p:childTnLst>
                                    <p:animEffect transition="out" filter="box(in)">
                                      <p:cBhvr>
                                        <p:cTn id="73" dur="500"/>
                                        <p:tgtEl>
                                          <p:spTgt spid="21516"/>
                                        </p:tgtEl>
                                      </p:cBhvr>
                                    </p:animEffect>
                                    <p:set>
                                      <p:cBhvr>
                                        <p:cTn id="74" dur="1" fill="hold">
                                          <p:stCondLst>
                                            <p:cond delay="499"/>
                                          </p:stCondLst>
                                        </p:cTn>
                                        <p:tgtEl>
                                          <p:spTgt spid="21516"/>
                                        </p:tgtEl>
                                        <p:attrNameLst>
                                          <p:attrName>style.visibility</p:attrName>
                                        </p:attrNameLst>
                                      </p:cBhvr>
                                      <p:to>
                                        <p:strVal val="hidden"/>
                                      </p:to>
                                    </p:set>
                                  </p:childTnLst>
                                </p:cTn>
                              </p:par>
                              <p:par>
                                <p:cTn id="75" presetID="4" presetClass="exit" presetSubtype="16" fill="hold" nodeType="withEffect">
                                  <p:stCondLst>
                                    <p:cond delay="0"/>
                                  </p:stCondLst>
                                  <p:childTnLst>
                                    <p:animEffect transition="out" filter="box(in)">
                                      <p:cBhvr>
                                        <p:cTn id="76" dur="500"/>
                                        <p:tgtEl>
                                          <p:spTgt spid="21517"/>
                                        </p:tgtEl>
                                      </p:cBhvr>
                                    </p:animEffect>
                                    <p:set>
                                      <p:cBhvr>
                                        <p:cTn id="77" dur="1" fill="hold">
                                          <p:stCondLst>
                                            <p:cond delay="499"/>
                                          </p:stCondLst>
                                        </p:cTn>
                                        <p:tgtEl>
                                          <p:spTgt spid="21517"/>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21507">
                                            <p:txEl>
                                              <p:charRg st="20" end="34"/>
                                            </p:txEl>
                                          </p:spTgt>
                                        </p:tgtEl>
                                        <p:attrNameLst>
                                          <p:attrName>style.visibility</p:attrName>
                                        </p:attrNameLst>
                                      </p:cBhvr>
                                      <p:to>
                                        <p:strVal val="visible"/>
                                      </p:to>
                                    </p:set>
                                    <p:animEffect transition="in" filter="wipe(left)">
                                      <p:cBhvr>
                                        <p:cTn id="82" dur="500"/>
                                        <p:tgtEl>
                                          <p:spTgt spid="21507">
                                            <p:txEl>
                                              <p:charRg st="20" end="34"/>
                                            </p:txEl>
                                          </p:spTgt>
                                        </p:tgtEl>
                                      </p:cBhvr>
                                    </p:animEffect>
                                  </p:childTnLst>
                                </p:cTn>
                              </p:par>
                            </p:childTnLst>
                          </p:cTn>
                        </p:par>
                        <p:par>
                          <p:cTn id="83" fill="hold">
                            <p:stCondLst>
                              <p:cond delay="500"/>
                            </p:stCondLst>
                            <p:childTnLst>
                              <p:par>
                                <p:cTn id="84" presetID="2" presetClass="entr" presetSubtype="1" fill="hold" grpId="0" nodeType="afterEffect">
                                  <p:stCondLst>
                                    <p:cond delay="0"/>
                                  </p:stCondLst>
                                  <p:childTnLst>
                                    <p:set>
                                      <p:cBhvr>
                                        <p:cTn id="85" dur="1" fill="hold">
                                          <p:stCondLst>
                                            <p:cond delay="0"/>
                                          </p:stCondLst>
                                        </p:cTn>
                                        <p:tgtEl>
                                          <p:spTgt spid="21522"/>
                                        </p:tgtEl>
                                        <p:attrNameLst>
                                          <p:attrName>style.visibility</p:attrName>
                                        </p:attrNameLst>
                                      </p:cBhvr>
                                      <p:to>
                                        <p:strVal val="visible"/>
                                      </p:to>
                                    </p:set>
                                    <p:anim calcmode="lin" valueType="num">
                                      <p:cBhvr>
                                        <p:cTn id="86" dur="1000" fill="hold"/>
                                        <p:tgtEl>
                                          <p:spTgt spid="21522"/>
                                        </p:tgtEl>
                                        <p:attrNameLst>
                                          <p:attrName>ppt_x</p:attrName>
                                        </p:attrNameLst>
                                      </p:cBhvr>
                                      <p:tavLst>
                                        <p:tav tm="0">
                                          <p:val>
                                            <p:strVal val="#ppt_x"/>
                                          </p:val>
                                        </p:tav>
                                        <p:tav tm="100000">
                                          <p:val>
                                            <p:strVal val="#ppt_x"/>
                                          </p:val>
                                        </p:tav>
                                      </p:tavLst>
                                    </p:anim>
                                    <p:anim calcmode="lin" valueType="num">
                                      <p:cBhvr>
                                        <p:cTn id="87" dur="1000" fill="hold"/>
                                        <p:tgtEl>
                                          <p:spTgt spid="21522"/>
                                        </p:tgtEl>
                                        <p:attrNameLst>
                                          <p:attrName>ppt_y</p:attrName>
                                        </p:attrNameLst>
                                      </p:cBhvr>
                                      <p:tavLst>
                                        <p:tav tm="0">
                                          <p:val>
                                            <p:strVal val="0-#ppt_h/2"/>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1507">
                                            <p:txEl>
                                              <p:charRg st="34" end="46"/>
                                            </p:txEl>
                                          </p:spTgt>
                                        </p:tgtEl>
                                        <p:attrNameLst>
                                          <p:attrName>style.visibility</p:attrName>
                                        </p:attrNameLst>
                                      </p:cBhvr>
                                      <p:to>
                                        <p:strVal val="visible"/>
                                      </p:to>
                                    </p:set>
                                    <p:animEffect transition="in" filter="wipe(left)">
                                      <p:cBhvr>
                                        <p:cTn id="92" dur="500"/>
                                        <p:tgtEl>
                                          <p:spTgt spid="21507">
                                            <p:txEl>
                                              <p:charRg st="34" end="46"/>
                                            </p:txEl>
                                          </p:spTgt>
                                        </p:tgtEl>
                                      </p:cBhvr>
                                    </p:animEffect>
                                  </p:childTnLst>
                                </p:cTn>
                              </p:par>
                            </p:childTnLst>
                          </p:cTn>
                        </p:par>
                        <p:par>
                          <p:cTn id="93" fill="hold">
                            <p:stCondLst>
                              <p:cond delay="500"/>
                            </p:stCondLst>
                            <p:childTnLst>
                              <p:par>
                                <p:cTn id="94" presetID="2" presetClass="entr" presetSubtype="1" fill="hold" grpId="0" nodeType="afterEffect">
                                  <p:stCondLst>
                                    <p:cond delay="0"/>
                                  </p:stCondLst>
                                  <p:childTnLst>
                                    <p:set>
                                      <p:cBhvr>
                                        <p:cTn id="95" dur="1" fill="hold">
                                          <p:stCondLst>
                                            <p:cond delay="0"/>
                                          </p:stCondLst>
                                        </p:cTn>
                                        <p:tgtEl>
                                          <p:spTgt spid="21523"/>
                                        </p:tgtEl>
                                        <p:attrNameLst>
                                          <p:attrName>style.visibility</p:attrName>
                                        </p:attrNameLst>
                                      </p:cBhvr>
                                      <p:to>
                                        <p:strVal val="visible"/>
                                      </p:to>
                                    </p:set>
                                    <p:anim calcmode="lin" valueType="num">
                                      <p:cBhvr>
                                        <p:cTn id="96" dur="1000" fill="hold"/>
                                        <p:tgtEl>
                                          <p:spTgt spid="21523"/>
                                        </p:tgtEl>
                                        <p:attrNameLst>
                                          <p:attrName>ppt_x</p:attrName>
                                        </p:attrNameLst>
                                      </p:cBhvr>
                                      <p:tavLst>
                                        <p:tav tm="0">
                                          <p:val>
                                            <p:strVal val="#ppt_x"/>
                                          </p:val>
                                        </p:tav>
                                        <p:tav tm="100000">
                                          <p:val>
                                            <p:strVal val="#ppt_x"/>
                                          </p:val>
                                        </p:tav>
                                      </p:tavLst>
                                    </p:anim>
                                    <p:anim calcmode="lin" valueType="num">
                                      <p:cBhvr>
                                        <p:cTn id="97" dur="1000" fill="hold"/>
                                        <p:tgtEl>
                                          <p:spTgt spid="2152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nimBg="1"/>
      <p:bldP spid="21509" grpId="0" animBg="1"/>
      <p:bldP spid="21510" grpId="0" animBg="1"/>
      <p:bldP spid="21514" grpId="0"/>
      <p:bldP spid="21515" grpId="0" animBg="1"/>
      <p:bldP spid="21516" grpId="0"/>
      <p:bldP spid="21516" grpId="1"/>
      <p:bldP spid="21518" grpId="0"/>
      <p:bldP spid="21519" grpId="0" animBg="1"/>
      <p:bldP spid="21520" grpId="0"/>
      <p:bldP spid="21522" grpId="0"/>
      <p:bldP spid="2152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3"/>
          <p:cNvSpPr/>
          <p:nvPr/>
        </p:nvSpPr>
        <p:spPr>
          <a:xfrm>
            <a:off x="6588125" y="4357688"/>
            <a:ext cx="1458913"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1507" name="Rectangle 2"/>
          <p:cNvSpPr>
            <a:spLocks noGrp="1"/>
          </p:cNvSpPr>
          <p:nvPr>
            <p:ph type="title" idx="4294967295"/>
          </p:nvPr>
        </p:nvSpPr>
        <p:spPr>
          <a:xfrm>
            <a:off x="923925" y="1050925"/>
            <a:ext cx="6553200" cy="563563"/>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61E27"/>
                </a:solidFill>
                <a:ea typeface="宋体" panose="02010600030101010101" pitchFamily="2" charset="-122"/>
              </a:rPr>
              <a:t>压栈指令的操作</a:t>
            </a:r>
            <a:endParaRPr lang="zh-CN" altLang="en-US" dirty="0">
              <a:solidFill>
                <a:srgbClr val="061E27"/>
              </a:solidFill>
              <a:ea typeface="宋体" panose="02010600030101010101" pitchFamily="2" charset="-122"/>
            </a:endParaRPr>
          </a:p>
        </p:txBody>
      </p:sp>
      <p:sp>
        <p:nvSpPr>
          <p:cNvPr id="21508" name="Rectangle 3"/>
          <p:cNvSpPr>
            <a:spLocks noGrp="1"/>
          </p:cNvSpPr>
          <p:nvPr>
            <p:ph type="body" idx="4294967295"/>
          </p:nvPr>
        </p:nvSpPr>
        <p:spPr>
          <a:xfrm>
            <a:off x="792163" y="1989138"/>
            <a:ext cx="5867400" cy="1219200"/>
          </a:xfrm>
        </p:spPr>
        <p:txBody>
          <a:bodyPr vert="horz" wrap="square" lIns="91440" tIns="45720" rIns="91440" bIns="45720" anchor="t" anchorCtr="0"/>
          <a:p>
            <a:pPr eaLnBrk="1" hangingPunct="1">
              <a:buNone/>
            </a:pPr>
            <a:r>
              <a:rPr lang="zh-CN" altLang="en-US" sz="2400" dirty="0">
                <a:ea typeface="宋体" panose="02010600030101010101" pitchFamily="2" charset="-122"/>
              </a:rPr>
              <a:t>设</a:t>
            </a:r>
            <a:r>
              <a:rPr lang="en-US" altLang="zh-CN" sz="2400" dirty="0">
                <a:ea typeface="宋体" panose="02010600030101010101" pitchFamily="2" charset="-122"/>
              </a:rPr>
              <a:t>AX=1234H</a:t>
            </a:r>
            <a:r>
              <a:rPr lang="zh-CN" altLang="en-US" sz="2400" dirty="0">
                <a:ea typeface="宋体" panose="02010600030101010101" pitchFamily="2" charset="-122"/>
              </a:rPr>
              <a:t>，</a:t>
            </a:r>
            <a:r>
              <a:rPr lang="en-US" altLang="zh-CN" sz="2400" dirty="0">
                <a:ea typeface="宋体" panose="02010600030101010101" pitchFamily="2" charset="-122"/>
              </a:rPr>
              <a:t>SP=1200H</a:t>
            </a:r>
            <a:endParaRPr lang="en-US" altLang="zh-CN" sz="2400" dirty="0">
              <a:ea typeface="宋体" panose="02010600030101010101" pitchFamily="2" charset="-122"/>
            </a:endParaRPr>
          </a:p>
          <a:p>
            <a:pPr eaLnBrk="1" hangingPunct="1">
              <a:buNone/>
            </a:pPr>
            <a:r>
              <a:rPr lang="zh-CN" altLang="en-US" sz="2400" dirty="0">
                <a:ea typeface="宋体" panose="02010600030101010101" pitchFamily="2" charset="-122"/>
              </a:rPr>
              <a:t>执行 </a:t>
            </a:r>
            <a:r>
              <a:rPr lang="en-US" altLang="zh-CN" sz="2400" dirty="0">
                <a:ea typeface="宋体" panose="02010600030101010101" pitchFamily="2" charset="-122"/>
              </a:rPr>
              <a:t>PUSH  AX  </a:t>
            </a:r>
            <a:r>
              <a:rPr lang="zh-CN" altLang="en-US" sz="2400" dirty="0">
                <a:ea typeface="宋体" panose="02010600030101010101" pitchFamily="2" charset="-122"/>
              </a:rPr>
              <a:t>指令后堆栈区的状态： </a:t>
            </a:r>
            <a:endParaRPr lang="zh-CN" altLang="en-US" sz="2400" dirty="0">
              <a:ea typeface="宋体" panose="02010600030101010101" pitchFamily="2" charset="-122"/>
            </a:endParaRPr>
          </a:p>
        </p:txBody>
      </p:sp>
      <p:sp>
        <p:nvSpPr>
          <p:cNvPr id="22533" name="Rectangle 54"/>
          <p:cNvSpPr/>
          <p:nvPr/>
        </p:nvSpPr>
        <p:spPr>
          <a:xfrm>
            <a:off x="6588125" y="4721225"/>
            <a:ext cx="1458913"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2534" name="Rectangle 55"/>
          <p:cNvSpPr/>
          <p:nvPr/>
        </p:nvSpPr>
        <p:spPr>
          <a:xfrm>
            <a:off x="6588125" y="5081588"/>
            <a:ext cx="1458913" cy="381000"/>
          </a:xfrm>
          <a:prstGeom prst="rect">
            <a:avLst/>
          </a:prstGeom>
          <a:solidFill>
            <a:srgbClr val="99CCFF"/>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2535" name="Line 56"/>
          <p:cNvSpPr/>
          <p:nvPr/>
        </p:nvSpPr>
        <p:spPr>
          <a:xfrm>
            <a:off x="6588125" y="3352800"/>
            <a:ext cx="0" cy="2903538"/>
          </a:xfrm>
          <a:prstGeom prst="line">
            <a:avLst/>
          </a:prstGeom>
          <a:ln w="12700" cap="sq" cmpd="sng">
            <a:solidFill>
              <a:schemeClr val="tx1"/>
            </a:solidFill>
            <a:prstDash val="solid"/>
            <a:headEnd type="none" w="med" len="med"/>
            <a:tailEnd type="none" w="med" len="med"/>
          </a:ln>
        </p:spPr>
      </p:sp>
      <p:sp>
        <p:nvSpPr>
          <p:cNvPr id="22536" name="Line 57"/>
          <p:cNvSpPr/>
          <p:nvPr/>
        </p:nvSpPr>
        <p:spPr>
          <a:xfrm>
            <a:off x="8048625" y="3332163"/>
            <a:ext cx="0" cy="2903537"/>
          </a:xfrm>
          <a:prstGeom prst="line">
            <a:avLst/>
          </a:prstGeom>
          <a:ln w="12700" cap="sq" cmpd="sng">
            <a:solidFill>
              <a:schemeClr val="tx1"/>
            </a:solidFill>
            <a:prstDash val="solid"/>
            <a:headEnd type="none" w="med" len="med"/>
            <a:tailEnd type="none" w="med" len="med"/>
          </a:ln>
        </p:spPr>
      </p:sp>
      <p:sp>
        <p:nvSpPr>
          <p:cNvPr id="22537" name="Freeform 59"/>
          <p:cNvSpPr/>
          <p:nvPr/>
        </p:nvSpPr>
        <p:spPr>
          <a:xfrm>
            <a:off x="6588125" y="5918200"/>
            <a:ext cx="1457325" cy="444500"/>
          </a:xfrm>
          <a:custGeom>
            <a:avLst/>
            <a:gdLst>
              <a:gd name="txL" fmla="*/ 0 w 1091"/>
              <a:gd name="txT" fmla="*/ 0 h 280"/>
              <a:gd name="txR" fmla="*/ 1091 w 1091"/>
              <a:gd name="txB" fmla="*/ 280 h 280"/>
            </a:gdLst>
            <a:ahLst/>
            <a:cxnLst>
              <a:cxn ang="0">
                <a:pos x="19626464" y="559474642"/>
              </a:cxn>
              <a:cxn ang="0">
                <a:pos x="85645544" y="466228108"/>
              </a:cxn>
              <a:cxn ang="0">
                <a:pos x="183780572" y="372983062"/>
              </a:cxn>
              <a:cxn ang="0">
                <a:pos x="365777892" y="209172183"/>
              </a:cxn>
              <a:cxn ang="0">
                <a:pos x="595949650" y="0"/>
              </a:cxn>
              <a:cxn ang="0">
                <a:pos x="777947053" y="22680609"/>
              </a:cxn>
              <a:cxn ang="0">
                <a:pos x="876082019" y="163810928"/>
              </a:cxn>
              <a:cxn ang="0">
                <a:pos x="1040236049" y="302418717"/>
              </a:cxn>
              <a:cxn ang="0">
                <a:pos x="1534481724" y="652721176"/>
              </a:cxn>
              <a:cxn ang="0">
                <a:pos x="1830672546" y="652721176"/>
              </a:cxn>
              <a:cxn ang="0">
                <a:pos x="1864574371" y="604837435"/>
              </a:cxn>
              <a:cxn ang="0">
                <a:pos x="1914533480" y="559474642"/>
              </a:cxn>
              <a:cxn ang="0">
                <a:pos x="1946650718" y="511590900"/>
              </a:cxn>
            </a:cxnLst>
            <a:rect l="txL" t="txT" r="txR" b="txB"/>
            <a:pathLst>
              <a:path w="1091" h="280">
                <a:moveTo>
                  <a:pt x="11" y="222"/>
                </a:moveTo>
                <a:cubicBezTo>
                  <a:pt x="85" y="198"/>
                  <a:pt x="0" y="234"/>
                  <a:pt x="48" y="185"/>
                </a:cubicBezTo>
                <a:cubicBezTo>
                  <a:pt x="64" y="169"/>
                  <a:pt x="87" y="164"/>
                  <a:pt x="103" y="148"/>
                </a:cubicBezTo>
                <a:cubicBezTo>
                  <a:pt x="133" y="118"/>
                  <a:pt x="166" y="97"/>
                  <a:pt x="205" y="83"/>
                </a:cubicBezTo>
                <a:cubicBezTo>
                  <a:pt x="245" y="43"/>
                  <a:pt x="281" y="17"/>
                  <a:pt x="334" y="0"/>
                </a:cubicBezTo>
                <a:cubicBezTo>
                  <a:pt x="368" y="3"/>
                  <a:pt x="403" y="1"/>
                  <a:pt x="436" y="9"/>
                </a:cubicBezTo>
                <a:cubicBezTo>
                  <a:pt x="452" y="13"/>
                  <a:pt x="477" y="54"/>
                  <a:pt x="491" y="65"/>
                </a:cubicBezTo>
                <a:cubicBezTo>
                  <a:pt x="535" y="99"/>
                  <a:pt x="540" y="99"/>
                  <a:pt x="583" y="120"/>
                </a:cubicBezTo>
                <a:cubicBezTo>
                  <a:pt x="660" y="197"/>
                  <a:pt x="753" y="242"/>
                  <a:pt x="860" y="259"/>
                </a:cubicBezTo>
                <a:cubicBezTo>
                  <a:pt x="925" y="280"/>
                  <a:pt x="912" y="279"/>
                  <a:pt x="1026" y="259"/>
                </a:cubicBezTo>
                <a:cubicBezTo>
                  <a:pt x="1035" y="257"/>
                  <a:pt x="1038" y="246"/>
                  <a:pt x="1045" y="240"/>
                </a:cubicBezTo>
                <a:cubicBezTo>
                  <a:pt x="1054" y="233"/>
                  <a:pt x="1064" y="229"/>
                  <a:pt x="1073" y="222"/>
                </a:cubicBezTo>
                <a:cubicBezTo>
                  <a:pt x="1080" y="217"/>
                  <a:pt x="1091" y="203"/>
                  <a:pt x="1091" y="203"/>
                </a:cubicBezTo>
              </a:path>
            </a:pathLst>
          </a:custGeom>
          <a:noFill/>
          <a:ln w="12700" cap="sq" cmpd="sng">
            <a:solidFill>
              <a:schemeClr val="tx1">
                <a:alpha val="100000"/>
              </a:schemeClr>
            </a:solidFill>
            <a:prstDash val="solid"/>
            <a:miter lim="800000"/>
            <a:headEnd type="none" w="med" len="med"/>
            <a:tailEnd type="none" w="med" len="med"/>
          </a:ln>
        </p:spPr>
        <p:txBody>
          <a:bodyPr/>
          <a:p>
            <a:endParaRPr lang="zh-CN" altLang="en-US"/>
          </a:p>
        </p:txBody>
      </p:sp>
      <p:sp>
        <p:nvSpPr>
          <p:cNvPr id="22538" name="Text Box 62"/>
          <p:cNvSpPr txBox="1"/>
          <p:nvPr/>
        </p:nvSpPr>
        <p:spPr>
          <a:xfrm>
            <a:off x="5508625" y="5084763"/>
            <a:ext cx="104775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dirty="0">
                <a:latin typeface="Times New Roman" panose="02020603050405020304" pitchFamily="18" charset="0"/>
                <a:ea typeface="宋体" panose="02010600030101010101" pitchFamily="2" charset="-122"/>
              </a:rPr>
              <a:t>1200</a:t>
            </a:r>
            <a:r>
              <a:rPr lang="en-US" altLang="zh-CN" sz="2400" dirty="0">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22539" name="Text Box 66"/>
          <p:cNvSpPr txBox="1"/>
          <p:nvPr/>
        </p:nvSpPr>
        <p:spPr>
          <a:xfrm>
            <a:off x="7045325" y="3467100"/>
            <a:ext cx="609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latin typeface="宋体" panose="02010600030101010101" pitchFamily="2" charset="-122"/>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p:txBody>
      </p:sp>
      <p:sp>
        <p:nvSpPr>
          <p:cNvPr id="22540" name="Text Box 68"/>
          <p:cNvSpPr txBox="1"/>
          <p:nvPr/>
        </p:nvSpPr>
        <p:spPr>
          <a:xfrm>
            <a:off x="8569325" y="4468813"/>
            <a:ext cx="457200" cy="10064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堆栈段</a:t>
            </a:r>
            <a:endParaRPr lang="zh-CN" altLang="en-US" sz="2000" b="1" dirty="0">
              <a:latin typeface="Times New Roman" panose="02020603050405020304" pitchFamily="18" charset="0"/>
              <a:ea typeface="宋体" panose="02010600030101010101" pitchFamily="2" charset="-122"/>
            </a:endParaRPr>
          </a:p>
        </p:txBody>
      </p:sp>
      <p:sp>
        <p:nvSpPr>
          <p:cNvPr id="22541" name="AutoShape 69"/>
          <p:cNvSpPr/>
          <p:nvPr/>
        </p:nvSpPr>
        <p:spPr>
          <a:xfrm>
            <a:off x="8183563" y="4256088"/>
            <a:ext cx="304800" cy="1447800"/>
          </a:xfrm>
          <a:prstGeom prst="rightBrace">
            <a:avLst>
              <a:gd name="adj1" fmla="val 39275"/>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2542" name="Text Box 82"/>
          <p:cNvSpPr txBox="1"/>
          <p:nvPr/>
        </p:nvSpPr>
        <p:spPr>
          <a:xfrm>
            <a:off x="250825" y="4772025"/>
            <a:ext cx="2057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 SP-2=11FEH</a:t>
            </a:r>
            <a:endParaRPr lang="en-US" altLang="zh-CN" sz="2400" b="1" dirty="0">
              <a:latin typeface="Times New Roman" panose="02020603050405020304" pitchFamily="18" charset="0"/>
              <a:ea typeface="宋体" panose="02010600030101010101" pitchFamily="2" charset="-122"/>
            </a:endParaRPr>
          </a:p>
        </p:txBody>
      </p:sp>
      <p:sp>
        <p:nvSpPr>
          <p:cNvPr id="22543" name="Rectangle 91"/>
          <p:cNvSpPr/>
          <p:nvPr/>
        </p:nvSpPr>
        <p:spPr>
          <a:xfrm>
            <a:off x="3235325" y="4737100"/>
            <a:ext cx="1458913"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2544" name="Rectangle 93"/>
          <p:cNvSpPr/>
          <p:nvPr/>
        </p:nvSpPr>
        <p:spPr>
          <a:xfrm>
            <a:off x="3235325" y="4368800"/>
            <a:ext cx="1458913"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2545" name="Rectangle 94"/>
          <p:cNvSpPr/>
          <p:nvPr/>
        </p:nvSpPr>
        <p:spPr>
          <a:xfrm>
            <a:off x="3235325" y="5100638"/>
            <a:ext cx="1458913"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2546" name="Rectangle 95"/>
          <p:cNvSpPr/>
          <p:nvPr/>
        </p:nvSpPr>
        <p:spPr>
          <a:xfrm>
            <a:off x="3235325" y="5461000"/>
            <a:ext cx="1458913" cy="381000"/>
          </a:xfrm>
          <a:prstGeom prst="rect">
            <a:avLst/>
          </a:prstGeom>
          <a:solidFill>
            <a:srgbClr val="99CCFF"/>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2547" name="Line 96"/>
          <p:cNvSpPr/>
          <p:nvPr/>
        </p:nvSpPr>
        <p:spPr>
          <a:xfrm>
            <a:off x="3235325" y="3725863"/>
            <a:ext cx="0" cy="2903537"/>
          </a:xfrm>
          <a:prstGeom prst="line">
            <a:avLst/>
          </a:prstGeom>
          <a:ln w="12700" cap="sq" cmpd="sng">
            <a:solidFill>
              <a:schemeClr val="tx1"/>
            </a:solidFill>
            <a:prstDash val="solid"/>
            <a:headEnd type="none" w="med" len="med"/>
            <a:tailEnd type="none" w="med" len="med"/>
          </a:ln>
        </p:spPr>
      </p:sp>
      <p:sp>
        <p:nvSpPr>
          <p:cNvPr id="22548" name="Line 97"/>
          <p:cNvSpPr/>
          <p:nvPr/>
        </p:nvSpPr>
        <p:spPr>
          <a:xfrm>
            <a:off x="4695825" y="3708400"/>
            <a:ext cx="0" cy="2903538"/>
          </a:xfrm>
          <a:prstGeom prst="line">
            <a:avLst/>
          </a:prstGeom>
          <a:ln w="12700" cap="sq" cmpd="sng">
            <a:solidFill>
              <a:schemeClr val="tx1"/>
            </a:solidFill>
            <a:prstDash val="solid"/>
            <a:headEnd type="none" w="med" len="med"/>
            <a:tailEnd type="none" w="med" len="med"/>
          </a:ln>
        </p:spPr>
      </p:sp>
      <p:sp>
        <p:nvSpPr>
          <p:cNvPr id="22549" name="Freeform 98"/>
          <p:cNvSpPr/>
          <p:nvPr/>
        </p:nvSpPr>
        <p:spPr>
          <a:xfrm>
            <a:off x="3235325" y="6297613"/>
            <a:ext cx="1457325" cy="444500"/>
          </a:xfrm>
          <a:custGeom>
            <a:avLst/>
            <a:gdLst>
              <a:gd name="txL" fmla="*/ 0 w 1091"/>
              <a:gd name="txT" fmla="*/ 0 h 280"/>
              <a:gd name="txR" fmla="*/ 1091 w 1091"/>
              <a:gd name="txB" fmla="*/ 280 h 280"/>
            </a:gdLst>
            <a:ahLst/>
            <a:cxnLst>
              <a:cxn ang="0">
                <a:pos x="19626464" y="559474642"/>
              </a:cxn>
              <a:cxn ang="0">
                <a:pos x="85645544" y="466228108"/>
              </a:cxn>
              <a:cxn ang="0">
                <a:pos x="183780572" y="372983062"/>
              </a:cxn>
              <a:cxn ang="0">
                <a:pos x="365777892" y="209172183"/>
              </a:cxn>
              <a:cxn ang="0">
                <a:pos x="595949650" y="0"/>
              </a:cxn>
              <a:cxn ang="0">
                <a:pos x="777947053" y="22680609"/>
              </a:cxn>
              <a:cxn ang="0">
                <a:pos x="876082019" y="163810928"/>
              </a:cxn>
              <a:cxn ang="0">
                <a:pos x="1040236049" y="302418717"/>
              </a:cxn>
              <a:cxn ang="0">
                <a:pos x="1534481724" y="652721176"/>
              </a:cxn>
              <a:cxn ang="0">
                <a:pos x="1830672546" y="652721176"/>
              </a:cxn>
              <a:cxn ang="0">
                <a:pos x="1864574371" y="604837435"/>
              </a:cxn>
              <a:cxn ang="0">
                <a:pos x="1914533480" y="559474642"/>
              </a:cxn>
              <a:cxn ang="0">
                <a:pos x="1946650718" y="511590900"/>
              </a:cxn>
            </a:cxnLst>
            <a:rect l="txL" t="txT" r="txR" b="txB"/>
            <a:pathLst>
              <a:path w="1091" h="280">
                <a:moveTo>
                  <a:pt x="11" y="222"/>
                </a:moveTo>
                <a:cubicBezTo>
                  <a:pt x="85" y="198"/>
                  <a:pt x="0" y="234"/>
                  <a:pt x="48" y="185"/>
                </a:cubicBezTo>
                <a:cubicBezTo>
                  <a:pt x="64" y="169"/>
                  <a:pt x="87" y="164"/>
                  <a:pt x="103" y="148"/>
                </a:cubicBezTo>
                <a:cubicBezTo>
                  <a:pt x="133" y="118"/>
                  <a:pt x="166" y="97"/>
                  <a:pt x="205" y="83"/>
                </a:cubicBezTo>
                <a:cubicBezTo>
                  <a:pt x="245" y="43"/>
                  <a:pt x="281" y="17"/>
                  <a:pt x="334" y="0"/>
                </a:cubicBezTo>
                <a:cubicBezTo>
                  <a:pt x="368" y="3"/>
                  <a:pt x="403" y="1"/>
                  <a:pt x="436" y="9"/>
                </a:cubicBezTo>
                <a:cubicBezTo>
                  <a:pt x="452" y="13"/>
                  <a:pt x="477" y="54"/>
                  <a:pt x="491" y="65"/>
                </a:cubicBezTo>
                <a:cubicBezTo>
                  <a:pt x="535" y="99"/>
                  <a:pt x="540" y="99"/>
                  <a:pt x="583" y="120"/>
                </a:cubicBezTo>
                <a:cubicBezTo>
                  <a:pt x="660" y="197"/>
                  <a:pt x="753" y="242"/>
                  <a:pt x="860" y="259"/>
                </a:cubicBezTo>
                <a:cubicBezTo>
                  <a:pt x="925" y="280"/>
                  <a:pt x="912" y="279"/>
                  <a:pt x="1026" y="259"/>
                </a:cubicBezTo>
                <a:cubicBezTo>
                  <a:pt x="1035" y="257"/>
                  <a:pt x="1038" y="246"/>
                  <a:pt x="1045" y="240"/>
                </a:cubicBezTo>
                <a:cubicBezTo>
                  <a:pt x="1054" y="233"/>
                  <a:pt x="1064" y="229"/>
                  <a:pt x="1073" y="222"/>
                </a:cubicBezTo>
                <a:cubicBezTo>
                  <a:pt x="1080" y="217"/>
                  <a:pt x="1091" y="203"/>
                  <a:pt x="1091" y="203"/>
                </a:cubicBezTo>
              </a:path>
            </a:pathLst>
          </a:custGeom>
          <a:noFill/>
          <a:ln w="12700" cap="sq" cmpd="sng">
            <a:solidFill>
              <a:schemeClr val="tx1">
                <a:alpha val="100000"/>
              </a:schemeClr>
            </a:solidFill>
            <a:prstDash val="solid"/>
            <a:miter lim="800000"/>
            <a:headEnd type="none" w="med" len="med"/>
            <a:tailEnd type="none" w="med" len="med"/>
          </a:ln>
        </p:spPr>
        <p:txBody>
          <a:bodyPr/>
          <a:p>
            <a:endParaRPr lang="zh-CN" altLang="en-US"/>
          </a:p>
        </p:txBody>
      </p:sp>
      <p:sp>
        <p:nvSpPr>
          <p:cNvPr id="22550" name="Text Box 99"/>
          <p:cNvSpPr txBox="1"/>
          <p:nvPr/>
        </p:nvSpPr>
        <p:spPr>
          <a:xfrm>
            <a:off x="3509963" y="5049838"/>
            <a:ext cx="8382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solidFill>
                  <a:schemeClr val="bg1"/>
                </a:solidFill>
                <a:latin typeface="Times New Roman" panose="02020603050405020304" pitchFamily="18" charset="0"/>
                <a:ea typeface="宋体" panose="02010600030101010101" pitchFamily="2" charset="-122"/>
              </a:rPr>
              <a:t>12H</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22551" name="Text Box 100"/>
          <p:cNvSpPr txBox="1"/>
          <p:nvPr/>
        </p:nvSpPr>
        <p:spPr>
          <a:xfrm>
            <a:off x="3509963" y="4689475"/>
            <a:ext cx="8382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solidFill>
                  <a:schemeClr val="bg1"/>
                </a:solidFill>
                <a:latin typeface="Times New Roman" panose="02020603050405020304" pitchFamily="18" charset="0"/>
                <a:ea typeface="宋体" panose="02010600030101010101" pitchFamily="2" charset="-122"/>
              </a:rPr>
              <a:t>34H</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22552" name="Text Box 101"/>
          <p:cNvSpPr txBox="1"/>
          <p:nvPr/>
        </p:nvSpPr>
        <p:spPr>
          <a:xfrm>
            <a:off x="2244725" y="5408613"/>
            <a:ext cx="104775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dirty="0">
                <a:latin typeface="Times New Roman" panose="02020603050405020304" pitchFamily="18" charset="0"/>
                <a:ea typeface="宋体" panose="02010600030101010101" pitchFamily="2" charset="-122"/>
              </a:rPr>
              <a:t>1200</a:t>
            </a:r>
            <a:r>
              <a:rPr lang="en-US" altLang="zh-CN" sz="2400" dirty="0">
                <a:latin typeface="Times New Roman" panose="02020603050405020304" pitchFamily="18" charset="0"/>
                <a:ea typeface="宋体" panose="02010600030101010101" pitchFamily="2" charset="-122"/>
              </a:rPr>
              <a:t>H</a:t>
            </a:r>
            <a:endParaRPr lang="en-US" altLang="zh-CN" sz="2400" dirty="0">
              <a:latin typeface="Times New Roman" panose="02020603050405020304" pitchFamily="18" charset="0"/>
              <a:ea typeface="宋体" panose="02010600030101010101" pitchFamily="2" charset="-122"/>
            </a:endParaRPr>
          </a:p>
        </p:txBody>
      </p:sp>
      <p:sp>
        <p:nvSpPr>
          <p:cNvPr id="22553" name="Text Box 102"/>
          <p:cNvSpPr txBox="1"/>
          <p:nvPr/>
        </p:nvSpPr>
        <p:spPr>
          <a:xfrm>
            <a:off x="3692525" y="3695700"/>
            <a:ext cx="609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latin typeface="宋体" panose="02010600030101010101" pitchFamily="2" charset="-122"/>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p:txBody>
      </p:sp>
      <p:sp>
        <p:nvSpPr>
          <p:cNvPr id="22554" name="Text Box 103"/>
          <p:cNvSpPr txBox="1"/>
          <p:nvPr/>
        </p:nvSpPr>
        <p:spPr>
          <a:xfrm>
            <a:off x="5089525" y="4746625"/>
            <a:ext cx="457200" cy="10064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堆栈段</a:t>
            </a:r>
            <a:endParaRPr lang="zh-CN" altLang="en-US" sz="2000" b="1" dirty="0">
              <a:latin typeface="Times New Roman" panose="02020603050405020304" pitchFamily="18" charset="0"/>
              <a:ea typeface="宋体" panose="02010600030101010101" pitchFamily="2" charset="-122"/>
            </a:endParaRPr>
          </a:p>
        </p:txBody>
      </p:sp>
      <p:sp>
        <p:nvSpPr>
          <p:cNvPr id="22555" name="AutoShape 104"/>
          <p:cNvSpPr/>
          <p:nvPr/>
        </p:nvSpPr>
        <p:spPr>
          <a:xfrm>
            <a:off x="4830763" y="4533900"/>
            <a:ext cx="304800" cy="1447800"/>
          </a:xfrm>
          <a:prstGeom prst="rightBrace">
            <a:avLst>
              <a:gd name="adj1" fmla="val 39275"/>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2556" name="Line 105"/>
          <p:cNvSpPr/>
          <p:nvPr/>
        </p:nvSpPr>
        <p:spPr>
          <a:xfrm>
            <a:off x="2244725" y="4991100"/>
            <a:ext cx="838200" cy="0"/>
          </a:xfrm>
          <a:prstGeom prst="line">
            <a:avLst/>
          </a:prstGeom>
          <a:ln w="25400" cap="sq" cmpd="sng">
            <a:solidFill>
              <a:srgbClr val="339966"/>
            </a:solidFill>
            <a:prstDash val="solid"/>
            <a:headEnd type="none" w="med" len="med"/>
            <a:tailEnd type="triangle" w="lg" len="lg"/>
          </a:ln>
        </p:spPr>
      </p:sp>
      <p:sp>
        <p:nvSpPr>
          <p:cNvPr id="22557" name="Rectangle 106"/>
          <p:cNvSpPr/>
          <p:nvPr/>
        </p:nvSpPr>
        <p:spPr>
          <a:xfrm>
            <a:off x="568325" y="3695700"/>
            <a:ext cx="1371600" cy="4572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2558" name="Line 107"/>
          <p:cNvSpPr/>
          <p:nvPr/>
        </p:nvSpPr>
        <p:spPr>
          <a:xfrm>
            <a:off x="1254125" y="3695700"/>
            <a:ext cx="0" cy="457200"/>
          </a:xfrm>
          <a:prstGeom prst="line">
            <a:avLst/>
          </a:prstGeom>
          <a:ln w="25400" cap="sq" cmpd="sng">
            <a:solidFill>
              <a:srgbClr val="FF6600"/>
            </a:solidFill>
            <a:prstDash val="solid"/>
            <a:headEnd type="none" w="med" len="med"/>
            <a:tailEnd type="none" w="med" len="med"/>
          </a:ln>
        </p:spPr>
      </p:sp>
      <p:sp>
        <p:nvSpPr>
          <p:cNvPr id="22559" name="Text Box 108"/>
          <p:cNvSpPr txBox="1"/>
          <p:nvPr/>
        </p:nvSpPr>
        <p:spPr>
          <a:xfrm>
            <a:off x="517525" y="3692525"/>
            <a:ext cx="15240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solidFill>
                  <a:schemeClr val="bg1"/>
                </a:solidFill>
                <a:latin typeface="Times New Roman" panose="02020603050405020304" pitchFamily="18" charset="0"/>
                <a:ea typeface="宋体" panose="02010600030101010101" pitchFamily="2" charset="-122"/>
              </a:rPr>
              <a:t>12H   34H</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22560" name="Text Box 109"/>
          <p:cNvSpPr txBox="1"/>
          <p:nvPr/>
        </p:nvSpPr>
        <p:spPr>
          <a:xfrm>
            <a:off x="923925" y="4178300"/>
            <a:ext cx="7620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AX</a:t>
            </a:r>
            <a:endParaRPr lang="en-US" altLang="zh-CN" sz="2400" b="1" dirty="0">
              <a:latin typeface="Times New Roman" panose="02020603050405020304" pitchFamily="18" charset="0"/>
              <a:ea typeface="宋体" panose="02010600030101010101" pitchFamily="2" charset="-122"/>
            </a:endParaRPr>
          </a:p>
        </p:txBody>
      </p:sp>
      <p:sp>
        <p:nvSpPr>
          <p:cNvPr id="22561" name="Rectangle 110"/>
          <p:cNvSpPr/>
          <p:nvPr/>
        </p:nvSpPr>
        <p:spPr>
          <a:xfrm>
            <a:off x="6588125" y="3987800"/>
            <a:ext cx="1458913"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2562" name="Text Box 111"/>
          <p:cNvSpPr txBox="1"/>
          <p:nvPr/>
        </p:nvSpPr>
        <p:spPr>
          <a:xfrm>
            <a:off x="3463925" y="3146425"/>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入栈后</a:t>
            </a:r>
            <a:endParaRPr lang="zh-CN" altLang="en-US" sz="2000" b="1" dirty="0">
              <a:latin typeface="Times New Roman" panose="02020603050405020304" pitchFamily="18" charset="0"/>
              <a:ea typeface="宋体" panose="02010600030101010101" pitchFamily="2" charset="-122"/>
            </a:endParaRPr>
          </a:p>
        </p:txBody>
      </p:sp>
      <p:sp>
        <p:nvSpPr>
          <p:cNvPr id="22563" name="Text Box 112"/>
          <p:cNvSpPr txBox="1"/>
          <p:nvPr/>
        </p:nvSpPr>
        <p:spPr>
          <a:xfrm>
            <a:off x="6816725" y="2781300"/>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入栈前</a:t>
            </a:r>
            <a:endParaRPr lang="zh-CN" altLang="en-US" sz="2000" b="1" dirty="0">
              <a:latin typeface="Times New Roman" panose="02020603050405020304" pitchFamily="18" charset="0"/>
              <a:ea typeface="宋体" panose="02010600030101010101" pitchFamily="2" charset="-122"/>
            </a:endParaRPr>
          </a:p>
        </p:txBody>
      </p:sp>
      <p:sp>
        <p:nvSpPr>
          <p:cNvPr id="22564" name="Line 116"/>
          <p:cNvSpPr/>
          <p:nvPr/>
        </p:nvSpPr>
        <p:spPr>
          <a:xfrm>
            <a:off x="1939925" y="3924300"/>
            <a:ext cx="685800" cy="0"/>
          </a:xfrm>
          <a:prstGeom prst="line">
            <a:avLst/>
          </a:prstGeom>
          <a:ln w="76200" cap="sq" cmpd="sng">
            <a:solidFill>
              <a:srgbClr val="FF9900"/>
            </a:solidFill>
            <a:prstDash val="solid"/>
            <a:headEnd type="none" w="med" len="med"/>
            <a:tailEnd type="none" w="med" len="med"/>
          </a:ln>
        </p:spPr>
      </p:sp>
      <p:sp>
        <p:nvSpPr>
          <p:cNvPr id="22565" name="Line 117"/>
          <p:cNvSpPr/>
          <p:nvPr/>
        </p:nvSpPr>
        <p:spPr>
          <a:xfrm>
            <a:off x="2625725" y="3924300"/>
            <a:ext cx="0" cy="685800"/>
          </a:xfrm>
          <a:prstGeom prst="line">
            <a:avLst/>
          </a:prstGeom>
          <a:ln w="76200" cap="sq" cmpd="sng">
            <a:solidFill>
              <a:srgbClr val="FF9900"/>
            </a:solidFill>
            <a:prstDash val="solid"/>
            <a:headEnd type="none" w="med" len="med"/>
            <a:tailEnd type="none" w="med" len="med"/>
          </a:ln>
        </p:spPr>
      </p:sp>
      <p:sp>
        <p:nvSpPr>
          <p:cNvPr id="22566" name="Line 118"/>
          <p:cNvSpPr/>
          <p:nvPr/>
        </p:nvSpPr>
        <p:spPr>
          <a:xfrm>
            <a:off x="2625725" y="4610100"/>
            <a:ext cx="609600" cy="228600"/>
          </a:xfrm>
          <a:prstGeom prst="line">
            <a:avLst/>
          </a:prstGeom>
          <a:ln w="76200" cap="sq" cmpd="sng">
            <a:solidFill>
              <a:srgbClr val="FF9900"/>
            </a:solidFill>
            <a:prstDash val="solid"/>
            <a:headEnd type="none" w="med" len="med"/>
            <a:tailEnd type="triangle" w="lg" len="lg"/>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0"/>
                                        </p:tgtEl>
                                        <p:attrNameLst>
                                          <p:attrName>style.visibility</p:attrName>
                                        </p:attrNameLst>
                                      </p:cBhvr>
                                      <p:to>
                                        <p:strVal val="visible"/>
                                      </p:to>
                                    </p:set>
                                    <p:anim calcmode="lin" valueType="num">
                                      <p:cBhvr>
                                        <p:cTn id="7" dur="500" fill="hold"/>
                                        <p:tgtEl>
                                          <p:spTgt spid="22530"/>
                                        </p:tgtEl>
                                        <p:attrNameLst>
                                          <p:attrName>ppt_x</p:attrName>
                                        </p:attrNameLst>
                                      </p:cBhvr>
                                      <p:tavLst>
                                        <p:tav tm="0">
                                          <p:val>
                                            <p:strVal val="#ppt_x"/>
                                          </p:val>
                                        </p:tav>
                                        <p:tav tm="100000">
                                          <p:val>
                                            <p:strVal val="#ppt_x"/>
                                          </p:val>
                                        </p:tav>
                                      </p:tavLst>
                                    </p:anim>
                                    <p:anim calcmode="lin" valueType="num">
                                      <p:cBhvr>
                                        <p:cTn id="8" dur="500" fill="hold"/>
                                        <p:tgtEl>
                                          <p:spTgt spid="2253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33"/>
                                        </p:tgtEl>
                                        <p:attrNameLst>
                                          <p:attrName>style.visibility</p:attrName>
                                        </p:attrNameLst>
                                      </p:cBhvr>
                                      <p:to>
                                        <p:strVal val="visible"/>
                                      </p:to>
                                    </p:set>
                                    <p:anim calcmode="lin" valueType="num">
                                      <p:cBhvr>
                                        <p:cTn id="11" dur="500" fill="hold"/>
                                        <p:tgtEl>
                                          <p:spTgt spid="22533"/>
                                        </p:tgtEl>
                                        <p:attrNameLst>
                                          <p:attrName>ppt_x</p:attrName>
                                        </p:attrNameLst>
                                      </p:cBhvr>
                                      <p:tavLst>
                                        <p:tav tm="0">
                                          <p:val>
                                            <p:strVal val="#ppt_x"/>
                                          </p:val>
                                        </p:tav>
                                        <p:tav tm="100000">
                                          <p:val>
                                            <p:strVal val="#ppt_x"/>
                                          </p:val>
                                        </p:tav>
                                      </p:tavLst>
                                    </p:anim>
                                    <p:anim calcmode="lin" valueType="num">
                                      <p:cBhvr>
                                        <p:cTn id="12" dur="500" fill="hold"/>
                                        <p:tgtEl>
                                          <p:spTgt spid="2253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2534"/>
                                        </p:tgtEl>
                                        <p:attrNameLst>
                                          <p:attrName>style.visibility</p:attrName>
                                        </p:attrNameLst>
                                      </p:cBhvr>
                                      <p:to>
                                        <p:strVal val="visible"/>
                                      </p:to>
                                    </p:set>
                                    <p:anim calcmode="lin" valueType="num">
                                      <p:cBhvr>
                                        <p:cTn id="15" dur="500" fill="hold"/>
                                        <p:tgtEl>
                                          <p:spTgt spid="22534"/>
                                        </p:tgtEl>
                                        <p:attrNameLst>
                                          <p:attrName>ppt_x</p:attrName>
                                        </p:attrNameLst>
                                      </p:cBhvr>
                                      <p:tavLst>
                                        <p:tav tm="0">
                                          <p:val>
                                            <p:strVal val="#ppt_x"/>
                                          </p:val>
                                        </p:tav>
                                        <p:tav tm="100000">
                                          <p:val>
                                            <p:strVal val="#ppt_x"/>
                                          </p:val>
                                        </p:tav>
                                      </p:tavLst>
                                    </p:anim>
                                    <p:anim calcmode="lin" valueType="num">
                                      <p:cBhvr>
                                        <p:cTn id="16" dur="500" fill="hold"/>
                                        <p:tgtEl>
                                          <p:spTgt spid="2253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2535"/>
                                        </p:tgtEl>
                                        <p:attrNameLst>
                                          <p:attrName>style.visibility</p:attrName>
                                        </p:attrNameLst>
                                      </p:cBhvr>
                                      <p:to>
                                        <p:strVal val="visible"/>
                                      </p:to>
                                    </p:set>
                                    <p:anim calcmode="lin" valueType="num">
                                      <p:cBhvr>
                                        <p:cTn id="19" dur="500" fill="hold"/>
                                        <p:tgtEl>
                                          <p:spTgt spid="22535"/>
                                        </p:tgtEl>
                                        <p:attrNameLst>
                                          <p:attrName>ppt_x</p:attrName>
                                        </p:attrNameLst>
                                      </p:cBhvr>
                                      <p:tavLst>
                                        <p:tav tm="0">
                                          <p:val>
                                            <p:strVal val="#ppt_x"/>
                                          </p:val>
                                        </p:tav>
                                        <p:tav tm="100000">
                                          <p:val>
                                            <p:strVal val="#ppt_x"/>
                                          </p:val>
                                        </p:tav>
                                      </p:tavLst>
                                    </p:anim>
                                    <p:anim calcmode="lin" valueType="num">
                                      <p:cBhvr>
                                        <p:cTn id="20" dur="500" fill="hold"/>
                                        <p:tgtEl>
                                          <p:spTgt spid="2253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2536"/>
                                        </p:tgtEl>
                                        <p:attrNameLst>
                                          <p:attrName>style.visibility</p:attrName>
                                        </p:attrNameLst>
                                      </p:cBhvr>
                                      <p:to>
                                        <p:strVal val="visible"/>
                                      </p:to>
                                    </p:set>
                                    <p:anim calcmode="lin" valueType="num">
                                      <p:cBhvr>
                                        <p:cTn id="23" dur="500" fill="hold"/>
                                        <p:tgtEl>
                                          <p:spTgt spid="22536"/>
                                        </p:tgtEl>
                                        <p:attrNameLst>
                                          <p:attrName>ppt_x</p:attrName>
                                        </p:attrNameLst>
                                      </p:cBhvr>
                                      <p:tavLst>
                                        <p:tav tm="0">
                                          <p:val>
                                            <p:strVal val="#ppt_x"/>
                                          </p:val>
                                        </p:tav>
                                        <p:tav tm="100000">
                                          <p:val>
                                            <p:strVal val="#ppt_x"/>
                                          </p:val>
                                        </p:tav>
                                      </p:tavLst>
                                    </p:anim>
                                    <p:anim calcmode="lin" valueType="num">
                                      <p:cBhvr>
                                        <p:cTn id="24" dur="500" fill="hold"/>
                                        <p:tgtEl>
                                          <p:spTgt spid="22536"/>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2537"/>
                                        </p:tgtEl>
                                        <p:attrNameLst>
                                          <p:attrName>style.visibility</p:attrName>
                                        </p:attrNameLst>
                                      </p:cBhvr>
                                      <p:to>
                                        <p:strVal val="visible"/>
                                      </p:to>
                                    </p:set>
                                    <p:anim calcmode="lin" valueType="num">
                                      <p:cBhvr>
                                        <p:cTn id="27" dur="500" fill="hold"/>
                                        <p:tgtEl>
                                          <p:spTgt spid="22537"/>
                                        </p:tgtEl>
                                        <p:attrNameLst>
                                          <p:attrName>ppt_x</p:attrName>
                                        </p:attrNameLst>
                                      </p:cBhvr>
                                      <p:tavLst>
                                        <p:tav tm="0">
                                          <p:val>
                                            <p:strVal val="#ppt_x"/>
                                          </p:val>
                                        </p:tav>
                                        <p:tav tm="100000">
                                          <p:val>
                                            <p:strVal val="#ppt_x"/>
                                          </p:val>
                                        </p:tav>
                                      </p:tavLst>
                                    </p:anim>
                                    <p:anim calcmode="lin" valueType="num">
                                      <p:cBhvr>
                                        <p:cTn id="28" dur="500" fill="hold"/>
                                        <p:tgtEl>
                                          <p:spTgt spid="2253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2538"/>
                                        </p:tgtEl>
                                        <p:attrNameLst>
                                          <p:attrName>style.visibility</p:attrName>
                                        </p:attrNameLst>
                                      </p:cBhvr>
                                      <p:to>
                                        <p:strVal val="visible"/>
                                      </p:to>
                                    </p:set>
                                    <p:anim calcmode="lin" valueType="num">
                                      <p:cBhvr>
                                        <p:cTn id="31" dur="500" fill="hold"/>
                                        <p:tgtEl>
                                          <p:spTgt spid="22538"/>
                                        </p:tgtEl>
                                        <p:attrNameLst>
                                          <p:attrName>ppt_x</p:attrName>
                                        </p:attrNameLst>
                                      </p:cBhvr>
                                      <p:tavLst>
                                        <p:tav tm="0">
                                          <p:val>
                                            <p:strVal val="#ppt_x"/>
                                          </p:val>
                                        </p:tav>
                                        <p:tav tm="100000">
                                          <p:val>
                                            <p:strVal val="#ppt_x"/>
                                          </p:val>
                                        </p:tav>
                                      </p:tavLst>
                                    </p:anim>
                                    <p:anim calcmode="lin" valueType="num">
                                      <p:cBhvr>
                                        <p:cTn id="32" dur="500" fill="hold"/>
                                        <p:tgtEl>
                                          <p:spTgt spid="22538"/>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2539"/>
                                        </p:tgtEl>
                                        <p:attrNameLst>
                                          <p:attrName>style.visibility</p:attrName>
                                        </p:attrNameLst>
                                      </p:cBhvr>
                                      <p:to>
                                        <p:strVal val="visible"/>
                                      </p:to>
                                    </p:set>
                                    <p:anim calcmode="lin" valueType="num">
                                      <p:cBhvr>
                                        <p:cTn id="35" dur="500" fill="hold"/>
                                        <p:tgtEl>
                                          <p:spTgt spid="22539"/>
                                        </p:tgtEl>
                                        <p:attrNameLst>
                                          <p:attrName>ppt_x</p:attrName>
                                        </p:attrNameLst>
                                      </p:cBhvr>
                                      <p:tavLst>
                                        <p:tav tm="0">
                                          <p:val>
                                            <p:strVal val="#ppt_x"/>
                                          </p:val>
                                        </p:tav>
                                        <p:tav tm="100000">
                                          <p:val>
                                            <p:strVal val="#ppt_x"/>
                                          </p:val>
                                        </p:tav>
                                      </p:tavLst>
                                    </p:anim>
                                    <p:anim calcmode="lin" valueType="num">
                                      <p:cBhvr>
                                        <p:cTn id="36" dur="500" fill="hold"/>
                                        <p:tgtEl>
                                          <p:spTgt spid="2253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2540"/>
                                        </p:tgtEl>
                                        <p:attrNameLst>
                                          <p:attrName>style.visibility</p:attrName>
                                        </p:attrNameLst>
                                      </p:cBhvr>
                                      <p:to>
                                        <p:strVal val="visible"/>
                                      </p:to>
                                    </p:set>
                                    <p:anim calcmode="lin" valueType="num">
                                      <p:cBhvr>
                                        <p:cTn id="39" dur="500" fill="hold"/>
                                        <p:tgtEl>
                                          <p:spTgt spid="22540"/>
                                        </p:tgtEl>
                                        <p:attrNameLst>
                                          <p:attrName>ppt_x</p:attrName>
                                        </p:attrNameLst>
                                      </p:cBhvr>
                                      <p:tavLst>
                                        <p:tav tm="0">
                                          <p:val>
                                            <p:strVal val="#ppt_x"/>
                                          </p:val>
                                        </p:tav>
                                        <p:tav tm="100000">
                                          <p:val>
                                            <p:strVal val="#ppt_x"/>
                                          </p:val>
                                        </p:tav>
                                      </p:tavLst>
                                    </p:anim>
                                    <p:anim calcmode="lin" valueType="num">
                                      <p:cBhvr>
                                        <p:cTn id="40" dur="500" fill="hold"/>
                                        <p:tgtEl>
                                          <p:spTgt spid="2254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2541"/>
                                        </p:tgtEl>
                                        <p:attrNameLst>
                                          <p:attrName>style.visibility</p:attrName>
                                        </p:attrNameLst>
                                      </p:cBhvr>
                                      <p:to>
                                        <p:strVal val="visible"/>
                                      </p:to>
                                    </p:set>
                                    <p:anim calcmode="lin" valueType="num">
                                      <p:cBhvr>
                                        <p:cTn id="43" dur="500" fill="hold"/>
                                        <p:tgtEl>
                                          <p:spTgt spid="22541"/>
                                        </p:tgtEl>
                                        <p:attrNameLst>
                                          <p:attrName>ppt_x</p:attrName>
                                        </p:attrNameLst>
                                      </p:cBhvr>
                                      <p:tavLst>
                                        <p:tav tm="0">
                                          <p:val>
                                            <p:strVal val="#ppt_x"/>
                                          </p:val>
                                        </p:tav>
                                        <p:tav tm="100000">
                                          <p:val>
                                            <p:strVal val="#ppt_x"/>
                                          </p:val>
                                        </p:tav>
                                      </p:tavLst>
                                    </p:anim>
                                    <p:anim calcmode="lin" valueType="num">
                                      <p:cBhvr>
                                        <p:cTn id="44" dur="500" fill="hold"/>
                                        <p:tgtEl>
                                          <p:spTgt spid="2254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2561"/>
                                        </p:tgtEl>
                                        <p:attrNameLst>
                                          <p:attrName>style.visibility</p:attrName>
                                        </p:attrNameLst>
                                      </p:cBhvr>
                                      <p:to>
                                        <p:strVal val="visible"/>
                                      </p:to>
                                    </p:set>
                                    <p:anim calcmode="lin" valueType="num">
                                      <p:cBhvr>
                                        <p:cTn id="47" dur="500" fill="hold"/>
                                        <p:tgtEl>
                                          <p:spTgt spid="22561"/>
                                        </p:tgtEl>
                                        <p:attrNameLst>
                                          <p:attrName>ppt_x</p:attrName>
                                        </p:attrNameLst>
                                      </p:cBhvr>
                                      <p:tavLst>
                                        <p:tav tm="0">
                                          <p:val>
                                            <p:strVal val="#ppt_x"/>
                                          </p:val>
                                        </p:tav>
                                        <p:tav tm="100000">
                                          <p:val>
                                            <p:strVal val="#ppt_x"/>
                                          </p:val>
                                        </p:tav>
                                      </p:tavLst>
                                    </p:anim>
                                    <p:anim calcmode="lin" valueType="num">
                                      <p:cBhvr>
                                        <p:cTn id="48" dur="500" fill="hold"/>
                                        <p:tgtEl>
                                          <p:spTgt spid="22561"/>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2563"/>
                                        </p:tgtEl>
                                        <p:attrNameLst>
                                          <p:attrName>style.visibility</p:attrName>
                                        </p:attrNameLst>
                                      </p:cBhvr>
                                      <p:to>
                                        <p:strVal val="visible"/>
                                      </p:to>
                                    </p:set>
                                    <p:anim calcmode="lin" valueType="num">
                                      <p:cBhvr>
                                        <p:cTn id="51" dur="500" fill="hold"/>
                                        <p:tgtEl>
                                          <p:spTgt spid="22563"/>
                                        </p:tgtEl>
                                        <p:attrNameLst>
                                          <p:attrName>ppt_x</p:attrName>
                                        </p:attrNameLst>
                                      </p:cBhvr>
                                      <p:tavLst>
                                        <p:tav tm="0">
                                          <p:val>
                                            <p:strVal val="#ppt_x"/>
                                          </p:val>
                                        </p:tav>
                                        <p:tav tm="100000">
                                          <p:val>
                                            <p:strVal val="#ppt_x"/>
                                          </p:val>
                                        </p:tav>
                                      </p:tavLst>
                                    </p:anim>
                                    <p:anim calcmode="lin" valueType="num">
                                      <p:cBhvr>
                                        <p:cTn id="52" dur="500" fill="hold"/>
                                        <p:tgtEl>
                                          <p:spTgt spid="22563"/>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2543"/>
                                        </p:tgtEl>
                                        <p:attrNameLst>
                                          <p:attrName>style.visibility</p:attrName>
                                        </p:attrNameLst>
                                      </p:cBhvr>
                                      <p:to>
                                        <p:strVal val="visible"/>
                                      </p:to>
                                    </p:set>
                                    <p:anim calcmode="lin" valueType="num">
                                      <p:cBhvr>
                                        <p:cTn id="57" dur="500" fill="hold"/>
                                        <p:tgtEl>
                                          <p:spTgt spid="22543"/>
                                        </p:tgtEl>
                                        <p:attrNameLst>
                                          <p:attrName>ppt_x</p:attrName>
                                        </p:attrNameLst>
                                      </p:cBhvr>
                                      <p:tavLst>
                                        <p:tav tm="0">
                                          <p:val>
                                            <p:strVal val="#ppt_x"/>
                                          </p:val>
                                        </p:tav>
                                        <p:tav tm="100000">
                                          <p:val>
                                            <p:strVal val="#ppt_x"/>
                                          </p:val>
                                        </p:tav>
                                      </p:tavLst>
                                    </p:anim>
                                    <p:anim calcmode="lin" valueType="num">
                                      <p:cBhvr>
                                        <p:cTn id="58" dur="500" fill="hold"/>
                                        <p:tgtEl>
                                          <p:spTgt spid="22543"/>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2544"/>
                                        </p:tgtEl>
                                        <p:attrNameLst>
                                          <p:attrName>style.visibility</p:attrName>
                                        </p:attrNameLst>
                                      </p:cBhvr>
                                      <p:to>
                                        <p:strVal val="visible"/>
                                      </p:to>
                                    </p:set>
                                    <p:anim calcmode="lin" valueType="num">
                                      <p:cBhvr>
                                        <p:cTn id="61" dur="500" fill="hold"/>
                                        <p:tgtEl>
                                          <p:spTgt spid="22544"/>
                                        </p:tgtEl>
                                        <p:attrNameLst>
                                          <p:attrName>ppt_x</p:attrName>
                                        </p:attrNameLst>
                                      </p:cBhvr>
                                      <p:tavLst>
                                        <p:tav tm="0">
                                          <p:val>
                                            <p:strVal val="#ppt_x"/>
                                          </p:val>
                                        </p:tav>
                                        <p:tav tm="100000">
                                          <p:val>
                                            <p:strVal val="#ppt_x"/>
                                          </p:val>
                                        </p:tav>
                                      </p:tavLst>
                                    </p:anim>
                                    <p:anim calcmode="lin" valueType="num">
                                      <p:cBhvr>
                                        <p:cTn id="62" dur="500" fill="hold"/>
                                        <p:tgtEl>
                                          <p:spTgt spid="22544"/>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2545"/>
                                        </p:tgtEl>
                                        <p:attrNameLst>
                                          <p:attrName>style.visibility</p:attrName>
                                        </p:attrNameLst>
                                      </p:cBhvr>
                                      <p:to>
                                        <p:strVal val="visible"/>
                                      </p:to>
                                    </p:set>
                                    <p:anim calcmode="lin" valueType="num">
                                      <p:cBhvr>
                                        <p:cTn id="65" dur="500" fill="hold"/>
                                        <p:tgtEl>
                                          <p:spTgt spid="22545"/>
                                        </p:tgtEl>
                                        <p:attrNameLst>
                                          <p:attrName>ppt_x</p:attrName>
                                        </p:attrNameLst>
                                      </p:cBhvr>
                                      <p:tavLst>
                                        <p:tav tm="0">
                                          <p:val>
                                            <p:strVal val="#ppt_x"/>
                                          </p:val>
                                        </p:tav>
                                        <p:tav tm="100000">
                                          <p:val>
                                            <p:strVal val="#ppt_x"/>
                                          </p:val>
                                        </p:tav>
                                      </p:tavLst>
                                    </p:anim>
                                    <p:anim calcmode="lin" valueType="num">
                                      <p:cBhvr>
                                        <p:cTn id="66" dur="500" fill="hold"/>
                                        <p:tgtEl>
                                          <p:spTgt spid="22545"/>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22546"/>
                                        </p:tgtEl>
                                        <p:attrNameLst>
                                          <p:attrName>style.visibility</p:attrName>
                                        </p:attrNameLst>
                                      </p:cBhvr>
                                      <p:to>
                                        <p:strVal val="visible"/>
                                      </p:to>
                                    </p:set>
                                    <p:anim calcmode="lin" valueType="num">
                                      <p:cBhvr>
                                        <p:cTn id="69" dur="500" fill="hold"/>
                                        <p:tgtEl>
                                          <p:spTgt spid="22546"/>
                                        </p:tgtEl>
                                        <p:attrNameLst>
                                          <p:attrName>ppt_x</p:attrName>
                                        </p:attrNameLst>
                                      </p:cBhvr>
                                      <p:tavLst>
                                        <p:tav tm="0">
                                          <p:val>
                                            <p:strVal val="#ppt_x"/>
                                          </p:val>
                                        </p:tav>
                                        <p:tav tm="100000">
                                          <p:val>
                                            <p:strVal val="#ppt_x"/>
                                          </p:val>
                                        </p:tav>
                                      </p:tavLst>
                                    </p:anim>
                                    <p:anim calcmode="lin" valueType="num">
                                      <p:cBhvr>
                                        <p:cTn id="70" dur="500" fill="hold"/>
                                        <p:tgtEl>
                                          <p:spTgt spid="22546"/>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22547"/>
                                        </p:tgtEl>
                                        <p:attrNameLst>
                                          <p:attrName>style.visibility</p:attrName>
                                        </p:attrNameLst>
                                      </p:cBhvr>
                                      <p:to>
                                        <p:strVal val="visible"/>
                                      </p:to>
                                    </p:set>
                                    <p:anim calcmode="lin" valueType="num">
                                      <p:cBhvr>
                                        <p:cTn id="73" dur="500" fill="hold"/>
                                        <p:tgtEl>
                                          <p:spTgt spid="22547"/>
                                        </p:tgtEl>
                                        <p:attrNameLst>
                                          <p:attrName>ppt_x</p:attrName>
                                        </p:attrNameLst>
                                      </p:cBhvr>
                                      <p:tavLst>
                                        <p:tav tm="0">
                                          <p:val>
                                            <p:strVal val="#ppt_x"/>
                                          </p:val>
                                        </p:tav>
                                        <p:tav tm="100000">
                                          <p:val>
                                            <p:strVal val="#ppt_x"/>
                                          </p:val>
                                        </p:tav>
                                      </p:tavLst>
                                    </p:anim>
                                    <p:anim calcmode="lin" valueType="num">
                                      <p:cBhvr>
                                        <p:cTn id="74" dur="500" fill="hold"/>
                                        <p:tgtEl>
                                          <p:spTgt spid="22547"/>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22548"/>
                                        </p:tgtEl>
                                        <p:attrNameLst>
                                          <p:attrName>style.visibility</p:attrName>
                                        </p:attrNameLst>
                                      </p:cBhvr>
                                      <p:to>
                                        <p:strVal val="visible"/>
                                      </p:to>
                                    </p:set>
                                    <p:anim calcmode="lin" valueType="num">
                                      <p:cBhvr>
                                        <p:cTn id="77" dur="500" fill="hold"/>
                                        <p:tgtEl>
                                          <p:spTgt spid="22548"/>
                                        </p:tgtEl>
                                        <p:attrNameLst>
                                          <p:attrName>ppt_x</p:attrName>
                                        </p:attrNameLst>
                                      </p:cBhvr>
                                      <p:tavLst>
                                        <p:tav tm="0">
                                          <p:val>
                                            <p:strVal val="#ppt_x"/>
                                          </p:val>
                                        </p:tav>
                                        <p:tav tm="100000">
                                          <p:val>
                                            <p:strVal val="#ppt_x"/>
                                          </p:val>
                                        </p:tav>
                                      </p:tavLst>
                                    </p:anim>
                                    <p:anim calcmode="lin" valueType="num">
                                      <p:cBhvr>
                                        <p:cTn id="78" dur="500" fill="hold"/>
                                        <p:tgtEl>
                                          <p:spTgt spid="22548"/>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22549"/>
                                        </p:tgtEl>
                                        <p:attrNameLst>
                                          <p:attrName>style.visibility</p:attrName>
                                        </p:attrNameLst>
                                      </p:cBhvr>
                                      <p:to>
                                        <p:strVal val="visible"/>
                                      </p:to>
                                    </p:set>
                                    <p:anim calcmode="lin" valueType="num">
                                      <p:cBhvr>
                                        <p:cTn id="81" dur="500" fill="hold"/>
                                        <p:tgtEl>
                                          <p:spTgt spid="22549"/>
                                        </p:tgtEl>
                                        <p:attrNameLst>
                                          <p:attrName>ppt_x</p:attrName>
                                        </p:attrNameLst>
                                      </p:cBhvr>
                                      <p:tavLst>
                                        <p:tav tm="0">
                                          <p:val>
                                            <p:strVal val="#ppt_x"/>
                                          </p:val>
                                        </p:tav>
                                        <p:tav tm="100000">
                                          <p:val>
                                            <p:strVal val="#ppt_x"/>
                                          </p:val>
                                        </p:tav>
                                      </p:tavLst>
                                    </p:anim>
                                    <p:anim calcmode="lin" valueType="num">
                                      <p:cBhvr>
                                        <p:cTn id="82" dur="500" fill="hold"/>
                                        <p:tgtEl>
                                          <p:spTgt spid="22549"/>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22553"/>
                                        </p:tgtEl>
                                        <p:attrNameLst>
                                          <p:attrName>style.visibility</p:attrName>
                                        </p:attrNameLst>
                                      </p:cBhvr>
                                      <p:to>
                                        <p:strVal val="visible"/>
                                      </p:to>
                                    </p:set>
                                    <p:anim calcmode="lin" valueType="num">
                                      <p:cBhvr>
                                        <p:cTn id="85" dur="500" fill="hold"/>
                                        <p:tgtEl>
                                          <p:spTgt spid="22553"/>
                                        </p:tgtEl>
                                        <p:attrNameLst>
                                          <p:attrName>ppt_x</p:attrName>
                                        </p:attrNameLst>
                                      </p:cBhvr>
                                      <p:tavLst>
                                        <p:tav tm="0">
                                          <p:val>
                                            <p:strVal val="#ppt_x"/>
                                          </p:val>
                                        </p:tav>
                                        <p:tav tm="100000">
                                          <p:val>
                                            <p:strVal val="#ppt_x"/>
                                          </p:val>
                                        </p:tav>
                                      </p:tavLst>
                                    </p:anim>
                                    <p:anim calcmode="lin" valueType="num">
                                      <p:cBhvr>
                                        <p:cTn id="86" dur="500" fill="hold"/>
                                        <p:tgtEl>
                                          <p:spTgt spid="22553"/>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22554"/>
                                        </p:tgtEl>
                                        <p:attrNameLst>
                                          <p:attrName>style.visibility</p:attrName>
                                        </p:attrNameLst>
                                      </p:cBhvr>
                                      <p:to>
                                        <p:strVal val="visible"/>
                                      </p:to>
                                    </p:set>
                                    <p:anim calcmode="lin" valueType="num">
                                      <p:cBhvr>
                                        <p:cTn id="89" dur="500" fill="hold"/>
                                        <p:tgtEl>
                                          <p:spTgt spid="22554"/>
                                        </p:tgtEl>
                                        <p:attrNameLst>
                                          <p:attrName>ppt_x</p:attrName>
                                        </p:attrNameLst>
                                      </p:cBhvr>
                                      <p:tavLst>
                                        <p:tav tm="0">
                                          <p:val>
                                            <p:strVal val="#ppt_x"/>
                                          </p:val>
                                        </p:tav>
                                        <p:tav tm="100000">
                                          <p:val>
                                            <p:strVal val="#ppt_x"/>
                                          </p:val>
                                        </p:tav>
                                      </p:tavLst>
                                    </p:anim>
                                    <p:anim calcmode="lin" valueType="num">
                                      <p:cBhvr>
                                        <p:cTn id="90" dur="500" fill="hold"/>
                                        <p:tgtEl>
                                          <p:spTgt spid="22554"/>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22555"/>
                                        </p:tgtEl>
                                        <p:attrNameLst>
                                          <p:attrName>style.visibility</p:attrName>
                                        </p:attrNameLst>
                                      </p:cBhvr>
                                      <p:to>
                                        <p:strVal val="visible"/>
                                      </p:to>
                                    </p:set>
                                    <p:anim calcmode="lin" valueType="num">
                                      <p:cBhvr>
                                        <p:cTn id="93" dur="500" fill="hold"/>
                                        <p:tgtEl>
                                          <p:spTgt spid="22555"/>
                                        </p:tgtEl>
                                        <p:attrNameLst>
                                          <p:attrName>ppt_x</p:attrName>
                                        </p:attrNameLst>
                                      </p:cBhvr>
                                      <p:tavLst>
                                        <p:tav tm="0">
                                          <p:val>
                                            <p:strVal val="#ppt_x"/>
                                          </p:val>
                                        </p:tav>
                                        <p:tav tm="100000">
                                          <p:val>
                                            <p:strVal val="#ppt_x"/>
                                          </p:val>
                                        </p:tav>
                                      </p:tavLst>
                                    </p:anim>
                                    <p:anim calcmode="lin" valueType="num">
                                      <p:cBhvr>
                                        <p:cTn id="94" dur="500" fill="hold"/>
                                        <p:tgtEl>
                                          <p:spTgt spid="22555"/>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22562"/>
                                        </p:tgtEl>
                                        <p:attrNameLst>
                                          <p:attrName>style.visibility</p:attrName>
                                        </p:attrNameLst>
                                      </p:cBhvr>
                                      <p:to>
                                        <p:strVal val="visible"/>
                                      </p:to>
                                    </p:set>
                                    <p:anim calcmode="lin" valueType="num">
                                      <p:cBhvr>
                                        <p:cTn id="97" dur="500" fill="hold"/>
                                        <p:tgtEl>
                                          <p:spTgt spid="22562"/>
                                        </p:tgtEl>
                                        <p:attrNameLst>
                                          <p:attrName>ppt_x</p:attrName>
                                        </p:attrNameLst>
                                      </p:cBhvr>
                                      <p:tavLst>
                                        <p:tav tm="0">
                                          <p:val>
                                            <p:strVal val="#ppt_x"/>
                                          </p:val>
                                        </p:tav>
                                        <p:tav tm="100000">
                                          <p:val>
                                            <p:strVal val="#ppt_x"/>
                                          </p:val>
                                        </p:tav>
                                      </p:tavLst>
                                    </p:anim>
                                    <p:anim calcmode="lin" valueType="num">
                                      <p:cBhvr>
                                        <p:cTn id="98" dur="500" fill="hold"/>
                                        <p:tgtEl>
                                          <p:spTgt spid="22562"/>
                                        </p:tgtEl>
                                        <p:attrNameLst>
                                          <p:attrName>ppt_y</p:attrName>
                                        </p:attrNameLst>
                                      </p:cBhvr>
                                      <p:tavLst>
                                        <p:tav tm="0">
                                          <p:val>
                                            <p:strVal val="1+#ppt_h/2"/>
                                          </p:val>
                                        </p:tav>
                                        <p:tav tm="100000">
                                          <p:val>
                                            <p:strVal val="#ppt_y"/>
                                          </p:val>
                                        </p:tav>
                                      </p:tavLst>
                                    </p:anim>
                                  </p:childTnLst>
                                </p:cTn>
                              </p:par>
                            </p:childTnLst>
                          </p:cTn>
                        </p:par>
                        <p:par>
                          <p:cTn id="99" fill="hold">
                            <p:stCondLst>
                              <p:cond delay="500"/>
                            </p:stCondLst>
                            <p:childTnLst>
                              <p:par>
                                <p:cTn id="100" presetID="2" presetClass="entr" presetSubtype="4" fill="hold" grpId="0" nodeType="afterEffect">
                                  <p:stCondLst>
                                    <p:cond delay="0"/>
                                  </p:stCondLst>
                                  <p:childTnLst>
                                    <p:set>
                                      <p:cBhvr>
                                        <p:cTn id="101" dur="1" fill="hold">
                                          <p:stCondLst>
                                            <p:cond delay="0"/>
                                          </p:stCondLst>
                                        </p:cTn>
                                        <p:tgtEl>
                                          <p:spTgt spid="22552"/>
                                        </p:tgtEl>
                                        <p:attrNameLst>
                                          <p:attrName>style.visibility</p:attrName>
                                        </p:attrNameLst>
                                      </p:cBhvr>
                                      <p:to>
                                        <p:strVal val="visible"/>
                                      </p:to>
                                    </p:set>
                                    <p:anim calcmode="lin" valueType="num">
                                      <p:cBhvr>
                                        <p:cTn id="102" dur="500" fill="hold"/>
                                        <p:tgtEl>
                                          <p:spTgt spid="22552"/>
                                        </p:tgtEl>
                                        <p:attrNameLst>
                                          <p:attrName>ppt_x</p:attrName>
                                        </p:attrNameLst>
                                      </p:cBhvr>
                                      <p:tavLst>
                                        <p:tav tm="0">
                                          <p:val>
                                            <p:strVal val="#ppt_x"/>
                                          </p:val>
                                        </p:tav>
                                        <p:tav tm="100000">
                                          <p:val>
                                            <p:strVal val="#ppt_x"/>
                                          </p:val>
                                        </p:tav>
                                      </p:tavLst>
                                    </p:anim>
                                    <p:anim calcmode="lin" valueType="num">
                                      <p:cBhvr>
                                        <p:cTn id="103" dur="500" fill="hold"/>
                                        <p:tgtEl>
                                          <p:spTgt spid="22552"/>
                                        </p:tgtEl>
                                        <p:attrNameLst>
                                          <p:attrName>ppt_y</p:attrName>
                                        </p:attrNameLst>
                                      </p:cBhvr>
                                      <p:tavLst>
                                        <p:tav tm="0">
                                          <p:val>
                                            <p:strVal val="1+#ppt_h/2"/>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22542">
                                            <p:txEl>
                                              <p:charRg st="0" end="12"/>
                                            </p:txEl>
                                          </p:spTgt>
                                        </p:tgtEl>
                                        <p:attrNameLst>
                                          <p:attrName>style.visibility</p:attrName>
                                        </p:attrNameLst>
                                      </p:cBhvr>
                                      <p:to>
                                        <p:strVal val="visible"/>
                                      </p:to>
                                    </p:set>
                                    <p:animEffect transition="in" filter="wipe(left)">
                                      <p:cBhvr>
                                        <p:cTn id="108" dur="500"/>
                                        <p:tgtEl>
                                          <p:spTgt spid="22542">
                                            <p:txEl>
                                              <p:charRg st="0" end="12"/>
                                            </p:txEl>
                                          </p:spTgt>
                                        </p:tgtEl>
                                      </p:cBhvr>
                                    </p:animEffect>
                                  </p:childTnLst>
                                </p:cTn>
                              </p:par>
                            </p:childTnLst>
                          </p:cTn>
                        </p:par>
                        <p:par>
                          <p:cTn id="109" fill="hold">
                            <p:stCondLst>
                              <p:cond delay="500"/>
                            </p:stCondLst>
                            <p:childTnLst>
                              <p:par>
                                <p:cTn id="110" presetID="22" presetClass="entr" presetSubtype="8" fill="hold" nodeType="afterEffect">
                                  <p:stCondLst>
                                    <p:cond delay="0"/>
                                  </p:stCondLst>
                                  <p:childTnLst>
                                    <p:set>
                                      <p:cBhvr>
                                        <p:cTn id="111" dur="1" fill="hold">
                                          <p:stCondLst>
                                            <p:cond delay="0"/>
                                          </p:stCondLst>
                                        </p:cTn>
                                        <p:tgtEl>
                                          <p:spTgt spid="22556"/>
                                        </p:tgtEl>
                                        <p:attrNameLst>
                                          <p:attrName>style.visibility</p:attrName>
                                        </p:attrNameLst>
                                      </p:cBhvr>
                                      <p:to>
                                        <p:strVal val="visible"/>
                                      </p:to>
                                    </p:set>
                                    <p:animEffect transition="in" filter="wipe(left)">
                                      <p:cBhvr>
                                        <p:cTn id="112" dur="500"/>
                                        <p:tgtEl>
                                          <p:spTgt spid="22556"/>
                                        </p:tgtEl>
                                      </p:cBhvr>
                                    </p:animEffect>
                                  </p:childTnLst>
                                </p:cTn>
                              </p:par>
                            </p:childTnLst>
                          </p:cTn>
                        </p:par>
                      </p:childTnLst>
                    </p:cTn>
                  </p:par>
                  <p:par>
                    <p:cTn id="113" fill="hold">
                      <p:stCondLst>
                        <p:cond delay="indefinite"/>
                      </p:stCondLst>
                      <p:childTnLst>
                        <p:par>
                          <p:cTn id="114" fill="hold">
                            <p:stCondLst>
                              <p:cond delay="0"/>
                            </p:stCondLst>
                            <p:childTnLst>
                              <p:par>
                                <p:cTn id="115" presetID="18" presetClass="entr" presetSubtype="6" fill="hold" grpId="0" nodeType="clickEffect">
                                  <p:stCondLst>
                                    <p:cond delay="0"/>
                                  </p:stCondLst>
                                  <p:childTnLst>
                                    <p:set>
                                      <p:cBhvr>
                                        <p:cTn id="116" dur="1" fill="hold">
                                          <p:stCondLst>
                                            <p:cond delay="0"/>
                                          </p:stCondLst>
                                        </p:cTn>
                                        <p:tgtEl>
                                          <p:spTgt spid="22557"/>
                                        </p:tgtEl>
                                        <p:attrNameLst>
                                          <p:attrName>style.visibility</p:attrName>
                                        </p:attrNameLst>
                                      </p:cBhvr>
                                      <p:to>
                                        <p:strVal val="visible"/>
                                      </p:to>
                                    </p:set>
                                    <p:animEffect transition="in" filter="strips(downRight)">
                                      <p:cBhvr>
                                        <p:cTn id="117" dur="500"/>
                                        <p:tgtEl>
                                          <p:spTgt spid="22557"/>
                                        </p:tgtEl>
                                      </p:cBhvr>
                                    </p:animEffect>
                                  </p:childTnLst>
                                </p:cTn>
                              </p:par>
                              <p:par>
                                <p:cTn id="118" presetID="22" presetClass="entr" presetSubtype="1" fill="hold" nodeType="withEffect">
                                  <p:stCondLst>
                                    <p:cond delay="0"/>
                                  </p:stCondLst>
                                  <p:childTnLst>
                                    <p:set>
                                      <p:cBhvr>
                                        <p:cTn id="119" dur="1" fill="hold">
                                          <p:stCondLst>
                                            <p:cond delay="0"/>
                                          </p:stCondLst>
                                        </p:cTn>
                                        <p:tgtEl>
                                          <p:spTgt spid="22558"/>
                                        </p:tgtEl>
                                        <p:attrNameLst>
                                          <p:attrName>style.visibility</p:attrName>
                                        </p:attrNameLst>
                                      </p:cBhvr>
                                      <p:to>
                                        <p:strVal val="visible"/>
                                      </p:to>
                                    </p:set>
                                    <p:animEffect transition="in" filter="wipe(up)">
                                      <p:cBhvr>
                                        <p:cTn id="120" dur="500"/>
                                        <p:tgtEl>
                                          <p:spTgt spid="22558"/>
                                        </p:tgtEl>
                                      </p:cBhvr>
                                    </p:animEffect>
                                  </p:childTnLst>
                                </p:cTn>
                              </p:par>
                              <p:par>
                                <p:cTn id="121" presetID="22" presetClass="entr" presetSubtype="8" fill="hold" grpId="0" nodeType="withEffect">
                                  <p:stCondLst>
                                    <p:cond delay="0"/>
                                  </p:stCondLst>
                                  <p:childTnLst>
                                    <p:set>
                                      <p:cBhvr>
                                        <p:cTn id="122" dur="1" fill="hold">
                                          <p:stCondLst>
                                            <p:cond delay="0"/>
                                          </p:stCondLst>
                                        </p:cTn>
                                        <p:tgtEl>
                                          <p:spTgt spid="22559"/>
                                        </p:tgtEl>
                                        <p:attrNameLst>
                                          <p:attrName>style.visibility</p:attrName>
                                        </p:attrNameLst>
                                      </p:cBhvr>
                                      <p:to>
                                        <p:strVal val="visible"/>
                                      </p:to>
                                    </p:set>
                                    <p:animEffect transition="in" filter="wipe(left)">
                                      <p:cBhvr>
                                        <p:cTn id="123" dur="500"/>
                                        <p:tgtEl>
                                          <p:spTgt spid="22559"/>
                                        </p:tgtEl>
                                      </p:cBhvr>
                                    </p:animEffect>
                                  </p:childTnLst>
                                </p:cTn>
                              </p:par>
                              <p:par>
                                <p:cTn id="124" presetID="22" presetClass="entr" presetSubtype="8" fill="hold" grpId="0" nodeType="withEffect">
                                  <p:stCondLst>
                                    <p:cond delay="0"/>
                                  </p:stCondLst>
                                  <p:childTnLst>
                                    <p:set>
                                      <p:cBhvr>
                                        <p:cTn id="125" dur="1" fill="hold">
                                          <p:stCondLst>
                                            <p:cond delay="0"/>
                                          </p:stCondLst>
                                        </p:cTn>
                                        <p:tgtEl>
                                          <p:spTgt spid="22560"/>
                                        </p:tgtEl>
                                        <p:attrNameLst>
                                          <p:attrName>style.visibility</p:attrName>
                                        </p:attrNameLst>
                                      </p:cBhvr>
                                      <p:to>
                                        <p:strVal val="visible"/>
                                      </p:to>
                                    </p:set>
                                    <p:animEffect transition="in" filter="wipe(left)">
                                      <p:cBhvr>
                                        <p:cTn id="126" dur="500"/>
                                        <p:tgtEl>
                                          <p:spTgt spid="22560"/>
                                        </p:tgtEl>
                                      </p:cBhvr>
                                    </p:animEffect>
                                  </p:childTnLst>
                                </p:cTn>
                              </p:par>
                            </p:childTnLst>
                          </p:cTn>
                        </p:par>
                        <p:par>
                          <p:cTn id="127" fill="hold">
                            <p:stCondLst>
                              <p:cond delay="500"/>
                            </p:stCondLst>
                            <p:childTnLst>
                              <p:par>
                                <p:cTn id="128" presetID="22" presetClass="entr" presetSubtype="8" fill="hold" nodeType="afterEffect">
                                  <p:stCondLst>
                                    <p:cond delay="0"/>
                                  </p:stCondLst>
                                  <p:childTnLst>
                                    <p:set>
                                      <p:cBhvr>
                                        <p:cTn id="129" dur="1" fill="hold">
                                          <p:stCondLst>
                                            <p:cond delay="0"/>
                                          </p:stCondLst>
                                        </p:cTn>
                                        <p:tgtEl>
                                          <p:spTgt spid="22564"/>
                                        </p:tgtEl>
                                        <p:attrNameLst>
                                          <p:attrName>style.visibility</p:attrName>
                                        </p:attrNameLst>
                                      </p:cBhvr>
                                      <p:to>
                                        <p:strVal val="visible"/>
                                      </p:to>
                                    </p:set>
                                    <p:animEffect transition="in" filter="wipe(left)">
                                      <p:cBhvr>
                                        <p:cTn id="130" dur="500"/>
                                        <p:tgtEl>
                                          <p:spTgt spid="22564"/>
                                        </p:tgtEl>
                                      </p:cBhvr>
                                    </p:animEffect>
                                  </p:childTnLst>
                                </p:cTn>
                              </p:par>
                            </p:childTnLst>
                          </p:cTn>
                        </p:par>
                        <p:par>
                          <p:cTn id="131" fill="hold">
                            <p:stCondLst>
                              <p:cond delay="1000"/>
                            </p:stCondLst>
                            <p:childTnLst>
                              <p:par>
                                <p:cTn id="132" presetID="22" presetClass="entr" presetSubtype="1" fill="hold" nodeType="afterEffect">
                                  <p:stCondLst>
                                    <p:cond delay="0"/>
                                  </p:stCondLst>
                                  <p:childTnLst>
                                    <p:set>
                                      <p:cBhvr>
                                        <p:cTn id="133" dur="1" fill="hold">
                                          <p:stCondLst>
                                            <p:cond delay="0"/>
                                          </p:stCondLst>
                                        </p:cTn>
                                        <p:tgtEl>
                                          <p:spTgt spid="22565"/>
                                        </p:tgtEl>
                                        <p:attrNameLst>
                                          <p:attrName>style.visibility</p:attrName>
                                        </p:attrNameLst>
                                      </p:cBhvr>
                                      <p:to>
                                        <p:strVal val="visible"/>
                                      </p:to>
                                    </p:set>
                                    <p:animEffect transition="in" filter="wipe(up)">
                                      <p:cBhvr>
                                        <p:cTn id="134" dur="500"/>
                                        <p:tgtEl>
                                          <p:spTgt spid="22565"/>
                                        </p:tgtEl>
                                      </p:cBhvr>
                                    </p:animEffect>
                                  </p:childTnLst>
                                </p:cTn>
                              </p:par>
                            </p:childTnLst>
                          </p:cTn>
                        </p:par>
                        <p:par>
                          <p:cTn id="135" fill="hold">
                            <p:stCondLst>
                              <p:cond delay="1500"/>
                            </p:stCondLst>
                            <p:childTnLst>
                              <p:par>
                                <p:cTn id="136" presetID="22" presetClass="entr" presetSubtype="8" fill="hold" nodeType="afterEffect">
                                  <p:stCondLst>
                                    <p:cond delay="0"/>
                                  </p:stCondLst>
                                  <p:childTnLst>
                                    <p:set>
                                      <p:cBhvr>
                                        <p:cTn id="137" dur="1" fill="hold">
                                          <p:stCondLst>
                                            <p:cond delay="0"/>
                                          </p:stCondLst>
                                        </p:cTn>
                                        <p:tgtEl>
                                          <p:spTgt spid="22566"/>
                                        </p:tgtEl>
                                        <p:attrNameLst>
                                          <p:attrName>style.visibility</p:attrName>
                                        </p:attrNameLst>
                                      </p:cBhvr>
                                      <p:to>
                                        <p:strVal val="visible"/>
                                      </p:to>
                                    </p:set>
                                    <p:animEffect transition="in" filter="wipe(left)">
                                      <p:cBhvr>
                                        <p:cTn id="138" dur="500"/>
                                        <p:tgtEl>
                                          <p:spTgt spid="22566"/>
                                        </p:tgtEl>
                                      </p:cBhvr>
                                    </p:animEffect>
                                  </p:childTnLst>
                                </p:cTn>
                              </p:par>
                            </p:childTnLst>
                          </p:cTn>
                        </p:par>
                      </p:childTnLst>
                    </p:cTn>
                  </p:par>
                  <p:par>
                    <p:cTn id="139" fill="hold">
                      <p:stCondLst>
                        <p:cond delay="indefinite"/>
                      </p:stCondLst>
                      <p:childTnLst>
                        <p:par>
                          <p:cTn id="140" fill="hold">
                            <p:stCondLst>
                              <p:cond delay="0"/>
                            </p:stCondLst>
                            <p:childTnLst>
                              <p:par>
                                <p:cTn id="141" presetID="2" presetClass="entr" presetSubtype="1" fill="hold" grpId="0" nodeType="clickEffect">
                                  <p:stCondLst>
                                    <p:cond delay="0"/>
                                  </p:stCondLst>
                                  <p:childTnLst>
                                    <p:set>
                                      <p:cBhvr>
                                        <p:cTn id="142" dur="1" fill="hold">
                                          <p:stCondLst>
                                            <p:cond delay="0"/>
                                          </p:stCondLst>
                                        </p:cTn>
                                        <p:tgtEl>
                                          <p:spTgt spid="22550"/>
                                        </p:tgtEl>
                                        <p:attrNameLst>
                                          <p:attrName>style.visibility</p:attrName>
                                        </p:attrNameLst>
                                      </p:cBhvr>
                                      <p:to>
                                        <p:strVal val="visible"/>
                                      </p:to>
                                    </p:set>
                                    <p:anim calcmode="lin" valueType="num">
                                      <p:cBhvr>
                                        <p:cTn id="143" dur="500" fill="hold"/>
                                        <p:tgtEl>
                                          <p:spTgt spid="22550"/>
                                        </p:tgtEl>
                                        <p:attrNameLst>
                                          <p:attrName>ppt_x</p:attrName>
                                        </p:attrNameLst>
                                      </p:cBhvr>
                                      <p:tavLst>
                                        <p:tav tm="0">
                                          <p:val>
                                            <p:strVal val="#ppt_x"/>
                                          </p:val>
                                        </p:tav>
                                        <p:tav tm="100000">
                                          <p:val>
                                            <p:strVal val="#ppt_x"/>
                                          </p:val>
                                        </p:tav>
                                      </p:tavLst>
                                    </p:anim>
                                    <p:anim calcmode="lin" valueType="num">
                                      <p:cBhvr>
                                        <p:cTn id="144" dur="500" fill="hold"/>
                                        <p:tgtEl>
                                          <p:spTgt spid="22550"/>
                                        </p:tgtEl>
                                        <p:attrNameLst>
                                          <p:attrName>ppt_y</p:attrName>
                                        </p:attrNameLst>
                                      </p:cBhvr>
                                      <p:tavLst>
                                        <p:tav tm="0">
                                          <p:val>
                                            <p:strVal val="0-#ppt_h/2"/>
                                          </p:val>
                                        </p:tav>
                                        <p:tav tm="100000">
                                          <p:val>
                                            <p:strVal val="#ppt_y"/>
                                          </p:val>
                                        </p:tav>
                                      </p:tavLst>
                                    </p:anim>
                                  </p:childTnLst>
                                </p:cTn>
                              </p:par>
                            </p:childTnLst>
                          </p:cTn>
                        </p:par>
                        <p:par>
                          <p:cTn id="145" fill="hold">
                            <p:stCondLst>
                              <p:cond delay="500"/>
                            </p:stCondLst>
                            <p:childTnLst>
                              <p:par>
                                <p:cTn id="146" presetID="2" presetClass="entr" presetSubtype="1" fill="hold" grpId="0" nodeType="afterEffect">
                                  <p:stCondLst>
                                    <p:cond delay="500"/>
                                  </p:stCondLst>
                                  <p:childTnLst>
                                    <p:set>
                                      <p:cBhvr>
                                        <p:cTn id="147" dur="1" fill="hold">
                                          <p:stCondLst>
                                            <p:cond delay="0"/>
                                          </p:stCondLst>
                                        </p:cTn>
                                        <p:tgtEl>
                                          <p:spTgt spid="22551"/>
                                        </p:tgtEl>
                                        <p:attrNameLst>
                                          <p:attrName>style.visibility</p:attrName>
                                        </p:attrNameLst>
                                      </p:cBhvr>
                                      <p:to>
                                        <p:strVal val="visible"/>
                                      </p:to>
                                    </p:set>
                                    <p:anim calcmode="lin" valueType="num">
                                      <p:cBhvr>
                                        <p:cTn id="148" dur="500" fill="hold"/>
                                        <p:tgtEl>
                                          <p:spTgt spid="22551"/>
                                        </p:tgtEl>
                                        <p:attrNameLst>
                                          <p:attrName>ppt_x</p:attrName>
                                        </p:attrNameLst>
                                      </p:cBhvr>
                                      <p:tavLst>
                                        <p:tav tm="0">
                                          <p:val>
                                            <p:strVal val="#ppt_x"/>
                                          </p:val>
                                        </p:tav>
                                        <p:tav tm="100000">
                                          <p:val>
                                            <p:strVal val="#ppt_x"/>
                                          </p:val>
                                        </p:tav>
                                      </p:tavLst>
                                    </p:anim>
                                    <p:anim calcmode="lin" valueType="num">
                                      <p:cBhvr>
                                        <p:cTn id="149" dur="500" fill="hold"/>
                                        <p:tgtEl>
                                          <p:spTgt spid="2255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nimBg="1"/>
      <p:bldP spid="22533" grpId="0" animBg="1"/>
      <p:bldP spid="22534" grpId="0" animBg="1"/>
      <p:bldP spid="22538" grpId="0"/>
      <p:bldP spid="22539" grpId="0"/>
      <p:bldP spid="22540" grpId="0"/>
      <p:bldP spid="22541" grpId="0" animBg="1"/>
      <p:bldP spid="22543" grpId="0" animBg="1"/>
      <p:bldP spid="22544" grpId="0" animBg="1"/>
      <p:bldP spid="22545" grpId="0" animBg="1"/>
      <p:bldP spid="22546" grpId="0" animBg="1"/>
      <p:bldP spid="22550" grpId="0"/>
      <p:bldP spid="22551" grpId="0"/>
      <p:bldP spid="22552" grpId="0"/>
      <p:bldP spid="22553" grpId="0"/>
      <p:bldP spid="22554" grpId="0"/>
      <p:bldP spid="22555" grpId="0" animBg="1"/>
      <p:bldP spid="22557" grpId="0" animBg="1"/>
      <p:bldP spid="22559" grpId="0"/>
      <p:bldP spid="22560" grpId="0"/>
      <p:bldP spid="22561" grpId="0" animBg="1"/>
      <p:bldP spid="22562" grpId="0"/>
      <p:bldP spid="2256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idx="4294967295"/>
          </p:nvPr>
        </p:nvSpPr>
        <p:spPr>
          <a:xfrm>
            <a:off x="622300" y="1079500"/>
            <a:ext cx="6553200" cy="563563"/>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61E27"/>
                </a:solidFill>
                <a:latin typeface="宋体" panose="02010600030101010101" pitchFamily="2" charset="-122"/>
                <a:ea typeface="宋体" panose="02010600030101010101" pitchFamily="2" charset="-122"/>
              </a:rPr>
              <a:t>出栈指令</a:t>
            </a:r>
            <a:r>
              <a:rPr lang="en-US" altLang="zh-CN" dirty="0">
                <a:solidFill>
                  <a:srgbClr val="061E27"/>
                </a:solidFill>
                <a:latin typeface="宋体" panose="02010600030101010101" pitchFamily="2" charset="-122"/>
                <a:ea typeface="宋体" panose="02010600030101010101" pitchFamily="2" charset="-122"/>
              </a:rPr>
              <a:t>POP</a:t>
            </a:r>
            <a:endParaRPr lang="en-US" altLang="zh-CN" dirty="0">
              <a:solidFill>
                <a:srgbClr val="061E27"/>
              </a:solidFill>
              <a:latin typeface="宋体" panose="02010600030101010101" pitchFamily="2" charset="-122"/>
              <a:ea typeface="宋体" panose="02010600030101010101" pitchFamily="2" charset="-122"/>
            </a:endParaRPr>
          </a:p>
        </p:txBody>
      </p:sp>
      <p:sp>
        <p:nvSpPr>
          <p:cNvPr id="23555" name="Rectangle 3"/>
          <p:cNvSpPr>
            <a:spLocks noGrp="1"/>
          </p:cNvSpPr>
          <p:nvPr>
            <p:ph type="body" idx="4294967295"/>
          </p:nvPr>
        </p:nvSpPr>
        <p:spPr>
          <a:xfrm>
            <a:off x="568325" y="2032000"/>
            <a:ext cx="5324475" cy="2817813"/>
          </a:xfrm>
        </p:spPr>
        <p:txBody>
          <a:bodyPr vert="horz" wrap="square" lIns="91440" tIns="45720" rIns="91440" bIns="45720" anchor="t" anchorCtr="0"/>
          <a:p>
            <a:pPr algn="just" eaLnBrk="1" hangingPunct="1">
              <a:spcAft>
                <a:spcPct val="30000"/>
              </a:spcAft>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指令执行过程：</a:t>
            </a:r>
            <a:endParaRPr lang="zh-CN" altLang="en-US" dirty="0">
              <a:latin typeface="宋体" panose="02010600030101010101" pitchFamily="2" charset="-122"/>
              <a:ea typeface="宋体" panose="02010600030101010101" pitchFamily="2" charset="-122"/>
            </a:endParaRPr>
          </a:p>
          <a:p>
            <a:pPr algn="just" eaLnBrk="1" hangingPunct="1">
              <a:buNone/>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SP</a:t>
            </a:r>
            <a:endParaRPr lang="en-US" altLang="zh-CN" dirty="0">
              <a:ea typeface="宋体" panose="02010600030101010101" pitchFamily="2" charset="-122"/>
            </a:endParaRPr>
          </a:p>
          <a:p>
            <a:pPr algn="just" eaLnBrk="1" hangingPunct="1">
              <a:buNone/>
            </a:pPr>
            <a:r>
              <a:rPr lang="en-US" altLang="zh-CN" dirty="0">
                <a:ea typeface="宋体" panose="02010600030101010101" pitchFamily="2" charset="-122"/>
              </a:rPr>
              <a:t>   </a:t>
            </a:r>
            <a:r>
              <a:rPr lang="en-US" altLang="zh-CN" dirty="0">
                <a:latin typeface="宋体" panose="02010600030101010101" pitchFamily="2" charset="-122"/>
                <a:ea typeface="宋体" panose="02010600030101010101" pitchFamily="2" charset="-122"/>
              </a:rPr>
              <a:t>  SP+1</a:t>
            </a:r>
            <a:endParaRPr lang="zh-CN" altLang="en-US" dirty="0">
              <a:latin typeface="宋体" panose="02010600030101010101" pitchFamily="2" charset="-122"/>
              <a:ea typeface="宋体" panose="02010600030101010101" pitchFamily="2" charset="-122"/>
            </a:endParaRPr>
          </a:p>
          <a:p>
            <a:pPr algn="just" eaLnBrk="1" hangingPunct="1">
              <a:buNone/>
            </a:pPr>
            <a:r>
              <a:rPr lang="en-US" altLang="zh-CN" dirty="0">
                <a:latin typeface="宋体" panose="02010600030101010101" pitchFamily="2" charset="-122"/>
                <a:ea typeface="宋体" panose="02010600030101010101" pitchFamily="2" charset="-122"/>
              </a:rPr>
              <a:t>    SP ← SP+2</a:t>
            </a:r>
            <a:endParaRPr lang="zh-CN" altLang="en-US" dirty="0">
              <a:ea typeface="宋体" panose="02010600030101010101" pitchFamily="2" charset="-122"/>
            </a:endParaRPr>
          </a:p>
        </p:txBody>
      </p:sp>
      <p:sp>
        <p:nvSpPr>
          <p:cNvPr id="23556" name="Line 4"/>
          <p:cNvSpPr/>
          <p:nvPr/>
        </p:nvSpPr>
        <p:spPr>
          <a:xfrm>
            <a:off x="2124075" y="3068638"/>
            <a:ext cx="863600" cy="0"/>
          </a:xfrm>
          <a:prstGeom prst="line">
            <a:avLst/>
          </a:prstGeom>
          <a:ln w="25400" cap="sq" cmpd="sng">
            <a:solidFill>
              <a:srgbClr val="FF9900"/>
            </a:solidFill>
            <a:prstDash val="solid"/>
            <a:headEnd type="none" w="med" len="med"/>
            <a:tailEnd type="triangle" w="lg" len="lg"/>
          </a:ln>
        </p:spPr>
      </p:sp>
      <p:sp>
        <p:nvSpPr>
          <p:cNvPr id="23557" name="Line 5"/>
          <p:cNvSpPr/>
          <p:nvPr/>
        </p:nvSpPr>
        <p:spPr>
          <a:xfrm>
            <a:off x="2411413" y="3500438"/>
            <a:ext cx="576262" cy="0"/>
          </a:xfrm>
          <a:prstGeom prst="line">
            <a:avLst/>
          </a:prstGeom>
          <a:ln w="25400" cap="sq" cmpd="sng">
            <a:solidFill>
              <a:srgbClr val="FF9900"/>
            </a:solidFill>
            <a:prstDash val="solid"/>
            <a:headEnd type="none" w="med" len="med"/>
            <a:tailEnd type="triangle" w="lg" len="lg"/>
          </a:ln>
        </p:spPr>
      </p:sp>
      <p:sp>
        <p:nvSpPr>
          <p:cNvPr id="23558" name="Text Box 7"/>
          <p:cNvSpPr txBox="1"/>
          <p:nvPr/>
        </p:nvSpPr>
        <p:spPr>
          <a:xfrm>
            <a:off x="3132138" y="2781300"/>
            <a:ext cx="2808287" cy="519113"/>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zh-CN" altLang="en-US" sz="2800" b="1" dirty="0">
                <a:solidFill>
                  <a:schemeClr val="tx2"/>
                </a:solidFill>
                <a:latin typeface="Times New Roman" panose="02020603050405020304" pitchFamily="18" charset="0"/>
                <a:ea typeface="宋体" panose="02010600030101010101" pitchFamily="2" charset="-122"/>
              </a:rPr>
              <a:t>操作数低字节</a:t>
            </a:r>
            <a:endParaRPr lang="zh-CN" altLang="en-US" sz="2800" b="1" dirty="0">
              <a:solidFill>
                <a:schemeClr val="tx2"/>
              </a:solidFill>
              <a:latin typeface="Times New Roman" panose="02020603050405020304" pitchFamily="18" charset="0"/>
              <a:ea typeface="宋体" panose="02010600030101010101" pitchFamily="2" charset="-122"/>
            </a:endParaRPr>
          </a:p>
        </p:txBody>
      </p:sp>
      <p:sp>
        <p:nvSpPr>
          <p:cNvPr id="23559" name="Text Box 8"/>
          <p:cNvSpPr txBox="1"/>
          <p:nvPr/>
        </p:nvSpPr>
        <p:spPr>
          <a:xfrm>
            <a:off x="3130550" y="3255963"/>
            <a:ext cx="2952750" cy="519112"/>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zh-CN" altLang="en-US" sz="2800" b="1" dirty="0">
                <a:solidFill>
                  <a:schemeClr val="tx2"/>
                </a:solidFill>
                <a:latin typeface="Times New Roman" panose="02020603050405020304" pitchFamily="18" charset="0"/>
                <a:ea typeface="宋体" panose="02010600030101010101" pitchFamily="2" charset="-122"/>
              </a:rPr>
              <a:t>操作数高字节</a:t>
            </a:r>
            <a:endParaRPr lang="zh-CN" altLang="en-US" sz="2800" b="1" dirty="0">
              <a:solidFill>
                <a:schemeClr val="tx2"/>
              </a:solidFill>
              <a:latin typeface="Times New Roman" panose="02020603050405020304" pitchFamily="18" charset="0"/>
              <a:ea typeface="宋体" panose="02010600030101010101" pitchFamily="2" charset="-122"/>
            </a:endParaRPr>
          </a:p>
        </p:txBody>
      </p:sp>
      <p:sp>
        <p:nvSpPr>
          <p:cNvPr id="23560" name="Rectangle 9"/>
          <p:cNvSpPr/>
          <p:nvPr/>
        </p:nvSpPr>
        <p:spPr>
          <a:xfrm>
            <a:off x="6704013" y="4592638"/>
            <a:ext cx="1458912"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3561" name="Rectangle 10"/>
          <p:cNvSpPr/>
          <p:nvPr/>
        </p:nvSpPr>
        <p:spPr>
          <a:xfrm>
            <a:off x="6704013" y="4956175"/>
            <a:ext cx="1458912"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3562" name="Rectangle 11"/>
          <p:cNvSpPr/>
          <p:nvPr/>
        </p:nvSpPr>
        <p:spPr>
          <a:xfrm>
            <a:off x="6704013" y="5316538"/>
            <a:ext cx="1458912" cy="381000"/>
          </a:xfrm>
          <a:prstGeom prst="rect">
            <a:avLst/>
          </a:prstGeom>
          <a:solidFill>
            <a:srgbClr val="99CCFF"/>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3563" name="Line 12"/>
          <p:cNvSpPr/>
          <p:nvPr/>
        </p:nvSpPr>
        <p:spPr>
          <a:xfrm>
            <a:off x="6704013" y="3587750"/>
            <a:ext cx="0" cy="2903538"/>
          </a:xfrm>
          <a:prstGeom prst="line">
            <a:avLst/>
          </a:prstGeom>
          <a:ln w="12700" cap="sq" cmpd="sng">
            <a:solidFill>
              <a:schemeClr val="tx1"/>
            </a:solidFill>
            <a:prstDash val="solid"/>
            <a:headEnd type="none" w="med" len="med"/>
            <a:tailEnd type="none" w="med" len="med"/>
          </a:ln>
        </p:spPr>
      </p:sp>
      <p:sp>
        <p:nvSpPr>
          <p:cNvPr id="23564" name="Line 13"/>
          <p:cNvSpPr/>
          <p:nvPr/>
        </p:nvSpPr>
        <p:spPr>
          <a:xfrm>
            <a:off x="8164513" y="3567113"/>
            <a:ext cx="0" cy="2903537"/>
          </a:xfrm>
          <a:prstGeom prst="line">
            <a:avLst/>
          </a:prstGeom>
          <a:ln w="12700" cap="sq" cmpd="sng">
            <a:solidFill>
              <a:schemeClr val="tx1"/>
            </a:solidFill>
            <a:prstDash val="solid"/>
            <a:headEnd type="none" w="med" len="med"/>
            <a:tailEnd type="none" w="med" len="med"/>
          </a:ln>
        </p:spPr>
      </p:sp>
      <p:sp>
        <p:nvSpPr>
          <p:cNvPr id="23565" name="Freeform 14"/>
          <p:cNvSpPr/>
          <p:nvPr/>
        </p:nvSpPr>
        <p:spPr>
          <a:xfrm>
            <a:off x="6704013" y="6153150"/>
            <a:ext cx="1457325" cy="444500"/>
          </a:xfrm>
          <a:custGeom>
            <a:avLst/>
            <a:gdLst>
              <a:gd name="txL" fmla="*/ 0 w 1091"/>
              <a:gd name="txT" fmla="*/ 0 h 280"/>
              <a:gd name="txR" fmla="*/ 1091 w 1091"/>
              <a:gd name="txB" fmla="*/ 280 h 280"/>
            </a:gdLst>
            <a:ahLst/>
            <a:cxnLst>
              <a:cxn ang="0">
                <a:pos x="19626464" y="559474642"/>
              </a:cxn>
              <a:cxn ang="0">
                <a:pos x="85645544" y="466228108"/>
              </a:cxn>
              <a:cxn ang="0">
                <a:pos x="183780572" y="372983062"/>
              </a:cxn>
              <a:cxn ang="0">
                <a:pos x="365777892" y="209172183"/>
              </a:cxn>
              <a:cxn ang="0">
                <a:pos x="595949650" y="0"/>
              </a:cxn>
              <a:cxn ang="0">
                <a:pos x="777947053" y="22680609"/>
              </a:cxn>
              <a:cxn ang="0">
                <a:pos x="876082019" y="163810928"/>
              </a:cxn>
              <a:cxn ang="0">
                <a:pos x="1040236049" y="302418717"/>
              </a:cxn>
              <a:cxn ang="0">
                <a:pos x="1534481724" y="652721176"/>
              </a:cxn>
              <a:cxn ang="0">
                <a:pos x="1830672546" y="652721176"/>
              </a:cxn>
              <a:cxn ang="0">
                <a:pos x="1864574371" y="604837435"/>
              </a:cxn>
              <a:cxn ang="0">
                <a:pos x="1914533480" y="559474642"/>
              </a:cxn>
              <a:cxn ang="0">
                <a:pos x="1946650718" y="511590900"/>
              </a:cxn>
            </a:cxnLst>
            <a:rect l="txL" t="txT" r="txR" b="txB"/>
            <a:pathLst>
              <a:path w="1091" h="280">
                <a:moveTo>
                  <a:pt x="11" y="222"/>
                </a:moveTo>
                <a:cubicBezTo>
                  <a:pt x="85" y="198"/>
                  <a:pt x="0" y="234"/>
                  <a:pt x="48" y="185"/>
                </a:cubicBezTo>
                <a:cubicBezTo>
                  <a:pt x="64" y="169"/>
                  <a:pt x="87" y="164"/>
                  <a:pt x="103" y="148"/>
                </a:cubicBezTo>
                <a:cubicBezTo>
                  <a:pt x="133" y="118"/>
                  <a:pt x="166" y="97"/>
                  <a:pt x="205" y="83"/>
                </a:cubicBezTo>
                <a:cubicBezTo>
                  <a:pt x="245" y="43"/>
                  <a:pt x="281" y="17"/>
                  <a:pt x="334" y="0"/>
                </a:cubicBezTo>
                <a:cubicBezTo>
                  <a:pt x="368" y="3"/>
                  <a:pt x="403" y="1"/>
                  <a:pt x="436" y="9"/>
                </a:cubicBezTo>
                <a:cubicBezTo>
                  <a:pt x="452" y="13"/>
                  <a:pt x="477" y="54"/>
                  <a:pt x="491" y="65"/>
                </a:cubicBezTo>
                <a:cubicBezTo>
                  <a:pt x="535" y="99"/>
                  <a:pt x="540" y="99"/>
                  <a:pt x="583" y="120"/>
                </a:cubicBezTo>
                <a:cubicBezTo>
                  <a:pt x="660" y="197"/>
                  <a:pt x="753" y="242"/>
                  <a:pt x="860" y="259"/>
                </a:cubicBezTo>
                <a:cubicBezTo>
                  <a:pt x="925" y="280"/>
                  <a:pt x="912" y="279"/>
                  <a:pt x="1026" y="259"/>
                </a:cubicBezTo>
                <a:cubicBezTo>
                  <a:pt x="1035" y="257"/>
                  <a:pt x="1038" y="246"/>
                  <a:pt x="1045" y="240"/>
                </a:cubicBezTo>
                <a:cubicBezTo>
                  <a:pt x="1054" y="233"/>
                  <a:pt x="1064" y="229"/>
                  <a:pt x="1073" y="222"/>
                </a:cubicBezTo>
                <a:cubicBezTo>
                  <a:pt x="1080" y="217"/>
                  <a:pt x="1091" y="203"/>
                  <a:pt x="1091" y="203"/>
                </a:cubicBezTo>
              </a:path>
            </a:pathLst>
          </a:custGeom>
          <a:noFill/>
          <a:ln w="12700" cap="sq" cmpd="sng">
            <a:solidFill>
              <a:schemeClr val="tx1">
                <a:alpha val="100000"/>
              </a:schemeClr>
            </a:solidFill>
            <a:prstDash val="solid"/>
            <a:miter lim="800000"/>
            <a:headEnd type="none" w="med" len="med"/>
            <a:tailEnd type="none" w="med" len="med"/>
          </a:ln>
        </p:spPr>
        <p:txBody>
          <a:bodyPr/>
          <a:p>
            <a:endParaRPr lang="zh-CN" altLang="en-US"/>
          </a:p>
        </p:txBody>
      </p:sp>
      <p:sp>
        <p:nvSpPr>
          <p:cNvPr id="23566" name="Text Box 15"/>
          <p:cNvSpPr txBox="1"/>
          <p:nvPr/>
        </p:nvSpPr>
        <p:spPr>
          <a:xfrm>
            <a:off x="7161213" y="3702050"/>
            <a:ext cx="609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latin typeface="宋体" panose="02010600030101010101" pitchFamily="2" charset="-122"/>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p:txBody>
      </p:sp>
      <p:sp>
        <p:nvSpPr>
          <p:cNvPr id="23567" name="Rectangle 16"/>
          <p:cNvSpPr/>
          <p:nvPr/>
        </p:nvSpPr>
        <p:spPr>
          <a:xfrm>
            <a:off x="6704013" y="4222750"/>
            <a:ext cx="1458912"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3568" name="Text Box 17"/>
          <p:cNvSpPr txBox="1"/>
          <p:nvPr/>
        </p:nvSpPr>
        <p:spPr>
          <a:xfrm>
            <a:off x="5510213" y="5302250"/>
            <a:ext cx="792162" cy="457200"/>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SP</a:t>
            </a:r>
            <a:endParaRPr lang="en-US" altLang="zh-CN" sz="2400" b="1" dirty="0">
              <a:latin typeface="Times New Roman" panose="02020603050405020304" pitchFamily="18" charset="0"/>
              <a:ea typeface="宋体" panose="02010600030101010101" pitchFamily="2" charset="-122"/>
            </a:endParaRPr>
          </a:p>
        </p:txBody>
      </p:sp>
      <p:sp>
        <p:nvSpPr>
          <p:cNvPr id="23569" name="Line 18"/>
          <p:cNvSpPr/>
          <p:nvPr/>
        </p:nvSpPr>
        <p:spPr>
          <a:xfrm>
            <a:off x="6083300" y="5516563"/>
            <a:ext cx="576263" cy="0"/>
          </a:xfrm>
          <a:prstGeom prst="line">
            <a:avLst/>
          </a:prstGeom>
          <a:ln w="22225" cap="flat" cmpd="sng">
            <a:solidFill>
              <a:srgbClr val="FF6600"/>
            </a:solidFill>
            <a:prstDash val="solid"/>
            <a:headEnd type="none" w="med" len="med"/>
            <a:tailEnd type="triangle" w="lg" len="lg"/>
          </a:ln>
        </p:spPr>
      </p:sp>
      <p:sp>
        <p:nvSpPr>
          <p:cNvPr id="23570" name="Text Box 19"/>
          <p:cNvSpPr txBox="1"/>
          <p:nvPr/>
        </p:nvSpPr>
        <p:spPr>
          <a:xfrm>
            <a:off x="8599488" y="4414838"/>
            <a:ext cx="457200" cy="10064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堆栈段</a:t>
            </a:r>
            <a:endParaRPr lang="zh-CN" altLang="en-US" sz="2000" b="1" dirty="0">
              <a:latin typeface="Times New Roman" panose="02020603050405020304" pitchFamily="18" charset="0"/>
              <a:ea typeface="宋体" panose="02010600030101010101" pitchFamily="2" charset="-122"/>
            </a:endParaRPr>
          </a:p>
        </p:txBody>
      </p:sp>
      <p:sp>
        <p:nvSpPr>
          <p:cNvPr id="23571" name="AutoShape 20"/>
          <p:cNvSpPr/>
          <p:nvPr/>
        </p:nvSpPr>
        <p:spPr>
          <a:xfrm>
            <a:off x="8299450" y="4202113"/>
            <a:ext cx="304800" cy="1447800"/>
          </a:xfrm>
          <a:prstGeom prst="rightBrace">
            <a:avLst>
              <a:gd name="adj1" fmla="val 39275"/>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3572" name="Text Box 21"/>
          <p:cNvSpPr txBox="1"/>
          <p:nvPr/>
        </p:nvSpPr>
        <p:spPr>
          <a:xfrm>
            <a:off x="5510213" y="4581525"/>
            <a:ext cx="862012" cy="457200"/>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SP</a:t>
            </a:r>
            <a:endParaRPr lang="en-US" altLang="zh-CN" sz="2400" b="1" dirty="0">
              <a:latin typeface="Times New Roman" panose="02020603050405020304" pitchFamily="18" charset="0"/>
              <a:ea typeface="宋体" panose="02010600030101010101" pitchFamily="2" charset="-122"/>
            </a:endParaRPr>
          </a:p>
        </p:txBody>
      </p:sp>
      <p:sp>
        <p:nvSpPr>
          <p:cNvPr id="23573" name="Line 22"/>
          <p:cNvSpPr/>
          <p:nvPr/>
        </p:nvSpPr>
        <p:spPr>
          <a:xfrm>
            <a:off x="6083300" y="4795838"/>
            <a:ext cx="576263" cy="0"/>
          </a:xfrm>
          <a:prstGeom prst="line">
            <a:avLst/>
          </a:prstGeom>
          <a:ln w="22225" cap="flat" cmpd="sng">
            <a:solidFill>
              <a:srgbClr val="FF6600"/>
            </a:solidFill>
            <a:prstDash val="solid"/>
            <a:headEnd type="none" w="med" len="med"/>
            <a:tailEnd type="triangle" w="lg" len="lg"/>
          </a:ln>
        </p:spPr>
      </p:sp>
      <p:sp>
        <p:nvSpPr>
          <p:cNvPr id="23574" name="Text Box 23"/>
          <p:cNvSpPr txBox="1"/>
          <p:nvPr/>
        </p:nvSpPr>
        <p:spPr>
          <a:xfrm>
            <a:off x="6850063" y="4941888"/>
            <a:ext cx="1133475" cy="461962"/>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高</a:t>
            </a:r>
            <a:r>
              <a:rPr lang="en-US" altLang="zh-CN" sz="2400" b="1" dirty="0">
                <a:solidFill>
                  <a:schemeClr val="bg1"/>
                </a:solidFill>
                <a:latin typeface="Times New Roman" panose="02020603050405020304" pitchFamily="18" charset="0"/>
                <a:ea typeface="宋体" panose="02010600030101010101" pitchFamily="2" charset="-122"/>
              </a:rPr>
              <a:t>8</a:t>
            </a:r>
            <a:r>
              <a:rPr lang="zh-CN" altLang="en-US" sz="2400" b="1" dirty="0">
                <a:solidFill>
                  <a:schemeClr val="bg1"/>
                </a:solidFill>
                <a:latin typeface="Times New Roman" panose="02020603050405020304" pitchFamily="18" charset="0"/>
                <a:ea typeface="宋体" panose="02010600030101010101" pitchFamily="2" charset="-122"/>
              </a:rPr>
              <a:t>位</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23575" name="Text Box 24"/>
          <p:cNvSpPr txBox="1"/>
          <p:nvPr/>
        </p:nvSpPr>
        <p:spPr>
          <a:xfrm>
            <a:off x="6850063" y="4581525"/>
            <a:ext cx="1133475" cy="461963"/>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低</a:t>
            </a:r>
            <a:r>
              <a:rPr lang="en-US" altLang="zh-CN" sz="2400" b="1" dirty="0">
                <a:solidFill>
                  <a:schemeClr val="bg1"/>
                </a:solidFill>
                <a:latin typeface="Times New Roman" panose="02020603050405020304" pitchFamily="18" charset="0"/>
                <a:ea typeface="宋体" panose="02010600030101010101" pitchFamily="2" charset="-122"/>
              </a:rPr>
              <a:t>8</a:t>
            </a:r>
            <a:r>
              <a:rPr lang="zh-CN" altLang="en-US" sz="2400" b="1" dirty="0">
                <a:solidFill>
                  <a:schemeClr val="bg1"/>
                </a:solidFill>
                <a:latin typeface="Times New Roman" panose="02020603050405020304" pitchFamily="18" charset="0"/>
                <a:ea typeface="宋体" panose="02010600030101010101" pitchFamily="2" charset="-122"/>
              </a:rPr>
              <a:t>位</a:t>
            </a:r>
            <a:endParaRPr lang="zh-CN" altLang="en-US" sz="2400" b="1" dirty="0">
              <a:solidFill>
                <a:schemeClr val="bg1"/>
              </a:solidFill>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3555">
                                            <p:txEl>
                                              <p:charRg st="0" end="8"/>
                                            </p:txEl>
                                          </p:spTgt>
                                        </p:tgtEl>
                                        <p:attrNameLst>
                                          <p:attrName>style.visibility</p:attrName>
                                        </p:attrNameLst>
                                      </p:cBhvr>
                                      <p:to>
                                        <p:strVal val="visible"/>
                                      </p:to>
                                    </p:set>
                                    <p:animEffect transition="in" filter="wipe(left)">
                                      <p:cBhvr>
                                        <p:cTn id="7" dur="500"/>
                                        <p:tgtEl>
                                          <p:spTgt spid="23555">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3560"/>
                                        </p:tgtEl>
                                        <p:attrNameLst>
                                          <p:attrName>style.visibility</p:attrName>
                                        </p:attrNameLst>
                                      </p:cBhvr>
                                      <p:to>
                                        <p:strVal val="visible"/>
                                      </p:to>
                                    </p:set>
                                    <p:anim calcmode="lin" valueType="num">
                                      <p:cBhvr>
                                        <p:cTn id="12" dur="500" fill="hold"/>
                                        <p:tgtEl>
                                          <p:spTgt spid="23560"/>
                                        </p:tgtEl>
                                        <p:attrNameLst>
                                          <p:attrName>ppt_x</p:attrName>
                                        </p:attrNameLst>
                                      </p:cBhvr>
                                      <p:tavLst>
                                        <p:tav tm="0">
                                          <p:val>
                                            <p:strVal val="#ppt_x"/>
                                          </p:val>
                                        </p:tav>
                                        <p:tav tm="100000">
                                          <p:val>
                                            <p:strVal val="#ppt_x"/>
                                          </p:val>
                                        </p:tav>
                                      </p:tavLst>
                                    </p:anim>
                                    <p:anim calcmode="lin" valueType="num">
                                      <p:cBhvr>
                                        <p:cTn id="13" dur="500" fill="hold"/>
                                        <p:tgtEl>
                                          <p:spTgt spid="23560"/>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23561"/>
                                        </p:tgtEl>
                                        <p:attrNameLst>
                                          <p:attrName>style.visibility</p:attrName>
                                        </p:attrNameLst>
                                      </p:cBhvr>
                                      <p:to>
                                        <p:strVal val="visible"/>
                                      </p:to>
                                    </p:set>
                                    <p:anim calcmode="lin" valueType="num">
                                      <p:cBhvr>
                                        <p:cTn id="16" dur="500" fill="hold"/>
                                        <p:tgtEl>
                                          <p:spTgt spid="23561"/>
                                        </p:tgtEl>
                                        <p:attrNameLst>
                                          <p:attrName>ppt_x</p:attrName>
                                        </p:attrNameLst>
                                      </p:cBhvr>
                                      <p:tavLst>
                                        <p:tav tm="0">
                                          <p:val>
                                            <p:strVal val="#ppt_x"/>
                                          </p:val>
                                        </p:tav>
                                        <p:tav tm="100000">
                                          <p:val>
                                            <p:strVal val="#ppt_x"/>
                                          </p:val>
                                        </p:tav>
                                      </p:tavLst>
                                    </p:anim>
                                    <p:anim calcmode="lin" valueType="num">
                                      <p:cBhvr>
                                        <p:cTn id="17" dur="500" fill="hold"/>
                                        <p:tgtEl>
                                          <p:spTgt spid="23561"/>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3562"/>
                                        </p:tgtEl>
                                        <p:attrNameLst>
                                          <p:attrName>style.visibility</p:attrName>
                                        </p:attrNameLst>
                                      </p:cBhvr>
                                      <p:to>
                                        <p:strVal val="visible"/>
                                      </p:to>
                                    </p:set>
                                    <p:anim calcmode="lin" valueType="num">
                                      <p:cBhvr>
                                        <p:cTn id="20" dur="500" fill="hold"/>
                                        <p:tgtEl>
                                          <p:spTgt spid="23562"/>
                                        </p:tgtEl>
                                        <p:attrNameLst>
                                          <p:attrName>ppt_x</p:attrName>
                                        </p:attrNameLst>
                                      </p:cBhvr>
                                      <p:tavLst>
                                        <p:tav tm="0">
                                          <p:val>
                                            <p:strVal val="#ppt_x"/>
                                          </p:val>
                                        </p:tav>
                                        <p:tav tm="100000">
                                          <p:val>
                                            <p:strVal val="#ppt_x"/>
                                          </p:val>
                                        </p:tav>
                                      </p:tavLst>
                                    </p:anim>
                                    <p:anim calcmode="lin" valueType="num">
                                      <p:cBhvr>
                                        <p:cTn id="21" dur="500" fill="hold"/>
                                        <p:tgtEl>
                                          <p:spTgt spid="23562"/>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23563"/>
                                        </p:tgtEl>
                                        <p:attrNameLst>
                                          <p:attrName>style.visibility</p:attrName>
                                        </p:attrNameLst>
                                      </p:cBhvr>
                                      <p:to>
                                        <p:strVal val="visible"/>
                                      </p:to>
                                    </p:set>
                                    <p:anim calcmode="lin" valueType="num">
                                      <p:cBhvr>
                                        <p:cTn id="24" dur="500" fill="hold"/>
                                        <p:tgtEl>
                                          <p:spTgt spid="23563"/>
                                        </p:tgtEl>
                                        <p:attrNameLst>
                                          <p:attrName>ppt_x</p:attrName>
                                        </p:attrNameLst>
                                      </p:cBhvr>
                                      <p:tavLst>
                                        <p:tav tm="0">
                                          <p:val>
                                            <p:strVal val="#ppt_x"/>
                                          </p:val>
                                        </p:tav>
                                        <p:tav tm="100000">
                                          <p:val>
                                            <p:strVal val="#ppt_x"/>
                                          </p:val>
                                        </p:tav>
                                      </p:tavLst>
                                    </p:anim>
                                    <p:anim calcmode="lin" valueType="num">
                                      <p:cBhvr>
                                        <p:cTn id="25" dur="500" fill="hold"/>
                                        <p:tgtEl>
                                          <p:spTgt spid="23563"/>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23564"/>
                                        </p:tgtEl>
                                        <p:attrNameLst>
                                          <p:attrName>style.visibility</p:attrName>
                                        </p:attrNameLst>
                                      </p:cBhvr>
                                      <p:to>
                                        <p:strVal val="visible"/>
                                      </p:to>
                                    </p:set>
                                    <p:anim calcmode="lin" valueType="num">
                                      <p:cBhvr>
                                        <p:cTn id="28" dur="500" fill="hold"/>
                                        <p:tgtEl>
                                          <p:spTgt spid="23564"/>
                                        </p:tgtEl>
                                        <p:attrNameLst>
                                          <p:attrName>ppt_x</p:attrName>
                                        </p:attrNameLst>
                                      </p:cBhvr>
                                      <p:tavLst>
                                        <p:tav tm="0">
                                          <p:val>
                                            <p:strVal val="#ppt_x"/>
                                          </p:val>
                                        </p:tav>
                                        <p:tav tm="100000">
                                          <p:val>
                                            <p:strVal val="#ppt_x"/>
                                          </p:val>
                                        </p:tav>
                                      </p:tavLst>
                                    </p:anim>
                                    <p:anim calcmode="lin" valueType="num">
                                      <p:cBhvr>
                                        <p:cTn id="29" dur="500" fill="hold"/>
                                        <p:tgtEl>
                                          <p:spTgt spid="23564"/>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3565"/>
                                        </p:tgtEl>
                                        <p:attrNameLst>
                                          <p:attrName>style.visibility</p:attrName>
                                        </p:attrNameLst>
                                      </p:cBhvr>
                                      <p:to>
                                        <p:strVal val="visible"/>
                                      </p:to>
                                    </p:set>
                                    <p:anim calcmode="lin" valueType="num">
                                      <p:cBhvr>
                                        <p:cTn id="32" dur="500" fill="hold"/>
                                        <p:tgtEl>
                                          <p:spTgt spid="23565"/>
                                        </p:tgtEl>
                                        <p:attrNameLst>
                                          <p:attrName>ppt_x</p:attrName>
                                        </p:attrNameLst>
                                      </p:cBhvr>
                                      <p:tavLst>
                                        <p:tav tm="0">
                                          <p:val>
                                            <p:strVal val="#ppt_x"/>
                                          </p:val>
                                        </p:tav>
                                        <p:tav tm="100000">
                                          <p:val>
                                            <p:strVal val="#ppt_x"/>
                                          </p:val>
                                        </p:tav>
                                      </p:tavLst>
                                    </p:anim>
                                    <p:anim calcmode="lin" valueType="num">
                                      <p:cBhvr>
                                        <p:cTn id="33" dur="500" fill="hold"/>
                                        <p:tgtEl>
                                          <p:spTgt spid="23565"/>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23566"/>
                                        </p:tgtEl>
                                        <p:attrNameLst>
                                          <p:attrName>style.visibility</p:attrName>
                                        </p:attrNameLst>
                                      </p:cBhvr>
                                      <p:to>
                                        <p:strVal val="visible"/>
                                      </p:to>
                                    </p:set>
                                    <p:anim calcmode="lin" valueType="num">
                                      <p:cBhvr>
                                        <p:cTn id="36" dur="500" fill="hold"/>
                                        <p:tgtEl>
                                          <p:spTgt spid="23566"/>
                                        </p:tgtEl>
                                        <p:attrNameLst>
                                          <p:attrName>ppt_x</p:attrName>
                                        </p:attrNameLst>
                                      </p:cBhvr>
                                      <p:tavLst>
                                        <p:tav tm="0">
                                          <p:val>
                                            <p:strVal val="#ppt_x"/>
                                          </p:val>
                                        </p:tav>
                                        <p:tav tm="100000">
                                          <p:val>
                                            <p:strVal val="#ppt_x"/>
                                          </p:val>
                                        </p:tav>
                                      </p:tavLst>
                                    </p:anim>
                                    <p:anim calcmode="lin" valueType="num">
                                      <p:cBhvr>
                                        <p:cTn id="37" dur="500" fill="hold"/>
                                        <p:tgtEl>
                                          <p:spTgt spid="23566"/>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23567"/>
                                        </p:tgtEl>
                                        <p:attrNameLst>
                                          <p:attrName>style.visibility</p:attrName>
                                        </p:attrNameLst>
                                      </p:cBhvr>
                                      <p:to>
                                        <p:strVal val="visible"/>
                                      </p:to>
                                    </p:set>
                                    <p:anim calcmode="lin" valueType="num">
                                      <p:cBhvr>
                                        <p:cTn id="40" dur="500" fill="hold"/>
                                        <p:tgtEl>
                                          <p:spTgt spid="23567"/>
                                        </p:tgtEl>
                                        <p:attrNameLst>
                                          <p:attrName>ppt_x</p:attrName>
                                        </p:attrNameLst>
                                      </p:cBhvr>
                                      <p:tavLst>
                                        <p:tav tm="0">
                                          <p:val>
                                            <p:strVal val="#ppt_x"/>
                                          </p:val>
                                        </p:tav>
                                        <p:tav tm="100000">
                                          <p:val>
                                            <p:strVal val="#ppt_x"/>
                                          </p:val>
                                        </p:tav>
                                      </p:tavLst>
                                    </p:anim>
                                    <p:anim calcmode="lin" valueType="num">
                                      <p:cBhvr>
                                        <p:cTn id="41" dur="500" fill="hold"/>
                                        <p:tgtEl>
                                          <p:spTgt spid="23567"/>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23570"/>
                                        </p:tgtEl>
                                        <p:attrNameLst>
                                          <p:attrName>style.visibility</p:attrName>
                                        </p:attrNameLst>
                                      </p:cBhvr>
                                      <p:to>
                                        <p:strVal val="visible"/>
                                      </p:to>
                                    </p:set>
                                    <p:anim calcmode="lin" valueType="num">
                                      <p:cBhvr>
                                        <p:cTn id="44" dur="500" fill="hold"/>
                                        <p:tgtEl>
                                          <p:spTgt spid="23570"/>
                                        </p:tgtEl>
                                        <p:attrNameLst>
                                          <p:attrName>ppt_x</p:attrName>
                                        </p:attrNameLst>
                                      </p:cBhvr>
                                      <p:tavLst>
                                        <p:tav tm="0">
                                          <p:val>
                                            <p:strVal val="#ppt_x"/>
                                          </p:val>
                                        </p:tav>
                                        <p:tav tm="100000">
                                          <p:val>
                                            <p:strVal val="#ppt_x"/>
                                          </p:val>
                                        </p:tav>
                                      </p:tavLst>
                                    </p:anim>
                                    <p:anim calcmode="lin" valueType="num">
                                      <p:cBhvr>
                                        <p:cTn id="45" dur="500" fill="hold"/>
                                        <p:tgtEl>
                                          <p:spTgt spid="23570"/>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23571"/>
                                        </p:tgtEl>
                                        <p:attrNameLst>
                                          <p:attrName>style.visibility</p:attrName>
                                        </p:attrNameLst>
                                      </p:cBhvr>
                                      <p:to>
                                        <p:strVal val="visible"/>
                                      </p:to>
                                    </p:set>
                                    <p:anim calcmode="lin" valueType="num">
                                      <p:cBhvr>
                                        <p:cTn id="48" dur="500" fill="hold"/>
                                        <p:tgtEl>
                                          <p:spTgt spid="23571"/>
                                        </p:tgtEl>
                                        <p:attrNameLst>
                                          <p:attrName>ppt_x</p:attrName>
                                        </p:attrNameLst>
                                      </p:cBhvr>
                                      <p:tavLst>
                                        <p:tav tm="0">
                                          <p:val>
                                            <p:strVal val="#ppt_x"/>
                                          </p:val>
                                        </p:tav>
                                        <p:tav tm="100000">
                                          <p:val>
                                            <p:strVal val="#ppt_x"/>
                                          </p:val>
                                        </p:tav>
                                      </p:tavLst>
                                    </p:anim>
                                    <p:anim calcmode="lin" valueType="num">
                                      <p:cBhvr>
                                        <p:cTn id="49" dur="500" fill="hold"/>
                                        <p:tgtEl>
                                          <p:spTgt spid="23571"/>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23572"/>
                                        </p:tgtEl>
                                        <p:attrNameLst>
                                          <p:attrName>style.visibility</p:attrName>
                                        </p:attrNameLst>
                                      </p:cBhvr>
                                      <p:to>
                                        <p:strVal val="visible"/>
                                      </p:to>
                                    </p:set>
                                    <p:anim calcmode="lin" valueType="num">
                                      <p:cBhvr>
                                        <p:cTn id="52" dur="500" fill="hold"/>
                                        <p:tgtEl>
                                          <p:spTgt spid="23572"/>
                                        </p:tgtEl>
                                        <p:attrNameLst>
                                          <p:attrName>ppt_x</p:attrName>
                                        </p:attrNameLst>
                                      </p:cBhvr>
                                      <p:tavLst>
                                        <p:tav tm="0">
                                          <p:val>
                                            <p:strVal val="#ppt_x"/>
                                          </p:val>
                                        </p:tav>
                                        <p:tav tm="100000">
                                          <p:val>
                                            <p:strVal val="#ppt_x"/>
                                          </p:val>
                                        </p:tav>
                                      </p:tavLst>
                                    </p:anim>
                                    <p:anim calcmode="lin" valueType="num">
                                      <p:cBhvr>
                                        <p:cTn id="53" dur="500" fill="hold"/>
                                        <p:tgtEl>
                                          <p:spTgt spid="23572"/>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0"/>
                                  </p:stCondLst>
                                  <p:childTnLst>
                                    <p:set>
                                      <p:cBhvr>
                                        <p:cTn id="55" dur="1" fill="hold">
                                          <p:stCondLst>
                                            <p:cond delay="0"/>
                                          </p:stCondLst>
                                        </p:cTn>
                                        <p:tgtEl>
                                          <p:spTgt spid="23573"/>
                                        </p:tgtEl>
                                        <p:attrNameLst>
                                          <p:attrName>style.visibility</p:attrName>
                                        </p:attrNameLst>
                                      </p:cBhvr>
                                      <p:to>
                                        <p:strVal val="visible"/>
                                      </p:to>
                                    </p:set>
                                    <p:anim calcmode="lin" valueType="num">
                                      <p:cBhvr>
                                        <p:cTn id="56" dur="500" fill="hold"/>
                                        <p:tgtEl>
                                          <p:spTgt spid="23573"/>
                                        </p:tgtEl>
                                        <p:attrNameLst>
                                          <p:attrName>ppt_x</p:attrName>
                                        </p:attrNameLst>
                                      </p:cBhvr>
                                      <p:tavLst>
                                        <p:tav tm="0">
                                          <p:val>
                                            <p:strVal val="#ppt_x"/>
                                          </p:val>
                                        </p:tav>
                                        <p:tav tm="100000">
                                          <p:val>
                                            <p:strVal val="#ppt_x"/>
                                          </p:val>
                                        </p:tav>
                                      </p:tavLst>
                                    </p:anim>
                                    <p:anim calcmode="lin" valueType="num">
                                      <p:cBhvr>
                                        <p:cTn id="57" dur="500" fill="hold"/>
                                        <p:tgtEl>
                                          <p:spTgt spid="23573"/>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23574"/>
                                        </p:tgtEl>
                                        <p:attrNameLst>
                                          <p:attrName>style.visibility</p:attrName>
                                        </p:attrNameLst>
                                      </p:cBhvr>
                                      <p:to>
                                        <p:strVal val="visible"/>
                                      </p:to>
                                    </p:set>
                                    <p:anim calcmode="lin" valueType="num">
                                      <p:cBhvr>
                                        <p:cTn id="60" dur="500" fill="hold"/>
                                        <p:tgtEl>
                                          <p:spTgt spid="23574"/>
                                        </p:tgtEl>
                                        <p:attrNameLst>
                                          <p:attrName>ppt_x</p:attrName>
                                        </p:attrNameLst>
                                      </p:cBhvr>
                                      <p:tavLst>
                                        <p:tav tm="0">
                                          <p:val>
                                            <p:strVal val="#ppt_x"/>
                                          </p:val>
                                        </p:tav>
                                        <p:tav tm="100000">
                                          <p:val>
                                            <p:strVal val="#ppt_x"/>
                                          </p:val>
                                        </p:tav>
                                      </p:tavLst>
                                    </p:anim>
                                    <p:anim calcmode="lin" valueType="num">
                                      <p:cBhvr>
                                        <p:cTn id="61" dur="500" fill="hold"/>
                                        <p:tgtEl>
                                          <p:spTgt spid="23574"/>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500"/>
                                  </p:stCondLst>
                                  <p:childTnLst>
                                    <p:set>
                                      <p:cBhvr>
                                        <p:cTn id="63" dur="1" fill="hold">
                                          <p:stCondLst>
                                            <p:cond delay="0"/>
                                          </p:stCondLst>
                                        </p:cTn>
                                        <p:tgtEl>
                                          <p:spTgt spid="23575"/>
                                        </p:tgtEl>
                                        <p:attrNameLst>
                                          <p:attrName>style.visibility</p:attrName>
                                        </p:attrNameLst>
                                      </p:cBhvr>
                                      <p:to>
                                        <p:strVal val="visible"/>
                                      </p:to>
                                    </p:set>
                                    <p:anim calcmode="lin" valueType="num">
                                      <p:cBhvr>
                                        <p:cTn id="64" dur="500" fill="hold"/>
                                        <p:tgtEl>
                                          <p:spTgt spid="23575"/>
                                        </p:tgtEl>
                                        <p:attrNameLst>
                                          <p:attrName>ppt_x</p:attrName>
                                        </p:attrNameLst>
                                      </p:cBhvr>
                                      <p:tavLst>
                                        <p:tav tm="0">
                                          <p:val>
                                            <p:strVal val="#ppt_x"/>
                                          </p:val>
                                        </p:tav>
                                        <p:tav tm="100000">
                                          <p:val>
                                            <p:strVal val="#ppt_x"/>
                                          </p:val>
                                        </p:tav>
                                      </p:tavLst>
                                    </p:anim>
                                    <p:anim calcmode="lin" valueType="num">
                                      <p:cBhvr>
                                        <p:cTn id="65" dur="500" fill="hold"/>
                                        <p:tgtEl>
                                          <p:spTgt spid="23575"/>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23555">
                                            <p:txEl>
                                              <p:charRg st="8" end="15"/>
                                            </p:txEl>
                                          </p:spTgt>
                                        </p:tgtEl>
                                        <p:attrNameLst>
                                          <p:attrName>style.visibility</p:attrName>
                                        </p:attrNameLst>
                                      </p:cBhvr>
                                      <p:to>
                                        <p:strVal val="visible"/>
                                      </p:to>
                                    </p:set>
                                    <p:animEffect transition="in" filter="wipe(left)">
                                      <p:cBhvr>
                                        <p:cTn id="70" dur="500"/>
                                        <p:tgtEl>
                                          <p:spTgt spid="23555">
                                            <p:txEl>
                                              <p:charRg st="8" end="15"/>
                                            </p:txEl>
                                          </p:spTgt>
                                        </p:tgtEl>
                                      </p:cBhvr>
                                    </p:animEffec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23556"/>
                                        </p:tgtEl>
                                        <p:attrNameLst>
                                          <p:attrName>style.visibility</p:attrName>
                                        </p:attrNameLst>
                                      </p:cBhvr>
                                      <p:to>
                                        <p:strVal val="visible"/>
                                      </p:to>
                                    </p:set>
                                    <p:animEffect transition="in" filter="wipe(left)">
                                      <p:cBhvr>
                                        <p:cTn id="74" dur="500"/>
                                        <p:tgtEl>
                                          <p:spTgt spid="23556"/>
                                        </p:tgtEl>
                                      </p:cBhvr>
                                    </p:animEffect>
                                  </p:childTnLst>
                                </p:cTn>
                              </p:par>
                            </p:childTnLst>
                          </p:cTn>
                        </p:par>
                        <p:par>
                          <p:cTn id="75" fill="hold">
                            <p:stCondLst>
                              <p:cond delay="1000"/>
                            </p:stCondLst>
                            <p:childTnLst>
                              <p:par>
                                <p:cTn id="76" presetID="22" presetClass="entr" presetSubtype="8" fill="hold" grpId="0" nodeType="afterEffect">
                                  <p:stCondLst>
                                    <p:cond delay="0"/>
                                  </p:stCondLst>
                                  <p:childTnLst>
                                    <p:set>
                                      <p:cBhvr>
                                        <p:cTn id="77" dur="1" fill="hold">
                                          <p:stCondLst>
                                            <p:cond delay="0"/>
                                          </p:stCondLst>
                                        </p:cTn>
                                        <p:tgtEl>
                                          <p:spTgt spid="23558"/>
                                        </p:tgtEl>
                                        <p:attrNameLst>
                                          <p:attrName>style.visibility</p:attrName>
                                        </p:attrNameLst>
                                      </p:cBhvr>
                                      <p:to>
                                        <p:strVal val="visible"/>
                                      </p:to>
                                    </p:set>
                                    <p:animEffect transition="in" filter="wipe(left)">
                                      <p:cBhvr>
                                        <p:cTn id="78" dur="500"/>
                                        <p:tgtEl>
                                          <p:spTgt spid="23558"/>
                                        </p:tgtEl>
                                      </p:cBhvr>
                                    </p:animEffect>
                                  </p:childTnLst>
                                </p:cTn>
                              </p:par>
                            </p:childTnLst>
                          </p:cTn>
                        </p:par>
                        <p:par>
                          <p:cTn id="79" fill="hold">
                            <p:stCondLst>
                              <p:cond delay="1500"/>
                            </p:stCondLst>
                            <p:childTnLst>
                              <p:par>
                                <p:cTn id="80" presetID="2" presetClass="exit" presetSubtype="1" fill="hold" grpId="1" nodeType="afterEffect">
                                  <p:stCondLst>
                                    <p:cond delay="1000"/>
                                  </p:stCondLst>
                                  <p:childTnLst>
                                    <p:anim calcmode="lin" valueType="num">
                                      <p:cBhvr>
                                        <p:cTn id="81" dur="500"/>
                                        <p:tgtEl>
                                          <p:spTgt spid="23575"/>
                                        </p:tgtEl>
                                        <p:attrNameLst>
                                          <p:attrName>ppt_x</p:attrName>
                                        </p:attrNameLst>
                                      </p:cBhvr>
                                      <p:tavLst>
                                        <p:tav tm="0">
                                          <p:val>
                                            <p:strVal val="ppt_x"/>
                                          </p:val>
                                        </p:tav>
                                        <p:tav tm="100000">
                                          <p:val>
                                            <p:strVal val="ppt_x"/>
                                          </p:val>
                                        </p:tav>
                                      </p:tavLst>
                                    </p:anim>
                                    <p:anim calcmode="lin" valueType="num">
                                      <p:cBhvr>
                                        <p:cTn id="82" dur="500"/>
                                        <p:tgtEl>
                                          <p:spTgt spid="23575"/>
                                        </p:tgtEl>
                                        <p:attrNameLst>
                                          <p:attrName>ppt_y</p:attrName>
                                        </p:attrNameLst>
                                      </p:cBhvr>
                                      <p:tavLst>
                                        <p:tav tm="0">
                                          <p:val>
                                            <p:strVal val="ppt_y"/>
                                          </p:val>
                                        </p:tav>
                                        <p:tav tm="100000">
                                          <p:val>
                                            <p:strVal val="0-ppt_h/2"/>
                                          </p:val>
                                        </p:tav>
                                      </p:tavLst>
                                    </p:anim>
                                    <p:set>
                                      <p:cBhvr>
                                        <p:cTn id="83" dur="1" fill="hold">
                                          <p:stCondLst>
                                            <p:cond delay="499"/>
                                          </p:stCondLst>
                                        </p:cTn>
                                        <p:tgtEl>
                                          <p:spTgt spid="23575"/>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23555">
                                            <p:txEl>
                                              <p:charRg st="15" end="25"/>
                                            </p:txEl>
                                          </p:spTgt>
                                        </p:tgtEl>
                                        <p:attrNameLst>
                                          <p:attrName>style.visibility</p:attrName>
                                        </p:attrNameLst>
                                      </p:cBhvr>
                                      <p:to>
                                        <p:strVal val="visible"/>
                                      </p:to>
                                    </p:set>
                                    <p:animEffect transition="in" filter="wipe(left)">
                                      <p:cBhvr>
                                        <p:cTn id="88" dur="500"/>
                                        <p:tgtEl>
                                          <p:spTgt spid="23555">
                                            <p:txEl>
                                              <p:charRg st="15" end="25"/>
                                            </p:txEl>
                                          </p:spTgt>
                                        </p:tgtEl>
                                      </p:cBhvr>
                                    </p:animEffect>
                                  </p:childTnLst>
                                </p:cTn>
                              </p:par>
                            </p:childTnLst>
                          </p:cTn>
                        </p:par>
                        <p:par>
                          <p:cTn id="89" fill="hold">
                            <p:stCondLst>
                              <p:cond delay="500"/>
                            </p:stCondLst>
                            <p:childTnLst>
                              <p:par>
                                <p:cTn id="90" presetID="22" presetClass="entr" presetSubtype="8" fill="hold" nodeType="afterEffect">
                                  <p:stCondLst>
                                    <p:cond delay="0"/>
                                  </p:stCondLst>
                                  <p:childTnLst>
                                    <p:set>
                                      <p:cBhvr>
                                        <p:cTn id="91" dur="1" fill="hold">
                                          <p:stCondLst>
                                            <p:cond delay="0"/>
                                          </p:stCondLst>
                                        </p:cTn>
                                        <p:tgtEl>
                                          <p:spTgt spid="23557"/>
                                        </p:tgtEl>
                                        <p:attrNameLst>
                                          <p:attrName>style.visibility</p:attrName>
                                        </p:attrNameLst>
                                      </p:cBhvr>
                                      <p:to>
                                        <p:strVal val="visible"/>
                                      </p:to>
                                    </p:set>
                                    <p:animEffect transition="in" filter="wipe(left)">
                                      <p:cBhvr>
                                        <p:cTn id="92" dur="500"/>
                                        <p:tgtEl>
                                          <p:spTgt spid="23557"/>
                                        </p:tgtEl>
                                      </p:cBhvr>
                                    </p:animEffect>
                                  </p:childTnLst>
                                </p:cTn>
                              </p:par>
                            </p:childTnLst>
                          </p:cTn>
                        </p:par>
                        <p:par>
                          <p:cTn id="93" fill="hold">
                            <p:stCondLst>
                              <p:cond delay="1000"/>
                            </p:stCondLst>
                            <p:childTnLst>
                              <p:par>
                                <p:cTn id="94" presetID="22" presetClass="entr" presetSubtype="8" fill="hold" grpId="0" nodeType="afterEffect">
                                  <p:stCondLst>
                                    <p:cond delay="0"/>
                                  </p:stCondLst>
                                  <p:childTnLst>
                                    <p:set>
                                      <p:cBhvr>
                                        <p:cTn id="95" dur="1" fill="hold">
                                          <p:stCondLst>
                                            <p:cond delay="0"/>
                                          </p:stCondLst>
                                        </p:cTn>
                                        <p:tgtEl>
                                          <p:spTgt spid="23559"/>
                                        </p:tgtEl>
                                        <p:attrNameLst>
                                          <p:attrName>style.visibility</p:attrName>
                                        </p:attrNameLst>
                                      </p:cBhvr>
                                      <p:to>
                                        <p:strVal val="visible"/>
                                      </p:to>
                                    </p:set>
                                    <p:animEffect transition="in" filter="wipe(left)">
                                      <p:cBhvr>
                                        <p:cTn id="96" dur="500"/>
                                        <p:tgtEl>
                                          <p:spTgt spid="23559"/>
                                        </p:tgtEl>
                                      </p:cBhvr>
                                    </p:animEffect>
                                  </p:childTnLst>
                                </p:cTn>
                              </p:par>
                            </p:childTnLst>
                          </p:cTn>
                        </p:par>
                        <p:par>
                          <p:cTn id="97" fill="hold">
                            <p:stCondLst>
                              <p:cond delay="1500"/>
                            </p:stCondLst>
                            <p:childTnLst>
                              <p:par>
                                <p:cTn id="98" presetID="2" presetClass="exit" presetSubtype="1" fill="hold" grpId="1" nodeType="afterEffect">
                                  <p:stCondLst>
                                    <p:cond delay="500"/>
                                  </p:stCondLst>
                                  <p:childTnLst>
                                    <p:anim calcmode="lin" valueType="num">
                                      <p:cBhvr>
                                        <p:cTn id="99" dur="500"/>
                                        <p:tgtEl>
                                          <p:spTgt spid="23574"/>
                                        </p:tgtEl>
                                        <p:attrNameLst>
                                          <p:attrName>ppt_x</p:attrName>
                                        </p:attrNameLst>
                                      </p:cBhvr>
                                      <p:tavLst>
                                        <p:tav tm="0">
                                          <p:val>
                                            <p:strVal val="ppt_x"/>
                                          </p:val>
                                        </p:tav>
                                        <p:tav tm="100000">
                                          <p:val>
                                            <p:strVal val="ppt_x"/>
                                          </p:val>
                                        </p:tav>
                                      </p:tavLst>
                                    </p:anim>
                                    <p:anim calcmode="lin" valueType="num">
                                      <p:cBhvr>
                                        <p:cTn id="100" dur="500"/>
                                        <p:tgtEl>
                                          <p:spTgt spid="23574"/>
                                        </p:tgtEl>
                                        <p:attrNameLst>
                                          <p:attrName>ppt_y</p:attrName>
                                        </p:attrNameLst>
                                      </p:cBhvr>
                                      <p:tavLst>
                                        <p:tav tm="0">
                                          <p:val>
                                            <p:strVal val="ppt_y"/>
                                          </p:val>
                                        </p:tav>
                                        <p:tav tm="100000">
                                          <p:val>
                                            <p:strVal val="0-ppt_h/2"/>
                                          </p:val>
                                        </p:tav>
                                      </p:tavLst>
                                    </p:anim>
                                    <p:set>
                                      <p:cBhvr>
                                        <p:cTn id="101" dur="1" fill="hold">
                                          <p:stCondLst>
                                            <p:cond delay="499"/>
                                          </p:stCondLst>
                                        </p:cTn>
                                        <p:tgtEl>
                                          <p:spTgt spid="23574"/>
                                        </p:tgtEl>
                                        <p:attrNameLst>
                                          <p:attrName>style.visibility</p:attrName>
                                        </p:attrNameLst>
                                      </p:cBhvr>
                                      <p:to>
                                        <p:strVal val="hidden"/>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23555">
                                            <p:txEl>
                                              <p:charRg st="25" end="39"/>
                                            </p:txEl>
                                          </p:spTgt>
                                        </p:tgtEl>
                                        <p:attrNameLst>
                                          <p:attrName>style.visibility</p:attrName>
                                        </p:attrNameLst>
                                      </p:cBhvr>
                                      <p:to>
                                        <p:strVal val="visible"/>
                                      </p:to>
                                    </p:set>
                                    <p:animEffect transition="in" filter="wipe(left)">
                                      <p:cBhvr>
                                        <p:cTn id="106" dur="500"/>
                                        <p:tgtEl>
                                          <p:spTgt spid="23555">
                                            <p:txEl>
                                              <p:charRg st="25" end="39"/>
                                            </p:txEl>
                                          </p:spTgt>
                                        </p:tgtEl>
                                      </p:cBhvr>
                                    </p:animEffect>
                                  </p:childTnLst>
                                </p:cTn>
                              </p:par>
                            </p:childTnLst>
                          </p:cTn>
                        </p:par>
                        <p:par>
                          <p:cTn id="107" fill="hold">
                            <p:stCondLst>
                              <p:cond delay="500"/>
                            </p:stCondLst>
                            <p:childTnLst>
                              <p:par>
                                <p:cTn id="108" presetID="22" presetClass="entr" presetSubtype="8" fill="hold" nodeType="afterEffect">
                                  <p:stCondLst>
                                    <p:cond delay="0"/>
                                  </p:stCondLst>
                                  <p:childTnLst>
                                    <p:set>
                                      <p:cBhvr>
                                        <p:cTn id="109" dur="1" fill="hold">
                                          <p:stCondLst>
                                            <p:cond delay="0"/>
                                          </p:stCondLst>
                                        </p:cTn>
                                        <p:tgtEl>
                                          <p:spTgt spid="23568"/>
                                        </p:tgtEl>
                                        <p:attrNameLst>
                                          <p:attrName>style.visibility</p:attrName>
                                        </p:attrNameLst>
                                      </p:cBhvr>
                                      <p:to>
                                        <p:strVal val="visible"/>
                                      </p:to>
                                    </p:set>
                                    <p:animEffect transition="in" filter="wipe(left)">
                                      <p:cBhvr>
                                        <p:cTn id="110" dur="500"/>
                                        <p:tgtEl>
                                          <p:spTgt spid="23568"/>
                                        </p:tgtEl>
                                      </p:cBhvr>
                                    </p:animEffect>
                                  </p:childTnLst>
                                </p:cTn>
                              </p:par>
                            </p:childTnLst>
                          </p:cTn>
                        </p:par>
                        <p:par>
                          <p:cTn id="111" fill="hold">
                            <p:stCondLst>
                              <p:cond delay="1000"/>
                            </p:stCondLst>
                            <p:childTnLst>
                              <p:par>
                                <p:cTn id="112" presetID="22" presetClass="entr" presetSubtype="8" fill="hold" nodeType="afterEffect">
                                  <p:stCondLst>
                                    <p:cond delay="0"/>
                                  </p:stCondLst>
                                  <p:childTnLst>
                                    <p:set>
                                      <p:cBhvr>
                                        <p:cTn id="113" dur="1" fill="hold">
                                          <p:stCondLst>
                                            <p:cond delay="0"/>
                                          </p:stCondLst>
                                        </p:cTn>
                                        <p:tgtEl>
                                          <p:spTgt spid="23569"/>
                                        </p:tgtEl>
                                        <p:attrNameLst>
                                          <p:attrName>style.visibility</p:attrName>
                                        </p:attrNameLst>
                                      </p:cBhvr>
                                      <p:to>
                                        <p:strVal val="visible"/>
                                      </p:to>
                                    </p:set>
                                    <p:animEffect transition="in" filter="wipe(left)">
                                      <p:cBhvr>
                                        <p:cTn id="114" dur="500"/>
                                        <p:tgtEl>
                                          <p:spTgt spid="23569"/>
                                        </p:tgtEl>
                                      </p:cBhvr>
                                    </p:animEffect>
                                  </p:childTnLst>
                                </p:cTn>
                              </p:par>
                            </p:childTnLst>
                          </p:cTn>
                        </p:par>
                        <p:par>
                          <p:cTn id="115" fill="hold">
                            <p:stCondLst>
                              <p:cond delay="1500"/>
                            </p:stCondLst>
                            <p:childTnLst>
                              <p:par>
                                <p:cTn id="116" presetID="2" presetClass="exit" presetSubtype="1" fill="hold" grpId="1" nodeType="afterEffect">
                                  <p:stCondLst>
                                    <p:cond delay="500"/>
                                  </p:stCondLst>
                                  <p:childTnLst>
                                    <p:anim calcmode="lin" valueType="num">
                                      <p:cBhvr>
                                        <p:cTn id="117" dur="500"/>
                                        <p:tgtEl>
                                          <p:spTgt spid="23572"/>
                                        </p:tgtEl>
                                        <p:attrNameLst>
                                          <p:attrName>ppt_x</p:attrName>
                                        </p:attrNameLst>
                                      </p:cBhvr>
                                      <p:tavLst>
                                        <p:tav tm="0">
                                          <p:val>
                                            <p:strVal val="ppt_x"/>
                                          </p:val>
                                        </p:tav>
                                        <p:tav tm="100000">
                                          <p:val>
                                            <p:strVal val="ppt_x"/>
                                          </p:val>
                                        </p:tav>
                                      </p:tavLst>
                                    </p:anim>
                                    <p:anim calcmode="lin" valueType="num">
                                      <p:cBhvr>
                                        <p:cTn id="118" dur="500"/>
                                        <p:tgtEl>
                                          <p:spTgt spid="23572"/>
                                        </p:tgtEl>
                                        <p:attrNameLst>
                                          <p:attrName>ppt_y</p:attrName>
                                        </p:attrNameLst>
                                      </p:cBhvr>
                                      <p:tavLst>
                                        <p:tav tm="0">
                                          <p:val>
                                            <p:strVal val="ppt_y"/>
                                          </p:val>
                                        </p:tav>
                                        <p:tav tm="100000">
                                          <p:val>
                                            <p:strVal val="0-ppt_h/2"/>
                                          </p:val>
                                        </p:tav>
                                      </p:tavLst>
                                    </p:anim>
                                    <p:set>
                                      <p:cBhvr>
                                        <p:cTn id="119" dur="1" fill="hold">
                                          <p:stCondLst>
                                            <p:cond delay="499"/>
                                          </p:stCondLst>
                                        </p:cTn>
                                        <p:tgtEl>
                                          <p:spTgt spid="23572"/>
                                        </p:tgtEl>
                                        <p:attrNameLst>
                                          <p:attrName>style.visibility</p:attrName>
                                        </p:attrNameLst>
                                      </p:cBhvr>
                                      <p:to>
                                        <p:strVal val="hidden"/>
                                      </p:to>
                                    </p:set>
                                  </p:childTnLst>
                                </p:cTn>
                              </p:par>
                              <p:par>
                                <p:cTn id="120" presetID="2" presetClass="exit" presetSubtype="1" fill="hold" nodeType="withEffect">
                                  <p:stCondLst>
                                    <p:cond delay="500"/>
                                  </p:stCondLst>
                                  <p:childTnLst>
                                    <p:anim calcmode="lin" valueType="num">
                                      <p:cBhvr>
                                        <p:cTn id="121" dur="500"/>
                                        <p:tgtEl>
                                          <p:spTgt spid="23573"/>
                                        </p:tgtEl>
                                        <p:attrNameLst>
                                          <p:attrName>ppt_x</p:attrName>
                                        </p:attrNameLst>
                                      </p:cBhvr>
                                      <p:tavLst>
                                        <p:tav tm="0">
                                          <p:val>
                                            <p:strVal val="ppt_x"/>
                                          </p:val>
                                        </p:tav>
                                        <p:tav tm="100000">
                                          <p:val>
                                            <p:strVal val="ppt_x"/>
                                          </p:val>
                                        </p:tav>
                                      </p:tavLst>
                                    </p:anim>
                                    <p:anim calcmode="lin" valueType="num">
                                      <p:cBhvr>
                                        <p:cTn id="122" dur="500"/>
                                        <p:tgtEl>
                                          <p:spTgt spid="23573"/>
                                        </p:tgtEl>
                                        <p:attrNameLst>
                                          <p:attrName>ppt_y</p:attrName>
                                        </p:attrNameLst>
                                      </p:cBhvr>
                                      <p:tavLst>
                                        <p:tav tm="0">
                                          <p:val>
                                            <p:strVal val="ppt_y"/>
                                          </p:val>
                                        </p:tav>
                                        <p:tav tm="100000">
                                          <p:val>
                                            <p:strVal val="0-ppt_h/2"/>
                                          </p:val>
                                        </p:tav>
                                      </p:tavLst>
                                    </p:anim>
                                    <p:set>
                                      <p:cBhvr>
                                        <p:cTn id="123" dur="1" fill="hold">
                                          <p:stCondLst>
                                            <p:cond delay="499"/>
                                          </p:stCondLst>
                                        </p:cTn>
                                        <p:tgtEl>
                                          <p:spTgt spid="235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8" grpId="0"/>
      <p:bldP spid="23559" grpId="0"/>
      <p:bldP spid="23560" grpId="0" animBg="1"/>
      <p:bldP spid="23561" grpId="0" animBg="1"/>
      <p:bldP spid="23562" grpId="0" animBg="1"/>
      <p:bldP spid="23566" grpId="0"/>
      <p:bldP spid="23567" grpId="0" animBg="1"/>
      <p:bldP spid="23570" grpId="0"/>
      <p:bldP spid="23571" grpId="0" animBg="1"/>
      <p:bldP spid="23572" grpId="0"/>
      <p:bldP spid="23572" grpId="1"/>
      <p:bldP spid="23574" grpId="0"/>
      <p:bldP spid="23574" grpId="1"/>
      <p:bldP spid="23575" grpId="0"/>
      <p:bldP spid="23575"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idx="4294967295"/>
          </p:nvPr>
        </p:nvSpPr>
        <p:spPr>
          <a:xfrm>
            <a:off x="755650" y="1079500"/>
            <a:ext cx="6553200" cy="563563"/>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61E27"/>
                </a:solidFill>
                <a:ea typeface="宋体" panose="02010600030101010101" pitchFamily="2" charset="-122"/>
              </a:rPr>
              <a:t>出栈指令的操作</a:t>
            </a:r>
            <a:endParaRPr lang="zh-CN" altLang="en-US" dirty="0">
              <a:solidFill>
                <a:srgbClr val="061E27"/>
              </a:solidFill>
              <a:ea typeface="宋体" panose="02010600030101010101" pitchFamily="2" charset="-122"/>
            </a:endParaRPr>
          </a:p>
        </p:txBody>
      </p:sp>
      <p:sp>
        <p:nvSpPr>
          <p:cNvPr id="24579" name="Rectangle 3"/>
          <p:cNvSpPr>
            <a:spLocks noGrp="1"/>
          </p:cNvSpPr>
          <p:nvPr>
            <p:ph type="body" idx="4294967295"/>
          </p:nvPr>
        </p:nvSpPr>
        <p:spPr>
          <a:xfrm>
            <a:off x="755650" y="1989138"/>
            <a:ext cx="2952750" cy="792162"/>
          </a:xfrm>
        </p:spPr>
        <p:txBody>
          <a:bodyPr vert="horz" wrap="square" lIns="91440" tIns="45720" rIns="91440" bIns="45720" anchor="t" anchorCtr="0"/>
          <a:p>
            <a:pPr eaLnBrk="1" hangingPunct="1">
              <a:buNone/>
            </a:pPr>
            <a:r>
              <a:rPr lang="zh-CN" altLang="en-US" dirty="0">
                <a:ea typeface="宋体" panose="02010600030101010101" pitchFamily="2" charset="-122"/>
              </a:rPr>
              <a:t>执行 </a:t>
            </a:r>
            <a:r>
              <a:rPr lang="en-US" altLang="zh-CN" dirty="0">
                <a:ea typeface="宋体" panose="02010600030101010101" pitchFamily="2" charset="-122"/>
              </a:rPr>
              <a:t>POP  AX  </a:t>
            </a:r>
            <a:endParaRPr lang="zh-CN" altLang="en-US" dirty="0">
              <a:ea typeface="宋体" panose="02010600030101010101" pitchFamily="2" charset="-122"/>
            </a:endParaRPr>
          </a:p>
        </p:txBody>
      </p:sp>
      <p:sp>
        <p:nvSpPr>
          <p:cNvPr id="24580" name="Rectangle 4"/>
          <p:cNvSpPr/>
          <p:nvPr/>
        </p:nvSpPr>
        <p:spPr>
          <a:xfrm>
            <a:off x="3338513" y="4865688"/>
            <a:ext cx="1712912"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4581" name="Rectangle 5"/>
          <p:cNvSpPr/>
          <p:nvPr/>
        </p:nvSpPr>
        <p:spPr>
          <a:xfrm>
            <a:off x="3338513" y="3378200"/>
            <a:ext cx="1712912"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4582" name="Rectangle 6"/>
          <p:cNvSpPr/>
          <p:nvPr/>
        </p:nvSpPr>
        <p:spPr>
          <a:xfrm>
            <a:off x="3338513" y="3759200"/>
            <a:ext cx="1712912"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4583" name="Rectangle 7"/>
          <p:cNvSpPr/>
          <p:nvPr/>
        </p:nvSpPr>
        <p:spPr>
          <a:xfrm>
            <a:off x="3338513" y="5229225"/>
            <a:ext cx="1712912"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4584" name="Rectangle 8"/>
          <p:cNvSpPr/>
          <p:nvPr/>
        </p:nvSpPr>
        <p:spPr>
          <a:xfrm>
            <a:off x="3338513" y="5589588"/>
            <a:ext cx="1712912" cy="381000"/>
          </a:xfrm>
          <a:prstGeom prst="rect">
            <a:avLst/>
          </a:prstGeom>
          <a:solidFill>
            <a:srgbClr val="99CCFF"/>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4585" name="Line 9"/>
          <p:cNvSpPr/>
          <p:nvPr/>
        </p:nvSpPr>
        <p:spPr>
          <a:xfrm>
            <a:off x="3338513" y="2833688"/>
            <a:ext cx="0" cy="3732212"/>
          </a:xfrm>
          <a:prstGeom prst="line">
            <a:avLst/>
          </a:prstGeom>
          <a:ln w="12700" cap="sq" cmpd="sng">
            <a:solidFill>
              <a:schemeClr val="tx1"/>
            </a:solidFill>
            <a:prstDash val="solid"/>
            <a:headEnd type="none" w="med" len="med"/>
            <a:tailEnd type="none" w="med" len="med"/>
          </a:ln>
        </p:spPr>
      </p:sp>
      <p:sp>
        <p:nvSpPr>
          <p:cNvPr id="24586" name="Line 10"/>
          <p:cNvSpPr/>
          <p:nvPr/>
        </p:nvSpPr>
        <p:spPr>
          <a:xfrm>
            <a:off x="5051425" y="2820988"/>
            <a:ext cx="0" cy="3732212"/>
          </a:xfrm>
          <a:prstGeom prst="line">
            <a:avLst/>
          </a:prstGeom>
          <a:ln w="12700" cap="sq" cmpd="sng">
            <a:solidFill>
              <a:schemeClr val="tx1"/>
            </a:solidFill>
            <a:prstDash val="solid"/>
            <a:headEnd type="none" w="med" len="med"/>
            <a:tailEnd type="none" w="med" len="med"/>
          </a:ln>
        </p:spPr>
      </p:sp>
      <p:sp>
        <p:nvSpPr>
          <p:cNvPr id="24587" name="Freeform 11"/>
          <p:cNvSpPr/>
          <p:nvPr/>
        </p:nvSpPr>
        <p:spPr>
          <a:xfrm>
            <a:off x="3335338" y="2706688"/>
            <a:ext cx="1685925" cy="377825"/>
          </a:xfrm>
          <a:custGeom>
            <a:avLst/>
            <a:gdLst>
              <a:gd name="txL" fmla="*/ 0 w 1062"/>
              <a:gd name="txT" fmla="*/ 0 h 238"/>
              <a:gd name="txR" fmla="*/ 1062 w 1062"/>
              <a:gd name="txB" fmla="*/ 238 h 238"/>
            </a:gdLst>
            <a:ahLst/>
            <a:cxnLst>
              <a:cxn ang="0">
                <a:pos x="0" y="186491564"/>
              </a:cxn>
              <a:cxn ang="0">
                <a:pos x="163810924" y="45362813"/>
              </a:cxn>
              <a:cxn ang="0">
                <a:pos x="302418710" y="0"/>
              </a:cxn>
              <a:cxn ang="0">
                <a:pos x="745966105" y="70564382"/>
              </a:cxn>
              <a:cxn ang="0">
                <a:pos x="1373484128" y="441028223"/>
              </a:cxn>
              <a:cxn ang="0">
                <a:pos x="1605338396" y="582156937"/>
              </a:cxn>
              <a:cxn ang="0">
                <a:pos x="2147483647" y="559474742"/>
              </a:cxn>
              <a:cxn ang="0">
                <a:pos x="2147483647" y="441028223"/>
              </a:cxn>
              <a:cxn ang="0">
                <a:pos x="2147483647" y="163810958"/>
              </a:cxn>
            </a:cxnLst>
            <a:rect l="txL" t="txT" r="txR" b="txB"/>
            <a:pathLst>
              <a:path w="1062" h="238">
                <a:moveTo>
                  <a:pt x="0" y="74"/>
                </a:moveTo>
                <a:cubicBezTo>
                  <a:pt x="11" y="63"/>
                  <a:pt x="54" y="24"/>
                  <a:pt x="65" y="18"/>
                </a:cubicBezTo>
                <a:cubicBezTo>
                  <a:pt x="82" y="9"/>
                  <a:pt x="120" y="0"/>
                  <a:pt x="120" y="0"/>
                </a:cubicBezTo>
                <a:cubicBezTo>
                  <a:pt x="178" y="14"/>
                  <a:pt x="236" y="21"/>
                  <a:pt x="296" y="28"/>
                </a:cubicBezTo>
                <a:cubicBezTo>
                  <a:pt x="389" y="64"/>
                  <a:pt x="459" y="133"/>
                  <a:pt x="545" y="175"/>
                </a:cubicBezTo>
                <a:cubicBezTo>
                  <a:pt x="572" y="202"/>
                  <a:pt x="606" y="209"/>
                  <a:pt x="637" y="231"/>
                </a:cubicBezTo>
                <a:cubicBezTo>
                  <a:pt x="726" y="228"/>
                  <a:pt x="817" y="238"/>
                  <a:pt x="905" y="222"/>
                </a:cubicBezTo>
                <a:cubicBezTo>
                  <a:pt x="927" y="218"/>
                  <a:pt x="935" y="190"/>
                  <a:pt x="951" y="175"/>
                </a:cubicBezTo>
                <a:cubicBezTo>
                  <a:pt x="989" y="139"/>
                  <a:pt x="1025" y="102"/>
                  <a:pt x="1062" y="65"/>
                </a:cubicBezTo>
              </a:path>
            </a:pathLst>
          </a:custGeom>
          <a:noFill/>
          <a:ln w="12700" cap="sq" cmpd="sng">
            <a:solidFill>
              <a:schemeClr val="tx1">
                <a:alpha val="100000"/>
              </a:schemeClr>
            </a:solidFill>
            <a:prstDash val="solid"/>
            <a:miter lim="800000"/>
            <a:headEnd type="none" w="med" len="med"/>
            <a:tailEnd type="none" w="med" len="med"/>
          </a:ln>
        </p:spPr>
        <p:txBody>
          <a:bodyPr/>
          <a:p>
            <a:endParaRPr lang="zh-CN" altLang="en-US"/>
          </a:p>
        </p:txBody>
      </p:sp>
      <p:sp>
        <p:nvSpPr>
          <p:cNvPr id="24588" name="Freeform 12"/>
          <p:cNvSpPr/>
          <p:nvPr/>
        </p:nvSpPr>
        <p:spPr>
          <a:xfrm>
            <a:off x="3317875" y="6224588"/>
            <a:ext cx="1731963" cy="444500"/>
          </a:xfrm>
          <a:custGeom>
            <a:avLst/>
            <a:gdLst>
              <a:gd name="txL" fmla="*/ 0 w 1091"/>
              <a:gd name="txT" fmla="*/ 0 h 280"/>
              <a:gd name="txR" fmla="*/ 1091 w 1091"/>
              <a:gd name="txB" fmla="*/ 280 h 280"/>
            </a:gdLst>
            <a:ahLst/>
            <a:cxnLst>
              <a:cxn ang="0">
                <a:pos x="27722520" y="559474642"/>
              </a:cxn>
              <a:cxn ang="0">
                <a:pos x="120967530" y="466228108"/>
              </a:cxn>
              <a:cxn ang="0">
                <a:pos x="259576945" y="372983062"/>
              </a:cxn>
              <a:cxn ang="0">
                <a:pos x="516632941" y="209172183"/>
              </a:cxn>
              <a:cxn ang="0">
                <a:pos x="841732451" y="0"/>
              </a:cxn>
              <a:cxn ang="0">
                <a:pos x="1098788347" y="22680609"/>
              </a:cxn>
              <a:cxn ang="0">
                <a:pos x="1237397713" y="163810928"/>
              </a:cxn>
              <a:cxn ang="0">
                <a:pos x="1469252051" y="302418717"/>
              </a:cxn>
              <a:cxn ang="0">
                <a:pos x="2147483647" y="652721176"/>
              </a:cxn>
              <a:cxn ang="0">
                <a:pos x="2147483647" y="652721176"/>
              </a:cxn>
              <a:cxn ang="0">
                <a:pos x="2147483647" y="604837435"/>
              </a:cxn>
              <a:cxn ang="0">
                <a:pos x="2147483647" y="559474642"/>
              </a:cxn>
              <a:cxn ang="0">
                <a:pos x="2147483647" y="511590900"/>
              </a:cxn>
            </a:cxnLst>
            <a:rect l="txL" t="txT" r="txR" b="txB"/>
            <a:pathLst>
              <a:path w="1091" h="280">
                <a:moveTo>
                  <a:pt x="11" y="222"/>
                </a:moveTo>
                <a:cubicBezTo>
                  <a:pt x="85" y="198"/>
                  <a:pt x="0" y="234"/>
                  <a:pt x="48" y="185"/>
                </a:cubicBezTo>
                <a:cubicBezTo>
                  <a:pt x="64" y="169"/>
                  <a:pt x="87" y="164"/>
                  <a:pt x="103" y="148"/>
                </a:cubicBezTo>
                <a:cubicBezTo>
                  <a:pt x="133" y="118"/>
                  <a:pt x="166" y="97"/>
                  <a:pt x="205" y="83"/>
                </a:cubicBezTo>
                <a:cubicBezTo>
                  <a:pt x="245" y="43"/>
                  <a:pt x="281" y="17"/>
                  <a:pt x="334" y="0"/>
                </a:cubicBezTo>
                <a:cubicBezTo>
                  <a:pt x="368" y="3"/>
                  <a:pt x="403" y="1"/>
                  <a:pt x="436" y="9"/>
                </a:cubicBezTo>
                <a:cubicBezTo>
                  <a:pt x="452" y="13"/>
                  <a:pt x="477" y="54"/>
                  <a:pt x="491" y="65"/>
                </a:cubicBezTo>
                <a:cubicBezTo>
                  <a:pt x="535" y="99"/>
                  <a:pt x="540" y="99"/>
                  <a:pt x="583" y="120"/>
                </a:cubicBezTo>
                <a:cubicBezTo>
                  <a:pt x="660" y="197"/>
                  <a:pt x="753" y="242"/>
                  <a:pt x="860" y="259"/>
                </a:cubicBezTo>
                <a:cubicBezTo>
                  <a:pt x="925" y="280"/>
                  <a:pt x="912" y="279"/>
                  <a:pt x="1026" y="259"/>
                </a:cubicBezTo>
                <a:cubicBezTo>
                  <a:pt x="1035" y="257"/>
                  <a:pt x="1038" y="246"/>
                  <a:pt x="1045" y="240"/>
                </a:cubicBezTo>
                <a:cubicBezTo>
                  <a:pt x="1054" y="233"/>
                  <a:pt x="1064" y="229"/>
                  <a:pt x="1073" y="222"/>
                </a:cubicBezTo>
                <a:cubicBezTo>
                  <a:pt x="1080" y="217"/>
                  <a:pt x="1091" y="203"/>
                  <a:pt x="1091" y="203"/>
                </a:cubicBezTo>
              </a:path>
            </a:pathLst>
          </a:custGeom>
          <a:noFill/>
          <a:ln w="12700" cap="sq" cmpd="sng">
            <a:solidFill>
              <a:schemeClr val="tx1">
                <a:alpha val="100000"/>
              </a:schemeClr>
            </a:solidFill>
            <a:prstDash val="solid"/>
            <a:miter lim="800000"/>
            <a:headEnd type="none" w="med" len="med"/>
            <a:tailEnd type="none" w="med" len="med"/>
          </a:ln>
        </p:spPr>
        <p:txBody>
          <a:bodyPr/>
          <a:p>
            <a:endParaRPr lang="zh-CN" altLang="en-US"/>
          </a:p>
        </p:txBody>
      </p:sp>
      <p:sp>
        <p:nvSpPr>
          <p:cNvPr id="24589" name="Text Box 13"/>
          <p:cNvSpPr txBox="1"/>
          <p:nvPr/>
        </p:nvSpPr>
        <p:spPr>
          <a:xfrm>
            <a:off x="3867150" y="5178425"/>
            <a:ext cx="8382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solidFill>
                  <a:schemeClr val="bg1"/>
                </a:solidFill>
                <a:latin typeface="Times New Roman" panose="02020603050405020304" pitchFamily="18" charset="0"/>
                <a:ea typeface="宋体" panose="02010600030101010101" pitchFamily="2" charset="-122"/>
              </a:rPr>
              <a:t>12H</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24590" name="Text Box 14"/>
          <p:cNvSpPr txBox="1"/>
          <p:nvPr/>
        </p:nvSpPr>
        <p:spPr>
          <a:xfrm>
            <a:off x="3867150" y="4818063"/>
            <a:ext cx="8382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solidFill>
                  <a:schemeClr val="bg1"/>
                </a:solidFill>
                <a:latin typeface="Times New Roman" panose="02020603050405020304" pitchFamily="18" charset="0"/>
                <a:ea typeface="宋体" panose="02010600030101010101" pitchFamily="2" charset="-122"/>
              </a:rPr>
              <a:t>34H</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24591" name="Text Box 15"/>
          <p:cNvSpPr txBox="1"/>
          <p:nvPr/>
        </p:nvSpPr>
        <p:spPr>
          <a:xfrm>
            <a:off x="5219700" y="4724400"/>
            <a:ext cx="949325"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dirty="0">
                <a:solidFill>
                  <a:srgbClr val="FF0000"/>
                </a:solidFill>
                <a:latin typeface="Times New Roman" panose="02020603050405020304" pitchFamily="18" charset="0"/>
                <a:ea typeface="宋体" panose="02010600030101010101" pitchFamily="2" charset="-122"/>
              </a:rPr>
              <a:t>1</a:t>
            </a:r>
            <a:r>
              <a:rPr lang="en-US" altLang="zh-CN" sz="2000" dirty="0">
                <a:solidFill>
                  <a:srgbClr val="FF0000"/>
                </a:solidFill>
                <a:latin typeface="Times New Roman" panose="02020603050405020304" pitchFamily="18" charset="0"/>
                <a:ea typeface="宋体" panose="02010600030101010101" pitchFamily="2" charset="-122"/>
              </a:rPr>
              <a:t>1FEH</a:t>
            </a:r>
            <a:endParaRPr lang="en-US" altLang="zh-CN" sz="2000" dirty="0">
              <a:solidFill>
                <a:srgbClr val="FF0000"/>
              </a:solidFill>
              <a:latin typeface="Times New Roman" panose="02020603050405020304" pitchFamily="18" charset="0"/>
              <a:ea typeface="宋体" panose="02010600030101010101" pitchFamily="2" charset="-122"/>
            </a:endParaRPr>
          </a:p>
        </p:txBody>
      </p:sp>
      <p:sp>
        <p:nvSpPr>
          <p:cNvPr id="24592" name="Text Box 16"/>
          <p:cNvSpPr txBox="1"/>
          <p:nvPr/>
        </p:nvSpPr>
        <p:spPr>
          <a:xfrm>
            <a:off x="3892550" y="4314825"/>
            <a:ext cx="609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latin typeface="宋体" panose="02010600030101010101" pitchFamily="2" charset="-122"/>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p:txBody>
      </p:sp>
      <p:sp>
        <p:nvSpPr>
          <p:cNvPr id="24593" name="Text Box 17"/>
          <p:cNvSpPr txBox="1"/>
          <p:nvPr/>
        </p:nvSpPr>
        <p:spPr>
          <a:xfrm>
            <a:off x="5338763" y="5157788"/>
            <a:ext cx="457200" cy="10064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堆栈段</a:t>
            </a:r>
            <a:endParaRPr lang="zh-CN" altLang="en-US" sz="2000" b="1" dirty="0">
              <a:latin typeface="Times New Roman" panose="02020603050405020304" pitchFamily="18" charset="0"/>
              <a:ea typeface="宋体" panose="02010600030101010101" pitchFamily="2" charset="-122"/>
            </a:endParaRPr>
          </a:p>
        </p:txBody>
      </p:sp>
      <p:sp>
        <p:nvSpPr>
          <p:cNvPr id="24594" name="AutoShape 18"/>
          <p:cNvSpPr/>
          <p:nvPr/>
        </p:nvSpPr>
        <p:spPr>
          <a:xfrm>
            <a:off x="5148263" y="4941888"/>
            <a:ext cx="252412" cy="1303337"/>
          </a:xfrm>
          <a:prstGeom prst="rightBrace">
            <a:avLst>
              <a:gd name="adj1" fmla="val 42694"/>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4595" name="Text Box 19"/>
          <p:cNvSpPr txBox="1"/>
          <p:nvPr/>
        </p:nvSpPr>
        <p:spPr>
          <a:xfrm>
            <a:off x="5399088" y="3240088"/>
            <a:ext cx="457200" cy="10064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代码段</a:t>
            </a:r>
            <a:endParaRPr lang="zh-CN" altLang="en-US" sz="2000" b="1" dirty="0">
              <a:latin typeface="Times New Roman" panose="02020603050405020304" pitchFamily="18" charset="0"/>
              <a:ea typeface="宋体" panose="02010600030101010101" pitchFamily="2" charset="-122"/>
            </a:endParaRPr>
          </a:p>
        </p:txBody>
      </p:sp>
      <p:sp>
        <p:nvSpPr>
          <p:cNvPr id="24596" name="AutoShape 20"/>
          <p:cNvSpPr/>
          <p:nvPr/>
        </p:nvSpPr>
        <p:spPr>
          <a:xfrm>
            <a:off x="5192713" y="3240088"/>
            <a:ext cx="206375" cy="1143000"/>
          </a:xfrm>
          <a:prstGeom prst="rightBrace">
            <a:avLst>
              <a:gd name="adj1" fmla="val 46000"/>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4597" name="Text Box 21"/>
          <p:cNvSpPr txBox="1"/>
          <p:nvPr/>
        </p:nvSpPr>
        <p:spPr>
          <a:xfrm>
            <a:off x="3808413" y="3409950"/>
            <a:ext cx="10414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PUSH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24598" name="Rectangle 22"/>
          <p:cNvSpPr/>
          <p:nvPr/>
        </p:nvSpPr>
        <p:spPr>
          <a:xfrm>
            <a:off x="501650" y="4457700"/>
            <a:ext cx="1657350" cy="504825"/>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4599" name="Text Box 23"/>
          <p:cNvSpPr txBox="1"/>
          <p:nvPr/>
        </p:nvSpPr>
        <p:spPr>
          <a:xfrm>
            <a:off x="574675" y="4457700"/>
            <a:ext cx="1584325"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solidFill>
                  <a:schemeClr val="bg1"/>
                </a:solidFill>
                <a:latin typeface="Times New Roman" panose="02020603050405020304" pitchFamily="18" charset="0"/>
                <a:ea typeface="宋体" panose="02010600030101010101" pitchFamily="2" charset="-122"/>
              </a:rPr>
              <a:t> 12       34</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24600" name="Line 24"/>
          <p:cNvSpPr/>
          <p:nvPr/>
        </p:nvSpPr>
        <p:spPr>
          <a:xfrm>
            <a:off x="1293813" y="4457700"/>
            <a:ext cx="0" cy="504825"/>
          </a:xfrm>
          <a:prstGeom prst="line">
            <a:avLst/>
          </a:prstGeom>
          <a:ln w="25400" cap="sq" cmpd="sng">
            <a:solidFill>
              <a:schemeClr val="accent1"/>
            </a:solidFill>
            <a:prstDash val="solid"/>
            <a:headEnd type="none" w="med" len="med"/>
            <a:tailEnd type="none" w="med" len="med"/>
          </a:ln>
        </p:spPr>
      </p:sp>
      <p:sp>
        <p:nvSpPr>
          <p:cNvPr id="24601" name="Freeform 25"/>
          <p:cNvSpPr/>
          <p:nvPr/>
        </p:nvSpPr>
        <p:spPr>
          <a:xfrm>
            <a:off x="1079500" y="3949700"/>
            <a:ext cx="2435225" cy="1489075"/>
          </a:xfrm>
          <a:custGeom>
            <a:avLst/>
            <a:gdLst>
              <a:gd name="txL" fmla="*/ 0 w 2099"/>
              <a:gd name="txT" fmla="*/ 0 h 938"/>
              <a:gd name="txR" fmla="*/ 2099 w 2099"/>
              <a:gd name="txB" fmla="*/ 938 h 938"/>
            </a:gdLst>
            <a:ahLst/>
            <a:cxnLst>
              <a:cxn ang="0">
                <a:pos x="0" y="617437525"/>
              </a:cxn>
              <a:cxn ang="0">
                <a:pos x="236900135" y="50403124"/>
              </a:cxn>
              <a:cxn ang="0">
                <a:pos x="328430516" y="0"/>
              </a:cxn>
              <a:cxn ang="0">
                <a:pos x="565330579" y="25201562"/>
              </a:cxn>
              <a:cxn ang="0">
                <a:pos x="761850621" y="148688436"/>
              </a:cxn>
              <a:cxn ang="0">
                <a:pos x="998750684" y="297378459"/>
              </a:cxn>
              <a:cxn ang="0">
                <a:pos x="1169695510" y="418346027"/>
              </a:cxn>
              <a:cxn ang="0">
                <a:pos x="1247765667" y="516632889"/>
              </a:cxn>
              <a:cxn ang="0">
                <a:pos x="1288145832" y="567036001"/>
              </a:cxn>
              <a:cxn ang="0">
                <a:pos x="1406597023" y="861893610"/>
              </a:cxn>
              <a:cxn ang="0">
                <a:pos x="1523701243" y="1232355689"/>
              </a:cxn>
              <a:cxn ang="0">
                <a:pos x="1537160524" y="1305440995"/>
              </a:cxn>
              <a:cxn ang="0">
                <a:pos x="1589656479" y="1451610019"/>
              </a:cxn>
              <a:cxn ang="0">
                <a:pos x="1603115761" y="1527214687"/>
              </a:cxn>
              <a:cxn ang="0">
                <a:pos x="1787521029" y="1847275638"/>
              </a:cxn>
              <a:cxn ang="0">
                <a:pos x="1892511779" y="2018646218"/>
              </a:cxn>
              <a:cxn ang="0">
                <a:pos x="2010961810" y="2147483647"/>
              </a:cxn>
              <a:cxn ang="0">
                <a:pos x="2141526471" y="2147483647"/>
              </a:cxn>
              <a:cxn ang="0">
                <a:pos x="2147483647" y="2147483647"/>
              </a:cxn>
              <a:cxn ang="0">
                <a:pos x="2147483647" y="2147483647"/>
              </a:cxn>
              <a:cxn ang="0">
                <a:pos x="2147483647" y="2147483647"/>
              </a:cxn>
              <a:cxn ang="0">
                <a:pos x="2147483647" y="2147483647"/>
              </a:cxn>
            </a:cxnLst>
            <a:rect l="txL" t="txT" r="txR" b="txB"/>
            <a:pathLst>
              <a:path w="2099" h="938">
                <a:moveTo>
                  <a:pt x="0" y="245"/>
                </a:moveTo>
                <a:cubicBezTo>
                  <a:pt x="51" y="167"/>
                  <a:pt x="97" y="73"/>
                  <a:pt x="176" y="20"/>
                </a:cubicBezTo>
                <a:cubicBezTo>
                  <a:pt x="185" y="14"/>
                  <a:pt x="238" y="2"/>
                  <a:pt x="244" y="0"/>
                </a:cubicBezTo>
                <a:cubicBezTo>
                  <a:pt x="303" y="3"/>
                  <a:pt x="362" y="3"/>
                  <a:pt x="420" y="10"/>
                </a:cubicBezTo>
                <a:cubicBezTo>
                  <a:pt x="475" y="17"/>
                  <a:pt x="517" y="37"/>
                  <a:pt x="566" y="59"/>
                </a:cubicBezTo>
                <a:cubicBezTo>
                  <a:pt x="621" y="83"/>
                  <a:pt x="684" y="102"/>
                  <a:pt x="742" y="118"/>
                </a:cubicBezTo>
                <a:cubicBezTo>
                  <a:pt x="785" y="130"/>
                  <a:pt x="830" y="143"/>
                  <a:pt x="869" y="166"/>
                </a:cubicBezTo>
                <a:cubicBezTo>
                  <a:pt x="889" y="178"/>
                  <a:pt x="908" y="192"/>
                  <a:pt x="927" y="205"/>
                </a:cubicBezTo>
                <a:cubicBezTo>
                  <a:pt x="937" y="212"/>
                  <a:pt x="957" y="225"/>
                  <a:pt x="957" y="225"/>
                </a:cubicBezTo>
                <a:cubicBezTo>
                  <a:pt x="987" y="270"/>
                  <a:pt x="1007" y="306"/>
                  <a:pt x="1045" y="342"/>
                </a:cubicBezTo>
                <a:cubicBezTo>
                  <a:pt x="1062" y="397"/>
                  <a:pt x="1102" y="441"/>
                  <a:pt x="1132" y="489"/>
                </a:cubicBezTo>
                <a:cubicBezTo>
                  <a:pt x="1137" y="498"/>
                  <a:pt x="1137" y="509"/>
                  <a:pt x="1142" y="518"/>
                </a:cubicBezTo>
                <a:cubicBezTo>
                  <a:pt x="1153" y="538"/>
                  <a:pt x="1174" y="554"/>
                  <a:pt x="1181" y="576"/>
                </a:cubicBezTo>
                <a:cubicBezTo>
                  <a:pt x="1184" y="586"/>
                  <a:pt x="1185" y="597"/>
                  <a:pt x="1191" y="606"/>
                </a:cubicBezTo>
                <a:cubicBezTo>
                  <a:pt x="1224" y="655"/>
                  <a:pt x="1279" y="700"/>
                  <a:pt x="1328" y="733"/>
                </a:cubicBezTo>
                <a:cubicBezTo>
                  <a:pt x="1360" y="782"/>
                  <a:pt x="1337" y="754"/>
                  <a:pt x="1406" y="801"/>
                </a:cubicBezTo>
                <a:cubicBezTo>
                  <a:pt x="1426" y="814"/>
                  <a:pt x="1476" y="859"/>
                  <a:pt x="1494" y="869"/>
                </a:cubicBezTo>
                <a:cubicBezTo>
                  <a:pt x="1515" y="881"/>
                  <a:pt x="1565" y="892"/>
                  <a:pt x="1591" y="899"/>
                </a:cubicBezTo>
                <a:cubicBezTo>
                  <a:pt x="1601" y="905"/>
                  <a:pt x="1610" y="913"/>
                  <a:pt x="1621" y="918"/>
                </a:cubicBezTo>
                <a:cubicBezTo>
                  <a:pt x="1640" y="926"/>
                  <a:pt x="1679" y="938"/>
                  <a:pt x="1679" y="938"/>
                </a:cubicBezTo>
                <a:cubicBezTo>
                  <a:pt x="1757" y="935"/>
                  <a:pt x="1835" y="934"/>
                  <a:pt x="1913" y="928"/>
                </a:cubicBezTo>
                <a:cubicBezTo>
                  <a:pt x="1975" y="924"/>
                  <a:pt x="2035" y="899"/>
                  <a:pt x="2099" y="899"/>
                </a:cubicBezTo>
              </a:path>
            </a:pathLst>
          </a:custGeom>
          <a:noFill/>
          <a:ln w="25400" cap="sq" cmpd="sng">
            <a:solidFill>
              <a:srgbClr val="FF6600">
                <a:alpha val="100000"/>
              </a:srgbClr>
            </a:solidFill>
            <a:prstDash val="solid"/>
            <a:miter lim="800000"/>
            <a:headEnd type="none" w="med" len="med"/>
            <a:tailEnd type="oval" w="lg" len="lg"/>
          </a:ln>
        </p:spPr>
        <p:txBody>
          <a:bodyPr/>
          <a:p>
            <a:endParaRPr lang="zh-CN" altLang="en-US"/>
          </a:p>
        </p:txBody>
      </p:sp>
      <p:sp>
        <p:nvSpPr>
          <p:cNvPr id="24602" name="Freeform 26"/>
          <p:cNvSpPr/>
          <p:nvPr/>
        </p:nvSpPr>
        <p:spPr>
          <a:xfrm>
            <a:off x="1727200" y="3998913"/>
            <a:ext cx="1787525" cy="1079500"/>
          </a:xfrm>
          <a:custGeom>
            <a:avLst/>
            <a:gdLst>
              <a:gd name="txL" fmla="*/ 0 w 1631"/>
              <a:gd name="txT" fmla="*/ 0 h 615"/>
              <a:gd name="txR" fmla="*/ 1631 w 1631"/>
              <a:gd name="txB" fmla="*/ 615 h 615"/>
            </a:gdLst>
            <a:ahLst/>
            <a:cxnLst>
              <a:cxn ang="0">
                <a:pos x="0" y="720960245"/>
              </a:cxn>
              <a:cxn ang="0">
                <a:pos x="93689989" y="271130031"/>
              </a:cxn>
              <a:cxn ang="0">
                <a:pos x="164557532" y="181780762"/>
              </a:cxn>
              <a:cxn ang="0">
                <a:pos x="398781392" y="0"/>
              </a:cxn>
              <a:cxn ang="0">
                <a:pos x="785550970" y="181780762"/>
              </a:cxn>
              <a:cxn ang="0">
                <a:pos x="821585315" y="209508981"/>
              </a:cxn>
              <a:cxn ang="0">
                <a:pos x="891251643" y="271130031"/>
              </a:cxn>
              <a:cxn ang="0">
                <a:pos x="962119152" y="329668747"/>
              </a:cxn>
              <a:cxn ang="0">
                <a:pos x="1067819824" y="449830214"/>
              </a:cxn>
              <a:cxn ang="0">
                <a:pos x="1137486152" y="569990035"/>
              </a:cxn>
              <a:cxn ang="0">
                <a:pos x="1161510053" y="662419773"/>
              </a:cxn>
              <a:cxn ang="0">
                <a:pos x="1196343217" y="720960245"/>
              </a:cxn>
              <a:cxn ang="0">
                <a:pos x="1466601353" y="1383380017"/>
              </a:cxn>
              <a:cxn ang="0">
                <a:pos x="1607135190" y="1623699441"/>
              </a:cxn>
              <a:cxn ang="0">
                <a:pos x="1782503286" y="1774669650"/>
              </a:cxn>
              <a:cxn ang="0">
                <a:pos x="1959071467" y="1894829800"/>
              </a:cxn>
            </a:cxnLst>
            <a:rect l="txL" t="txT" r="txR" b="txB"/>
            <a:pathLst>
              <a:path w="1631" h="615">
                <a:moveTo>
                  <a:pt x="0" y="234"/>
                </a:moveTo>
                <a:cubicBezTo>
                  <a:pt x="27" y="194"/>
                  <a:pt x="48" y="118"/>
                  <a:pt x="78" y="88"/>
                </a:cubicBezTo>
                <a:cubicBezTo>
                  <a:pt x="99" y="67"/>
                  <a:pt x="111" y="67"/>
                  <a:pt x="137" y="59"/>
                </a:cubicBezTo>
                <a:cubicBezTo>
                  <a:pt x="202" y="37"/>
                  <a:pt x="265" y="14"/>
                  <a:pt x="332" y="0"/>
                </a:cubicBezTo>
                <a:cubicBezTo>
                  <a:pt x="447" y="9"/>
                  <a:pt x="545" y="24"/>
                  <a:pt x="654" y="59"/>
                </a:cubicBezTo>
                <a:cubicBezTo>
                  <a:pt x="664" y="62"/>
                  <a:pt x="674" y="65"/>
                  <a:pt x="684" y="68"/>
                </a:cubicBezTo>
                <a:cubicBezTo>
                  <a:pt x="703" y="74"/>
                  <a:pt x="723" y="81"/>
                  <a:pt x="742" y="88"/>
                </a:cubicBezTo>
                <a:cubicBezTo>
                  <a:pt x="762" y="95"/>
                  <a:pt x="801" y="107"/>
                  <a:pt x="801" y="107"/>
                </a:cubicBezTo>
                <a:cubicBezTo>
                  <a:pt x="831" y="127"/>
                  <a:pt x="855" y="136"/>
                  <a:pt x="889" y="146"/>
                </a:cubicBezTo>
                <a:cubicBezTo>
                  <a:pt x="908" y="159"/>
                  <a:pt x="928" y="172"/>
                  <a:pt x="947" y="185"/>
                </a:cubicBezTo>
                <a:cubicBezTo>
                  <a:pt x="957" y="192"/>
                  <a:pt x="959" y="207"/>
                  <a:pt x="967" y="215"/>
                </a:cubicBezTo>
                <a:cubicBezTo>
                  <a:pt x="975" y="223"/>
                  <a:pt x="986" y="228"/>
                  <a:pt x="996" y="234"/>
                </a:cubicBezTo>
                <a:cubicBezTo>
                  <a:pt x="1054" y="322"/>
                  <a:pt x="1118" y="415"/>
                  <a:pt x="1221" y="449"/>
                </a:cubicBezTo>
                <a:cubicBezTo>
                  <a:pt x="1260" y="475"/>
                  <a:pt x="1298" y="502"/>
                  <a:pt x="1338" y="527"/>
                </a:cubicBezTo>
                <a:cubicBezTo>
                  <a:pt x="1370" y="547"/>
                  <a:pt x="1450" y="564"/>
                  <a:pt x="1484" y="576"/>
                </a:cubicBezTo>
                <a:cubicBezTo>
                  <a:pt x="1532" y="593"/>
                  <a:pt x="1580" y="615"/>
                  <a:pt x="1631" y="615"/>
                </a:cubicBezTo>
              </a:path>
            </a:pathLst>
          </a:custGeom>
          <a:noFill/>
          <a:ln w="25400" cap="sq" cmpd="sng">
            <a:solidFill>
              <a:srgbClr val="FF6600">
                <a:alpha val="100000"/>
              </a:srgbClr>
            </a:solidFill>
            <a:prstDash val="solid"/>
            <a:miter lim="800000"/>
            <a:headEnd type="none" w="med" len="med"/>
            <a:tailEnd type="oval" w="lg" len="lg"/>
          </a:ln>
        </p:spPr>
        <p:txBody>
          <a:bodyPr/>
          <a:p>
            <a:endParaRPr lang="zh-CN" altLang="en-US"/>
          </a:p>
        </p:txBody>
      </p:sp>
      <p:sp>
        <p:nvSpPr>
          <p:cNvPr id="24603" name="Text Box 29"/>
          <p:cNvSpPr txBox="1"/>
          <p:nvPr/>
        </p:nvSpPr>
        <p:spPr>
          <a:xfrm>
            <a:off x="863600" y="5084763"/>
            <a:ext cx="792163"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 AX</a:t>
            </a:r>
            <a:endParaRPr lang="en-US" altLang="zh-CN" sz="2000" b="1" dirty="0">
              <a:latin typeface="Times New Roman" panose="02020603050405020304" pitchFamily="18" charset="0"/>
              <a:ea typeface="宋体" panose="02010600030101010101" pitchFamily="2" charset="-122"/>
            </a:endParaRPr>
          </a:p>
        </p:txBody>
      </p:sp>
      <p:sp>
        <p:nvSpPr>
          <p:cNvPr id="24604" name="Text Box 30"/>
          <p:cNvSpPr txBox="1"/>
          <p:nvPr/>
        </p:nvSpPr>
        <p:spPr>
          <a:xfrm>
            <a:off x="1150938" y="6164263"/>
            <a:ext cx="949325"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 </a:t>
            </a:r>
            <a:r>
              <a:rPr lang="en-US" altLang="zh-CN" sz="2000" b="1" dirty="0">
                <a:latin typeface="Times New Roman" panose="02020603050405020304" pitchFamily="18" charset="0"/>
                <a:ea typeface="宋体" panose="02010600030101010101" pitchFamily="2" charset="-122"/>
              </a:rPr>
              <a:t>SP+2</a:t>
            </a:r>
            <a:endParaRPr lang="en-US" altLang="zh-CN" sz="2000" b="1" dirty="0">
              <a:latin typeface="Times New Roman" panose="02020603050405020304" pitchFamily="18" charset="0"/>
              <a:ea typeface="宋体" panose="02010600030101010101" pitchFamily="2" charset="-122"/>
            </a:endParaRPr>
          </a:p>
        </p:txBody>
      </p:sp>
      <p:sp>
        <p:nvSpPr>
          <p:cNvPr id="24605" name="Line 34"/>
          <p:cNvSpPr/>
          <p:nvPr/>
        </p:nvSpPr>
        <p:spPr>
          <a:xfrm>
            <a:off x="1739900" y="4303713"/>
            <a:ext cx="0" cy="144462"/>
          </a:xfrm>
          <a:prstGeom prst="line">
            <a:avLst/>
          </a:prstGeom>
          <a:ln w="25400" cap="sq" cmpd="sng">
            <a:solidFill>
              <a:srgbClr val="FF6600"/>
            </a:solidFill>
            <a:prstDash val="solid"/>
            <a:headEnd type="none" w="med" len="med"/>
            <a:tailEnd type="triangle" w="lg" len="lg"/>
          </a:ln>
        </p:spPr>
      </p:sp>
      <p:sp>
        <p:nvSpPr>
          <p:cNvPr id="24606" name="Line 35"/>
          <p:cNvSpPr/>
          <p:nvPr/>
        </p:nvSpPr>
        <p:spPr>
          <a:xfrm>
            <a:off x="1082675" y="4303713"/>
            <a:ext cx="0" cy="144462"/>
          </a:xfrm>
          <a:prstGeom prst="line">
            <a:avLst/>
          </a:prstGeom>
          <a:ln w="25400" cap="sq" cmpd="sng">
            <a:solidFill>
              <a:srgbClr val="FF6600"/>
            </a:solidFill>
            <a:prstDash val="solid"/>
            <a:headEnd type="none" w="med" len="med"/>
            <a:tailEnd type="triangle" w="lg" len="lg"/>
          </a:ln>
        </p:spPr>
      </p:sp>
      <p:sp>
        <p:nvSpPr>
          <p:cNvPr id="24607" name="Line 36"/>
          <p:cNvSpPr/>
          <p:nvPr/>
        </p:nvSpPr>
        <p:spPr>
          <a:xfrm flipV="1">
            <a:off x="2001838" y="5802313"/>
            <a:ext cx="1223962" cy="504825"/>
          </a:xfrm>
          <a:prstGeom prst="line">
            <a:avLst/>
          </a:prstGeom>
          <a:ln w="25400" cap="sq" cmpd="sng">
            <a:solidFill>
              <a:schemeClr val="tx1"/>
            </a:solidFill>
            <a:prstDash val="solid"/>
            <a:headEnd type="none" w="med" len="med"/>
            <a:tailEnd type="triangle" w="lg" len="lg"/>
          </a:ln>
        </p:spPr>
      </p:sp>
      <p:sp>
        <p:nvSpPr>
          <p:cNvPr id="24608" name="Rectangle 50"/>
          <p:cNvSpPr/>
          <p:nvPr/>
        </p:nvSpPr>
        <p:spPr>
          <a:xfrm>
            <a:off x="6767513" y="4302125"/>
            <a:ext cx="1458912"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4609" name="Rectangle 51"/>
          <p:cNvSpPr/>
          <p:nvPr/>
        </p:nvSpPr>
        <p:spPr>
          <a:xfrm>
            <a:off x="6767513" y="4665663"/>
            <a:ext cx="1458912"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4610" name="Rectangle 52"/>
          <p:cNvSpPr/>
          <p:nvPr/>
        </p:nvSpPr>
        <p:spPr>
          <a:xfrm>
            <a:off x="6767513" y="5026025"/>
            <a:ext cx="1458912" cy="381000"/>
          </a:xfrm>
          <a:prstGeom prst="rect">
            <a:avLst/>
          </a:prstGeom>
          <a:solidFill>
            <a:srgbClr val="99CCFF"/>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4611" name="Line 53"/>
          <p:cNvSpPr/>
          <p:nvPr/>
        </p:nvSpPr>
        <p:spPr>
          <a:xfrm>
            <a:off x="6767513" y="3297238"/>
            <a:ext cx="0" cy="2903537"/>
          </a:xfrm>
          <a:prstGeom prst="line">
            <a:avLst/>
          </a:prstGeom>
          <a:ln w="12700" cap="sq" cmpd="sng">
            <a:solidFill>
              <a:schemeClr val="tx1"/>
            </a:solidFill>
            <a:prstDash val="solid"/>
            <a:headEnd type="none" w="med" len="med"/>
            <a:tailEnd type="none" w="med" len="med"/>
          </a:ln>
        </p:spPr>
      </p:sp>
      <p:sp>
        <p:nvSpPr>
          <p:cNvPr id="24612" name="Line 54"/>
          <p:cNvSpPr/>
          <p:nvPr/>
        </p:nvSpPr>
        <p:spPr>
          <a:xfrm>
            <a:off x="8228013" y="3276600"/>
            <a:ext cx="0" cy="2903538"/>
          </a:xfrm>
          <a:prstGeom prst="line">
            <a:avLst/>
          </a:prstGeom>
          <a:ln w="12700" cap="sq" cmpd="sng">
            <a:solidFill>
              <a:schemeClr val="tx1"/>
            </a:solidFill>
            <a:prstDash val="solid"/>
            <a:headEnd type="none" w="med" len="med"/>
            <a:tailEnd type="none" w="med" len="med"/>
          </a:ln>
        </p:spPr>
      </p:sp>
      <p:sp>
        <p:nvSpPr>
          <p:cNvPr id="24613" name="Freeform 55"/>
          <p:cNvSpPr/>
          <p:nvPr/>
        </p:nvSpPr>
        <p:spPr>
          <a:xfrm>
            <a:off x="6767513" y="5862638"/>
            <a:ext cx="1457325" cy="444500"/>
          </a:xfrm>
          <a:custGeom>
            <a:avLst/>
            <a:gdLst>
              <a:gd name="txL" fmla="*/ 0 w 1091"/>
              <a:gd name="txT" fmla="*/ 0 h 280"/>
              <a:gd name="txR" fmla="*/ 1091 w 1091"/>
              <a:gd name="txB" fmla="*/ 280 h 280"/>
            </a:gdLst>
            <a:ahLst/>
            <a:cxnLst>
              <a:cxn ang="0">
                <a:pos x="19626464" y="559474642"/>
              </a:cxn>
              <a:cxn ang="0">
                <a:pos x="85645544" y="466228108"/>
              </a:cxn>
              <a:cxn ang="0">
                <a:pos x="183780572" y="372983062"/>
              </a:cxn>
              <a:cxn ang="0">
                <a:pos x="365777892" y="209172183"/>
              </a:cxn>
              <a:cxn ang="0">
                <a:pos x="595949650" y="0"/>
              </a:cxn>
              <a:cxn ang="0">
                <a:pos x="777947053" y="22680609"/>
              </a:cxn>
              <a:cxn ang="0">
                <a:pos x="876082019" y="163810928"/>
              </a:cxn>
              <a:cxn ang="0">
                <a:pos x="1040236049" y="302418717"/>
              </a:cxn>
              <a:cxn ang="0">
                <a:pos x="1534481724" y="652721176"/>
              </a:cxn>
              <a:cxn ang="0">
                <a:pos x="1830672546" y="652721176"/>
              </a:cxn>
              <a:cxn ang="0">
                <a:pos x="1864574371" y="604837435"/>
              </a:cxn>
              <a:cxn ang="0">
                <a:pos x="1914533480" y="559474642"/>
              </a:cxn>
              <a:cxn ang="0">
                <a:pos x="1946650718" y="511590900"/>
              </a:cxn>
            </a:cxnLst>
            <a:rect l="txL" t="txT" r="txR" b="txB"/>
            <a:pathLst>
              <a:path w="1091" h="280">
                <a:moveTo>
                  <a:pt x="11" y="222"/>
                </a:moveTo>
                <a:cubicBezTo>
                  <a:pt x="85" y="198"/>
                  <a:pt x="0" y="234"/>
                  <a:pt x="48" y="185"/>
                </a:cubicBezTo>
                <a:cubicBezTo>
                  <a:pt x="64" y="169"/>
                  <a:pt x="87" y="164"/>
                  <a:pt x="103" y="148"/>
                </a:cubicBezTo>
                <a:cubicBezTo>
                  <a:pt x="133" y="118"/>
                  <a:pt x="166" y="97"/>
                  <a:pt x="205" y="83"/>
                </a:cubicBezTo>
                <a:cubicBezTo>
                  <a:pt x="245" y="43"/>
                  <a:pt x="281" y="17"/>
                  <a:pt x="334" y="0"/>
                </a:cubicBezTo>
                <a:cubicBezTo>
                  <a:pt x="368" y="3"/>
                  <a:pt x="403" y="1"/>
                  <a:pt x="436" y="9"/>
                </a:cubicBezTo>
                <a:cubicBezTo>
                  <a:pt x="452" y="13"/>
                  <a:pt x="477" y="54"/>
                  <a:pt x="491" y="65"/>
                </a:cubicBezTo>
                <a:cubicBezTo>
                  <a:pt x="535" y="99"/>
                  <a:pt x="540" y="99"/>
                  <a:pt x="583" y="120"/>
                </a:cubicBezTo>
                <a:cubicBezTo>
                  <a:pt x="660" y="197"/>
                  <a:pt x="753" y="242"/>
                  <a:pt x="860" y="259"/>
                </a:cubicBezTo>
                <a:cubicBezTo>
                  <a:pt x="925" y="280"/>
                  <a:pt x="912" y="279"/>
                  <a:pt x="1026" y="259"/>
                </a:cubicBezTo>
                <a:cubicBezTo>
                  <a:pt x="1035" y="257"/>
                  <a:pt x="1038" y="246"/>
                  <a:pt x="1045" y="240"/>
                </a:cubicBezTo>
                <a:cubicBezTo>
                  <a:pt x="1054" y="233"/>
                  <a:pt x="1064" y="229"/>
                  <a:pt x="1073" y="222"/>
                </a:cubicBezTo>
                <a:cubicBezTo>
                  <a:pt x="1080" y="217"/>
                  <a:pt x="1091" y="203"/>
                  <a:pt x="1091" y="203"/>
                </a:cubicBezTo>
              </a:path>
            </a:pathLst>
          </a:custGeom>
          <a:noFill/>
          <a:ln w="12700" cap="sq" cmpd="sng">
            <a:solidFill>
              <a:schemeClr val="tx1">
                <a:alpha val="100000"/>
              </a:schemeClr>
            </a:solidFill>
            <a:prstDash val="solid"/>
            <a:miter lim="800000"/>
            <a:headEnd type="none" w="med" len="med"/>
            <a:tailEnd type="none" w="med" len="med"/>
          </a:ln>
        </p:spPr>
        <p:txBody>
          <a:bodyPr/>
          <a:p>
            <a:endParaRPr lang="zh-CN" altLang="en-US"/>
          </a:p>
        </p:txBody>
      </p:sp>
      <p:sp>
        <p:nvSpPr>
          <p:cNvPr id="24614" name="Text Box 56"/>
          <p:cNvSpPr txBox="1"/>
          <p:nvPr/>
        </p:nvSpPr>
        <p:spPr>
          <a:xfrm>
            <a:off x="8197850" y="5011738"/>
            <a:ext cx="94615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dirty="0">
                <a:latin typeface="Times New Roman" panose="02020603050405020304" pitchFamily="18" charset="0"/>
                <a:ea typeface="宋体" panose="02010600030101010101" pitchFamily="2" charset="-122"/>
              </a:rPr>
              <a:t>1200</a:t>
            </a:r>
            <a:r>
              <a:rPr lang="en-US" altLang="zh-CN" sz="2000" dirty="0">
                <a:latin typeface="Times New Roman" panose="02020603050405020304" pitchFamily="18" charset="0"/>
                <a:ea typeface="宋体" panose="02010600030101010101" pitchFamily="2" charset="-122"/>
              </a:rPr>
              <a:t>H</a:t>
            </a:r>
            <a:endParaRPr lang="en-US" altLang="zh-CN" sz="2000" dirty="0">
              <a:latin typeface="Times New Roman" panose="02020603050405020304" pitchFamily="18" charset="0"/>
              <a:ea typeface="宋体" panose="02010600030101010101" pitchFamily="2" charset="-122"/>
            </a:endParaRPr>
          </a:p>
        </p:txBody>
      </p:sp>
      <p:sp>
        <p:nvSpPr>
          <p:cNvPr id="24615" name="Text Box 57"/>
          <p:cNvSpPr txBox="1"/>
          <p:nvPr/>
        </p:nvSpPr>
        <p:spPr>
          <a:xfrm>
            <a:off x="7224713" y="3411538"/>
            <a:ext cx="609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latin typeface="宋体" panose="02010600030101010101" pitchFamily="2" charset="-122"/>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p:txBody>
      </p:sp>
      <p:sp>
        <p:nvSpPr>
          <p:cNvPr id="24616" name="Rectangle 60"/>
          <p:cNvSpPr/>
          <p:nvPr/>
        </p:nvSpPr>
        <p:spPr>
          <a:xfrm>
            <a:off x="6767513" y="3932238"/>
            <a:ext cx="1458912" cy="381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4617" name="Text Box 61"/>
          <p:cNvSpPr txBox="1"/>
          <p:nvPr/>
        </p:nvSpPr>
        <p:spPr>
          <a:xfrm>
            <a:off x="6996113" y="2725738"/>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出栈后</a:t>
            </a:r>
            <a:endParaRPr lang="zh-CN" altLang="en-US" sz="2000" b="1" dirty="0">
              <a:latin typeface="Times New Roman" panose="02020603050405020304" pitchFamily="18" charset="0"/>
              <a:ea typeface="宋体" panose="02010600030101010101" pitchFamily="2" charset="-122"/>
            </a:endParaRPr>
          </a:p>
        </p:txBody>
      </p:sp>
      <p:sp>
        <p:nvSpPr>
          <p:cNvPr id="24618" name="Text Box 62"/>
          <p:cNvSpPr txBox="1"/>
          <p:nvPr/>
        </p:nvSpPr>
        <p:spPr>
          <a:xfrm>
            <a:off x="3671888" y="234156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出栈前</a:t>
            </a:r>
            <a:endParaRPr lang="zh-CN" altLang="en-US" sz="2000" b="1" dirty="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4579">
                                            <p:txEl>
                                              <p:charRg st="0" end="13"/>
                                            </p:txEl>
                                          </p:spTgt>
                                        </p:tgtEl>
                                        <p:attrNameLst>
                                          <p:attrName>style.visibility</p:attrName>
                                        </p:attrNameLst>
                                      </p:cBhvr>
                                      <p:to>
                                        <p:strVal val="visible"/>
                                      </p:to>
                                    </p:set>
                                    <p:animEffect transition="in" filter="wipe(left)">
                                      <p:cBhvr>
                                        <p:cTn id="7" dur="500"/>
                                        <p:tgtEl>
                                          <p:spTgt spid="24579">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4580"/>
                                        </p:tgtEl>
                                        <p:attrNameLst>
                                          <p:attrName>style.visibility</p:attrName>
                                        </p:attrNameLst>
                                      </p:cBhvr>
                                      <p:to>
                                        <p:strVal val="visible"/>
                                      </p:to>
                                    </p:set>
                                    <p:anim calcmode="lin" valueType="num">
                                      <p:cBhvr>
                                        <p:cTn id="12" dur="500" fill="hold"/>
                                        <p:tgtEl>
                                          <p:spTgt spid="24580"/>
                                        </p:tgtEl>
                                        <p:attrNameLst>
                                          <p:attrName>ppt_x</p:attrName>
                                        </p:attrNameLst>
                                      </p:cBhvr>
                                      <p:tavLst>
                                        <p:tav tm="0">
                                          <p:val>
                                            <p:strVal val="#ppt_x"/>
                                          </p:val>
                                        </p:tav>
                                        <p:tav tm="100000">
                                          <p:val>
                                            <p:strVal val="#ppt_x"/>
                                          </p:val>
                                        </p:tav>
                                      </p:tavLst>
                                    </p:anim>
                                    <p:anim calcmode="lin" valueType="num">
                                      <p:cBhvr>
                                        <p:cTn id="13" dur="500" fill="hold"/>
                                        <p:tgtEl>
                                          <p:spTgt spid="24580"/>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24581"/>
                                        </p:tgtEl>
                                        <p:attrNameLst>
                                          <p:attrName>style.visibility</p:attrName>
                                        </p:attrNameLst>
                                      </p:cBhvr>
                                      <p:to>
                                        <p:strVal val="visible"/>
                                      </p:to>
                                    </p:set>
                                    <p:anim calcmode="lin" valueType="num">
                                      <p:cBhvr>
                                        <p:cTn id="16" dur="500" fill="hold"/>
                                        <p:tgtEl>
                                          <p:spTgt spid="24581"/>
                                        </p:tgtEl>
                                        <p:attrNameLst>
                                          <p:attrName>ppt_x</p:attrName>
                                        </p:attrNameLst>
                                      </p:cBhvr>
                                      <p:tavLst>
                                        <p:tav tm="0">
                                          <p:val>
                                            <p:strVal val="#ppt_x"/>
                                          </p:val>
                                        </p:tav>
                                        <p:tav tm="100000">
                                          <p:val>
                                            <p:strVal val="#ppt_x"/>
                                          </p:val>
                                        </p:tav>
                                      </p:tavLst>
                                    </p:anim>
                                    <p:anim calcmode="lin" valueType="num">
                                      <p:cBhvr>
                                        <p:cTn id="17" dur="500" fill="hold"/>
                                        <p:tgtEl>
                                          <p:spTgt spid="24581"/>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4582"/>
                                        </p:tgtEl>
                                        <p:attrNameLst>
                                          <p:attrName>style.visibility</p:attrName>
                                        </p:attrNameLst>
                                      </p:cBhvr>
                                      <p:to>
                                        <p:strVal val="visible"/>
                                      </p:to>
                                    </p:set>
                                    <p:anim calcmode="lin" valueType="num">
                                      <p:cBhvr>
                                        <p:cTn id="20" dur="500" fill="hold"/>
                                        <p:tgtEl>
                                          <p:spTgt spid="24582"/>
                                        </p:tgtEl>
                                        <p:attrNameLst>
                                          <p:attrName>ppt_x</p:attrName>
                                        </p:attrNameLst>
                                      </p:cBhvr>
                                      <p:tavLst>
                                        <p:tav tm="0">
                                          <p:val>
                                            <p:strVal val="#ppt_x"/>
                                          </p:val>
                                        </p:tav>
                                        <p:tav tm="100000">
                                          <p:val>
                                            <p:strVal val="#ppt_x"/>
                                          </p:val>
                                        </p:tav>
                                      </p:tavLst>
                                    </p:anim>
                                    <p:anim calcmode="lin" valueType="num">
                                      <p:cBhvr>
                                        <p:cTn id="21" dur="500" fill="hold"/>
                                        <p:tgtEl>
                                          <p:spTgt spid="24582"/>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24583"/>
                                        </p:tgtEl>
                                        <p:attrNameLst>
                                          <p:attrName>style.visibility</p:attrName>
                                        </p:attrNameLst>
                                      </p:cBhvr>
                                      <p:to>
                                        <p:strVal val="visible"/>
                                      </p:to>
                                    </p:set>
                                    <p:anim calcmode="lin" valueType="num">
                                      <p:cBhvr>
                                        <p:cTn id="24" dur="500" fill="hold"/>
                                        <p:tgtEl>
                                          <p:spTgt spid="24583"/>
                                        </p:tgtEl>
                                        <p:attrNameLst>
                                          <p:attrName>ppt_x</p:attrName>
                                        </p:attrNameLst>
                                      </p:cBhvr>
                                      <p:tavLst>
                                        <p:tav tm="0">
                                          <p:val>
                                            <p:strVal val="#ppt_x"/>
                                          </p:val>
                                        </p:tav>
                                        <p:tav tm="100000">
                                          <p:val>
                                            <p:strVal val="#ppt_x"/>
                                          </p:val>
                                        </p:tav>
                                      </p:tavLst>
                                    </p:anim>
                                    <p:anim calcmode="lin" valueType="num">
                                      <p:cBhvr>
                                        <p:cTn id="25" dur="500" fill="hold"/>
                                        <p:tgtEl>
                                          <p:spTgt spid="24583"/>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24584"/>
                                        </p:tgtEl>
                                        <p:attrNameLst>
                                          <p:attrName>style.visibility</p:attrName>
                                        </p:attrNameLst>
                                      </p:cBhvr>
                                      <p:to>
                                        <p:strVal val="visible"/>
                                      </p:to>
                                    </p:set>
                                    <p:anim calcmode="lin" valueType="num">
                                      <p:cBhvr>
                                        <p:cTn id="28" dur="500" fill="hold"/>
                                        <p:tgtEl>
                                          <p:spTgt spid="24584"/>
                                        </p:tgtEl>
                                        <p:attrNameLst>
                                          <p:attrName>ppt_x</p:attrName>
                                        </p:attrNameLst>
                                      </p:cBhvr>
                                      <p:tavLst>
                                        <p:tav tm="0">
                                          <p:val>
                                            <p:strVal val="#ppt_x"/>
                                          </p:val>
                                        </p:tav>
                                        <p:tav tm="100000">
                                          <p:val>
                                            <p:strVal val="#ppt_x"/>
                                          </p:val>
                                        </p:tav>
                                      </p:tavLst>
                                    </p:anim>
                                    <p:anim calcmode="lin" valueType="num">
                                      <p:cBhvr>
                                        <p:cTn id="29" dur="500" fill="hold"/>
                                        <p:tgtEl>
                                          <p:spTgt spid="24584"/>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4585"/>
                                        </p:tgtEl>
                                        <p:attrNameLst>
                                          <p:attrName>style.visibility</p:attrName>
                                        </p:attrNameLst>
                                      </p:cBhvr>
                                      <p:to>
                                        <p:strVal val="visible"/>
                                      </p:to>
                                    </p:set>
                                    <p:anim calcmode="lin" valueType="num">
                                      <p:cBhvr>
                                        <p:cTn id="32" dur="500" fill="hold"/>
                                        <p:tgtEl>
                                          <p:spTgt spid="24585"/>
                                        </p:tgtEl>
                                        <p:attrNameLst>
                                          <p:attrName>ppt_x</p:attrName>
                                        </p:attrNameLst>
                                      </p:cBhvr>
                                      <p:tavLst>
                                        <p:tav tm="0">
                                          <p:val>
                                            <p:strVal val="#ppt_x"/>
                                          </p:val>
                                        </p:tav>
                                        <p:tav tm="100000">
                                          <p:val>
                                            <p:strVal val="#ppt_x"/>
                                          </p:val>
                                        </p:tav>
                                      </p:tavLst>
                                    </p:anim>
                                    <p:anim calcmode="lin" valueType="num">
                                      <p:cBhvr>
                                        <p:cTn id="33" dur="500" fill="hold"/>
                                        <p:tgtEl>
                                          <p:spTgt spid="24585"/>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24586"/>
                                        </p:tgtEl>
                                        <p:attrNameLst>
                                          <p:attrName>style.visibility</p:attrName>
                                        </p:attrNameLst>
                                      </p:cBhvr>
                                      <p:to>
                                        <p:strVal val="visible"/>
                                      </p:to>
                                    </p:set>
                                    <p:anim calcmode="lin" valueType="num">
                                      <p:cBhvr>
                                        <p:cTn id="36" dur="500" fill="hold"/>
                                        <p:tgtEl>
                                          <p:spTgt spid="24586"/>
                                        </p:tgtEl>
                                        <p:attrNameLst>
                                          <p:attrName>ppt_x</p:attrName>
                                        </p:attrNameLst>
                                      </p:cBhvr>
                                      <p:tavLst>
                                        <p:tav tm="0">
                                          <p:val>
                                            <p:strVal val="#ppt_x"/>
                                          </p:val>
                                        </p:tav>
                                        <p:tav tm="100000">
                                          <p:val>
                                            <p:strVal val="#ppt_x"/>
                                          </p:val>
                                        </p:tav>
                                      </p:tavLst>
                                    </p:anim>
                                    <p:anim calcmode="lin" valueType="num">
                                      <p:cBhvr>
                                        <p:cTn id="37" dur="500" fill="hold"/>
                                        <p:tgtEl>
                                          <p:spTgt spid="24586"/>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24587"/>
                                        </p:tgtEl>
                                        <p:attrNameLst>
                                          <p:attrName>style.visibility</p:attrName>
                                        </p:attrNameLst>
                                      </p:cBhvr>
                                      <p:to>
                                        <p:strVal val="visible"/>
                                      </p:to>
                                    </p:set>
                                    <p:anim calcmode="lin" valueType="num">
                                      <p:cBhvr>
                                        <p:cTn id="40" dur="500" fill="hold"/>
                                        <p:tgtEl>
                                          <p:spTgt spid="24587"/>
                                        </p:tgtEl>
                                        <p:attrNameLst>
                                          <p:attrName>ppt_x</p:attrName>
                                        </p:attrNameLst>
                                      </p:cBhvr>
                                      <p:tavLst>
                                        <p:tav tm="0">
                                          <p:val>
                                            <p:strVal val="#ppt_x"/>
                                          </p:val>
                                        </p:tav>
                                        <p:tav tm="100000">
                                          <p:val>
                                            <p:strVal val="#ppt_x"/>
                                          </p:val>
                                        </p:tav>
                                      </p:tavLst>
                                    </p:anim>
                                    <p:anim calcmode="lin" valueType="num">
                                      <p:cBhvr>
                                        <p:cTn id="41" dur="500" fill="hold"/>
                                        <p:tgtEl>
                                          <p:spTgt spid="24587"/>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24588"/>
                                        </p:tgtEl>
                                        <p:attrNameLst>
                                          <p:attrName>style.visibility</p:attrName>
                                        </p:attrNameLst>
                                      </p:cBhvr>
                                      <p:to>
                                        <p:strVal val="visible"/>
                                      </p:to>
                                    </p:set>
                                    <p:anim calcmode="lin" valueType="num">
                                      <p:cBhvr>
                                        <p:cTn id="44" dur="500" fill="hold"/>
                                        <p:tgtEl>
                                          <p:spTgt spid="24588"/>
                                        </p:tgtEl>
                                        <p:attrNameLst>
                                          <p:attrName>ppt_x</p:attrName>
                                        </p:attrNameLst>
                                      </p:cBhvr>
                                      <p:tavLst>
                                        <p:tav tm="0">
                                          <p:val>
                                            <p:strVal val="#ppt_x"/>
                                          </p:val>
                                        </p:tav>
                                        <p:tav tm="100000">
                                          <p:val>
                                            <p:strVal val="#ppt_x"/>
                                          </p:val>
                                        </p:tav>
                                      </p:tavLst>
                                    </p:anim>
                                    <p:anim calcmode="lin" valueType="num">
                                      <p:cBhvr>
                                        <p:cTn id="45" dur="500" fill="hold"/>
                                        <p:tgtEl>
                                          <p:spTgt spid="24588"/>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24589"/>
                                        </p:tgtEl>
                                        <p:attrNameLst>
                                          <p:attrName>style.visibility</p:attrName>
                                        </p:attrNameLst>
                                      </p:cBhvr>
                                      <p:to>
                                        <p:strVal val="visible"/>
                                      </p:to>
                                    </p:set>
                                    <p:anim calcmode="lin" valueType="num">
                                      <p:cBhvr>
                                        <p:cTn id="48" dur="500" fill="hold"/>
                                        <p:tgtEl>
                                          <p:spTgt spid="24589"/>
                                        </p:tgtEl>
                                        <p:attrNameLst>
                                          <p:attrName>ppt_x</p:attrName>
                                        </p:attrNameLst>
                                      </p:cBhvr>
                                      <p:tavLst>
                                        <p:tav tm="0">
                                          <p:val>
                                            <p:strVal val="#ppt_x"/>
                                          </p:val>
                                        </p:tav>
                                        <p:tav tm="100000">
                                          <p:val>
                                            <p:strVal val="#ppt_x"/>
                                          </p:val>
                                        </p:tav>
                                      </p:tavLst>
                                    </p:anim>
                                    <p:anim calcmode="lin" valueType="num">
                                      <p:cBhvr>
                                        <p:cTn id="49" dur="500" fill="hold"/>
                                        <p:tgtEl>
                                          <p:spTgt spid="24589"/>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24590"/>
                                        </p:tgtEl>
                                        <p:attrNameLst>
                                          <p:attrName>style.visibility</p:attrName>
                                        </p:attrNameLst>
                                      </p:cBhvr>
                                      <p:to>
                                        <p:strVal val="visible"/>
                                      </p:to>
                                    </p:set>
                                    <p:anim calcmode="lin" valueType="num">
                                      <p:cBhvr>
                                        <p:cTn id="52" dur="500" fill="hold"/>
                                        <p:tgtEl>
                                          <p:spTgt spid="24590"/>
                                        </p:tgtEl>
                                        <p:attrNameLst>
                                          <p:attrName>ppt_x</p:attrName>
                                        </p:attrNameLst>
                                      </p:cBhvr>
                                      <p:tavLst>
                                        <p:tav tm="0">
                                          <p:val>
                                            <p:strVal val="#ppt_x"/>
                                          </p:val>
                                        </p:tav>
                                        <p:tav tm="100000">
                                          <p:val>
                                            <p:strVal val="#ppt_x"/>
                                          </p:val>
                                        </p:tav>
                                      </p:tavLst>
                                    </p:anim>
                                    <p:anim calcmode="lin" valueType="num">
                                      <p:cBhvr>
                                        <p:cTn id="53" dur="500" fill="hold"/>
                                        <p:tgtEl>
                                          <p:spTgt spid="24590"/>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24592"/>
                                        </p:tgtEl>
                                        <p:attrNameLst>
                                          <p:attrName>style.visibility</p:attrName>
                                        </p:attrNameLst>
                                      </p:cBhvr>
                                      <p:to>
                                        <p:strVal val="visible"/>
                                      </p:to>
                                    </p:set>
                                    <p:anim calcmode="lin" valueType="num">
                                      <p:cBhvr>
                                        <p:cTn id="56" dur="500" fill="hold"/>
                                        <p:tgtEl>
                                          <p:spTgt spid="24592"/>
                                        </p:tgtEl>
                                        <p:attrNameLst>
                                          <p:attrName>ppt_x</p:attrName>
                                        </p:attrNameLst>
                                      </p:cBhvr>
                                      <p:tavLst>
                                        <p:tav tm="0">
                                          <p:val>
                                            <p:strVal val="#ppt_x"/>
                                          </p:val>
                                        </p:tav>
                                        <p:tav tm="100000">
                                          <p:val>
                                            <p:strVal val="#ppt_x"/>
                                          </p:val>
                                        </p:tav>
                                      </p:tavLst>
                                    </p:anim>
                                    <p:anim calcmode="lin" valueType="num">
                                      <p:cBhvr>
                                        <p:cTn id="57" dur="500" fill="hold"/>
                                        <p:tgtEl>
                                          <p:spTgt spid="24592"/>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24593"/>
                                        </p:tgtEl>
                                        <p:attrNameLst>
                                          <p:attrName>style.visibility</p:attrName>
                                        </p:attrNameLst>
                                      </p:cBhvr>
                                      <p:to>
                                        <p:strVal val="visible"/>
                                      </p:to>
                                    </p:set>
                                    <p:anim calcmode="lin" valueType="num">
                                      <p:cBhvr>
                                        <p:cTn id="60" dur="500" fill="hold"/>
                                        <p:tgtEl>
                                          <p:spTgt spid="24593"/>
                                        </p:tgtEl>
                                        <p:attrNameLst>
                                          <p:attrName>ppt_x</p:attrName>
                                        </p:attrNameLst>
                                      </p:cBhvr>
                                      <p:tavLst>
                                        <p:tav tm="0">
                                          <p:val>
                                            <p:strVal val="#ppt_x"/>
                                          </p:val>
                                        </p:tav>
                                        <p:tav tm="100000">
                                          <p:val>
                                            <p:strVal val="#ppt_x"/>
                                          </p:val>
                                        </p:tav>
                                      </p:tavLst>
                                    </p:anim>
                                    <p:anim calcmode="lin" valueType="num">
                                      <p:cBhvr>
                                        <p:cTn id="61" dur="500" fill="hold"/>
                                        <p:tgtEl>
                                          <p:spTgt spid="24593"/>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24594"/>
                                        </p:tgtEl>
                                        <p:attrNameLst>
                                          <p:attrName>style.visibility</p:attrName>
                                        </p:attrNameLst>
                                      </p:cBhvr>
                                      <p:to>
                                        <p:strVal val="visible"/>
                                      </p:to>
                                    </p:set>
                                    <p:anim calcmode="lin" valueType="num">
                                      <p:cBhvr>
                                        <p:cTn id="64" dur="500" fill="hold"/>
                                        <p:tgtEl>
                                          <p:spTgt spid="24594"/>
                                        </p:tgtEl>
                                        <p:attrNameLst>
                                          <p:attrName>ppt_x</p:attrName>
                                        </p:attrNameLst>
                                      </p:cBhvr>
                                      <p:tavLst>
                                        <p:tav tm="0">
                                          <p:val>
                                            <p:strVal val="#ppt_x"/>
                                          </p:val>
                                        </p:tav>
                                        <p:tav tm="100000">
                                          <p:val>
                                            <p:strVal val="#ppt_x"/>
                                          </p:val>
                                        </p:tav>
                                      </p:tavLst>
                                    </p:anim>
                                    <p:anim calcmode="lin" valueType="num">
                                      <p:cBhvr>
                                        <p:cTn id="65" dur="500" fill="hold"/>
                                        <p:tgtEl>
                                          <p:spTgt spid="24594"/>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24595"/>
                                        </p:tgtEl>
                                        <p:attrNameLst>
                                          <p:attrName>style.visibility</p:attrName>
                                        </p:attrNameLst>
                                      </p:cBhvr>
                                      <p:to>
                                        <p:strVal val="visible"/>
                                      </p:to>
                                    </p:set>
                                    <p:anim calcmode="lin" valueType="num">
                                      <p:cBhvr>
                                        <p:cTn id="68" dur="500" fill="hold"/>
                                        <p:tgtEl>
                                          <p:spTgt spid="24595"/>
                                        </p:tgtEl>
                                        <p:attrNameLst>
                                          <p:attrName>ppt_x</p:attrName>
                                        </p:attrNameLst>
                                      </p:cBhvr>
                                      <p:tavLst>
                                        <p:tav tm="0">
                                          <p:val>
                                            <p:strVal val="#ppt_x"/>
                                          </p:val>
                                        </p:tav>
                                        <p:tav tm="100000">
                                          <p:val>
                                            <p:strVal val="#ppt_x"/>
                                          </p:val>
                                        </p:tav>
                                      </p:tavLst>
                                    </p:anim>
                                    <p:anim calcmode="lin" valueType="num">
                                      <p:cBhvr>
                                        <p:cTn id="69" dur="500" fill="hold"/>
                                        <p:tgtEl>
                                          <p:spTgt spid="24595"/>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24596"/>
                                        </p:tgtEl>
                                        <p:attrNameLst>
                                          <p:attrName>style.visibility</p:attrName>
                                        </p:attrNameLst>
                                      </p:cBhvr>
                                      <p:to>
                                        <p:strVal val="visible"/>
                                      </p:to>
                                    </p:set>
                                    <p:anim calcmode="lin" valueType="num">
                                      <p:cBhvr>
                                        <p:cTn id="72" dur="500" fill="hold"/>
                                        <p:tgtEl>
                                          <p:spTgt spid="24596"/>
                                        </p:tgtEl>
                                        <p:attrNameLst>
                                          <p:attrName>ppt_x</p:attrName>
                                        </p:attrNameLst>
                                      </p:cBhvr>
                                      <p:tavLst>
                                        <p:tav tm="0">
                                          <p:val>
                                            <p:strVal val="#ppt_x"/>
                                          </p:val>
                                        </p:tav>
                                        <p:tav tm="100000">
                                          <p:val>
                                            <p:strVal val="#ppt_x"/>
                                          </p:val>
                                        </p:tav>
                                      </p:tavLst>
                                    </p:anim>
                                    <p:anim calcmode="lin" valueType="num">
                                      <p:cBhvr>
                                        <p:cTn id="73" dur="500" fill="hold"/>
                                        <p:tgtEl>
                                          <p:spTgt spid="24596"/>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24597"/>
                                        </p:tgtEl>
                                        <p:attrNameLst>
                                          <p:attrName>style.visibility</p:attrName>
                                        </p:attrNameLst>
                                      </p:cBhvr>
                                      <p:to>
                                        <p:strVal val="visible"/>
                                      </p:to>
                                    </p:set>
                                    <p:anim calcmode="lin" valueType="num">
                                      <p:cBhvr>
                                        <p:cTn id="76" dur="500" fill="hold"/>
                                        <p:tgtEl>
                                          <p:spTgt spid="24597"/>
                                        </p:tgtEl>
                                        <p:attrNameLst>
                                          <p:attrName>ppt_x</p:attrName>
                                        </p:attrNameLst>
                                      </p:cBhvr>
                                      <p:tavLst>
                                        <p:tav tm="0">
                                          <p:val>
                                            <p:strVal val="#ppt_x"/>
                                          </p:val>
                                        </p:tav>
                                        <p:tav tm="100000">
                                          <p:val>
                                            <p:strVal val="#ppt_x"/>
                                          </p:val>
                                        </p:tav>
                                      </p:tavLst>
                                    </p:anim>
                                    <p:anim calcmode="lin" valueType="num">
                                      <p:cBhvr>
                                        <p:cTn id="77" dur="500" fill="hold"/>
                                        <p:tgtEl>
                                          <p:spTgt spid="24597"/>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24618"/>
                                        </p:tgtEl>
                                        <p:attrNameLst>
                                          <p:attrName>style.visibility</p:attrName>
                                        </p:attrNameLst>
                                      </p:cBhvr>
                                      <p:to>
                                        <p:strVal val="visible"/>
                                      </p:to>
                                    </p:set>
                                    <p:anim calcmode="lin" valueType="num">
                                      <p:cBhvr>
                                        <p:cTn id="80" dur="500" fill="hold"/>
                                        <p:tgtEl>
                                          <p:spTgt spid="24618"/>
                                        </p:tgtEl>
                                        <p:attrNameLst>
                                          <p:attrName>ppt_x</p:attrName>
                                        </p:attrNameLst>
                                      </p:cBhvr>
                                      <p:tavLst>
                                        <p:tav tm="0">
                                          <p:val>
                                            <p:strVal val="#ppt_x"/>
                                          </p:val>
                                        </p:tav>
                                        <p:tav tm="100000">
                                          <p:val>
                                            <p:strVal val="#ppt_x"/>
                                          </p:val>
                                        </p:tav>
                                      </p:tavLst>
                                    </p:anim>
                                    <p:anim calcmode="lin" valueType="num">
                                      <p:cBhvr>
                                        <p:cTn id="81" dur="500" fill="hold"/>
                                        <p:tgtEl>
                                          <p:spTgt spid="24618"/>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4591"/>
                                        </p:tgtEl>
                                        <p:attrNameLst>
                                          <p:attrName>style.visibility</p:attrName>
                                        </p:attrNameLst>
                                      </p:cBhvr>
                                      <p:to>
                                        <p:strVal val="visible"/>
                                      </p:to>
                                    </p:set>
                                    <p:animEffect transition="in" filter="wipe(left)">
                                      <p:cBhvr>
                                        <p:cTn id="86" dur="500"/>
                                        <p:tgtEl>
                                          <p:spTgt spid="24591"/>
                                        </p:tgtEl>
                                      </p:cBhvr>
                                    </p:animEffect>
                                  </p:childTnLst>
                                </p:cTn>
                              </p:par>
                            </p:childTnLst>
                          </p:cTn>
                        </p:par>
                      </p:childTnLst>
                    </p:cTn>
                  </p:par>
                  <p:par>
                    <p:cTn id="87" fill="hold">
                      <p:stCondLst>
                        <p:cond delay="indefinite"/>
                      </p:stCondLst>
                      <p:childTnLst>
                        <p:par>
                          <p:cTn id="88" fill="hold">
                            <p:stCondLst>
                              <p:cond delay="0"/>
                            </p:stCondLst>
                            <p:childTnLst>
                              <p:par>
                                <p:cTn id="89" presetID="18" presetClass="entr" presetSubtype="12" fill="hold" nodeType="clickEffect">
                                  <p:stCondLst>
                                    <p:cond delay="0"/>
                                  </p:stCondLst>
                                  <p:childTnLst>
                                    <p:set>
                                      <p:cBhvr>
                                        <p:cTn id="90" dur="1" fill="hold">
                                          <p:stCondLst>
                                            <p:cond delay="0"/>
                                          </p:stCondLst>
                                        </p:cTn>
                                        <p:tgtEl>
                                          <p:spTgt spid="24601"/>
                                        </p:tgtEl>
                                        <p:attrNameLst>
                                          <p:attrName>style.visibility</p:attrName>
                                        </p:attrNameLst>
                                      </p:cBhvr>
                                      <p:to>
                                        <p:strVal val="visible"/>
                                      </p:to>
                                    </p:set>
                                    <p:animEffect transition="in" filter="strips(downLeft)">
                                      <p:cBhvr>
                                        <p:cTn id="91" dur="1000"/>
                                        <p:tgtEl>
                                          <p:spTgt spid="24601"/>
                                        </p:tgtEl>
                                      </p:cBhvr>
                                    </p:animEffect>
                                  </p:childTnLst>
                                </p:cTn>
                              </p:par>
                              <p:par>
                                <p:cTn id="92" presetID="18" presetClass="entr" presetSubtype="12" fill="hold" nodeType="withEffect">
                                  <p:stCondLst>
                                    <p:cond delay="0"/>
                                  </p:stCondLst>
                                  <p:childTnLst>
                                    <p:set>
                                      <p:cBhvr>
                                        <p:cTn id="93" dur="1" fill="hold">
                                          <p:stCondLst>
                                            <p:cond delay="0"/>
                                          </p:stCondLst>
                                        </p:cTn>
                                        <p:tgtEl>
                                          <p:spTgt spid="24602"/>
                                        </p:tgtEl>
                                        <p:attrNameLst>
                                          <p:attrName>style.visibility</p:attrName>
                                        </p:attrNameLst>
                                      </p:cBhvr>
                                      <p:to>
                                        <p:strVal val="visible"/>
                                      </p:to>
                                    </p:set>
                                    <p:animEffect transition="in" filter="strips(downLeft)">
                                      <p:cBhvr>
                                        <p:cTn id="94" dur="1000"/>
                                        <p:tgtEl>
                                          <p:spTgt spid="24602"/>
                                        </p:tgtEl>
                                      </p:cBhvr>
                                    </p:animEffect>
                                  </p:childTnLst>
                                </p:cTn>
                              </p:par>
                            </p:childTnLst>
                          </p:cTn>
                        </p:par>
                        <p:par>
                          <p:cTn id="95" fill="hold">
                            <p:stCondLst>
                              <p:cond delay="1000"/>
                            </p:stCondLst>
                            <p:childTnLst>
                              <p:par>
                                <p:cTn id="96" presetID="18" presetClass="entr" presetSubtype="12" fill="hold" nodeType="afterEffect">
                                  <p:stCondLst>
                                    <p:cond delay="0"/>
                                  </p:stCondLst>
                                  <p:childTnLst>
                                    <p:set>
                                      <p:cBhvr>
                                        <p:cTn id="97" dur="1" fill="hold">
                                          <p:stCondLst>
                                            <p:cond delay="0"/>
                                          </p:stCondLst>
                                        </p:cTn>
                                        <p:tgtEl>
                                          <p:spTgt spid="24606"/>
                                        </p:tgtEl>
                                        <p:attrNameLst>
                                          <p:attrName>style.visibility</p:attrName>
                                        </p:attrNameLst>
                                      </p:cBhvr>
                                      <p:to>
                                        <p:strVal val="visible"/>
                                      </p:to>
                                    </p:set>
                                    <p:animEffect transition="in" filter="strips(downLeft)">
                                      <p:cBhvr>
                                        <p:cTn id="98" dur="500"/>
                                        <p:tgtEl>
                                          <p:spTgt spid="24606"/>
                                        </p:tgtEl>
                                      </p:cBhvr>
                                    </p:animEffect>
                                  </p:childTnLst>
                                </p:cTn>
                              </p:par>
                            </p:childTnLst>
                          </p:cTn>
                        </p:par>
                        <p:par>
                          <p:cTn id="99" fill="hold">
                            <p:stCondLst>
                              <p:cond delay="1500"/>
                            </p:stCondLst>
                            <p:childTnLst>
                              <p:par>
                                <p:cTn id="100" presetID="18" presetClass="entr" presetSubtype="12" fill="hold" nodeType="afterEffect">
                                  <p:stCondLst>
                                    <p:cond delay="0"/>
                                  </p:stCondLst>
                                  <p:childTnLst>
                                    <p:set>
                                      <p:cBhvr>
                                        <p:cTn id="101" dur="1" fill="hold">
                                          <p:stCondLst>
                                            <p:cond delay="0"/>
                                          </p:stCondLst>
                                        </p:cTn>
                                        <p:tgtEl>
                                          <p:spTgt spid="24605"/>
                                        </p:tgtEl>
                                        <p:attrNameLst>
                                          <p:attrName>style.visibility</p:attrName>
                                        </p:attrNameLst>
                                      </p:cBhvr>
                                      <p:to>
                                        <p:strVal val="visible"/>
                                      </p:to>
                                    </p:set>
                                    <p:animEffect transition="in" filter="strips(downLeft)">
                                      <p:cBhvr>
                                        <p:cTn id="102" dur="500"/>
                                        <p:tgtEl>
                                          <p:spTgt spid="24605"/>
                                        </p:tgtEl>
                                      </p:cBhvr>
                                    </p:animEffect>
                                  </p:childTnLst>
                                </p:cTn>
                              </p:par>
                            </p:childTnLst>
                          </p:cTn>
                        </p:par>
                        <p:par>
                          <p:cTn id="103" fill="hold">
                            <p:stCondLst>
                              <p:cond delay="2000"/>
                            </p:stCondLst>
                            <p:childTnLst>
                              <p:par>
                                <p:cTn id="104" presetID="2" presetClass="entr" presetSubtype="4" fill="hold" grpId="0" nodeType="afterEffect">
                                  <p:stCondLst>
                                    <p:cond delay="0"/>
                                  </p:stCondLst>
                                  <p:childTnLst>
                                    <p:set>
                                      <p:cBhvr>
                                        <p:cTn id="105" dur="1" fill="hold">
                                          <p:stCondLst>
                                            <p:cond delay="0"/>
                                          </p:stCondLst>
                                        </p:cTn>
                                        <p:tgtEl>
                                          <p:spTgt spid="24598"/>
                                        </p:tgtEl>
                                        <p:attrNameLst>
                                          <p:attrName>style.visibility</p:attrName>
                                        </p:attrNameLst>
                                      </p:cBhvr>
                                      <p:to>
                                        <p:strVal val="visible"/>
                                      </p:to>
                                    </p:set>
                                    <p:anim calcmode="lin" valueType="num">
                                      <p:cBhvr>
                                        <p:cTn id="106" dur="500" fill="hold"/>
                                        <p:tgtEl>
                                          <p:spTgt spid="24598"/>
                                        </p:tgtEl>
                                        <p:attrNameLst>
                                          <p:attrName>ppt_x</p:attrName>
                                        </p:attrNameLst>
                                      </p:cBhvr>
                                      <p:tavLst>
                                        <p:tav tm="0">
                                          <p:val>
                                            <p:strVal val="#ppt_x"/>
                                          </p:val>
                                        </p:tav>
                                        <p:tav tm="100000">
                                          <p:val>
                                            <p:strVal val="#ppt_x"/>
                                          </p:val>
                                        </p:tav>
                                      </p:tavLst>
                                    </p:anim>
                                    <p:anim calcmode="lin" valueType="num">
                                      <p:cBhvr>
                                        <p:cTn id="107" dur="500" fill="hold"/>
                                        <p:tgtEl>
                                          <p:spTgt spid="24598"/>
                                        </p:tgtEl>
                                        <p:attrNameLst>
                                          <p:attrName>ppt_y</p:attrName>
                                        </p:attrNameLst>
                                      </p:cBhvr>
                                      <p:tavLst>
                                        <p:tav tm="0">
                                          <p:val>
                                            <p:strVal val="1+#ppt_h/2"/>
                                          </p:val>
                                        </p:tav>
                                        <p:tav tm="100000">
                                          <p:val>
                                            <p:strVal val="#ppt_y"/>
                                          </p:val>
                                        </p:tav>
                                      </p:tavLst>
                                    </p:anim>
                                  </p:childTnLst>
                                </p:cTn>
                              </p:par>
                              <p:par>
                                <p:cTn id="108" presetID="2" presetClass="entr" presetSubtype="4" fill="hold" nodeType="withEffect">
                                  <p:stCondLst>
                                    <p:cond delay="0"/>
                                  </p:stCondLst>
                                  <p:childTnLst>
                                    <p:set>
                                      <p:cBhvr>
                                        <p:cTn id="109" dur="1" fill="hold">
                                          <p:stCondLst>
                                            <p:cond delay="0"/>
                                          </p:stCondLst>
                                        </p:cTn>
                                        <p:tgtEl>
                                          <p:spTgt spid="24600"/>
                                        </p:tgtEl>
                                        <p:attrNameLst>
                                          <p:attrName>style.visibility</p:attrName>
                                        </p:attrNameLst>
                                      </p:cBhvr>
                                      <p:to>
                                        <p:strVal val="visible"/>
                                      </p:to>
                                    </p:set>
                                    <p:anim calcmode="lin" valueType="num">
                                      <p:cBhvr>
                                        <p:cTn id="110" dur="500" fill="hold"/>
                                        <p:tgtEl>
                                          <p:spTgt spid="24600"/>
                                        </p:tgtEl>
                                        <p:attrNameLst>
                                          <p:attrName>ppt_x</p:attrName>
                                        </p:attrNameLst>
                                      </p:cBhvr>
                                      <p:tavLst>
                                        <p:tav tm="0">
                                          <p:val>
                                            <p:strVal val="#ppt_x"/>
                                          </p:val>
                                        </p:tav>
                                        <p:tav tm="100000">
                                          <p:val>
                                            <p:strVal val="#ppt_x"/>
                                          </p:val>
                                        </p:tav>
                                      </p:tavLst>
                                    </p:anim>
                                    <p:anim calcmode="lin" valueType="num">
                                      <p:cBhvr>
                                        <p:cTn id="111" dur="500" fill="hold"/>
                                        <p:tgtEl>
                                          <p:spTgt spid="24600"/>
                                        </p:tgtEl>
                                        <p:attrNameLst>
                                          <p:attrName>ppt_y</p:attrName>
                                        </p:attrNameLst>
                                      </p:cBhvr>
                                      <p:tavLst>
                                        <p:tav tm="0">
                                          <p:val>
                                            <p:strVal val="1+#ppt_h/2"/>
                                          </p:val>
                                        </p:tav>
                                        <p:tav tm="100000">
                                          <p:val>
                                            <p:strVal val="#ppt_y"/>
                                          </p:val>
                                        </p:tav>
                                      </p:tavLst>
                                    </p:anim>
                                  </p:childTnLst>
                                </p:cTn>
                              </p:par>
                            </p:childTnLst>
                          </p:cTn>
                        </p:par>
                        <p:par>
                          <p:cTn id="112" fill="hold">
                            <p:stCondLst>
                              <p:cond delay="2500"/>
                            </p:stCondLst>
                            <p:childTnLst>
                              <p:par>
                                <p:cTn id="113" presetID="3" presetClass="entr" presetSubtype="10" fill="hold" grpId="0" nodeType="afterEffect">
                                  <p:stCondLst>
                                    <p:cond delay="0"/>
                                  </p:stCondLst>
                                  <p:childTnLst>
                                    <p:set>
                                      <p:cBhvr>
                                        <p:cTn id="114" dur="1" fill="hold">
                                          <p:stCondLst>
                                            <p:cond delay="0"/>
                                          </p:stCondLst>
                                        </p:cTn>
                                        <p:tgtEl>
                                          <p:spTgt spid="24599"/>
                                        </p:tgtEl>
                                        <p:attrNameLst>
                                          <p:attrName>style.visibility</p:attrName>
                                        </p:attrNameLst>
                                      </p:cBhvr>
                                      <p:to>
                                        <p:strVal val="visible"/>
                                      </p:to>
                                    </p:set>
                                    <p:animEffect transition="in" filter="blinds(horizontal)">
                                      <p:cBhvr>
                                        <p:cTn id="115" dur="500"/>
                                        <p:tgtEl>
                                          <p:spTgt spid="24599"/>
                                        </p:tgtEl>
                                      </p:cBhvr>
                                    </p:animEffect>
                                  </p:childTnLst>
                                </p:cTn>
                              </p:par>
                            </p:childTnLst>
                          </p:cTn>
                        </p:par>
                        <p:par>
                          <p:cTn id="116" fill="hold">
                            <p:stCondLst>
                              <p:cond delay="3000"/>
                            </p:stCondLst>
                            <p:childTnLst>
                              <p:par>
                                <p:cTn id="117" presetID="3" presetClass="entr" presetSubtype="10" fill="hold" grpId="0" nodeType="afterEffect">
                                  <p:stCondLst>
                                    <p:cond delay="0"/>
                                  </p:stCondLst>
                                  <p:childTnLst>
                                    <p:set>
                                      <p:cBhvr>
                                        <p:cTn id="118" dur="1" fill="hold">
                                          <p:stCondLst>
                                            <p:cond delay="0"/>
                                          </p:stCondLst>
                                        </p:cTn>
                                        <p:tgtEl>
                                          <p:spTgt spid="24603"/>
                                        </p:tgtEl>
                                        <p:attrNameLst>
                                          <p:attrName>style.visibility</p:attrName>
                                        </p:attrNameLst>
                                      </p:cBhvr>
                                      <p:to>
                                        <p:strVal val="visible"/>
                                      </p:to>
                                    </p:set>
                                    <p:animEffect transition="in" filter="blinds(horizontal)">
                                      <p:cBhvr>
                                        <p:cTn id="119" dur="500"/>
                                        <p:tgtEl>
                                          <p:spTgt spid="24603"/>
                                        </p:tgtEl>
                                      </p:cBhvr>
                                    </p:animEffect>
                                  </p:childTnLst>
                                </p:cTn>
                              </p:par>
                            </p:childTnLst>
                          </p:cTn>
                        </p:par>
                        <p:par>
                          <p:cTn id="120" fill="hold">
                            <p:stCondLst>
                              <p:cond delay="3500"/>
                            </p:stCondLst>
                            <p:childTnLst>
                              <p:par>
                                <p:cTn id="121" presetID="18" presetClass="entr" presetSubtype="6" fill="hold" grpId="0" nodeType="afterEffect">
                                  <p:stCondLst>
                                    <p:cond delay="0"/>
                                  </p:stCondLst>
                                  <p:childTnLst>
                                    <p:set>
                                      <p:cBhvr>
                                        <p:cTn id="122" dur="1" fill="hold">
                                          <p:stCondLst>
                                            <p:cond delay="0"/>
                                          </p:stCondLst>
                                        </p:cTn>
                                        <p:tgtEl>
                                          <p:spTgt spid="24604"/>
                                        </p:tgtEl>
                                        <p:attrNameLst>
                                          <p:attrName>style.visibility</p:attrName>
                                        </p:attrNameLst>
                                      </p:cBhvr>
                                      <p:to>
                                        <p:strVal val="visible"/>
                                      </p:to>
                                    </p:set>
                                    <p:animEffect transition="in" filter="strips(downRight)">
                                      <p:cBhvr>
                                        <p:cTn id="123" dur="500"/>
                                        <p:tgtEl>
                                          <p:spTgt spid="24604"/>
                                        </p:tgtEl>
                                      </p:cBhvr>
                                    </p:animEffect>
                                  </p:childTnLst>
                                </p:cTn>
                              </p:par>
                            </p:childTnLst>
                          </p:cTn>
                        </p:par>
                        <p:par>
                          <p:cTn id="124" fill="hold">
                            <p:stCondLst>
                              <p:cond delay="4000"/>
                            </p:stCondLst>
                            <p:childTnLst>
                              <p:par>
                                <p:cTn id="125" presetID="18" presetClass="entr" presetSubtype="3" fill="hold" nodeType="afterEffect">
                                  <p:stCondLst>
                                    <p:cond delay="0"/>
                                  </p:stCondLst>
                                  <p:childTnLst>
                                    <p:set>
                                      <p:cBhvr>
                                        <p:cTn id="126" dur="1" fill="hold">
                                          <p:stCondLst>
                                            <p:cond delay="0"/>
                                          </p:stCondLst>
                                        </p:cTn>
                                        <p:tgtEl>
                                          <p:spTgt spid="24607"/>
                                        </p:tgtEl>
                                        <p:attrNameLst>
                                          <p:attrName>style.visibility</p:attrName>
                                        </p:attrNameLst>
                                      </p:cBhvr>
                                      <p:to>
                                        <p:strVal val="visible"/>
                                      </p:to>
                                    </p:set>
                                    <p:animEffect transition="in" filter="strips(upRight)">
                                      <p:cBhvr>
                                        <p:cTn id="127" dur="500"/>
                                        <p:tgtEl>
                                          <p:spTgt spid="24607"/>
                                        </p:tgtEl>
                                      </p:cBhvr>
                                    </p:animEffect>
                                  </p:childTnLst>
                                </p:cTn>
                              </p:par>
                            </p:childTnLst>
                          </p:cTn>
                        </p:par>
                      </p:childTnLst>
                    </p:cTn>
                  </p:par>
                  <p:par>
                    <p:cTn id="128" fill="hold">
                      <p:stCondLst>
                        <p:cond delay="indefinite"/>
                      </p:stCondLst>
                      <p:childTnLst>
                        <p:par>
                          <p:cTn id="129" fill="hold">
                            <p:stCondLst>
                              <p:cond delay="0"/>
                            </p:stCondLst>
                            <p:childTnLst>
                              <p:par>
                                <p:cTn id="130" presetID="2" presetClass="entr" presetSubtype="4" fill="hold" grpId="0" nodeType="clickEffect">
                                  <p:stCondLst>
                                    <p:cond delay="0"/>
                                  </p:stCondLst>
                                  <p:childTnLst>
                                    <p:set>
                                      <p:cBhvr>
                                        <p:cTn id="131" dur="1" fill="hold">
                                          <p:stCondLst>
                                            <p:cond delay="0"/>
                                          </p:stCondLst>
                                        </p:cTn>
                                        <p:tgtEl>
                                          <p:spTgt spid="24608"/>
                                        </p:tgtEl>
                                        <p:attrNameLst>
                                          <p:attrName>style.visibility</p:attrName>
                                        </p:attrNameLst>
                                      </p:cBhvr>
                                      <p:to>
                                        <p:strVal val="visible"/>
                                      </p:to>
                                    </p:set>
                                    <p:anim calcmode="lin" valueType="num">
                                      <p:cBhvr>
                                        <p:cTn id="132" dur="500" fill="hold"/>
                                        <p:tgtEl>
                                          <p:spTgt spid="24608"/>
                                        </p:tgtEl>
                                        <p:attrNameLst>
                                          <p:attrName>ppt_x</p:attrName>
                                        </p:attrNameLst>
                                      </p:cBhvr>
                                      <p:tavLst>
                                        <p:tav tm="0">
                                          <p:val>
                                            <p:strVal val="#ppt_x"/>
                                          </p:val>
                                        </p:tav>
                                        <p:tav tm="100000">
                                          <p:val>
                                            <p:strVal val="#ppt_x"/>
                                          </p:val>
                                        </p:tav>
                                      </p:tavLst>
                                    </p:anim>
                                    <p:anim calcmode="lin" valueType="num">
                                      <p:cBhvr>
                                        <p:cTn id="133" dur="500" fill="hold"/>
                                        <p:tgtEl>
                                          <p:spTgt spid="24608"/>
                                        </p:tgtEl>
                                        <p:attrNameLst>
                                          <p:attrName>ppt_y</p:attrName>
                                        </p:attrNameLst>
                                      </p:cBhvr>
                                      <p:tavLst>
                                        <p:tav tm="0">
                                          <p:val>
                                            <p:strVal val="1+#ppt_h/2"/>
                                          </p:val>
                                        </p:tav>
                                        <p:tav tm="100000">
                                          <p:val>
                                            <p:strVal val="#ppt_y"/>
                                          </p:val>
                                        </p:tav>
                                      </p:tavLst>
                                    </p:anim>
                                  </p:childTnLst>
                                </p:cTn>
                              </p:par>
                              <p:par>
                                <p:cTn id="134" presetID="2" presetClass="entr" presetSubtype="4" fill="hold" grpId="0" nodeType="withEffect">
                                  <p:stCondLst>
                                    <p:cond delay="0"/>
                                  </p:stCondLst>
                                  <p:childTnLst>
                                    <p:set>
                                      <p:cBhvr>
                                        <p:cTn id="135" dur="1" fill="hold">
                                          <p:stCondLst>
                                            <p:cond delay="0"/>
                                          </p:stCondLst>
                                        </p:cTn>
                                        <p:tgtEl>
                                          <p:spTgt spid="24609"/>
                                        </p:tgtEl>
                                        <p:attrNameLst>
                                          <p:attrName>style.visibility</p:attrName>
                                        </p:attrNameLst>
                                      </p:cBhvr>
                                      <p:to>
                                        <p:strVal val="visible"/>
                                      </p:to>
                                    </p:set>
                                    <p:anim calcmode="lin" valueType="num">
                                      <p:cBhvr>
                                        <p:cTn id="136" dur="500" fill="hold"/>
                                        <p:tgtEl>
                                          <p:spTgt spid="24609"/>
                                        </p:tgtEl>
                                        <p:attrNameLst>
                                          <p:attrName>ppt_x</p:attrName>
                                        </p:attrNameLst>
                                      </p:cBhvr>
                                      <p:tavLst>
                                        <p:tav tm="0">
                                          <p:val>
                                            <p:strVal val="#ppt_x"/>
                                          </p:val>
                                        </p:tav>
                                        <p:tav tm="100000">
                                          <p:val>
                                            <p:strVal val="#ppt_x"/>
                                          </p:val>
                                        </p:tav>
                                      </p:tavLst>
                                    </p:anim>
                                    <p:anim calcmode="lin" valueType="num">
                                      <p:cBhvr>
                                        <p:cTn id="137" dur="500" fill="hold"/>
                                        <p:tgtEl>
                                          <p:spTgt spid="24609"/>
                                        </p:tgtEl>
                                        <p:attrNameLst>
                                          <p:attrName>ppt_y</p:attrName>
                                        </p:attrNameLst>
                                      </p:cBhvr>
                                      <p:tavLst>
                                        <p:tav tm="0">
                                          <p:val>
                                            <p:strVal val="1+#ppt_h/2"/>
                                          </p:val>
                                        </p:tav>
                                        <p:tav tm="100000">
                                          <p:val>
                                            <p:strVal val="#ppt_y"/>
                                          </p:val>
                                        </p:tav>
                                      </p:tavLst>
                                    </p:anim>
                                  </p:childTnLst>
                                </p:cTn>
                              </p:par>
                              <p:par>
                                <p:cTn id="138" presetID="2" presetClass="entr" presetSubtype="4" fill="hold" grpId="0" nodeType="withEffect">
                                  <p:stCondLst>
                                    <p:cond delay="0"/>
                                  </p:stCondLst>
                                  <p:childTnLst>
                                    <p:set>
                                      <p:cBhvr>
                                        <p:cTn id="139" dur="1" fill="hold">
                                          <p:stCondLst>
                                            <p:cond delay="0"/>
                                          </p:stCondLst>
                                        </p:cTn>
                                        <p:tgtEl>
                                          <p:spTgt spid="24610"/>
                                        </p:tgtEl>
                                        <p:attrNameLst>
                                          <p:attrName>style.visibility</p:attrName>
                                        </p:attrNameLst>
                                      </p:cBhvr>
                                      <p:to>
                                        <p:strVal val="visible"/>
                                      </p:to>
                                    </p:set>
                                    <p:anim calcmode="lin" valueType="num">
                                      <p:cBhvr>
                                        <p:cTn id="140" dur="500" fill="hold"/>
                                        <p:tgtEl>
                                          <p:spTgt spid="24610"/>
                                        </p:tgtEl>
                                        <p:attrNameLst>
                                          <p:attrName>ppt_x</p:attrName>
                                        </p:attrNameLst>
                                      </p:cBhvr>
                                      <p:tavLst>
                                        <p:tav tm="0">
                                          <p:val>
                                            <p:strVal val="#ppt_x"/>
                                          </p:val>
                                        </p:tav>
                                        <p:tav tm="100000">
                                          <p:val>
                                            <p:strVal val="#ppt_x"/>
                                          </p:val>
                                        </p:tav>
                                      </p:tavLst>
                                    </p:anim>
                                    <p:anim calcmode="lin" valueType="num">
                                      <p:cBhvr>
                                        <p:cTn id="141" dur="500" fill="hold"/>
                                        <p:tgtEl>
                                          <p:spTgt spid="24610"/>
                                        </p:tgtEl>
                                        <p:attrNameLst>
                                          <p:attrName>ppt_y</p:attrName>
                                        </p:attrNameLst>
                                      </p:cBhvr>
                                      <p:tavLst>
                                        <p:tav tm="0">
                                          <p:val>
                                            <p:strVal val="1+#ppt_h/2"/>
                                          </p:val>
                                        </p:tav>
                                        <p:tav tm="100000">
                                          <p:val>
                                            <p:strVal val="#ppt_y"/>
                                          </p:val>
                                        </p:tav>
                                      </p:tavLst>
                                    </p:anim>
                                  </p:childTnLst>
                                </p:cTn>
                              </p:par>
                              <p:par>
                                <p:cTn id="142" presetID="2" presetClass="entr" presetSubtype="4" fill="hold" nodeType="withEffect">
                                  <p:stCondLst>
                                    <p:cond delay="0"/>
                                  </p:stCondLst>
                                  <p:childTnLst>
                                    <p:set>
                                      <p:cBhvr>
                                        <p:cTn id="143" dur="1" fill="hold">
                                          <p:stCondLst>
                                            <p:cond delay="0"/>
                                          </p:stCondLst>
                                        </p:cTn>
                                        <p:tgtEl>
                                          <p:spTgt spid="24611"/>
                                        </p:tgtEl>
                                        <p:attrNameLst>
                                          <p:attrName>style.visibility</p:attrName>
                                        </p:attrNameLst>
                                      </p:cBhvr>
                                      <p:to>
                                        <p:strVal val="visible"/>
                                      </p:to>
                                    </p:set>
                                    <p:anim calcmode="lin" valueType="num">
                                      <p:cBhvr>
                                        <p:cTn id="144" dur="500" fill="hold"/>
                                        <p:tgtEl>
                                          <p:spTgt spid="24611"/>
                                        </p:tgtEl>
                                        <p:attrNameLst>
                                          <p:attrName>ppt_x</p:attrName>
                                        </p:attrNameLst>
                                      </p:cBhvr>
                                      <p:tavLst>
                                        <p:tav tm="0">
                                          <p:val>
                                            <p:strVal val="#ppt_x"/>
                                          </p:val>
                                        </p:tav>
                                        <p:tav tm="100000">
                                          <p:val>
                                            <p:strVal val="#ppt_x"/>
                                          </p:val>
                                        </p:tav>
                                      </p:tavLst>
                                    </p:anim>
                                    <p:anim calcmode="lin" valueType="num">
                                      <p:cBhvr>
                                        <p:cTn id="145" dur="500" fill="hold"/>
                                        <p:tgtEl>
                                          <p:spTgt spid="24611"/>
                                        </p:tgtEl>
                                        <p:attrNameLst>
                                          <p:attrName>ppt_y</p:attrName>
                                        </p:attrNameLst>
                                      </p:cBhvr>
                                      <p:tavLst>
                                        <p:tav tm="0">
                                          <p:val>
                                            <p:strVal val="1+#ppt_h/2"/>
                                          </p:val>
                                        </p:tav>
                                        <p:tav tm="100000">
                                          <p:val>
                                            <p:strVal val="#ppt_y"/>
                                          </p:val>
                                        </p:tav>
                                      </p:tavLst>
                                    </p:anim>
                                  </p:childTnLst>
                                </p:cTn>
                              </p:par>
                              <p:par>
                                <p:cTn id="146" presetID="2" presetClass="entr" presetSubtype="4" fill="hold" nodeType="withEffect">
                                  <p:stCondLst>
                                    <p:cond delay="0"/>
                                  </p:stCondLst>
                                  <p:childTnLst>
                                    <p:set>
                                      <p:cBhvr>
                                        <p:cTn id="147" dur="1" fill="hold">
                                          <p:stCondLst>
                                            <p:cond delay="0"/>
                                          </p:stCondLst>
                                        </p:cTn>
                                        <p:tgtEl>
                                          <p:spTgt spid="24612"/>
                                        </p:tgtEl>
                                        <p:attrNameLst>
                                          <p:attrName>style.visibility</p:attrName>
                                        </p:attrNameLst>
                                      </p:cBhvr>
                                      <p:to>
                                        <p:strVal val="visible"/>
                                      </p:to>
                                    </p:set>
                                    <p:anim calcmode="lin" valueType="num">
                                      <p:cBhvr>
                                        <p:cTn id="148" dur="500" fill="hold"/>
                                        <p:tgtEl>
                                          <p:spTgt spid="24612"/>
                                        </p:tgtEl>
                                        <p:attrNameLst>
                                          <p:attrName>ppt_x</p:attrName>
                                        </p:attrNameLst>
                                      </p:cBhvr>
                                      <p:tavLst>
                                        <p:tav tm="0">
                                          <p:val>
                                            <p:strVal val="#ppt_x"/>
                                          </p:val>
                                        </p:tav>
                                        <p:tav tm="100000">
                                          <p:val>
                                            <p:strVal val="#ppt_x"/>
                                          </p:val>
                                        </p:tav>
                                      </p:tavLst>
                                    </p:anim>
                                    <p:anim calcmode="lin" valueType="num">
                                      <p:cBhvr>
                                        <p:cTn id="149" dur="500" fill="hold"/>
                                        <p:tgtEl>
                                          <p:spTgt spid="24612"/>
                                        </p:tgtEl>
                                        <p:attrNameLst>
                                          <p:attrName>ppt_y</p:attrName>
                                        </p:attrNameLst>
                                      </p:cBhvr>
                                      <p:tavLst>
                                        <p:tav tm="0">
                                          <p:val>
                                            <p:strVal val="1+#ppt_h/2"/>
                                          </p:val>
                                        </p:tav>
                                        <p:tav tm="100000">
                                          <p:val>
                                            <p:strVal val="#ppt_y"/>
                                          </p:val>
                                        </p:tav>
                                      </p:tavLst>
                                    </p:anim>
                                  </p:childTnLst>
                                </p:cTn>
                              </p:par>
                              <p:par>
                                <p:cTn id="150" presetID="2" presetClass="entr" presetSubtype="4" fill="hold" nodeType="withEffect">
                                  <p:stCondLst>
                                    <p:cond delay="0"/>
                                  </p:stCondLst>
                                  <p:childTnLst>
                                    <p:set>
                                      <p:cBhvr>
                                        <p:cTn id="151" dur="1" fill="hold">
                                          <p:stCondLst>
                                            <p:cond delay="0"/>
                                          </p:stCondLst>
                                        </p:cTn>
                                        <p:tgtEl>
                                          <p:spTgt spid="24613"/>
                                        </p:tgtEl>
                                        <p:attrNameLst>
                                          <p:attrName>style.visibility</p:attrName>
                                        </p:attrNameLst>
                                      </p:cBhvr>
                                      <p:to>
                                        <p:strVal val="visible"/>
                                      </p:to>
                                    </p:set>
                                    <p:anim calcmode="lin" valueType="num">
                                      <p:cBhvr>
                                        <p:cTn id="152" dur="500" fill="hold"/>
                                        <p:tgtEl>
                                          <p:spTgt spid="24613"/>
                                        </p:tgtEl>
                                        <p:attrNameLst>
                                          <p:attrName>ppt_x</p:attrName>
                                        </p:attrNameLst>
                                      </p:cBhvr>
                                      <p:tavLst>
                                        <p:tav tm="0">
                                          <p:val>
                                            <p:strVal val="#ppt_x"/>
                                          </p:val>
                                        </p:tav>
                                        <p:tav tm="100000">
                                          <p:val>
                                            <p:strVal val="#ppt_x"/>
                                          </p:val>
                                        </p:tav>
                                      </p:tavLst>
                                    </p:anim>
                                    <p:anim calcmode="lin" valueType="num">
                                      <p:cBhvr>
                                        <p:cTn id="153" dur="500" fill="hold"/>
                                        <p:tgtEl>
                                          <p:spTgt spid="24613"/>
                                        </p:tgtEl>
                                        <p:attrNameLst>
                                          <p:attrName>ppt_y</p:attrName>
                                        </p:attrNameLst>
                                      </p:cBhvr>
                                      <p:tavLst>
                                        <p:tav tm="0">
                                          <p:val>
                                            <p:strVal val="1+#ppt_h/2"/>
                                          </p:val>
                                        </p:tav>
                                        <p:tav tm="100000">
                                          <p:val>
                                            <p:strVal val="#ppt_y"/>
                                          </p:val>
                                        </p:tav>
                                      </p:tavLst>
                                    </p:anim>
                                  </p:childTnLst>
                                </p:cTn>
                              </p:par>
                              <p:par>
                                <p:cTn id="154" presetID="2" presetClass="entr" presetSubtype="4" fill="hold" grpId="0" nodeType="withEffect">
                                  <p:stCondLst>
                                    <p:cond delay="0"/>
                                  </p:stCondLst>
                                  <p:childTnLst>
                                    <p:set>
                                      <p:cBhvr>
                                        <p:cTn id="155" dur="1" fill="hold">
                                          <p:stCondLst>
                                            <p:cond delay="0"/>
                                          </p:stCondLst>
                                        </p:cTn>
                                        <p:tgtEl>
                                          <p:spTgt spid="24614"/>
                                        </p:tgtEl>
                                        <p:attrNameLst>
                                          <p:attrName>style.visibility</p:attrName>
                                        </p:attrNameLst>
                                      </p:cBhvr>
                                      <p:to>
                                        <p:strVal val="visible"/>
                                      </p:to>
                                    </p:set>
                                    <p:anim calcmode="lin" valueType="num">
                                      <p:cBhvr>
                                        <p:cTn id="156" dur="500" fill="hold"/>
                                        <p:tgtEl>
                                          <p:spTgt spid="24614"/>
                                        </p:tgtEl>
                                        <p:attrNameLst>
                                          <p:attrName>ppt_x</p:attrName>
                                        </p:attrNameLst>
                                      </p:cBhvr>
                                      <p:tavLst>
                                        <p:tav tm="0">
                                          <p:val>
                                            <p:strVal val="#ppt_x"/>
                                          </p:val>
                                        </p:tav>
                                        <p:tav tm="100000">
                                          <p:val>
                                            <p:strVal val="#ppt_x"/>
                                          </p:val>
                                        </p:tav>
                                      </p:tavLst>
                                    </p:anim>
                                    <p:anim calcmode="lin" valueType="num">
                                      <p:cBhvr>
                                        <p:cTn id="157" dur="500" fill="hold"/>
                                        <p:tgtEl>
                                          <p:spTgt spid="24614"/>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24614"/>
                                        </p:tgtEl>
                                        <p:attrNameLst>
                                          <p:attrName>ppt_c</p:attrName>
                                        </p:attrNameLst>
                                      </p:cBhvr>
                                      <p:to>
                                        <a:srgbClr val="FF0000"/>
                                      </p:to>
                                    </p:animClr>
                                  </p:subTnLst>
                                </p:cTn>
                              </p:par>
                              <p:par>
                                <p:cTn id="158" presetID="2" presetClass="entr" presetSubtype="4" fill="hold" grpId="0" nodeType="withEffect">
                                  <p:stCondLst>
                                    <p:cond delay="0"/>
                                  </p:stCondLst>
                                  <p:childTnLst>
                                    <p:set>
                                      <p:cBhvr>
                                        <p:cTn id="159" dur="1" fill="hold">
                                          <p:stCondLst>
                                            <p:cond delay="0"/>
                                          </p:stCondLst>
                                        </p:cTn>
                                        <p:tgtEl>
                                          <p:spTgt spid="24615"/>
                                        </p:tgtEl>
                                        <p:attrNameLst>
                                          <p:attrName>style.visibility</p:attrName>
                                        </p:attrNameLst>
                                      </p:cBhvr>
                                      <p:to>
                                        <p:strVal val="visible"/>
                                      </p:to>
                                    </p:set>
                                    <p:anim calcmode="lin" valueType="num">
                                      <p:cBhvr>
                                        <p:cTn id="160" dur="500" fill="hold"/>
                                        <p:tgtEl>
                                          <p:spTgt spid="24615"/>
                                        </p:tgtEl>
                                        <p:attrNameLst>
                                          <p:attrName>ppt_x</p:attrName>
                                        </p:attrNameLst>
                                      </p:cBhvr>
                                      <p:tavLst>
                                        <p:tav tm="0">
                                          <p:val>
                                            <p:strVal val="#ppt_x"/>
                                          </p:val>
                                        </p:tav>
                                        <p:tav tm="100000">
                                          <p:val>
                                            <p:strVal val="#ppt_x"/>
                                          </p:val>
                                        </p:tav>
                                      </p:tavLst>
                                    </p:anim>
                                    <p:anim calcmode="lin" valueType="num">
                                      <p:cBhvr>
                                        <p:cTn id="161" dur="500" fill="hold"/>
                                        <p:tgtEl>
                                          <p:spTgt spid="24615"/>
                                        </p:tgtEl>
                                        <p:attrNameLst>
                                          <p:attrName>ppt_y</p:attrName>
                                        </p:attrNameLst>
                                      </p:cBhvr>
                                      <p:tavLst>
                                        <p:tav tm="0">
                                          <p:val>
                                            <p:strVal val="1+#ppt_h/2"/>
                                          </p:val>
                                        </p:tav>
                                        <p:tav tm="100000">
                                          <p:val>
                                            <p:strVal val="#ppt_y"/>
                                          </p:val>
                                        </p:tav>
                                      </p:tavLst>
                                    </p:anim>
                                  </p:childTnLst>
                                </p:cTn>
                              </p:par>
                              <p:par>
                                <p:cTn id="162" presetID="2" presetClass="entr" presetSubtype="4" fill="hold" grpId="0" nodeType="withEffect">
                                  <p:stCondLst>
                                    <p:cond delay="0"/>
                                  </p:stCondLst>
                                  <p:childTnLst>
                                    <p:set>
                                      <p:cBhvr>
                                        <p:cTn id="163" dur="1" fill="hold">
                                          <p:stCondLst>
                                            <p:cond delay="0"/>
                                          </p:stCondLst>
                                        </p:cTn>
                                        <p:tgtEl>
                                          <p:spTgt spid="24616"/>
                                        </p:tgtEl>
                                        <p:attrNameLst>
                                          <p:attrName>style.visibility</p:attrName>
                                        </p:attrNameLst>
                                      </p:cBhvr>
                                      <p:to>
                                        <p:strVal val="visible"/>
                                      </p:to>
                                    </p:set>
                                    <p:anim calcmode="lin" valueType="num">
                                      <p:cBhvr>
                                        <p:cTn id="164" dur="500" fill="hold"/>
                                        <p:tgtEl>
                                          <p:spTgt spid="24616"/>
                                        </p:tgtEl>
                                        <p:attrNameLst>
                                          <p:attrName>ppt_x</p:attrName>
                                        </p:attrNameLst>
                                      </p:cBhvr>
                                      <p:tavLst>
                                        <p:tav tm="0">
                                          <p:val>
                                            <p:strVal val="#ppt_x"/>
                                          </p:val>
                                        </p:tav>
                                        <p:tav tm="100000">
                                          <p:val>
                                            <p:strVal val="#ppt_x"/>
                                          </p:val>
                                        </p:tav>
                                      </p:tavLst>
                                    </p:anim>
                                    <p:anim calcmode="lin" valueType="num">
                                      <p:cBhvr>
                                        <p:cTn id="165" dur="500" fill="hold"/>
                                        <p:tgtEl>
                                          <p:spTgt spid="24616"/>
                                        </p:tgtEl>
                                        <p:attrNameLst>
                                          <p:attrName>ppt_y</p:attrName>
                                        </p:attrNameLst>
                                      </p:cBhvr>
                                      <p:tavLst>
                                        <p:tav tm="0">
                                          <p:val>
                                            <p:strVal val="1+#ppt_h/2"/>
                                          </p:val>
                                        </p:tav>
                                        <p:tav tm="100000">
                                          <p:val>
                                            <p:strVal val="#ppt_y"/>
                                          </p:val>
                                        </p:tav>
                                      </p:tavLst>
                                    </p:anim>
                                  </p:childTnLst>
                                </p:cTn>
                              </p:par>
                              <p:par>
                                <p:cTn id="166" presetID="2" presetClass="entr" presetSubtype="4" fill="hold" grpId="0" nodeType="withEffect">
                                  <p:stCondLst>
                                    <p:cond delay="0"/>
                                  </p:stCondLst>
                                  <p:childTnLst>
                                    <p:set>
                                      <p:cBhvr>
                                        <p:cTn id="167" dur="1" fill="hold">
                                          <p:stCondLst>
                                            <p:cond delay="0"/>
                                          </p:stCondLst>
                                        </p:cTn>
                                        <p:tgtEl>
                                          <p:spTgt spid="24617"/>
                                        </p:tgtEl>
                                        <p:attrNameLst>
                                          <p:attrName>style.visibility</p:attrName>
                                        </p:attrNameLst>
                                      </p:cBhvr>
                                      <p:to>
                                        <p:strVal val="visible"/>
                                      </p:to>
                                    </p:set>
                                    <p:anim calcmode="lin" valueType="num">
                                      <p:cBhvr>
                                        <p:cTn id="168" dur="500" fill="hold"/>
                                        <p:tgtEl>
                                          <p:spTgt spid="24617"/>
                                        </p:tgtEl>
                                        <p:attrNameLst>
                                          <p:attrName>ppt_x</p:attrName>
                                        </p:attrNameLst>
                                      </p:cBhvr>
                                      <p:tavLst>
                                        <p:tav tm="0">
                                          <p:val>
                                            <p:strVal val="#ppt_x"/>
                                          </p:val>
                                        </p:tav>
                                        <p:tav tm="100000">
                                          <p:val>
                                            <p:strVal val="#ppt_x"/>
                                          </p:val>
                                        </p:tav>
                                      </p:tavLst>
                                    </p:anim>
                                    <p:anim calcmode="lin" valueType="num">
                                      <p:cBhvr>
                                        <p:cTn id="169" dur="500" fill="hold"/>
                                        <p:tgtEl>
                                          <p:spTgt spid="24617"/>
                                        </p:tgtEl>
                                        <p:attrNameLst>
                                          <p:attrName>ppt_y</p:attrName>
                                        </p:attrNameLst>
                                      </p:cBhvr>
                                      <p:tavLst>
                                        <p:tav tm="0">
                                          <p:val>
                                            <p:strVal val="1+#ppt_h/2"/>
                                          </p:val>
                                        </p:tav>
                                        <p:tav tm="100000">
                                          <p:val>
                                            <p:strVal val="#ppt_y"/>
                                          </p:val>
                                        </p:tav>
                                      </p:tavLst>
                                    </p:anim>
                                  </p:childTnLst>
                                </p:cTn>
                              </p:par>
                            </p:childTnLst>
                          </p:cTn>
                        </p:par>
                        <p:par>
                          <p:cTn id="170" fill="hold">
                            <p:stCondLst>
                              <p:cond delay="500"/>
                            </p:stCondLst>
                            <p:childTnLst>
                              <p:par>
                                <p:cTn id="171" presetID="26" presetClass="emph" presetSubtype="0" repeatCount="4000" fill="hold" grpId="1" nodeType="afterEffect">
                                  <p:stCondLst>
                                    <p:cond delay="0"/>
                                  </p:stCondLst>
                                  <p:childTnLst>
                                    <p:animEffect transition="out" filter="fade">
                                      <p:cBhvr>
                                        <p:cTn id="172" dur="500" tmFilter="0, 0; .2, .5; .8, .5; 1, 0"/>
                                        <p:tgtEl>
                                          <p:spTgt spid="24614"/>
                                        </p:tgtEl>
                                      </p:cBhvr>
                                    </p:animEffect>
                                    <p:animScale>
                                      <p:cBhvr>
                                        <p:cTn id="173" dur="250" autoRev="1" fill="hold"/>
                                        <p:tgtEl>
                                          <p:spTgt spid="24614"/>
                                        </p:tgtEl>
                                      </p:cBhvr>
                                      <p:by x="105000" y="105000"/>
                                    </p:animScale>
                                  </p:childTnLst>
                                  <p:subTnLst>
                                    <p:animClr clrSpc="rgb" dir="cw">
                                      <p:cBhvr override="childStyle">
                                        <p:cTn dur="1" fill="hold" display="0" masterRel="nextClick" afterEffect="1"/>
                                        <p:tgtEl>
                                          <p:spTgt spid="24614"/>
                                        </p:tgtEl>
                                        <p:attrNameLst>
                                          <p:attrName>ppt_c</p:attrName>
                                        </p:attrNameLst>
                                      </p:cBhvr>
                                      <p:to>
                                        <a:srgbClr val="FF00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animBg="1"/>
      <p:bldP spid="24581" grpId="0" animBg="1"/>
      <p:bldP spid="24582" grpId="0" animBg="1"/>
      <p:bldP spid="24583" grpId="0" animBg="1"/>
      <p:bldP spid="24584" grpId="0" animBg="1"/>
      <p:bldP spid="24589" grpId="0"/>
      <p:bldP spid="24590" grpId="0"/>
      <p:bldP spid="24591" grpId="0"/>
      <p:bldP spid="24592" grpId="0"/>
      <p:bldP spid="24593" grpId="0"/>
      <p:bldP spid="24594" grpId="0" animBg="1"/>
      <p:bldP spid="24595" grpId="0"/>
      <p:bldP spid="24596" grpId="0" animBg="1"/>
      <p:bldP spid="24597" grpId="0"/>
      <p:bldP spid="24598" grpId="0" animBg="1"/>
      <p:bldP spid="24599" grpId="0"/>
      <p:bldP spid="24603" grpId="0"/>
      <p:bldP spid="24604" grpId="0"/>
      <p:bldP spid="24608" grpId="0" animBg="1"/>
      <p:bldP spid="24609" grpId="0" animBg="1"/>
      <p:bldP spid="24610" grpId="0" animBg="1"/>
      <p:bldP spid="24614" grpId="0"/>
      <p:bldP spid="24614" grpId="1"/>
      <p:bldP spid="24615" grpId="0"/>
      <p:bldP spid="24616" grpId="0" animBg="1"/>
      <p:bldP spid="24617" grpId="0"/>
      <p:bldP spid="2461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idx="4294967295"/>
          </p:nvPr>
        </p:nvSpPr>
        <p:spPr>
          <a:xfrm>
            <a:off x="611188" y="1052513"/>
            <a:ext cx="6553200" cy="563562"/>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61E27"/>
                </a:solidFill>
                <a:ea typeface="宋体" panose="02010600030101010101" pitchFamily="2" charset="-122"/>
              </a:rPr>
              <a:t>堆栈操作指令说明</a:t>
            </a:r>
            <a:endParaRPr lang="zh-CN" altLang="en-US" dirty="0">
              <a:solidFill>
                <a:srgbClr val="061E27"/>
              </a:solidFill>
              <a:ea typeface="宋体" panose="02010600030101010101" pitchFamily="2" charset="-122"/>
            </a:endParaRPr>
          </a:p>
        </p:txBody>
      </p:sp>
      <p:sp>
        <p:nvSpPr>
          <p:cNvPr id="25603" name="Rectangle 3"/>
          <p:cNvSpPr>
            <a:spLocks noGrp="1"/>
          </p:cNvSpPr>
          <p:nvPr>
            <p:ph type="body" idx="4294967295"/>
          </p:nvPr>
        </p:nvSpPr>
        <p:spPr>
          <a:xfrm>
            <a:off x="468313" y="1989138"/>
            <a:ext cx="8280400" cy="3962400"/>
          </a:xfrm>
        </p:spPr>
        <p:txBody>
          <a:bodyPr vert="horz" wrap="square" lIns="91440" tIns="45720" rIns="91440" bIns="45720" anchor="t" anchorCtr="0"/>
          <a:p>
            <a:pPr algn="just" eaLnBrk="1" hangingPunct="1">
              <a:spcAft>
                <a:spcPct val="20000"/>
              </a:spcAft>
              <a:buFont typeface="Wingdings" panose="05000000000000000000" pitchFamily="2" charset="2"/>
              <a:buChar char="l"/>
            </a:pPr>
            <a:r>
              <a:rPr lang="zh-CN" altLang="en-US" b="0" dirty="0">
                <a:latin typeface="宋体" panose="02010600030101010101" pitchFamily="2" charset="-122"/>
                <a:ea typeface="宋体" panose="02010600030101010101" pitchFamily="2" charset="-122"/>
              </a:rPr>
              <a:t>指令的操作数必须是16位的；</a:t>
            </a:r>
            <a:endParaRPr lang="zh-CN" altLang="en-US" b="0" dirty="0">
              <a:latin typeface="宋体" panose="02010600030101010101" pitchFamily="2" charset="-122"/>
              <a:ea typeface="宋体" panose="02010600030101010101" pitchFamily="2" charset="-122"/>
            </a:endParaRPr>
          </a:p>
          <a:p>
            <a:pPr algn="just" eaLnBrk="1" hangingPunct="1">
              <a:spcAft>
                <a:spcPct val="20000"/>
              </a:spcAft>
              <a:buFont typeface="Wingdings" panose="05000000000000000000" pitchFamily="2" charset="2"/>
              <a:buChar char="l"/>
            </a:pPr>
            <a:r>
              <a:rPr lang="zh-CN" altLang="en-US" b="0" dirty="0">
                <a:latin typeface="宋体" panose="02010600030101010101" pitchFamily="2" charset="-122"/>
                <a:ea typeface="宋体" panose="02010600030101010101" pitchFamily="2" charset="-122"/>
              </a:rPr>
              <a:t>操作数可以是</a:t>
            </a:r>
            <a:r>
              <a:rPr lang="zh-CN" altLang="en-US" b="0" dirty="0">
                <a:solidFill>
                  <a:srgbClr val="FF0000"/>
                </a:solidFill>
                <a:latin typeface="宋体" panose="02010600030101010101" pitchFamily="2" charset="-122"/>
                <a:ea typeface="宋体" panose="02010600030101010101" pitchFamily="2" charset="-122"/>
              </a:rPr>
              <a:t>寄存器或存储器两单元，但不能是立即数；</a:t>
            </a:r>
            <a:endParaRPr lang="zh-CN" altLang="en-US" b="0" dirty="0">
              <a:solidFill>
                <a:srgbClr val="FF0000"/>
              </a:solidFill>
              <a:latin typeface="宋体" panose="02010600030101010101" pitchFamily="2" charset="-122"/>
              <a:ea typeface="宋体" panose="02010600030101010101" pitchFamily="2" charset="-122"/>
            </a:endParaRPr>
          </a:p>
          <a:p>
            <a:pPr algn="just" eaLnBrk="1" hangingPunct="1">
              <a:spcAft>
                <a:spcPct val="20000"/>
              </a:spcAft>
              <a:buFont typeface="Wingdings" panose="05000000000000000000" pitchFamily="2" charset="2"/>
              <a:buChar char="l"/>
            </a:pPr>
            <a:r>
              <a:rPr lang="zh-CN" altLang="en-US" b="0" dirty="0">
                <a:latin typeface="宋体" panose="02010600030101010101" pitchFamily="2" charset="-122"/>
                <a:ea typeface="宋体" panose="02010600030101010101" pitchFamily="2" charset="-122"/>
              </a:rPr>
              <a:t>不能从栈顶弹出一个字给</a:t>
            </a:r>
            <a:r>
              <a:rPr lang="en-US" altLang="zh-CN" b="0" dirty="0">
                <a:latin typeface="宋体" panose="02010600030101010101" pitchFamily="2" charset="-122"/>
                <a:ea typeface="宋体" panose="02010600030101010101" pitchFamily="2" charset="-122"/>
              </a:rPr>
              <a:t>CS</a:t>
            </a:r>
            <a:r>
              <a:rPr lang="zh-CN" altLang="en-US" b="0" dirty="0">
                <a:latin typeface="宋体" panose="02010600030101010101" pitchFamily="2" charset="-122"/>
                <a:ea typeface="宋体" panose="02010600030101010101" pitchFamily="2" charset="-122"/>
              </a:rPr>
              <a:t>（允许</a:t>
            </a:r>
            <a:r>
              <a:rPr lang="en-US" altLang="zh-CN" b="0" dirty="0">
                <a:latin typeface="宋体" panose="02010600030101010101" pitchFamily="2" charset="-122"/>
                <a:ea typeface="宋体" panose="02010600030101010101" pitchFamily="2" charset="-122"/>
              </a:rPr>
              <a:t>PUSH CS</a:t>
            </a: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a:t>
            </a:r>
            <a:endParaRPr lang="en-US" altLang="zh-CN" b="0" dirty="0">
              <a:latin typeface="宋体" panose="02010600030101010101" pitchFamily="2" charset="-122"/>
              <a:ea typeface="宋体" panose="02010600030101010101" pitchFamily="2" charset="-122"/>
            </a:endParaRPr>
          </a:p>
          <a:p>
            <a:pPr algn="just" eaLnBrk="1" hangingPunct="1">
              <a:spcAft>
                <a:spcPct val="20000"/>
              </a:spcAft>
              <a:buFont typeface="Wingdings" panose="05000000000000000000" pitchFamily="2" charset="2"/>
              <a:buChar char="l"/>
            </a:pPr>
            <a:r>
              <a:rPr lang="en-US" altLang="zh-CN" b="0" dirty="0">
                <a:latin typeface="宋体" panose="02010600030101010101" pitchFamily="2" charset="-122"/>
                <a:ea typeface="宋体" panose="02010600030101010101" pitchFamily="2" charset="-122"/>
              </a:rPr>
              <a:t>PUSH</a:t>
            </a:r>
            <a:r>
              <a:rPr lang="zh-CN" altLang="en-US" b="0" dirty="0">
                <a:latin typeface="宋体" panose="02010600030101010101" pitchFamily="2" charset="-122"/>
                <a:ea typeface="宋体" panose="02010600030101010101" pitchFamily="2" charset="-122"/>
              </a:rPr>
              <a:t>和</a:t>
            </a:r>
            <a:r>
              <a:rPr lang="en-US" altLang="zh-CN" b="0" dirty="0">
                <a:latin typeface="宋体" panose="02010600030101010101" pitchFamily="2" charset="-122"/>
                <a:ea typeface="宋体" panose="02010600030101010101" pitchFamily="2" charset="-122"/>
              </a:rPr>
              <a:t>POP</a:t>
            </a:r>
            <a:r>
              <a:rPr lang="zh-CN" altLang="en-US" b="0" dirty="0">
                <a:latin typeface="宋体" panose="02010600030101010101" pitchFamily="2" charset="-122"/>
                <a:ea typeface="宋体" panose="02010600030101010101" pitchFamily="2" charset="-122"/>
              </a:rPr>
              <a:t>指令在程序中一般成对出现；</a:t>
            </a:r>
            <a:endParaRPr lang="zh-CN" altLang="en-US" b="0" dirty="0">
              <a:latin typeface="宋体" panose="02010600030101010101" pitchFamily="2" charset="-122"/>
              <a:ea typeface="宋体" panose="02010600030101010101" pitchFamily="2" charset="-122"/>
            </a:endParaRPr>
          </a:p>
          <a:p>
            <a:pPr algn="just" eaLnBrk="1" hangingPunct="1">
              <a:spcAft>
                <a:spcPct val="20000"/>
              </a:spcAft>
              <a:buFont typeface="Wingdings" panose="05000000000000000000" pitchFamily="2" charset="2"/>
              <a:buChar char="l"/>
            </a:pPr>
            <a:r>
              <a:rPr lang="en-US" altLang="zh-CN" b="0" dirty="0">
                <a:latin typeface="宋体" panose="02010600030101010101" pitchFamily="2" charset="-122"/>
                <a:ea typeface="宋体" panose="02010600030101010101" pitchFamily="2" charset="-122"/>
              </a:rPr>
              <a:t>PUSH</a:t>
            </a:r>
            <a:r>
              <a:rPr lang="zh-CN" altLang="en-US" b="0" dirty="0">
                <a:latin typeface="宋体" panose="02010600030101010101" pitchFamily="2" charset="-122"/>
                <a:ea typeface="宋体" panose="02010600030101010101" pitchFamily="2" charset="-122"/>
              </a:rPr>
              <a:t>指令的操作方向是从高地址向低地址，而</a:t>
            </a:r>
            <a:r>
              <a:rPr lang="en-US" altLang="zh-CN" b="0" dirty="0">
                <a:latin typeface="宋体" panose="02010600030101010101" pitchFamily="2" charset="-122"/>
                <a:ea typeface="宋体" panose="02010600030101010101" pitchFamily="2" charset="-122"/>
              </a:rPr>
              <a:t>POP</a:t>
            </a:r>
            <a:r>
              <a:rPr lang="zh-CN" altLang="en-US" b="0" dirty="0">
                <a:latin typeface="宋体" panose="02010600030101010101" pitchFamily="2" charset="-122"/>
                <a:ea typeface="宋体" panose="02010600030101010101" pitchFamily="2" charset="-122"/>
              </a:rPr>
              <a:t>指令的操作正好相反。</a:t>
            </a:r>
            <a:endParaRPr lang="zh-CN" altLang="en-US" b="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3">
                                            <p:txEl>
                                              <p:charRg st="0" end="15"/>
                                            </p:txEl>
                                          </p:spTgt>
                                        </p:tgtEl>
                                        <p:attrNameLst>
                                          <p:attrName>style.visibility</p:attrName>
                                        </p:attrNameLst>
                                      </p:cBhvr>
                                      <p:to>
                                        <p:strVal val="visible"/>
                                      </p:to>
                                    </p:set>
                                    <p:animEffect transition="in" filter="wipe(left)">
                                      <p:cBhvr>
                                        <p:cTn id="7" dur="500"/>
                                        <p:tgtEl>
                                          <p:spTgt spid="25603">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3">
                                            <p:txEl>
                                              <p:charRg st="15" end="41"/>
                                            </p:txEl>
                                          </p:spTgt>
                                        </p:tgtEl>
                                        <p:attrNameLst>
                                          <p:attrName>style.visibility</p:attrName>
                                        </p:attrNameLst>
                                      </p:cBhvr>
                                      <p:to>
                                        <p:strVal val="visible"/>
                                      </p:to>
                                    </p:set>
                                    <p:animEffect transition="in" filter="blinds(horizontal)">
                                      <p:cBhvr>
                                        <p:cTn id="12" dur="500"/>
                                        <p:tgtEl>
                                          <p:spTgt spid="25603">
                                            <p:txEl>
                                              <p:charRg st="15" end="4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03">
                                            <p:txEl>
                                              <p:charRg st="41" end="67"/>
                                            </p:txEl>
                                          </p:spTgt>
                                        </p:tgtEl>
                                        <p:attrNameLst>
                                          <p:attrName>style.visibility</p:attrName>
                                        </p:attrNameLst>
                                      </p:cBhvr>
                                      <p:to>
                                        <p:strVal val="visible"/>
                                      </p:to>
                                    </p:set>
                                    <p:animEffect transition="in" filter="wipe(left)">
                                      <p:cBhvr>
                                        <p:cTn id="17" dur="500"/>
                                        <p:tgtEl>
                                          <p:spTgt spid="25603">
                                            <p:txEl>
                                              <p:charRg st="41" end="6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603">
                                            <p:txEl>
                                              <p:charRg st="67" end="89"/>
                                            </p:txEl>
                                          </p:spTgt>
                                        </p:tgtEl>
                                        <p:attrNameLst>
                                          <p:attrName>style.visibility</p:attrName>
                                        </p:attrNameLst>
                                      </p:cBhvr>
                                      <p:to>
                                        <p:strVal val="visible"/>
                                      </p:to>
                                    </p:set>
                                    <p:animEffect transition="in" filter="wipe(left)">
                                      <p:cBhvr>
                                        <p:cTn id="22" dur="500"/>
                                        <p:tgtEl>
                                          <p:spTgt spid="25603">
                                            <p:txEl>
                                              <p:charRg st="67" end="8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603">
                                            <p:txEl>
                                              <p:charRg st="89" end="125"/>
                                            </p:txEl>
                                          </p:spTgt>
                                        </p:tgtEl>
                                        <p:attrNameLst>
                                          <p:attrName>style.visibility</p:attrName>
                                        </p:attrNameLst>
                                      </p:cBhvr>
                                      <p:to>
                                        <p:strVal val="visible"/>
                                      </p:to>
                                    </p:set>
                                    <p:animEffect transition="in" filter="blinds(horizontal)">
                                      <p:cBhvr>
                                        <p:cTn id="27" dur="500"/>
                                        <p:tgtEl>
                                          <p:spTgt spid="25603">
                                            <p:txEl>
                                              <p:charRg st="89" end="1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1026"/>
          <p:cNvSpPr>
            <a:spLocks noGrp="1"/>
          </p:cNvSpPr>
          <p:nvPr>
            <p:ph type="title" idx="4294967295"/>
          </p:nvPr>
        </p:nvSpPr>
        <p:spPr>
          <a:xfrm>
            <a:off x="1258888" y="1085850"/>
            <a:ext cx="6553200" cy="563563"/>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61E27"/>
                </a:solidFill>
                <a:ea typeface="宋体" panose="02010600030101010101" pitchFamily="2" charset="-122"/>
              </a:rPr>
              <a:t>例：</a:t>
            </a:r>
            <a:endParaRPr lang="zh-CN" altLang="en-US" dirty="0">
              <a:solidFill>
                <a:srgbClr val="061E27"/>
              </a:solidFill>
              <a:ea typeface="宋体" panose="02010600030101010101" pitchFamily="2" charset="-122"/>
            </a:endParaRPr>
          </a:p>
        </p:txBody>
      </p:sp>
      <p:sp>
        <p:nvSpPr>
          <p:cNvPr id="26627" name="Rectangle 1027"/>
          <p:cNvSpPr>
            <a:spLocks noGrp="1"/>
          </p:cNvSpPr>
          <p:nvPr>
            <p:ph type="body" idx="4294967295"/>
          </p:nvPr>
        </p:nvSpPr>
        <p:spPr>
          <a:xfrm>
            <a:off x="1258888" y="1916113"/>
            <a:ext cx="6705600" cy="4535487"/>
          </a:xfrm>
        </p:spPr>
        <p:txBody>
          <a:bodyPr vert="horz" wrap="square" lIns="91440" tIns="45720" rIns="91440" bIns="45720" anchor="t" anchorCtr="0"/>
          <a:p>
            <a:pPr marL="0" indent="0" eaLnBrk="1" hangingPunct="1">
              <a:lnSpc>
                <a:spcPct val="105000"/>
              </a:lnSpc>
              <a:spcBef>
                <a:spcPct val="15000"/>
              </a:spcBef>
              <a:buNone/>
            </a:pPr>
            <a:r>
              <a:rPr lang="en-US" altLang="zh-CN" sz="2000" dirty="0">
                <a:latin typeface="宋体" panose="02010600030101010101" pitchFamily="2" charset="-122"/>
                <a:ea typeface="宋体" panose="02010600030101010101" pitchFamily="2" charset="-122"/>
              </a:rPr>
              <a:t>MOV  AX</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9000H</a:t>
            </a:r>
            <a:endParaRPr lang="en-US" altLang="zh-CN" sz="2000" dirty="0">
              <a:latin typeface="宋体" panose="02010600030101010101" pitchFamily="2" charset="-122"/>
              <a:ea typeface="宋体" panose="02010600030101010101" pitchFamily="2" charset="-122"/>
            </a:endParaRPr>
          </a:p>
          <a:p>
            <a:pPr marL="0" indent="0" eaLnBrk="1" hangingPunct="1">
              <a:lnSpc>
                <a:spcPct val="105000"/>
              </a:lnSpc>
              <a:spcBef>
                <a:spcPct val="15000"/>
              </a:spcBef>
              <a:buNone/>
            </a:pPr>
            <a:r>
              <a:rPr lang="en-US" altLang="zh-CN" sz="2000" dirty="0">
                <a:latin typeface="宋体" panose="02010600030101010101" pitchFamily="2" charset="-122"/>
                <a:ea typeface="宋体" panose="02010600030101010101" pitchFamily="2" charset="-122"/>
              </a:rPr>
              <a:t>MOV  SS</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AX</a:t>
            </a:r>
            <a:endParaRPr lang="en-US" altLang="zh-CN" sz="2000" dirty="0">
              <a:latin typeface="宋体" panose="02010600030101010101" pitchFamily="2" charset="-122"/>
              <a:ea typeface="宋体" panose="02010600030101010101" pitchFamily="2" charset="-122"/>
            </a:endParaRPr>
          </a:p>
          <a:p>
            <a:pPr marL="0" indent="0" eaLnBrk="1" hangingPunct="1">
              <a:lnSpc>
                <a:spcPct val="105000"/>
              </a:lnSpc>
              <a:spcBef>
                <a:spcPct val="15000"/>
              </a:spcBef>
              <a:buNone/>
            </a:pPr>
            <a:r>
              <a:rPr lang="en-US" altLang="zh-CN" sz="2000" dirty="0">
                <a:latin typeface="宋体" panose="02010600030101010101" pitchFamily="2" charset="-122"/>
                <a:ea typeface="宋体" panose="02010600030101010101" pitchFamily="2" charset="-122"/>
              </a:rPr>
              <a:t>MOV  SP</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E200H</a:t>
            </a:r>
            <a:endParaRPr lang="en-US" altLang="zh-CN" sz="2000" dirty="0">
              <a:latin typeface="宋体" panose="02010600030101010101" pitchFamily="2" charset="-122"/>
              <a:ea typeface="宋体" panose="02010600030101010101" pitchFamily="2" charset="-122"/>
            </a:endParaRPr>
          </a:p>
          <a:p>
            <a:pPr marL="0" indent="0" eaLnBrk="1" hangingPunct="1">
              <a:lnSpc>
                <a:spcPct val="105000"/>
              </a:lnSpc>
              <a:spcBef>
                <a:spcPct val="15000"/>
              </a:spcBef>
              <a:buNone/>
            </a:pPr>
            <a:r>
              <a:rPr lang="en-US" altLang="zh-CN" sz="2000" dirty="0">
                <a:latin typeface="宋体" panose="02010600030101010101" pitchFamily="2" charset="-122"/>
                <a:ea typeface="宋体" panose="02010600030101010101" pitchFamily="2" charset="-122"/>
              </a:rPr>
              <a:t>MOV  DX</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38FFH</a:t>
            </a:r>
            <a:endParaRPr lang="en-US" altLang="zh-CN" sz="2000" dirty="0">
              <a:latin typeface="宋体" panose="02010600030101010101" pitchFamily="2" charset="-122"/>
              <a:ea typeface="宋体" panose="02010600030101010101" pitchFamily="2" charset="-122"/>
            </a:endParaRPr>
          </a:p>
          <a:p>
            <a:pPr marL="0" indent="0" eaLnBrk="1" hangingPunct="1">
              <a:lnSpc>
                <a:spcPct val="105000"/>
              </a:lnSpc>
              <a:spcBef>
                <a:spcPct val="15000"/>
              </a:spcBef>
              <a:buNone/>
            </a:pPr>
            <a:r>
              <a:rPr lang="en-US" altLang="zh-CN" sz="2000" dirty="0">
                <a:latin typeface="宋体" panose="02010600030101010101" pitchFamily="2" charset="-122"/>
                <a:ea typeface="宋体" panose="02010600030101010101" pitchFamily="2" charset="-122"/>
              </a:rPr>
              <a:t>PUSH  DX</a:t>
            </a:r>
            <a:endParaRPr lang="en-US" altLang="zh-CN" sz="2000" dirty="0">
              <a:latin typeface="宋体" panose="02010600030101010101" pitchFamily="2" charset="-122"/>
              <a:ea typeface="宋体" panose="02010600030101010101" pitchFamily="2" charset="-122"/>
            </a:endParaRPr>
          </a:p>
          <a:p>
            <a:pPr marL="0" indent="0" eaLnBrk="1" hangingPunct="1">
              <a:lnSpc>
                <a:spcPct val="105000"/>
              </a:lnSpc>
              <a:spcBef>
                <a:spcPct val="15000"/>
              </a:spcBef>
              <a:buNone/>
            </a:pPr>
            <a:r>
              <a:rPr lang="en-US" altLang="zh-CN" sz="2000" dirty="0">
                <a:latin typeface="宋体" panose="02010600030101010101" pitchFamily="2" charset="-122"/>
                <a:ea typeface="宋体" panose="02010600030101010101" pitchFamily="2" charset="-122"/>
              </a:rPr>
              <a:t>PUSH  AX</a:t>
            </a:r>
            <a:endParaRPr lang="en-US" altLang="zh-CN" sz="2000" dirty="0">
              <a:latin typeface="宋体" panose="02010600030101010101" pitchFamily="2" charset="-122"/>
              <a:ea typeface="宋体" panose="02010600030101010101" pitchFamily="2" charset="-122"/>
            </a:endParaRPr>
          </a:p>
          <a:p>
            <a:pPr marL="0" indent="0" eaLnBrk="1" hangingPunct="1">
              <a:lnSpc>
                <a:spcPct val="105000"/>
              </a:lnSpc>
              <a:spcBef>
                <a:spcPct val="15000"/>
              </a:spcBef>
              <a:buNone/>
            </a:pPr>
            <a:endParaRPr lang="en-US" altLang="zh-CN" sz="2000" dirty="0">
              <a:latin typeface="宋体" panose="02010600030101010101" pitchFamily="2" charset="-122"/>
              <a:ea typeface="宋体" panose="02010600030101010101" pitchFamily="2" charset="-122"/>
            </a:endParaRPr>
          </a:p>
          <a:p>
            <a:pPr marL="0" indent="0" eaLnBrk="1" hangingPunct="1">
              <a:lnSpc>
                <a:spcPct val="105000"/>
              </a:lnSpc>
              <a:spcBef>
                <a:spcPct val="15000"/>
              </a:spcBef>
              <a:buNone/>
            </a:pPr>
            <a:endParaRPr lang="en-US" altLang="zh-CN" sz="2000" dirty="0">
              <a:latin typeface="宋体" panose="02010600030101010101" pitchFamily="2" charset="-122"/>
              <a:ea typeface="宋体" panose="02010600030101010101" pitchFamily="2" charset="-122"/>
            </a:endParaRPr>
          </a:p>
          <a:p>
            <a:pPr marL="0" indent="0" eaLnBrk="1" hangingPunct="1">
              <a:lnSpc>
                <a:spcPct val="105000"/>
              </a:lnSpc>
              <a:spcBef>
                <a:spcPct val="15000"/>
              </a:spcBef>
              <a:buNone/>
            </a:pPr>
            <a:endParaRPr lang="en-US" altLang="zh-CN" sz="2000" dirty="0">
              <a:latin typeface="宋体" panose="02010600030101010101" pitchFamily="2" charset="-122"/>
              <a:ea typeface="宋体" panose="02010600030101010101" pitchFamily="2" charset="-122"/>
            </a:endParaRPr>
          </a:p>
          <a:p>
            <a:pPr marL="0" indent="0" eaLnBrk="1" hangingPunct="1">
              <a:lnSpc>
                <a:spcPct val="105000"/>
              </a:lnSpc>
              <a:spcBef>
                <a:spcPct val="15000"/>
              </a:spcBef>
              <a:buNone/>
            </a:pPr>
            <a:endParaRPr lang="en-US" altLang="zh-CN" sz="2000" dirty="0">
              <a:latin typeface="宋体" panose="02010600030101010101" pitchFamily="2" charset="-122"/>
              <a:ea typeface="宋体" panose="02010600030101010101" pitchFamily="2" charset="-122"/>
            </a:endParaRPr>
          </a:p>
          <a:p>
            <a:pPr marL="0" indent="0" eaLnBrk="1" hangingPunct="1">
              <a:lnSpc>
                <a:spcPct val="105000"/>
              </a:lnSpc>
              <a:spcBef>
                <a:spcPct val="15000"/>
              </a:spcBef>
              <a:buNone/>
            </a:pPr>
            <a:r>
              <a:rPr lang="en-US" altLang="zh-CN" sz="2000" dirty="0">
                <a:latin typeface="宋体" panose="02010600030101010101" pitchFamily="2" charset="-122"/>
                <a:ea typeface="宋体" panose="02010600030101010101" pitchFamily="2" charset="-122"/>
              </a:rPr>
              <a:t>POP   DX</a:t>
            </a:r>
            <a:endParaRPr lang="en-US" altLang="zh-CN" sz="2000" dirty="0">
              <a:latin typeface="宋体" panose="02010600030101010101" pitchFamily="2" charset="-122"/>
              <a:ea typeface="宋体" panose="02010600030101010101" pitchFamily="2" charset="-122"/>
            </a:endParaRPr>
          </a:p>
          <a:p>
            <a:pPr marL="0" indent="0" eaLnBrk="1" hangingPunct="1">
              <a:lnSpc>
                <a:spcPct val="105000"/>
              </a:lnSpc>
              <a:spcBef>
                <a:spcPct val="15000"/>
              </a:spcBef>
              <a:buNone/>
            </a:pPr>
            <a:r>
              <a:rPr lang="en-US" altLang="zh-CN" sz="2000" dirty="0">
                <a:latin typeface="宋体" panose="02010600030101010101" pitchFamily="2" charset="-122"/>
                <a:ea typeface="宋体" panose="02010600030101010101" pitchFamily="2" charset="-122"/>
              </a:rPr>
              <a:t>POP   AX</a:t>
            </a:r>
            <a:endParaRPr lang="en-US" altLang="zh-CN" sz="2000" dirty="0">
              <a:latin typeface="宋体" panose="02010600030101010101" pitchFamily="2" charset="-122"/>
              <a:ea typeface="宋体" panose="02010600030101010101" pitchFamily="2" charset="-122"/>
            </a:endParaRPr>
          </a:p>
        </p:txBody>
      </p:sp>
      <p:sp>
        <p:nvSpPr>
          <p:cNvPr id="26628" name="AutoShape 1029"/>
          <p:cNvSpPr/>
          <p:nvPr/>
        </p:nvSpPr>
        <p:spPr>
          <a:xfrm>
            <a:off x="2876550" y="5695950"/>
            <a:ext cx="152400" cy="609600"/>
          </a:xfrm>
          <a:prstGeom prst="rightBrace">
            <a:avLst>
              <a:gd name="adj1" fmla="val 33074"/>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6629" name="Line 1030"/>
          <p:cNvSpPr/>
          <p:nvPr/>
        </p:nvSpPr>
        <p:spPr>
          <a:xfrm flipH="1" flipV="1">
            <a:off x="3187700" y="5984875"/>
            <a:ext cx="792163" cy="285750"/>
          </a:xfrm>
          <a:prstGeom prst="line">
            <a:avLst/>
          </a:prstGeom>
          <a:ln w="25400" cap="sq" cmpd="sng">
            <a:solidFill>
              <a:srgbClr val="FF6600"/>
            </a:solidFill>
            <a:prstDash val="solid"/>
            <a:headEnd type="none" w="med" len="med"/>
            <a:tailEnd type="triangle" w="lg" len="lg"/>
          </a:ln>
        </p:spPr>
      </p:sp>
      <p:sp>
        <p:nvSpPr>
          <p:cNvPr id="26630" name="Text Box 1031"/>
          <p:cNvSpPr txBox="1"/>
          <p:nvPr/>
        </p:nvSpPr>
        <p:spPr>
          <a:xfrm>
            <a:off x="4006850" y="6072188"/>
            <a:ext cx="3932238"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如此，会使</a:t>
            </a:r>
            <a:r>
              <a:rPr lang="en-US" altLang="zh-CN" sz="2000" b="1" dirty="0">
                <a:latin typeface="Times New Roman" panose="02020603050405020304" pitchFamily="18" charset="0"/>
                <a:ea typeface="宋体" panose="02010600030101010101" pitchFamily="2" charset="-122"/>
              </a:rPr>
              <a:t>DX</a:t>
            </a:r>
            <a:r>
              <a:rPr lang="zh-CN" altLang="en-US" sz="2000" b="1" dirty="0">
                <a:latin typeface="Times New Roman" panose="02020603050405020304" pitchFamily="18" charset="0"/>
                <a:ea typeface="宋体" panose="02010600030101010101" pitchFamily="2" charset="-122"/>
              </a:rPr>
              <a:t>和</a:t>
            </a:r>
            <a:r>
              <a:rPr lang="en-US" altLang="zh-CN" sz="2000" b="1" dirty="0">
                <a:latin typeface="Times New Roman" panose="02020603050405020304" pitchFamily="18" charset="0"/>
                <a:ea typeface="宋体" panose="02010600030101010101" pitchFamily="2" charset="-122"/>
              </a:rPr>
              <a:t>AX</a:t>
            </a:r>
            <a:r>
              <a:rPr lang="zh-CN" altLang="en-US" sz="2000" b="1" dirty="0">
                <a:latin typeface="Times New Roman" panose="02020603050405020304" pitchFamily="18" charset="0"/>
                <a:ea typeface="宋体" panose="02010600030101010101" pitchFamily="2" charset="-122"/>
              </a:rPr>
              <a:t>的内容互换</a:t>
            </a:r>
            <a:endParaRPr lang="zh-CN" altLang="en-US" sz="2000" b="1" dirty="0">
              <a:latin typeface="Times New Roman" panose="02020603050405020304" pitchFamily="18" charset="0"/>
              <a:ea typeface="宋体" panose="02010600030101010101" pitchFamily="2" charset="-122"/>
            </a:endParaRPr>
          </a:p>
        </p:txBody>
      </p:sp>
      <p:cxnSp>
        <p:nvCxnSpPr>
          <p:cNvPr id="25607" name="直接连接符 2"/>
          <p:cNvCxnSpPr/>
          <p:nvPr/>
        </p:nvCxnSpPr>
        <p:spPr>
          <a:xfrm>
            <a:off x="2051050" y="4149725"/>
            <a:ext cx="0" cy="1295400"/>
          </a:xfrm>
          <a:prstGeom prst="line">
            <a:avLst/>
          </a:prstGeom>
          <a:ln w="38100" cap="flat" cmpd="sng">
            <a:solidFill>
              <a:schemeClr val="tx1"/>
            </a:solidFill>
            <a:prstDash val="sysDash"/>
            <a:headEnd type="none" w="med" len="med"/>
            <a:tailEnd type="none" w="med" len="med"/>
          </a:ln>
        </p:spPr>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627">
                                            <p:txEl>
                                              <p:charRg st="39" end="53"/>
                                            </p:txEl>
                                          </p:spTgt>
                                        </p:tgtEl>
                                        <p:attrNameLst>
                                          <p:attrName>style.visibility</p:attrName>
                                        </p:attrNameLst>
                                      </p:cBhvr>
                                      <p:to>
                                        <p:strVal val="visible"/>
                                      </p:to>
                                    </p:set>
                                    <p:animEffect transition="in" filter="wipe(left)">
                                      <p:cBhvr>
                                        <p:cTn id="7" dur="500"/>
                                        <p:tgtEl>
                                          <p:spTgt spid="26627">
                                            <p:txEl>
                                              <p:charRg st="39" end="5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627">
                                            <p:txEl>
                                              <p:charRg st="53" end="62"/>
                                            </p:txEl>
                                          </p:spTgt>
                                        </p:tgtEl>
                                        <p:attrNameLst>
                                          <p:attrName>style.visibility</p:attrName>
                                        </p:attrNameLst>
                                      </p:cBhvr>
                                      <p:to>
                                        <p:strVal val="visible"/>
                                      </p:to>
                                    </p:set>
                                    <p:animEffect transition="in" filter="wipe(left)">
                                      <p:cBhvr>
                                        <p:cTn id="12" dur="500"/>
                                        <p:tgtEl>
                                          <p:spTgt spid="26627">
                                            <p:txEl>
                                              <p:charRg st="53" end="6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6627">
                                            <p:txEl>
                                              <p:charRg st="62" end="71"/>
                                            </p:txEl>
                                          </p:spTgt>
                                        </p:tgtEl>
                                        <p:attrNameLst>
                                          <p:attrName>style.visibility</p:attrName>
                                        </p:attrNameLst>
                                      </p:cBhvr>
                                      <p:to>
                                        <p:strVal val="visible"/>
                                      </p:to>
                                    </p:set>
                                    <p:animEffect transition="in" filter="wipe(left)">
                                      <p:cBhvr>
                                        <p:cTn id="17" dur="500"/>
                                        <p:tgtEl>
                                          <p:spTgt spid="26627">
                                            <p:txEl>
                                              <p:charRg st="62" end="7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627">
                                            <p:txEl>
                                              <p:charRg st="75" end="84"/>
                                            </p:txEl>
                                          </p:spTgt>
                                        </p:tgtEl>
                                        <p:attrNameLst>
                                          <p:attrName>style.visibility</p:attrName>
                                        </p:attrNameLst>
                                      </p:cBhvr>
                                      <p:to>
                                        <p:strVal val="visible"/>
                                      </p:to>
                                    </p:set>
                                    <p:animEffect transition="in" filter="wipe(left)">
                                      <p:cBhvr>
                                        <p:cTn id="22" dur="500"/>
                                        <p:tgtEl>
                                          <p:spTgt spid="26627">
                                            <p:txEl>
                                              <p:charRg st="75" end="8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627">
                                            <p:txEl>
                                              <p:charRg st="84" end="93"/>
                                            </p:txEl>
                                          </p:spTgt>
                                        </p:tgtEl>
                                        <p:attrNameLst>
                                          <p:attrName>style.visibility</p:attrName>
                                        </p:attrNameLst>
                                      </p:cBhvr>
                                      <p:to>
                                        <p:strVal val="visible"/>
                                      </p:to>
                                    </p:set>
                                    <p:animEffect transition="in" filter="wipe(left)">
                                      <p:cBhvr>
                                        <p:cTn id="27" dur="500"/>
                                        <p:tgtEl>
                                          <p:spTgt spid="26627">
                                            <p:txEl>
                                              <p:charRg st="84" end="9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6628"/>
                                        </p:tgtEl>
                                        <p:attrNameLst>
                                          <p:attrName>style.visibility</p:attrName>
                                        </p:attrNameLst>
                                      </p:cBhvr>
                                      <p:to>
                                        <p:strVal val="visible"/>
                                      </p:to>
                                    </p:set>
                                    <p:animEffect transition="in" filter="wipe(up)">
                                      <p:cBhvr>
                                        <p:cTn id="32" dur="500"/>
                                        <p:tgtEl>
                                          <p:spTgt spid="26628"/>
                                        </p:tgtEl>
                                      </p:cBhvr>
                                    </p:animEffect>
                                  </p:childTnLst>
                                </p:cTn>
                              </p:par>
                            </p:childTnLst>
                          </p:cTn>
                        </p:par>
                        <p:par>
                          <p:cTn id="33" fill="hold">
                            <p:stCondLst>
                              <p:cond delay="500"/>
                            </p:stCondLst>
                            <p:childTnLst>
                              <p:par>
                                <p:cTn id="34" presetID="18" presetClass="entr" presetSubtype="9" fill="hold" nodeType="afterEffect">
                                  <p:stCondLst>
                                    <p:cond delay="0"/>
                                  </p:stCondLst>
                                  <p:childTnLst>
                                    <p:set>
                                      <p:cBhvr>
                                        <p:cTn id="35" dur="1" fill="hold">
                                          <p:stCondLst>
                                            <p:cond delay="0"/>
                                          </p:stCondLst>
                                        </p:cTn>
                                        <p:tgtEl>
                                          <p:spTgt spid="26629"/>
                                        </p:tgtEl>
                                        <p:attrNameLst>
                                          <p:attrName>style.visibility</p:attrName>
                                        </p:attrNameLst>
                                      </p:cBhvr>
                                      <p:to>
                                        <p:strVal val="visible"/>
                                      </p:to>
                                    </p:set>
                                    <p:animEffect transition="in" filter="strips(upLeft)">
                                      <p:cBhvr>
                                        <p:cTn id="36" dur="500"/>
                                        <p:tgtEl>
                                          <p:spTgt spid="26629"/>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26630"/>
                                        </p:tgtEl>
                                        <p:attrNameLst>
                                          <p:attrName>style.visibility</p:attrName>
                                        </p:attrNameLst>
                                      </p:cBhvr>
                                      <p:to>
                                        <p:strVal val="visible"/>
                                      </p:to>
                                    </p:set>
                                    <p:animEffect transition="in" filter="wipe(left)">
                                      <p:cBhvr>
                                        <p:cTn id="40" dur="500"/>
                                        <p:tgtEl>
                                          <p:spTgt spid="26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animBg="1"/>
      <p:bldP spid="2663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1026"/>
          <p:cNvSpPr>
            <a:spLocks noGrp="1"/>
          </p:cNvSpPr>
          <p:nvPr>
            <p:ph type="title" idx="4294967295"/>
          </p:nvPr>
        </p:nvSpPr>
        <p:spPr>
          <a:xfrm>
            <a:off x="644525" y="1052513"/>
            <a:ext cx="6553200" cy="563562"/>
          </a:xfrm>
        </p:spPr>
        <p:txBody>
          <a:bodyPr vert="horz" wrap="square" lIns="91440" tIns="45720" rIns="91440" bIns="45720" anchor="ctr" anchorCtr="0"/>
          <a:p>
            <a:pPr eaLnBrk="1" hangingPunct="1"/>
            <a:r>
              <a:rPr lang="zh-CN" altLang="en-US" dirty="0">
                <a:solidFill>
                  <a:srgbClr val="061E27"/>
                </a:solidFill>
                <a:latin typeface="宋体" panose="02010600030101010101" pitchFamily="2" charset="-122"/>
                <a:ea typeface="宋体" panose="02010600030101010101" pitchFamily="2" charset="-122"/>
              </a:rPr>
              <a:t>（</a:t>
            </a:r>
            <a:r>
              <a:rPr lang="en-US" altLang="zh-CN" dirty="0">
                <a:solidFill>
                  <a:srgbClr val="061E27"/>
                </a:solidFill>
                <a:latin typeface="宋体" panose="02010600030101010101" pitchFamily="2" charset="-122"/>
                <a:ea typeface="宋体" panose="02010600030101010101" pitchFamily="2" charset="-122"/>
              </a:rPr>
              <a:t>3</a:t>
            </a:r>
            <a:r>
              <a:rPr lang="zh-CN" altLang="en-US" dirty="0">
                <a:solidFill>
                  <a:srgbClr val="061E27"/>
                </a:solidFill>
                <a:latin typeface="宋体" panose="02010600030101010101" pitchFamily="2" charset="-122"/>
                <a:ea typeface="宋体" panose="02010600030101010101" pitchFamily="2" charset="-122"/>
              </a:rPr>
              <a:t>）交换指令</a:t>
            </a:r>
            <a:endParaRPr lang="zh-CN" altLang="en-US" dirty="0">
              <a:solidFill>
                <a:srgbClr val="061E27"/>
              </a:solidFill>
              <a:latin typeface="宋体" panose="02010600030101010101" pitchFamily="2" charset="-122"/>
              <a:ea typeface="宋体" panose="02010600030101010101" pitchFamily="2" charset="-122"/>
            </a:endParaRPr>
          </a:p>
        </p:txBody>
      </p:sp>
      <p:sp>
        <p:nvSpPr>
          <p:cNvPr id="27651" name="Rectangle 1027"/>
          <p:cNvSpPr>
            <a:spLocks noGrp="1"/>
          </p:cNvSpPr>
          <p:nvPr>
            <p:ph type="body" idx="4294967295"/>
          </p:nvPr>
        </p:nvSpPr>
        <p:spPr>
          <a:xfrm>
            <a:off x="806450" y="1844675"/>
            <a:ext cx="6408738" cy="4392613"/>
          </a:xfrm>
        </p:spPr>
        <p:txBody>
          <a:bodyPr vert="horz" wrap="square" lIns="91440" tIns="45720" rIns="91440" bIns="45720" anchor="t" anchorCtr="0"/>
          <a:p>
            <a:pPr algn="just" eaLnBrk="1" hangingPunct="1">
              <a:lnSpc>
                <a:spcPct val="9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格式：</a:t>
            </a:r>
            <a:endParaRPr lang="zh-CN" altLang="en-US" dirty="0">
              <a:latin typeface="宋体" panose="02010600030101010101" pitchFamily="2" charset="-122"/>
              <a:ea typeface="宋体" panose="02010600030101010101" pitchFamily="2" charset="-122"/>
            </a:endParaRPr>
          </a:p>
          <a:p>
            <a:pPr algn="just" eaLnBrk="1" hangingPunct="1">
              <a:lnSpc>
                <a:spcPct val="90000"/>
              </a:lnSpc>
              <a:spcBef>
                <a:spcPct val="30000"/>
              </a:spcBef>
              <a:spcAft>
                <a:spcPct val="30000"/>
              </a:spcAft>
              <a:buNone/>
            </a:pPr>
            <a:r>
              <a:rPr lang="en-US" altLang="zh-CN" dirty="0">
                <a:latin typeface="宋体" panose="02010600030101010101" pitchFamily="2" charset="-122"/>
                <a:ea typeface="宋体" panose="02010600030101010101" pitchFamily="2" charset="-122"/>
              </a:rPr>
              <a:t>  XCHG  MEM/REG，MEM/REG</a:t>
            </a:r>
            <a:endParaRPr lang="en-US" altLang="zh-CN" dirty="0">
              <a:latin typeface="宋体" panose="02010600030101010101" pitchFamily="2" charset="-122"/>
              <a:ea typeface="宋体" panose="02010600030101010101" pitchFamily="2" charset="-122"/>
            </a:endParaRPr>
          </a:p>
          <a:p>
            <a:pPr algn="just" eaLnBrk="1" hangingPunct="1">
              <a:lnSpc>
                <a:spcPct val="9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注：</a:t>
            </a:r>
            <a:endParaRPr lang="zh-CN" altLang="en-US" dirty="0">
              <a:latin typeface="宋体" panose="02010600030101010101" pitchFamily="2" charset="-122"/>
              <a:ea typeface="宋体" panose="02010600030101010101" pitchFamily="2" charset="-122"/>
            </a:endParaRPr>
          </a:p>
          <a:p>
            <a:pPr lvl="1" algn="just" eaLnBrk="1" hangingPunct="1">
              <a:lnSpc>
                <a:spcPct val="90000"/>
              </a:lnSpc>
              <a:buFont typeface="Wingdings" panose="05000000000000000000" pitchFamily="2" charset="2"/>
              <a:buChar char="l"/>
            </a:pPr>
            <a:r>
              <a:rPr lang="zh-CN" altLang="en-US" dirty="0">
                <a:solidFill>
                  <a:srgbClr val="FF0000"/>
                </a:solidFill>
                <a:latin typeface="宋体" panose="02010600030101010101" pitchFamily="2" charset="-122"/>
                <a:ea typeface="宋体" panose="02010600030101010101" pitchFamily="2" charset="-122"/>
              </a:rPr>
              <a:t>两操作数必须有一个是</a:t>
            </a:r>
            <a:r>
              <a:rPr lang="zh-CN" altLang="en-US" dirty="0">
                <a:latin typeface="宋体" panose="02010600030101010101" pitchFamily="2" charset="-122"/>
                <a:ea typeface="宋体" panose="02010600030101010101" pitchFamily="2" charset="-122"/>
              </a:rPr>
              <a:t>寄存器操作数</a:t>
            </a:r>
            <a:endParaRPr lang="zh-CN" altLang="en-US" dirty="0">
              <a:latin typeface="宋体" panose="02010600030101010101" pitchFamily="2" charset="-122"/>
              <a:ea typeface="宋体" panose="02010600030101010101" pitchFamily="2" charset="-122"/>
            </a:endParaRPr>
          </a:p>
          <a:p>
            <a:pPr lvl="1" algn="just" eaLnBrk="1" hangingPunct="1">
              <a:lnSpc>
                <a:spcPct val="90000"/>
              </a:lnSpc>
              <a:buFont typeface="Wingdings" panose="05000000000000000000" pitchFamily="2" charset="2"/>
              <a:buChar char="l"/>
            </a:pPr>
            <a:r>
              <a:rPr lang="zh-CN" altLang="en-US" dirty="0">
                <a:solidFill>
                  <a:srgbClr val="FF0000"/>
                </a:solidFill>
                <a:latin typeface="宋体" panose="02010600030101010101" pitchFamily="2" charset="-122"/>
                <a:ea typeface="宋体" panose="02010600030101010101" pitchFamily="2" charset="-122"/>
              </a:rPr>
              <a:t>不允许使用段寄存器</a:t>
            </a:r>
            <a:endParaRPr lang="en-US" altLang="zh-CN" dirty="0">
              <a:solidFill>
                <a:srgbClr val="FF0000"/>
              </a:solidFill>
              <a:latin typeface="宋体" panose="02010600030101010101" pitchFamily="2" charset="-122"/>
              <a:ea typeface="宋体" panose="02010600030101010101" pitchFamily="2" charset="-122"/>
            </a:endParaRPr>
          </a:p>
          <a:p>
            <a:pPr lvl="1" algn="just" eaLnBrk="1" hangingPunct="1">
              <a:lnSpc>
                <a:spcPct val="90000"/>
              </a:lnSpc>
              <a:buFont typeface="Wingdings" panose="05000000000000000000" pitchFamily="2" charset="2"/>
              <a:buChar char="l"/>
            </a:pPr>
            <a:r>
              <a:rPr lang="zh-CN" altLang="en-US" dirty="0">
                <a:solidFill>
                  <a:srgbClr val="FF0000"/>
                </a:solidFill>
                <a:latin typeface="宋体" panose="02010600030101010101" pitchFamily="2" charset="-122"/>
                <a:ea typeface="宋体" panose="02010600030101010101" pitchFamily="2" charset="-122"/>
              </a:rPr>
              <a:t>两个操作数字长要一致</a:t>
            </a:r>
            <a:r>
              <a:rPr lang="zh-CN" altLang="en-US" dirty="0">
                <a:solidFill>
                  <a:srgbClr val="FFFF00"/>
                </a:solidFill>
                <a:latin typeface="宋体" panose="02010600030101010101" pitchFamily="2" charset="-122"/>
                <a:ea typeface="宋体" panose="02010600030101010101" pitchFamily="2" charset="-122"/>
              </a:rPr>
              <a:t>。</a:t>
            </a:r>
            <a:endParaRPr lang="zh-CN" altLang="en-US" dirty="0">
              <a:solidFill>
                <a:srgbClr val="FFFF00"/>
              </a:solidFill>
              <a:latin typeface="宋体" panose="02010600030101010101" pitchFamily="2" charset="-122"/>
              <a:ea typeface="宋体" panose="02010600030101010101" pitchFamily="2" charset="-122"/>
            </a:endParaRPr>
          </a:p>
          <a:p>
            <a:pPr algn="just" eaLnBrk="1" hangingPunct="1">
              <a:lnSpc>
                <a:spcPct val="90000"/>
              </a:lnSpc>
              <a:spcBef>
                <a:spcPct val="50000"/>
              </a:spcBef>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例：  </a:t>
            </a:r>
            <a:endParaRPr lang="zh-CN" altLang="en-US" dirty="0">
              <a:latin typeface="宋体" panose="02010600030101010101" pitchFamily="2" charset="-122"/>
              <a:ea typeface="宋体" panose="02010600030101010101" pitchFamily="2" charset="-122"/>
            </a:endParaRPr>
          </a:p>
          <a:p>
            <a:pPr lvl="1" algn="just" eaLnBrk="1" hangingPunct="1">
              <a:lnSpc>
                <a:spcPct val="90000"/>
              </a:lnSpc>
              <a:spcBef>
                <a:spcPct val="30000"/>
              </a:spcBef>
              <a:buNone/>
            </a:pPr>
            <a:r>
              <a:rPr lang="en-US" altLang="zh-CN" dirty="0">
                <a:latin typeface="宋体" panose="02010600030101010101" pitchFamily="2" charset="-122"/>
                <a:ea typeface="宋体" panose="02010600030101010101" pitchFamily="2" charset="-122"/>
              </a:rPr>
              <a:t>XCHG	AX，BX</a:t>
            </a:r>
            <a:endParaRPr lang="en-US" altLang="zh-CN" dirty="0">
              <a:latin typeface="宋体" panose="02010600030101010101" pitchFamily="2" charset="-122"/>
              <a:ea typeface="宋体" panose="02010600030101010101" pitchFamily="2" charset="-122"/>
            </a:endParaRPr>
          </a:p>
          <a:p>
            <a:pPr lvl="1" algn="just" eaLnBrk="1" hangingPunct="1">
              <a:lnSpc>
                <a:spcPct val="90000"/>
              </a:lnSpc>
              <a:spcBef>
                <a:spcPct val="30000"/>
              </a:spcBef>
              <a:buNone/>
            </a:pPr>
            <a:r>
              <a:rPr lang="en-US" altLang="zh-CN" dirty="0">
                <a:latin typeface="宋体" panose="02010600030101010101" pitchFamily="2" charset="-122"/>
                <a:ea typeface="宋体" panose="02010600030101010101" pitchFamily="2" charset="-122"/>
              </a:rPr>
              <a:t>XCHG	[2000H]，CL</a:t>
            </a:r>
            <a:endParaRPr lang="zh-CN" altLang="en-US"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651">
                                            <p:txEl>
                                              <p:charRg st="0" end="4"/>
                                            </p:txEl>
                                          </p:spTgt>
                                        </p:tgtEl>
                                        <p:attrNameLst>
                                          <p:attrName>style.visibility</p:attrName>
                                        </p:attrNameLst>
                                      </p:cBhvr>
                                      <p:to>
                                        <p:strVal val="visible"/>
                                      </p:to>
                                    </p:set>
                                    <p:animEffect transition="in" filter="wipe(left)">
                                      <p:cBhvr>
                                        <p:cTn id="7" dur="500"/>
                                        <p:tgtEl>
                                          <p:spTgt spid="27651">
                                            <p:txEl>
                                              <p:charRg st="0"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51">
                                            <p:txEl>
                                              <p:charRg st="4" end="28"/>
                                            </p:txEl>
                                          </p:spTgt>
                                        </p:tgtEl>
                                        <p:attrNameLst>
                                          <p:attrName>style.visibility</p:attrName>
                                        </p:attrNameLst>
                                      </p:cBhvr>
                                      <p:to>
                                        <p:strVal val="visible"/>
                                      </p:to>
                                    </p:set>
                                    <p:animEffect transition="in" filter="wipe(left)">
                                      <p:cBhvr>
                                        <p:cTn id="12" dur="500"/>
                                        <p:tgtEl>
                                          <p:spTgt spid="27651">
                                            <p:txEl>
                                              <p:charRg st="4" end="2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651">
                                            <p:txEl>
                                              <p:charRg st="28" end="31"/>
                                            </p:txEl>
                                          </p:spTgt>
                                        </p:tgtEl>
                                        <p:attrNameLst>
                                          <p:attrName>style.visibility</p:attrName>
                                        </p:attrNameLst>
                                      </p:cBhvr>
                                      <p:to>
                                        <p:strVal val="visible"/>
                                      </p:to>
                                    </p:set>
                                    <p:animEffect transition="in" filter="wipe(left)">
                                      <p:cBhvr>
                                        <p:cTn id="17" dur="500"/>
                                        <p:tgtEl>
                                          <p:spTgt spid="27651">
                                            <p:txEl>
                                              <p:charRg st="28" end="31"/>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7651">
                                            <p:txEl>
                                              <p:charRg st="31" end="48"/>
                                            </p:txEl>
                                          </p:spTgt>
                                        </p:tgtEl>
                                        <p:attrNameLst>
                                          <p:attrName>style.visibility</p:attrName>
                                        </p:attrNameLst>
                                      </p:cBhvr>
                                      <p:to>
                                        <p:strVal val="visible"/>
                                      </p:to>
                                    </p:set>
                                    <p:animEffect transition="in" filter="wipe(left)">
                                      <p:cBhvr>
                                        <p:cTn id="20" dur="500"/>
                                        <p:tgtEl>
                                          <p:spTgt spid="27651">
                                            <p:txEl>
                                              <p:charRg st="31" end="48"/>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7651">
                                            <p:txEl>
                                              <p:charRg st="48" end="58"/>
                                            </p:txEl>
                                          </p:spTgt>
                                        </p:tgtEl>
                                        <p:attrNameLst>
                                          <p:attrName>style.visibility</p:attrName>
                                        </p:attrNameLst>
                                      </p:cBhvr>
                                      <p:to>
                                        <p:strVal val="visible"/>
                                      </p:to>
                                    </p:set>
                                    <p:animEffect transition="in" filter="wipe(left)">
                                      <p:cBhvr>
                                        <p:cTn id="23" dur="500"/>
                                        <p:tgtEl>
                                          <p:spTgt spid="27651">
                                            <p:txEl>
                                              <p:charRg st="48" end="58"/>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7651">
                                            <p:txEl>
                                              <p:charRg st="58" end="70"/>
                                            </p:txEl>
                                          </p:spTgt>
                                        </p:tgtEl>
                                        <p:attrNameLst>
                                          <p:attrName>style.visibility</p:attrName>
                                        </p:attrNameLst>
                                      </p:cBhvr>
                                      <p:to>
                                        <p:strVal val="visible"/>
                                      </p:to>
                                    </p:set>
                                    <p:animEffect transition="in" filter="wipe(left)">
                                      <p:cBhvr>
                                        <p:cTn id="26" dur="500"/>
                                        <p:tgtEl>
                                          <p:spTgt spid="27651">
                                            <p:txEl>
                                              <p:charRg st="58" end="7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7651">
                                            <p:txEl>
                                              <p:charRg st="70" end="75"/>
                                            </p:txEl>
                                          </p:spTgt>
                                        </p:tgtEl>
                                        <p:attrNameLst>
                                          <p:attrName>style.visibility</p:attrName>
                                        </p:attrNameLst>
                                      </p:cBhvr>
                                      <p:to>
                                        <p:strVal val="visible"/>
                                      </p:to>
                                    </p:set>
                                    <p:animEffect transition="in" filter="wipe(left)">
                                      <p:cBhvr>
                                        <p:cTn id="31" dur="500"/>
                                        <p:tgtEl>
                                          <p:spTgt spid="27651">
                                            <p:txEl>
                                              <p:charRg st="70" end="75"/>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7651">
                                            <p:txEl>
                                              <p:charRg st="75" end="86"/>
                                            </p:txEl>
                                          </p:spTgt>
                                        </p:tgtEl>
                                        <p:attrNameLst>
                                          <p:attrName>style.visibility</p:attrName>
                                        </p:attrNameLst>
                                      </p:cBhvr>
                                      <p:to>
                                        <p:strVal val="visible"/>
                                      </p:to>
                                    </p:set>
                                    <p:animEffect transition="in" filter="wipe(left)">
                                      <p:cBhvr>
                                        <p:cTn id="34" dur="500"/>
                                        <p:tgtEl>
                                          <p:spTgt spid="27651">
                                            <p:txEl>
                                              <p:charRg st="75" end="86"/>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27651">
                                            <p:txEl>
                                              <p:charRg st="86" end="102"/>
                                            </p:txEl>
                                          </p:spTgt>
                                        </p:tgtEl>
                                        <p:attrNameLst>
                                          <p:attrName>style.visibility</p:attrName>
                                        </p:attrNameLst>
                                      </p:cBhvr>
                                      <p:to>
                                        <p:strVal val="visible"/>
                                      </p:to>
                                    </p:set>
                                    <p:animEffect transition="in" filter="wipe(left)">
                                      <p:cBhvr>
                                        <p:cTn id="37" dur="500"/>
                                        <p:tgtEl>
                                          <p:spTgt spid="27651">
                                            <p:txEl>
                                              <p:charRg st="86" end="10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idx="4294967295"/>
          </p:nvPr>
        </p:nvSpPr>
        <p:spPr>
          <a:xfrm>
            <a:off x="755650" y="871538"/>
            <a:ext cx="6553200" cy="563562"/>
          </a:xfrm>
        </p:spPr>
        <p:txBody>
          <a:bodyPr vert="horz" wrap="square" lIns="91440" tIns="45720" rIns="91440" bIns="45720" anchor="ctr" anchorCtr="0"/>
          <a:p>
            <a:pPr eaLnBrk="1" hangingPunct="1"/>
            <a:r>
              <a:rPr lang="zh-CN" altLang="en-US" dirty="0">
                <a:solidFill>
                  <a:srgbClr val="061E27"/>
                </a:solidFill>
                <a:latin typeface="宋体" panose="02010600030101010101" pitchFamily="2" charset="-122"/>
                <a:ea typeface="宋体" panose="02010600030101010101" pitchFamily="2" charset="-122"/>
              </a:rPr>
              <a:t>（</a:t>
            </a:r>
            <a:r>
              <a:rPr lang="en-US" altLang="zh-CN" dirty="0">
                <a:solidFill>
                  <a:srgbClr val="061E27"/>
                </a:solidFill>
                <a:latin typeface="宋体" panose="02010600030101010101" pitchFamily="2" charset="-122"/>
                <a:ea typeface="宋体" panose="02010600030101010101" pitchFamily="2" charset="-122"/>
              </a:rPr>
              <a:t>4</a:t>
            </a:r>
            <a:r>
              <a:rPr lang="zh-CN" altLang="en-US" dirty="0">
                <a:solidFill>
                  <a:srgbClr val="061E27"/>
                </a:solidFill>
                <a:latin typeface="宋体" panose="02010600030101010101" pitchFamily="2" charset="-122"/>
                <a:ea typeface="宋体" panose="02010600030101010101" pitchFamily="2" charset="-122"/>
              </a:rPr>
              <a:t>）查表指令</a:t>
            </a:r>
            <a:endParaRPr lang="zh-CN" altLang="en-US" dirty="0">
              <a:solidFill>
                <a:srgbClr val="061E27"/>
              </a:solidFill>
              <a:latin typeface="宋体" panose="02010600030101010101" pitchFamily="2" charset="-122"/>
              <a:ea typeface="宋体" panose="02010600030101010101" pitchFamily="2" charset="-122"/>
            </a:endParaRPr>
          </a:p>
        </p:txBody>
      </p:sp>
      <p:sp>
        <p:nvSpPr>
          <p:cNvPr id="28675" name="Rectangle 3"/>
          <p:cNvSpPr>
            <a:spLocks noGrp="1"/>
          </p:cNvSpPr>
          <p:nvPr>
            <p:ph type="body" idx="4294967295"/>
          </p:nvPr>
        </p:nvSpPr>
        <p:spPr>
          <a:xfrm>
            <a:off x="612775" y="1412875"/>
            <a:ext cx="8061325" cy="5629275"/>
          </a:xfrm>
        </p:spPr>
        <p:txBody>
          <a:bodyPr vert="horz" wrap="square" lIns="91440" tIns="45720" rIns="91440" bIns="45720" anchor="t" anchorCtr="0"/>
          <a:p>
            <a:pPr eaLnBrk="1" hangingPunct="1">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格式：</a:t>
            </a:r>
            <a:endParaRPr lang="zh-CN" altLang="en-US" sz="2400" dirty="0">
              <a:latin typeface="宋体" panose="02010600030101010101" pitchFamily="2" charset="-122"/>
              <a:ea typeface="宋体" panose="02010600030101010101" pitchFamily="2" charset="-122"/>
            </a:endParaRPr>
          </a:p>
          <a:p>
            <a:pPr eaLnBrk="1" hangingPunct="1">
              <a:spcBef>
                <a:spcPct val="30000"/>
              </a:spcBef>
              <a:spcAft>
                <a:spcPct val="40000"/>
              </a:spcAft>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XLAT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AL</a:t>
            </a: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BX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AL</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eaLnBrk="1" hangingPunct="1">
              <a:spcBef>
                <a:spcPct val="30000"/>
              </a:spcBef>
              <a:spcAft>
                <a:spcPct val="40000"/>
              </a:spcAft>
              <a:buNone/>
            </a:pPr>
            <a:r>
              <a:rPr lang="zh-CN" altLang="en-US" sz="2400" dirty="0">
                <a:latin typeface="宋体" panose="02010600030101010101" pitchFamily="2" charset="-122"/>
                <a:ea typeface="宋体" panose="02010600030101010101" pitchFamily="2" charset="-122"/>
              </a:rPr>
              <a:t>        或：</a:t>
            </a:r>
            <a:r>
              <a:rPr lang="en-US" altLang="zh-CN" sz="2400" dirty="0">
                <a:latin typeface="宋体" panose="02010600030101010101" pitchFamily="2" charset="-122"/>
                <a:ea typeface="宋体" panose="02010600030101010101" pitchFamily="2" charset="-122"/>
              </a:rPr>
              <a:t>XLAT src_table </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eaLnBrk="1" hangingPunct="1">
              <a:spcBef>
                <a:spcPct val="30000"/>
              </a:spcBef>
              <a:spcAft>
                <a:spcPct val="40000"/>
              </a:spcAft>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src_table</a:t>
            </a:r>
            <a:r>
              <a:rPr lang="zh-CN" altLang="en-US" sz="2400" dirty="0">
                <a:latin typeface="宋体" panose="02010600030101010101" pitchFamily="2" charset="-122"/>
                <a:ea typeface="宋体" panose="02010600030101010101" pitchFamily="2" charset="-122"/>
              </a:rPr>
              <a:t>表示要查找的表的首地址）</a:t>
            </a:r>
            <a:endParaRPr lang="en-US" altLang="zh-CN" sz="2400"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说明：</a:t>
            </a:r>
            <a:endParaRPr lang="zh-CN" altLang="en-US" sz="2400" dirty="0">
              <a:latin typeface="宋体" panose="02010600030101010101" pitchFamily="2" charset="-122"/>
              <a:ea typeface="宋体" panose="02010600030101010101" pitchFamily="2" charset="-122"/>
            </a:endParaRPr>
          </a:p>
          <a:p>
            <a:pPr lvl="1" eaLnBrk="1" hangingPunct="1">
              <a:buFont typeface="Wingdings" panose="05000000000000000000" pitchFamily="2" charset="2"/>
              <a:buChar char="l"/>
            </a:pPr>
            <a:r>
              <a:rPr lang="zh-CN" altLang="en-US" b="0" dirty="0">
                <a:latin typeface="宋体" panose="02010600030101010101" pitchFamily="2" charset="-122"/>
                <a:ea typeface="宋体" panose="02010600030101010101" pitchFamily="2" charset="-122"/>
              </a:rPr>
              <a:t>用</a:t>
            </a:r>
            <a:r>
              <a:rPr lang="en-US" altLang="zh-CN" b="0" dirty="0">
                <a:latin typeface="宋体" panose="02010600030101010101" pitchFamily="2" charset="-122"/>
                <a:ea typeface="宋体" panose="02010600030101010101" pitchFamily="2" charset="-122"/>
              </a:rPr>
              <a:t>BX</a:t>
            </a:r>
            <a:r>
              <a:rPr lang="zh-CN" altLang="en-US" b="0" dirty="0">
                <a:latin typeface="宋体" panose="02010600030101010101" pitchFamily="2" charset="-122"/>
                <a:ea typeface="宋体" panose="02010600030101010101" pitchFamily="2" charset="-122"/>
              </a:rPr>
              <a:t>的内容代表表格首地址，</a:t>
            </a:r>
            <a:r>
              <a:rPr lang="en-US" altLang="zh-CN" b="0" dirty="0">
                <a:latin typeface="宋体" panose="02010600030101010101" pitchFamily="2" charset="-122"/>
                <a:ea typeface="宋体" panose="02010600030101010101" pitchFamily="2" charset="-122"/>
              </a:rPr>
              <a:t>AL</a:t>
            </a:r>
            <a:r>
              <a:rPr lang="zh-CN" altLang="en-US" b="0" dirty="0">
                <a:latin typeface="宋体" panose="02010600030101010101" pitchFamily="2" charset="-122"/>
                <a:ea typeface="宋体" panose="02010600030101010101" pitchFamily="2" charset="-122"/>
              </a:rPr>
              <a:t>内容为表内位移量，</a:t>
            </a:r>
            <a:r>
              <a:rPr lang="en-US" altLang="zh-CN" b="0" dirty="0">
                <a:latin typeface="宋体" panose="02010600030101010101" pitchFamily="2" charset="-122"/>
                <a:ea typeface="宋体" panose="02010600030101010101" pitchFamily="2" charset="-122"/>
              </a:rPr>
              <a:t>BX+AL</a:t>
            </a:r>
            <a:r>
              <a:rPr lang="zh-CN" altLang="en-US" b="0" dirty="0">
                <a:latin typeface="宋体" panose="02010600030101010101" pitchFamily="2" charset="-122"/>
                <a:ea typeface="宋体" panose="02010600030101010101" pitchFamily="2" charset="-122"/>
              </a:rPr>
              <a:t>得到要查找元素的偏移地址</a:t>
            </a:r>
            <a:endParaRPr lang="en-US" altLang="zh-CN" b="0" dirty="0">
              <a:latin typeface="宋体" panose="02010600030101010101" pitchFamily="2" charset="-122"/>
              <a:ea typeface="宋体" panose="02010600030101010101" pitchFamily="2" charset="-122"/>
            </a:endParaRPr>
          </a:p>
          <a:p>
            <a:pPr lvl="1" eaLnBrk="1" hangingPunct="1">
              <a:buFont typeface="Wingdings" panose="05000000000000000000" pitchFamily="2" charset="2"/>
              <a:buChar char="l"/>
            </a:pPr>
            <a:r>
              <a:rPr lang="zh-CN" altLang="en-US" b="0" dirty="0">
                <a:latin typeface="宋体" panose="02010600030101010101" pitchFamily="2" charset="-122"/>
                <a:ea typeface="宋体" panose="02010600030101010101" pitchFamily="2" charset="-122"/>
              </a:rPr>
              <a:t>表格长度最大不能超过</a:t>
            </a:r>
            <a:r>
              <a:rPr lang="en-US" altLang="zh-CN" b="0" dirty="0">
                <a:latin typeface="宋体" panose="02010600030101010101" pitchFamily="2" charset="-122"/>
                <a:ea typeface="宋体" panose="02010600030101010101" pitchFamily="2" charset="-122"/>
              </a:rPr>
              <a:t>256</a:t>
            </a:r>
            <a:r>
              <a:rPr lang="zh-CN" altLang="en-US" b="0" dirty="0">
                <a:latin typeface="宋体" panose="02010600030101010101" pitchFamily="2" charset="-122"/>
                <a:ea typeface="宋体" panose="02010600030101010101" pitchFamily="2" charset="-122"/>
              </a:rPr>
              <a:t>个字节</a:t>
            </a:r>
            <a:endParaRPr lang="zh-CN" altLang="en-US" b="0" dirty="0">
              <a:latin typeface="宋体" panose="02010600030101010101" pitchFamily="2" charset="-122"/>
              <a:ea typeface="宋体" panose="02010600030101010101" pitchFamily="2" charset="-122"/>
            </a:endParaRPr>
          </a:p>
          <a:p>
            <a:pPr eaLnBrk="1" hangingPunct="1">
              <a:spcBef>
                <a:spcPct val="40000"/>
              </a:spcBef>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操作：</a:t>
            </a:r>
            <a:endParaRPr lang="zh-CN" altLang="en-US" sz="2400" dirty="0">
              <a:latin typeface="宋体" panose="02010600030101010101" pitchFamily="2" charset="-122"/>
              <a:ea typeface="宋体" panose="02010600030101010101" pitchFamily="2" charset="-122"/>
            </a:endParaRPr>
          </a:p>
          <a:p>
            <a:pPr lvl="1" eaLnBrk="1" hangingPunct="1">
              <a:spcBef>
                <a:spcPct val="40000"/>
              </a:spcBef>
              <a:buNone/>
            </a:pPr>
            <a:r>
              <a:rPr lang="zh-CN" altLang="en-US" b="0" dirty="0">
                <a:latin typeface="宋体" panose="02010600030101010101" pitchFamily="2" charset="-122"/>
                <a:ea typeface="宋体" panose="02010600030101010101" pitchFamily="2" charset="-122"/>
              </a:rPr>
              <a:t>将</a:t>
            </a:r>
            <a:r>
              <a:rPr lang="en-US" altLang="zh-CN" b="0" dirty="0">
                <a:latin typeface="宋体" panose="02010600030101010101" pitchFamily="2" charset="-122"/>
                <a:ea typeface="宋体" panose="02010600030101010101" pitchFamily="2" charset="-122"/>
              </a:rPr>
              <a:t>BX+AL</a:t>
            </a:r>
            <a:r>
              <a:rPr lang="zh-CN" altLang="en-US" b="0" dirty="0">
                <a:latin typeface="宋体" panose="02010600030101010101" pitchFamily="2" charset="-122"/>
                <a:ea typeface="宋体" panose="02010600030101010101" pitchFamily="2" charset="-122"/>
              </a:rPr>
              <a:t>所指单元的内容送</a:t>
            </a:r>
            <a:r>
              <a:rPr lang="en-US" altLang="zh-CN" b="0" dirty="0">
                <a:latin typeface="宋体" panose="02010600030101010101" pitchFamily="2" charset="-122"/>
                <a:ea typeface="宋体" panose="02010600030101010101" pitchFamily="2" charset="-122"/>
              </a:rPr>
              <a:t>AL</a:t>
            </a:r>
            <a:endParaRPr lang="zh-CN" altLang="en-US" b="0" dirty="0">
              <a:latin typeface="宋体" panose="02010600030101010101" pitchFamily="2" charset="-122"/>
              <a:ea typeface="宋体" panose="02010600030101010101" pitchFamily="2" charset="-122"/>
            </a:endParaRPr>
          </a:p>
        </p:txBody>
      </p:sp>
      <p:cxnSp>
        <p:nvCxnSpPr>
          <p:cNvPr id="27652" name="直接箭头连接符 4"/>
          <p:cNvCxnSpPr/>
          <p:nvPr/>
        </p:nvCxnSpPr>
        <p:spPr>
          <a:xfrm flipH="1">
            <a:off x="3830638" y="2133600"/>
            <a:ext cx="287337" cy="0"/>
          </a:xfrm>
          <a:prstGeom prst="straightConnector1">
            <a:avLst/>
          </a:prstGeom>
          <a:ln w="9525" cap="flat" cmpd="sng">
            <a:solidFill>
              <a:schemeClr val="tx1"/>
            </a:solidFill>
            <a:prstDash val="solid"/>
            <a:headEnd type="none" w="med" len="med"/>
            <a:tailEnd type="triangle" w="med" len="med"/>
          </a:ln>
        </p:spPr>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8675">
                                            <p:txEl>
                                              <p:charRg st="0" end="4"/>
                                            </p:txEl>
                                          </p:spTgt>
                                        </p:tgtEl>
                                        <p:attrNameLst>
                                          <p:attrName>style.visibility</p:attrName>
                                        </p:attrNameLst>
                                      </p:cBhvr>
                                      <p:to>
                                        <p:strVal val="visible"/>
                                      </p:to>
                                    </p:set>
                                    <p:animEffect transition="in" filter="wipe(left)">
                                      <p:cBhvr>
                                        <p:cTn id="7" dur="500"/>
                                        <p:tgtEl>
                                          <p:spTgt spid="28675">
                                            <p:txEl>
                                              <p:charRg st="0" end="4"/>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8675">
                                            <p:txEl>
                                              <p:charRg st="4" end="36"/>
                                            </p:txEl>
                                          </p:spTgt>
                                        </p:tgtEl>
                                        <p:attrNameLst>
                                          <p:attrName>style.visibility</p:attrName>
                                        </p:attrNameLst>
                                      </p:cBhvr>
                                      <p:to>
                                        <p:strVal val="visible"/>
                                      </p:to>
                                    </p:set>
                                    <p:animEffect transition="in" filter="wipe(left)">
                                      <p:cBhvr>
                                        <p:cTn id="11" dur="500"/>
                                        <p:tgtEl>
                                          <p:spTgt spid="28675">
                                            <p:txEl>
                                              <p:charRg st="4" end="36"/>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8675">
                                            <p:txEl>
                                              <p:charRg st="36" end="63"/>
                                            </p:txEl>
                                          </p:spTgt>
                                        </p:tgtEl>
                                        <p:attrNameLst>
                                          <p:attrName>style.visibility</p:attrName>
                                        </p:attrNameLst>
                                      </p:cBhvr>
                                      <p:to>
                                        <p:strVal val="visible"/>
                                      </p:to>
                                    </p:set>
                                    <p:animEffect transition="in" filter="wipe(left)">
                                      <p:cBhvr>
                                        <p:cTn id="16" dur="500"/>
                                        <p:tgtEl>
                                          <p:spTgt spid="28675">
                                            <p:txEl>
                                              <p:charRg st="36" end="6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8675">
                                            <p:txEl>
                                              <p:charRg st="63" end="97"/>
                                            </p:txEl>
                                          </p:spTgt>
                                        </p:tgtEl>
                                        <p:attrNameLst>
                                          <p:attrName>style.visibility</p:attrName>
                                        </p:attrNameLst>
                                      </p:cBhvr>
                                      <p:to>
                                        <p:strVal val="visible"/>
                                      </p:to>
                                    </p:set>
                                    <p:animEffect transition="in" filter="wipe(left)">
                                      <p:cBhvr>
                                        <p:cTn id="21" dur="500"/>
                                        <p:tgtEl>
                                          <p:spTgt spid="28675">
                                            <p:txEl>
                                              <p:charRg st="63" end="9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8675">
                                            <p:txEl>
                                              <p:charRg st="97" end="101"/>
                                            </p:txEl>
                                          </p:spTgt>
                                        </p:tgtEl>
                                        <p:attrNameLst>
                                          <p:attrName>style.visibility</p:attrName>
                                        </p:attrNameLst>
                                      </p:cBhvr>
                                      <p:to>
                                        <p:strVal val="visible"/>
                                      </p:to>
                                    </p:set>
                                    <p:animEffect transition="in" filter="wipe(left)">
                                      <p:cBhvr>
                                        <p:cTn id="26" dur="500"/>
                                        <p:tgtEl>
                                          <p:spTgt spid="28675">
                                            <p:txEl>
                                              <p:charRg st="97" end="101"/>
                                            </p:txEl>
                                          </p:spTgt>
                                        </p:tgtEl>
                                      </p:cBhvr>
                                    </p:animEffect>
                                  </p:childTnLst>
                                </p:cTn>
                              </p:par>
                            </p:childTnLst>
                          </p:cTn>
                        </p:par>
                        <p:par>
                          <p:cTn id="27" fill="hold">
                            <p:stCondLst>
                              <p:cond delay="500"/>
                            </p:stCondLst>
                            <p:childTnLst>
                              <p:par>
                                <p:cTn id="28" presetID="3" presetClass="entr" presetSubtype="10" fill="hold" grpId="0" nodeType="afterEffect">
                                  <p:stCondLst>
                                    <p:cond delay="500"/>
                                  </p:stCondLst>
                                  <p:childTnLst>
                                    <p:set>
                                      <p:cBhvr>
                                        <p:cTn id="29" dur="1" fill="hold">
                                          <p:stCondLst>
                                            <p:cond delay="0"/>
                                          </p:stCondLst>
                                        </p:cTn>
                                        <p:tgtEl>
                                          <p:spTgt spid="28675">
                                            <p:txEl>
                                              <p:charRg st="101" end="144"/>
                                            </p:txEl>
                                          </p:spTgt>
                                        </p:tgtEl>
                                        <p:attrNameLst>
                                          <p:attrName>style.visibility</p:attrName>
                                        </p:attrNameLst>
                                      </p:cBhvr>
                                      <p:to>
                                        <p:strVal val="visible"/>
                                      </p:to>
                                    </p:set>
                                    <p:animEffect transition="in" filter="blinds(horizontal)">
                                      <p:cBhvr>
                                        <p:cTn id="30" dur="500"/>
                                        <p:tgtEl>
                                          <p:spTgt spid="28675">
                                            <p:txEl>
                                              <p:charRg st="101" end="144"/>
                                            </p:txEl>
                                          </p:spTgt>
                                        </p:tgtEl>
                                      </p:cBhvr>
                                    </p:animEffect>
                                  </p:childTnLst>
                                </p:cTn>
                              </p:par>
                              <p:par>
                                <p:cTn id="31" presetID="3" presetClass="entr" presetSubtype="10" fill="hold" grpId="0" nodeType="withEffect">
                                  <p:stCondLst>
                                    <p:cond delay="500"/>
                                  </p:stCondLst>
                                  <p:childTnLst>
                                    <p:set>
                                      <p:cBhvr>
                                        <p:cTn id="32" dur="1" fill="hold">
                                          <p:stCondLst>
                                            <p:cond delay="0"/>
                                          </p:stCondLst>
                                        </p:cTn>
                                        <p:tgtEl>
                                          <p:spTgt spid="28675">
                                            <p:txEl>
                                              <p:charRg st="144" end="161"/>
                                            </p:txEl>
                                          </p:spTgt>
                                        </p:tgtEl>
                                        <p:attrNameLst>
                                          <p:attrName>style.visibility</p:attrName>
                                        </p:attrNameLst>
                                      </p:cBhvr>
                                      <p:to>
                                        <p:strVal val="visible"/>
                                      </p:to>
                                    </p:set>
                                    <p:animEffect transition="in" filter="blinds(horizontal)">
                                      <p:cBhvr>
                                        <p:cTn id="33" dur="500"/>
                                        <p:tgtEl>
                                          <p:spTgt spid="28675">
                                            <p:txEl>
                                              <p:charRg st="144" end="16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8675">
                                            <p:txEl>
                                              <p:charRg st="161" end="165"/>
                                            </p:txEl>
                                          </p:spTgt>
                                        </p:tgtEl>
                                        <p:attrNameLst>
                                          <p:attrName>style.visibility</p:attrName>
                                        </p:attrNameLst>
                                      </p:cBhvr>
                                      <p:to>
                                        <p:strVal val="visible"/>
                                      </p:to>
                                    </p:set>
                                    <p:animEffect transition="in" filter="wipe(left)">
                                      <p:cBhvr>
                                        <p:cTn id="38" dur="500"/>
                                        <p:tgtEl>
                                          <p:spTgt spid="28675">
                                            <p:txEl>
                                              <p:charRg st="161" end="165"/>
                                            </p:txEl>
                                          </p:spTgt>
                                        </p:tgtEl>
                                      </p:cBhvr>
                                    </p:animEffect>
                                  </p:childTnLst>
                                </p:cTn>
                              </p:par>
                            </p:childTnLst>
                          </p:cTn>
                        </p:par>
                        <p:par>
                          <p:cTn id="39" fill="hold">
                            <p:stCondLst>
                              <p:cond delay="500"/>
                            </p:stCondLst>
                            <p:childTnLst>
                              <p:par>
                                <p:cTn id="40" presetID="22" presetClass="entr" presetSubtype="8" fill="hold" grpId="0" nodeType="afterEffect">
                                  <p:stCondLst>
                                    <p:cond delay="500"/>
                                  </p:stCondLst>
                                  <p:childTnLst>
                                    <p:set>
                                      <p:cBhvr>
                                        <p:cTn id="41" dur="1" fill="hold">
                                          <p:stCondLst>
                                            <p:cond delay="0"/>
                                          </p:stCondLst>
                                        </p:cTn>
                                        <p:tgtEl>
                                          <p:spTgt spid="28675">
                                            <p:txEl>
                                              <p:charRg st="165" end="182"/>
                                            </p:txEl>
                                          </p:spTgt>
                                        </p:tgtEl>
                                        <p:attrNameLst>
                                          <p:attrName>style.visibility</p:attrName>
                                        </p:attrNameLst>
                                      </p:cBhvr>
                                      <p:to>
                                        <p:strVal val="visible"/>
                                      </p:to>
                                    </p:set>
                                    <p:animEffect transition="in" filter="wipe(left)">
                                      <p:cBhvr>
                                        <p:cTn id="42" dur="500"/>
                                        <p:tgtEl>
                                          <p:spTgt spid="28675">
                                            <p:txEl>
                                              <p:charRg st="165" end="18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1026"/>
          <p:cNvSpPr>
            <a:spLocks noGrp="1"/>
          </p:cNvSpPr>
          <p:nvPr>
            <p:ph type="title" idx="4294967295"/>
          </p:nvPr>
        </p:nvSpPr>
        <p:spPr>
          <a:xfrm>
            <a:off x="889000" y="1023938"/>
            <a:ext cx="6553200" cy="563562"/>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61E27"/>
                </a:solidFill>
                <a:ea typeface="宋体" panose="02010600030101010101" pitchFamily="2" charset="-122"/>
              </a:rPr>
              <a:t>例：</a:t>
            </a:r>
            <a:endParaRPr lang="zh-CN" altLang="en-US" dirty="0">
              <a:solidFill>
                <a:srgbClr val="061E27"/>
              </a:solidFill>
              <a:ea typeface="宋体" panose="02010600030101010101" pitchFamily="2" charset="-122"/>
            </a:endParaRPr>
          </a:p>
        </p:txBody>
      </p:sp>
      <p:sp>
        <p:nvSpPr>
          <p:cNvPr id="28675" name="Rectangle 1027"/>
          <p:cNvSpPr>
            <a:spLocks noGrp="1"/>
          </p:cNvSpPr>
          <p:nvPr>
            <p:ph type="body" idx="4294967295"/>
          </p:nvPr>
        </p:nvSpPr>
        <p:spPr>
          <a:xfrm>
            <a:off x="762000" y="2025650"/>
            <a:ext cx="3276600" cy="3954463"/>
          </a:xfrm>
        </p:spPr>
        <p:txBody>
          <a:bodyPr vert="horz" wrap="square" lIns="91440" tIns="45720" rIns="91440" bIns="45720" anchor="t" anchorCtr="0"/>
          <a:p>
            <a:pPr algn="just" eaLnBrk="1" hangingPunct="1">
              <a:lnSpc>
                <a:spcPct val="115000"/>
              </a:lnSpc>
              <a:spcAft>
                <a:spcPct val="15000"/>
              </a:spcAft>
              <a:buNone/>
            </a:pPr>
            <a:r>
              <a:rPr lang="zh-CN" altLang="en-US" dirty="0">
                <a:latin typeface="宋体" panose="02010600030101010101" pitchFamily="2" charset="-122"/>
                <a:ea typeface="宋体" panose="02010600030101010101" pitchFamily="2" charset="-122"/>
              </a:rPr>
              <a:t>数据段中存放有一</a:t>
            </a:r>
            <a:endParaRPr lang="zh-CN" altLang="en-US" dirty="0">
              <a:latin typeface="宋体" panose="02010600030101010101" pitchFamily="2" charset="-122"/>
              <a:ea typeface="宋体" panose="02010600030101010101" pitchFamily="2" charset="-122"/>
            </a:endParaRPr>
          </a:p>
          <a:p>
            <a:pPr algn="just" eaLnBrk="1" hangingPunct="1">
              <a:lnSpc>
                <a:spcPct val="115000"/>
              </a:lnSpc>
              <a:spcAft>
                <a:spcPct val="15000"/>
              </a:spcAft>
              <a:buNone/>
            </a:pPr>
            <a:r>
              <a:rPr lang="zh-CN" altLang="en-US" dirty="0">
                <a:latin typeface="宋体" panose="02010600030101010101" pitchFamily="2" charset="-122"/>
                <a:ea typeface="宋体" panose="02010600030101010101" pitchFamily="2" charset="-122"/>
              </a:rPr>
              <a:t>张</a:t>
            </a:r>
            <a:r>
              <a:rPr lang="en-US" altLang="zh-CN" dirty="0">
                <a:latin typeface="宋体" panose="02010600030101010101" pitchFamily="2" charset="-122"/>
                <a:ea typeface="宋体" panose="02010600030101010101" pitchFamily="2" charset="-122"/>
              </a:rPr>
              <a:t>ASCII</a:t>
            </a:r>
            <a:r>
              <a:rPr lang="zh-CN" altLang="en-US" dirty="0">
                <a:latin typeface="宋体" panose="02010600030101010101" pitchFamily="2" charset="-122"/>
                <a:ea typeface="宋体" panose="02010600030101010101" pitchFamily="2" charset="-122"/>
              </a:rPr>
              <a:t>码转换表，</a:t>
            </a:r>
            <a:endParaRPr lang="zh-CN" altLang="en-US" dirty="0">
              <a:latin typeface="宋体" panose="02010600030101010101" pitchFamily="2" charset="-122"/>
              <a:ea typeface="宋体" panose="02010600030101010101" pitchFamily="2" charset="-122"/>
            </a:endParaRPr>
          </a:p>
          <a:p>
            <a:pPr algn="just" eaLnBrk="1" hangingPunct="1">
              <a:lnSpc>
                <a:spcPct val="115000"/>
              </a:lnSpc>
              <a:spcAft>
                <a:spcPct val="15000"/>
              </a:spcAft>
              <a:buNone/>
            </a:pPr>
            <a:r>
              <a:rPr lang="zh-CN" altLang="en-US" dirty="0">
                <a:latin typeface="宋体" panose="02010600030101010101" pitchFamily="2" charset="-122"/>
                <a:ea typeface="宋体" panose="02010600030101010101" pitchFamily="2" charset="-122"/>
              </a:rPr>
              <a:t>设首地址为2000</a:t>
            </a:r>
            <a:r>
              <a:rPr lang="en-US" altLang="zh-CN" dirty="0">
                <a:latin typeface="宋体" panose="02010600030101010101" pitchFamily="2" charset="-122"/>
                <a:ea typeface="宋体" panose="02010600030101010101" pitchFamily="2" charset="-122"/>
              </a:rPr>
              <a:t>H，</a:t>
            </a:r>
            <a:endParaRPr lang="en-US" altLang="zh-CN" dirty="0">
              <a:latin typeface="宋体" panose="02010600030101010101" pitchFamily="2" charset="-122"/>
              <a:ea typeface="宋体" panose="02010600030101010101" pitchFamily="2" charset="-122"/>
            </a:endParaRPr>
          </a:p>
          <a:p>
            <a:pPr algn="just" eaLnBrk="1" hangingPunct="1">
              <a:lnSpc>
                <a:spcPct val="115000"/>
              </a:lnSpc>
              <a:spcAft>
                <a:spcPct val="15000"/>
              </a:spcAft>
              <a:buNone/>
            </a:pPr>
            <a:r>
              <a:rPr lang="zh-CN" altLang="en-US" dirty="0">
                <a:latin typeface="宋体" panose="02010600030101010101" pitchFamily="2" charset="-122"/>
                <a:ea typeface="宋体" panose="02010600030101010101" pitchFamily="2" charset="-122"/>
              </a:rPr>
              <a:t>现欲查出表中第11</a:t>
            </a:r>
            <a:endParaRPr lang="zh-CN" altLang="en-US" dirty="0">
              <a:latin typeface="宋体" panose="02010600030101010101" pitchFamily="2" charset="-122"/>
              <a:ea typeface="宋体" panose="02010600030101010101" pitchFamily="2" charset="-122"/>
            </a:endParaRPr>
          </a:p>
          <a:p>
            <a:pPr algn="just" eaLnBrk="1" hangingPunct="1">
              <a:lnSpc>
                <a:spcPct val="115000"/>
              </a:lnSpc>
              <a:spcAft>
                <a:spcPct val="15000"/>
              </a:spcAft>
              <a:buNone/>
            </a:pPr>
            <a:r>
              <a:rPr lang="zh-CN" altLang="en-US" dirty="0">
                <a:latin typeface="宋体" panose="02010600030101010101" pitchFamily="2" charset="-122"/>
                <a:ea typeface="宋体" panose="02010600030101010101" pitchFamily="2" charset="-122"/>
              </a:rPr>
              <a:t>个代码的</a:t>
            </a:r>
            <a:r>
              <a:rPr lang="en-US" altLang="zh-CN" dirty="0">
                <a:latin typeface="宋体" panose="02010600030101010101" pitchFamily="2" charset="-122"/>
                <a:ea typeface="宋体" panose="02010600030101010101" pitchFamily="2" charset="-122"/>
              </a:rPr>
              <a:t>ASCII</a:t>
            </a:r>
            <a:r>
              <a:rPr lang="zh-CN" altLang="en-US" dirty="0">
                <a:latin typeface="宋体" panose="02010600030101010101" pitchFamily="2" charset="-122"/>
                <a:ea typeface="宋体" panose="02010600030101010101" pitchFamily="2" charset="-122"/>
              </a:rPr>
              <a:t>码</a:t>
            </a:r>
            <a:endParaRPr lang="en-US" altLang="zh-CN" dirty="0">
              <a:latin typeface="宋体" panose="02010600030101010101" pitchFamily="2" charset="-122"/>
              <a:ea typeface="宋体" panose="02010600030101010101" pitchFamily="2" charset="-122"/>
            </a:endParaRPr>
          </a:p>
        </p:txBody>
      </p:sp>
      <p:sp>
        <p:nvSpPr>
          <p:cNvPr id="29700" name="Rectangle 1028"/>
          <p:cNvSpPr/>
          <p:nvPr/>
        </p:nvSpPr>
        <p:spPr>
          <a:xfrm>
            <a:off x="5791200" y="2008188"/>
            <a:ext cx="1981200" cy="16764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9701" name="Line 1029"/>
          <p:cNvSpPr/>
          <p:nvPr/>
        </p:nvSpPr>
        <p:spPr>
          <a:xfrm>
            <a:off x="5791200" y="2770188"/>
            <a:ext cx="1981200" cy="0"/>
          </a:xfrm>
          <a:prstGeom prst="line">
            <a:avLst/>
          </a:prstGeom>
          <a:ln w="12700" cap="sq" cmpd="sng">
            <a:solidFill>
              <a:schemeClr val="tx1"/>
            </a:solidFill>
            <a:prstDash val="solid"/>
            <a:headEnd type="none" w="med" len="med"/>
            <a:tailEnd type="none" w="med" len="med"/>
          </a:ln>
        </p:spPr>
      </p:sp>
      <p:sp>
        <p:nvSpPr>
          <p:cNvPr id="29702" name="Line 1030"/>
          <p:cNvSpPr/>
          <p:nvPr/>
        </p:nvSpPr>
        <p:spPr>
          <a:xfrm>
            <a:off x="5791200" y="2389188"/>
            <a:ext cx="1981200" cy="0"/>
          </a:xfrm>
          <a:prstGeom prst="line">
            <a:avLst/>
          </a:prstGeom>
          <a:ln w="12700" cap="sq" cmpd="sng">
            <a:solidFill>
              <a:schemeClr val="tx1"/>
            </a:solidFill>
            <a:prstDash val="solid"/>
            <a:headEnd type="none" w="med" len="med"/>
            <a:tailEnd type="none" w="med" len="med"/>
          </a:ln>
        </p:spPr>
      </p:sp>
      <p:sp>
        <p:nvSpPr>
          <p:cNvPr id="29703" name="Line 1031"/>
          <p:cNvSpPr/>
          <p:nvPr/>
        </p:nvSpPr>
        <p:spPr>
          <a:xfrm>
            <a:off x="5791200" y="3151188"/>
            <a:ext cx="1981200" cy="0"/>
          </a:xfrm>
          <a:prstGeom prst="line">
            <a:avLst/>
          </a:prstGeom>
          <a:ln w="12700" cap="sq" cmpd="sng">
            <a:solidFill>
              <a:schemeClr val="tx1"/>
            </a:solidFill>
            <a:prstDash val="solid"/>
            <a:headEnd type="none" w="med" len="med"/>
            <a:tailEnd type="none" w="med" len="med"/>
          </a:ln>
        </p:spPr>
      </p:sp>
      <p:sp>
        <p:nvSpPr>
          <p:cNvPr id="29704" name="Text Box 1032"/>
          <p:cNvSpPr txBox="1"/>
          <p:nvPr/>
        </p:nvSpPr>
        <p:spPr>
          <a:xfrm>
            <a:off x="6553200" y="1957388"/>
            <a:ext cx="609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30</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29705" name="Text Box 1033"/>
          <p:cNvSpPr txBox="1"/>
          <p:nvPr/>
        </p:nvSpPr>
        <p:spPr>
          <a:xfrm>
            <a:off x="6553200" y="2363788"/>
            <a:ext cx="1676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31</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29706" name="Text Box 1034"/>
          <p:cNvSpPr txBox="1"/>
          <p:nvPr/>
        </p:nvSpPr>
        <p:spPr>
          <a:xfrm>
            <a:off x="6553200" y="2770188"/>
            <a:ext cx="1676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32</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29707" name="Text Box 1035"/>
          <p:cNvSpPr txBox="1"/>
          <p:nvPr/>
        </p:nvSpPr>
        <p:spPr>
          <a:xfrm>
            <a:off x="6553200" y="3074988"/>
            <a:ext cx="1676400" cy="579437"/>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32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29708" name="Rectangle 1036"/>
          <p:cNvSpPr/>
          <p:nvPr/>
        </p:nvSpPr>
        <p:spPr>
          <a:xfrm>
            <a:off x="5791200" y="3684588"/>
            <a:ext cx="1981200" cy="2667000"/>
          </a:xfrm>
          <a:prstGeom prst="rect">
            <a:avLst/>
          </a:prstGeom>
          <a:solidFill>
            <a:srgbClr val="339966"/>
          </a:solidFill>
          <a:ln w="127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29709" name="Line 1037"/>
          <p:cNvSpPr/>
          <p:nvPr/>
        </p:nvSpPr>
        <p:spPr>
          <a:xfrm>
            <a:off x="5791200" y="4598988"/>
            <a:ext cx="1981200" cy="0"/>
          </a:xfrm>
          <a:prstGeom prst="line">
            <a:avLst/>
          </a:prstGeom>
          <a:ln w="12700" cap="sq" cmpd="sng">
            <a:solidFill>
              <a:schemeClr val="tx1"/>
            </a:solidFill>
            <a:prstDash val="solid"/>
            <a:headEnd type="none" w="med" len="med"/>
            <a:tailEnd type="none" w="med" len="med"/>
          </a:ln>
        </p:spPr>
      </p:sp>
      <p:sp>
        <p:nvSpPr>
          <p:cNvPr id="29710" name="Line 1038"/>
          <p:cNvSpPr/>
          <p:nvPr/>
        </p:nvSpPr>
        <p:spPr>
          <a:xfrm>
            <a:off x="5791200" y="4141788"/>
            <a:ext cx="1981200" cy="0"/>
          </a:xfrm>
          <a:prstGeom prst="line">
            <a:avLst/>
          </a:prstGeom>
          <a:ln w="12700" cap="sq" cmpd="sng">
            <a:solidFill>
              <a:schemeClr val="tx1"/>
            </a:solidFill>
            <a:prstDash val="solid"/>
            <a:headEnd type="none" w="med" len="med"/>
            <a:tailEnd type="none" w="med" len="med"/>
          </a:ln>
        </p:spPr>
      </p:sp>
      <p:sp>
        <p:nvSpPr>
          <p:cNvPr id="29711" name="Line 1039"/>
          <p:cNvSpPr/>
          <p:nvPr/>
        </p:nvSpPr>
        <p:spPr>
          <a:xfrm>
            <a:off x="5791200" y="5056188"/>
            <a:ext cx="1981200" cy="0"/>
          </a:xfrm>
          <a:prstGeom prst="line">
            <a:avLst/>
          </a:prstGeom>
          <a:ln w="12700" cap="sq" cmpd="sng">
            <a:solidFill>
              <a:schemeClr val="tx1"/>
            </a:solidFill>
            <a:prstDash val="solid"/>
            <a:headEnd type="none" w="med" len="med"/>
            <a:tailEnd type="none" w="med" len="med"/>
          </a:ln>
        </p:spPr>
      </p:sp>
      <p:sp>
        <p:nvSpPr>
          <p:cNvPr id="29712" name="Text Box 1040"/>
          <p:cNvSpPr txBox="1"/>
          <p:nvPr/>
        </p:nvSpPr>
        <p:spPr>
          <a:xfrm>
            <a:off x="6553200" y="3684588"/>
            <a:ext cx="1676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39</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29713" name="Text Box 1041"/>
          <p:cNvSpPr txBox="1"/>
          <p:nvPr/>
        </p:nvSpPr>
        <p:spPr>
          <a:xfrm>
            <a:off x="6553200" y="4141788"/>
            <a:ext cx="1676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41</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29714" name="Text Box 1042"/>
          <p:cNvSpPr txBox="1"/>
          <p:nvPr/>
        </p:nvSpPr>
        <p:spPr>
          <a:xfrm>
            <a:off x="6553200" y="4598988"/>
            <a:ext cx="1676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rgbClr val="FFFF00"/>
                </a:solidFill>
                <a:latin typeface="Times New Roman" panose="02020603050405020304" pitchFamily="18" charset="0"/>
                <a:ea typeface="宋体" panose="02010600030101010101" pitchFamily="2" charset="-122"/>
              </a:rPr>
              <a:t>42</a:t>
            </a:r>
            <a:endParaRPr lang="en-US" altLang="zh-CN" sz="2400" b="1" dirty="0">
              <a:solidFill>
                <a:srgbClr val="FFFF00"/>
              </a:solidFill>
              <a:latin typeface="Times New Roman" panose="02020603050405020304" pitchFamily="18" charset="0"/>
              <a:ea typeface="宋体" panose="02010600030101010101" pitchFamily="2" charset="-122"/>
            </a:endParaRPr>
          </a:p>
        </p:txBody>
      </p:sp>
      <p:sp>
        <p:nvSpPr>
          <p:cNvPr id="29715" name="Text Box 1043"/>
          <p:cNvSpPr txBox="1"/>
          <p:nvPr/>
        </p:nvSpPr>
        <p:spPr>
          <a:xfrm>
            <a:off x="6553200" y="4903788"/>
            <a:ext cx="1676400" cy="579437"/>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32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29716" name="Line 1045"/>
          <p:cNvSpPr/>
          <p:nvPr/>
        </p:nvSpPr>
        <p:spPr>
          <a:xfrm>
            <a:off x="5791200" y="6351588"/>
            <a:ext cx="1981200" cy="0"/>
          </a:xfrm>
          <a:prstGeom prst="line">
            <a:avLst/>
          </a:prstGeom>
          <a:ln w="12700" cap="sq" cmpd="sng">
            <a:solidFill>
              <a:schemeClr val="tx1"/>
            </a:solidFill>
            <a:prstDash val="solid"/>
            <a:headEnd type="none" w="med" len="med"/>
            <a:tailEnd type="none" w="med" len="med"/>
          </a:ln>
        </p:spPr>
      </p:sp>
      <p:sp>
        <p:nvSpPr>
          <p:cNvPr id="29717" name="Line 1046"/>
          <p:cNvSpPr/>
          <p:nvPr/>
        </p:nvSpPr>
        <p:spPr>
          <a:xfrm>
            <a:off x="5791200" y="5970588"/>
            <a:ext cx="1981200" cy="0"/>
          </a:xfrm>
          <a:prstGeom prst="line">
            <a:avLst/>
          </a:prstGeom>
          <a:ln w="12700" cap="sq" cmpd="sng">
            <a:solidFill>
              <a:schemeClr val="tx1"/>
            </a:solidFill>
            <a:prstDash val="solid"/>
            <a:headEnd type="none" w="med" len="med"/>
            <a:tailEnd type="none" w="med" len="med"/>
          </a:ln>
        </p:spPr>
      </p:sp>
      <p:sp>
        <p:nvSpPr>
          <p:cNvPr id="29718" name="Text Box 1047"/>
          <p:cNvSpPr txBox="1"/>
          <p:nvPr/>
        </p:nvSpPr>
        <p:spPr>
          <a:xfrm>
            <a:off x="6553200" y="5513388"/>
            <a:ext cx="1676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45</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29719" name="Text Box 1048"/>
          <p:cNvSpPr txBox="1"/>
          <p:nvPr/>
        </p:nvSpPr>
        <p:spPr>
          <a:xfrm>
            <a:off x="6553200" y="5945188"/>
            <a:ext cx="1676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46</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29720" name="Line 1050"/>
          <p:cNvSpPr/>
          <p:nvPr/>
        </p:nvSpPr>
        <p:spPr>
          <a:xfrm>
            <a:off x="5791200" y="5513388"/>
            <a:ext cx="0" cy="1219200"/>
          </a:xfrm>
          <a:prstGeom prst="line">
            <a:avLst/>
          </a:prstGeom>
          <a:ln w="12700" cap="sq" cmpd="sng">
            <a:solidFill>
              <a:schemeClr val="tx1"/>
            </a:solidFill>
            <a:prstDash val="solid"/>
            <a:headEnd type="none" w="med" len="med"/>
            <a:tailEnd type="none" w="med" len="med"/>
          </a:ln>
        </p:spPr>
      </p:sp>
      <p:sp>
        <p:nvSpPr>
          <p:cNvPr id="29721" name="Line 1051"/>
          <p:cNvSpPr/>
          <p:nvPr/>
        </p:nvSpPr>
        <p:spPr>
          <a:xfrm>
            <a:off x="7770813" y="5208588"/>
            <a:ext cx="0" cy="1533525"/>
          </a:xfrm>
          <a:prstGeom prst="line">
            <a:avLst/>
          </a:prstGeom>
          <a:ln w="12700" cap="sq" cmpd="sng">
            <a:solidFill>
              <a:schemeClr val="tx1"/>
            </a:solidFill>
            <a:prstDash val="solid"/>
            <a:headEnd type="none" w="med" len="med"/>
            <a:tailEnd type="none" w="med" len="med"/>
          </a:ln>
        </p:spPr>
      </p:sp>
      <p:sp>
        <p:nvSpPr>
          <p:cNvPr id="29722" name="Line 1052"/>
          <p:cNvSpPr/>
          <p:nvPr/>
        </p:nvSpPr>
        <p:spPr>
          <a:xfrm flipV="1">
            <a:off x="5791200" y="1779588"/>
            <a:ext cx="0" cy="228600"/>
          </a:xfrm>
          <a:prstGeom prst="line">
            <a:avLst/>
          </a:prstGeom>
          <a:ln w="12700" cap="sq" cmpd="sng">
            <a:solidFill>
              <a:schemeClr val="tx1"/>
            </a:solidFill>
            <a:prstDash val="solid"/>
            <a:headEnd type="none" w="med" len="med"/>
            <a:tailEnd type="none" w="med" len="med"/>
          </a:ln>
        </p:spPr>
      </p:sp>
      <p:sp>
        <p:nvSpPr>
          <p:cNvPr id="29723" name="Line 1053"/>
          <p:cNvSpPr/>
          <p:nvPr/>
        </p:nvSpPr>
        <p:spPr>
          <a:xfrm flipV="1">
            <a:off x="7772400" y="1779588"/>
            <a:ext cx="0" cy="228600"/>
          </a:xfrm>
          <a:prstGeom prst="line">
            <a:avLst/>
          </a:prstGeom>
          <a:ln w="12700" cap="sq" cmpd="sng">
            <a:solidFill>
              <a:schemeClr val="tx1"/>
            </a:solidFill>
            <a:prstDash val="solid"/>
            <a:headEnd type="none" w="med" len="med"/>
            <a:tailEnd type="none" w="med" len="med"/>
          </a:ln>
        </p:spPr>
      </p:sp>
      <p:sp>
        <p:nvSpPr>
          <p:cNvPr id="29724" name="Text Box 1054"/>
          <p:cNvSpPr txBox="1"/>
          <p:nvPr/>
        </p:nvSpPr>
        <p:spPr>
          <a:xfrm>
            <a:off x="4241800" y="1982788"/>
            <a:ext cx="1482725"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2000</a:t>
            </a:r>
            <a:r>
              <a:rPr lang="en-US" altLang="zh-CN" sz="2400" b="1" dirty="0">
                <a:latin typeface="Times New Roman" panose="02020603050405020304" pitchFamily="18" charset="0"/>
                <a:ea typeface="宋体" panose="02010600030101010101" pitchFamily="2" charset="-122"/>
              </a:rPr>
              <a:t>H+0</a:t>
            </a:r>
            <a:endParaRPr lang="en-US" altLang="zh-CN" sz="2400" b="1" dirty="0">
              <a:latin typeface="Times New Roman" panose="02020603050405020304" pitchFamily="18" charset="0"/>
              <a:ea typeface="宋体" panose="02010600030101010101" pitchFamily="2" charset="-122"/>
            </a:endParaRPr>
          </a:p>
        </p:txBody>
      </p:sp>
      <p:sp>
        <p:nvSpPr>
          <p:cNvPr id="29725" name="Text Box 1055"/>
          <p:cNvSpPr txBox="1"/>
          <p:nvPr/>
        </p:nvSpPr>
        <p:spPr>
          <a:xfrm>
            <a:off x="4165600" y="4608513"/>
            <a:ext cx="1630363"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2000</a:t>
            </a:r>
            <a:r>
              <a:rPr lang="en-US" altLang="zh-CN" sz="2400" b="1" dirty="0">
                <a:latin typeface="Times New Roman" panose="02020603050405020304" pitchFamily="18" charset="0"/>
                <a:ea typeface="宋体" panose="02010600030101010101" pitchFamily="2" charset="-122"/>
              </a:rPr>
              <a:t>H+11</a:t>
            </a:r>
            <a:endParaRPr lang="en-US" altLang="zh-CN" sz="2400" b="1" dirty="0">
              <a:latin typeface="Times New Roman" panose="02020603050405020304" pitchFamily="18" charset="0"/>
              <a:ea typeface="宋体" panose="02010600030101010101" pitchFamily="2" charset="-122"/>
            </a:endParaRPr>
          </a:p>
        </p:txBody>
      </p:sp>
      <p:sp>
        <p:nvSpPr>
          <p:cNvPr id="29726" name="Text Box 1056"/>
          <p:cNvSpPr txBox="1"/>
          <p:nvPr/>
        </p:nvSpPr>
        <p:spPr>
          <a:xfrm>
            <a:off x="7772400" y="1931988"/>
            <a:ext cx="1066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latin typeface="Times New Roman" panose="02020603050405020304" pitchFamily="18" charset="0"/>
                <a:ea typeface="宋体" panose="02010600030101010101" pitchFamily="2" charset="-122"/>
              </a:rPr>
              <a:t>‘0’</a:t>
            </a:r>
            <a:endParaRPr lang="en-US" altLang="zh-CN" sz="2400" dirty="0">
              <a:latin typeface="Times New Roman" panose="02020603050405020304" pitchFamily="18" charset="0"/>
              <a:ea typeface="宋体" panose="02010600030101010101" pitchFamily="2" charset="-122"/>
            </a:endParaRPr>
          </a:p>
        </p:txBody>
      </p:sp>
      <p:sp>
        <p:nvSpPr>
          <p:cNvPr id="29727" name="Text Box 1057"/>
          <p:cNvSpPr txBox="1"/>
          <p:nvPr/>
        </p:nvSpPr>
        <p:spPr>
          <a:xfrm>
            <a:off x="7772400" y="2312988"/>
            <a:ext cx="1066800" cy="461962"/>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latin typeface="Times New Roman" panose="02020603050405020304" pitchFamily="18" charset="0"/>
                <a:ea typeface="宋体" panose="02010600030101010101" pitchFamily="2" charset="-122"/>
              </a:rPr>
              <a:t>‘1’</a:t>
            </a:r>
            <a:endParaRPr lang="en-US" altLang="zh-CN" sz="2400" dirty="0">
              <a:latin typeface="Times New Roman" panose="02020603050405020304" pitchFamily="18" charset="0"/>
              <a:ea typeface="宋体" panose="02010600030101010101" pitchFamily="2" charset="-122"/>
            </a:endParaRPr>
          </a:p>
        </p:txBody>
      </p:sp>
      <p:sp>
        <p:nvSpPr>
          <p:cNvPr id="29728" name="Text Box 1058"/>
          <p:cNvSpPr txBox="1"/>
          <p:nvPr/>
        </p:nvSpPr>
        <p:spPr>
          <a:xfrm>
            <a:off x="7772400" y="2693988"/>
            <a:ext cx="1066800" cy="461962"/>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latin typeface="Times New Roman" panose="02020603050405020304" pitchFamily="18" charset="0"/>
                <a:ea typeface="宋体" panose="02010600030101010101" pitchFamily="2" charset="-122"/>
              </a:rPr>
              <a:t>‘2’</a:t>
            </a:r>
            <a:endParaRPr lang="en-US" altLang="zh-CN" sz="2400" dirty="0">
              <a:latin typeface="Times New Roman" panose="02020603050405020304" pitchFamily="18" charset="0"/>
              <a:ea typeface="宋体" panose="02010600030101010101" pitchFamily="2" charset="-122"/>
            </a:endParaRPr>
          </a:p>
        </p:txBody>
      </p:sp>
      <p:sp>
        <p:nvSpPr>
          <p:cNvPr id="29729" name="Text Box 1059"/>
          <p:cNvSpPr txBox="1"/>
          <p:nvPr/>
        </p:nvSpPr>
        <p:spPr>
          <a:xfrm>
            <a:off x="7772400" y="3684588"/>
            <a:ext cx="11811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latin typeface="Times New Roman" panose="02020603050405020304" pitchFamily="18" charset="0"/>
                <a:ea typeface="宋体" panose="02010600030101010101" pitchFamily="2" charset="-122"/>
              </a:rPr>
              <a:t>‘9’</a:t>
            </a:r>
            <a:endParaRPr lang="en-US" altLang="zh-CN" sz="2400" dirty="0">
              <a:latin typeface="Times New Roman" panose="02020603050405020304" pitchFamily="18" charset="0"/>
              <a:ea typeface="宋体" panose="02010600030101010101" pitchFamily="2" charset="-122"/>
            </a:endParaRPr>
          </a:p>
        </p:txBody>
      </p:sp>
      <p:sp>
        <p:nvSpPr>
          <p:cNvPr id="29730" name="Text Box 1060"/>
          <p:cNvSpPr txBox="1"/>
          <p:nvPr/>
        </p:nvSpPr>
        <p:spPr>
          <a:xfrm>
            <a:off x="7734300" y="4141788"/>
            <a:ext cx="86995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A’</a:t>
            </a:r>
            <a:endParaRPr lang="en-US" altLang="zh-CN" sz="2400" dirty="0">
              <a:latin typeface="Times New Roman" panose="02020603050405020304" pitchFamily="18" charset="0"/>
              <a:ea typeface="宋体" panose="02010600030101010101" pitchFamily="2" charset="-122"/>
            </a:endParaRPr>
          </a:p>
        </p:txBody>
      </p:sp>
      <p:sp>
        <p:nvSpPr>
          <p:cNvPr id="29731" name="Text Box 1061"/>
          <p:cNvSpPr txBox="1"/>
          <p:nvPr/>
        </p:nvSpPr>
        <p:spPr>
          <a:xfrm>
            <a:off x="7759700" y="4598988"/>
            <a:ext cx="915988"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dirty="0">
                <a:solidFill>
                  <a:srgbClr val="FF0000"/>
                </a:solidFill>
                <a:latin typeface="Times New Roman" panose="02020603050405020304" pitchFamily="18" charset="0"/>
                <a:ea typeface="宋体" panose="02010600030101010101" pitchFamily="2" charset="-122"/>
              </a:rPr>
              <a:t>‘</a:t>
            </a:r>
            <a:r>
              <a:rPr lang="en-US" altLang="zh-CN" sz="2400" dirty="0">
                <a:solidFill>
                  <a:srgbClr val="FF0000"/>
                </a:solidFill>
                <a:latin typeface="Times New Roman" panose="02020603050405020304" pitchFamily="18" charset="0"/>
                <a:ea typeface="宋体" panose="02010600030101010101" pitchFamily="2" charset="-122"/>
              </a:rPr>
              <a:t>B’</a:t>
            </a:r>
            <a:endParaRPr lang="en-US" altLang="zh-CN" sz="2400" dirty="0">
              <a:solidFill>
                <a:srgbClr val="FF0000"/>
              </a:solidFill>
              <a:latin typeface="Times New Roman" panose="02020603050405020304" pitchFamily="18" charset="0"/>
              <a:ea typeface="宋体" panose="02010600030101010101" pitchFamily="2" charset="-122"/>
            </a:endParaRPr>
          </a:p>
        </p:txBody>
      </p:sp>
      <p:sp>
        <p:nvSpPr>
          <p:cNvPr id="29732" name="Text Box 1062"/>
          <p:cNvSpPr txBox="1"/>
          <p:nvPr/>
        </p:nvSpPr>
        <p:spPr>
          <a:xfrm>
            <a:off x="7772400" y="5513388"/>
            <a:ext cx="903288"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E’</a:t>
            </a:r>
            <a:endParaRPr lang="en-US" altLang="zh-CN" sz="2400" dirty="0">
              <a:latin typeface="Times New Roman" panose="02020603050405020304" pitchFamily="18" charset="0"/>
              <a:ea typeface="宋体" panose="02010600030101010101" pitchFamily="2" charset="-122"/>
            </a:endParaRPr>
          </a:p>
        </p:txBody>
      </p:sp>
      <p:sp>
        <p:nvSpPr>
          <p:cNvPr id="29733" name="Text Box 1063"/>
          <p:cNvSpPr txBox="1"/>
          <p:nvPr/>
        </p:nvSpPr>
        <p:spPr>
          <a:xfrm>
            <a:off x="7785100" y="5919788"/>
            <a:ext cx="890588"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F’</a:t>
            </a:r>
            <a:endParaRPr lang="en-US" altLang="zh-CN" sz="2400" dirty="0">
              <a:latin typeface="Times New Roman" panose="02020603050405020304" pitchFamily="18" charset="0"/>
              <a:ea typeface="宋体" panose="02010600030101010101" pitchFamily="2" charset="-122"/>
            </a:endParaRPr>
          </a:p>
        </p:txBody>
      </p:sp>
      <p:sp>
        <p:nvSpPr>
          <p:cNvPr id="29734" name="Line 1064"/>
          <p:cNvSpPr/>
          <p:nvPr/>
        </p:nvSpPr>
        <p:spPr>
          <a:xfrm>
            <a:off x="5791200" y="5589588"/>
            <a:ext cx="1981200" cy="0"/>
          </a:xfrm>
          <a:prstGeom prst="line">
            <a:avLst/>
          </a:prstGeom>
          <a:ln w="12700" cap="sq" cmpd="sng">
            <a:solidFill>
              <a:schemeClr val="tx1"/>
            </a:solidFill>
            <a:prstDash val="solid"/>
            <a:headEnd type="none" w="med" len="med"/>
            <a:tailEnd type="none" w="med" len="med"/>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 calcmode="lin" valueType="num">
                                      <p:cBhvr>
                                        <p:cTn id="7" dur="500" fill="hold"/>
                                        <p:tgtEl>
                                          <p:spTgt spid="29700"/>
                                        </p:tgtEl>
                                        <p:attrNameLst>
                                          <p:attrName>ppt_x</p:attrName>
                                        </p:attrNameLst>
                                      </p:cBhvr>
                                      <p:tavLst>
                                        <p:tav tm="0">
                                          <p:val>
                                            <p:strVal val="#ppt_x"/>
                                          </p:val>
                                        </p:tav>
                                        <p:tav tm="100000">
                                          <p:val>
                                            <p:strVal val="#ppt_x"/>
                                          </p:val>
                                        </p:tav>
                                      </p:tavLst>
                                    </p:anim>
                                    <p:anim calcmode="lin" valueType="num">
                                      <p:cBhvr>
                                        <p:cTn id="8" dur="500" fill="hold"/>
                                        <p:tgtEl>
                                          <p:spTgt spid="2970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701"/>
                                        </p:tgtEl>
                                        <p:attrNameLst>
                                          <p:attrName>style.visibility</p:attrName>
                                        </p:attrNameLst>
                                      </p:cBhvr>
                                      <p:to>
                                        <p:strVal val="visible"/>
                                      </p:to>
                                    </p:set>
                                    <p:anim calcmode="lin" valueType="num">
                                      <p:cBhvr>
                                        <p:cTn id="11" dur="500" fill="hold"/>
                                        <p:tgtEl>
                                          <p:spTgt spid="29701"/>
                                        </p:tgtEl>
                                        <p:attrNameLst>
                                          <p:attrName>ppt_x</p:attrName>
                                        </p:attrNameLst>
                                      </p:cBhvr>
                                      <p:tavLst>
                                        <p:tav tm="0">
                                          <p:val>
                                            <p:strVal val="#ppt_x"/>
                                          </p:val>
                                        </p:tav>
                                        <p:tav tm="100000">
                                          <p:val>
                                            <p:strVal val="#ppt_x"/>
                                          </p:val>
                                        </p:tav>
                                      </p:tavLst>
                                    </p:anim>
                                    <p:anim calcmode="lin" valueType="num">
                                      <p:cBhvr>
                                        <p:cTn id="12" dur="500" fill="hold"/>
                                        <p:tgtEl>
                                          <p:spTgt spid="2970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9702"/>
                                        </p:tgtEl>
                                        <p:attrNameLst>
                                          <p:attrName>style.visibility</p:attrName>
                                        </p:attrNameLst>
                                      </p:cBhvr>
                                      <p:to>
                                        <p:strVal val="visible"/>
                                      </p:to>
                                    </p:set>
                                    <p:anim calcmode="lin" valueType="num">
                                      <p:cBhvr>
                                        <p:cTn id="15" dur="500" fill="hold"/>
                                        <p:tgtEl>
                                          <p:spTgt spid="29702"/>
                                        </p:tgtEl>
                                        <p:attrNameLst>
                                          <p:attrName>ppt_x</p:attrName>
                                        </p:attrNameLst>
                                      </p:cBhvr>
                                      <p:tavLst>
                                        <p:tav tm="0">
                                          <p:val>
                                            <p:strVal val="#ppt_x"/>
                                          </p:val>
                                        </p:tav>
                                        <p:tav tm="100000">
                                          <p:val>
                                            <p:strVal val="#ppt_x"/>
                                          </p:val>
                                        </p:tav>
                                      </p:tavLst>
                                    </p:anim>
                                    <p:anim calcmode="lin" valueType="num">
                                      <p:cBhvr>
                                        <p:cTn id="16" dur="500" fill="hold"/>
                                        <p:tgtEl>
                                          <p:spTgt spid="2970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9703"/>
                                        </p:tgtEl>
                                        <p:attrNameLst>
                                          <p:attrName>style.visibility</p:attrName>
                                        </p:attrNameLst>
                                      </p:cBhvr>
                                      <p:to>
                                        <p:strVal val="visible"/>
                                      </p:to>
                                    </p:set>
                                    <p:anim calcmode="lin" valueType="num">
                                      <p:cBhvr>
                                        <p:cTn id="19" dur="500" fill="hold"/>
                                        <p:tgtEl>
                                          <p:spTgt spid="29703"/>
                                        </p:tgtEl>
                                        <p:attrNameLst>
                                          <p:attrName>ppt_x</p:attrName>
                                        </p:attrNameLst>
                                      </p:cBhvr>
                                      <p:tavLst>
                                        <p:tav tm="0">
                                          <p:val>
                                            <p:strVal val="#ppt_x"/>
                                          </p:val>
                                        </p:tav>
                                        <p:tav tm="100000">
                                          <p:val>
                                            <p:strVal val="#ppt_x"/>
                                          </p:val>
                                        </p:tav>
                                      </p:tavLst>
                                    </p:anim>
                                    <p:anim calcmode="lin" valueType="num">
                                      <p:cBhvr>
                                        <p:cTn id="20" dur="500" fill="hold"/>
                                        <p:tgtEl>
                                          <p:spTgt spid="2970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9704"/>
                                        </p:tgtEl>
                                        <p:attrNameLst>
                                          <p:attrName>style.visibility</p:attrName>
                                        </p:attrNameLst>
                                      </p:cBhvr>
                                      <p:to>
                                        <p:strVal val="visible"/>
                                      </p:to>
                                    </p:set>
                                    <p:anim calcmode="lin" valueType="num">
                                      <p:cBhvr>
                                        <p:cTn id="23" dur="500" fill="hold"/>
                                        <p:tgtEl>
                                          <p:spTgt spid="29704"/>
                                        </p:tgtEl>
                                        <p:attrNameLst>
                                          <p:attrName>ppt_x</p:attrName>
                                        </p:attrNameLst>
                                      </p:cBhvr>
                                      <p:tavLst>
                                        <p:tav tm="0">
                                          <p:val>
                                            <p:strVal val="#ppt_x"/>
                                          </p:val>
                                        </p:tav>
                                        <p:tav tm="100000">
                                          <p:val>
                                            <p:strVal val="#ppt_x"/>
                                          </p:val>
                                        </p:tav>
                                      </p:tavLst>
                                    </p:anim>
                                    <p:anim calcmode="lin" valueType="num">
                                      <p:cBhvr>
                                        <p:cTn id="24" dur="500" fill="hold"/>
                                        <p:tgtEl>
                                          <p:spTgt spid="2970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9705"/>
                                        </p:tgtEl>
                                        <p:attrNameLst>
                                          <p:attrName>style.visibility</p:attrName>
                                        </p:attrNameLst>
                                      </p:cBhvr>
                                      <p:to>
                                        <p:strVal val="visible"/>
                                      </p:to>
                                    </p:set>
                                    <p:anim calcmode="lin" valueType="num">
                                      <p:cBhvr>
                                        <p:cTn id="27" dur="500" fill="hold"/>
                                        <p:tgtEl>
                                          <p:spTgt spid="29705"/>
                                        </p:tgtEl>
                                        <p:attrNameLst>
                                          <p:attrName>ppt_x</p:attrName>
                                        </p:attrNameLst>
                                      </p:cBhvr>
                                      <p:tavLst>
                                        <p:tav tm="0">
                                          <p:val>
                                            <p:strVal val="#ppt_x"/>
                                          </p:val>
                                        </p:tav>
                                        <p:tav tm="100000">
                                          <p:val>
                                            <p:strVal val="#ppt_x"/>
                                          </p:val>
                                        </p:tav>
                                      </p:tavLst>
                                    </p:anim>
                                    <p:anim calcmode="lin" valueType="num">
                                      <p:cBhvr>
                                        <p:cTn id="28" dur="500" fill="hold"/>
                                        <p:tgtEl>
                                          <p:spTgt spid="2970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9706"/>
                                        </p:tgtEl>
                                        <p:attrNameLst>
                                          <p:attrName>style.visibility</p:attrName>
                                        </p:attrNameLst>
                                      </p:cBhvr>
                                      <p:to>
                                        <p:strVal val="visible"/>
                                      </p:to>
                                    </p:set>
                                    <p:anim calcmode="lin" valueType="num">
                                      <p:cBhvr>
                                        <p:cTn id="31" dur="500" fill="hold"/>
                                        <p:tgtEl>
                                          <p:spTgt spid="29706"/>
                                        </p:tgtEl>
                                        <p:attrNameLst>
                                          <p:attrName>ppt_x</p:attrName>
                                        </p:attrNameLst>
                                      </p:cBhvr>
                                      <p:tavLst>
                                        <p:tav tm="0">
                                          <p:val>
                                            <p:strVal val="#ppt_x"/>
                                          </p:val>
                                        </p:tav>
                                        <p:tav tm="100000">
                                          <p:val>
                                            <p:strVal val="#ppt_x"/>
                                          </p:val>
                                        </p:tav>
                                      </p:tavLst>
                                    </p:anim>
                                    <p:anim calcmode="lin" valueType="num">
                                      <p:cBhvr>
                                        <p:cTn id="32" dur="500" fill="hold"/>
                                        <p:tgtEl>
                                          <p:spTgt spid="2970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9707"/>
                                        </p:tgtEl>
                                        <p:attrNameLst>
                                          <p:attrName>style.visibility</p:attrName>
                                        </p:attrNameLst>
                                      </p:cBhvr>
                                      <p:to>
                                        <p:strVal val="visible"/>
                                      </p:to>
                                    </p:set>
                                    <p:anim calcmode="lin" valueType="num">
                                      <p:cBhvr>
                                        <p:cTn id="35" dur="500" fill="hold"/>
                                        <p:tgtEl>
                                          <p:spTgt spid="29707"/>
                                        </p:tgtEl>
                                        <p:attrNameLst>
                                          <p:attrName>ppt_x</p:attrName>
                                        </p:attrNameLst>
                                      </p:cBhvr>
                                      <p:tavLst>
                                        <p:tav tm="0">
                                          <p:val>
                                            <p:strVal val="#ppt_x"/>
                                          </p:val>
                                        </p:tav>
                                        <p:tav tm="100000">
                                          <p:val>
                                            <p:strVal val="#ppt_x"/>
                                          </p:val>
                                        </p:tav>
                                      </p:tavLst>
                                    </p:anim>
                                    <p:anim calcmode="lin" valueType="num">
                                      <p:cBhvr>
                                        <p:cTn id="36" dur="500" fill="hold"/>
                                        <p:tgtEl>
                                          <p:spTgt spid="29707"/>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9708"/>
                                        </p:tgtEl>
                                        <p:attrNameLst>
                                          <p:attrName>style.visibility</p:attrName>
                                        </p:attrNameLst>
                                      </p:cBhvr>
                                      <p:to>
                                        <p:strVal val="visible"/>
                                      </p:to>
                                    </p:set>
                                    <p:anim calcmode="lin" valueType="num">
                                      <p:cBhvr>
                                        <p:cTn id="39" dur="500" fill="hold"/>
                                        <p:tgtEl>
                                          <p:spTgt spid="29708"/>
                                        </p:tgtEl>
                                        <p:attrNameLst>
                                          <p:attrName>ppt_x</p:attrName>
                                        </p:attrNameLst>
                                      </p:cBhvr>
                                      <p:tavLst>
                                        <p:tav tm="0">
                                          <p:val>
                                            <p:strVal val="#ppt_x"/>
                                          </p:val>
                                        </p:tav>
                                        <p:tav tm="100000">
                                          <p:val>
                                            <p:strVal val="#ppt_x"/>
                                          </p:val>
                                        </p:tav>
                                      </p:tavLst>
                                    </p:anim>
                                    <p:anim calcmode="lin" valueType="num">
                                      <p:cBhvr>
                                        <p:cTn id="40" dur="500" fill="hold"/>
                                        <p:tgtEl>
                                          <p:spTgt spid="29708"/>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9709"/>
                                        </p:tgtEl>
                                        <p:attrNameLst>
                                          <p:attrName>style.visibility</p:attrName>
                                        </p:attrNameLst>
                                      </p:cBhvr>
                                      <p:to>
                                        <p:strVal val="visible"/>
                                      </p:to>
                                    </p:set>
                                    <p:anim calcmode="lin" valueType="num">
                                      <p:cBhvr>
                                        <p:cTn id="43" dur="500" fill="hold"/>
                                        <p:tgtEl>
                                          <p:spTgt spid="29709"/>
                                        </p:tgtEl>
                                        <p:attrNameLst>
                                          <p:attrName>ppt_x</p:attrName>
                                        </p:attrNameLst>
                                      </p:cBhvr>
                                      <p:tavLst>
                                        <p:tav tm="0">
                                          <p:val>
                                            <p:strVal val="#ppt_x"/>
                                          </p:val>
                                        </p:tav>
                                        <p:tav tm="100000">
                                          <p:val>
                                            <p:strVal val="#ppt_x"/>
                                          </p:val>
                                        </p:tav>
                                      </p:tavLst>
                                    </p:anim>
                                    <p:anim calcmode="lin" valueType="num">
                                      <p:cBhvr>
                                        <p:cTn id="44" dur="500" fill="hold"/>
                                        <p:tgtEl>
                                          <p:spTgt spid="29709"/>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9710"/>
                                        </p:tgtEl>
                                        <p:attrNameLst>
                                          <p:attrName>style.visibility</p:attrName>
                                        </p:attrNameLst>
                                      </p:cBhvr>
                                      <p:to>
                                        <p:strVal val="visible"/>
                                      </p:to>
                                    </p:set>
                                    <p:anim calcmode="lin" valueType="num">
                                      <p:cBhvr>
                                        <p:cTn id="47" dur="500" fill="hold"/>
                                        <p:tgtEl>
                                          <p:spTgt spid="29710"/>
                                        </p:tgtEl>
                                        <p:attrNameLst>
                                          <p:attrName>ppt_x</p:attrName>
                                        </p:attrNameLst>
                                      </p:cBhvr>
                                      <p:tavLst>
                                        <p:tav tm="0">
                                          <p:val>
                                            <p:strVal val="#ppt_x"/>
                                          </p:val>
                                        </p:tav>
                                        <p:tav tm="100000">
                                          <p:val>
                                            <p:strVal val="#ppt_x"/>
                                          </p:val>
                                        </p:tav>
                                      </p:tavLst>
                                    </p:anim>
                                    <p:anim calcmode="lin" valueType="num">
                                      <p:cBhvr>
                                        <p:cTn id="48" dur="500" fill="hold"/>
                                        <p:tgtEl>
                                          <p:spTgt spid="29710"/>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9711"/>
                                        </p:tgtEl>
                                        <p:attrNameLst>
                                          <p:attrName>style.visibility</p:attrName>
                                        </p:attrNameLst>
                                      </p:cBhvr>
                                      <p:to>
                                        <p:strVal val="visible"/>
                                      </p:to>
                                    </p:set>
                                    <p:anim calcmode="lin" valueType="num">
                                      <p:cBhvr>
                                        <p:cTn id="51" dur="500" fill="hold"/>
                                        <p:tgtEl>
                                          <p:spTgt spid="29711"/>
                                        </p:tgtEl>
                                        <p:attrNameLst>
                                          <p:attrName>ppt_x</p:attrName>
                                        </p:attrNameLst>
                                      </p:cBhvr>
                                      <p:tavLst>
                                        <p:tav tm="0">
                                          <p:val>
                                            <p:strVal val="#ppt_x"/>
                                          </p:val>
                                        </p:tav>
                                        <p:tav tm="100000">
                                          <p:val>
                                            <p:strVal val="#ppt_x"/>
                                          </p:val>
                                        </p:tav>
                                      </p:tavLst>
                                    </p:anim>
                                    <p:anim calcmode="lin" valueType="num">
                                      <p:cBhvr>
                                        <p:cTn id="52" dur="500" fill="hold"/>
                                        <p:tgtEl>
                                          <p:spTgt spid="29711"/>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9712"/>
                                        </p:tgtEl>
                                        <p:attrNameLst>
                                          <p:attrName>style.visibility</p:attrName>
                                        </p:attrNameLst>
                                      </p:cBhvr>
                                      <p:to>
                                        <p:strVal val="visible"/>
                                      </p:to>
                                    </p:set>
                                    <p:anim calcmode="lin" valueType="num">
                                      <p:cBhvr>
                                        <p:cTn id="55" dur="500" fill="hold"/>
                                        <p:tgtEl>
                                          <p:spTgt spid="29712"/>
                                        </p:tgtEl>
                                        <p:attrNameLst>
                                          <p:attrName>ppt_x</p:attrName>
                                        </p:attrNameLst>
                                      </p:cBhvr>
                                      <p:tavLst>
                                        <p:tav tm="0">
                                          <p:val>
                                            <p:strVal val="#ppt_x"/>
                                          </p:val>
                                        </p:tav>
                                        <p:tav tm="100000">
                                          <p:val>
                                            <p:strVal val="#ppt_x"/>
                                          </p:val>
                                        </p:tav>
                                      </p:tavLst>
                                    </p:anim>
                                    <p:anim calcmode="lin" valueType="num">
                                      <p:cBhvr>
                                        <p:cTn id="56" dur="500" fill="hold"/>
                                        <p:tgtEl>
                                          <p:spTgt spid="29712"/>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9713"/>
                                        </p:tgtEl>
                                        <p:attrNameLst>
                                          <p:attrName>style.visibility</p:attrName>
                                        </p:attrNameLst>
                                      </p:cBhvr>
                                      <p:to>
                                        <p:strVal val="visible"/>
                                      </p:to>
                                    </p:set>
                                    <p:anim calcmode="lin" valueType="num">
                                      <p:cBhvr>
                                        <p:cTn id="59" dur="500" fill="hold"/>
                                        <p:tgtEl>
                                          <p:spTgt spid="29713"/>
                                        </p:tgtEl>
                                        <p:attrNameLst>
                                          <p:attrName>ppt_x</p:attrName>
                                        </p:attrNameLst>
                                      </p:cBhvr>
                                      <p:tavLst>
                                        <p:tav tm="0">
                                          <p:val>
                                            <p:strVal val="#ppt_x"/>
                                          </p:val>
                                        </p:tav>
                                        <p:tav tm="100000">
                                          <p:val>
                                            <p:strVal val="#ppt_x"/>
                                          </p:val>
                                        </p:tav>
                                      </p:tavLst>
                                    </p:anim>
                                    <p:anim calcmode="lin" valueType="num">
                                      <p:cBhvr>
                                        <p:cTn id="60" dur="500" fill="hold"/>
                                        <p:tgtEl>
                                          <p:spTgt spid="29713"/>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9714"/>
                                        </p:tgtEl>
                                        <p:attrNameLst>
                                          <p:attrName>style.visibility</p:attrName>
                                        </p:attrNameLst>
                                      </p:cBhvr>
                                      <p:to>
                                        <p:strVal val="visible"/>
                                      </p:to>
                                    </p:set>
                                    <p:anim calcmode="lin" valueType="num">
                                      <p:cBhvr>
                                        <p:cTn id="63" dur="500" fill="hold"/>
                                        <p:tgtEl>
                                          <p:spTgt spid="29714"/>
                                        </p:tgtEl>
                                        <p:attrNameLst>
                                          <p:attrName>ppt_x</p:attrName>
                                        </p:attrNameLst>
                                      </p:cBhvr>
                                      <p:tavLst>
                                        <p:tav tm="0">
                                          <p:val>
                                            <p:strVal val="#ppt_x"/>
                                          </p:val>
                                        </p:tav>
                                        <p:tav tm="100000">
                                          <p:val>
                                            <p:strVal val="#ppt_x"/>
                                          </p:val>
                                        </p:tav>
                                      </p:tavLst>
                                    </p:anim>
                                    <p:anim calcmode="lin" valueType="num">
                                      <p:cBhvr>
                                        <p:cTn id="64" dur="500" fill="hold"/>
                                        <p:tgtEl>
                                          <p:spTgt spid="29714"/>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9715"/>
                                        </p:tgtEl>
                                        <p:attrNameLst>
                                          <p:attrName>style.visibility</p:attrName>
                                        </p:attrNameLst>
                                      </p:cBhvr>
                                      <p:to>
                                        <p:strVal val="visible"/>
                                      </p:to>
                                    </p:set>
                                    <p:anim calcmode="lin" valueType="num">
                                      <p:cBhvr>
                                        <p:cTn id="67" dur="500" fill="hold"/>
                                        <p:tgtEl>
                                          <p:spTgt spid="29715"/>
                                        </p:tgtEl>
                                        <p:attrNameLst>
                                          <p:attrName>ppt_x</p:attrName>
                                        </p:attrNameLst>
                                      </p:cBhvr>
                                      <p:tavLst>
                                        <p:tav tm="0">
                                          <p:val>
                                            <p:strVal val="#ppt_x"/>
                                          </p:val>
                                        </p:tav>
                                        <p:tav tm="100000">
                                          <p:val>
                                            <p:strVal val="#ppt_x"/>
                                          </p:val>
                                        </p:tav>
                                      </p:tavLst>
                                    </p:anim>
                                    <p:anim calcmode="lin" valueType="num">
                                      <p:cBhvr>
                                        <p:cTn id="68" dur="500" fill="hold"/>
                                        <p:tgtEl>
                                          <p:spTgt spid="29715"/>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9716"/>
                                        </p:tgtEl>
                                        <p:attrNameLst>
                                          <p:attrName>style.visibility</p:attrName>
                                        </p:attrNameLst>
                                      </p:cBhvr>
                                      <p:to>
                                        <p:strVal val="visible"/>
                                      </p:to>
                                    </p:set>
                                    <p:anim calcmode="lin" valueType="num">
                                      <p:cBhvr>
                                        <p:cTn id="71" dur="500" fill="hold"/>
                                        <p:tgtEl>
                                          <p:spTgt spid="29716"/>
                                        </p:tgtEl>
                                        <p:attrNameLst>
                                          <p:attrName>ppt_x</p:attrName>
                                        </p:attrNameLst>
                                      </p:cBhvr>
                                      <p:tavLst>
                                        <p:tav tm="0">
                                          <p:val>
                                            <p:strVal val="#ppt_x"/>
                                          </p:val>
                                        </p:tav>
                                        <p:tav tm="100000">
                                          <p:val>
                                            <p:strVal val="#ppt_x"/>
                                          </p:val>
                                        </p:tav>
                                      </p:tavLst>
                                    </p:anim>
                                    <p:anim calcmode="lin" valueType="num">
                                      <p:cBhvr>
                                        <p:cTn id="72" dur="500" fill="hold"/>
                                        <p:tgtEl>
                                          <p:spTgt spid="29716"/>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9717"/>
                                        </p:tgtEl>
                                        <p:attrNameLst>
                                          <p:attrName>style.visibility</p:attrName>
                                        </p:attrNameLst>
                                      </p:cBhvr>
                                      <p:to>
                                        <p:strVal val="visible"/>
                                      </p:to>
                                    </p:set>
                                    <p:anim calcmode="lin" valueType="num">
                                      <p:cBhvr>
                                        <p:cTn id="75" dur="500" fill="hold"/>
                                        <p:tgtEl>
                                          <p:spTgt spid="29717"/>
                                        </p:tgtEl>
                                        <p:attrNameLst>
                                          <p:attrName>ppt_x</p:attrName>
                                        </p:attrNameLst>
                                      </p:cBhvr>
                                      <p:tavLst>
                                        <p:tav tm="0">
                                          <p:val>
                                            <p:strVal val="#ppt_x"/>
                                          </p:val>
                                        </p:tav>
                                        <p:tav tm="100000">
                                          <p:val>
                                            <p:strVal val="#ppt_x"/>
                                          </p:val>
                                        </p:tav>
                                      </p:tavLst>
                                    </p:anim>
                                    <p:anim calcmode="lin" valueType="num">
                                      <p:cBhvr>
                                        <p:cTn id="76" dur="500" fill="hold"/>
                                        <p:tgtEl>
                                          <p:spTgt spid="29717"/>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9718"/>
                                        </p:tgtEl>
                                        <p:attrNameLst>
                                          <p:attrName>style.visibility</p:attrName>
                                        </p:attrNameLst>
                                      </p:cBhvr>
                                      <p:to>
                                        <p:strVal val="visible"/>
                                      </p:to>
                                    </p:set>
                                    <p:anim calcmode="lin" valueType="num">
                                      <p:cBhvr>
                                        <p:cTn id="79" dur="500" fill="hold"/>
                                        <p:tgtEl>
                                          <p:spTgt spid="29718"/>
                                        </p:tgtEl>
                                        <p:attrNameLst>
                                          <p:attrName>ppt_x</p:attrName>
                                        </p:attrNameLst>
                                      </p:cBhvr>
                                      <p:tavLst>
                                        <p:tav tm="0">
                                          <p:val>
                                            <p:strVal val="#ppt_x"/>
                                          </p:val>
                                        </p:tav>
                                        <p:tav tm="100000">
                                          <p:val>
                                            <p:strVal val="#ppt_x"/>
                                          </p:val>
                                        </p:tav>
                                      </p:tavLst>
                                    </p:anim>
                                    <p:anim calcmode="lin" valueType="num">
                                      <p:cBhvr>
                                        <p:cTn id="80" dur="500" fill="hold"/>
                                        <p:tgtEl>
                                          <p:spTgt spid="29718"/>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9719"/>
                                        </p:tgtEl>
                                        <p:attrNameLst>
                                          <p:attrName>style.visibility</p:attrName>
                                        </p:attrNameLst>
                                      </p:cBhvr>
                                      <p:to>
                                        <p:strVal val="visible"/>
                                      </p:to>
                                    </p:set>
                                    <p:anim calcmode="lin" valueType="num">
                                      <p:cBhvr>
                                        <p:cTn id="83" dur="500" fill="hold"/>
                                        <p:tgtEl>
                                          <p:spTgt spid="29719"/>
                                        </p:tgtEl>
                                        <p:attrNameLst>
                                          <p:attrName>ppt_x</p:attrName>
                                        </p:attrNameLst>
                                      </p:cBhvr>
                                      <p:tavLst>
                                        <p:tav tm="0">
                                          <p:val>
                                            <p:strVal val="#ppt_x"/>
                                          </p:val>
                                        </p:tav>
                                        <p:tav tm="100000">
                                          <p:val>
                                            <p:strVal val="#ppt_x"/>
                                          </p:val>
                                        </p:tav>
                                      </p:tavLst>
                                    </p:anim>
                                    <p:anim calcmode="lin" valueType="num">
                                      <p:cBhvr>
                                        <p:cTn id="84" dur="500" fill="hold"/>
                                        <p:tgtEl>
                                          <p:spTgt spid="29719"/>
                                        </p:tgtEl>
                                        <p:attrNameLst>
                                          <p:attrName>ppt_y</p:attrName>
                                        </p:attrNameLst>
                                      </p:cBhvr>
                                      <p:tavLst>
                                        <p:tav tm="0">
                                          <p:val>
                                            <p:strVal val="1+#ppt_h/2"/>
                                          </p:val>
                                        </p:tav>
                                        <p:tav tm="100000">
                                          <p:val>
                                            <p:strVal val="#ppt_y"/>
                                          </p:val>
                                        </p:tav>
                                      </p:tavLst>
                                    </p:anim>
                                  </p:childTnLst>
                                </p:cTn>
                              </p:par>
                              <p:par>
                                <p:cTn id="85" presetID="2" presetClass="entr" presetSubtype="4" fill="hold" nodeType="withEffect">
                                  <p:stCondLst>
                                    <p:cond delay="0"/>
                                  </p:stCondLst>
                                  <p:childTnLst>
                                    <p:set>
                                      <p:cBhvr>
                                        <p:cTn id="86" dur="1" fill="hold">
                                          <p:stCondLst>
                                            <p:cond delay="0"/>
                                          </p:stCondLst>
                                        </p:cTn>
                                        <p:tgtEl>
                                          <p:spTgt spid="29720"/>
                                        </p:tgtEl>
                                        <p:attrNameLst>
                                          <p:attrName>style.visibility</p:attrName>
                                        </p:attrNameLst>
                                      </p:cBhvr>
                                      <p:to>
                                        <p:strVal val="visible"/>
                                      </p:to>
                                    </p:set>
                                    <p:anim calcmode="lin" valueType="num">
                                      <p:cBhvr>
                                        <p:cTn id="87" dur="500" fill="hold"/>
                                        <p:tgtEl>
                                          <p:spTgt spid="29720"/>
                                        </p:tgtEl>
                                        <p:attrNameLst>
                                          <p:attrName>ppt_x</p:attrName>
                                        </p:attrNameLst>
                                      </p:cBhvr>
                                      <p:tavLst>
                                        <p:tav tm="0">
                                          <p:val>
                                            <p:strVal val="#ppt_x"/>
                                          </p:val>
                                        </p:tav>
                                        <p:tav tm="100000">
                                          <p:val>
                                            <p:strVal val="#ppt_x"/>
                                          </p:val>
                                        </p:tav>
                                      </p:tavLst>
                                    </p:anim>
                                    <p:anim calcmode="lin" valueType="num">
                                      <p:cBhvr>
                                        <p:cTn id="88" dur="500" fill="hold"/>
                                        <p:tgtEl>
                                          <p:spTgt spid="29720"/>
                                        </p:tgtEl>
                                        <p:attrNameLst>
                                          <p:attrName>ppt_y</p:attrName>
                                        </p:attrNameLst>
                                      </p:cBhvr>
                                      <p:tavLst>
                                        <p:tav tm="0">
                                          <p:val>
                                            <p:strVal val="1+#ppt_h/2"/>
                                          </p:val>
                                        </p:tav>
                                        <p:tav tm="100000">
                                          <p:val>
                                            <p:strVal val="#ppt_y"/>
                                          </p:val>
                                        </p:tav>
                                      </p:tavLst>
                                    </p:anim>
                                  </p:childTnLst>
                                </p:cTn>
                              </p:par>
                              <p:par>
                                <p:cTn id="89" presetID="2" presetClass="entr" presetSubtype="4" fill="hold" nodeType="withEffect">
                                  <p:stCondLst>
                                    <p:cond delay="0"/>
                                  </p:stCondLst>
                                  <p:childTnLst>
                                    <p:set>
                                      <p:cBhvr>
                                        <p:cTn id="90" dur="1" fill="hold">
                                          <p:stCondLst>
                                            <p:cond delay="0"/>
                                          </p:stCondLst>
                                        </p:cTn>
                                        <p:tgtEl>
                                          <p:spTgt spid="29721"/>
                                        </p:tgtEl>
                                        <p:attrNameLst>
                                          <p:attrName>style.visibility</p:attrName>
                                        </p:attrNameLst>
                                      </p:cBhvr>
                                      <p:to>
                                        <p:strVal val="visible"/>
                                      </p:to>
                                    </p:set>
                                    <p:anim calcmode="lin" valueType="num">
                                      <p:cBhvr>
                                        <p:cTn id="91" dur="500" fill="hold"/>
                                        <p:tgtEl>
                                          <p:spTgt spid="29721"/>
                                        </p:tgtEl>
                                        <p:attrNameLst>
                                          <p:attrName>ppt_x</p:attrName>
                                        </p:attrNameLst>
                                      </p:cBhvr>
                                      <p:tavLst>
                                        <p:tav tm="0">
                                          <p:val>
                                            <p:strVal val="#ppt_x"/>
                                          </p:val>
                                        </p:tav>
                                        <p:tav tm="100000">
                                          <p:val>
                                            <p:strVal val="#ppt_x"/>
                                          </p:val>
                                        </p:tav>
                                      </p:tavLst>
                                    </p:anim>
                                    <p:anim calcmode="lin" valueType="num">
                                      <p:cBhvr>
                                        <p:cTn id="92" dur="500" fill="hold"/>
                                        <p:tgtEl>
                                          <p:spTgt spid="29721"/>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29722"/>
                                        </p:tgtEl>
                                        <p:attrNameLst>
                                          <p:attrName>style.visibility</p:attrName>
                                        </p:attrNameLst>
                                      </p:cBhvr>
                                      <p:to>
                                        <p:strVal val="visible"/>
                                      </p:to>
                                    </p:set>
                                    <p:anim calcmode="lin" valueType="num">
                                      <p:cBhvr>
                                        <p:cTn id="95" dur="500" fill="hold"/>
                                        <p:tgtEl>
                                          <p:spTgt spid="29722"/>
                                        </p:tgtEl>
                                        <p:attrNameLst>
                                          <p:attrName>ppt_x</p:attrName>
                                        </p:attrNameLst>
                                      </p:cBhvr>
                                      <p:tavLst>
                                        <p:tav tm="0">
                                          <p:val>
                                            <p:strVal val="#ppt_x"/>
                                          </p:val>
                                        </p:tav>
                                        <p:tav tm="100000">
                                          <p:val>
                                            <p:strVal val="#ppt_x"/>
                                          </p:val>
                                        </p:tav>
                                      </p:tavLst>
                                    </p:anim>
                                    <p:anim calcmode="lin" valueType="num">
                                      <p:cBhvr>
                                        <p:cTn id="96" dur="500" fill="hold"/>
                                        <p:tgtEl>
                                          <p:spTgt spid="29722"/>
                                        </p:tgtEl>
                                        <p:attrNameLst>
                                          <p:attrName>ppt_y</p:attrName>
                                        </p:attrNameLst>
                                      </p:cBhvr>
                                      <p:tavLst>
                                        <p:tav tm="0">
                                          <p:val>
                                            <p:strVal val="1+#ppt_h/2"/>
                                          </p:val>
                                        </p:tav>
                                        <p:tav tm="100000">
                                          <p:val>
                                            <p:strVal val="#ppt_y"/>
                                          </p:val>
                                        </p:tav>
                                      </p:tavLst>
                                    </p:anim>
                                  </p:childTnLst>
                                </p:cTn>
                              </p:par>
                              <p:par>
                                <p:cTn id="97" presetID="2" presetClass="entr" presetSubtype="4" fill="hold" nodeType="withEffect">
                                  <p:stCondLst>
                                    <p:cond delay="0"/>
                                  </p:stCondLst>
                                  <p:childTnLst>
                                    <p:set>
                                      <p:cBhvr>
                                        <p:cTn id="98" dur="1" fill="hold">
                                          <p:stCondLst>
                                            <p:cond delay="0"/>
                                          </p:stCondLst>
                                        </p:cTn>
                                        <p:tgtEl>
                                          <p:spTgt spid="29723"/>
                                        </p:tgtEl>
                                        <p:attrNameLst>
                                          <p:attrName>style.visibility</p:attrName>
                                        </p:attrNameLst>
                                      </p:cBhvr>
                                      <p:to>
                                        <p:strVal val="visible"/>
                                      </p:to>
                                    </p:set>
                                    <p:anim calcmode="lin" valueType="num">
                                      <p:cBhvr>
                                        <p:cTn id="99" dur="500" fill="hold"/>
                                        <p:tgtEl>
                                          <p:spTgt spid="29723"/>
                                        </p:tgtEl>
                                        <p:attrNameLst>
                                          <p:attrName>ppt_x</p:attrName>
                                        </p:attrNameLst>
                                      </p:cBhvr>
                                      <p:tavLst>
                                        <p:tav tm="0">
                                          <p:val>
                                            <p:strVal val="#ppt_x"/>
                                          </p:val>
                                        </p:tav>
                                        <p:tav tm="100000">
                                          <p:val>
                                            <p:strVal val="#ppt_x"/>
                                          </p:val>
                                        </p:tav>
                                      </p:tavLst>
                                    </p:anim>
                                    <p:anim calcmode="lin" valueType="num">
                                      <p:cBhvr>
                                        <p:cTn id="100" dur="500" fill="hold"/>
                                        <p:tgtEl>
                                          <p:spTgt spid="29723"/>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29726"/>
                                        </p:tgtEl>
                                        <p:attrNameLst>
                                          <p:attrName>style.visibility</p:attrName>
                                        </p:attrNameLst>
                                      </p:cBhvr>
                                      <p:to>
                                        <p:strVal val="visible"/>
                                      </p:to>
                                    </p:set>
                                    <p:anim calcmode="lin" valueType="num">
                                      <p:cBhvr>
                                        <p:cTn id="103" dur="500" fill="hold"/>
                                        <p:tgtEl>
                                          <p:spTgt spid="29726"/>
                                        </p:tgtEl>
                                        <p:attrNameLst>
                                          <p:attrName>ppt_x</p:attrName>
                                        </p:attrNameLst>
                                      </p:cBhvr>
                                      <p:tavLst>
                                        <p:tav tm="0">
                                          <p:val>
                                            <p:strVal val="#ppt_x"/>
                                          </p:val>
                                        </p:tav>
                                        <p:tav tm="100000">
                                          <p:val>
                                            <p:strVal val="#ppt_x"/>
                                          </p:val>
                                        </p:tav>
                                      </p:tavLst>
                                    </p:anim>
                                    <p:anim calcmode="lin" valueType="num">
                                      <p:cBhvr>
                                        <p:cTn id="104" dur="500" fill="hold"/>
                                        <p:tgtEl>
                                          <p:spTgt spid="29726"/>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29727"/>
                                        </p:tgtEl>
                                        <p:attrNameLst>
                                          <p:attrName>style.visibility</p:attrName>
                                        </p:attrNameLst>
                                      </p:cBhvr>
                                      <p:to>
                                        <p:strVal val="visible"/>
                                      </p:to>
                                    </p:set>
                                    <p:anim calcmode="lin" valueType="num">
                                      <p:cBhvr>
                                        <p:cTn id="107" dur="500" fill="hold"/>
                                        <p:tgtEl>
                                          <p:spTgt spid="29727"/>
                                        </p:tgtEl>
                                        <p:attrNameLst>
                                          <p:attrName>ppt_x</p:attrName>
                                        </p:attrNameLst>
                                      </p:cBhvr>
                                      <p:tavLst>
                                        <p:tav tm="0">
                                          <p:val>
                                            <p:strVal val="#ppt_x"/>
                                          </p:val>
                                        </p:tav>
                                        <p:tav tm="100000">
                                          <p:val>
                                            <p:strVal val="#ppt_x"/>
                                          </p:val>
                                        </p:tav>
                                      </p:tavLst>
                                    </p:anim>
                                    <p:anim calcmode="lin" valueType="num">
                                      <p:cBhvr>
                                        <p:cTn id="108" dur="500" fill="hold"/>
                                        <p:tgtEl>
                                          <p:spTgt spid="29727"/>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29728"/>
                                        </p:tgtEl>
                                        <p:attrNameLst>
                                          <p:attrName>style.visibility</p:attrName>
                                        </p:attrNameLst>
                                      </p:cBhvr>
                                      <p:to>
                                        <p:strVal val="visible"/>
                                      </p:to>
                                    </p:set>
                                    <p:anim calcmode="lin" valueType="num">
                                      <p:cBhvr>
                                        <p:cTn id="111" dur="500" fill="hold"/>
                                        <p:tgtEl>
                                          <p:spTgt spid="29728"/>
                                        </p:tgtEl>
                                        <p:attrNameLst>
                                          <p:attrName>ppt_x</p:attrName>
                                        </p:attrNameLst>
                                      </p:cBhvr>
                                      <p:tavLst>
                                        <p:tav tm="0">
                                          <p:val>
                                            <p:strVal val="#ppt_x"/>
                                          </p:val>
                                        </p:tav>
                                        <p:tav tm="100000">
                                          <p:val>
                                            <p:strVal val="#ppt_x"/>
                                          </p:val>
                                        </p:tav>
                                      </p:tavLst>
                                    </p:anim>
                                    <p:anim calcmode="lin" valueType="num">
                                      <p:cBhvr>
                                        <p:cTn id="112" dur="500" fill="hold"/>
                                        <p:tgtEl>
                                          <p:spTgt spid="29728"/>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29729"/>
                                        </p:tgtEl>
                                        <p:attrNameLst>
                                          <p:attrName>style.visibility</p:attrName>
                                        </p:attrNameLst>
                                      </p:cBhvr>
                                      <p:to>
                                        <p:strVal val="visible"/>
                                      </p:to>
                                    </p:set>
                                    <p:anim calcmode="lin" valueType="num">
                                      <p:cBhvr>
                                        <p:cTn id="115" dur="500" fill="hold"/>
                                        <p:tgtEl>
                                          <p:spTgt spid="29729"/>
                                        </p:tgtEl>
                                        <p:attrNameLst>
                                          <p:attrName>ppt_x</p:attrName>
                                        </p:attrNameLst>
                                      </p:cBhvr>
                                      <p:tavLst>
                                        <p:tav tm="0">
                                          <p:val>
                                            <p:strVal val="#ppt_x"/>
                                          </p:val>
                                        </p:tav>
                                        <p:tav tm="100000">
                                          <p:val>
                                            <p:strVal val="#ppt_x"/>
                                          </p:val>
                                        </p:tav>
                                      </p:tavLst>
                                    </p:anim>
                                    <p:anim calcmode="lin" valueType="num">
                                      <p:cBhvr>
                                        <p:cTn id="116" dur="500" fill="hold"/>
                                        <p:tgtEl>
                                          <p:spTgt spid="29729"/>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29730"/>
                                        </p:tgtEl>
                                        <p:attrNameLst>
                                          <p:attrName>style.visibility</p:attrName>
                                        </p:attrNameLst>
                                      </p:cBhvr>
                                      <p:to>
                                        <p:strVal val="visible"/>
                                      </p:to>
                                    </p:set>
                                    <p:anim calcmode="lin" valueType="num">
                                      <p:cBhvr>
                                        <p:cTn id="119" dur="500" fill="hold"/>
                                        <p:tgtEl>
                                          <p:spTgt spid="29730"/>
                                        </p:tgtEl>
                                        <p:attrNameLst>
                                          <p:attrName>ppt_x</p:attrName>
                                        </p:attrNameLst>
                                      </p:cBhvr>
                                      <p:tavLst>
                                        <p:tav tm="0">
                                          <p:val>
                                            <p:strVal val="#ppt_x"/>
                                          </p:val>
                                        </p:tav>
                                        <p:tav tm="100000">
                                          <p:val>
                                            <p:strVal val="#ppt_x"/>
                                          </p:val>
                                        </p:tav>
                                      </p:tavLst>
                                    </p:anim>
                                    <p:anim calcmode="lin" valueType="num">
                                      <p:cBhvr>
                                        <p:cTn id="120" dur="500" fill="hold"/>
                                        <p:tgtEl>
                                          <p:spTgt spid="29730"/>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29731"/>
                                        </p:tgtEl>
                                        <p:attrNameLst>
                                          <p:attrName>style.visibility</p:attrName>
                                        </p:attrNameLst>
                                      </p:cBhvr>
                                      <p:to>
                                        <p:strVal val="visible"/>
                                      </p:to>
                                    </p:set>
                                    <p:anim calcmode="lin" valueType="num">
                                      <p:cBhvr>
                                        <p:cTn id="123" dur="500" fill="hold"/>
                                        <p:tgtEl>
                                          <p:spTgt spid="29731"/>
                                        </p:tgtEl>
                                        <p:attrNameLst>
                                          <p:attrName>ppt_x</p:attrName>
                                        </p:attrNameLst>
                                      </p:cBhvr>
                                      <p:tavLst>
                                        <p:tav tm="0">
                                          <p:val>
                                            <p:strVal val="#ppt_x"/>
                                          </p:val>
                                        </p:tav>
                                        <p:tav tm="100000">
                                          <p:val>
                                            <p:strVal val="#ppt_x"/>
                                          </p:val>
                                        </p:tav>
                                      </p:tavLst>
                                    </p:anim>
                                    <p:anim calcmode="lin" valueType="num">
                                      <p:cBhvr>
                                        <p:cTn id="124" dur="500" fill="hold"/>
                                        <p:tgtEl>
                                          <p:spTgt spid="29731"/>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29732"/>
                                        </p:tgtEl>
                                        <p:attrNameLst>
                                          <p:attrName>style.visibility</p:attrName>
                                        </p:attrNameLst>
                                      </p:cBhvr>
                                      <p:to>
                                        <p:strVal val="visible"/>
                                      </p:to>
                                    </p:set>
                                    <p:anim calcmode="lin" valueType="num">
                                      <p:cBhvr>
                                        <p:cTn id="127" dur="500" fill="hold"/>
                                        <p:tgtEl>
                                          <p:spTgt spid="29732"/>
                                        </p:tgtEl>
                                        <p:attrNameLst>
                                          <p:attrName>ppt_x</p:attrName>
                                        </p:attrNameLst>
                                      </p:cBhvr>
                                      <p:tavLst>
                                        <p:tav tm="0">
                                          <p:val>
                                            <p:strVal val="#ppt_x"/>
                                          </p:val>
                                        </p:tav>
                                        <p:tav tm="100000">
                                          <p:val>
                                            <p:strVal val="#ppt_x"/>
                                          </p:val>
                                        </p:tav>
                                      </p:tavLst>
                                    </p:anim>
                                    <p:anim calcmode="lin" valueType="num">
                                      <p:cBhvr>
                                        <p:cTn id="128" dur="500" fill="hold"/>
                                        <p:tgtEl>
                                          <p:spTgt spid="29732"/>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29733"/>
                                        </p:tgtEl>
                                        <p:attrNameLst>
                                          <p:attrName>style.visibility</p:attrName>
                                        </p:attrNameLst>
                                      </p:cBhvr>
                                      <p:to>
                                        <p:strVal val="visible"/>
                                      </p:to>
                                    </p:set>
                                    <p:anim calcmode="lin" valueType="num">
                                      <p:cBhvr>
                                        <p:cTn id="131" dur="500" fill="hold"/>
                                        <p:tgtEl>
                                          <p:spTgt spid="29733"/>
                                        </p:tgtEl>
                                        <p:attrNameLst>
                                          <p:attrName>ppt_x</p:attrName>
                                        </p:attrNameLst>
                                      </p:cBhvr>
                                      <p:tavLst>
                                        <p:tav tm="0">
                                          <p:val>
                                            <p:strVal val="#ppt_x"/>
                                          </p:val>
                                        </p:tav>
                                        <p:tav tm="100000">
                                          <p:val>
                                            <p:strVal val="#ppt_x"/>
                                          </p:val>
                                        </p:tav>
                                      </p:tavLst>
                                    </p:anim>
                                    <p:anim calcmode="lin" valueType="num">
                                      <p:cBhvr>
                                        <p:cTn id="132" dur="500" fill="hold"/>
                                        <p:tgtEl>
                                          <p:spTgt spid="29733"/>
                                        </p:tgtEl>
                                        <p:attrNameLst>
                                          <p:attrName>ppt_y</p:attrName>
                                        </p:attrNameLst>
                                      </p:cBhvr>
                                      <p:tavLst>
                                        <p:tav tm="0">
                                          <p:val>
                                            <p:strVal val="1+#ppt_h/2"/>
                                          </p:val>
                                        </p:tav>
                                        <p:tav tm="100000">
                                          <p:val>
                                            <p:strVal val="#ppt_y"/>
                                          </p:val>
                                        </p:tav>
                                      </p:tavLst>
                                    </p:anim>
                                  </p:childTnLst>
                                </p:cTn>
                              </p:par>
                              <p:par>
                                <p:cTn id="133" presetID="2" presetClass="entr" presetSubtype="4" fill="hold" nodeType="withEffect">
                                  <p:stCondLst>
                                    <p:cond delay="0"/>
                                  </p:stCondLst>
                                  <p:childTnLst>
                                    <p:set>
                                      <p:cBhvr>
                                        <p:cTn id="134" dur="1" fill="hold">
                                          <p:stCondLst>
                                            <p:cond delay="0"/>
                                          </p:stCondLst>
                                        </p:cTn>
                                        <p:tgtEl>
                                          <p:spTgt spid="29734"/>
                                        </p:tgtEl>
                                        <p:attrNameLst>
                                          <p:attrName>style.visibility</p:attrName>
                                        </p:attrNameLst>
                                      </p:cBhvr>
                                      <p:to>
                                        <p:strVal val="visible"/>
                                      </p:to>
                                    </p:set>
                                    <p:anim calcmode="lin" valueType="num">
                                      <p:cBhvr>
                                        <p:cTn id="135" dur="500" fill="hold"/>
                                        <p:tgtEl>
                                          <p:spTgt spid="29734"/>
                                        </p:tgtEl>
                                        <p:attrNameLst>
                                          <p:attrName>ppt_x</p:attrName>
                                        </p:attrNameLst>
                                      </p:cBhvr>
                                      <p:tavLst>
                                        <p:tav tm="0">
                                          <p:val>
                                            <p:strVal val="#ppt_x"/>
                                          </p:val>
                                        </p:tav>
                                        <p:tav tm="100000">
                                          <p:val>
                                            <p:strVal val="#ppt_x"/>
                                          </p:val>
                                        </p:tav>
                                      </p:tavLst>
                                    </p:anim>
                                    <p:anim calcmode="lin" valueType="num">
                                      <p:cBhvr>
                                        <p:cTn id="136" dur="500" fill="hold"/>
                                        <p:tgtEl>
                                          <p:spTgt spid="29734"/>
                                        </p:tgtEl>
                                        <p:attrNameLst>
                                          <p:attrName>ppt_y</p:attrName>
                                        </p:attrNameLst>
                                      </p:cBhvr>
                                      <p:tavLst>
                                        <p:tav tm="0">
                                          <p:val>
                                            <p:strVal val="1+#ppt_h/2"/>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4" fill="hold" grpId="0" nodeType="clickEffect">
                                  <p:stCondLst>
                                    <p:cond delay="0"/>
                                  </p:stCondLst>
                                  <p:childTnLst>
                                    <p:set>
                                      <p:cBhvr>
                                        <p:cTn id="140" dur="1" fill="hold">
                                          <p:stCondLst>
                                            <p:cond delay="0"/>
                                          </p:stCondLst>
                                        </p:cTn>
                                        <p:tgtEl>
                                          <p:spTgt spid="29724"/>
                                        </p:tgtEl>
                                        <p:attrNameLst>
                                          <p:attrName>style.visibility</p:attrName>
                                        </p:attrNameLst>
                                      </p:cBhvr>
                                      <p:to>
                                        <p:strVal val="visible"/>
                                      </p:to>
                                    </p:set>
                                    <p:anim calcmode="lin" valueType="num">
                                      <p:cBhvr>
                                        <p:cTn id="141" dur="500" fill="hold"/>
                                        <p:tgtEl>
                                          <p:spTgt spid="29724"/>
                                        </p:tgtEl>
                                        <p:attrNameLst>
                                          <p:attrName>ppt_x</p:attrName>
                                        </p:attrNameLst>
                                      </p:cBhvr>
                                      <p:tavLst>
                                        <p:tav tm="0">
                                          <p:val>
                                            <p:strVal val="#ppt_x"/>
                                          </p:val>
                                        </p:tav>
                                        <p:tav tm="100000">
                                          <p:val>
                                            <p:strVal val="#ppt_x"/>
                                          </p:val>
                                        </p:tav>
                                      </p:tavLst>
                                    </p:anim>
                                    <p:anim calcmode="lin" valueType="num">
                                      <p:cBhvr>
                                        <p:cTn id="142" dur="500" fill="hold"/>
                                        <p:tgtEl>
                                          <p:spTgt spid="29724"/>
                                        </p:tgtEl>
                                        <p:attrNameLst>
                                          <p:attrName>ppt_y</p:attrName>
                                        </p:attrNameLst>
                                      </p:cBhvr>
                                      <p:tavLst>
                                        <p:tav tm="0">
                                          <p:val>
                                            <p:strVal val="1+#ppt_h/2"/>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2" presetClass="entr" presetSubtype="4" fill="hold" grpId="0" nodeType="clickEffect">
                                  <p:stCondLst>
                                    <p:cond delay="0"/>
                                  </p:stCondLst>
                                  <p:childTnLst>
                                    <p:set>
                                      <p:cBhvr>
                                        <p:cTn id="146" dur="1" fill="hold">
                                          <p:stCondLst>
                                            <p:cond delay="0"/>
                                          </p:stCondLst>
                                        </p:cTn>
                                        <p:tgtEl>
                                          <p:spTgt spid="29725"/>
                                        </p:tgtEl>
                                        <p:attrNameLst>
                                          <p:attrName>style.visibility</p:attrName>
                                        </p:attrNameLst>
                                      </p:cBhvr>
                                      <p:to>
                                        <p:strVal val="visible"/>
                                      </p:to>
                                    </p:set>
                                    <p:anim calcmode="lin" valueType="num">
                                      <p:cBhvr>
                                        <p:cTn id="147" dur="500" fill="hold"/>
                                        <p:tgtEl>
                                          <p:spTgt spid="29725"/>
                                        </p:tgtEl>
                                        <p:attrNameLst>
                                          <p:attrName>ppt_x</p:attrName>
                                        </p:attrNameLst>
                                      </p:cBhvr>
                                      <p:tavLst>
                                        <p:tav tm="0">
                                          <p:val>
                                            <p:strVal val="#ppt_x"/>
                                          </p:val>
                                        </p:tav>
                                        <p:tav tm="100000">
                                          <p:val>
                                            <p:strVal val="#ppt_x"/>
                                          </p:val>
                                        </p:tav>
                                      </p:tavLst>
                                    </p:anim>
                                    <p:anim calcmode="lin" valueType="num">
                                      <p:cBhvr>
                                        <p:cTn id="148" dur="500" fill="hold"/>
                                        <p:tgtEl>
                                          <p:spTgt spid="297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animBg="1"/>
      <p:bldP spid="29704" grpId="0"/>
      <p:bldP spid="29705" grpId="0"/>
      <p:bldP spid="29706" grpId="0"/>
      <p:bldP spid="29707" grpId="0"/>
      <p:bldP spid="29708" grpId="0" animBg="1"/>
      <p:bldP spid="29712" grpId="0"/>
      <p:bldP spid="29713" grpId="0"/>
      <p:bldP spid="29714" grpId="0"/>
      <p:bldP spid="29715" grpId="0"/>
      <p:bldP spid="29718" grpId="0"/>
      <p:bldP spid="29719" grpId="0"/>
      <p:bldP spid="29724" grpId="0"/>
      <p:bldP spid="29725" grpId="0"/>
      <p:bldP spid="29726" grpId="0"/>
      <p:bldP spid="29727" grpId="0"/>
      <p:bldP spid="29728" grpId="0"/>
      <p:bldP spid="29729" grpId="0"/>
      <p:bldP spid="29730" grpId="0"/>
      <p:bldP spid="29731" grpId="0"/>
      <p:bldP spid="29732" grpId="0"/>
      <p:bldP spid="2973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1027"/>
          <p:cNvSpPr>
            <a:spLocks noGrp="1"/>
          </p:cNvSpPr>
          <p:nvPr>
            <p:ph type="body" idx="4294967295"/>
          </p:nvPr>
        </p:nvSpPr>
        <p:spPr>
          <a:xfrm>
            <a:off x="971550" y="1628775"/>
            <a:ext cx="7772400" cy="4464050"/>
          </a:xfrm>
        </p:spPr>
        <p:txBody>
          <a:bodyPr vert="horz" wrap="square" lIns="91440" tIns="45720" rIns="91440" bIns="45720" anchor="t" anchorCtr="0"/>
          <a:p>
            <a:pPr eaLnBrk="1" hangingPunct="1">
              <a:spcBef>
                <a:spcPct val="0"/>
              </a:spcBef>
              <a:buSzPct val="70000"/>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可用如下指令实现：</a:t>
            </a:r>
            <a:endParaRPr lang="zh-CN" altLang="en-US" dirty="0">
              <a:latin typeface="宋体" panose="02010600030101010101" pitchFamily="2" charset="-122"/>
              <a:ea typeface="宋体" panose="02010600030101010101" pitchFamily="2" charset="-122"/>
            </a:endParaRPr>
          </a:p>
          <a:p>
            <a:pPr marL="457200" lvl="1" indent="0" eaLnBrk="1" hangingPunct="1">
              <a:spcBef>
                <a:spcPct val="0"/>
              </a:spcBef>
              <a:buSzPct val="65000"/>
              <a:buNone/>
            </a:pPr>
            <a:r>
              <a:rPr lang="en-US" altLang="zh-CN" sz="2800" dirty="0">
                <a:latin typeface="宋体" panose="02010600030101010101" pitchFamily="2" charset="-122"/>
                <a:ea typeface="宋体" panose="02010600030101010101" pitchFamily="2" charset="-122"/>
              </a:rPr>
              <a:t>MOV  BX，2000H      ；BX←</a:t>
            </a:r>
            <a:r>
              <a:rPr lang="zh-CN" altLang="en-US" sz="2800" dirty="0">
                <a:latin typeface="宋体" panose="02010600030101010101" pitchFamily="2" charset="-122"/>
                <a:ea typeface="宋体" panose="02010600030101010101" pitchFamily="2" charset="-122"/>
              </a:rPr>
              <a:t>表首地址</a:t>
            </a:r>
            <a:endParaRPr lang="zh-CN" altLang="en-US" sz="2800" dirty="0">
              <a:latin typeface="宋体" panose="02010600030101010101" pitchFamily="2" charset="-122"/>
              <a:ea typeface="宋体" panose="02010600030101010101" pitchFamily="2" charset="-122"/>
            </a:endParaRPr>
          </a:p>
          <a:p>
            <a:pPr marL="457200" lvl="1" indent="0" eaLnBrk="1" hangingPunct="1">
              <a:spcBef>
                <a:spcPct val="0"/>
              </a:spcBef>
              <a:buSzPct val="65000"/>
              <a:buNone/>
            </a:pPr>
            <a:r>
              <a:rPr lang="en-US" altLang="zh-CN" sz="2800" dirty="0">
                <a:latin typeface="宋体" panose="02010600030101010101" pitchFamily="2" charset="-122"/>
                <a:ea typeface="宋体" panose="02010600030101010101" pitchFamily="2" charset="-122"/>
              </a:rPr>
              <a:t>MOV  AL，0BH        ；AL←</a:t>
            </a:r>
            <a:r>
              <a:rPr lang="zh-CN" altLang="en-US" sz="2800" dirty="0">
                <a:latin typeface="宋体" panose="02010600030101010101" pitchFamily="2" charset="-122"/>
                <a:ea typeface="宋体" panose="02010600030101010101" pitchFamily="2" charset="-122"/>
              </a:rPr>
              <a:t>序号</a:t>
            </a:r>
            <a:endParaRPr lang="zh-CN" altLang="en-US" sz="2800" dirty="0">
              <a:latin typeface="宋体" panose="02010600030101010101" pitchFamily="2" charset="-122"/>
              <a:ea typeface="宋体" panose="02010600030101010101" pitchFamily="2" charset="-122"/>
            </a:endParaRPr>
          </a:p>
          <a:p>
            <a:pPr marL="457200" lvl="1" indent="0" eaLnBrk="1" hangingPunct="1">
              <a:spcBef>
                <a:spcPct val="0"/>
              </a:spcBef>
              <a:buSzPct val="65000"/>
              <a:buNone/>
            </a:pPr>
            <a:r>
              <a:rPr lang="en-US" altLang="zh-CN" sz="2800" dirty="0">
                <a:latin typeface="宋体" panose="02010600030101010101" pitchFamily="2" charset="-122"/>
                <a:ea typeface="宋体" panose="02010600030101010101" pitchFamily="2" charset="-122"/>
              </a:rPr>
              <a:t>XLAT</a:t>
            </a:r>
            <a:r>
              <a:rPr lang="en-US" altLang="zh-CN" sz="2800" dirty="0">
                <a:solidFill>
                  <a:srgbClr val="0000FF"/>
                </a:solidFill>
                <a:latin typeface="宋体" panose="02010600030101010101" pitchFamily="2" charset="-122"/>
                <a:ea typeface="宋体" panose="02010600030101010101" pitchFamily="2" charset="-122"/>
              </a:rPr>
              <a:t> </a:t>
            </a:r>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查表转换</a:t>
            </a:r>
            <a:endParaRPr lang="zh-CN" altLang="en-US" sz="2800" dirty="0">
              <a:latin typeface="宋体" panose="02010600030101010101" pitchFamily="2" charset="-122"/>
              <a:ea typeface="宋体" panose="02010600030101010101" pitchFamily="2" charset="-122"/>
            </a:endParaRPr>
          </a:p>
          <a:p>
            <a:pPr eaLnBrk="1" hangingPunct="1">
              <a:spcBef>
                <a:spcPct val="30000"/>
              </a:spcBef>
              <a:buSzPct val="65000"/>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执行后：</a:t>
            </a:r>
            <a:r>
              <a:rPr lang="en-US" altLang="zh-CN" dirty="0">
                <a:latin typeface="宋体" panose="02010600030101010101" pitchFamily="2" charset="-122"/>
                <a:ea typeface="宋体" panose="02010600030101010101" pitchFamily="2" charset="-122"/>
              </a:rPr>
              <a:t>AL = 42H</a:t>
            </a:r>
            <a:endParaRPr lang="en-US" altLang="zh-CN" dirty="0">
              <a:latin typeface="宋体" panose="02010600030101010101" pitchFamily="2" charset="-122"/>
              <a:ea typeface="宋体" panose="02010600030101010101" pitchFamily="2" charset="-122"/>
            </a:endParaRPr>
          </a:p>
          <a:p>
            <a:pPr eaLnBrk="1" hangingPunct="1">
              <a:spcBef>
                <a:spcPct val="30000"/>
              </a:spcBef>
              <a:buSzPct val="65000"/>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还可用其他方法实现，如：</a:t>
            </a:r>
            <a:endParaRPr lang="zh-CN" altLang="en-US" dirty="0">
              <a:latin typeface="宋体" panose="02010600030101010101" pitchFamily="2" charset="-122"/>
              <a:ea typeface="宋体" panose="02010600030101010101" pitchFamily="2" charset="-122"/>
            </a:endParaRPr>
          </a:p>
          <a:p>
            <a:pPr marL="457200" lvl="1" indent="0" eaLnBrk="1" hangingPunct="1">
              <a:spcBef>
                <a:spcPct val="30000"/>
              </a:spcBef>
              <a:buSzPct val="65000"/>
              <a:buNone/>
            </a:pPr>
            <a:r>
              <a:rPr lang="en-US" altLang="zh-CN" sz="2800" dirty="0">
                <a:latin typeface="宋体" panose="02010600030101010101" pitchFamily="2" charset="-122"/>
                <a:ea typeface="宋体" panose="02010600030101010101" pitchFamily="2" charset="-122"/>
              </a:rPr>
              <a:t>MOV  BX</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2000H</a:t>
            </a:r>
            <a:endParaRPr lang="en-US" altLang="zh-CN" sz="2800" dirty="0">
              <a:latin typeface="宋体" panose="02010600030101010101" pitchFamily="2" charset="-122"/>
              <a:ea typeface="宋体" panose="02010600030101010101" pitchFamily="2" charset="-122"/>
            </a:endParaRPr>
          </a:p>
          <a:p>
            <a:pPr marL="457200" lvl="1" indent="0" eaLnBrk="1" hangingPunct="1">
              <a:spcBef>
                <a:spcPct val="30000"/>
              </a:spcBef>
              <a:buSzPct val="65000"/>
              <a:buNone/>
            </a:pPr>
            <a:r>
              <a:rPr lang="en-US" altLang="zh-CN" sz="2800" dirty="0">
                <a:latin typeface="宋体" panose="02010600030101010101" pitchFamily="2" charset="-122"/>
                <a:ea typeface="宋体" panose="02010600030101010101" pitchFamily="2" charset="-122"/>
              </a:rPr>
              <a:t>MOV  AL</a:t>
            </a:r>
            <a:r>
              <a:rPr lang="zh-CN" altLang="en-US" sz="2800" dirty="0">
                <a:latin typeface="宋体" panose="02010600030101010101" pitchFamily="2" charset="-122"/>
                <a:ea typeface="宋体" panose="02010600030101010101" pitchFamily="2" charset="-122"/>
              </a:rPr>
              <a:t>，</a:t>
            </a:r>
            <a:r>
              <a:rPr lang="en-US" altLang="zh-CN" sz="2800" dirty="0">
                <a:latin typeface="宋体" panose="02010600030101010101" pitchFamily="2" charset="-122"/>
                <a:ea typeface="宋体" panose="02010600030101010101" pitchFamily="2" charset="-122"/>
              </a:rPr>
              <a:t>[BX+0BH]</a:t>
            </a:r>
            <a:endParaRPr lang="en-US" altLang="zh-CN" sz="28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22">
                                            <p:txEl>
                                              <p:charRg st="0" end="10"/>
                                            </p:txEl>
                                          </p:spTgt>
                                        </p:tgtEl>
                                        <p:attrNameLst>
                                          <p:attrName>style.visibility</p:attrName>
                                        </p:attrNameLst>
                                      </p:cBhvr>
                                      <p:to>
                                        <p:strVal val="visible"/>
                                      </p:to>
                                    </p:set>
                                    <p:animEffect transition="in" filter="wipe(left)">
                                      <p:cBhvr>
                                        <p:cTn id="7" dur="500"/>
                                        <p:tgtEl>
                                          <p:spTgt spid="30722">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22">
                                            <p:txEl>
                                              <p:charRg st="10" end="38"/>
                                            </p:txEl>
                                          </p:spTgt>
                                        </p:tgtEl>
                                        <p:attrNameLst>
                                          <p:attrName>style.visibility</p:attrName>
                                        </p:attrNameLst>
                                      </p:cBhvr>
                                      <p:to>
                                        <p:strVal val="visible"/>
                                      </p:to>
                                    </p:set>
                                    <p:animEffect transition="in" filter="wipe(left)">
                                      <p:cBhvr>
                                        <p:cTn id="12" dur="500"/>
                                        <p:tgtEl>
                                          <p:spTgt spid="30722">
                                            <p:txEl>
                                              <p:charRg st="10" end="3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22">
                                            <p:txEl>
                                              <p:charRg st="38" end="64"/>
                                            </p:txEl>
                                          </p:spTgt>
                                        </p:tgtEl>
                                        <p:attrNameLst>
                                          <p:attrName>style.visibility</p:attrName>
                                        </p:attrNameLst>
                                      </p:cBhvr>
                                      <p:to>
                                        <p:strVal val="visible"/>
                                      </p:to>
                                    </p:set>
                                    <p:animEffect transition="in" filter="wipe(left)">
                                      <p:cBhvr>
                                        <p:cTn id="17" dur="500"/>
                                        <p:tgtEl>
                                          <p:spTgt spid="30722">
                                            <p:txEl>
                                              <p:charRg st="38" end="6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722">
                                            <p:txEl>
                                              <p:charRg st="64" end="90"/>
                                            </p:txEl>
                                          </p:spTgt>
                                        </p:tgtEl>
                                        <p:attrNameLst>
                                          <p:attrName>style.visibility</p:attrName>
                                        </p:attrNameLst>
                                      </p:cBhvr>
                                      <p:to>
                                        <p:strVal val="visible"/>
                                      </p:to>
                                    </p:set>
                                    <p:animEffect transition="in" filter="wipe(left)">
                                      <p:cBhvr>
                                        <p:cTn id="22" dur="500"/>
                                        <p:tgtEl>
                                          <p:spTgt spid="30722">
                                            <p:txEl>
                                              <p:charRg st="64" end="9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0722">
                                            <p:txEl>
                                              <p:charRg st="90" end="103"/>
                                            </p:txEl>
                                          </p:spTgt>
                                        </p:tgtEl>
                                        <p:attrNameLst>
                                          <p:attrName>style.visibility</p:attrName>
                                        </p:attrNameLst>
                                      </p:cBhvr>
                                      <p:to>
                                        <p:strVal val="visible"/>
                                      </p:to>
                                    </p:set>
                                    <p:animEffect transition="in" filter="wipe(left)">
                                      <p:cBhvr>
                                        <p:cTn id="27" dur="500"/>
                                        <p:tgtEl>
                                          <p:spTgt spid="30722">
                                            <p:txEl>
                                              <p:charRg st="90" end="10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0722">
                                            <p:txEl>
                                              <p:charRg st="103" end="116"/>
                                            </p:txEl>
                                          </p:spTgt>
                                        </p:tgtEl>
                                        <p:attrNameLst>
                                          <p:attrName>style.visibility</p:attrName>
                                        </p:attrNameLst>
                                      </p:cBhvr>
                                      <p:to>
                                        <p:strVal val="visible"/>
                                      </p:to>
                                    </p:set>
                                    <p:animEffect transition="in" filter="wipe(left)">
                                      <p:cBhvr>
                                        <p:cTn id="32" dur="500"/>
                                        <p:tgtEl>
                                          <p:spTgt spid="30722">
                                            <p:txEl>
                                              <p:charRg st="103" end="11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0722">
                                            <p:txEl>
                                              <p:charRg st="116" end="130"/>
                                            </p:txEl>
                                          </p:spTgt>
                                        </p:tgtEl>
                                        <p:attrNameLst>
                                          <p:attrName>style.visibility</p:attrName>
                                        </p:attrNameLst>
                                      </p:cBhvr>
                                      <p:to>
                                        <p:strVal val="visible"/>
                                      </p:to>
                                    </p:set>
                                    <p:animEffect transition="in" filter="wipe(left)">
                                      <p:cBhvr>
                                        <p:cTn id="37" dur="500"/>
                                        <p:tgtEl>
                                          <p:spTgt spid="30722">
                                            <p:txEl>
                                              <p:charRg st="116" end="130"/>
                                            </p:txEl>
                                          </p:spTgt>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30722">
                                            <p:txEl>
                                              <p:charRg st="130" end="147"/>
                                            </p:txEl>
                                          </p:spTgt>
                                        </p:tgtEl>
                                        <p:attrNameLst>
                                          <p:attrName>style.visibility</p:attrName>
                                        </p:attrNameLst>
                                      </p:cBhvr>
                                      <p:to>
                                        <p:strVal val="visible"/>
                                      </p:to>
                                    </p:set>
                                    <p:animEffect transition="in" filter="wipe(left)">
                                      <p:cBhvr>
                                        <p:cTn id="41" dur="500"/>
                                        <p:tgtEl>
                                          <p:spTgt spid="30722">
                                            <p:txEl>
                                              <p:charRg st="130" end="14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1026"/>
          <p:cNvSpPr>
            <a:spLocks noGrp="1"/>
          </p:cNvSpPr>
          <p:nvPr>
            <p:ph type="title" idx="4294967295"/>
          </p:nvPr>
        </p:nvSpPr>
        <p:spPr>
          <a:xfrm>
            <a:off x="611188" y="1125538"/>
            <a:ext cx="6553200" cy="563562"/>
          </a:xfrm>
        </p:spPr>
        <p:txBody>
          <a:bodyPr vert="horz" wrap="square" lIns="91440" tIns="45720" rIns="91440" bIns="45720" anchor="ctr" anchorCtr="0"/>
          <a:p>
            <a:pPr eaLnBrk="1" hangingPunct="1"/>
            <a:r>
              <a:rPr lang="zh-CN" altLang="en-US" dirty="0">
                <a:solidFill>
                  <a:srgbClr val="061E27"/>
                </a:solidFill>
                <a:latin typeface="宋体" panose="02010600030101010101" pitchFamily="2" charset="-122"/>
                <a:ea typeface="宋体" panose="02010600030101010101" pitchFamily="2" charset="-122"/>
              </a:rPr>
              <a:t>（</a:t>
            </a:r>
            <a:r>
              <a:rPr lang="en-US" altLang="zh-CN" dirty="0">
                <a:solidFill>
                  <a:srgbClr val="061E27"/>
                </a:solidFill>
                <a:latin typeface="宋体" panose="02010600030101010101" pitchFamily="2" charset="-122"/>
                <a:ea typeface="宋体" panose="02010600030101010101" pitchFamily="2" charset="-122"/>
              </a:rPr>
              <a:t>5</a:t>
            </a:r>
            <a:r>
              <a:rPr lang="zh-CN" altLang="en-US" dirty="0">
                <a:solidFill>
                  <a:srgbClr val="061E27"/>
                </a:solidFill>
                <a:latin typeface="宋体" panose="02010600030101010101" pitchFamily="2" charset="-122"/>
                <a:ea typeface="宋体" panose="02010600030101010101" pitchFamily="2" charset="-122"/>
              </a:rPr>
              <a:t>）字位扩展指令 </a:t>
            </a:r>
            <a:endParaRPr lang="zh-CN" altLang="en-US" dirty="0">
              <a:solidFill>
                <a:srgbClr val="061E27"/>
              </a:solidFill>
              <a:latin typeface="宋体" panose="02010600030101010101" pitchFamily="2" charset="-122"/>
              <a:ea typeface="宋体" panose="02010600030101010101" pitchFamily="2" charset="-122"/>
            </a:endParaRPr>
          </a:p>
        </p:txBody>
      </p:sp>
      <p:sp>
        <p:nvSpPr>
          <p:cNvPr id="31747" name="Rectangle 1027"/>
          <p:cNvSpPr>
            <a:spLocks noGrp="1"/>
          </p:cNvSpPr>
          <p:nvPr>
            <p:ph type="body" idx="4294967295"/>
          </p:nvPr>
        </p:nvSpPr>
        <p:spPr>
          <a:xfrm>
            <a:off x="611188" y="2060575"/>
            <a:ext cx="8137525" cy="4114800"/>
          </a:xfrm>
        </p:spPr>
        <p:txBody>
          <a:bodyPr vert="horz" wrap="square" lIns="91440" tIns="45720" rIns="91440" bIns="45720" anchor="t" anchorCtr="0"/>
          <a:p>
            <a:pPr eaLnBrk="1" hangingPunct="1">
              <a:spcBef>
                <a:spcPct val="30000"/>
              </a:spcBef>
              <a:spcAft>
                <a:spcPct val="40000"/>
              </a:spcAft>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将有符号数的符号位扩展到高位；</a:t>
            </a:r>
            <a:endParaRPr lang="zh-CN" altLang="en-US" dirty="0">
              <a:latin typeface="宋体" panose="02010600030101010101" pitchFamily="2" charset="-122"/>
              <a:ea typeface="宋体" panose="02010600030101010101" pitchFamily="2" charset="-122"/>
            </a:endParaRPr>
          </a:p>
          <a:p>
            <a:pPr eaLnBrk="1" hangingPunct="1">
              <a:spcBef>
                <a:spcPct val="30000"/>
              </a:spcBef>
              <a:spcAft>
                <a:spcPct val="40000"/>
              </a:spcAft>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指令为零操作数指令，采用隐含寻址，隐含的操作数为</a:t>
            </a:r>
            <a:r>
              <a:rPr lang="en-US" altLang="zh-CN" dirty="0">
                <a:solidFill>
                  <a:srgbClr val="FF0000"/>
                </a:solidFill>
                <a:latin typeface="宋体" panose="02010600030101010101" pitchFamily="2" charset="-122"/>
                <a:ea typeface="宋体" panose="02010600030101010101" pitchFamily="2" charset="-122"/>
              </a:rPr>
              <a:t>AX</a:t>
            </a:r>
            <a:r>
              <a:rPr lang="zh-CN" altLang="en-US" dirty="0">
                <a:latin typeface="宋体" panose="02010600030101010101" pitchFamily="2" charset="-122"/>
                <a:ea typeface="宋体" panose="02010600030101010101" pitchFamily="2" charset="-122"/>
              </a:rPr>
              <a:t>及</a:t>
            </a:r>
            <a:r>
              <a:rPr lang="en-US" altLang="zh-CN" dirty="0">
                <a:solidFill>
                  <a:srgbClr val="FF0000"/>
                </a:solidFill>
                <a:latin typeface="宋体" panose="02010600030101010101" pitchFamily="2" charset="-122"/>
                <a:ea typeface="宋体" panose="02010600030101010101" pitchFamily="2" charset="-122"/>
              </a:rPr>
              <a:t>AX，DX</a:t>
            </a:r>
            <a:endParaRPr lang="en-US" altLang="zh-CN" dirty="0">
              <a:solidFill>
                <a:srgbClr val="FF0000"/>
              </a:solidFill>
              <a:latin typeface="宋体" panose="02010600030101010101" pitchFamily="2" charset="-122"/>
              <a:ea typeface="宋体" panose="02010600030101010101" pitchFamily="2" charset="-122"/>
            </a:endParaRPr>
          </a:p>
          <a:p>
            <a:pPr eaLnBrk="1" hangingPunct="1">
              <a:spcBef>
                <a:spcPct val="30000"/>
              </a:spcBef>
              <a:spcAft>
                <a:spcPct val="40000"/>
              </a:spcAft>
              <a:buFont typeface="Wingdings" panose="05000000000000000000" pitchFamily="2" charset="2"/>
              <a:buChar char="Ø"/>
            </a:pPr>
            <a:r>
              <a:rPr lang="zh-CN" altLang="en-US" dirty="0">
                <a:solidFill>
                  <a:srgbClr val="FF0000"/>
                </a:solidFill>
                <a:latin typeface="宋体" panose="02010600030101010101" pitchFamily="2" charset="-122"/>
                <a:ea typeface="宋体" panose="02010600030101010101" pitchFamily="2" charset="-122"/>
              </a:rPr>
              <a:t>无符号数的扩展规则为在高位补0</a:t>
            </a:r>
            <a:endParaRPr lang="zh-CN" altLang="en-US"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747">
                                            <p:txEl>
                                              <p:charRg st="49" end="65"/>
                                            </p:txEl>
                                          </p:spTgt>
                                        </p:tgtEl>
                                        <p:attrNameLst>
                                          <p:attrName>style.visibility</p:attrName>
                                        </p:attrNameLst>
                                      </p:cBhvr>
                                      <p:to>
                                        <p:strVal val="visible"/>
                                      </p:to>
                                    </p:set>
                                    <p:animEffect transition="in" filter="wipe(left)">
                                      <p:cBhvr>
                                        <p:cTn id="7" dur="500"/>
                                        <p:tgtEl>
                                          <p:spTgt spid="31747">
                                            <p:txEl>
                                              <p:charRg st="49" end="6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1026"/>
          <p:cNvSpPr>
            <a:spLocks noGrp="1"/>
          </p:cNvSpPr>
          <p:nvPr>
            <p:ph type="title" idx="4294967295"/>
          </p:nvPr>
        </p:nvSpPr>
        <p:spPr>
          <a:xfrm>
            <a:off x="1042988" y="1052513"/>
            <a:ext cx="6553200" cy="563562"/>
          </a:xfrm>
        </p:spPr>
        <p:txBody>
          <a:bodyPr vert="horz" wrap="square" lIns="91440" tIns="45720" rIns="91440" bIns="45720" anchor="ctr" anchorCtr="0"/>
          <a:p>
            <a:pPr marL="457200" indent="-457200">
              <a:buFont typeface="Wingdings" panose="05000000000000000000" pitchFamily="2" charset="2"/>
              <a:buChar char="Ø"/>
            </a:pPr>
            <a:r>
              <a:rPr lang="zh-CN" altLang="en-US" dirty="0">
                <a:solidFill>
                  <a:srgbClr val="061E27"/>
                </a:solidFill>
                <a:ea typeface="宋体" panose="02010600030101010101" pitchFamily="2" charset="-122"/>
              </a:rPr>
              <a:t>字节到字的扩展指令</a:t>
            </a:r>
            <a:endParaRPr lang="zh-CN" altLang="en-US" dirty="0">
              <a:solidFill>
                <a:srgbClr val="061E27"/>
              </a:solidFill>
              <a:ea typeface="宋体" panose="02010600030101010101" pitchFamily="2" charset="-122"/>
            </a:endParaRPr>
          </a:p>
        </p:txBody>
      </p:sp>
      <p:sp>
        <p:nvSpPr>
          <p:cNvPr id="32771" name="Rectangle 1027"/>
          <p:cNvSpPr>
            <a:spLocks noGrp="1"/>
          </p:cNvSpPr>
          <p:nvPr>
            <p:ph type="body" idx="4294967295"/>
          </p:nvPr>
        </p:nvSpPr>
        <p:spPr>
          <a:xfrm>
            <a:off x="1042988" y="2087563"/>
            <a:ext cx="7421562" cy="3862387"/>
          </a:xfrm>
        </p:spPr>
        <p:txBody>
          <a:bodyPr vert="horz" wrap="square" lIns="91440" tIns="45720" rIns="91440" bIns="45720" anchor="t" anchorCtr="0"/>
          <a:p>
            <a:pPr>
              <a:buFont typeface="Wingdings" panose="05000000000000000000" pitchFamily="2" charset="2"/>
              <a:buChar char="l"/>
            </a:pPr>
            <a:r>
              <a:rPr lang="zh-CN" altLang="en-US" dirty="0">
                <a:ea typeface="宋体" panose="02010600030101010101" pitchFamily="2" charset="-122"/>
              </a:rPr>
              <a:t>格式：</a:t>
            </a:r>
            <a:endParaRPr lang="en-US" altLang="zh-CN" dirty="0">
              <a:ea typeface="宋体" panose="02010600030101010101" pitchFamily="2" charset="-122"/>
            </a:endParaRPr>
          </a:p>
          <a:p>
            <a:pPr lvl="1">
              <a:buFont typeface="Wingdings" panose="05000000000000000000" pitchFamily="2" charset="2"/>
              <a:buChar char="•"/>
            </a:pPr>
            <a:r>
              <a:rPr lang="en-US" altLang="zh-CN" dirty="0">
                <a:ea typeface="宋体" panose="02010600030101010101" pitchFamily="2" charset="-122"/>
              </a:rPr>
              <a:t>CBW</a:t>
            </a:r>
            <a:endParaRPr lang="en-US" altLang="zh-CN" dirty="0">
              <a:ea typeface="宋体" panose="02010600030101010101" pitchFamily="2" charset="-122"/>
            </a:endParaRPr>
          </a:p>
          <a:p>
            <a:pPr>
              <a:buFont typeface="Wingdings" panose="05000000000000000000" pitchFamily="2" charset="2"/>
              <a:buChar char="l"/>
            </a:pPr>
            <a:r>
              <a:rPr lang="zh-CN" altLang="en-US" dirty="0">
                <a:ea typeface="宋体" panose="02010600030101010101" pitchFamily="2" charset="-122"/>
              </a:rPr>
              <a:t>操作：</a:t>
            </a:r>
            <a:endParaRPr lang="en-US" altLang="zh-CN" dirty="0">
              <a:ea typeface="宋体" panose="02010600030101010101" pitchFamily="2" charset="-122"/>
            </a:endParaRPr>
          </a:p>
          <a:p>
            <a:pPr lvl="1">
              <a:spcAft>
                <a:spcPct val="40000"/>
              </a:spcAft>
              <a:buFont typeface="Wingdings" panose="05000000000000000000" pitchFamily="2" charset="2"/>
              <a:buChar char="•"/>
            </a:pPr>
            <a:r>
              <a:rPr lang="zh-CN" altLang="en-US" dirty="0">
                <a:ea typeface="宋体" panose="02010600030101010101" pitchFamily="2" charset="-122"/>
              </a:rPr>
              <a:t>将</a:t>
            </a:r>
            <a:r>
              <a:rPr lang="en-US" altLang="zh-CN" dirty="0">
                <a:ea typeface="宋体" panose="02010600030101010101" pitchFamily="2" charset="-122"/>
              </a:rPr>
              <a:t>AL</a:t>
            </a:r>
            <a:r>
              <a:rPr lang="zh-CN" altLang="en-US" dirty="0">
                <a:ea typeface="宋体" panose="02010600030101010101" pitchFamily="2" charset="-122"/>
              </a:rPr>
              <a:t>内容扩展到</a:t>
            </a:r>
            <a:r>
              <a:rPr lang="en-US" altLang="zh-CN" dirty="0">
                <a:ea typeface="宋体" panose="02010600030101010101" pitchFamily="2" charset="-122"/>
              </a:rPr>
              <a:t>AX</a:t>
            </a:r>
            <a:endParaRPr lang="en-US" altLang="zh-CN" dirty="0">
              <a:ea typeface="宋体" panose="02010600030101010101" pitchFamily="2" charset="-122"/>
            </a:endParaRPr>
          </a:p>
          <a:p>
            <a:pPr>
              <a:buFont typeface="Wingdings" panose="05000000000000000000" pitchFamily="2" charset="2"/>
              <a:buChar char="l"/>
            </a:pPr>
            <a:r>
              <a:rPr lang="zh-CN" altLang="en-US" dirty="0">
                <a:ea typeface="宋体" panose="02010600030101010101" pitchFamily="2" charset="-122"/>
              </a:rPr>
              <a:t>规则：</a:t>
            </a:r>
            <a:endParaRPr lang="zh-CN" altLang="en-US" dirty="0">
              <a:ea typeface="宋体" panose="02010600030101010101" pitchFamily="2" charset="-122"/>
            </a:endParaRPr>
          </a:p>
          <a:p>
            <a:pPr lvl="1"/>
            <a:r>
              <a:rPr lang="zh-CN" altLang="en-US" dirty="0">
                <a:ea typeface="宋体" panose="02010600030101010101" pitchFamily="2" charset="-122"/>
              </a:rPr>
              <a:t>若最高位=1，则执行后</a:t>
            </a:r>
            <a:r>
              <a:rPr lang="en-US" altLang="zh-CN" dirty="0">
                <a:ea typeface="宋体" panose="02010600030101010101" pitchFamily="2" charset="-122"/>
              </a:rPr>
              <a:t>AH=FFH</a:t>
            </a:r>
            <a:endParaRPr lang="en-US" altLang="zh-CN" dirty="0">
              <a:ea typeface="宋体" panose="02010600030101010101" pitchFamily="2" charset="-122"/>
            </a:endParaRPr>
          </a:p>
          <a:p>
            <a:pPr lvl="1"/>
            <a:r>
              <a:rPr lang="zh-CN" altLang="en-US" dirty="0">
                <a:ea typeface="宋体" panose="02010600030101010101" pitchFamily="2" charset="-122"/>
              </a:rPr>
              <a:t>若最高位=0，则执行后</a:t>
            </a:r>
            <a:r>
              <a:rPr lang="en-US" altLang="zh-CN" dirty="0">
                <a:ea typeface="宋体" panose="02010600030101010101" pitchFamily="2" charset="-122"/>
              </a:rPr>
              <a:t>AH=00H</a:t>
            </a:r>
            <a:endParaRPr lang="zh-CN" altLang="en-US"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2771">
                                            <p:txEl>
                                              <p:charRg st="0" end="4"/>
                                            </p:txEl>
                                          </p:spTgt>
                                        </p:tgtEl>
                                        <p:attrNameLst>
                                          <p:attrName>style.visibility</p:attrName>
                                        </p:attrNameLst>
                                      </p:cBhvr>
                                      <p:to>
                                        <p:strVal val="visible"/>
                                      </p:to>
                                    </p:set>
                                    <p:animEffect transition="in" filter="wipe(left)">
                                      <p:cBhvr>
                                        <p:cTn id="7" dur="500"/>
                                        <p:tgtEl>
                                          <p:spTgt spid="32771">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2771">
                                            <p:txEl>
                                              <p:charRg st="4" end="8"/>
                                            </p:txEl>
                                          </p:spTgt>
                                        </p:tgtEl>
                                        <p:attrNameLst>
                                          <p:attrName>style.visibility</p:attrName>
                                        </p:attrNameLst>
                                      </p:cBhvr>
                                      <p:to>
                                        <p:strVal val="visible"/>
                                      </p:to>
                                    </p:set>
                                    <p:animEffect transition="in" filter="wipe(left)">
                                      <p:cBhvr>
                                        <p:cTn id="11" dur="500"/>
                                        <p:tgtEl>
                                          <p:spTgt spid="32771">
                                            <p:txEl>
                                              <p:charRg st="4" end="8"/>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2771">
                                            <p:txEl>
                                              <p:charRg st="8" end="12"/>
                                            </p:txEl>
                                          </p:spTgt>
                                        </p:tgtEl>
                                        <p:attrNameLst>
                                          <p:attrName>style.visibility</p:attrName>
                                        </p:attrNameLst>
                                      </p:cBhvr>
                                      <p:to>
                                        <p:strVal val="visible"/>
                                      </p:to>
                                    </p:set>
                                    <p:animEffect transition="in" filter="wipe(left)">
                                      <p:cBhvr>
                                        <p:cTn id="16" dur="500"/>
                                        <p:tgtEl>
                                          <p:spTgt spid="32771">
                                            <p:txEl>
                                              <p:charRg st="8" end="1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2771">
                                            <p:txEl>
                                              <p:charRg st="12" end="23"/>
                                            </p:txEl>
                                          </p:spTgt>
                                        </p:tgtEl>
                                        <p:attrNameLst>
                                          <p:attrName>style.visibility</p:attrName>
                                        </p:attrNameLst>
                                      </p:cBhvr>
                                      <p:to>
                                        <p:strVal val="visible"/>
                                      </p:to>
                                    </p:set>
                                    <p:animEffect transition="in" filter="wipe(left)">
                                      <p:cBhvr>
                                        <p:cTn id="21" dur="500"/>
                                        <p:tgtEl>
                                          <p:spTgt spid="32771">
                                            <p:txEl>
                                              <p:charRg st="12" end="2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2771">
                                            <p:txEl>
                                              <p:charRg st="23" end="27"/>
                                            </p:txEl>
                                          </p:spTgt>
                                        </p:tgtEl>
                                        <p:attrNameLst>
                                          <p:attrName>style.visibility</p:attrName>
                                        </p:attrNameLst>
                                      </p:cBhvr>
                                      <p:to>
                                        <p:strVal val="visible"/>
                                      </p:to>
                                    </p:set>
                                    <p:animEffect transition="in" filter="wipe(left)">
                                      <p:cBhvr>
                                        <p:cTn id="26" dur="500"/>
                                        <p:tgtEl>
                                          <p:spTgt spid="32771">
                                            <p:txEl>
                                              <p:charRg st="23" end="27"/>
                                            </p:txEl>
                                          </p:spTgt>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32771">
                                            <p:txEl>
                                              <p:charRg st="27" end="45"/>
                                            </p:txEl>
                                          </p:spTgt>
                                        </p:tgtEl>
                                        <p:attrNameLst>
                                          <p:attrName>style.visibility</p:attrName>
                                        </p:attrNameLst>
                                      </p:cBhvr>
                                      <p:to>
                                        <p:strVal val="visible"/>
                                      </p:to>
                                    </p:set>
                                    <p:animEffect transition="in" filter="wipe(left)">
                                      <p:cBhvr>
                                        <p:cTn id="30" dur="500"/>
                                        <p:tgtEl>
                                          <p:spTgt spid="32771">
                                            <p:txEl>
                                              <p:charRg st="27" end="4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32771">
                                            <p:txEl>
                                              <p:charRg st="45" end="63"/>
                                            </p:txEl>
                                          </p:spTgt>
                                        </p:tgtEl>
                                        <p:attrNameLst>
                                          <p:attrName>style.visibility</p:attrName>
                                        </p:attrNameLst>
                                      </p:cBhvr>
                                      <p:to>
                                        <p:strVal val="visible"/>
                                      </p:to>
                                    </p:set>
                                    <p:animEffect transition="in" filter="wipe(left)">
                                      <p:cBhvr>
                                        <p:cTn id="35" dur="500"/>
                                        <p:tgtEl>
                                          <p:spTgt spid="32771">
                                            <p:txEl>
                                              <p:charRg st="45" end="6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4098"/>
          <p:cNvSpPr>
            <a:spLocks noGrp="1"/>
          </p:cNvSpPr>
          <p:nvPr>
            <p:ph type="title" idx="4294967295"/>
          </p:nvPr>
        </p:nvSpPr>
        <p:spPr>
          <a:xfrm>
            <a:off x="1182688" y="981075"/>
            <a:ext cx="6553200" cy="563563"/>
          </a:xfrm>
        </p:spPr>
        <p:txBody>
          <a:bodyPr vert="horz" wrap="square" lIns="91440" tIns="45720" rIns="91440" bIns="45720" anchor="ctr" anchorCtr="0"/>
          <a:p>
            <a:pPr marL="457200" indent="-457200">
              <a:buFont typeface="Wingdings" panose="05000000000000000000" pitchFamily="2" charset="2"/>
              <a:buChar char="Ø"/>
            </a:pPr>
            <a:r>
              <a:rPr lang="zh-CN" altLang="en-US" dirty="0">
                <a:solidFill>
                  <a:srgbClr val="061E27"/>
                </a:solidFill>
                <a:ea typeface="宋体" panose="02010600030101010101" pitchFamily="2" charset="-122"/>
              </a:rPr>
              <a:t>字到双字的扩展指令</a:t>
            </a:r>
            <a:endParaRPr lang="zh-CN" altLang="en-US" dirty="0">
              <a:solidFill>
                <a:srgbClr val="061E27"/>
              </a:solidFill>
              <a:ea typeface="宋体" panose="02010600030101010101" pitchFamily="2" charset="-122"/>
            </a:endParaRPr>
          </a:p>
        </p:txBody>
      </p:sp>
      <p:sp>
        <p:nvSpPr>
          <p:cNvPr id="33795" name="Rectangle 4099"/>
          <p:cNvSpPr>
            <a:spLocks noGrp="1"/>
          </p:cNvSpPr>
          <p:nvPr>
            <p:ph type="body" idx="4294967295"/>
          </p:nvPr>
        </p:nvSpPr>
        <p:spPr>
          <a:xfrm>
            <a:off x="1182688" y="2017713"/>
            <a:ext cx="6989762" cy="3810000"/>
          </a:xfrm>
        </p:spPr>
        <p:txBody>
          <a:bodyPr vert="horz" wrap="square" lIns="91440" tIns="45720" rIns="91440" bIns="45720" anchor="t" anchorCtr="0"/>
          <a:p>
            <a:pPr>
              <a:buFont typeface="Wingdings" panose="05000000000000000000" pitchFamily="2" charset="2"/>
              <a:buChar char="l"/>
            </a:pPr>
            <a:r>
              <a:rPr lang="zh-CN" altLang="en-US" dirty="0">
                <a:ea typeface="宋体" panose="02010600030101010101" pitchFamily="2" charset="-122"/>
              </a:rPr>
              <a:t>格式：</a:t>
            </a:r>
            <a:endParaRPr lang="en-US" altLang="zh-CN" dirty="0">
              <a:ea typeface="宋体" panose="02010600030101010101" pitchFamily="2" charset="-122"/>
            </a:endParaRPr>
          </a:p>
          <a:p>
            <a:pPr lvl="1">
              <a:buFont typeface="Wingdings" panose="05000000000000000000" pitchFamily="2" charset="2"/>
              <a:buChar char="•"/>
            </a:pPr>
            <a:r>
              <a:rPr lang="en-US" altLang="zh-CN" dirty="0">
                <a:ea typeface="宋体" panose="02010600030101010101" pitchFamily="2" charset="-122"/>
              </a:rPr>
              <a:t>CWD</a:t>
            </a:r>
            <a:endParaRPr lang="en-US" altLang="zh-CN" dirty="0">
              <a:ea typeface="宋体" panose="02010600030101010101" pitchFamily="2" charset="-122"/>
            </a:endParaRPr>
          </a:p>
          <a:p>
            <a:pPr>
              <a:spcBef>
                <a:spcPts val="1200"/>
              </a:spcBef>
              <a:buFont typeface="Wingdings" panose="05000000000000000000" pitchFamily="2" charset="2"/>
              <a:buChar char="l"/>
            </a:pPr>
            <a:r>
              <a:rPr lang="zh-CN" altLang="en-US" dirty="0">
                <a:ea typeface="宋体" panose="02010600030101010101" pitchFamily="2" charset="-122"/>
              </a:rPr>
              <a:t>操作：</a:t>
            </a:r>
            <a:endParaRPr lang="en-US" altLang="zh-CN" dirty="0">
              <a:ea typeface="宋体" panose="02010600030101010101" pitchFamily="2" charset="-122"/>
            </a:endParaRPr>
          </a:p>
          <a:p>
            <a:pPr lvl="1">
              <a:spcAft>
                <a:spcPct val="40000"/>
              </a:spcAft>
              <a:buFont typeface="Wingdings" panose="05000000000000000000" pitchFamily="2" charset="2"/>
              <a:buChar char="•"/>
            </a:pPr>
            <a:r>
              <a:rPr lang="zh-CN" altLang="en-US" dirty="0">
                <a:ea typeface="宋体" panose="02010600030101010101" pitchFamily="2" charset="-122"/>
              </a:rPr>
              <a:t>将</a:t>
            </a:r>
            <a:r>
              <a:rPr lang="en-US" altLang="zh-CN" dirty="0">
                <a:ea typeface="宋体" panose="02010600030101010101" pitchFamily="2" charset="-122"/>
              </a:rPr>
              <a:t>AX</a:t>
            </a:r>
            <a:r>
              <a:rPr lang="zh-CN" altLang="en-US" dirty="0">
                <a:ea typeface="宋体" panose="02010600030101010101" pitchFamily="2" charset="-122"/>
              </a:rPr>
              <a:t>内容扩展到</a:t>
            </a:r>
            <a:r>
              <a:rPr lang="en-US" altLang="zh-CN" dirty="0">
                <a:ea typeface="宋体" panose="02010600030101010101" pitchFamily="2" charset="-122"/>
              </a:rPr>
              <a:t>DX  AX</a:t>
            </a:r>
            <a:r>
              <a:rPr lang="zh-CN" altLang="en-US" dirty="0">
                <a:ea typeface="宋体" panose="02010600030101010101" pitchFamily="2" charset="-122"/>
              </a:rPr>
              <a:t>，高位存放在</a:t>
            </a:r>
            <a:r>
              <a:rPr lang="en-US" altLang="zh-CN" dirty="0">
                <a:ea typeface="宋体" panose="02010600030101010101" pitchFamily="2" charset="-122"/>
              </a:rPr>
              <a:t>DX</a:t>
            </a:r>
            <a:r>
              <a:rPr lang="zh-CN" altLang="en-US" dirty="0">
                <a:ea typeface="宋体" panose="02010600030101010101" pitchFamily="2" charset="-122"/>
              </a:rPr>
              <a:t>中，隐含了操作数</a:t>
            </a:r>
            <a:r>
              <a:rPr lang="en-US" altLang="zh-CN" dirty="0">
                <a:ea typeface="宋体" panose="02010600030101010101" pitchFamily="2" charset="-122"/>
              </a:rPr>
              <a:t>AX</a:t>
            </a:r>
            <a:r>
              <a:rPr lang="zh-CN" altLang="en-US" dirty="0">
                <a:ea typeface="宋体" panose="02010600030101010101" pitchFamily="2" charset="-122"/>
              </a:rPr>
              <a:t>。</a:t>
            </a:r>
            <a:endParaRPr lang="en-US" altLang="zh-CN" dirty="0">
              <a:ea typeface="宋体" panose="02010600030101010101" pitchFamily="2" charset="-122"/>
            </a:endParaRPr>
          </a:p>
          <a:p>
            <a:pPr>
              <a:buFont typeface="Wingdings" panose="05000000000000000000" pitchFamily="2" charset="2"/>
              <a:buChar char="l"/>
            </a:pPr>
            <a:r>
              <a:rPr lang="zh-CN" altLang="en-US" dirty="0">
                <a:ea typeface="宋体" panose="02010600030101010101" pitchFamily="2" charset="-122"/>
              </a:rPr>
              <a:t>规则：</a:t>
            </a:r>
            <a:endParaRPr lang="zh-CN" altLang="en-US" dirty="0">
              <a:ea typeface="宋体" panose="02010600030101010101" pitchFamily="2" charset="-122"/>
            </a:endParaRPr>
          </a:p>
          <a:p>
            <a:pPr lvl="1"/>
            <a:r>
              <a:rPr lang="zh-CN" altLang="en-US" dirty="0">
                <a:ea typeface="宋体" panose="02010600030101010101" pitchFamily="2" charset="-122"/>
              </a:rPr>
              <a:t>若最高位=1，则执行后</a:t>
            </a:r>
            <a:r>
              <a:rPr lang="en-US" altLang="zh-CN" dirty="0">
                <a:ea typeface="宋体" panose="02010600030101010101" pitchFamily="2" charset="-122"/>
              </a:rPr>
              <a:t>DX=FFFFH</a:t>
            </a:r>
            <a:endParaRPr lang="en-US" altLang="zh-CN" dirty="0">
              <a:ea typeface="宋体" panose="02010600030101010101" pitchFamily="2" charset="-122"/>
            </a:endParaRPr>
          </a:p>
          <a:p>
            <a:pPr lvl="1"/>
            <a:r>
              <a:rPr lang="zh-CN" altLang="en-US" dirty="0">
                <a:ea typeface="宋体" panose="02010600030101010101" pitchFamily="2" charset="-122"/>
              </a:rPr>
              <a:t>若最高位=0，则执行后</a:t>
            </a:r>
            <a:r>
              <a:rPr lang="en-US" altLang="zh-CN" dirty="0">
                <a:ea typeface="宋体" panose="02010600030101010101" pitchFamily="2" charset="-122"/>
              </a:rPr>
              <a:t>DX=0000H</a:t>
            </a:r>
            <a:endParaRPr lang="zh-CN" altLang="en-US"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5">
                                            <p:txEl>
                                              <p:charRg st="0" end="4"/>
                                            </p:txEl>
                                          </p:spTgt>
                                        </p:tgtEl>
                                        <p:attrNameLst>
                                          <p:attrName>style.visibility</p:attrName>
                                        </p:attrNameLst>
                                      </p:cBhvr>
                                      <p:to>
                                        <p:strVal val="visible"/>
                                      </p:to>
                                    </p:set>
                                    <p:animEffect transition="in" filter="wipe(left)">
                                      <p:cBhvr>
                                        <p:cTn id="7" dur="500"/>
                                        <p:tgtEl>
                                          <p:spTgt spid="33795">
                                            <p:txEl>
                                              <p:charRg st="0" end="4"/>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3795">
                                            <p:txEl>
                                              <p:charRg st="4" end="8"/>
                                            </p:txEl>
                                          </p:spTgt>
                                        </p:tgtEl>
                                        <p:attrNameLst>
                                          <p:attrName>style.visibility</p:attrName>
                                        </p:attrNameLst>
                                      </p:cBhvr>
                                      <p:to>
                                        <p:strVal val="visible"/>
                                      </p:to>
                                    </p:set>
                                    <p:animEffect transition="in" filter="wipe(left)">
                                      <p:cBhvr>
                                        <p:cTn id="10" dur="500"/>
                                        <p:tgtEl>
                                          <p:spTgt spid="33795">
                                            <p:txEl>
                                              <p:charRg st="4" end="8"/>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3795">
                                            <p:txEl>
                                              <p:charRg st="8" end="12"/>
                                            </p:txEl>
                                          </p:spTgt>
                                        </p:tgtEl>
                                        <p:attrNameLst>
                                          <p:attrName>style.visibility</p:attrName>
                                        </p:attrNameLst>
                                      </p:cBhvr>
                                      <p:to>
                                        <p:strVal val="visible"/>
                                      </p:to>
                                    </p:set>
                                    <p:animEffect transition="in" filter="wipe(left)">
                                      <p:cBhvr>
                                        <p:cTn id="15" dur="500"/>
                                        <p:tgtEl>
                                          <p:spTgt spid="33795">
                                            <p:txEl>
                                              <p:charRg st="8" end="1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33795">
                                            <p:txEl>
                                              <p:charRg st="12" end="46"/>
                                            </p:txEl>
                                          </p:spTgt>
                                        </p:tgtEl>
                                        <p:attrNameLst>
                                          <p:attrName>style.visibility</p:attrName>
                                        </p:attrNameLst>
                                      </p:cBhvr>
                                      <p:to>
                                        <p:strVal val="visible"/>
                                      </p:to>
                                    </p:set>
                                    <p:animEffect transition="in" filter="wipe(left)">
                                      <p:cBhvr>
                                        <p:cTn id="18" dur="500"/>
                                        <p:tgtEl>
                                          <p:spTgt spid="33795">
                                            <p:txEl>
                                              <p:charRg st="12" end="4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3795">
                                            <p:txEl>
                                              <p:charRg st="46" end="50"/>
                                            </p:txEl>
                                          </p:spTgt>
                                        </p:tgtEl>
                                        <p:attrNameLst>
                                          <p:attrName>style.visibility</p:attrName>
                                        </p:attrNameLst>
                                      </p:cBhvr>
                                      <p:to>
                                        <p:strVal val="visible"/>
                                      </p:to>
                                    </p:set>
                                    <p:animEffect transition="in" filter="wipe(left)">
                                      <p:cBhvr>
                                        <p:cTn id="23" dur="500"/>
                                        <p:tgtEl>
                                          <p:spTgt spid="33795">
                                            <p:txEl>
                                              <p:charRg st="46" end="50"/>
                                            </p:txEl>
                                          </p:spTgt>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33795">
                                            <p:txEl>
                                              <p:charRg st="50" end="70"/>
                                            </p:txEl>
                                          </p:spTgt>
                                        </p:tgtEl>
                                        <p:attrNameLst>
                                          <p:attrName>style.visibility</p:attrName>
                                        </p:attrNameLst>
                                      </p:cBhvr>
                                      <p:to>
                                        <p:strVal val="visible"/>
                                      </p:to>
                                    </p:set>
                                    <p:animEffect transition="in" filter="wipe(left)">
                                      <p:cBhvr>
                                        <p:cTn id="27" dur="500"/>
                                        <p:tgtEl>
                                          <p:spTgt spid="33795">
                                            <p:txEl>
                                              <p:charRg st="50" end="7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3795">
                                            <p:txEl>
                                              <p:charRg st="70" end="90"/>
                                            </p:txEl>
                                          </p:spTgt>
                                        </p:tgtEl>
                                        <p:attrNameLst>
                                          <p:attrName>style.visibility</p:attrName>
                                        </p:attrNameLst>
                                      </p:cBhvr>
                                      <p:to>
                                        <p:strVal val="visible"/>
                                      </p:to>
                                    </p:set>
                                    <p:animEffect transition="in" filter="wipe(left)">
                                      <p:cBhvr>
                                        <p:cTn id="32" dur="500"/>
                                        <p:tgtEl>
                                          <p:spTgt spid="33795">
                                            <p:txEl>
                                              <p:charRg st="70" end="9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1026"/>
          <p:cNvSpPr>
            <a:spLocks noGrp="1"/>
          </p:cNvSpPr>
          <p:nvPr>
            <p:ph type="title" idx="4294967295"/>
          </p:nvPr>
        </p:nvSpPr>
        <p:spPr>
          <a:xfrm>
            <a:off x="1200150" y="1052513"/>
            <a:ext cx="6553200" cy="563562"/>
          </a:xfrm>
        </p:spPr>
        <p:txBody>
          <a:bodyPr vert="horz" wrap="square" lIns="91440" tIns="45720" rIns="91440" bIns="45720" anchor="ctr" anchorCtr="0"/>
          <a:p>
            <a:pPr marL="457200" indent="-457200">
              <a:buFont typeface="Wingdings" panose="05000000000000000000" pitchFamily="2" charset="2"/>
              <a:buChar char="Ø"/>
            </a:pPr>
            <a:r>
              <a:rPr lang="zh-CN" altLang="en-US" dirty="0">
                <a:solidFill>
                  <a:srgbClr val="061E27"/>
                </a:solidFill>
                <a:ea typeface="宋体" panose="02010600030101010101" pitchFamily="2" charset="-122"/>
              </a:rPr>
              <a:t>例：</a:t>
            </a:r>
            <a:endParaRPr lang="en-US" altLang="zh-CN" dirty="0">
              <a:solidFill>
                <a:srgbClr val="061E27"/>
              </a:solidFill>
              <a:ea typeface="宋体" panose="02010600030101010101" pitchFamily="2" charset="-122"/>
            </a:endParaRPr>
          </a:p>
        </p:txBody>
      </p:sp>
      <p:sp>
        <p:nvSpPr>
          <p:cNvPr id="34819" name="Rectangle 1027"/>
          <p:cNvSpPr>
            <a:spLocks noGrp="1"/>
          </p:cNvSpPr>
          <p:nvPr>
            <p:ph type="body" idx="4294967295"/>
          </p:nvPr>
        </p:nvSpPr>
        <p:spPr>
          <a:xfrm>
            <a:off x="1192213" y="1989138"/>
            <a:ext cx="4027487" cy="4392612"/>
          </a:xfrm>
        </p:spPr>
        <p:txBody>
          <a:bodyPr vert="horz" wrap="square" lIns="91440" tIns="45720" rIns="91440" bIns="45720" anchor="t" anchorCtr="0"/>
          <a:p>
            <a:pPr>
              <a:spcAft>
                <a:spcPct val="40000"/>
              </a:spcAft>
              <a:buNone/>
            </a:pPr>
            <a:r>
              <a:rPr lang="zh-CN" altLang="en-US" sz="2400" dirty="0">
                <a:latin typeface="宋体" panose="02010600030101010101" pitchFamily="2" charset="-122"/>
                <a:ea typeface="宋体" panose="02010600030101010101" pitchFamily="2" charset="-122"/>
              </a:rPr>
              <a:t>判断以下指令执行结果：</a:t>
            </a:r>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MOV  AL，44H</a:t>
            </a:r>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CBW</a:t>
            </a:r>
            <a:endParaRPr lang="zh-CN" altLang="en-US" sz="2400" dirty="0">
              <a:latin typeface="宋体" panose="02010600030101010101" pitchFamily="2" charset="-122"/>
              <a:ea typeface="宋体" panose="02010600030101010101" pitchFamily="2" charset="-122"/>
            </a:endParaRPr>
          </a:p>
          <a:p>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MOV  AX，0AFDEH</a:t>
            </a:r>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CWD</a:t>
            </a:r>
            <a:endParaRPr lang="en-US" altLang="zh-CN" sz="2400" dirty="0">
              <a:latin typeface="宋体" panose="02010600030101010101" pitchFamily="2" charset="-122"/>
              <a:ea typeface="宋体" panose="02010600030101010101" pitchFamily="2" charset="-122"/>
            </a:endParaRPr>
          </a:p>
          <a:p>
            <a:pPr>
              <a:buNone/>
            </a:pPr>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MOV  AL，86H</a:t>
            </a:r>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CBW</a:t>
            </a:r>
            <a:endParaRPr lang="en-US" altLang="zh-CN"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19">
                                            <p:txEl>
                                              <p:charRg st="0" end="12"/>
                                            </p:txEl>
                                          </p:spTgt>
                                        </p:tgtEl>
                                        <p:attrNameLst>
                                          <p:attrName>style.visibility</p:attrName>
                                        </p:attrNameLst>
                                      </p:cBhvr>
                                      <p:to>
                                        <p:strVal val="visible"/>
                                      </p:to>
                                    </p:set>
                                    <p:animEffect transition="in" filter="wipe(left)">
                                      <p:cBhvr>
                                        <p:cTn id="7" dur="500"/>
                                        <p:tgtEl>
                                          <p:spTgt spid="34819">
                                            <p:txEl>
                                              <p:charRg st="0" end="1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19">
                                            <p:txEl>
                                              <p:charRg st="12" end="28"/>
                                            </p:txEl>
                                          </p:spTgt>
                                        </p:tgtEl>
                                        <p:attrNameLst>
                                          <p:attrName>style.visibility</p:attrName>
                                        </p:attrNameLst>
                                      </p:cBhvr>
                                      <p:to>
                                        <p:strVal val="visible"/>
                                      </p:to>
                                    </p:set>
                                    <p:animEffect transition="in" filter="wipe(left)">
                                      <p:cBhvr>
                                        <p:cTn id="12" dur="500"/>
                                        <p:tgtEl>
                                          <p:spTgt spid="34819">
                                            <p:txEl>
                                              <p:charRg st="12" end="28"/>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4819">
                                            <p:txEl>
                                              <p:charRg st="28" end="36"/>
                                            </p:txEl>
                                          </p:spTgt>
                                        </p:tgtEl>
                                        <p:attrNameLst>
                                          <p:attrName>style.visibility</p:attrName>
                                        </p:attrNameLst>
                                      </p:cBhvr>
                                      <p:to>
                                        <p:strVal val="visible"/>
                                      </p:to>
                                    </p:set>
                                    <p:animEffect transition="in" filter="wipe(left)">
                                      <p:cBhvr>
                                        <p:cTn id="16" dur="500"/>
                                        <p:tgtEl>
                                          <p:spTgt spid="34819">
                                            <p:txEl>
                                              <p:charRg st="28" end="3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4819">
                                            <p:txEl>
                                              <p:charRg st="37" end="56"/>
                                            </p:txEl>
                                          </p:spTgt>
                                        </p:tgtEl>
                                        <p:attrNameLst>
                                          <p:attrName>style.visibility</p:attrName>
                                        </p:attrNameLst>
                                      </p:cBhvr>
                                      <p:to>
                                        <p:strVal val="visible"/>
                                      </p:to>
                                    </p:set>
                                    <p:animEffect transition="in" filter="wipe(left)">
                                      <p:cBhvr>
                                        <p:cTn id="21" dur="500"/>
                                        <p:tgtEl>
                                          <p:spTgt spid="34819">
                                            <p:txEl>
                                              <p:charRg st="37" end="56"/>
                                            </p:txEl>
                                          </p:spTgt>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34819">
                                            <p:txEl>
                                              <p:charRg st="56" end="64"/>
                                            </p:txEl>
                                          </p:spTgt>
                                        </p:tgtEl>
                                        <p:attrNameLst>
                                          <p:attrName>style.visibility</p:attrName>
                                        </p:attrNameLst>
                                      </p:cBhvr>
                                      <p:to>
                                        <p:strVal val="visible"/>
                                      </p:to>
                                    </p:set>
                                    <p:animEffect transition="in" filter="wipe(left)">
                                      <p:cBhvr>
                                        <p:cTn id="25" dur="500"/>
                                        <p:tgtEl>
                                          <p:spTgt spid="34819">
                                            <p:txEl>
                                              <p:charRg st="56" end="6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4819">
                                            <p:txEl>
                                              <p:charRg st="65" end="81"/>
                                            </p:txEl>
                                          </p:spTgt>
                                        </p:tgtEl>
                                        <p:attrNameLst>
                                          <p:attrName>style.visibility</p:attrName>
                                        </p:attrNameLst>
                                      </p:cBhvr>
                                      <p:to>
                                        <p:strVal val="visible"/>
                                      </p:to>
                                    </p:set>
                                    <p:animEffect transition="in" filter="wipe(left)">
                                      <p:cBhvr>
                                        <p:cTn id="30" dur="500"/>
                                        <p:tgtEl>
                                          <p:spTgt spid="34819">
                                            <p:txEl>
                                              <p:charRg st="65" end="81"/>
                                            </p:txEl>
                                          </p:spTgt>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34819">
                                            <p:txEl>
                                              <p:charRg st="81" end="89"/>
                                            </p:txEl>
                                          </p:spTgt>
                                        </p:tgtEl>
                                        <p:attrNameLst>
                                          <p:attrName>style.visibility</p:attrName>
                                        </p:attrNameLst>
                                      </p:cBhvr>
                                      <p:to>
                                        <p:strVal val="visible"/>
                                      </p:to>
                                    </p:set>
                                    <p:animEffect transition="in" filter="wipe(left)">
                                      <p:cBhvr>
                                        <p:cTn id="34" dur="500"/>
                                        <p:tgtEl>
                                          <p:spTgt spid="34819">
                                            <p:txEl>
                                              <p:charRg st="81" end="8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1027"/>
          <p:cNvSpPr>
            <a:spLocks noGrp="1"/>
          </p:cNvSpPr>
          <p:nvPr>
            <p:ph type="body" idx="4294967295"/>
          </p:nvPr>
        </p:nvSpPr>
        <p:spPr>
          <a:xfrm>
            <a:off x="1044575" y="1052513"/>
            <a:ext cx="7415213" cy="3168650"/>
          </a:xfrm>
        </p:spPr>
        <p:txBody>
          <a:bodyPr vert="horz" wrap="square" lIns="91440" tIns="45720" rIns="91440" bIns="45720" anchor="t" anchorCtr="0"/>
          <a:p>
            <a:pPr eaLnBrk="1" hangingPunct="1">
              <a:spcAft>
                <a:spcPct val="40000"/>
              </a:spcAft>
              <a:buNone/>
            </a:pPr>
            <a:r>
              <a:rPr lang="zh-CN" altLang="en-US" sz="3200" dirty="0">
                <a:ea typeface="宋体" panose="02010600030101010101" pitchFamily="2" charset="-122"/>
              </a:rPr>
              <a:t>掌握：</a:t>
            </a:r>
            <a:endParaRPr lang="zh-CN" altLang="en-US" sz="3200" dirty="0">
              <a:ea typeface="宋体" panose="02010600030101010101" pitchFamily="2" charset="-122"/>
            </a:endParaRPr>
          </a:p>
          <a:p>
            <a:pPr eaLnBrk="1" hangingPunct="1">
              <a:lnSpc>
                <a:spcPct val="115000"/>
              </a:lnSpc>
              <a:buFont typeface="Wingdings" panose="05000000000000000000" pitchFamily="2" charset="2"/>
              <a:buChar char="Ø"/>
            </a:pPr>
            <a:r>
              <a:rPr lang="zh-CN" altLang="en-US" dirty="0">
                <a:ea typeface="宋体" panose="02010600030101010101" pitchFamily="2" charset="-122"/>
              </a:rPr>
              <a:t>指令的格式及操作</a:t>
            </a:r>
            <a:endParaRPr lang="zh-CN" altLang="en-US" dirty="0">
              <a:ea typeface="宋体" panose="02010600030101010101" pitchFamily="2" charset="-122"/>
            </a:endParaRPr>
          </a:p>
          <a:p>
            <a:pPr eaLnBrk="1" hangingPunct="1">
              <a:lnSpc>
                <a:spcPct val="115000"/>
              </a:lnSpc>
              <a:buFont typeface="Wingdings" panose="05000000000000000000" pitchFamily="2" charset="2"/>
              <a:buChar char="Ø"/>
            </a:pPr>
            <a:r>
              <a:rPr lang="zh-CN" altLang="en-US" dirty="0">
                <a:ea typeface="宋体" panose="02010600030101010101" pitchFamily="2" charset="-122"/>
              </a:rPr>
              <a:t>指令的两种寻址方式</a:t>
            </a:r>
            <a:endParaRPr lang="zh-CN" altLang="en-US" dirty="0">
              <a:ea typeface="宋体" panose="02010600030101010101" pitchFamily="2" charset="-122"/>
            </a:endParaRPr>
          </a:p>
          <a:p>
            <a:pPr eaLnBrk="1" hangingPunct="1">
              <a:lnSpc>
                <a:spcPct val="115000"/>
              </a:lnSpc>
              <a:buFont typeface="Wingdings" panose="05000000000000000000" pitchFamily="2" charset="2"/>
              <a:buChar char="Ø"/>
            </a:pPr>
            <a:r>
              <a:rPr lang="zh-CN" altLang="en-US" dirty="0">
                <a:ea typeface="宋体" panose="02010600030101010101" pitchFamily="2" charset="-122"/>
              </a:rPr>
              <a:t>指令对操作数的要求</a:t>
            </a:r>
            <a:endParaRPr lang="zh-CN" altLang="en-US" dirty="0">
              <a:ea typeface="宋体" panose="02010600030101010101" pitchFamily="2" charset="-122"/>
            </a:endParaRPr>
          </a:p>
        </p:txBody>
      </p:sp>
      <p:sp>
        <p:nvSpPr>
          <p:cNvPr id="34819" name="Rectangle 2"/>
          <p:cNvSpPr>
            <a:spLocks noGrp="1"/>
          </p:cNvSpPr>
          <p:nvPr/>
        </p:nvSpPr>
        <p:spPr>
          <a:xfrm>
            <a:off x="1908175" y="188913"/>
            <a:ext cx="6553200"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3.4.1.2 </a:t>
            </a:r>
            <a:r>
              <a:rPr lang="zh-CN" altLang="en-US" sz="3600" b="1" dirty="0">
                <a:solidFill>
                  <a:schemeClr val="bg1"/>
                </a:solidFill>
                <a:latin typeface="宋体" panose="02010600030101010101" pitchFamily="2" charset="-122"/>
                <a:ea typeface="宋体" panose="02010600030101010101" pitchFamily="2" charset="-122"/>
              </a:rPr>
              <a:t>输入输出指令</a:t>
            </a:r>
            <a:endParaRPr lang="zh-CN" altLang="en-US" sz="3600" b="1" dirty="0">
              <a:solidFill>
                <a:schemeClr val="bg1"/>
              </a:solidFill>
              <a:latin typeface="宋体" panose="02010600030101010101" pitchFamily="2" charset="-122"/>
              <a:ea typeface="宋体" panose="02010600030101010101" pitchFamily="2" charset="-122"/>
            </a:endParaRPr>
          </a:p>
        </p:txBody>
      </p:sp>
      <p:sp>
        <p:nvSpPr>
          <p:cNvPr id="35844" name="Rectangle 3"/>
          <p:cNvSpPr txBox="1"/>
          <p:nvPr/>
        </p:nvSpPr>
        <p:spPr>
          <a:xfrm>
            <a:off x="1074738" y="3716338"/>
            <a:ext cx="7772400" cy="2817812"/>
          </a:xfrm>
          <a:prstGeom prst="rect">
            <a:avLst/>
          </a:prstGeom>
          <a:noFill/>
          <a:ln w="9525">
            <a:noFill/>
          </a:ln>
        </p:spPr>
        <p:txBody>
          <a:bodyPr/>
          <a:p>
            <a:pPr marL="342900" indent="-342900">
              <a:spcBef>
                <a:spcPct val="20000"/>
              </a:spcBef>
              <a:buClr>
                <a:schemeClr val="hlink"/>
              </a:buClr>
              <a:buFont typeface="Wingdings" panose="05000000000000000000" pitchFamily="2" charset="2"/>
              <a:buChar char="Ø"/>
            </a:pPr>
            <a:r>
              <a:rPr lang="zh-CN" altLang="en-US" sz="2800" b="1" dirty="0">
                <a:latin typeface="宋体" panose="02010600030101010101" pitchFamily="2" charset="-122"/>
                <a:ea typeface="宋体" panose="02010600030101010101" pitchFamily="2" charset="-122"/>
              </a:rPr>
              <a:t>专门面向</a:t>
            </a:r>
            <a:r>
              <a:rPr lang="en-US" altLang="zh-CN" sz="2800" b="1" dirty="0">
                <a:latin typeface="宋体" panose="02010600030101010101" pitchFamily="2" charset="-122"/>
                <a:ea typeface="宋体" panose="02010600030101010101" pitchFamily="2" charset="-122"/>
              </a:rPr>
              <a:t>I/O</a:t>
            </a:r>
            <a:r>
              <a:rPr lang="zh-CN" altLang="en-US" sz="2800" b="1" dirty="0">
                <a:latin typeface="宋体" panose="02010600030101010101" pitchFamily="2" charset="-122"/>
                <a:ea typeface="宋体" panose="02010600030101010101" pitchFamily="2" charset="-122"/>
              </a:rPr>
              <a:t>端口操作的指令</a:t>
            </a:r>
            <a:endParaRPr lang="zh-CN" altLang="en-US" sz="2800" b="1" dirty="0">
              <a:latin typeface="宋体" panose="02010600030101010101" pitchFamily="2" charset="-122"/>
              <a:ea typeface="宋体" panose="02010600030101010101" pitchFamily="2" charset="-122"/>
            </a:endParaRPr>
          </a:p>
          <a:p>
            <a:pPr marL="342900" indent="-342900">
              <a:spcBef>
                <a:spcPct val="65000"/>
              </a:spcBef>
              <a:buClr>
                <a:schemeClr val="hlink"/>
              </a:buClr>
              <a:buFont typeface="Wingdings" panose="05000000000000000000" pitchFamily="2" charset="2"/>
              <a:buChar char="Ø"/>
            </a:pPr>
            <a:r>
              <a:rPr lang="zh-CN" altLang="en-US" sz="2800" b="1" dirty="0">
                <a:latin typeface="宋体" panose="02010600030101010101" pitchFamily="2" charset="-122"/>
                <a:ea typeface="宋体" panose="02010600030101010101" pitchFamily="2" charset="-122"/>
              </a:rPr>
              <a:t>指令格式：</a:t>
            </a:r>
            <a:endParaRPr lang="zh-CN" altLang="en-US" sz="2800" b="1" dirty="0">
              <a:latin typeface="宋体" panose="02010600030101010101" pitchFamily="2" charset="-122"/>
              <a:ea typeface="宋体" panose="02010600030101010101" pitchFamily="2" charset="-122"/>
            </a:endParaRPr>
          </a:p>
          <a:p>
            <a:pPr marL="742950" lvl="1" indent="-285750" eaLnBrk="1" hangingPunct="1">
              <a:spcBef>
                <a:spcPct val="20000"/>
              </a:spcBef>
              <a:buClr>
                <a:schemeClr val="hlink"/>
              </a:buClr>
              <a:buFont typeface="Wingdings" panose="05000000000000000000" pitchFamily="2" charset="2"/>
              <a:buChar char="§"/>
            </a:pPr>
            <a:r>
              <a:rPr lang="zh-CN" altLang="en-US" sz="2400" b="1" dirty="0">
                <a:latin typeface="Arial" panose="020B0604020202020204" pitchFamily="34" charset="0"/>
                <a:ea typeface="宋体" panose="02010600030101010101" pitchFamily="2" charset="-122"/>
              </a:rPr>
              <a:t>输入指令： </a:t>
            </a:r>
            <a:r>
              <a:rPr lang="en-US" altLang="zh-CN" sz="2400" b="1" dirty="0">
                <a:latin typeface="Arial" panose="020B0604020202020204" pitchFamily="34" charset="0"/>
                <a:ea typeface="宋体" panose="02010600030101010101" pitchFamily="2" charset="-122"/>
              </a:rPr>
              <a:t>IN  acc，PORT</a:t>
            </a:r>
            <a:endParaRPr lang="en-US" altLang="zh-CN" sz="2400" b="1" dirty="0">
              <a:latin typeface="Arial" panose="020B0604020202020204" pitchFamily="34" charset="0"/>
              <a:ea typeface="宋体" panose="02010600030101010101" pitchFamily="2" charset="-122"/>
            </a:endParaRPr>
          </a:p>
          <a:p>
            <a:pPr marL="742950" lvl="1" indent="-285750" eaLnBrk="1" hangingPunct="1">
              <a:spcBef>
                <a:spcPct val="20000"/>
              </a:spcBef>
              <a:buClr>
                <a:schemeClr val="hlink"/>
              </a:buClr>
              <a:buFont typeface="Wingdings" panose="05000000000000000000" pitchFamily="2" charset="2"/>
              <a:buChar char="§"/>
            </a:pPr>
            <a:r>
              <a:rPr lang="zh-CN" altLang="en-US" sz="2400" b="1" dirty="0">
                <a:latin typeface="Arial" panose="020B0604020202020204" pitchFamily="34" charset="0"/>
                <a:ea typeface="宋体" panose="02010600030101010101" pitchFamily="2" charset="-122"/>
              </a:rPr>
              <a:t>输出指令 ：</a:t>
            </a:r>
            <a:r>
              <a:rPr lang="en-US" altLang="zh-CN" sz="2400" b="1" dirty="0">
                <a:latin typeface="Arial" panose="020B0604020202020204" pitchFamily="34" charset="0"/>
                <a:ea typeface="宋体" panose="02010600030101010101" pitchFamily="2" charset="-122"/>
              </a:rPr>
              <a:t>OUT  PORT，acc</a:t>
            </a:r>
            <a:endParaRPr lang="zh-CN" altLang="en-US" sz="2400" b="1" dirty="0">
              <a:latin typeface="Arial" panose="020B0604020202020204" pitchFamily="34" charset="0"/>
              <a:ea typeface="宋体" panose="02010600030101010101" pitchFamily="2" charset="-122"/>
            </a:endParaRPr>
          </a:p>
        </p:txBody>
      </p:sp>
      <p:cxnSp>
        <p:nvCxnSpPr>
          <p:cNvPr id="34821" name="直接连接符 3"/>
          <p:cNvCxnSpPr/>
          <p:nvPr/>
        </p:nvCxnSpPr>
        <p:spPr>
          <a:xfrm>
            <a:off x="684213" y="4365625"/>
            <a:ext cx="7488237" cy="0"/>
          </a:xfrm>
          <a:prstGeom prst="line">
            <a:avLst/>
          </a:prstGeom>
          <a:ln w="28575" cap="flat" cmpd="sng">
            <a:solidFill>
              <a:schemeClr val="tx1"/>
            </a:solidFill>
            <a:prstDash val="solid"/>
            <a:headEnd type="none" w="med" len="med"/>
            <a:tailEnd type="none" w="med" len="med"/>
          </a:ln>
        </p:spPr>
      </p:cxnSp>
      <p:sp>
        <p:nvSpPr>
          <p:cNvPr id="35846" name="Text Box 7"/>
          <p:cNvSpPr txBox="1"/>
          <p:nvPr/>
        </p:nvSpPr>
        <p:spPr>
          <a:xfrm>
            <a:off x="3584575" y="6305550"/>
            <a:ext cx="16002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端口地址</a:t>
            </a:r>
            <a:endParaRPr lang="zh-CN" altLang="en-US" sz="2400" b="1" dirty="0">
              <a:latin typeface="Times New Roman" panose="02020603050405020304" pitchFamily="18" charset="0"/>
              <a:ea typeface="宋体" panose="02010600030101010101" pitchFamily="2" charset="-122"/>
            </a:endParaRPr>
          </a:p>
        </p:txBody>
      </p:sp>
      <p:sp>
        <p:nvSpPr>
          <p:cNvPr id="35847" name="Line 6"/>
          <p:cNvSpPr/>
          <p:nvPr/>
        </p:nvSpPr>
        <p:spPr>
          <a:xfrm flipH="1">
            <a:off x="4356100" y="5786438"/>
            <a:ext cx="246063" cy="519112"/>
          </a:xfrm>
          <a:prstGeom prst="line">
            <a:avLst/>
          </a:prstGeom>
          <a:ln w="25400" cap="sq" cmpd="sng">
            <a:solidFill>
              <a:srgbClr val="FF6600"/>
            </a:solidFill>
            <a:prstDash val="solid"/>
            <a:headEnd type="none" w="med" len="med"/>
            <a:tailEnd type="triangle" w="lg" len="lg"/>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5844">
                                            <p:txEl>
                                              <p:charRg st="0" end="15"/>
                                            </p:txEl>
                                          </p:spTgt>
                                        </p:tgtEl>
                                        <p:attrNameLst>
                                          <p:attrName>style.visibility</p:attrName>
                                        </p:attrNameLst>
                                      </p:cBhvr>
                                      <p:to>
                                        <p:strVal val="visible"/>
                                      </p:to>
                                    </p:set>
                                    <p:animEffect transition="in" filter="wipe(left)">
                                      <p:cBhvr>
                                        <p:cTn id="7" dur="500"/>
                                        <p:tgtEl>
                                          <p:spTgt spid="35844">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4">
                                            <p:txEl>
                                              <p:charRg st="15" end="21"/>
                                            </p:txEl>
                                          </p:spTgt>
                                        </p:tgtEl>
                                        <p:attrNameLst>
                                          <p:attrName>style.visibility</p:attrName>
                                        </p:attrNameLst>
                                      </p:cBhvr>
                                      <p:to>
                                        <p:strVal val="visible"/>
                                      </p:to>
                                    </p:set>
                                    <p:animEffect transition="in" filter="wipe(left)">
                                      <p:cBhvr>
                                        <p:cTn id="12" dur="500"/>
                                        <p:tgtEl>
                                          <p:spTgt spid="35844">
                                            <p:txEl>
                                              <p:charRg st="15" end="2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844">
                                            <p:txEl>
                                              <p:charRg st="21" end="40"/>
                                            </p:txEl>
                                          </p:spTgt>
                                        </p:tgtEl>
                                        <p:attrNameLst>
                                          <p:attrName>style.visibility</p:attrName>
                                        </p:attrNameLst>
                                      </p:cBhvr>
                                      <p:to>
                                        <p:strVal val="visible"/>
                                      </p:to>
                                    </p:set>
                                    <p:animEffect transition="in" filter="wipe(left)">
                                      <p:cBhvr>
                                        <p:cTn id="17" dur="500"/>
                                        <p:tgtEl>
                                          <p:spTgt spid="35844">
                                            <p:txEl>
                                              <p:charRg st="21" end="40"/>
                                            </p:txEl>
                                          </p:spTgt>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35844">
                                            <p:txEl>
                                              <p:charRg st="40" end="60"/>
                                            </p:txEl>
                                          </p:spTgt>
                                        </p:tgtEl>
                                        <p:attrNameLst>
                                          <p:attrName>style.visibility</p:attrName>
                                        </p:attrNameLst>
                                      </p:cBhvr>
                                      <p:to>
                                        <p:strVal val="visible"/>
                                      </p:to>
                                    </p:set>
                                    <p:animEffect transition="in" filter="wipe(left)">
                                      <p:cBhvr>
                                        <p:cTn id="21" dur="500"/>
                                        <p:tgtEl>
                                          <p:spTgt spid="35844">
                                            <p:txEl>
                                              <p:charRg st="40" end="60"/>
                                            </p:txEl>
                                          </p:spTgt>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35846"/>
                                        </p:tgtEl>
                                        <p:attrNameLst>
                                          <p:attrName>style.visibility</p:attrName>
                                        </p:attrNameLst>
                                      </p:cBhvr>
                                      <p:to>
                                        <p:strVal val="visible"/>
                                      </p:to>
                                    </p:set>
                                    <p:animEffect transition="in" filter="wipe(left)">
                                      <p:cBhvr>
                                        <p:cTn id="25" dur="500"/>
                                        <p:tgtEl>
                                          <p:spTgt spid="35846"/>
                                        </p:tgtEl>
                                      </p:cBhvr>
                                    </p:animEffect>
                                  </p:childTnLst>
                                </p:cTn>
                              </p:par>
                            </p:childTnLst>
                          </p:cTn>
                        </p:par>
                        <p:par>
                          <p:cTn id="26" fill="hold">
                            <p:stCondLst>
                              <p:cond delay="1500"/>
                            </p:stCondLst>
                            <p:childTnLst>
                              <p:par>
                                <p:cTn id="27" presetID="18" presetClass="entr" presetSubtype="12" fill="hold" nodeType="afterEffect">
                                  <p:stCondLst>
                                    <p:cond delay="0"/>
                                  </p:stCondLst>
                                  <p:childTnLst>
                                    <p:set>
                                      <p:cBhvr>
                                        <p:cTn id="28" dur="1" fill="hold">
                                          <p:stCondLst>
                                            <p:cond delay="0"/>
                                          </p:stCondLst>
                                        </p:cTn>
                                        <p:tgtEl>
                                          <p:spTgt spid="35847"/>
                                        </p:tgtEl>
                                        <p:attrNameLst>
                                          <p:attrName>style.visibility</p:attrName>
                                        </p:attrNameLst>
                                      </p:cBhvr>
                                      <p:to>
                                        <p:strVal val="visible"/>
                                      </p:to>
                                    </p:set>
                                    <p:animEffect transition="in" filter="strips(downLeft)">
                                      <p:cBhvr>
                                        <p:cTn id="29" dur="500"/>
                                        <p:tgtEl>
                                          <p:spTgt spid="35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build="p"/>
      <p:bldP spid="3584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3"/>
          <p:cNvSpPr>
            <a:spLocks noGrp="1"/>
          </p:cNvSpPr>
          <p:nvPr>
            <p:ph type="body" idx="4294967295"/>
          </p:nvPr>
        </p:nvSpPr>
        <p:spPr>
          <a:xfrm>
            <a:off x="468313" y="1412875"/>
            <a:ext cx="8207375" cy="4537075"/>
          </a:xfrm>
        </p:spPr>
        <p:txBody>
          <a:bodyPr vert="horz" wrap="square" lIns="91440" tIns="45720" rIns="91440" bIns="45720" anchor="t" anchorCtr="0"/>
          <a:p>
            <a:pPr eaLnBrk="1" hangingPunct="1">
              <a:lnSpc>
                <a:spcPct val="115000"/>
              </a:lnSpc>
              <a:buFont typeface="Wingdings" panose="05000000000000000000" pitchFamily="2" charset="2"/>
              <a:buChar char="Ø"/>
            </a:pPr>
            <a:r>
              <a:rPr lang="zh-CN" altLang="en-US" dirty="0">
                <a:ea typeface="宋体" panose="02010600030101010101" pitchFamily="2" charset="-122"/>
              </a:rPr>
              <a:t>根据端口地址码的长度，指令具有</a:t>
            </a:r>
            <a:r>
              <a:rPr lang="zh-CN" altLang="en-US" dirty="0">
                <a:solidFill>
                  <a:srgbClr val="FF0000"/>
                </a:solidFill>
                <a:ea typeface="宋体" panose="02010600030101010101" pitchFamily="2" charset="-122"/>
              </a:rPr>
              <a:t>两种不同的端口地址表现形式</a:t>
            </a:r>
            <a:r>
              <a:rPr lang="zh-CN" altLang="en-US" dirty="0">
                <a:ea typeface="宋体" panose="02010600030101010101" pitchFamily="2" charset="-122"/>
              </a:rPr>
              <a:t>。</a:t>
            </a:r>
            <a:endParaRPr lang="zh-CN" altLang="en-US" dirty="0">
              <a:ea typeface="宋体" panose="02010600030101010101" pitchFamily="2" charset="-122"/>
            </a:endParaRPr>
          </a:p>
          <a:p>
            <a:pPr eaLnBrk="1" hangingPunct="1">
              <a:lnSpc>
                <a:spcPct val="115000"/>
              </a:lnSpc>
              <a:buFont typeface="Wingdings" panose="05000000000000000000" pitchFamily="2" charset="2"/>
              <a:buChar char="l"/>
            </a:pPr>
            <a:r>
              <a:rPr lang="zh-CN" altLang="en-US" dirty="0">
                <a:ea typeface="宋体" panose="02010600030101010101" pitchFamily="2" charset="-122"/>
              </a:rPr>
              <a:t>直接地址</a:t>
            </a:r>
            <a:endParaRPr lang="zh-CN" altLang="en-US" dirty="0">
              <a:ea typeface="宋体" panose="02010600030101010101" pitchFamily="2" charset="-122"/>
            </a:endParaRPr>
          </a:p>
          <a:p>
            <a:pPr lvl="1" eaLnBrk="1" hangingPunct="1">
              <a:lnSpc>
                <a:spcPct val="115000"/>
              </a:lnSpc>
              <a:spcBef>
                <a:spcPct val="10000"/>
              </a:spcBef>
              <a:buFont typeface="Wingdings" panose="05000000000000000000" pitchFamily="2" charset="2"/>
              <a:buChar char="•"/>
            </a:pPr>
            <a:r>
              <a:rPr lang="zh-CN" altLang="en-US" dirty="0">
                <a:ea typeface="宋体" panose="02010600030101010101" pitchFamily="2" charset="-122"/>
              </a:rPr>
              <a:t>端口地址为</a:t>
            </a:r>
            <a:r>
              <a:rPr lang="en-US" altLang="zh-CN" dirty="0">
                <a:ea typeface="宋体" panose="02010600030101010101" pitchFamily="2" charset="-122"/>
              </a:rPr>
              <a:t>8</a:t>
            </a:r>
            <a:r>
              <a:rPr lang="zh-CN" altLang="en-US" dirty="0">
                <a:ea typeface="宋体" panose="02010600030101010101" pitchFamily="2" charset="-122"/>
              </a:rPr>
              <a:t>位时，指令中直接给出8位端口地址（立即数方式）；</a:t>
            </a:r>
            <a:endParaRPr lang="zh-CN" altLang="en-US" dirty="0">
              <a:ea typeface="宋体" panose="02010600030101010101" pitchFamily="2" charset="-122"/>
            </a:endParaRPr>
          </a:p>
          <a:p>
            <a:pPr lvl="1" eaLnBrk="1" hangingPunct="1">
              <a:lnSpc>
                <a:spcPct val="115000"/>
              </a:lnSpc>
              <a:spcBef>
                <a:spcPct val="10000"/>
              </a:spcBef>
              <a:buFont typeface="Wingdings" panose="05000000000000000000" pitchFamily="2" charset="2"/>
              <a:buChar char="•"/>
            </a:pPr>
            <a:r>
              <a:rPr lang="zh-CN" altLang="en-US" dirty="0">
                <a:ea typeface="宋体" panose="02010600030101010101" pitchFamily="2" charset="-122"/>
              </a:rPr>
              <a:t>寻址256个端口。</a:t>
            </a:r>
            <a:endParaRPr lang="zh-CN" altLang="en-US" dirty="0">
              <a:ea typeface="宋体" panose="02010600030101010101" pitchFamily="2" charset="-122"/>
            </a:endParaRPr>
          </a:p>
          <a:p>
            <a:pPr eaLnBrk="1" hangingPunct="1">
              <a:buFont typeface="Wingdings" panose="05000000000000000000" pitchFamily="2" charset="2"/>
              <a:buChar char="l"/>
            </a:pPr>
            <a:r>
              <a:rPr lang="zh-CN" altLang="en-US" dirty="0">
                <a:ea typeface="宋体" panose="02010600030101010101" pitchFamily="2" charset="-122"/>
              </a:rPr>
              <a:t>间接地址</a:t>
            </a:r>
            <a:endParaRPr lang="zh-CN" altLang="en-US" dirty="0">
              <a:ea typeface="宋体" panose="02010600030101010101" pitchFamily="2" charset="-122"/>
            </a:endParaRPr>
          </a:p>
          <a:p>
            <a:pPr lvl="1" eaLnBrk="1" hangingPunct="1">
              <a:spcBef>
                <a:spcPct val="10000"/>
              </a:spcBef>
            </a:pPr>
            <a:r>
              <a:rPr lang="zh-CN" altLang="en-US" dirty="0">
                <a:ea typeface="宋体" panose="02010600030101010101" pitchFamily="2" charset="-122"/>
              </a:rPr>
              <a:t>端口地址为16位时，指令中的端口地址必须由</a:t>
            </a:r>
            <a:r>
              <a:rPr lang="en-US" altLang="zh-CN" dirty="0">
                <a:ea typeface="宋体" panose="02010600030101010101" pitchFamily="2" charset="-122"/>
              </a:rPr>
              <a:t>DX</a:t>
            </a:r>
            <a:r>
              <a:rPr lang="zh-CN" altLang="en-US" dirty="0">
                <a:ea typeface="宋体" panose="02010600030101010101" pitchFamily="2" charset="-122"/>
              </a:rPr>
              <a:t>指定；</a:t>
            </a:r>
            <a:endParaRPr lang="zh-CN" altLang="en-US" dirty="0">
              <a:ea typeface="宋体" panose="02010600030101010101" pitchFamily="2" charset="-122"/>
            </a:endParaRPr>
          </a:p>
          <a:p>
            <a:pPr lvl="1" eaLnBrk="1" hangingPunct="1">
              <a:spcBef>
                <a:spcPct val="10000"/>
              </a:spcBef>
            </a:pPr>
            <a:r>
              <a:rPr lang="zh-CN" altLang="en-US" dirty="0">
                <a:ea typeface="宋体" panose="02010600030101010101" pitchFamily="2" charset="-122"/>
              </a:rPr>
              <a:t>可寻址64</a:t>
            </a:r>
            <a:r>
              <a:rPr lang="en-US" altLang="zh-CN" dirty="0">
                <a:ea typeface="宋体" panose="02010600030101010101" pitchFamily="2" charset="-122"/>
              </a:rPr>
              <a:t>K</a:t>
            </a:r>
            <a:r>
              <a:rPr lang="zh-CN" altLang="en-US" dirty="0">
                <a:ea typeface="宋体" panose="02010600030101010101" pitchFamily="2" charset="-122"/>
              </a:rPr>
              <a:t>个端口。</a:t>
            </a:r>
            <a:endParaRPr lang="zh-CN" altLang="en-US"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6866">
                                            <p:txEl>
                                              <p:charRg st="0" end="30"/>
                                            </p:txEl>
                                          </p:spTgt>
                                        </p:tgtEl>
                                        <p:attrNameLst>
                                          <p:attrName>style.visibility</p:attrName>
                                        </p:attrNameLst>
                                      </p:cBhvr>
                                      <p:to>
                                        <p:strVal val="visible"/>
                                      </p:to>
                                    </p:set>
                                    <p:animEffect transition="in" filter="blinds(horizontal)">
                                      <p:cBhvr>
                                        <p:cTn id="7" dur="500"/>
                                        <p:tgtEl>
                                          <p:spTgt spid="36866">
                                            <p:txEl>
                                              <p:charRg st="0" end="3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36866">
                                            <p:txEl>
                                              <p:charRg st="30" end="35"/>
                                            </p:txEl>
                                          </p:spTgt>
                                        </p:tgtEl>
                                        <p:attrNameLst>
                                          <p:attrName>style.visibility</p:attrName>
                                        </p:attrNameLst>
                                      </p:cBhvr>
                                      <p:to>
                                        <p:strVal val="visible"/>
                                      </p:to>
                                    </p:set>
                                    <p:animEffect transition="in" filter="blinds(horizontal)">
                                      <p:cBhvr>
                                        <p:cTn id="11" dur="500"/>
                                        <p:tgtEl>
                                          <p:spTgt spid="36866">
                                            <p:txEl>
                                              <p:charRg st="30" end="35"/>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6866">
                                            <p:txEl>
                                              <p:charRg st="35" end="66"/>
                                            </p:txEl>
                                          </p:spTgt>
                                        </p:tgtEl>
                                        <p:attrNameLst>
                                          <p:attrName>style.visibility</p:attrName>
                                        </p:attrNameLst>
                                      </p:cBhvr>
                                      <p:to>
                                        <p:strVal val="visible"/>
                                      </p:to>
                                    </p:set>
                                    <p:animEffect transition="in" filter="wipe(left)">
                                      <p:cBhvr>
                                        <p:cTn id="16" dur="500"/>
                                        <p:tgtEl>
                                          <p:spTgt spid="36866">
                                            <p:txEl>
                                              <p:charRg st="35" end="6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6866">
                                            <p:txEl>
                                              <p:charRg st="66" end="76"/>
                                            </p:txEl>
                                          </p:spTgt>
                                        </p:tgtEl>
                                        <p:attrNameLst>
                                          <p:attrName>style.visibility</p:attrName>
                                        </p:attrNameLst>
                                      </p:cBhvr>
                                      <p:to>
                                        <p:strVal val="visible"/>
                                      </p:to>
                                    </p:set>
                                    <p:animEffect transition="in" filter="wipe(left)">
                                      <p:cBhvr>
                                        <p:cTn id="21" dur="500"/>
                                        <p:tgtEl>
                                          <p:spTgt spid="36866">
                                            <p:txEl>
                                              <p:charRg st="66" end="7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6866">
                                            <p:txEl>
                                              <p:charRg st="76" end="81"/>
                                            </p:txEl>
                                          </p:spTgt>
                                        </p:tgtEl>
                                        <p:attrNameLst>
                                          <p:attrName>style.visibility</p:attrName>
                                        </p:attrNameLst>
                                      </p:cBhvr>
                                      <p:to>
                                        <p:strVal val="visible"/>
                                      </p:to>
                                    </p:set>
                                    <p:animEffect transition="in" filter="wipe(left)">
                                      <p:cBhvr>
                                        <p:cTn id="26" dur="500"/>
                                        <p:tgtEl>
                                          <p:spTgt spid="36866">
                                            <p:txEl>
                                              <p:charRg st="76" end="8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6866">
                                            <p:txEl>
                                              <p:charRg st="81" end="108"/>
                                            </p:txEl>
                                          </p:spTgt>
                                        </p:tgtEl>
                                        <p:attrNameLst>
                                          <p:attrName>style.visibility</p:attrName>
                                        </p:attrNameLst>
                                      </p:cBhvr>
                                      <p:to>
                                        <p:strVal val="visible"/>
                                      </p:to>
                                    </p:set>
                                    <p:animEffect transition="in" filter="blinds(horizontal)">
                                      <p:cBhvr>
                                        <p:cTn id="31" dur="500"/>
                                        <p:tgtEl>
                                          <p:spTgt spid="36866">
                                            <p:txEl>
                                              <p:charRg st="81" end="10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6866">
                                            <p:txEl>
                                              <p:charRg st="108" end="119"/>
                                            </p:txEl>
                                          </p:spTgt>
                                        </p:tgtEl>
                                        <p:attrNameLst>
                                          <p:attrName>style.visibility</p:attrName>
                                        </p:attrNameLst>
                                      </p:cBhvr>
                                      <p:to>
                                        <p:strVal val="visible"/>
                                      </p:to>
                                    </p:set>
                                    <p:animEffect transition="in" filter="wipe(left)">
                                      <p:cBhvr>
                                        <p:cTn id="36" dur="500"/>
                                        <p:tgtEl>
                                          <p:spTgt spid="36866">
                                            <p:txEl>
                                              <p:charRg st="108" end="1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idx="4294967295"/>
          </p:nvPr>
        </p:nvSpPr>
        <p:spPr>
          <a:xfrm>
            <a:off x="1423988" y="981075"/>
            <a:ext cx="6553200" cy="563563"/>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02060"/>
                </a:solidFill>
                <a:latin typeface="宋体" panose="02010600030101010101" pitchFamily="2" charset="-122"/>
                <a:ea typeface="宋体" panose="02010600030101010101" pitchFamily="2" charset="-122"/>
              </a:rPr>
              <a:t>例：</a:t>
            </a:r>
            <a:endParaRPr lang="zh-CN" altLang="en-US" dirty="0">
              <a:solidFill>
                <a:srgbClr val="002060"/>
              </a:solidFill>
              <a:latin typeface="宋体" panose="02010600030101010101" pitchFamily="2" charset="-122"/>
              <a:ea typeface="宋体" panose="02010600030101010101" pitchFamily="2" charset="-122"/>
            </a:endParaRPr>
          </a:p>
        </p:txBody>
      </p:sp>
      <p:sp>
        <p:nvSpPr>
          <p:cNvPr id="37891" name="Rectangle 3"/>
          <p:cNvSpPr>
            <a:spLocks noGrp="1"/>
          </p:cNvSpPr>
          <p:nvPr>
            <p:ph type="body" idx="4294967295"/>
          </p:nvPr>
        </p:nvSpPr>
        <p:spPr>
          <a:xfrm>
            <a:off x="1411288" y="2017713"/>
            <a:ext cx="4529137" cy="3571875"/>
          </a:xfrm>
        </p:spPr>
        <p:txBody>
          <a:bodyPr vert="horz" wrap="square" lIns="91440" tIns="45720" rIns="91440" bIns="45720" anchor="t" anchorCtr="0"/>
          <a:p>
            <a:pPr marL="0" indent="0" eaLnBrk="1" hangingPunct="1">
              <a:spcAft>
                <a:spcPct val="20000"/>
              </a:spcAft>
              <a:buNone/>
            </a:pPr>
            <a:r>
              <a:rPr lang="en-US" altLang="zh-CN" dirty="0">
                <a:latin typeface="宋体" panose="02010600030101010101" pitchFamily="2" charset="-122"/>
                <a:ea typeface="宋体" panose="02010600030101010101" pitchFamily="2" charset="-122"/>
              </a:rPr>
              <a:t>IN  AX，80H</a:t>
            </a:r>
            <a:endParaRPr lang="en-US" altLang="zh-CN" dirty="0">
              <a:latin typeface="宋体" panose="02010600030101010101" pitchFamily="2" charset="-122"/>
              <a:ea typeface="宋体" panose="02010600030101010101" pitchFamily="2" charset="-122"/>
            </a:endParaRPr>
          </a:p>
          <a:p>
            <a:pPr marL="0" indent="0" eaLnBrk="1" hangingPunct="1">
              <a:lnSpc>
                <a:spcPct val="105000"/>
              </a:lnSpc>
              <a:spcBef>
                <a:spcPct val="55000"/>
              </a:spcBef>
              <a:buNone/>
            </a:pPr>
            <a:r>
              <a:rPr lang="en-US" altLang="zh-CN" dirty="0">
                <a:latin typeface="宋体" panose="02010600030101010101" pitchFamily="2" charset="-122"/>
                <a:ea typeface="宋体" panose="02010600030101010101" pitchFamily="2" charset="-122"/>
              </a:rPr>
              <a:t>MOV DX，2400H</a:t>
            </a:r>
            <a:endParaRPr lang="en-US" altLang="zh-CN" dirty="0">
              <a:latin typeface="宋体" panose="02010600030101010101" pitchFamily="2" charset="-122"/>
              <a:ea typeface="宋体" panose="02010600030101010101" pitchFamily="2" charset="-122"/>
            </a:endParaRPr>
          </a:p>
          <a:p>
            <a:pPr marL="0" indent="0" eaLnBrk="1" hangingPunct="1">
              <a:lnSpc>
                <a:spcPct val="105000"/>
              </a:lnSpc>
              <a:buNone/>
            </a:pPr>
            <a:r>
              <a:rPr lang="en-US" altLang="zh-CN" dirty="0">
                <a:latin typeface="宋体" panose="02010600030101010101" pitchFamily="2" charset="-122"/>
                <a:ea typeface="宋体" panose="02010600030101010101" pitchFamily="2" charset="-122"/>
              </a:rPr>
              <a:t>IN  AL，DX</a:t>
            </a:r>
            <a:endParaRPr lang="en-US" altLang="zh-CN" dirty="0">
              <a:latin typeface="宋体" panose="02010600030101010101" pitchFamily="2" charset="-122"/>
              <a:ea typeface="宋体" panose="02010600030101010101" pitchFamily="2" charset="-122"/>
            </a:endParaRPr>
          </a:p>
          <a:p>
            <a:pPr marL="0" indent="0" eaLnBrk="1" hangingPunct="1">
              <a:spcBef>
                <a:spcPct val="55000"/>
              </a:spcBef>
              <a:spcAft>
                <a:spcPct val="60000"/>
              </a:spcAft>
              <a:buNone/>
            </a:pPr>
            <a:r>
              <a:rPr lang="en-US" altLang="zh-CN" dirty="0">
                <a:latin typeface="宋体" panose="02010600030101010101" pitchFamily="2" charset="-122"/>
                <a:ea typeface="宋体" panose="02010600030101010101" pitchFamily="2" charset="-122"/>
              </a:rPr>
              <a:t>OUT  35H ，AX</a:t>
            </a:r>
            <a:endParaRPr lang="en-US" altLang="zh-CN" dirty="0">
              <a:latin typeface="宋体" panose="02010600030101010101" pitchFamily="2" charset="-122"/>
              <a:ea typeface="宋体" panose="02010600030101010101" pitchFamily="2" charset="-122"/>
            </a:endParaRPr>
          </a:p>
          <a:p>
            <a:pPr marL="0" indent="0" eaLnBrk="1" hangingPunct="1">
              <a:buNone/>
            </a:pPr>
            <a:r>
              <a:rPr lang="en-US" altLang="zh-CN" dirty="0">
                <a:solidFill>
                  <a:srgbClr val="A50021"/>
                </a:solidFill>
                <a:latin typeface="宋体" panose="02010600030101010101" pitchFamily="2" charset="-122"/>
                <a:ea typeface="宋体" panose="02010600030101010101" pitchFamily="2" charset="-122"/>
              </a:rPr>
              <a:t>OUT  AX，35H</a:t>
            </a:r>
            <a:endParaRPr lang="en-US" altLang="zh-CN" dirty="0">
              <a:solidFill>
                <a:srgbClr val="A5002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7891">
                                            <p:txEl>
                                              <p:charRg st="0" end="11"/>
                                            </p:txEl>
                                          </p:spTgt>
                                        </p:tgtEl>
                                        <p:attrNameLst>
                                          <p:attrName>style.visibility</p:attrName>
                                        </p:attrNameLst>
                                      </p:cBhvr>
                                      <p:to>
                                        <p:strVal val="visible"/>
                                      </p:to>
                                    </p:set>
                                    <p:animEffect transition="in" filter="wipe(left)">
                                      <p:cBhvr>
                                        <p:cTn id="7" dur="500"/>
                                        <p:tgtEl>
                                          <p:spTgt spid="37891">
                                            <p:txEl>
                                              <p:charRg st="0" end="1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7891">
                                            <p:txEl>
                                              <p:charRg st="11" end="24"/>
                                            </p:txEl>
                                          </p:spTgt>
                                        </p:tgtEl>
                                        <p:attrNameLst>
                                          <p:attrName>style.visibility</p:attrName>
                                        </p:attrNameLst>
                                      </p:cBhvr>
                                      <p:to>
                                        <p:strVal val="visible"/>
                                      </p:to>
                                    </p:set>
                                    <p:animEffect transition="in" filter="wipe(left)">
                                      <p:cBhvr>
                                        <p:cTn id="12" dur="500"/>
                                        <p:tgtEl>
                                          <p:spTgt spid="37891">
                                            <p:txEl>
                                              <p:charRg st="11" end="24"/>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7891">
                                            <p:txEl>
                                              <p:charRg st="24" end="34"/>
                                            </p:txEl>
                                          </p:spTgt>
                                        </p:tgtEl>
                                        <p:attrNameLst>
                                          <p:attrName>style.visibility</p:attrName>
                                        </p:attrNameLst>
                                      </p:cBhvr>
                                      <p:to>
                                        <p:strVal val="visible"/>
                                      </p:to>
                                    </p:set>
                                    <p:animEffect transition="in" filter="wipe(left)">
                                      <p:cBhvr>
                                        <p:cTn id="16" dur="500"/>
                                        <p:tgtEl>
                                          <p:spTgt spid="37891">
                                            <p:txEl>
                                              <p:charRg st="24" end="3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7891">
                                            <p:txEl>
                                              <p:charRg st="34" end="47"/>
                                            </p:txEl>
                                          </p:spTgt>
                                        </p:tgtEl>
                                        <p:attrNameLst>
                                          <p:attrName>style.visibility</p:attrName>
                                        </p:attrNameLst>
                                      </p:cBhvr>
                                      <p:to>
                                        <p:strVal val="visible"/>
                                      </p:to>
                                    </p:set>
                                    <p:animEffect transition="in" filter="wipe(left)">
                                      <p:cBhvr>
                                        <p:cTn id="21" dur="500"/>
                                        <p:tgtEl>
                                          <p:spTgt spid="37891">
                                            <p:txEl>
                                              <p:charRg st="34" end="4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7891">
                                            <p:txEl>
                                              <p:charRg st="47" end="59"/>
                                            </p:txEl>
                                          </p:spTgt>
                                        </p:tgtEl>
                                        <p:attrNameLst>
                                          <p:attrName>style.visibility</p:attrName>
                                        </p:attrNameLst>
                                      </p:cBhvr>
                                      <p:to>
                                        <p:strVal val="visible"/>
                                      </p:to>
                                    </p:set>
                                    <p:animEffect transition="in" filter="wipe(left)">
                                      <p:cBhvr>
                                        <p:cTn id="26" dur="500"/>
                                        <p:tgtEl>
                                          <p:spTgt spid="37891">
                                            <p:txEl>
                                              <p:charRg st="47" end="5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3"/>
          <p:cNvSpPr>
            <a:spLocks noGrp="1"/>
          </p:cNvSpPr>
          <p:nvPr>
            <p:ph type="body" idx="4294967295"/>
          </p:nvPr>
        </p:nvSpPr>
        <p:spPr>
          <a:xfrm>
            <a:off x="2484438" y="2349500"/>
            <a:ext cx="3455987" cy="1727200"/>
          </a:xfrm>
        </p:spPr>
        <p:txBody>
          <a:bodyPr vert="horz" wrap="square" lIns="91440" tIns="45720" rIns="91440" bIns="45720" anchor="t" anchorCtr="0"/>
          <a:p>
            <a:pPr eaLnBrk="1" hangingPunct="1">
              <a:lnSpc>
                <a:spcPct val="120000"/>
              </a:lnSpc>
              <a:buNone/>
            </a:pPr>
            <a:r>
              <a:rPr lang="zh-CN" altLang="en-US" dirty="0">
                <a:latin typeface="宋体" panose="02010600030101010101" pitchFamily="2" charset="-122"/>
                <a:ea typeface="宋体" panose="02010600030101010101" pitchFamily="2" charset="-122"/>
              </a:rPr>
              <a:t>取偏移地址指令</a:t>
            </a:r>
            <a:r>
              <a:rPr lang="en-US" altLang="zh-CN" dirty="0">
                <a:latin typeface="宋体" panose="02010600030101010101" pitchFamily="2" charset="-122"/>
                <a:ea typeface="宋体" panose="02010600030101010101" pitchFamily="2" charset="-122"/>
              </a:rPr>
              <a:t>LEA</a:t>
            </a:r>
            <a:endParaRPr lang="en-US" altLang="zh-CN" dirty="0">
              <a:latin typeface="宋体" panose="02010600030101010101" pitchFamily="2" charset="-122"/>
              <a:ea typeface="宋体" panose="02010600030101010101" pitchFamily="2" charset="-122"/>
            </a:endParaRPr>
          </a:p>
          <a:p>
            <a:pPr eaLnBrk="1" hangingPunct="1">
              <a:lnSpc>
                <a:spcPct val="120000"/>
              </a:lnSpc>
              <a:buNone/>
            </a:pPr>
            <a:r>
              <a:rPr lang="en-US" altLang="zh-CN" dirty="0">
                <a:latin typeface="宋体" panose="02010600030101010101" pitchFamily="2" charset="-122"/>
                <a:ea typeface="宋体" panose="02010600030101010101" pitchFamily="2" charset="-122"/>
              </a:rPr>
              <a:t>*LDS</a:t>
            </a:r>
            <a:r>
              <a:rPr lang="zh-CN" altLang="en-US" dirty="0">
                <a:latin typeface="宋体" panose="02010600030101010101" pitchFamily="2" charset="-122"/>
                <a:ea typeface="宋体" panose="02010600030101010101" pitchFamily="2" charset="-122"/>
              </a:rPr>
              <a:t>指令</a:t>
            </a:r>
            <a:endParaRPr lang="zh-CN" altLang="en-US" dirty="0">
              <a:latin typeface="宋体" panose="02010600030101010101" pitchFamily="2" charset="-122"/>
              <a:ea typeface="宋体" panose="02010600030101010101" pitchFamily="2" charset="-122"/>
            </a:endParaRPr>
          </a:p>
          <a:p>
            <a:pPr eaLnBrk="1" hangingPunct="1">
              <a:lnSpc>
                <a:spcPct val="120000"/>
              </a:lnSpc>
              <a:buNone/>
            </a:pPr>
            <a:r>
              <a:rPr lang="en-US" altLang="zh-CN" dirty="0">
                <a:latin typeface="宋体" panose="02010600030101010101" pitchFamily="2" charset="-122"/>
                <a:ea typeface="宋体" panose="02010600030101010101" pitchFamily="2" charset="-122"/>
              </a:rPr>
              <a:t>*LES</a:t>
            </a:r>
            <a:r>
              <a:rPr lang="zh-CN" altLang="en-US" dirty="0">
                <a:latin typeface="宋体" panose="02010600030101010101" pitchFamily="2" charset="-122"/>
                <a:ea typeface="宋体" panose="02010600030101010101" pitchFamily="2" charset="-122"/>
              </a:rPr>
              <a:t>指令</a:t>
            </a:r>
            <a:endParaRPr lang="zh-CN" altLang="en-US" dirty="0">
              <a:latin typeface="宋体" panose="02010600030101010101" pitchFamily="2" charset="-122"/>
              <a:ea typeface="宋体" panose="02010600030101010101" pitchFamily="2" charset="-122"/>
            </a:endParaRPr>
          </a:p>
        </p:txBody>
      </p:sp>
      <p:sp>
        <p:nvSpPr>
          <p:cNvPr id="38915" name="AutoShape 4"/>
          <p:cNvSpPr/>
          <p:nvPr/>
        </p:nvSpPr>
        <p:spPr>
          <a:xfrm>
            <a:off x="2214563" y="2444750"/>
            <a:ext cx="215900" cy="1536700"/>
          </a:xfrm>
          <a:prstGeom prst="leftBrace">
            <a:avLst>
              <a:gd name="adj1" fmla="val 58852"/>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37892" name="Rectangle 2"/>
          <p:cNvSpPr>
            <a:spLocks noGrp="1"/>
          </p:cNvSpPr>
          <p:nvPr/>
        </p:nvSpPr>
        <p:spPr>
          <a:xfrm>
            <a:off x="1908175" y="188913"/>
            <a:ext cx="6553200"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3.4.1.3 </a:t>
            </a:r>
            <a:r>
              <a:rPr lang="zh-CN" altLang="en-US" sz="3600" b="1" dirty="0">
                <a:solidFill>
                  <a:schemeClr val="bg1"/>
                </a:solidFill>
                <a:latin typeface="宋体" panose="02010600030101010101" pitchFamily="2" charset="-122"/>
                <a:ea typeface="宋体" panose="02010600030101010101" pitchFamily="2" charset="-122"/>
              </a:rPr>
              <a:t>地址传送指令</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8914">
                                            <p:txEl>
                                              <p:charRg st="0" end="11"/>
                                            </p:txEl>
                                          </p:spTgt>
                                        </p:tgtEl>
                                        <p:attrNameLst>
                                          <p:attrName>style.visibility</p:attrName>
                                        </p:attrNameLst>
                                      </p:cBhvr>
                                      <p:to>
                                        <p:strVal val="visible"/>
                                      </p:to>
                                    </p:set>
                                    <p:animEffect transition="in" filter="wipe(left)">
                                      <p:cBhvr>
                                        <p:cTn id="7" dur="500"/>
                                        <p:tgtEl>
                                          <p:spTgt spid="38914">
                                            <p:txEl>
                                              <p:charRg st="0" end="11"/>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8914">
                                            <p:txEl>
                                              <p:charRg st="11" end="18"/>
                                            </p:txEl>
                                          </p:spTgt>
                                        </p:tgtEl>
                                        <p:attrNameLst>
                                          <p:attrName>style.visibility</p:attrName>
                                        </p:attrNameLst>
                                      </p:cBhvr>
                                      <p:to>
                                        <p:strVal val="visible"/>
                                      </p:to>
                                    </p:set>
                                    <p:animEffect transition="in" filter="wipe(left)">
                                      <p:cBhvr>
                                        <p:cTn id="11" dur="500"/>
                                        <p:tgtEl>
                                          <p:spTgt spid="38914">
                                            <p:txEl>
                                              <p:charRg st="11" end="18"/>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8914">
                                            <p:txEl>
                                              <p:charRg st="18" end="25"/>
                                            </p:txEl>
                                          </p:spTgt>
                                        </p:tgtEl>
                                        <p:attrNameLst>
                                          <p:attrName>style.visibility</p:attrName>
                                        </p:attrNameLst>
                                      </p:cBhvr>
                                      <p:to>
                                        <p:strVal val="visible"/>
                                      </p:to>
                                    </p:set>
                                    <p:animEffect transition="in" filter="wipe(left)">
                                      <p:cBhvr>
                                        <p:cTn id="15" dur="500"/>
                                        <p:tgtEl>
                                          <p:spTgt spid="38914">
                                            <p:txEl>
                                              <p:charRg st="18" end="25"/>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38915"/>
                                        </p:tgtEl>
                                        <p:attrNameLst>
                                          <p:attrName>style.visibility</p:attrName>
                                        </p:attrNameLst>
                                      </p:cBhvr>
                                      <p:to>
                                        <p:strVal val="visible"/>
                                      </p:to>
                                    </p:set>
                                    <p:animEffect transition="in" filter="wipe(up)">
                                      <p:cBhvr>
                                        <p:cTn id="19" dur="500"/>
                                        <p:tgtEl>
                                          <p:spTgt spid="38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idx="4294967295"/>
          </p:nvPr>
        </p:nvSpPr>
        <p:spPr>
          <a:xfrm>
            <a:off x="684213" y="1201738"/>
            <a:ext cx="6553200" cy="565150"/>
          </a:xfrm>
        </p:spPr>
        <p:txBody>
          <a:bodyPr vert="horz" wrap="square" lIns="91440" tIns="45720" rIns="91440" bIns="45720" anchor="ctr" anchorCtr="0"/>
          <a:p>
            <a:pPr eaLnBrk="1" hangingPunct="1"/>
            <a:r>
              <a:rPr lang="zh-CN" altLang="en-US" dirty="0">
                <a:solidFill>
                  <a:srgbClr val="002060"/>
                </a:solidFill>
                <a:latin typeface="宋体" panose="02010600030101010101" pitchFamily="2" charset="-122"/>
                <a:ea typeface="宋体" panose="02010600030101010101" pitchFamily="2" charset="-122"/>
              </a:rPr>
              <a:t>（</a:t>
            </a:r>
            <a:r>
              <a:rPr lang="en-US" altLang="zh-CN" dirty="0">
                <a:solidFill>
                  <a:srgbClr val="002060"/>
                </a:solidFill>
                <a:latin typeface="宋体" panose="02010600030101010101" pitchFamily="2" charset="-122"/>
                <a:ea typeface="宋体" panose="02010600030101010101" pitchFamily="2" charset="-122"/>
              </a:rPr>
              <a:t>1</a:t>
            </a:r>
            <a:r>
              <a:rPr lang="zh-CN" altLang="en-US" dirty="0">
                <a:solidFill>
                  <a:srgbClr val="002060"/>
                </a:solidFill>
                <a:latin typeface="宋体" panose="02010600030101010101" pitchFamily="2" charset="-122"/>
                <a:ea typeface="宋体" panose="02010600030101010101" pitchFamily="2" charset="-122"/>
              </a:rPr>
              <a:t>）取偏移地址指令</a:t>
            </a:r>
            <a:r>
              <a:rPr lang="en-US" altLang="zh-CN" dirty="0">
                <a:solidFill>
                  <a:srgbClr val="002060"/>
                </a:solidFill>
                <a:latin typeface="宋体" panose="02010600030101010101" pitchFamily="2" charset="-122"/>
                <a:ea typeface="宋体" panose="02010600030101010101" pitchFamily="2" charset="-122"/>
              </a:rPr>
              <a:t>LEA</a:t>
            </a:r>
            <a:endParaRPr lang="en-US" altLang="zh-CN" dirty="0">
              <a:solidFill>
                <a:srgbClr val="002060"/>
              </a:solidFill>
              <a:latin typeface="宋体" panose="02010600030101010101" pitchFamily="2" charset="-122"/>
              <a:ea typeface="宋体" panose="02010600030101010101" pitchFamily="2" charset="-122"/>
            </a:endParaRPr>
          </a:p>
        </p:txBody>
      </p:sp>
      <p:sp>
        <p:nvSpPr>
          <p:cNvPr id="39939" name="Rectangle 3"/>
          <p:cNvSpPr>
            <a:spLocks noGrp="1"/>
          </p:cNvSpPr>
          <p:nvPr>
            <p:ph type="body" idx="4294967295"/>
          </p:nvPr>
        </p:nvSpPr>
        <p:spPr>
          <a:xfrm>
            <a:off x="684213" y="1766888"/>
            <a:ext cx="7780337" cy="4840287"/>
          </a:xfrm>
        </p:spPr>
        <p:txBody>
          <a:bodyPr vert="horz" wrap="square" lIns="91440" tIns="45720" rIns="91440" bIns="45720" anchor="t" anchorCtr="0"/>
          <a:p>
            <a:pPr algn="just" eaLnBrk="1" hangingPunct="1">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操作：</a:t>
            </a:r>
            <a:endParaRPr lang="zh-CN" altLang="en-US" sz="2400" dirty="0">
              <a:latin typeface="宋体" panose="02010600030101010101" pitchFamily="2" charset="-122"/>
              <a:ea typeface="宋体" panose="02010600030101010101" pitchFamily="2" charset="-122"/>
            </a:endParaRPr>
          </a:p>
          <a:p>
            <a:pPr marL="457200" lvl="1" indent="0" algn="just" eaLnBrk="1" hangingPunct="1">
              <a:spcBef>
                <a:spcPct val="5000"/>
              </a:spcBef>
              <a:buNone/>
            </a:pPr>
            <a:r>
              <a:rPr lang="zh-CN" altLang="en-US" dirty="0">
                <a:latin typeface="宋体" panose="02010600030101010101" pitchFamily="2" charset="-122"/>
                <a:ea typeface="宋体" panose="02010600030101010101" pitchFamily="2" charset="-122"/>
              </a:rPr>
              <a:t>将变量的16位偏移地址取出送目标寄存器</a:t>
            </a:r>
            <a:endParaRPr lang="zh-CN" altLang="en-US" dirty="0">
              <a:latin typeface="宋体" panose="02010600030101010101" pitchFamily="2" charset="-122"/>
              <a:ea typeface="宋体" panose="02010600030101010101" pitchFamily="2" charset="-122"/>
            </a:endParaRPr>
          </a:p>
          <a:p>
            <a:pPr algn="just" eaLnBrk="1" hangingPunct="1">
              <a:spcBef>
                <a:spcPct val="40000"/>
              </a:spcBef>
              <a:buFont typeface="Wingdings" panose="05000000000000000000" pitchFamily="2" charset="2"/>
              <a:buChar char="l"/>
            </a:pPr>
            <a:r>
              <a:rPr lang="zh-CN" altLang="en-US" sz="2400" dirty="0">
                <a:ea typeface="宋体" panose="02010600030101010101" pitchFamily="2" charset="-122"/>
              </a:rPr>
              <a:t>当程序中用符号地址表示内存偏移地址时，须使用该指令。</a:t>
            </a:r>
            <a:endParaRPr lang="zh-CN" altLang="en-US" sz="2400" dirty="0">
              <a:latin typeface="宋体" panose="02010600030101010101" pitchFamily="2" charset="-122"/>
              <a:ea typeface="宋体" panose="02010600030101010101" pitchFamily="2" charset="-122"/>
            </a:endParaRPr>
          </a:p>
          <a:p>
            <a:pPr algn="just" eaLnBrk="1" hangingPunct="1">
              <a:spcBef>
                <a:spcPct val="40000"/>
              </a:spcBef>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格式：</a:t>
            </a:r>
            <a:endParaRPr lang="zh-CN" altLang="en-US" sz="2400" dirty="0">
              <a:latin typeface="宋体" panose="02010600030101010101" pitchFamily="2" charset="-122"/>
              <a:ea typeface="宋体" panose="02010600030101010101" pitchFamily="2" charset="-122"/>
            </a:endParaRPr>
          </a:p>
          <a:p>
            <a:pPr algn="just" eaLnBrk="1" hangingPunct="1">
              <a:spcBef>
                <a:spcPct val="5000"/>
              </a:spcBef>
              <a:spcAft>
                <a:spcPct val="20000"/>
              </a:spcAft>
              <a:buNone/>
            </a:pPr>
            <a:r>
              <a:rPr lang="en-US" altLang="zh-CN" sz="2400" dirty="0">
                <a:latin typeface="宋体" panose="02010600030101010101" pitchFamily="2" charset="-122"/>
                <a:ea typeface="宋体" panose="02010600030101010101" pitchFamily="2" charset="-122"/>
              </a:rPr>
              <a:t>    LEA REG，MEM </a:t>
            </a:r>
            <a:endParaRPr lang="zh-CN" altLang="en-US" sz="2400" dirty="0">
              <a:latin typeface="宋体" panose="02010600030101010101" pitchFamily="2" charset="-122"/>
              <a:ea typeface="宋体" panose="02010600030101010101" pitchFamily="2" charset="-122"/>
            </a:endParaRPr>
          </a:p>
          <a:p>
            <a:pPr algn="just" eaLnBrk="1" hangingPunct="1">
              <a:spcBef>
                <a:spcPct val="10000"/>
              </a:spcBef>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指令要求：</a:t>
            </a:r>
            <a:endParaRPr lang="zh-CN" altLang="en-US" sz="2400" dirty="0">
              <a:latin typeface="宋体" panose="02010600030101010101" pitchFamily="2" charset="-122"/>
              <a:ea typeface="宋体" panose="02010600030101010101" pitchFamily="2" charset="-122"/>
            </a:endParaRPr>
          </a:p>
          <a:p>
            <a:pPr marL="457200" lvl="1" indent="0" algn="just" eaLnBrk="1" hangingPunct="1">
              <a:lnSpc>
                <a:spcPct val="115000"/>
              </a:lnSpc>
              <a:spcBef>
                <a:spcPct val="10000"/>
              </a:spcBef>
            </a:pPr>
            <a:r>
              <a:rPr lang="zh-CN" altLang="en-US" dirty="0">
                <a:solidFill>
                  <a:srgbClr val="FF0000"/>
                </a:solidFill>
                <a:latin typeface="宋体" panose="02010600030101010101" pitchFamily="2" charset="-122"/>
                <a:ea typeface="宋体" panose="02010600030101010101" pitchFamily="2" charset="-122"/>
              </a:rPr>
              <a:t>源操作数</a:t>
            </a:r>
            <a:r>
              <a:rPr lang="en-US" altLang="zh-CN" dirty="0">
                <a:solidFill>
                  <a:srgbClr val="FF0000"/>
                </a:solidFill>
                <a:latin typeface="宋体" panose="02010600030101010101" pitchFamily="2" charset="-122"/>
                <a:ea typeface="宋体" panose="02010600030101010101" pitchFamily="2" charset="-122"/>
              </a:rPr>
              <a:t>MEM</a:t>
            </a:r>
            <a:r>
              <a:rPr lang="zh-CN" altLang="en-US" dirty="0">
                <a:latin typeface="宋体" panose="02010600030101010101" pitchFamily="2" charset="-122"/>
                <a:ea typeface="宋体" panose="02010600030101010101" pitchFamily="2" charset="-122"/>
              </a:rPr>
              <a:t>必须是一个</a:t>
            </a:r>
            <a:r>
              <a:rPr lang="zh-CN" altLang="en-US" dirty="0">
                <a:solidFill>
                  <a:srgbClr val="FF0000"/>
                </a:solidFill>
                <a:latin typeface="宋体" panose="02010600030101010101" pitchFamily="2" charset="-122"/>
                <a:ea typeface="宋体" panose="02010600030101010101" pitchFamily="2" charset="-122"/>
              </a:rPr>
              <a:t>存储器操作数</a:t>
            </a:r>
            <a:r>
              <a:rPr lang="zh-CN" altLang="en-US" dirty="0">
                <a:latin typeface="宋体" panose="02010600030101010101" pitchFamily="2" charset="-122"/>
                <a:ea typeface="宋体" panose="02010600030101010101" pitchFamily="2" charset="-122"/>
              </a:rPr>
              <a:t>，目标操作数必须是</a:t>
            </a:r>
            <a:r>
              <a:rPr lang="en-US" altLang="zh-CN" dirty="0">
                <a:latin typeface="宋体" panose="02010600030101010101" pitchFamily="2" charset="-122"/>
                <a:ea typeface="宋体" panose="02010600030101010101" pitchFamily="2" charset="-122"/>
              </a:rPr>
              <a:t>16</a:t>
            </a:r>
            <a:r>
              <a:rPr lang="zh-CN" altLang="en-US" dirty="0">
                <a:latin typeface="宋体" panose="02010600030101010101" pitchFamily="2" charset="-122"/>
                <a:ea typeface="宋体" panose="02010600030101010101" pitchFamily="2" charset="-122"/>
              </a:rPr>
              <a:t>位通用寄存器，一般是间址寄存器（</a:t>
            </a:r>
            <a:r>
              <a:rPr lang="en-US" altLang="zh-CN" dirty="0">
                <a:latin typeface="宋体" panose="02010600030101010101" pitchFamily="2" charset="-122"/>
                <a:ea typeface="宋体" panose="02010600030101010101" pitchFamily="2" charset="-122"/>
              </a:rPr>
              <a:t>BX</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BP</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SI</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DI</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9939">
                                            <p:txEl>
                                              <p:charRg st="0" end="4"/>
                                            </p:txEl>
                                          </p:spTgt>
                                        </p:tgtEl>
                                        <p:attrNameLst>
                                          <p:attrName>style.visibility</p:attrName>
                                        </p:attrNameLst>
                                      </p:cBhvr>
                                      <p:to>
                                        <p:strVal val="visible"/>
                                      </p:to>
                                    </p:set>
                                    <p:animEffect transition="in" filter="wipe(left)">
                                      <p:cBhvr>
                                        <p:cTn id="7" dur="500"/>
                                        <p:tgtEl>
                                          <p:spTgt spid="39939">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9939">
                                            <p:txEl>
                                              <p:charRg st="4" end="24"/>
                                            </p:txEl>
                                          </p:spTgt>
                                        </p:tgtEl>
                                        <p:attrNameLst>
                                          <p:attrName>style.visibility</p:attrName>
                                        </p:attrNameLst>
                                      </p:cBhvr>
                                      <p:to>
                                        <p:strVal val="visible"/>
                                      </p:to>
                                    </p:set>
                                    <p:animEffect transition="in" filter="wipe(left)">
                                      <p:cBhvr>
                                        <p:cTn id="11" dur="500"/>
                                        <p:tgtEl>
                                          <p:spTgt spid="39939">
                                            <p:txEl>
                                              <p:charRg st="4" end="24"/>
                                            </p:txEl>
                                          </p:spTgt>
                                        </p:tgtEl>
                                      </p:cBhvr>
                                    </p:animEffect>
                                  </p:childTnLst>
                                </p:cTn>
                              </p:par>
                            </p:childTnLst>
                          </p:cTn>
                        </p:par>
                        <p:par>
                          <p:cTn id="12" fill="hold">
                            <p:stCondLst>
                              <p:cond delay="1000"/>
                            </p:stCondLst>
                            <p:childTnLst>
                              <p:par>
                                <p:cTn id="13" presetID="55" presetClass="entr" presetSubtype="0" fill="hold" nodeType="afterEffect">
                                  <p:stCondLst>
                                    <p:cond delay="0"/>
                                  </p:stCondLst>
                                  <p:childTnLst>
                                    <p:set>
                                      <p:cBhvr>
                                        <p:cTn id="14" dur="1" fill="hold">
                                          <p:stCondLst>
                                            <p:cond delay="0"/>
                                          </p:stCondLst>
                                        </p:cTn>
                                        <p:tgtEl>
                                          <p:spTgt spid="39939">
                                            <p:txEl>
                                              <p:charRg st="24" end="51"/>
                                            </p:txEl>
                                          </p:spTgt>
                                        </p:tgtEl>
                                        <p:attrNameLst>
                                          <p:attrName>style.visibility</p:attrName>
                                        </p:attrNameLst>
                                      </p:cBhvr>
                                      <p:to>
                                        <p:strVal val="visible"/>
                                      </p:to>
                                    </p:set>
                                    <p:anim calcmode="lin" valueType="num">
                                      <p:cBhvr>
                                        <p:cTn id="15" dur="1000" fill="hold"/>
                                        <p:tgtEl>
                                          <p:spTgt spid="39939">
                                            <p:txEl>
                                              <p:charRg st="24" end="51"/>
                                            </p:txEl>
                                          </p:spTgt>
                                        </p:tgtEl>
                                        <p:attrNameLst>
                                          <p:attrName>ppt_w</p:attrName>
                                        </p:attrNameLst>
                                      </p:cBhvr>
                                      <p:tavLst>
                                        <p:tav tm="0">
                                          <p:val>
                                            <p:strVal val="#ppt_w*0.70"/>
                                          </p:val>
                                        </p:tav>
                                        <p:tav tm="100000">
                                          <p:val>
                                            <p:strVal val="#ppt_w"/>
                                          </p:val>
                                        </p:tav>
                                      </p:tavLst>
                                    </p:anim>
                                    <p:anim calcmode="lin" valueType="num">
                                      <p:cBhvr>
                                        <p:cTn id="16" dur="1000" fill="hold"/>
                                        <p:tgtEl>
                                          <p:spTgt spid="39939">
                                            <p:txEl>
                                              <p:charRg st="24" end="51"/>
                                            </p:txEl>
                                          </p:spTgt>
                                        </p:tgtEl>
                                        <p:attrNameLst>
                                          <p:attrName>ppt_h</p:attrName>
                                        </p:attrNameLst>
                                      </p:cBhvr>
                                      <p:tavLst>
                                        <p:tav tm="0">
                                          <p:val>
                                            <p:strVal val="#ppt_h"/>
                                          </p:val>
                                        </p:tav>
                                        <p:tav tm="100000">
                                          <p:val>
                                            <p:strVal val="#ppt_h"/>
                                          </p:val>
                                        </p:tav>
                                      </p:tavLst>
                                    </p:anim>
                                    <p:animEffect transition="in" filter="fade">
                                      <p:cBhvr>
                                        <p:cTn id="17" dur="1000"/>
                                        <p:tgtEl>
                                          <p:spTgt spid="39939">
                                            <p:txEl>
                                              <p:charRg st="24" end="5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39939">
                                            <p:txEl>
                                              <p:charRg st="51" end="55"/>
                                            </p:txEl>
                                          </p:spTgt>
                                        </p:tgtEl>
                                        <p:attrNameLst>
                                          <p:attrName>style.visibility</p:attrName>
                                        </p:attrNameLst>
                                      </p:cBhvr>
                                      <p:to>
                                        <p:strVal val="visible"/>
                                      </p:to>
                                    </p:set>
                                    <p:anim calcmode="lin" valueType="num">
                                      <p:cBhvr>
                                        <p:cTn id="22" dur="1000" fill="hold"/>
                                        <p:tgtEl>
                                          <p:spTgt spid="39939">
                                            <p:txEl>
                                              <p:charRg st="51" end="55"/>
                                            </p:txEl>
                                          </p:spTgt>
                                        </p:tgtEl>
                                        <p:attrNameLst>
                                          <p:attrName>ppt_w</p:attrName>
                                        </p:attrNameLst>
                                      </p:cBhvr>
                                      <p:tavLst>
                                        <p:tav tm="0">
                                          <p:val>
                                            <p:strVal val="#ppt_w*0.70"/>
                                          </p:val>
                                        </p:tav>
                                        <p:tav tm="100000">
                                          <p:val>
                                            <p:strVal val="#ppt_w"/>
                                          </p:val>
                                        </p:tav>
                                      </p:tavLst>
                                    </p:anim>
                                    <p:anim calcmode="lin" valueType="num">
                                      <p:cBhvr>
                                        <p:cTn id="23" dur="1000" fill="hold"/>
                                        <p:tgtEl>
                                          <p:spTgt spid="39939">
                                            <p:txEl>
                                              <p:charRg st="51" end="55"/>
                                            </p:txEl>
                                          </p:spTgt>
                                        </p:tgtEl>
                                        <p:attrNameLst>
                                          <p:attrName>ppt_h</p:attrName>
                                        </p:attrNameLst>
                                      </p:cBhvr>
                                      <p:tavLst>
                                        <p:tav tm="0">
                                          <p:val>
                                            <p:strVal val="#ppt_h"/>
                                          </p:val>
                                        </p:tav>
                                        <p:tav tm="100000">
                                          <p:val>
                                            <p:strVal val="#ppt_h"/>
                                          </p:val>
                                        </p:tav>
                                      </p:tavLst>
                                    </p:anim>
                                    <p:animEffect transition="in" filter="fade">
                                      <p:cBhvr>
                                        <p:cTn id="24" dur="1000"/>
                                        <p:tgtEl>
                                          <p:spTgt spid="39939">
                                            <p:txEl>
                                              <p:charRg st="51" end="55"/>
                                            </p:txEl>
                                          </p:spTgt>
                                        </p:tgtEl>
                                      </p:cBhvr>
                                    </p:animEffect>
                                  </p:childTnLst>
                                </p:cTn>
                              </p:par>
                            </p:childTnLst>
                          </p:cTn>
                        </p:par>
                        <p:par>
                          <p:cTn id="25" fill="hold">
                            <p:stCondLst>
                              <p:cond delay="1000"/>
                            </p:stCondLst>
                            <p:childTnLst>
                              <p:par>
                                <p:cTn id="26" presetID="55" presetClass="entr" presetSubtype="0" fill="hold" nodeType="afterEffect">
                                  <p:stCondLst>
                                    <p:cond delay="0"/>
                                  </p:stCondLst>
                                  <p:childTnLst>
                                    <p:set>
                                      <p:cBhvr>
                                        <p:cTn id="27" dur="1" fill="hold">
                                          <p:stCondLst>
                                            <p:cond delay="0"/>
                                          </p:stCondLst>
                                        </p:cTn>
                                        <p:tgtEl>
                                          <p:spTgt spid="39939">
                                            <p:txEl>
                                              <p:charRg st="55" end="72"/>
                                            </p:txEl>
                                          </p:spTgt>
                                        </p:tgtEl>
                                        <p:attrNameLst>
                                          <p:attrName>style.visibility</p:attrName>
                                        </p:attrNameLst>
                                      </p:cBhvr>
                                      <p:to>
                                        <p:strVal val="visible"/>
                                      </p:to>
                                    </p:set>
                                    <p:anim calcmode="lin" valueType="num">
                                      <p:cBhvr>
                                        <p:cTn id="28" dur="1000" fill="hold"/>
                                        <p:tgtEl>
                                          <p:spTgt spid="39939">
                                            <p:txEl>
                                              <p:charRg st="55" end="72"/>
                                            </p:txEl>
                                          </p:spTgt>
                                        </p:tgtEl>
                                        <p:attrNameLst>
                                          <p:attrName>ppt_w</p:attrName>
                                        </p:attrNameLst>
                                      </p:cBhvr>
                                      <p:tavLst>
                                        <p:tav tm="0">
                                          <p:val>
                                            <p:strVal val="#ppt_w*0.70"/>
                                          </p:val>
                                        </p:tav>
                                        <p:tav tm="100000">
                                          <p:val>
                                            <p:strVal val="#ppt_w"/>
                                          </p:val>
                                        </p:tav>
                                      </p:tavLst>
                                    </p:anim>
                                    <p:anim calcmode="lin" valueType="num">
                                      <p:cBhvr>
                                        <p:cTn id="29" dur="1000" fill="hold"/>
                                        <p:tgtEl>
                                          <p:spTgt spid="39939">
                                            <p:txEl>
                                              <p:charRg st="55" end="72"/>
                                            </p:txEl>
                                          </p:spTgt>
                                        </p:tgtEl>
                                        <p:attrNameLst>
                                          <p:attrName>ppt_h</p:attrName>
                                        </p:attrNameLst>
                                      </p:cBhvr>
                                      <p:tavLst>
                                        <p:tav tm="0">
                                          <p:val>
                                            <p:strVal val="#ppt_h"/>
                                          </p:val>
                                        </p:tav>
                                        <p:tav tm="100000">
                                          <p:val>
                                            <p:strVal val="#ppt_h"/>
                                          </p:val>
                                        </p:tav>
                                      </p:tavLst>
                                    </p:anim>
                                    <p:animEffect transition="in" filter="fade">
                                      <p:cBhvr>
                                        <p:cTn id="30" dur="1000"/>
                                        <p:tgtEl>
                                          <p:spTgt spid="39939">
                                            <p:txEl>
                                              <p:charRg st="55" end="7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39939">
                                            <p:txEl>
                                              <p:charRg st="72" end="78"/>
                                            </p:txEl>
                                          </p:spTgt>
                                        </p:tgtEl>
                                        <p:attrNameLst>
                                          <p:attrName>style.visibility</p:attrName>
                                        </p:attrNameLst>
                                      </p:cBhvr>
                                      <p:to>
                                        <p:strVal val="visible"/>
                                      </p:to>
                                    </p:set>
                                    <p:anim calcmode="lin" valueType="num">
                                      <p:cBhvr>
                                        <p:cTn id="35" dur="1000" fill="hold"/>
                                        <p:tgtEl>
                                          <p:spTgt spid="39939">
                                            <p:txEl>
                                              <p:charRg st="72" end="78"/>
                                            </p:txEl>
                                          </p:spTgt>
                                        </p:tgtEl>
                                        <p:attrNameLst>
                                          <p:attrName>ppt_w</p:attrName>
                                        </p:attrNameLst>
                                      </p:cBhvr>
                                      <p:tavLst>
                                        <p:tav tm="0">
                                          <p:val>
                                            <p:strVal val="#ppt_w*0.70"/>
                                          </p:val>
                                        </p:tav>
                                        <p:tav tm="100000">
                                          <p:val>
                                            <p:strVal val="#ppt_w"/>
                                          </p:val>
                                        </p:tav>
                                      </p:tavLst>
                                    </p:anim>
                                    <p:anim calcmode="lin" valueType="num">
                                      <p:cBhvr>
                                        <p:cTn id="36" dur="1000" fill="hold"/>
                                        <p:tgtEl>
                                          <p:spTgt spid="39939">
                                            <p:txEl>
                                              <p:charRg st="72" end="78"/>
                                            </p:txEl>
                                          </p:spTgt>
                                        </p:tgtEl>
                                        <p:attrNameLst>
                                          <p:attrName>ppt_h</p:attrName>
                                        </p:attrNameLst>
                                      </p:cBhvr>
                                      <p:tavLst>
                                        <p:tav tm="0">
                                          <p:val>
                                            <p:strVal val="#ppt_h"/>
                                          </p:val>
                                        </p:tav>
                                        <p:tav tm="100000">
                                          <p:val>
                                            <p:strVal val="#ppt_h"/>
                                          </p:val>
                                        </p:tav>
                                      </p:tavLst>
                                    </p:anim>
                                    <p:animEffect transition="in" filter="fade">
                                      <p:cBhvr>
                                        <p:cTn id="37" dur="1000"/>
                                        <p:tgtEl>
                                          <p:spTgt spid="39939">
                                            <p:txEl>
                                              <p:charRg st="72" end="7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nodeType="clickEffect">
                                  <p:stCondLst>
                                    <p:cond delay="0"/>
                                  </p:stCondLst>
                                  <p:childTnLst>
                                    <p:set>
                                      <p:cBhvr>
                                        <p:cTn id="41" dur="1" fill="hold">
                                          <p:stCondLst>
                                            <p:cond delay="0"/>
                                          </p:stCondLst>
                                        </p:cTn>
                                        <p:tgtEl>
                                          <p:spTgt spid="39939">
                                            <p:txEl>
                                              <p:charRg st="78" end="137"/>
                                            </p:txEl>
                                          </p:spTgt>
                                        </p:tgtEl>
                                        <p:attrNameLst>
                                          <p:attrName>style.visibility</p:attrName>
                                        </p:attrNameLst>
                                      </p:cBhvr>
                                      <p:to>
                                        <p:strVal val="visible"/>
                                      </p:to>
                                    </p:set>
                                    <p:anim calcmode="lin" valueType="num">
                                      <p:cBhvr>
                                        <p:cTn id="42" dur="1000" fill="hold"/>
                                        <p:tgtEl>
                                          <p:spTgt spid="39939">
                                            <p:txEl>
                                              <p:charRg st="78" end="137"/>
                                            </p:txEl>
                                          </p:spTgt>
                                        </p:tgtEl>
                                        <p:attrNameLst>
                                          <p:attrName>ppt_w</p:attrName>
                                        </p:attrNameLst>
                                      </p:cBhvr>
                                      <p:tavLst>
                                        <p:tav tm="0">
                                          <p:val>
                                            <p:strVal val="#ppt_w*0.70"/>
                                          </p:val>
                                        </p:tav>
                                        <p:tav tm="100000">
                                          <p:val>
                                            <p:strVal val="#ppt_w"/>
                                          </p:val>
                                        </p:tav>
                                      </p:tavLst>
                                    </p:anim>
                                    <p:anim calcmode="lin" valueType="num">
                                      <p:cBhvr>
                                        <p:cTn id="43" dur="1000" fill="hold"/>
                                        <p:tgtEl>
                                          <p:spTgt spid="39939">
                                            <p:txEl>
                                              <p:charRg st="78" end="137"/>
                                            </p:txEl>
                                          </p:spTgt>
                                        </p:tgtEl>
                                        <p:attrNameLst>
                                          <p:attrName>ppt_h</p:attrName>
                                        </p:attrNameLst>
                                      </p:cBhvr>
                                      <p:tavLst>
                                        <p:tav tm="0">
                                          <p:val>
                                            <p:strVal val="#ppt_h"/>
                                          </p:val>
                                        </p:tav>
                                        <p:tav tm="100000">
                                          <p:val>
                                            <p:strVal val="#ppt_h"/>
                                          </p:val>
                                        </p:tav>
                                      </p:tavLst>
                                    </p:anim>
                                    <p:animEffect transition="in" filter="fade">
                                      <p:cBhvr>
                                        <p:cTn id="44" dur="1000"/>
                                        <p:tgtEl>
                                          <p:spTgt spid="39939">
                                            <p:txEl>
                                              <p:charRg st="78" end="13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内容占位符 2"/>
          <p:cNvSpPr>
            <a:spLocks noGrp="1"/>
          </p:cNvSpPr>
          <p:nvPr>
            <p:ph idx="4294967295"/>
          </p:nvPr>
        </p:nvSpPr>
        <p:spPr>
          <a:xfrm>
            <a:off x="684213" y="1125538"/>
            <a:ext cx="7920037" cy="4248150"/>
          </a:xfrm>
        </p:spPr>
        <p:txBody>
          <a:bodyPr vert="horz" wrap="square" lIns="91440" tIns="45720" rIns="91440" bIns="45720" anchor="t" anchorCtr="0"/>
          <a:p>
            <a:pPr>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例</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a:lnSpc>
                <a:spcPct val="150000"/>
              </a:lnSpc>
              <a:buNone/>
            </a:pPr>
            <a:r>
              <a:rPr lang="zh-CN" altLang="en-US" sz="2400" dirty="0">
                <a:latin typeface="宋体" panose="02010600030101010101" pitchFamily="2" charset="-122"/>
                <a:ea typeface="宋体" panose="02010600030101010101" pitchFamily="2" charset="-122"/>
              </a:rPr>
              <a:t>设（</a:t>
            </a:r>
            <a:r>
              <a:rPr lang="en-US" altLang="zh-CN" sz="2400" dirty="0">
                <a:latin typeface="宋体" panose="02010600030101010101" pitchFamily="2" charset="-122"/>
                <a:ea typeface="宋体" panose="02010600030101010101" pitchFamily="2" charset="-122"/>
              </a:rPr>
              <a:t>BX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=1000H</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DS</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=6000H</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61050H</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=33H</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61051H</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=44H</a:t>
            </a:r>
            <a:r>
              <a:rPr lang="zh-CN" altLang="en-US" sz="2400" dirty="0">
                <a:latin typeface="宋体" panose="02010600030101010101" pitchFamily="2" charset="-122"/>
                <a:ea typeface="宋体" panose="02010600030101010101" pitchFamily="2" charset="-122"/>
              </a:rPr>
              <a:t>。比较以下两条指令的执行结果。</a:t>
            </a:r>
            <a:endParaRPr lang="en-US" altLang="zh-CN" sz="2400" dirty="0">
              <a:latin typeface="宋体" panose="02010600030101010101" pitchFamily="2" charset="-122"/>
              <a:ea typeface="宋体" panose="02010600030101010101" pitchFamily="2" charset="-122"/>
            </a:endParaRPr>
          </a:p>
          <a:p>
            <a:pPr>
              <a:lnSpc>
                <a:spcPct val="150000"/>
              </a:lnSpc>
              <a:buNone/>
            </a:pPr>
            <a:r>
              <a:rPr lang="en-US" altLang="zh-CN" sz="2400" dirty="0">
                <a:latin typeface="宋体" panose="02010600030101010101" pitchFamily="2" charset="-122"/>
                <a:ea typeface="宋体" panose="02010600030101010101" pitchFamily="2" charset="-122"/>
              </a:rPr>
              <a:t>LEA BX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[BX+50H]</a:t>
            </a:r>
            <a:endParaRPr lang="en-US" altLang="zh-CN" sz="2400" dirty="0">
              <a:latin typeface="宋体" panose="02010600030101010101" pitchFamily="2" charset="-122"/>
              <a:ea typeface="宋体" panose="02010600030101010101" pitchFamily="2" charset="-122"/>
            </a:endParaRPr>
          </a:p>
          <a:p>
            <a:pPr>
              <a:lnSpc>
                <a:spcPct val="150000"/>
              </a:lnSpc>
              <a:buNone/>
            </a:pPr>
            <a:r>
              <a:rPr lang="en-US" altLang="zh-CN" sz="2400" dirty="0">
                <a:latin typeface="宋体" panose="02010600030101010101" pitchFamily="2" charset="-122"/>
                <a:ea typeface="宋体" panose="02010600030101010101" pitchFamily="2" charset="-122"/>
              </a:rPr>
              <a:t>MOV BX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[BX+1]</a:t>
            </a:r>
            <a:endParaRPr lang="en-US" altLang="zh-CN" sz="2400" dirty="0">
              <a:latin typeface="宋体" panose="02010600030101010101" pitchFamily="2" charset="-122"/>
              <a:ea typeface="宋体" panose="02010600030101010101" pitchFamily="2" charset="-122"/>
            </a:endParaRPr>
          </a:p>
          <a:p>
            <a:pPr>
              <a:lnSpc>
                <a:spcPct val="150000"/>
              </a:lnSpc>
              <a:buNone/>
            </a:pPr>
            <a:r>
              <a:rPr lang="zh-CN" altLang="en-US" sz="2400" dirty="0">
                <a:latin typeface="宋体" panose="02010600030101010101" pitchFamily="2" charset="-122"/>
                <a:ea typeface="宋体" panose="02010600030101010101" pitchFamily="2" charset="-122"/>
              </a:rPr>
              <a:t>则，第</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条指令执行后，（</a:t>
            </a:r>
            <a:r>
              <a:rPr lang="en-US" altLang="zh-CN" sz="2400" dirty="0">
                <a:latin typeface="宋体" panose="02010600030101010101" pitchFamily="2" charset="-122"/>
                <a:ea typeface="宋体" panose="02010600030101010101" pitchFamily="2" charset="-122"/>
              </a:rPr>
              <a:t>BX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？，第</a:t>
            </a:r>
            <a:r>
              <a:rPr lang="en-US" altLang="zh-CN" sz="2400" dirty="0">
                <a:latin typeface="宋体" panose="02010600030101010101" pitchFamily="2" charset="-122"/>
                <a:ea typeface="宋体" panose="02010600030101010101" pitchFamily="2" charset="-122"/>
              </a:rPr>
              <a:t>2</a:t>
            </a:r>
            <a:r>
              <a:rPr lang="zh-CN" altLang="en-US" sz="2400" dirty="0">
                <a:latin typeface="宋体" panose="02010600030101010101" pitchFamily="2" charset="-122"/>
                <a:ea typeface="宋体" panose="02010600030101010101" pitchFamily="2" charset="-122"/>
              </a:rPr>
              <a:t>条指令执行后，（</a:t>
            </a:r>
            <a:r>
              <a:rPr lang="en-US" altLang="zh-CN" sz="2400" dirty="0">
                <a:latin typeface="宋体" panose="02010600030101010101" pitchFamily="2" charset="-122"/>
                <a:ea typeface="宋体" panose="02010600030101010101" pitchFamily="2" charset="-122"/>
              </a:rPr>
              <a:t>BX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3"/>
          <p:cNvSpPr>
            <a:spLocks noGrp="1"/>
          </p:cNvSpPr>
          <p:nvPr>
            <p:ph type="body" idx="4294967295"/>
          </p:nvPr>
        </p:nvSpPr>
        <p:spPr>
          <a:xfrm>
            <a:off x="468313" y="1268413"/>
            <a:ext cx="8280400" cy="3832225"/>
          </a:xfrm>
        </p:spPr>
        <p:txBody>
          <a:bodyPr vert="horz" wrap="square" lIns="91440" tIns="45720" rIns="91440" bIns="45720" anchor="t" anchorCtr="0"/>
          <a:p>
            <a:pPr eaLnBrk="1" hangingPunct="1">
              <a:lnSpc>
                <a:spcPct val="125000"/>
              </a:lnSpc>
              <a:spcAft>
                <a:spcPct val="20000"/>
              </a:spcAft>
              <a:buFont typeface="Wingdings" panose="05000000000000000000" pitchFamily="2" charset="2"/>
              <a:buChar char="Ø"/>
            </a:pPr>
            <a:r>
              <a:rPr lang="zh-CN" altLang="en-US" dirty="0">
                <a:ea typeface="宋体" panose="02010600030101010101" pitchFamily="2" charset="-122"/>
              </a:rPr>
              <a:t>例</a:t>
            </a:r>
            <a:r>
              <a:rPr lang="en-US" altLang="zh-CN" dirty="0">
                <a:ea typeface="宋体" panose="02010600030101010101" pitchFamily="2" charset="-122"/>
              </a:rPr>
              <a:t>2</a:t>
            </a:r>
            <a:r>
              <a:rPr lang="zh-CN" altLang="en-US" dirty="0">
                <a:ea typeface="宋体" panose="02010600030101010101" pitchFamily="2" charset="-122"/>
              </a:rPr>
              <a:t>：</a:t>
            </a:r>
            <a:endParaRPr lang="en-US" altLang="zh-CN" dirty="0">
              <a:ea typeface="宋体" panose="02010600030101010101" pitchFamily="2" charset="-122"/>
            </a:endParaRPr>
          </a:p>
          <a:p>
            <a:pPr eaLnBrk="1" hangingPunct="1">
              <a:lnSpc>
                <a:spcPct val="125000"/>
              </a:lnSpc>
              <a:spcAft>
                <a:spcPct val="20000"/>
              </a:spcAft>
              <a:buNone/>
            </a:pPr>
            <a:r>
              <a:rPr lang="zh-CN" altLang="en-US" dirty="0">
                <a:ea typeface="宋体" panose="02010600030101010101" pitchFamily="2" charset="-122"/>
              </a:rPr>
              <a:t>将数据段中首地址为</a:t>
            </a:r>
            <a:r>
              <a:rPr lang="en-US" altLang="zh-CN" dirty="0">
                <a:ea typeface="宋体" panose="02010600030101010101" pitchFamily="2" charset="-122"/>
              </a:rPr>
              <a:t>MEM1 </a:t>
            </a:r>
            <a:r>
              <a:rPr lang="zh-CN" altLang="en-US" dirty="0">
                <a:ea typeface="宋体" panose="02010600030101010101" pitchFamily="2" charset="-122"/>
              </a:rPr>
              <a:t>的50个字节的数据传送到同一逻辑段首地址为</a:t>
            </a:r>
            <a:r>
              <a:rPr lang="en-US" altLang="zh-CN" dirty="0">
                <a:ea typeface="宋体" panose="02010600030101010101" pitchFamily="2" charset="-122"/>
              </a:rPr>
              <a:t>MEM2</a:t>
            </a:r>
            <a:r>
              <a:rPr lang="zh-CN" altLang="en-US" dirty="0">
                <a:ea typeface="宋体" panose="02010600030101010101" pitchFamily="2" charset="-122"/>
              </a:rPr>
              <a:t>的区域存放。编写相应的程序段</a:t>
            </a:r>
            <a:r>
              <a:rPr lang="en-US" altLang="zh-CN" dirty="0">
                <a:ea typeface="宋体" panose="02010600030101010101" pitchFamily="2" charset="-122"/>
              </a:rPr>
              <a:t> </a:t>
            </a:r>
            <a:r>
              <a:rPr lang="zh-CN" altLang="en-US" dirty="0">
                <a:ea typeface="宋体" panose="02010600030101010101" pitchFamily="2" charset="-122"/>
              </a:rPr>
              <a:t>。</a:t>
            </a:r>
            <a:r>
              <a:rPr lang="en-US" altLang="zh-CN" dirty="0">
                <a:ea typeface="宋体" panose="02010600030101010101" pitchFamily="2" charset="-122"/>
              </a:rPr>
              <a:t>          </a:t>
            </a:r>
            <a:endParaRPr lang="en-US" altLang="zh-CN" dirty="0">
              <a:ea typeface="宋体" panose="02010600030101010101" pitchFamily="2" charset="-122"/>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AutoShape 24"/>
          <p:cNvSpPr/>
          <p:nvPr/>
        </p:nvSpPr>
        <p:spPr>
          <a:xfrm>
            <a:off x="1308100" y="2027238"/>
            <a:ext cx="1219200" cy="457200"/>
          </a:xfrm>
          <a:prstGeom prst="flowChartAlternateProcess">
            <a:avLst/>
          </a:prstGeom>
          <a:solidFill>
            <a:srgbClr val="339966"/>
          </a:solidFill>
          <a:ln w="254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43011" name="AutoShape 21"/>
          <p:cNvSpPr/>
          <p:nvPr/>
        </p:nvSpPr>
        <p:spPr>
          <a:xfrm>
            <a:off x="4318000" y="4694238"/>
            <a:ext cx="2743200" cy="609600"/>
          </a:xfrm>
          <a:prstGeom prst="flowChartDecision">
            <a:avLst/>
          </a:prstGeom>
          <a:solidFill>
            <a:srgbClr val="339966"/>
          </a:solidFill>
          <a:ln w="254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43012" name="Rectangle 4"/>
          <p:cNvSpPr/>
          <p:nvPr/>
        </p:nvSpPr>
        <p:spPr>
          <a:xfrm>
            <a:off x="850900" y="2941638"/>
            <a:ext cx="2209800" cy="457200"/>
          </a:xfrm>
          <a:prstGeom prst="rect">
            <a:avLst/>
          </a:prstGeom>
          <a:solidFill>
            <a:srgbClr val="339966"/>
          </a:solidFill>
          <a:ln w="254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43013" name="Text Box 5"/>
          <p:cNvSpPr txBox="1"/>
          <p:nvPr/>
        </p:nvSpPr>
        <p:spPr>
          <a:xfrm>
            <a:off x="1350963" y="2006600"/>
            <a:ext cx="1074737" cy="461963"/>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 </a:t>
            </a:r>
            <a:r>
              <a:rPr lang="zh-CN" altLang="en-US" sz="2400" b="1" dirty="0">
                <a:solidFill>
                  <a:schemeClr val="bg1"/>
                </a:solidFill>
                <a:latin typeface="Times New Roman" panose="02020603050405020304" pitchFamily="18" charset="0"/>
                <a:ea typeface="宋体" panose="02010600030101010101" pitchFamily="2" charset="-122"/>
              </a:rPr>
              <a:t>开  始</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43014" name="Text Box 6"/>
          <p:cNvSpPr txBox="1"/>
          <p:nvPr/>
        </p:nvSpPr>
        <p:spPr>
          <a:xfrm>
            <a:off x="1308100" y="2971800"/>
            <a:ext cx="1485900" cy="4603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取源地址</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43015" name="Rectangle 7"/>
          <p:cNvSpPr/>
          <p:nvPr/>
        </p:nvSpPr>
        <p:spPr>
          <a:xfrm>
            <a:off x="850900" y="3856038"/>
            <a:ext cx="2286000" cy="457200"/>
          </a:xfrm>
          <a:prstGeom prst="rect">
            <a:avLst/>
          </a:prstGeom>
          <a:solidFill>
            <a:srgbClr val="339966"/>
          </a:solidFill>
          <a:ln w="254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43016" name="Rectangle 8"/>
          <p:cNvSpPr/>
          <p:nvPr/>
        </p:nvSpPr>
        <p:spPr>
          <a:xfrm>
            <a:off x="850900" y="4770438"/>
            <a:ext cx="2286000" cy="457200"/>
          </a:xfrm>
          <a:prstGeom prst="rect">
            <a:avLst/>
          </a:prstGeom>
          <a:solidFill>
            <a:srgbClr val="339966"/>
          </a:solidFill>
          <a:ln w="254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43017" name="Rectangle 9"/>
          <p:cNvSpPr/>
          <p:nvPr/>
        </p:nvSpPr>
        <p:spPr>
          <a:xfrm>
            <a:off x="4622800" y="1951038"/>
            <a:ext cx="2286000" cy="457200"/>
          </a:xfrm>
          <a:prstGeom prst="rect">
            <a:avLst/>
          </a:prstGeom>
          <a:solidFill>
            <a:srgbClr val="339966"/>
          </a:solidFill>
          <a:ln w="254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43018" name="Text Box 10"/>
          <p:cNvSpPr txBox="1"/>
          <p:nvPr/>
        </p:nvSpPr>
        <p:spPr>
          <a:xfrm>
            <a:off x="1123950" y="3848100"/>
            <a:ext cx="1758950" cy="461963"/>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取目标地址</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43019" name="Text Box 11"/>
          <p:cNvSpPr txBox="1"/>
          <p:nvPr/>
        </p:nvSpPr>
        <p:spPr>
          <a:xfrm>
            <a:off x="885825" y="4821238"/>
            <a:ext cx="2144713" cy="366712"/>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送数据块长度到</a:t>
            </a:r>
            <a:r>
              <a:rPr lang="en-US" altLang="zh-CN" sz="2400" b="1" dirty="0">
                <a:solidFill>
                  <a:schemeClr val="bg1"/>
                </a:solidFill>
                <a:latin typeface="Times New Roman" panose="02020603050405020304" pitchFamily="18" charset="0"/>
                <a:ea typeface="宋体" panose="02010600030101010101" pitchFamily="2" charset="-122"/>
              </a:rPr>
              <a:t>CL</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43020" name="Text Box 12"/>
          <p:cNvSpPr txBox="1"/>
          <p:nvPr/>
        </p:nvSpPr>
        <p:spPr>
          <a:xfrm>
            <a:off x="4759325" y="1952625"/>
            <a:ext cx="2073275" cy="461963"/>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传送一个字节</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43021" name="Rectangle 13"/>
          <p:cNvSpPr/>
          <p:nvPr/>
        </p:nvSpPr>
        <p:spPr>
          <a:xfrm>
            <a:off x="4546600" y="2865438"/>
            <a:ext cx="2286000" cy="457200"/>
          </a:xfrm>
          <a:prstGeom prst="rect">
            <a:avLst/>
          </a:prstGeom>
          <a:solidFill>
            <a:srgbClr val="339966"/>
          </a:solidFill>
          <a:ln w="254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43022" name="Rectangle 14"/>
          <p:cNvSpPr/>
          <p:nvPr/>
        </p:nvSpPr>
        <p:spPr>
          <a:xfrm>
            <a:off x="4546600" y="3779838"/>
            <a:ext cx="2286000" cy="457200"/>
          </a:xfrm>
          <a:prstGeom prst="rect">
            <a:avLst/>
          </a:prstGeom>
          <a:solidFill>
            <a:srgbClr val="339966"/>
          </a:solidFill>
          <a:ln w="254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43023" name="Rectangle 16"/>
          <p:cNvSpPr/>
          <p:nvPr/>
        </p:nvSpPr>
        <p:spPr>
          <a:xfrm>
            <a:off x="4546600" y="5761038"/>
            <a:ext cx="2286000" cy="457200"/>
          </a:xfrm>
          <a:prstGeom prst="rect">
            <a:avLst/>
          </a:prstGeom>
          <a:solidFill>
            <a:srgbClr val="339966"/>
          </a:solidFill>
          <a:ln w="254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43024" name="Text Box 17"/>
          <p:cNvSpPr txBox="1"/>
          <p:nvPr/>
        </p:nvSpPr>
        <p:spPr>
          <a:xfrm>
            <a:off x="4686300" y="2843213"/>
            <a:ext cx="2209800" cy="461962"/>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修改地址指针</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43025" name="Text Box 19"/>
          <p:cNvSpPr txBox="1"/>
          <p:nvPr/>
        </p:nvSpPr>
        <p:spPr>
          <a:xfrm>
            <a:off x="4927600" y="3814763"/>
            <a:ext cx="1828800" cy="366712"/>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修改计数值</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43026" name="Text Box 20"/>
          <p:cNvSpPr txBox="1"/>
          <p:nvPr/>
        </p:nvSpPr>
        <p:spPr>
          <a:xfrm>
            <a:off x="5080000" y="4808538"/>
            <a:ext cx="1828800" cy="366712"/>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计数值</a:t>
            </a:r>
            <a:r>
              <a:rPr lang="en-US" altLang="zh-CN" sz="2400" b="1" dirty="0">
                <a:solidFill>
                  <a:schemeClr val="bg1"/>
                </a:solidFill>
                <a:latin typeface="Times New Roman" panose="02020603050405020304" pitchFamily="18" charset="0"/>
                <a:ea typeface="宋体" panose="02010600030101010101" pitchFamily="2" charset="-122"/>
              </a:rPr>
              <a:t>=0</a:t>
            </a:r>
            <a:r>
              <a:rPr lang="zh-CN" altLang="en-US" sz="2400" b="1" dirty="0">
                <a:solidFill>
                  <a:schemeClr val="bg1"/>
                </a:solidFill>
                <a:latin typeface="Times New Roman" panose="02020603050405020304" pitchFamily="18" charset="0"/>
                <a:ea typeface="宋体" panose="02010600030101010101" pitchFamily="2" charset="-122"/>
              </a:rPr>
              <a:t>？ </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43027" name="Text Box 23"/>
          <p:cNvSpPr txBox="1"/>
          <p:nvPr/>
        </p:nvSpPr>
        <p:spPr>
          <a:xfrm>
            <a:off x="5308600" y="5821363"/>
            <a:ext cx="1219200" cy="366712"/>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结  束</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43028" name="Line 25"/>
          <p:cNvSpPr/>
          <p:nvPr/>
        </p:nvSpPr>
        <p:spPr>
          <a:xfrm>
            <a:off x="1917700" y="2484438"/>
            <a:ext cx="0" cy="457200"/>
          </a:xfrm>
          <a:prstGeom prst="line">
            <a:avLst/>
          </a:prstGeom>
          <a:ln w="25400" cap="sq" cmpd="sng">
            <a:solidFill>
              <a:srgbClr val="FF6600"/>
            </a:solidFill>
            <a:prstDash val="solid"/>
            <a:headEnd type="none" w="med" len="med"/>
            <a:tailEnd type="triangle" w="lg" len="lg"/>
          </a:ln>
        </p:spPr>
      </p:sp>
      <p:sp>
        <p:nvSpPr>
          <p:cNvPr id="43029" name="Line 26"/>
          <p:cNvSpPr/>
          <p:nvPr/>
        </p:nvSpPr>
        <p:spPr>
          <a:xfrm>
            <a:off x="1917700" y="3398838"/>
            <a:ext cx="0" cy="457200"/>
          </a:xfrm>
          <a:prstGeom prst="line">
            <a:avLst/>
          </a:prstGeom>
          <a:ln w="25400" cap="sq" cmpd="sng">
            <a:solidFill>
              <a:srgbClr val="FF6600"/>
            </a:solidFill>
            <a:prstDash val="solid"/>
            <a:headEnd type="none" w="med" len="med"/>
            <a:tailEnd type="triangle" w="lg" len="lg"/>
          </a:ln>
        </p:spPr>
      </p:sp>
      <p:sp>
        <p:nvSpPr>
          <p:cNvPr id="43030" name="Line 28"/>
          <p:cNvSpPr/>
          <p:nvPr/>
        </p:nvSpPr>
        <p:spPr>
          <a:xfrm>
            <a:off x="1917700" y="4313238"/>
            <a:ext cx="0" cy="457200"/>
          </a:xfrm>
          <a:prstGeom prst="line">
            <a:avLst/>
          </a:prstGeom>
          <a:ln w="25400" cap="sq" cmpd="sng">
            <a:solidFill>
              <a:srgbClr val="FF6600"/>
            </a:solidFill>
            <a:prstDash val="solid"/>
            <a:headEnd type="none" w="med" len="med"/>
            <a:tailEnd type="triangle" w="lg" len="lg"/>
          </a:ln>
        </p:spPr>
      </p:sp>
      <p:sp>
        <p:nvSpPr>
          <p:cNvPr id="43031" name="Line 31"/>
          <p:cNvSpPr/>
          <p:nvPr/>
        </p:nvSpPr>
        <p:spPr>
          <a:xfrm>
            <a:off x="5689600" y="2408238"/>
            <a:ext cx="0" cy="457200"/>
          </a:xfrm>
          <a:prstGeom prst="line">
            <a:avLst/>
          </a:prstGeom>
          <a:ln w="25400" cap="sq" cmpd="sng">
            <a:solidFill>
              <a:srgbClr val="FF6600"/>
            </a:solidFill>
            <a:prstDash val="solid"/>
            <a:headEnd type="none" w="med" len="med"/>
            <a:tailEnd type="triangle" w="lg" len="lg"/>
          </a:ln>
        </p:spPr>
      </p:sp>
      <p:sp>
        <p:nvSpPr>
          <p:cNvPr id="43032" name="Line 32"/>
          <p:cNvSpPr/>
          <p:nvPr/>
        </p:nvSpPr>
        <p:spPr>
          <a:xfrm>
            <a:off x="5689600" y="1341438"/>
            <a:ext cx="0" cy="609600"/>
          </a:xfrm>
          <a:prstGeom prst="line">
            <a:avLst/>
          </a:prstGeom>
          <a:ln w="25400" cap="sq" cmpd="sng">
            <a:solidFill>
              <a:srgbClr val="FF6600"/>
            </a:solidFill>
            <a:prstDash val="solid"/>
            <a:headEnd type="none" w="med" len="med"/>
            <a:tailEnd type="triangle" w="lg" len="lg"/>
          </a:ln>
        </p:spPr>
      </p:sp>
      <p:sp>
        <p:nvSpPr>
          <p:cNvPr id="43033" name="Line 33"/>
          <p:cNvSpPr/>
          <p:nvPr/>
        </p:nvSpPr>
        <p:spPr>
          <a:xfrm>
            <a:off x="5689600" y="3322638"/>
            <a:ext cx="0" cy="457200"/>
          </a:xfrm>
          <a:prstGeom prst="line">
            <a:avLst/>
          </a:prstGeom>
          <a:ln w="25400" cap="sq" cmpd="sng">
            <a:solidFill>
              <a:srgbClr val="FF6600"/>
            </a:solidFill>
            <a:prstDash val="solid"/>
            <a:headEnd type="none" w="med" len="med"/>
            <a:tailEnd type="triangle" w="lg" len="lg"/>
          </a:ln>
        </p:spPr>
      </p:sp>
      <p:sp>
        <p:nvSpPr>
          <p:cNvPr id="43034" name="Line 34"/>
          <p:cNvSpPr/>
          <p:nvPr/>
        </p:nvSpPr>
        <p:spPr>
          <a:xfrm>
            <a:off x="5689600" y="4237038"/>
            <a:ext cx="0" cy="457200"/>
          </a:xfrm>
          <a:prstGeom prst="line">
            <a:avLst/>
          </a:prstGeom>
          <a:ln w="25400" cap="sq" cmpd="sng">
            <a:solidFill>
              <a:srgbClr val="FF6600"/>
            </a:solidFill>
            <a:prstDash val="solid"/>
            <a:headEnd type="none" w="med" len="med"/>
            <a:tailEnd type="triangle" w="lg" len="lg"/>
          </a:ln>
        </p:spPr>
      </p:sp>
      <p:sp>
        <p:nvSpPr>
          <p:cNvPr id="43035" name="Line 35"/>
          <p:cNvSpPr/>
          <p:nvPr/>
        </p:nvSpPr>
        <p:spPr>
          <a:xfrm>
            <a:off x="5689600" y="5303838"/>
            <a:ext cx="0" cy="457200"/>
          </a:xfrm>
          <a:prstGeom prst="line">
            <a:avLst/>
          </a:prstGeom>
          <a:ln w="25400" cap="sq" cmpd="sng">
            <a:solidFill>
              <a:srgbClr val="FF6600"/>
            </a:solidFill>
            <a:prstDash val="solid"/>
            <a:headEnd type="none" w="med" len="med"/>
            <a:tailEnd type="triangle" w="lg" len="lg"/>
          </a:ln>
        </p:spPr>
      </p:sp>
      <p:sp>
        <p:nvSpPr>
          <p:cNvPr id="43036" name="Line 39"/>
          <p:cNvSpPr/>
          <p:nvPr/>
        </p:nvSpPr>
        <p:spPr>
          <a:xfrm>
            <a:off x="1930400" y="5227638"/>
            <a:ext cx="0" cy="762000"/>
          </a:xfrm>
          <a:prstGeom prst="line">
            <a:avLst/>
          </a:prstGeom>
          <a:ln w="25400" cap="sq" cmpd="sng">
            <a:solidFill>
              <a:srgbClr val="FF6600"/>
            </a:solidFill>
            <a:prstDash val="solid"/>
            <a:headEnd type="none" w="med" len="med"/>
            <a:tailEnd type="none" w="med" len="med"/>
          </a:ln>
        </p:spPr>
      </p:sp>
      <p:sp>
        <p:nvSpPr>
          <p:cNvPr id="43037" name="Line 40"/>
          <p:cNvSpPr/>
          <p:nvPr/>
        </p:nvSpPr>
        <p:spPr>
          <a:xfrm>
            <a:off x="1917700" y="5989638"/>
            <a:ext cx="1752600" cy="0"/>
          </a:xfrm>
          <a:prstGeom prst="line">
            <a:avLst/>
          </a:prstGeom>
          <a:ln w="25400" cap="sq" cmpd="sng">
            <a:solidFill>
              <a:srgbClr val="FF6600"/>
            </a:solidFill>
            <a:prstDash val="solid"/>
            <a:headEnd type="none" w="med" len="med"/>
            <a:tailEnd type="none" w="med" len="med"/>
          </a:ln>
        </p:spPr>
      </p:sp>
      <p:sp>
        <p:nvSpPr>
          <p:cNvPr id="43038" name="Line 41"/>
          <p:cNvSpPr/>
          <p:nvPr/>
        </p:nvSpPr>
        <p:spPr>
          <a:xfrm flipV="1">
            <a:off x="3708400" y="1341438"/>
            <a:ext cx="0" cy="4648200"/>
          </a:xfrm>
          <a:prstGeom prst="line">
            <a:avLst/>
          </a:prstGeom>
          <a:ln w="25400" cap="sq" cmpd="sng">
            <a:solidFill>
              <a:srgbClr val="FF6600"/>
            </a:solidFill>
            <a:prstDash val="solid"/>
            <a:headEnd type="none" w="med" len="med"/>
            <a:tailEnd type="none" w="med" len="med"/>
          </a:ln>
        </p:spPr>
      </p:sp>
      <p:sp>
        <p:nvSpPr>
          <p:cNvPr id="43039" name="Line 42"/>
          <p:cNvSpPr/>
          <p:nvPr/>
        </p:nvSpPr>
        <p:spPr>
          <a:xfrm>
            <a:off x="3708400" y="1341438"/>
            <a:ext cx="1981200" cy="0"/>
          </a:xfrm>
          <a:prstGeom prst="line">
            <a:avLst/>
          </a:prstGeom>
          <a:ln w="25400" cap="sq" cmpd="sng">
            <a:solidFill>
              <a:srgbClr val="FF6600"/>
            </a:solidFill>
            <a:prstDash val="solid"/>
            <a:headEnd type="none" w="med" len="med"/>
            <a:tailEnd type="none" w="med" len="med"/>
          </a:ln>
        </p:spPr>
      </p:sp>
      <p:sp>
        <p:nvSpPr>
          <p:cNvPr id="43040" name="Line 43"/>
          <p:cNvSpPr/>
          <p:nvPr/>
        </p:nvSpPr>
        <p:spPr>
          <a:xfrm>
            <a:off x="7061200" y="4999038"/>
            <a:ext cx="990600" cy="0"/>
          </a:xfrm>
          <a:prstGeom prst="line">
            <a:avLst/>
          </a:prstGeom>
          <a:ln w="25400" cap="sq" cmpd="sng">
            <a:solidFill>
              <a:srgbClr val="FF6600"/>
            </a:solidFill>
            <a:prstDash val="solid"/>
            <a:headEnd type="none" w="med" len="med"/>
            <a:tailEnd type="none" w="med" len="med"/>
          </a:ln>
        </p:spPr>
      </p:sp>
      <p:sp>
        <p:nvSpPr>
          <p:cNvPr id="43041" name="Line 45"/>
          <p:cNvSpPr/>
          <p:nvPr/>
        </p:nvSpPr>
        <p:spPr>
          <a:xfrm flipV="1">
            <a:off x="8051800" y="1493838"/>
            <a:ext cx="0" cy="3505200"/>
          </a:xfrm>
          <a:prstGeom prst="line">
            <a:avLst/>
          </a:prstGeom>
          <a:ln w="25400" cap="sq" cmpd="sng">
            <a:solidFill>
              <a:srgbClr val="FF6600"/>
            </a:solidFill>
            <a:prstDash val="solid"/>
            <a:headEnd type="none" w="med" len="med"/>
            <a:tailEnd type="none" w="med" len="med"/>
          </a:ln>
        </p:spPr>
      </p:sp>
      <p:sp>
        <p:nvSpPr>
          <p:cNvPr id="43042" name="Line 47"/>
          <p:cNvSpPr/>
          <p:nvPr/>
        </p:nvSpPr>
        <p:spPr>
          <a:xfrm flipH="1" flipV="1">
            <a:off x="5689600" y="1493838"/>
            <a:ext cx="2339975" cy="0"/>
          </a:xfrm>
          <a:prstGeom prst="line">
            <a:avLst/>
          </a:prstGeom>
          <a:ln w="25400" cap="sq" cmpd="sng">
            <a:solidFill>
              <a:srgbClr val="FF6600"/>
            </a:solidFill>
            <a:prstDash val="solid"/>
            <a:headEnd type="none" w="med" len="med"/>
            <a:tailEnd type="triangle" w="lg" len="lg"/>
          </a:ln>
        </p:spPr>
      </p:sp>
      <p:sp>
        <p:nvSpPr>
          <p:cNvPr id="43043" name="Text Box 49"/>
          <p:cNvSpPr txBox="1"/>
          <p:nvPr/>
        </p:nvSpPr>
        <p:spPr>
          <a:xfrm>
            <a:off x="7207250" y="4562475"/>
            <a:ext cx="4572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N</a:t>
            </a:r>
            <a:endParaRPr lang="en-US" altLang="zh-CN" sz="2000" b="1" dirty="0">
              <a:latin typeface="Times New Roman" panose="02020603050405020304" pitchFamily="18" charset="0"/>
              <a:ea typeface="宋体" panose="02010600030101010101" pitchFamily="2" charset="-122"/>
            </a:endParaRPr>
          </a:p>
        </p:txBody>
      </p:sp>
      <p:sp>
        <p:nvSpPr>
          <p:cNvPr id="43044" name="Text Box 50"/>
          <p:cNvSpPr txBox="1"/>
          <p:nvPr/>
        </p:nvSpPr>
        <p:spPr>
          <a:xfrm>
            <a:off x="5765800" y="5316538"/>
            <a:ext cx="4572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Y</a:t>
            </a:r>
            <a:endParaRPr lang="en-US" altLang="zh-CN" sz="2000" b="1" dirty="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wipe(left)">
                                      <p:cBhvr>
                                        <p:cTn id="7" dur="500"/>
                                        <p:tgtEl>
                                          <p:spTgt spid="4301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3013"/>
                                        </p:tgtEl>
                                        <p:attrNameLst>
                                          <p:attrName>style.visibility</p:attrName>
                                        </p:attrNameLst>
                                      </p:cBhvr>
                                      <p:to>
                                        <p:strVal val="visible"/>
                                      </p:to>
                                    </p:set>
                                    <p:animEffect transition="in" filter="wipe(left)">
                                      <p:cBhvr>
                                        <p:cTn id="10" dur="500"/>
                                        <p:tgtEl>
                                          <p:spTgt spid="43013"/>
                                        </p:tgtEl>
                                      </p:cBhvr>
                                    </p:animEffect>
                                  </p:childTnLst>
                                </p:cTn>
                              </p:par>
                            </p:childTnLst>
                          </p:cTn>
                        </p:par>
                        <p:par>
                          <p:cTn id="11" fill="hold">
                            <p:stCondLst>
                              <p:cond delay="500"/>
                            </p:stCondLst>
                            <p:childTnLst>
                              <p:par>
                                <p:cTn id="12" presetID="22" presetClass="entr" presetSubtype="1" fill="hold" nodeType="afterEffect">
                                  <p:stCondLst>
                                    <p:cond delay="500"/>
                                  </p:stCondLst>
                                  <p:childTnLst>
                                    <p:set>
                                      <p:cBhvr>
                                        <p:cTn id="13" dur="1" fill="hold">
                                          <p:stCondLst>
                                            <p:cond delay="0"/>
                                          </p:stCondLst>
                                        </p:cTn>
                                        <p:tgtEl>
                                          <p:spTgt spid="43028"/>
                                        </p:tgtEl>
                                        <p:attrNameLst>
                                          <p:attrName>style.visibility</p:attrName>
                                        </p:attrNameLst>
                                      </p:cBhvr>
                                      <p:to>
                                        <p:strVal val="visible"/>
                                      </p:to>
                                    </p:set>
                                    <p:animEffect transition="in" filter="wipe(up)">
                                      <p:cBhvr>
                                        <p:cTn id="14" dur="500"/>
                                        <p:tgtEl>
                                          <p:spTgt spid="4302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3012"/>
                                        </p:tgtEl>
                                        <p:attrNameLst>
                                          <p:attrName>style.visibility</p:attrName>
                                        </p:attrNameLst>
                                      </p:cBhvr>
                                      <p:to>
                                        <p:strVal val="visible"/>
                                      </p:to>
                                    </p:set>
                                    <p:animEffect transition="in" filter="wipe(left)">
                                      <p:cBhvr>
                                        <p:cTn id="19" dur="500"/>
                                        <p:tgtEl>
                                          <p:spTgt spid="43012"/>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43014"/>
                                        </p:tgtEl>
                                        <p:attrNameLst>
                                          <p:attrName>style.visibility</p:attrName>
                                        </p:attrNameLst>
                                      </p:cBhvr>
                                      <p:to>
                                        <p:strVal val="visible"/>
                                      </p:to>
                                    </p:set>
                                    <p:animEffect transition="in" filter="wipe(left)">
                                      <p:cBhvr>
                                        <p:cTn id="23" dur="500"/>
                                        <p:tgtEl>
                                          <p:spTgt spid="43014"/>
                                        </p:tgtEl>
                                      </p:cBhvr>
                                    </p:animEffect>
                                  </p:childTnLst>
                                </p:cTn>
                              </p:par>
                            </p:childTnLst>
                          </p:cTn>
                        </p:par>
                        <p:par>
                          <p:cTn id="24" fill="hold">
                            <p:stCondLst>
                              <p:cond delay="1000"/>
                            </p:stCondLst>
                            <p:childTnLst>
                              <p:par>
                                <p:cTn id="25" presetID="22" presetClass="entr" presetSubtype="1" fill="hold" nodeType="afterEffect">
                                  <p:stCondLst>
                                    <p:cond delay="0"/>
                                  </p:stCondLst>
                                  <p:childTnLst>
                                    <p:set>
                                      <p:cBhvr>
                                        <p:cTn id="26" dur="1" fill="hold">
                                          <p:stCondLst>
                                            <p:cond delay="0"/>
                                          </p:stCondLst>
                                        </p:cTn>
                                        <p:tgtEl>
                                          <p:spTgt spid="43029"/>
                                        </p:tgtEl>
                                        <p:attrNameLst>
                                          <p:attrName>style.visibility</p:attrName>
                                        </p:attrNameLst>
                                      </p:cBhvr>
                                      <p:to>
                                        <p:strVal val="visible"/>
                                      </p:to>
                                    </p:set>
                                    <p:animEffect transition="in" filter="wipe(up)">
                                      <p:cBhvr>
                                        <p:cTn id="27" dur="500"/>
                                        <p:tgtEl>
                                          <p:spTgt spid="430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3015"/>
                                        </p:tgtEl>
                                        <p:attrNameLst>
                                          <p:attrName>style.visibility</p:attrName>
                                        </p:attrNameLst>
                                      </p:cBhvr>
                                      <p:to>
                                        <p:strVal val="visible"/>
                                      </p:to>
                                    </p:set>
                                    <p:animEffect transition="in" filter="wipe(left)">
                                      <p:cBhvr>
                                        <p:cTn id="32" dur="500"/>
                                        <p:tgtEl>
                                          <p:spTgt spid="43015"/>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43018"/>
                                        </p:tgtEl>
                                        <p:attrNameLst>
                                          <p:attrName>style.visibility</p:attrName>
                                        </p:attrNameLst>
                                      </p:cBhvr>
                                      <p:to>
                                        <p:strVal val="visible"/>
                                      </p:to>
                                    </p:set>
                                    <p:animEffect transition="in" filter="wipe(left)">
                                      <p:cBhvr>
                                        <p:cTn id="36" dur="500"/>
                                        <p:tgtEl>
                                          <p:spTgt spid="43018"/>
                                        </p:tgtEl>
                                      </p:cBhvr>
                                    </p:animEffect>
                                  </p:childTnLst>
                                </p:cTn>
                              </p:par>
                            </p:childTnLst>
                          </p:cTn>
                        </p:par>
                        <p:par>
                          <p:cTn id="37" fill="hold">
                            <p:stCondLst>
                              <p:cond delay="1000"/>
                            </p:stCondLst>
                            <p:childTnLst>
                              <p:par>
                                <p:cTn id="38" presetID="22" presetClass="entr" presetSubtype="1" fill="hold" nodeType="afterEffect">
                                  <p:stCondLst>
                                    <p:cond delay="0"/>
                                  </p:stCondLst>
                                  <p:childTnLst>
                                    <p:set>
                                      <p:cBhvr>
                                        <p:cTn id="39" dur="1" fill="hold">
                                          <p:stCondLst>
                                            <p:cond delay="0"/>
                                          </p:stCondLst>
                                        </p:cTn>
                                        <p:tgtEl>
                                          <p:spTgt spid="43030"/>
                                        </p:tgtEl>
                                        <p:attrNameLst>
                                          <p:attrName>style.visibility</p:attrName>
                                        </p:attrNameLst>
                                      </p:cBhvr>
                                      <p:to>
                                        <p:strVal val="visible"/>
                                      </p:to>
                                    </p:set>
                                    <p:animEffect transition="in" filter="wipe(up)">
                                      <p:cBhvr>
                                        <p:cTn id="40" dur="500"/>
                                        <p:tgtEl>
                                          <p:spTgt spid="4303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43016"/>
                                        </p:tgtEl>
                                        <p:attrNameLst>
                                          <p:attrName>style.visibility</p:attrName>
                                        </p:attrNameLst>
                                      </p:cBhvr>
                                      <p:to>
                                        <p:strVal val="visible"/>
                                      </p:to>
                                    </p:set>
                                    <p:animEffect transition="in" filter="wipe(left)">
                                      <p:cBhvr>
                                        <p:cTn id="45" dur="500"/>
                                        <p:tgtEl>
                                          <p:spTgt spid="43016"/>
                                        </p:tgtEl>
                                      </p:cBhvr>
                                    </p:animEffec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43019"/>
                                        </p:tgtEl>
                                        <p:attrNameLst>
                                          <p:attrName>style.visibility</p:attrName>
                                        </p:attrNameLst>
                                      </p:cBhvr>
                                      <p:to>
                                        <p:strVal val="visible"/>
                                      </p:to>
                                    </p:set>
                                    <p:animEffect transition="in" filter="wipe(left)">
                                      <p:cBhvr>
                                        <p:cTn id="49" dur="500"/>
                                        <p:tgtEl>
                                          <p:spTgt spid="43019"/>
                                        </p:tgtEl>
                                      </p:cBhvr>
                                    </p:animEffect>
                                  </p:childTnLst>
                                </p:cTn>
                              </p:par>
                            </p:childTnLst>
                          </p:cTn>
                        </p:par>
                        <p:par>
                          <p:cTn id="50" fill="hold">
                            <p:stCondLst>
                              <p:cond delay="1000"/>
                            </p:stCondLst>
                            <p:childTnLst>
                              <p:par>
                                <p:cTn id="51" presetID="22" presetClass="entr" presetSubtype="1" fill="hold" nodeType="afterEffect">
                                  <p:stCondLst>
                                    <p:cond delay="1000"/>
                                  </p:stCondLst>
                                  <p:childTnLst>
                                    <p:set>
                                      <p:cBhvr>
                                        <p:cTn id="52" dur="1" fill="hold">
                                          <p:stCondLst>
                                            <p:cond delay="0"/>
                                          </p:stCondLst>
                                        </p:cTn>
                                        <p:tgtEl>
                                          <p:spTgt spid="43036"/>
                                        </p:tgtEl>
                                        <p:attrNameLst>
                                          <p:attrName>style.visibility</p:attrName>
                                        </p:attrNameLst>
                                      </p:cBhvr>
                                      <p:to>
                                        <p:strVal val="visible"/>
                                      </p:to>
                                    </p:set>
                                    <p:animEffect transition="in" filter="wipe(up)">
                                      <p:cBhvr>
                                        <p:cTn id="53" dur="500"/>
                                        <p:tgtEl>
                                          <p:spTgt spid="43036"/>
                                        </p:tgtEl>
                                      </p:cBhvr>
                                    </p:animEffect>
                                  </p:childTnLst>
                                </p:cTn>
                              </p:par>
                            </p:childTnLst>
                          </p:cTn>
                        </p:par>
                        <p:par>
                          <p:cTn id="54" fill="hold">
                            <p:stCondLst>
                              <p:cond delay="2500"/>
                            </p:stCondLst>
                            <p:childTnLst>
                              <p:par>
                                <p:cTn id="55" presetID="22" presetClass="entr" presetSubtype="8" fill="hold" nodeType="afterEffect">
                                  <p:stCondLst>
                                    <p:cond delay="500"/>
                                  </p:stCondLst>
                                  <p:childTnLst>
                                    <p:set>
                                      <p:cBhvr>
                                        <p:cTn id="56" dur="1" fill="hold">
                                          <p:stCondLst>
                                            <p:cond delay="0"/>
                                          </p:stCondLst>
                                        </p:cTn>
                                        <p:tgtEl>
                                          <p:spTgt spid="43037"/>
                                        </p:tgtEl>
                                        <p:attrNameLst>
                                          <p:attrName>style.visibility</p:attrName>
                                        </p:attrNameLst>
                                      </p:cBhvr>
                                      <p:to>
                                        <p:strVal val="visible"/>
                                      </p:to>
                                    </p:set>
                                    <p:animEffect transition="in" filter="wipe(left)">
                                      <p:cBhvr>
                                        <p:cTn id="57" dur="500"/>
                                        <p:tgtEl>
                                          <p:spTgt spid="43037"/>
                                        </p:tgtEl>
                                      </p:cBhvr>
                                    </p:animEffect>
                                  </p:childTnLst>
                                </p:cTn>
                              </p:par>
                            </p:childTnLst>
                          </p:cTn>
                        </p:par>
                        <p:par>
                          <p:cTn id="58" fill="hold">
                            <p:stCondLst>
                              <p:cond delay="3500"/>
                            </p:stCondLst>
                            <p:childTnLst>
                              <p:par>
                                <p:cTn id="59" presetID="22" presetClass="entr" presetSubtype="4" fill="hold" nodeType="afterEffect">
                                  <p:stCondLst>
                                    <p:cond delay="0"/>
                                  </p:stCondLst>
                                  <p:childTnLst>
                                    <p:set>
                                      <p:cBhvr>
                                        <p:cTn id="60" dur="1" fill="hold">
                                          <p:stCondLst>
                                            <p:cond delay="0"/>
                                          </p:stCondLst>
                                        </p:cTn>
                                        <p:tgtEl>
                                          <p:spTgt spid="43038"/>
                                        </p:tgtEl>
                                        <p:attrNameLst>
                                          <p:attrName>style.visibility</p:attrName>
                                        </p:attrNameLst>
                                      </p:cBhvr>
                                      <p:to>
                                        <p:strVal val="visible"/>
                                      </p:to>
                                    </p:set>
                                    <p:animEffect transition="in" filter="wipe(down)">
                                      <p:cBhvr>
                                        <p:cTn id="61" dur="500"/>
                                        <p:tgtEl>
                                          <p:spTgt spid="43038"/>
                                        </p:tgtEl>
                                      </p:cBhvr>
                                    </p:animEffect>
                                  </p:childTnLst>
                                </p:cTn>
                              </p:par>
                            </p:childTnLst>
                          </p:cTn>
                        </p:par>
                        <p:par>
                          <p:cTn id="62" fill="hold">
                            <p:stCondLst>
                              <p:cond delay="4000"/>
                            </p:stCondLst>
                            <p:childTnLst>
                              <p:par>
                                <p:cTn id="63" presetID="18" presetClass="entr" presetSubtype="3" fill="hold" nodeType="afterEffect">
                                  <p:stCondLst>
                                    <p:cond delay="0"/>
                                  </p:stCondLst>
                                  <p:childTnLst>
                                    <p:set>
                                      <p:cBhvr>
                                        <p:cTn id="64" dur="1" fill="hold">
                                          <p:stCondLst>
                                            <p:cond delay="0"/>
                                          </p:stCondLst>
                                        </p:cTn>
                                        <p:tgtEl>
                                          <p:spTgt spid="43039"/>
                                        </p:tgtEl>
                                        <p:attrNameLst>
                                          <p:attrName>style.visibility</p:attrName>
                                        </p:attrNameLst>
                                      </p:cBhvr>
                                      <p:to>
                                        <p:strVal val="visible"/>
                                      </p:to>
                                    </p:set>
                                    <p:animEffect transition="in" filter="strips(upRight)">
                                      <p:cBhvr>
                                        <p:cTn id="65" dur="1000"/>
                                        <p:tgtEl>
                                          <p:spTgt spid="43039"/>
                                        </p:tgtEl>
                                      </p:cBhvr>
                                    </p:animEffect>
                                  </p:childTnLst>
                                </p:cTn>
                              </p:par>
                            </p:childTnLst>
                          </p:cTn>
                        </p:par>
                        <p:par>
                          <p:cTn id="66" fill="hold">
                            <p:stCondLst>
                              <p:cond delay="5000"/>
                            </p:stCondLst>
                            <p:childTnLst>
                              <p:par>
                                <p:cTn id="67" presetID="22" presetClass="entr" presetSubtype="1" fill="hold" nodeType="afterEffect">
                                  <p:stCondLst>
                                    <p:cond delay="0"/>
                                  </p:stCondLst>
                                  <p:childTnLst>
                                    <p:set>
                                      <p:cBhvr>
                                        <p:cTn id="68" dur="1" fill="hold">
                                          <p:stCondLst>
                                            <p:cond delay="0"/>
                                          </p:stCondLst>
                                        </p:cTn>
                                        <p:tgtEl>
                                          <p:spTgt spid="43032"/>
                                        </p:tgtEl>
                                        <p:attrNameLst>
                                          <p:attrName>style.visibility</p:attrName>
                                        </p:attrNameLst>
                                      </p:cBhvr>
                                      <p:to>
                                        <p:strVal val="visible"/>
                                      </p:to>
                                    </p:set>
                                    <p:animEffect transition="in" filter="wipe(up)">
                                      <p:cBhvr>
                                        <p:cTn id="69" dur="500"/>
                                        <p:tgtEl>
                                          <p:spTgt spid="43032"/>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43017"/>
                                        </p:tgtEl>
                                        <p:attrNameLst>
                                          <p:attrName>style.visibility</p:attrName>
                                        </p:attrNameLst>
                                      </p:cBhvr>
                                      <p:to>
                                        <p:strVal val="visible"/>
                                      </p:to>
                                    </p:set>
                                    <p:animEffect transition="in" filter="wipe(left)">
                                      <p:cBhvr>
                                        <p:cTn id="74" dur="500"/>
                                        <p:tgtEl>
                                          <p:spTgt spid="43017"/>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43020"/>
                                        </p:tgtEl>
                                        <p:attrNameLst>
                                          <p:attrName>style.visibility</p:attrName>
                                        </p:attrNameLst>
                                      </p:cBhvr>
                                      <p:to>
                                        <p:strVal val="visible"/>
                                      </p:to>
                                    </p:set>
                                    <p:animEffect transition="in" filter="wipe(left)">
                                      <p:cBhvr>
                                        <p:cTn id="77" dur="500"/>
                                        <p:tgtEl>
                                          <p:spTgt spid="43020"/>
                                        </p:tgtEl>
                                      </p:cBhvr>
                                    </p:animEffect>
                                  </p:childTnLst>
                                </p:cTn>
                              </p:par>
                            </p:childTnLst>
                          </p:cTn>
                        </p:par>
                        <p:par>
                          <p:cTn id="78" fill="hold">
                            <p:stCondLst>
                              <p:cond delay="500"/>
                            </p:stCondLst>
                            <p:childTnLst>
                              <p:par>
                                <p:cTn id="79" presetID="22" presetClass="entr" presetSubtype="1" fill="hold" nodeType="afterEffect">
                                  <p:stCondLst>
                                    <p:cond delay="500"/>
                                  </p:stCondLst>
                                  <p:childTnLst>
                                    <p:set>
                                      <p:cBhvr>
                                        <p:cTn id="80" dur="1" fill="hold">
                                          <p:stCondLst>
                                            <p:cond delay="0"/>
                                          </p:stCondLst>
                                        </p:cTn>
                                        <p:tgtEl>
                                          <p:spTgt spid="43031"/>
                                        </p:tgtEl>
                                        <p:attrNameLst>
                                          <p:attrName>style.visibility</p:attrName>
                                        </p:attrNameLst>
                                      </p:cBhvr>
                                      <p:to>
                                        <p:strVal val="visible"/>
                                      </p:to>
                                    </p:set>
                                    <p:animEffect transition="in" filter="wipe(up)">
                                      <p:cBhvr>
                                        <p:cTn id="81" dur="500"/>
                                        <p:tgtEl>
                                          <p:spTgt spid="43031"/>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43021"/>
                                        </p:tgtEl>
                                        <p:attrNameLst>
                                          <p:attrName>style.visibility</p:attrName>
                                        </p:attrNameLst>
                                      </p:cBhvr>
                                      <p:to>
                                        <p:strVal val="visible"/>
                                      </p:to>
                                    </p:set>
                                    <p:animEffect transition="in" filter="wipe(left)">
                                      <p:cBhvr>
                                        <p:cTn id="86" dur="500"/>
                                        <p:tgtEl>
                                          <p:spTgt spid="43021"/>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43024"/>
                                        </p:tgtEl>
                                        <p:attrNameLst>
                                          <p:attrName>style.visibility</p:attrName>
                                        </p:attrNameLst>
                                      </p:cBhvr>
                                      <p:to>
                                        <p:strVal val="visible"/>
                                      </p:to>
                                    </p:set>
                                    <p:animEffect transition="in" filter="wipe(left)">
                                      <p:cBhvr>
                                        <p:cTn id="89" dur="500"/>
                                        <p:tgtEl>
                                          <p:spTgt spid="43024"/>
                                        </p:tgtEl>
                                      </p:cBhvr>
                                    </p:animEffect>
                                  </p:childTnLst>
                                </p:cTn>
                              </p:par>
                            </p:childTnLst>
                          </p:cTn>
                        </p:par>
                        <p:par>
                          <p:cTn id="90" fill="hold">
                            <p:stCondLst>
                              <p:cond delay="500"/>
                            </p:stCondLst>
                            <p:childTnLst>
                              <p:par>
                                <p:cTn id="91" presetID="22" presetClass="entr" presetSubtype="1" fill="hold" nodeType="afterEffect">
                                  <p:stCondLst>
                                    <p:cond delay="500"/>
                                  </p:stCondLst>
                                  <p:childTnLst>
                                    <p:set>
                                      <p:cBhvr>
                                        <p:cTn id="92" dur="1" fill="hold">
                                          <p:stCondLst>
                                            <p:cond delay="0"/>
                                          </p:stCondLst>
                                        </p:cTn>
                                        <p:tgtEl>
                                          <p:spTgt spid="43033"/>
                                        </p:tgtEl>
                                        <p:attrNameLst>
                                          <p:attrName>style.visibility</p:attrName>
                                        </p:attrNameLst>
                                      </p:cBhvr>
                                      <p:to>
                                        <p:strVal val="visible"/>
                                      </p:to>
                                    </p:set>
                                    <p:animEffect transition="in" filter="wipe(up)">
                                      <p:cBhvr>
                                        <p:cTn id="93" dur="500"/>
                                        <p:tgtEl>
                                          <p:spTgt spid="43033"/>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43022"/>
                                        </p:tgtEl>
                                        <p:attrNameLst>
                                          <p:attrName>style.visibility</p:attrName>
                                        </p:attrNameLst>
                                      </p:cBhvr>
                                      <p:to>
                                        <p:strVal val="visible"/>
                                      </p:to>
                                    </p:set>
                                    <p:animEffect transition="in" filter="wipe(left)">
                                      <p:cBhvr>
                                        <p:cTn id="98" dur="500"/>
                                        <p:tgtEl>
                                          <p:spTgt spid="43022"/>
                                        </p:tgtEl>
                                      </p:cBhvr>
                                    </p:animEffect>
                                  </p:childTnLst>
                                </p:cTn>
                              </p:par>
                              <p:par>
                                <p:cTn id="99" presetID="22" presetClass="entr" presetSubtype="8" fill="hold" grpId="0" nodeType="withEffect">
                                  <p:stCondLst>
                                    <p:cond delay="0"/>
                                  </p:stCondLst>
                                  <p:childTnLst>
                                    <p:set>
                                      <p:cBhvr>
                                        <p:cTn id="100" dur="1" fill="hold">
                                          <p:stCondLst>
                                            <p:cond delay="0"/>
                                          </p:stCondLst>
                                        </p:cTn>
                                        <p:tgtEl>
                                          <p:spTgt spid="43025"/>
                                        </p:tgtEl>
                                        <p:attrNameLst>
                                          <p:attrName>style.visibility</p:attrName>
                                        </p:attrNameLst>
                                      </p:cBhvr>
                                      <p:to>
                                        <p:strVal val="visible"/>
                                      </p:to>
                                    </p:set>
                                    <p:animEffect transition="in" filter="wipe(left)">
                                      <p:cBhvr>
                                        <p:cTn id="101" dur="500"/>
                                        <p:tgtEl>
                                          <p:spTgt spid="43025"/>
                                        </p:tgtEl>
                                      </p:cBhvr>
                                    </p:animEffect>
                                  </p:childTnLst>
                                </p:cTn>
                              </p:par>
                            </p:childTnLst>
                          </p:cTn>
                        </p:par>
                        <p:par>
                          <p:cTn id="102" fill="hold">
                            <p:stCondLst>
                              <p:cond delay="500"/>
                            </p:stCondLst>
                            <p:childTnLst>
                              <p:par>
                                <p:cTn id="103" presetID="22" presetClass="entr" presetSubtype="1" fill="hold" nodeType="afterEffect">
                                  <p:stCondLst>
                                    <p:cond delay="0"/>
                                  </p:stCondLst>
                                  <p:childTnLst>
                                    <p:set>
                                      <p:cBhvr>
                                        <p:cTn id="104" dur="1" fill="hold">
                                          <p:stCondLst>
                                            <p:cond delay="0"/>
                                          </p:stCondLst>
                                        </p:cTn>
                                        <p:tgtEl>
                                          <p:spTgt spid="43034"/>
                                        </p:tgtEl>
                                        <p:attrNameLst>
                                          <p:attrName>style.visibility</p:attrName>
                                        </p:attrNameLst>
                                      </p:cBhvr>
                                      <p:to>
                                        <p:strVal val="visible"/>
                                      </p:to>
                                    </p:set>
                                    <p:animEffect transition="in" filter="wipe(up)">
                                      <p:cBhvr>
                                        <p:cTn id="105" dur="500"/>
                                        <p:tgtEl>
                                          <p:spTgt spid="43034"/>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43011"/>
                                        </p:tgtEl>
                                        <p:attrNameLst>
                                          <p:attrName>style.visibility</p:attrName>
                                        </p:attrNameLst>
                                      </p:cBhvr>
                                      <p:to>
                                        <p:strVal val="visible"/>
                                      </p:to>
                                    </p:set>
                                    <p:animEffect transition="in" filter="wipe(left)">
                                      <p:cBhvr>
                                        <p:cTn id="110" dur="500"/>
                                        <p:tgtEl>
                                          <p:spTgt spid="43011"/>
                                        </p:tgtEl>
                                      </p:cBhvr>
                                    </p:animEffect>
                                  </p:childTnLst>
                                </p:cTn>
                              </p:par>
                              <p:par>
                                <p:cTn id="111" presetID="22" presetClass="entr" presetSubtype="8" fill="hold" nodeType="withEffect">
                                  <p:stCondLst>
                                    <p:cond delay="0"/>
                                  </p:stCondLst>
                                  <p:childTnLst>
                                    <p:set>
                                      <p:cBhvr>
                                        <p:cTn id="112" dur="1" fill="hold">
                                          <p:stCondLst>
                                            <p:cond delay="0"/>
                                          </p:stCondLst>
                                        </p:cTn>
                                        <p:tgtEl>
                                          <p:spTgt spid="43026"/>
                                        </p:tgtEl>
                                        <p:attrNameLst>
                                          <p:attrName>style.visibility</p:attrName>
                                        </p:attrNameLst>
                                      </p:cBhvr>
                                      <p:to>
                                        <p:strVal val="visible"/>
                                      </p:to>
                                    </p:set>
                                    <p:animEffect transition="in" filter="wipe(left)">
                                      <p:cBhvr>
                                        <p:cTn id="113" dur="500"/>
                                        <p:tgtEl>
                                          <p:spTgt spid="43026"/>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nodeType="clickEffect">
                                  <p:stCondLst>
                                    <p:cond delay="0"/>
                                  </p:stCondLst>
                                  <p:childTnLst>
                                    <p:set>
                                      <p:cBhvr>
                                        <p:cTn id="117" dur="1" fill="hold">
                                          <p:stCondLst>
                                            <p:cond delay="0"/>
                                          </p:stCondLst>
                                        </p:cTn>
                                        <p:tgtEl>
                                          <p:spTgt spid="43043"/>
                                        </p:tgtEl>
                                        <p:attrNameLst>
                                          <p:attrName>style.visibility</p:attrName>
                                        </p:attrNameLst>
                                      </p:cBhvr>
                                      <p:to>
                                        <p:strVal val="visible"/>
                                      </p:to>
                                    </p:set>
                                    <p:animEffect transition="in" filter="blinds(horizontal)">
                                      <p:cBhvr>
                                        <p:cTn id="118" dur="500"/>
                                        <p:tgtEl>
                                          <p:spTgt spid="43043"/>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nodeType="clickEffect">
                                  <p:stCondLst>
                                    <p:cond delay="0"/>
                                  </p:stCondLst>
                                  <p:childTnLst>
                                    <p:set>
                                      <p:cBhvr>
                                        <p:cTn id="122" dur="1" fill="hold">
                                          <p:stCondLst>
                                            <p:cond delay="0"/>
                                          </p:stCondLst>
                                        </p:cTn>
                                        <p:tgtEl>
                                          <p:spTgt spid="43040"/>
                                        </p:tgtEl>
                                        <p:attrNameLst>
                                          <p:attrName>style.visibility</p:attrName>
                                        </p:attrNameLst>
                                      </p:cBhvr>
                                      <p:to>
                                        <p:strVal val="visible"/>
                                      </p:to>
                                    </p:set>
                                    <p:animEffect transition="in" filter="wipe(left)">
                                      <p:cBhvr>
                                        <p:cTn id="123" dur="500"/>
                                        <p:tgtEl>
                                          <p:spTgt spid="43040"/>
                                        </p:tgtEl>
                                      </p:cBhvr>
                                    </p:animEffect>
                                  </p:childTnLst>
                                </p:cTn>
                              </p:par>
                            </p:childTnLst>
                          </p:cTn>
                        </p:par>
                        <p:par>
                          <p:cTn id="124" fill="hold">
                            <p:stCondLst>
                              <p:cond delay="500"/>
                            </p:stCondLst>
                            <p:childTnLst>
                              <p:par>
                                <p:cTn id="125" presetID="22" presetClass="entr" presetSubtype="4" fill="hold" nodeType="afterEffect">
                                  <p:stCondLst>
                                    <p:cond delay="0"/>
                                  </p:stCondLst>
                                  <p:childTnLst>
                                    <p:set>
                                      <p:cBhvr>
                                        <p:cTn id="126" dur="1" fill="hold">
                                          <p:stCondLst>
                                            <p:cond delay="0"/>
                                          </p:stCondLst>
                                        </p:cTn>
                                        <p:tgtEl>
                                          <p:spTgt spid="43041"/>
                                        </p:tgtEl>
                                        <p:attrNameLst>
                                          <p:attrName>style.visibility</p:attrName>
                                        </p:attrNameLst>
                                      </p:cBhvr>
                                      <p:to>
                                        <p:strVal val="visible"/>
                                      </p:to>
                                    </p:set>
                                    <p:animEffect transition="in" filter="wipe(down)">
                                      <p:cBhvr>
                                        <p:cTn id="127" dur="500"/>
                                        <p:tgtEl>
                                          <p:spTgt spid="43041"/>
                                        </p:tgtEl>
                                      </p:cBhvr>
                                    </p:animEffect>
                                  </p:childTnLst>
                                </p:cTn>
                              </p:par>
                            </p:childTnLst>
                          </p:cTn>
                        </p:par>
                        <p:par>
                          <p:cTn id="128" fill="hold">
                            <p:stCondLst>
                              <p:cond delay="1000"/>
                            </p:stCondLst>
                            <p:childTnLst>
                              <p:par>
                                <p:cTn id="129" presetID="22" presetClass="entr" presetSubtype="2" fill="hold" nodeType="afterEffect">
                                  <p:stCondLst>
                                    <p:cond delay="0"/>
                                  </p:stCondLst>
                                  <p:childTnLst>
                                    <p:set>
                                      <p:cBhvr>
                                        <p:cTn id="130" dur="1" fill="hold">
                                          <p:stCondLst>
                                            <p:cond delay="0"/>
                                          </p:stCondLst>
                                        </p:cTn>
                                        <p:tgtEl>
                                          <p:spTgt spid="43042"/>
                                        </p:tgtEl>
                                        <p:attrNameLst>
                                          <p:attrName>style.visibility</p:attrName>
                                        </p:attrNameLst>
                                      </p:cBhvr>
                                      <p:to>
                                        <p:strVal val="visible"/>
                                      </p:to>
                                    </p:set>
                                    <p:animEffect transition="in" filter="wipe(right)">
                                      <p:cBhvr>
                                        <p:cTn id="131" dur="500"/>
                                        <p:tgtEl>
                                          <p:spTgt spid="43042"/>
                                        </p:tgtEl>
                                      </p:cBhvr>
                                    </p:animEffect>
                                  </p:childTnLst>
                                </p:cTn>
                              </p:par>
                            </p:childTnLst>
                          </p:cTn>
                        </p:par>
                      </p:childTnLst>
                    </p:cTn>
                  </p:par>
                  <p:par>
                    <p:cTn id="132" fill="hold">
                      <p:stCondLst>
                        <p:cond delay="indefinite"/>
                      </p:stCondLst>
                      <p:childTnLst>
                        <p:par>
                          <p:cTn id="133" fill="hold">
                            <p:stCondLst>
                              <p:cond delay="0"/>
                            </p:stCondLst>
                            <p:childTnLst>
                              <p:par>
                                <p:cTn id="134" presetID="3" presetClass="entr" presetSubtype="10" fill="hold" grpId="0" nodeType="clickEffect">
                                  <p:stCondLst>
                                    <p:cond delay="0"/>
                                  </p:stCondLst>
                                  <p:childTnLst>
                                    <p:set>
                                      <p:cBhvr>
                                        <p:cTn id="135" dur="1" fill="hold">
                                          <p:stCondLst>
                                            <p:cond delay="0"/>
                                          </p:stCondLst>
                                        </p:cTn>
                                        <p:tgtEl>
                                          <p:spTgt spid="43044"/>
                                        </p:tgtEl>
                                        <p:attrNameLst>
                                          <p:attrName>style.visibility</p:attrName>
                                        </p:attrNameLst>
                                      </p:cBhvr>
                                      <p:to>
                                        <p:strVal val="visible"/>
                                      </p:to>
                                    </p:set>
                                    <p:animEffect transition="in" filter="blinds(horizontal)">
                                      <p:cBhvr>
                                        <p:cTn id="136" dur="500"/>
                                        <p:tgtEl>
                                          <p:spTgt spid="43044"/>
                                        </p:tgtEl>
                                      </p:cBhvr>
                                    </p:animEffect>
                                  </p:childTnLst>
                                </p:cTn>
                              </p:par>
                            </p:childTnLst>
                          </p:cTn>
                        </p:par>
                        <p:par>
                          <p:cTn id="137" fill="hold">
                            <p:stCondLst>
                              <p:cond delay="500"/>
                            </p:stCondLst>
                            <p:childTnLst>
                              <p:par>
                                <p:cTn id="138" presetID="22" presetClass="entr" presetSubtype="1" fill="hold" nodeType="afterEffect">
                                  <p:stCondLst>
                                    <p:cond delay="0"/>
                                  </p:stCondLst>
                                  <p:childTnLst>
                                    <p:set>
                                      <p:cBhvr>
                                        <p:cTn id="139" dur="1" fill="hold">
                                          <p:stCondLst>
                                            <p:cond delay="0"/>
                                          </p:stCondLst>
                                        </p:cTn>
                                        <p:tgtEl>
                                          <p:spTgt spid="43035"/>
                                        </p:tgtEl>
                                        <p:attrNameLst>
                                          <p:attrName>style.visibility</p:attrName>
                                        </p:attrNameLst>
                                      </p:cBhvr>
                                      <p:to>
                                        <p:strVal val="visible"/>
                                      </p:to>
                                    </p:set>
                                    <p:animEffect transition="in" filter="wipe(up)">
                                      <p:cBhvr>
                                        <p:cTn id="140" dur="500"/>
                                        <p:tgtEl>
                                          <p:spTgt spid="43035"/>
                                        </p:tgtEl>
                                      </p:cBhvr>
                                    </p:animEffect>
                                  </p:childTnLst>
                                </p:cTn>
                              </p:par>
                            </p:childTnLst>
                          </p:cTn>
                        </p:par>
                        <p:par>
                          <p:cTn id="141" fill="hold">
                            <p:stCondLst>
                              <p:cond delay="1000"/>
                            </p:stCondLst>
                            <p:childTnLst>
                              <p:par>
                                <p:cTn id="142" presetID="22" presetClass="entr" presetSubtype="8" fill="hold" grpId="0" nodeType="afterEffect">
                                  <p:stCondLst>
                                    <p:cond delay="500"/>
                                  </p:stCondLst>
                                  <p:childTnLst>
                                    <p:set>
                                      <p:cBhvr>
                                        <p:cTn id="143" dur="1" fill="hold">
                                          <p:stCondLst>
                                            <p:cond delay="0"/>
                                          </p:stCondLst>
                                        </p:cTn>
                                        <p:tgtEl>
                                          <p:spTgt spid="43023"/>
                                        </p:tgtEl>
                                        <p:attrNameLst>
                                          <p:attrName>style.visibility</p:attrName>
                                        </p:attrNameLst>
                                      </p:cBhvr>
                                      <p:to>
                                        <p:strVal val="visible"/>
                                      </p:to>
                                    </p:set>
                                    <p:animEffect transition="in" filter="wipe(left)">
                                      <p:cBhvr>
                                        <p:cTn id="144" dur="500"/>
                                        <p:tgtEl>
                                          <p:spTgt spid="43023"/>
                                        </p:tgtEl>
                                      </p:cBhvr>
                                    </p:animEffect>
                                  </p:childTnLst>
                                </p:cTn>
                              </p:par>
                            </p:childTnLst>
                          </p:cTn>
                        </p:par>
                        <p:par>
                          <p:cTn id="145" fill="hold">
                            <p:stCondLst>
                              <p:cond delay="2000"/>
                            </p:stCondLst>
                            <p:childTnLst>
                              <p:par>
                                <p:cTn id="146" presetID="22" presetClass="entr" presetSubtype="8" fill="hold" grpId="0" nodeType="afterEffect">
                                  <p:stCondLst>
                                    <p:cond delay="500"/>
                                  </p:stCondLst>
                                  <p:childTnLst>
                                    <p:set>
                                      <p:cBhvr>
                                        <p:cTn id="147" dur="1" fill="hold">
                                          <p:stCondLst>
                                            <p:cond delay="0"/>
                                          </p:stCondLst>
                                        </p:cTn>
                                        <p:tgtEl>
                                          <p:spTgt spid="43027"/>
                                        </p:tgtEl>
                                        <p:attrNameLst>
                                          <p:attrName>style.visibility</p:attrName>
                                        </p:attrNameLst>
                                      </p:cBhvr>
                                      <p:to>
                                        <p:strVal val="visible"/>
                                      </p:to>
                                    </p:set>
                                    <p:animEffect transition="in" filter="wipe(left)">
                                      <p:cBhvr>
                                        <p:cTn id="148" dur="500"/>
                                        <p:tgtEl>
                                          <p:spTgt spid="43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animBg="1"/>
      <p:bldP spid="43011" grpId="0" animBg="1"/>
      <p:bldP spid="43012" grpId="0" animBg="1"/>
      <p:bldP spid="43013" grpId="0"/>
      <p:bldP spid="43014" grpId="0"/>
      <p:bldP spid="43015" grpId="0" animBg="1"/>
      <p:bldP spid="43016" grpId="0" animBg="1"/>
      <p:bldP spid="43017" grpId="0" animBg="1"/>
      <p:bldP spid="43018" grpId="0"/>
      <p:bldP spid="43019" grpId="0"/>
      <p:bldP spid="43020" grpId="0"/>
      <p:bldP spid="43021" grpId="0" animBg="1"/>
      <p:bldP spid="43022" grpId="0" animBg="1"/>
      <p:bldP spid="43023" grpId="0" animBg="1"/>
      <p:bldP spid="43024" grpId="0"/>
      <p:bldP spid="43025" grpId="0"/>
      <p:bldP spid="43027" grpId="0"/>
      <p:bldP spid="4304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3"/>
          <p:cNvSpPr>
            <a:spLocks noGrp="1"/>
          </p:cNvSpPr>
          <p:nvPr>
            <p:ph type="body" idx="4294967295"/>
          </p:nvPr>
        </p:nvSpPr>
        <p:spPr>
          <a:xfrm>
            <a:off x="900113" y="1341438"/>
            <a:ext cx="4895850" cy="4648200"/>
          </a:xfrm>
        </p:spPr>
        <p:txBody>
          <a:bodyPr vert="horz" wrap="square" lIns="91440" tIns="45720" rIns="91440" bIns="45720" anchor="t" anchorCtr="0"/>
          <a:p>
            <a:pPr eaLnBrk="1" hangingPunct="1">
              <a:lnSpc>
                <a:spcPct val="105000"/>
              </a:lnSpc>
              <a:buNone/>
            </a:pPr>
            <a:r>
              <a:rPr lang="en-US" altLang="zh-CN" sz="2400" dirty="0">
                <a:latin typeface="宋体" panose="02010600030101010101" pitchFamily="2" charset="-122"/>
                <a:ea typeface="宋体" panose="02010600030101010101" pitchFamily="2" charset="-122"/>
              </a:rPr>
              <a:t>        LEA   SI，MEM1</a:t>
            </a:r>
            <a:endParaRPr lang="en-US" altLang="zh-CN" sz="2400" dirty="0">
              <a:latin typeface="宋体" panose="02010600030101010101" pitchFamily="2" charset="-122"/>
              <a:ea typeface="宋体" panose="02010600030101010101" pitchFamily="2" charset="-122"/>
            </a:endParaRPr>
          </a:p>
          <a:p>
            <a:pPr eaLnBrk="1" hangingPunct="1">
              <a:lnSpc>
                <a:spcPct val="105000"/>
              </a:lnSpc>
              <a:buNone/>
            </a:pPr>
            <a:r>
              <a:rPr lang="en-US" altLang="zh-CN" sz="2400" dirty="0">
                <a:latin typeface="宋体" panose="02010600030101010101" pitchFamily="2" charset="-122"/>
                <a:ea typeface="宋体" panose="02010600030101010101" pitchFamily="2" charset="-122"/>
              </a:rPr>
              <a:t>        LEA   DI，MEM2 </a:t>
            </a:r>
            <a:endParaRPr lang="en-US" altLang="zh-CN" sz="2400" dirty="0">
              <a:latin typeface="宋体" panose="02010600030101010101" pitchFamily="2" charset="-122"/>
              <a:ea typeface="宋体" panose="02010600030101010101" pitchFamily="2" charset="-122"/>
            </a:endParaRPr>
          </a:p>
          <a:p>
            <a:pPr eaLnBrk="1" hangingPunct="1">
              <a:lnSpc>
                <a:spcPct val="105000"/>
              </a:lnSpc>
              <a:buNone/>
            </a:pPr>
            <a:r>
              <a:rPr lang="en-US" altLang="zh-CN" sz="2400" dirty="0">
                <a:latin typeface="宋体" panose="02010600030101010101" pitchFamily="2" charset="-122"/>
                <a:ea typeface="宋体" panose="02010600030101010101" pitchFamily="2" charset="-122"/>
              </a:rPr>
              <a:t>        MOV  CL，50</a:t>
            </a:r>
            <a:endParaRPr lang="en-US" altLang="zh-CN" sz="2400" dirty="0">
              <a:latin typeface="宋体" panose="02010600030101010101" pitchFamily="2" charset="-122"/>
              <a:ea typeface="宋体" panose="02010600030101010101" pitchFamily="2" charset="-122"/>
            </a:endParaRPr>
          </a:p>
          <a:p>
            <a:pPr eaLnBrk="1" hangingPunct="1">
              <a:lnSpc>
                <a:spcPct val="105000"/>
              </a:lnSpc>
              <a:buNone/>
            </a:pPr>
            <a:r>
              <a:rPr lang="en-US" altLang="zh-CN" sz="2400" dirty="0">
                <a:latin typeface="宋体" panose="02010600030101010101" pitchFamily="2" charset="-122"/>
                <a:ea typeface="宋体" panose="02010600030101010101" pitchFamily="2" charset="-122"/>
              </a:rPr>
              <a:t>NEXT：  MOV  AL，[SI]</a:t>
            </a:r>
            <a:endParaRPr lang="en-US" altLang="zh-CN" sz="2400" dirty="0">
              <a:latin typeface="宋体" panose="02010600030101010101" pitchFamily="2" charset="-122"/>
              <a:ea typeface="宋体" panose="02010600030101010101" pitchFamily="2" charset="-122"/>
            </a:endParaRPr>
          </a:p>
          <a:p>
            <a:pPr eaLnBrk="1" hangingPunct="1">
              <a:lnSpc>
                <a:spcPct val="105000"/>
              </a:lnSpc>
              <a:buNone/>
            </a:pPr>
            <a:r>
              <a:rPr lang="en-US" altLang="zh-CN" sz="2400" dirty="0">
                <a:latin typeface="宋体" panose="02010600030101010101" pitchFamily="2" charset="-122"/>
                <a:ea typeface="宋体" panose="02010600030101010101" pitchFamily="2" charset="-122"/>
              </a:rPr>
              <a:t>        MOV  [DI]，AL</a:t>
            </a:r>
            <a:endParaRPr lang="en-US" altLang="zh-CN" sz="2400" dirty="0">
              <a:latin typeface="宋体" panose="02010600030101010101" pitchFamily="2" charset="-122"/>
              <a:ea typeface="宋体" panose="02010600030101010101" pitchFamily="2" charset="-122"/>
            </a:endParaRPr>
          </a:p>
          <a:p>
            <a:pPr eaLnBrk="1" hangingPunct="1">
              <a:lnSpc>
                <a:spcPct val="105000"/>
              </a:lnSpc>
              <a:buNone/>
            </a:pPr>
            <a:r>
              <a:rPr lang="en-US" altLang="zh-CN" sz="2400" dirty="0">
                <a:latin typeface="宋体" panose="02010600030101010101" pitchFamily="2" charset="-122"/>
                <a:ea typeface="宋体" panose="02010600030101010101" pitchFamily="2" charset="-122"/>
              </a:rPr>
              <a:t>        INC    SI</a:t>
            </a:r>
            <a:endParaRPr lang="en-US" altLang="zh-CN" sz="2400" dirty="0">
              <a:latin typeface="宋体" panose="02010600030101010101" pitchFamily="2" charset="-122"/>
              <a:ea typeface="宋体" panose="02010600030101010101" pitchFamily="2" charset="-122"/>
            </a:endParaRPr>
          </a:p>
          <a:p>
            <a:pPr eaLnBrk="1" hangingPunct="1">
              <a:lnSpc>
                <a:spcPct val="105000"/>
              </a:lnSpc>
              <a:buNone/>
            </a:pPr>
            <a:r>
              <a:rPr lang="en-US" altLang="zh-CN" sz="2400" dirty="0">
                <a:latin typeface="宋体" panose="02010600030101010101" pitchFamily="2" charset="-122"/>
                <a:ea typeface="宋体" panose="02010600030101010101" pitchFamily="2" charset="-122"/>
              </a:rPr>
              <a:t>        INC    DI</a:t>
            </a:r>
            <a:endParaRPr lang="en-US" altLang="zh-CN" sz="2400" dirty="0">
              <a:latin typeface="宋体" panose="02010600030101010101" pitchFamily="2" charset="-122"/>
              <a:ea typeface="宋体" panose="02010600030101010101" pitchFamily="2" charset="-122"/>
            </a:endParaRPr>
          </a:p>
          <a:p>
            <a:pPr eaLnBrk="1" hangingPunct="1">
              <a:lnSpc>
                <a:spcPct val="105000"/>
              </a:lnSpc>
              <a:buNone/>
            </a:pPr>
            <a:r>
              <a:rPr lang="en-US" altLang="zh-CN" sz="2400" dirty="0">
                <a:latin typeface="宋体" panose="02010600030101010101" pitchFamily="2" charset="-122"/>
                <a:ea typeface="宋体" panose="02010600030101010101" pitchFamily="2" charset="-122"/>
              </a:rPr>
              <a:t>        DEC   CL </a:t>
            </a:r>
            <a:endParaRPr lang="en-US" altLang="zh-CN" sz="2400" dirty="0">
              <a:latin typeface="宋体" panose="02010600030101010101" pitchFamily="2" charset="-122"/>
              <a:ea typeface="宋体" panose="02010600030101010101" pitchFamily="2" charset="-122"/>
            </a:endParaRPr>
          </a:p>
          <a:p>
            <a:pPr eaLnBrk="1" hangingPunct="1">
              <a:lnSpc>
                <a:spcPct val="105000"/>
              </a:lnSpc>
              <a:buNone/>
            </a:pPr>
            <a:r>
              <a:rPr lang="en-US" altLang="zh-CN" sz="2400" dirty="0">
                <a:latin typeface="宋体" panose="02010600030101010101" pitchFamily="2" charset="-122"/>
                <a:ea typeface="宋体" panose="02010600030101010101" pitchFamily="2" charset="-122"/>
              </a:rPr>
              <a:t>        JNZ   NEXT</a:t>
            </a:r>
            <a:endParaRPr lang="en-US" altLang="zh-CN" sz="2400" dirty="0">
              <a:latin typeface="宋体" panose="02010600030101010101" pitchFamily="2" charset="-122"/>
              <a:ea typeface="宋体" panose="02010600030101010101" pitchFamily="2" charset="-122"/>
            </a:endParaRPr>
          </a:p>
          <a:p>
            <a:pPr eaLnBrk="1" hangingPunct="1">
              <a:lnSpc>
                <a:spcPct val="105000"/>
              </a:lnSpc>
              <a:buNone/>
            </a:pPr>
            <a:r>
              <a:rPr lang="en-US" altLang="zh-CN" sz="2400" dirty="0">
                <a:latin typeface="宋体" panose="02010600030101010101" pitchFamily="2" charset="-122"/>
                <a:ea typeface="宋体" panose="02010600030101010101" pitchFamily="2" charset="-122"/>
              </a:rPr>
              <a:t>        HLT  </a:t>
            </a:r>
            <a:endParaRPr lang="zh-CN" altLang="en-US" sz="2400" dirty="0">
              <a:latin typeface="宋体" panose="02010600030101010101" pitchFamily="2" charset="-122"/>
              <a:ea typeface="宋体" panose="02010600030101010101" pitchFamily="2" charset="-122"/>
            </a:endParaRPr>
          </a:p>
        </p:txBody>
      </p:sp>
      <p:grpSp>
        <p:nvGrpSpPr>
          <p:cNvPr id="2" name="Group 25"/>
          <p:cNvGrpSpPr/>
          <p:nvPr/>
        </p:nvGrpSpPr>
        <p:grpSpPr>
          <a:xfrm>
            <a:off x="5640388" y="1771650"/>
            <a:ext cx="2819400" cy="3962400"/>
            <a:chOff x="0" y="0"/>
            <a:chExt cx="1776" cy="2496"/>
          </a:xfrm>
        </p:grpSpPr>
        <p:sp>
          <p:nvSpPr>
            <p:cNvPr id="43012" name="Rectangle 5"/>
            <p:cNvSpPr/>
            <p:nvPr/>
          </p:nvSpPr>
          <p:spPr>
            <a:xfrm>
              <a:off x="672" y="0"/>
              <a:ext cx="1104" cy="2496"/>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43013" name="Line 6"/>
            <p:cNvSpPr/>
            <p:nvPr/>
          </p:nvSpPr>
          <p:spPr>
            <a:xfrm flipH="1">
              <a:off x="672" y="0"/>
              <a:ext cx="1" cy="2496"/>
            </a:xfrm>
            <a:prstGeom prst="line">
              <a:avLst/>
            </a:prstGeom>
            <a:ln w="25400" cap="sq" cmpd="sng">
              <a:solidFill>
                <a:schemeClr val="tx1"/>
              </a:solidFill>
              <a:prstDash val="solid"/>
              <a:headEnd type="none" w="med" len="med"/>
              <a:tailEnd type="none" w="med" len="med"/>
            </a:ln>
          </p:spPr>
        </p:sp>
        <p:sp>
          <p:nvSpPr>
            <p:cNvPr id="43014" name="Line 7"/>
            <p:cNvSpPr/>
            <p:nvPr/>
          </p:nvSpPr>
          <p:spPr>
            <a:xfrm>
              <a:off x="1776" y="0"/>
              <a:ext cx="0" cy="2496"/>
            </a:xfrm>
            <a:prstGeom prst="line">
              <a:avLst/>
            </a:prstGeom>
            <a:ln w="25400" cap="sq" cmpd="sng">
              <a:solidFill>
                <a:schemeClr val="tx1"/>
              </a:solidFill>
              <a:prstDash val="solid"/>
              <a:headEnd type="none" w="med" len="med"/>
              <a:tailEnd type="none" w="med" len="med"/>
            </a:ln>
          </p:spPr>
        </p:sp>
        <p:sp>
          <p:nvSpPr>
            <p:cNvPr id="43015" name="Line 8"/>
            <p:cNvSpPr/>
            <p:nvPr/>
          </p:nvSpPr>
          <p:spPr>
            <a:xfrm>
              <a:off x="672" y="576"/>
              <a:ext cx="1104" cy="0"/>
            </a:xfrm>
            <a:prstGeom prst="line">
              <a:avLst/>
            </a:prstGeom>
            <a:ln w="25400" cap="sq" cmpd="sng">
              <a:solidFill>
                <a:schemeClr val="tx1"/>
              </a:solidFill>
              <a:prstDash val="solid"/>
              <a:headEnd type="none" w="med" len="med"/>
              <a:tailEnd type="none" w="med" len="med"/>
            </a:ln>
          </p:spPr>
        </p:sp>
        <p:sp>
          <p:nvSpPr>
            <p:cNvPr id="43016" name="Line 9"/>
            <p:cNvSpPr/>
            <p:nvPr/>
          </p:nvSpPr>
          <p:spPr>
            <a:xfrm>
              <a:off x="672" y="816"/>
              <a:ext cx="1104" cy="0"/>
            </a:xfrm>
            <a:prstGeom prst="line">
              <a:avLst/>
            </a:prstGeom>
            <a:ln w="25400" cap="sq" cmpd="sng">
              <a:solidFill>
                <a:schemeClr val="tx1"/>
              </a:solidFill>
              <a:prstDash val="solid"/>
              <a:headEnd type="none" w="med" len="med"/>
              <a:tailEnd type="none" w="med" len="med"/>
            </a:ln>
          </p:spPr>
        </p:sp>
        <p:sp>
          <p:nvSpPr>
            <p:cNvPr id="43017" name="Line 10"/>
            <p:cNvSpPr/>
            <p:nvPr/>
          </p:nvSpPr>
          <p:spPr>
            <a:xfrm>
              <a:off x="672" y="1056"/>
              <a:ext cx="1104" cy="0"/>
            </a:xfrm>
            <a:prstGeom prst="line">
              <a:avLst/>
            </a:prstGeom>
            <a:ln w="25400" cap="sq" cmpd="sng">
              <a:solidFill>
                <a:schemeClr val="tx1"/>
              </a:solidFill>
              <a:prstDash val="solid"/>
              <a:headEnd type="none" w="med" len="med"/>
              <a:tailEnd type="none" w="med" len="med"/>
            </a:ln>
          </p:spPr>
        </p:sp>
        <p:sp>
          <p:nvSpPr>
            <p:cNvPr id="43018" name="Line 11"/>
            <p:cNvSpPr/>
            <p:nvPr/>
          </p:nvSpPr>
          <p:spPr>
            <a:xfrm>
              <a:off x="672" y="0"/>
              <a:ext cx="1104" cy="0"/>
            </a:xfrm>
            <a:prstGeom prst="line">
              <a:avLst/>
            </a:prstGeom>
            <a:ln w="25400" cap="sq" cmpd="sng">
              <a:solidFill>
                <a:schemeClr val="tx1"/>
              </a:solidFill>
              <a:prstDash val="solid"/>
              <a:headEnd type="none" w="med" len="med"/>
              <a:tailEnd type="none" w="med" len="med"/>
            </a:ln>
          </p:spPr>
        </p:sp>
        <p:sp>
          <p:nvSpPr>
            <p:cNvPr id="43019" name="Line 12"/>
            <p:cNvSpPr/>
            <p:nvPr/>
          </p:nvSpPr>
          <p:spPr>
            <a:xfrm>
              <a:off x="672" y="1872"/>
              <a:ext cx="1104" cy="0"/>
            </a:xfrm>
            <a:prstGeom prst="line">
              <a:avLst/>
            </a:prstGeom>
            <a:ln w="25400" cap="sq" cmpd="sng">
              <a:solidFill>
                <a:schemeClr val="tx1"/>
              </a:solidFill>
              <a:prstDash val="solid"/>
              <a:headEnd type="none" w="med" len="med"/>
              <a:tailEnd type="none" w="med" len="med"/>
            </a:ln>
          </p:spPr>
        </p:sp>
        <p:sp>
          <p:nvSpPr>
            <p:cNvPr id="43020" name="Line 13"/>
            <p:cNvSpPr/>
            <p:nvPr/>
          </p:nvSpPr>
          <p:spPr>
            <a:xfrm>
              <a:off x="672" y="1632"/>
              <a:ext cx="1104" cy="0"/>
            </a:xfrm>
            <a:prstGeom prst="line">
              <a:avLst/>
            </a:prstGeom>
            <a:ln w="25400" cap="sq" cmpd="sng">
              <a:solidFill>
                <a:schemeClr val="tx1"/>
              </a:solidFill>
              <a:prstDash val="solid"/>
              <a:headEnd type="none" w="med" len="med"/>
              <a:tailEnd type="none" w="med" len="med"/>
            </a:ln>
          </p:spPr>
        </p:sp>
        <p:sp>
          <p:nvSpPr>
            <p:cNvPr id="43021" name="Line 14"/>
            <p:cNvSpPr/>
            <p:nvPr/>
          </p:nvSpPr>
          <p:spPr>
            <a:xfrm>
              <a:off x="672" y="2496"/>
              <a:ext cx="1104" cy="0"/>
            </a:xfrm>
            <a:prstGeom prst="line">
              <a:avLst/>
            </a:prstGeom>
            <a:ln w="25400" cap="sq" cmpd="sng">
              <a:solidFill>
                <a:schemeClr val="tx1"/>
              </a:solidFill>
              <a:prstDash val="solid"/>
              <a:headEnd type="none" w="med" len="med"/>
              <a:tailEnd type="none" w="med" len="med"/>
            </a:ln>
          </p:spPr>
        </p:sp>
        <p:sp>
          <p:nvSpPr>
            <p:cNvPr id="43022" name="Line 15"/>
            <p:cNvSpPr/>
            <p:nvPr/>
          </p:nvSpPr>
          <p:spPr>
            <a:xfrm>
              <a:off x="672" y="2112"/>
              <a:ext cx="1104" cy="0"/>
            </a:xfrm>
            <a:prstGeom prst="line">
              <a:avLst/>
            </a:prstGeom>
            <a:ln w="25400" cap="sq" cmpd="sng">
              <a:solidFill>
                <a:schemeClr val="tx1"/>
              </a:solidFill>
              <a:prstDash val="solid"/>
              <a:headEnd type="none" w="med" len="med"/>
              <a:tailEnd type="none" w="med" len="med"/>
            </a:ln>
          </p:spPr>
        </p:sp>
        <p:sp>
          <p:nvSpPr>
            <p:cNvPr id="43023" name="Text Box 16"/>
            <p:cNvSpPr txBox="1"/>
            <p:nvPr/>
          </p:nvSpPr>
          <p:spPr>
            <a:xfrm>
              <a:off x="1056" y="1200"/>
              <a:ext cx="384" cy="288"/>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solidFill>
                    <a:schemeClr val="bg1"/>
                  </a:solidFill>
                  <a:latin typeface="宋体" panose="02010600030101010101" pitchFamily="2" charset="-122"/>
                  <a:ea typeface="宋体" panose="02010600030101010101" pitchFamily="2" charset="-122"/>
                </a:rPr>
                <a:t>┇</a:t>
              </a:r>
              <a:r>
                <a:rPr lang="en-US" altLang="zh-CN" sz="2400" dirty="0">
                  <a:solidFill>
                    <a:schemeClr val="bg1"/>
                  </a:solidFill>
                  <a:latin typeface="Times New Roman" panose="02020603050405020304" pitchFamily="18" charset="0"/>
                  <a:ea typeface="宋体" panose="02010600030101010101" pitchFamily="2" charset="-122"/>
                </a:rPr>
                <a:t> </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3024" name="Text Box 17"/>
            <p:cNvSpPr txBox="1"/>
            <p:nvPr/>
          </p:nvSpPr>
          <p:spPr>
            <a:xfrm>
              <a:off x="1056" y="144"/>
              <a:ext cx="384" cy="288"/>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solidFill>
                    <a:schemeClr val="bg1"/>
                  </a:solidFill>
                  <a:latin typeface="宋体" panose="02010600030101010101" pitchFamily="2" charset="-122"/>
                  <a:ea typeface="宋体" panose="02010600030101010101" pitchFamily="2" charset="-122"/>
                </a:rPr>
                <a:t>┇</a:t>
              </a:r>
              <a:r>
                <a:rPr lang="en-US" altLang="zh-CN" sz="2400" dirty="0">
                  <a:solidFill>
                    <a:schemeClr val="bg1"/>
                  </a:solidFill>
                  <a:latin typeface="Times New Roman" panose="02020603050405020304" pitchFamily="18" charset="0"/>
                  <a:ea typeface="宋体" panose="02010600030101010101" pitchFamily="2" charset="-122"/>
                </a:rPr>
                <a:t> </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3025" name="Text Box 18"/>
            <p:cNvSpPr txBox="1"/>
            <p:nvPr/>
          </p:nvSpPr>
          <p:spPr>
            <a:xfrm>
              <a:off x="1056" y="2160"/>
              <a:ext cx="384" cy="288"/>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solidFill>
                    <a:schemeClr val="bg1"/>
                  </a:solidFill>
                  <a:latin typeface="宋体" panose="02010600030101010101" pitchFamily="2" charset="-122"/>
                  <a:ea typeface="宋体" panose="02010600030101010101" pitchFamily="2" charset="-122"/>
                </a:rPr>
                <a:t>┇</a:t>
              </a:r>
              <a:r>
                <a:rPr lang="en-US" altLang="zh-CN" sz="2400" dirty="0">
                  <a:solidFill>
                    <a:schemeClr val="bg1"/>
                  </a:solidFill>
                  <a:latin typeface="Times New Roman" panose="02020603050405020304" pitchFamily="18" charset="0"/>
                  <a:ea typeface="宋体" panose="02010600030101010101" pitchFamily="2" charset="-122"/>
                </a:rPr>
                <a:t> </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43026" name="Text Box 19"/>
            <p:cNvSpPr txBox="1"/>
            <p:nvPr/>
          </p:nvSpPr>
          <p:spPr>
            <a:xfrm>
              <a:off x="27" y="568"/>
              <a:ext cx="661" cy="25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MEM1</a:t>
              </a:r>
              <a:endParaRPr lang="en-US" altLang="zh-CN" sz="2000" b="1" dirty="0">
                <a:latin typeface="Times New Roman" panose="02020603050405020304" pitchFamily="18" charset="0"/>
                <a:ea typeface="宋体" panose="02010600030101010101" pitchFamily="2" charset="-122"/>
              </a:endParaRPr>
            </a:p>
          </p:txBody>
        </p:sp>
        <p:sp>
          <p:nvSpPr>
            <p:cNvPr id="43027" name="Text Box 20"/>
            <p:cNvSpPr txBox="1"/>
            <p:nvPr/>
          </p:nvSpPr>
          <p:spPr>
            <a:xfrm>
              <a:off x="976" y="792"/>
              <a:ext cx="480" cy="288"/>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12</a:t>
              </a:r>
              <a:r>
                <a:rPr lang="en-US" altLang="zh-CN" sz="2400" b="1" dirty="0">
                  <a:solidFill>
                    <a:schemeClr val="bg1"/>
                  </a:solidFill>
                  <a:latin typeface="Times New Roman" panose="02020603050405020304" pitchFamily="18" charset="0"/>
                  <a:ea typeface="宋体" panose="02010600030101010101" pitchFamily="2" charset="-122"/>
                </a:rPr>
                <a:t>H</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43028" name="Text Box 21"/>
            <p:cNvSpPr txBox="1"/>
            <p:nvPr/>
          </p:nvSpPr>
          <p:spPr>
            <a:xfrm>
              <a:off x="976" y="552"/>
              <a:ext cx="480" cy="288"/>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34H</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43029" name="Text Box 22"/>
            <p:cNvSpPr txBox="1"/>
            <p:nvPr/>
          </p:nvSpPr>
          <p:spPr>
            <a:xfrm>
              <a:off x="0" y="1619"/>
              <a:ext cx="642" cy="25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MEM2</a:t>
              </a:r>
              <a:endParaRPr lang="en-US" altLang="zh-CN" sz="2000" b="1" dirty="0">
                <a:latin typeface="Times New Roman" panose="02020603050405020304" pitchFamily="18" charset="0"/>
                <a:ea typeface="宋体" panose="02010600030101010101" pitchFamily="2" charset="-122"/>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4034">
                                            <p:txEl>
                                              <p:charRg st="0" end="22"/>
                                            </p:txEl>
                                          </p:spTgt>
                                        </p:tgtEl>
                                        <p:attrNameLst>
                                          <p:attrName>style.visibility</p:attrName>
                                        </p:attrNameLst>
                                      </p:cBhvr>
                                      <p:to>
                                        <p:strVal val="visible"/>
                                      </p:to>
                                    </p:set>
                                    <p:animEffect transition="in" filter="wipe(left)">
                                      <p:cBhvr>
                                        <p:cTn id="13" dur="500"/>
                                        <p:tgtEl>
                                          <p:spTgt spid="44034">
                                            <p:txEl>
                                              <p:charRg st="0" end="2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4034">
                                            <p:txEl>
                                              <p:charRg st="22" end="45"/>
                                            </p:txEl>
                                          </p:spTgt>
                                        </p:tgtEl>
                                        <p:attrNameLst>
                                          <p:attrName>style.visibility</p:attrName>
                                        </p:attrNameLst>
                                      </p:cBhvr>
                                      <p:to>
                                        <p:strVal val="visible"/>
                                      </p:to>
                                    </p:set>
                                    <p:animEffect transition="in" filter="wipe(left)">
                                      <p:cBhvr>
                                        <p:cTn id="18" dur="500"/>
                                        <p:tgtEl>
                                          <p:spTgt spid="44034">
                                            <p:txEl>
                                              <p:charRg st="22" end="4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4034">
                                            <p:txEl>
                                              <p:charRg st="45" end="64"/>
                                            </p:txEl>
                                          </p:spTgt>
                                        </p:tgtEl>
                                        <p:attrNameLst>
                                          <p:attrName>style.visibility</p:attrName>
                                        </p:attrNameLst>
                                      </p:cBhvr>
                                      <p:to>
                                        <p:strVal val="visible"/>
                                      </p:to>
                                    </p:set>
                                    <p:animEffect transition="in" filter="wipe(left)">
                                      <p:cBhvr>
                                        <p:cTn id="23" dur="500"/>
                                        <p:tgtEl>
                                          <p:spTgt spid="44034">
                                            <p:txEl>
                                              <p:charRg st="45" end="6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4034">
                                            <p:txEl>
                                              <p:charRg st="64" end="84"/>
                                            </p:txEl>
                                          </p:spTgt>
                                        </p:tgtEl>
                                        <p:attrNameLst>
                                          <p:attrName>style.visibility</p:attrName>
                                        </p:attrNameLst>
                                      </p:cBhvr>
                                      <p:to>
                                        <p:strVal val="visible"/>
                                      </p:to>
                                    </p:set>
                                    <p:animEffect transition="in" filter="wipe(left)">
                                      <p:cBhvr>
                                        <p:cTn id="28" dur="500"/>
                                        <p:tgtEl>
                                          <p:spTgt spid="44034">
                                            <p:txEl>
                                              <p:charRg st="64" end="8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44034">
                                            <p:txEl>
                                              <p:charRg st="84" end="105"/>
                                            </p:txEl>
                                          </p:spTgt>
                                        </p:tgtEl>
                                        <p:attrNameLst>
                                          <p:attrName>style.visibility</p:attrName>
                                        </p:attrNameLst>
                                      </p:cBhvr>
                                      <p:to>
                                        <p:strVal val="visible"/>
                                      </p:to>
                                    </p:set>
                                    <p:animEffect transition="in" filter="wipe(left)">
                                      <p:cBhvr>
                                        <p:cTn id="33" dur="500"/>
                                        <p:tgtEl>
                                          <p:spTgt spid="44034">
                                            <p:txEl>
                                              <p:charRg st="84" end="10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44034">
                                            <p:txEl>
                                              <p:charRg st="105" end="123"/>
                                            </p:txEl>
                                          </p:spTgt>
                                        </p:tgtEl>
                                        <p:attrNameLst>
                                          <p:attrName>style.visibility</p:attrName>
                                        </p:attrNameLst>
                                      </p:cBhvr>
                                      <p:to>
                                        <p:strVal val="visible"/>
                                      </p:to>
                                    </p:set>
                                    <p:animEffect transition="in" filter="wipe(left)">
                                      <p:cBhvr>
                                        <p:cTn id="38" dur="500"/>
                                        <p:tgtEl>
                                          <p:spTgt spid="44034">
                                            <p:txEl>
                                              <p:charRg st="105" end="12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44034">
                                            <p:txEl>
                                              <p:charRg st="123" end="141"/>
                                            </p:txEl>
                                          </p:spTgt>
                                        </p:tgtEl>
                                        <p:attrNameLst>
                                          <p:attrName>style.visibility</p:attrName>
                                        </p:attrNameLst>
                                      </p:cBhvr>
                                      <p:to>
                                        <p:strVal val="visible"/>
                                      </p:to>
                                    </p:set>
                                    <p:animEffect transition="in" filter="wipe(left)">
                                      <p:cBhvr>
                                        <p:cTn id="43" dur="500"/>
                                        <p:tgtEl>
                                          <p:spTgt spid="44034">
                                            <p:txEl>
                                              <p:charRg st="123" end="14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44034">
                                            <p:txEl>
                                              <p:charRg st="141" end="159"/>
                                            </p:txEl>
                                          </p:spTgt>
                                        </p:tgtEl>
                                        <p:attrNameLst>
                                          <p:attrName>style.visibility</p:attrName>
                                        </p:attrNameLst>
                                      </p:cBhvr>
                                      <p:to>
                                        <p:strVal val="visible"/>
                                      </p:to>
                                    </p:set>
                                    <p:animEffect transition="in" filter="wipe(left)">
                                      <p:cBhvr>
                                        <p:cTn id="48" dur="500"/>
                                        <p:tgtEl>
                                          <p:spTgt spid="44034">
                                            <p:txEl>
                                              <p:charRg st="141" end="15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44034">
                                            <p:txEl>
                                              <p:charRg st="159" end="178"/>
                                            </p:txEl>
                                          </p:spTgt>
                                        </p:tgtEl>
                                        <p:attrNameLst>
                                          <p:attrName>style.visibility</p:attrName>
                                        </p:attrNameLst>
                                      </p:cBhvr>
                                      <p:to>
                                        <p:strVal val="visible"/>
                                      </p:to>
                                    </p:set>
                                    <p:animEffect transition="in" filter="wipe(left)">
                                      <p:cBhvr>
                                        <p:cTn id="53" dur="500"/>
                                        <p:tgtEl>
                                          <p:spTgt spid="44034">
                                            <p:txEl>
                                              <p:charRg st="159" end="17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44034">
                                            <p:txEl>
                                              <p:charRg st="178" end="192"/>
                                            </p:txEl>
                                          </p:spTgt>
                                        </p:tgtEl>
                                        <p:attrNameLst>
                                          <p:attrName>style.visibility</p:attrName>
                                        </p:attrNameLst>
                                      </p:cBhvr>
                                      <p:to>
                                        <p:strVal val="visible"/>
                                      </p:to>
                                    </p:set>
                                    <p:animEffect transition="in" filter="wipe(left)">
                                      <p:cBhvr>
                                        <p:cTn id="58" dur="500"/>
                                        <p:tgtEl>
                                          <p:spTgt spid="44034">
                                            <p:txEl>
                                              <p:charRg st="178" end="19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idx="4294967295"/>
          </p:nvPr>
        </p:nvSpPr>
        <p:spPr>
          <a:xfrm>
            <a:off x="828675" y="1196975"/>
            <a:ext cx="6553200" cy="565150"/>
          </a:xfrm>
        </p:spPr>
        <p:txBody>
          <a:bodyPr vert="horz" wrap="square" lIns="91440" tIns="45720" rIns="91440" bIns="45720" anchor="ctr" anchorCtr="0"/>
          <a:p>
            <a:pPr eaLnBrk="1" hangingPunct="1"/>
            <a:r>
              <a:rPr lang="zh-CN" altLang="en-US" dirty="0">
                <a:solidFill>
                  <a:srgbClr val="002060"/>
                </a:solidFill>
                <a:latin typeface="宋体" panose="02010600030101010101" pitchFamily="2" charset="-122"/>
                <a:ea typeface="宋体" panose="02010600030101010101" pitchFamily="2" charset="-122"/>
              </a:rPr>
              <a:t>（</a:t>
            </a:r>
            <a:r>
              <a:rPr lang="en-US" altLang="zh-CN" dirty="0">
                <a:solidFill>
                  <a:srgbClr val="002060"/>
                </a:solidFill>
                <a:latin typeface="宋体" panose="02010600030101010101" pitchFamily="2" charset="-122"/>
                <a:ea typeface="宋体" panose="02010600030101010101" pitchFamily="2" charset="-122"/>
              </a:rPr>
              <a:t>2</a:t>
            </a:r>
            <a:r>
              <a:rPr lang="zh-CN" altLang="en-US" dirty="0">
                <a:solidFill>
                  <a:srgbClr val="002060"/>
                </a:solidFill>
                <a:latin typeface="宋体" panose="02010600030101010101" pitchFamily="2" charset="-122"/>
                <a:ea typeface="宋体" panose="02010600030101010101" pitchFamily="2" charset="-122"/>
              </a:rPr>
              <a:t>）</a:t>
            </a:r>
            <a:r>
              <a:rPr lang="en-US" altLang="zh-CN" dirty="0">
                <a:solidFill>
                  <a:srgbClr val="002060"/>
                </a:solidFill>
                <a:latin typeface="宋体" panose="02010600030101010101" pitchFamily="2" charset="-122"/>
                <a:ea typeface="宋体" panose="02010600030101010101" pitchFamily="2" charset="-122"/>
              </a:rPr>
              <a:t>LDS</a:t>
            </a:r>
            <a:r>
              <a:rPr lang="zh-CN" altLang="en-US" dirty="0">
                <a:solidFill>
                  <a:srgbClr val="002060"/>
                </a:solidFill>
                <a:latin typeface="宋体" panose="02010600030101010101" pitchFamily="2" charset="-122"/>
                <a:ea typeface="宋体" panose="02010600030101010101" pitchFamily="2" charset="-122"/>
              </a:rPr>
              <a:t>指令</a:t>
            </a:r>
            <a:endParaRPr lang="en-US" altLang="zh-CN" dirty="0">
              <a:solidFill>
                <a:srgbClr val="002060"/>
              </a:solidFill>
              <a:latin typeface="宋体" panose="02010600030101010101" pitchFamily="2" charset="-122"/>
              <a:ea typeface="宋体" panose="02010600030101010101" pitchFamily="2" charset="-122"/>
            </a:endParaRPr>
          </a:p>
        </p:txBody>
      </p:sp>
      <p:sp>
        <p:nvSpPr>
          <p:cNvPr id="45059" name="Rectangle 3"/>
          <p:cNvSpPr>
            <a:spLocks noGrp="1"/>
          </p:cNvSpPr>
          <p:nvPr>
            <p:ph type="body" idx="4294967295"/>
          </p:nvPr>
        </p:nvSpPr>
        <p:spPr>
          <a:xfrm>
            <a:off x="323850" y="1773238"/>
            <a:ext cx="8464550" cy="4840287"/>
          </a:xfrm>
        </p:spPr>
        <p:txBody>
          <a:bodyPr vert="horz" wrap="square" lIns="91440" tIns="45720" rIns="91440" bIns="45720" anchor="t" anchorCtr="0"/>
          <a:p>
            <a:pPr algn="just" eaLnBrk="1" hangingPunct="1">
              <a:buFont typeface="Wingdings" panose="05000000000000000000" pitchFamily="2" charset="2"/>
              <a:buChar char="l"/>
            </a:pPr>
            <a:r>
              <a:rPr lang="en-US" altLang="zh-CN" dirty="0">
                <a:latin typeface="宋体" panose="02010600030101010101" pitchFamily="2" charset="-122"/>
                <a:ea typeface="宋体" panose="02010600030101010101" pitchFamily="2" charset="-122"/>
              </a:rPr>
              <a:t>LDS reg16</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mem32</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algn="just" eaLnBrk="1" hangingPunct="1">
              <a:buNone/>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reg16</a:t>
            </a: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((mem32)+1:(mem32))</a:t>
            </a:r>
            <a:endParaRPr lang="en-US" altLang="zh-CN" dirty="0">
              <a:latin typeface="宋体" panose="02010600030101010101" pitchFamily="2" charset="-122"/>
              <a:ea typeface="宋体" panose="02010600030101010101" pitchFamily="2" charset="-122"/>
            </a:endParaRPr>
          </a:p>
          <a:p>
            <a:pPr algn="just" eaLnBrk="1" hangingPunct="1">
              <a:buNone/>
            </a:pPr>
            <a:r>
              <a:rPr lang="en-US" altLang="zh-CN" dirty="0">
                <a:latin typeface="宋体" panose="02010600030101010101" pitchFamily="2" charset="-122"/>
                <a:ea typeface="宋体" panose="02010600030101010101" pitchFamily="2" charset="-122"/>
              </a:rPr>
              <a:t>  (DS)     ((mem32)+3</a:t>
            </a:r>
            <a:r>
              <a:rPr lang="en-US" altLang="zh-CN" dirty="0">
                <a:latin typeface="宋体" panose="02010600030101010101" pitchFamily="2" charset="-122"/>
                <a:ea typeface="宋体" panose="02010600030101010101" pitchFamily="2" charset="-122"/>
                <a:sym typeface="Wingdings" panose="05000000000000000000" pitchFamily="2" charset="2"/>
              </a:rPr>
              <a:t>:(mem32)+2</a:t>
            </a:r>
            <a:r>
              <a:rPr lang="en-US" altLang="zh-CN"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algn="just" eaLnBrk="1" hangingPunct="1">
              <a:buNone/>
            </a:pPr>
            <a:r>
              <a:rPr lang="zh-CN" altLang="en-US" sz="2400" dirty="0">
                <a:latin typeface="宋体" panose="02010600030101010101" pitchFamily="2" charset="-122"/>
                <a:ea typeface="宋体" panose="02010600030101010101" pitchFamily="2" charset="-122"/>
              </a:rPr>
              <a:t>其中，源操作数</a:t>
            </a:r>
            <a:r>
              <a:rPr lang="en-US" altLang="zh-CN" sz="2400" dirty="0">
                <a:latin typeface="宋体" panose="02010600030101010101" pitchFamily="2" charset="-122"/>
                <a:ea typeface="宋体" panose="02010600030101010101" pitchFamily="2" charset="-122"/>
              </a:rPr>
              <a:t>mem32</a:t>
            </a:r>
            <a:r>
              <a:rPr lang="zh-CN" altLang="en-US" sz="2400" dirty="0">
                <a:latin typeface="宋体" panose="02010600030101010101" pitchFamily="2" charset="-122"/>
                <a:ea typeface="宋体" panose="02010600030101010101" pitchFamily="2" charset="-122"/>
              </a:rPr>
              <a:t>位存储器操作数，给出的是内存中</a:t>
            </a:r>
            <a:r>
              <a:rPr lang="en-US" altLang="zh-CN" sz="2400" dirty="0">
                <a:latin typeface="宋体" panose="02010600030101010101" pitchFamily="2" charset="-122"/>
                <a:ea typeface="宋体" panose="02010600030101010101" pitchFamily="2" charset="-122"/>
              </a:rPr>
              <a:t>4</a:t>
            </a:r>
            <a:r>
              <a:rPr lang="zh-CN" altLang="en-US" sz="2400" dirty="0">
                <a:latin typeface="宋体" panose="02010600030101010101" pitchFamily="2" charset="-122"/>
                <a:ea typeface="宋体" panose="02010600030101010101" pitchFamily="2" charset="-122"/>
              </a:rPr>
              <a:t>个连续的存储单元的逻辑地址。</a:t>
            </a:r>
            <a:r>
              <a:rPr lang="zh-CN" altLang="en-US" sz="2400" dirty="0">
                <a:solidFill>
                  <a:srgbClr val="FF0000"/>
                </a:solidFill>
                <a:latin typeface="宋体" panose="02010600030101010101" pitchFamily="2" charset="-122"/>
                <a:ea typeface="宋体" panose="02010600030101010101" pitchFamily="2" charset="-122"/>
              </a:rPr>
              <a:t>目标操作数</a:t>
            </a:r>
            <a:r>
              <a:rPr lang="en-US" altLang="zh-CN" sz="2400" dirty="0">
                <a:solidFill>
                  <a:srgbClr val="FF0000"/>
                </a:solidFill>
                <a:latin typeface="宋体" panose="02010600030101010101" pitchFamily="2" charset="-122"/>
                <a:ea typeface="宋体" panose="02010600030101010101" pitchFamily="2" charset="-122"/>
              </a:rPr>
              <a:t>reg16</a:t>
            </a:r>
            <a:r>
              <a:rPr lang="zh-CN" altLang="en-US" sz="2400" dirty="0">
                <a:solidFill>
                  <a:srgbClr val="FF0000"/>
                </a:solidFill>
                <a:latin typeface="宋体" panose="02010600030101010101" pitchFamily="2" charset="-122"/>
                <a:ea typeface="宋体" panose="02010600030101010101" pitchFamily="2" charset="-122"/>
              </a:rPr>
              <a:t>必须是</a:t>
            </a:r>
            <a:r>
              <a:rPr lang="en-US" altLang="zh-CN" sz="2400" dirty="0">
                <a:solidFill>
                  <a:srgbClr val="FF0000"/>
                </a:solidFill>
                <a:latin typeface="宋体" panose="02010600030101010101" pitchFamily="2" charset="-122"/>
                <a:ea typeface="宋体" panose="02010600030101010101" pitchFamily="2" charset="-122"/>
              </a:rPr>
              <a:t>BX</a:t>
            </a:r>
            <a:r>
              <a:rPr lang="zh-CN" altLang="en-US" sz="2400" dirty="0">
                <a:solidFill>
                  <a:srgbClr val="FF0000"/>
                </a:solidFill>
                <a:latin typeface="宋体" panose="02010600030101010101" pitchFamily="2" charset="-122"/>
                <a:ea typeface="宋体" panose="02010600030101010101" pitchFamily="2" charset="-122"/>
              </a:rPr>
              <a:t>、</a:t>
            </a:r>
            <a:r>
              <a:rPr lang="en-US" altLang="zh-CN" sz="2400" dirty="0">
                <a:solidFill>
                  <a:srgbClr val="FF0000"/>
                </a:solidFill>
                <a:latin typeface="宋体" panose="02010600030101010101" pitchFamily="2" charset="-122"/>
                <a:ea typeface="宋体" panose="02010600030101010101" pitchFamily="2" charset="-122"/>
              </a:rPr>
              <a:t>BP</a:t>
            </a:r>
            <a:r>
              <a:rPr lang="zh-CN" altLang="en-US" sz="2400" dirty="0">
                <a:solidFill>
                  <a:srgbClr val="FF0000"/>
                </a:solidFill>
                <a:latin typeface="宋体" panose="02010600030101010101" pitchFamily="2" charset="-122"/>
                <a:ea typeface="宋体" panose="02010600030101010101" pitchFamily="2" charset="-122"/>
              </a:rPr>
              <a:t>、</a:t>
            </a:r>
            <a:r>
              <a:rPr lang="en-US" altLang="zh-CN" sz="2400" dirty="0">
                <a:solidFill>
                  <a:srgbClr val="FF0000"/>
                </a:solidFill>
                <a:latin typeface="宋体" panose="02010600030101010101" pitchFamily="2" charset="-122"/>
                <a:ea typeface="宋体" panose="02010600030101010101" pitchFamily="2" charset="-122"/>
              </a:rPr>
              <a:t>SI</a:t>
            </a:r>
            <a:r>
              <a:rPr lang="zh-CN" altLang="en-US" sz="2400" dirty="0">
                <a:solidFill>
                  <a:srgbClr val="FF0000"/>
                </a:solidFill>
                <a:latin typeface="宋体" panose="02010600030101010101" pitchFamily="2" charset="-122"/>
                <a:ea typeface="宋体" panose="02010600030101010101" pitchFamily="2" charset="-122"/>
              </a:rPr>
              <a:t>、</a:t>
            </a:r>
            <a:r>
              <a:rPr lang="en-US" altLang="zh-CN" sz="2400" dirty="0">
                <a:solidFill>
                  <a:srgbClr val="FF0000"/>
                </a:solidFill>
                <a:latin typeface="宋体" panose="02010600030101010101" pitchFamily="2" charset="-122"/>
                <a:ea typeface="宋体" panose="02010600030101010101" pitchFamily="2" charset="-122"/>
              </a:rPr>
              <a:t>DI</a:t>
            </a:r>
            <a:r>
              <a:rPr lang="zh-CN" altLang="en-US" sz="2400" dirty="0">
                <a:solidFill>
                  <a:srgbClr val="FF0000"/>
                </a:solidFill>
                <a:latin typeface="宋体" panose="02010600030101010101" pitchFamily="2" charset="-122"/>
                <a:ea typeface="宋体" panose="02010600030101010101" pitchFamily="2" charset="-122"/>
              </a:rPr>
              <a:t>等</a:t>
            </a:r>
            <a:r>
              <a:rPr lang="en-US" altLang="zh-CN" sz="2400" dirty="0">
                <a:solidFill>
                  <a:srgbClr val="FF0000"/>
                </a:solidFill>
                <a:latin typeface="宋体" panose="02010600030101010101" pitchFamily="2" charset="-122"/>
                <a:ea typeface="宋体" panose="02010600030101010101" pitchFamily="2" charset="-122"/>
              </a:rPr>
              <a:t>4</a:t>
            </a:r>
            <a:r>
              <a:rPr lang="zh-CN" altLang="en-US" sz="2400" dirty="0">
                <a:solidFill>
                  <a:srgbClr val="FF0000"/>
                </a:solidFill>
                <a:latin typeface="宋体" panose="02010600030101010101" pitchFamily="2" charset="-122"/>
                <a:ea typeface="宋体" panose="02010600030101010101" pitchFamily="2" charset="-122"/>
              </a:rPr>
              <a:t>个间址寄存器之一</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gn="just" eaLnBrk="1" hangingPunct="1">
              <a:buNone/>
            </a:pPr>
            <a:endParaRPr lang="en-US" altLang="zh-CN" sz="2400" dirty="0">
              <a:latin typeface="宋体" panose="02010600030101010101" pitchFamily="2" charset="-122"/>
              <a:ea typeface="宋体" panose="02010600030101010101" pitchFamily="2" charset="-122"/>
            </a:endParaRPr>
          </a:p>
          <a:p>
            <a:pPr algn="just" eaLnBrk="1" hangingPunct="1">
              <a:buNone/>
            </a:pPr>
            <a:r>
              <a:rPr lang="zh-CN" altLang="en-US" sz="2400" dirty="0">
                <a:latin typeface="宋体" panose="02010600030101010101" pitchFamily="2" charset="-122"/>
                <a:ea typeface="宋体" panose="02010600030101010101" pitchFamily="2" charset="-122"/>
              </a:rPr>
              <a:t>该指令用于把存储器</a:t>
            </a:r>
            <a:r>
              <a:rPr lang="en-US" altLang="zh-CN" sz="2400" dirty="0">
                <a:latin typeface="宋体" panose="02010600030101010101" pitchFamily="2" charset="-122"/>
                <a:ea typeface="宋体" panose="02010600030101010101" pitchFamily="2" charset="-122"/>
              </a:rPr>
              <a:t>mem32</a:t>
            </a:r>
            <a:r>
              <a:rPr lang="zh-CN" altLang="en-US" sz="2400" dirty="0">
                <a:latin typeface="宋体" panose="02010600030101010101" pitchFamily="2" charset="-122"/>
                <a:ea typeface="宋体" panose="02010600030101010101" pitchFamily="2" charset="-122"/>
              </a:rPr>
              <a:t>中存放的一个</a:t>
            </a:r>
            <a:r>
              <a:rPr lang="en-US" altLang="zh-CN" sz="2400" dirty="0">
                <a:latin typeface="宋体" panose="02010600030101010101" pitchFamily="2" charset="-122"/>
                <a:ea typeface="宋体" panose="02010600030101010101" pitchFamily="2" charset="-122"/>
              </a:rPr>
              <a:t>32</a:t>
            </a:r>
            <a:r>
              <a:rPr lang="zh-CN" altLang="en-US" sz="2400" dirty="0">
                <a:latin typeface="宋体" panose="02010600030101010101" pitchFamily="2" charset="-122"/>
                <a:ea typeface="宋体" panose="02010600030101010101" pitchFamily="2" charset="-122"/>
              </a:rPr>
              <a:t>位远地址指针（包</a:t>
            </a:r>
            <a:endParaRPr lang="en-US" altLang="zh-CN" sz="2400" dirty="0">
              <a:latin typeface="宋体" panose="02010600030101010101" pitchFamily="2" charset="-122"/>
              <a:ea typeface="宋体" panose="02010600030101010101" pitchFamily="2" charset="-122"/>
            </a:endParaRPr>
          </a:p>
          <a:p>
            <a:pPr algn="just" eaLnBrk="1" hangingPunct="1">
              <a:buNone/>
            </a:pPr>
            <a:r>
              <a:rPr lang="zh-CN" altLang="en-US" sz="2400" dirty="0">
                <a:latin typeface="宋体" panose="02010600030101010101" pitchFamily="2" charset="-122"/>
                <a:ea typeface="宋体" panose="02010600030101010101" pitchFamily="2" charset="-122"/>
              </a:rPr>
              <a:t>括偏移地址）送到</a:t>
            </a:r>
            <a:r>
              <a:rPr lang="en-US" altLang="zh-CN" sz="2400" dirty="0">
                <a:latin typeface="宋体" panose="02010600030101010101" pitchFamily="2" charset="-122"/>
                <a:ea typeface="宋体" panose="02010600030101010101" pitchFamily="2" charset="-122"/>
              </a:rPr>
              <a:t>reg16</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DS</a:t>
            </a:r>
            <a:r>
              <a:rPr lang="zh-CN" altLang="en-US" sz="2400" dirty="0">
                <a:latin typeface="宋体" panose="02010600030101010101" pitchFamily="2" charset="-122"/>
                <a:ea typeface="宋体" panose="02010600030101010101" pitchFamily="2" charset="-122"/>
              </a:rPr>
              <a:t>。</a:t>
            </a:r>
            <a:r>
              <a:rPr lang="en-US" altLang="zh-CN" sz="2400" dirty="0">
                <a:solidFill>
                  <a:srgbClr val="FF0000"/>
                </a:solidFill>
                <a:latin typeface="宋体" panose="02010600030101010101" pitchFamily="2" charset="-122"/>
                <a:ea typeface="宋体" panose="02010600030101010101" pitchFamily="2" charset="-122"/>
              </a:rPr>
              <a:t>4</a:t>
            </a:r>
            <a:r>
              <a:rPr lang="zh-CN" altLang="en-US" sz="2400" dirty="0">
                <a:solidFill>
                  <a:srgbClr val="FF0000"/>
                </a:solidFill>
                <a:latin typeface="宋体" panose="02010600030101010101" pitchFamily="2" charset="-122"/>
                <a:ea typeface="宋体" panose="02010600030101010101" pitchFamily="2" charset="-122"/>
              </a:rPr>
              <a:t>个存储单元的前两个单元的内</a:t>
            </a:r>
            <a:endParaRPr lang="en-US" altLang="zh-CN" sz="2400" dirty="0">
              <a:solidFill>
                <a:srgbClr val="FF0000"/>
              </a:solidFill>
              <a:latin typeface="宋体" panose="02010600030101010101" pitchFamily="2" charset="-122"/>
              <a:ea typeface="宋体" panose="02010600030101010101" pitchFamily="2" charset="-122"/>
            </a:endParaRPr>
          </a:p>
          <a:p>
            <a:pPr algn="just" eaLnBrk="1" hangingPunct="1">
              <a:buNone/>
            </a:pPr>
            <a:r>
              <a:rPr lang="zh-CN" altLang="en-US" sz="2400" dirty="0">
                <a:solidFill>
                  <a:srgbClr val="FF0000"/>
                </a:solidFill>
                <a:latin typeface="宋体" panose="02010600030101010101" pitchFamily="2" charset="-122"/>
                <a:ea typeface="宋体" panose="02010600030101010101" pitchFamily="2" charset="-122"/>
              </a:rPr>
              <a:t>容作为偏移地址送</a:t>
            </a:r>
            <a:r>
              <a:rPr lang="en-US" altLang="zh-CN" sz="2400" dirty="0">
                <a:solidFill>
                  <a:srgbClr val="FF0000"/>
                </a:solidFill>
                <a:latin typeface="宋体" panose="02010600030101010101" pitchFamily="2" charset="-122"/>
                <a:ea typeface="宋体" panose="02010600030101010101" pitchFamily="2" charset="-122"/>
              </a:rPr>
              <a:t>reg16</a:t>
            </a:r>
            <a:r>
              <a:rPr lang="zh-CN" altLang="en-US" sz="2400" dirty="0">
                <a:solidFill>
                  <a:srgbClr val="FF0000"/>
                </a:solidFill>
                <a:latin typeface="宋体" panose="02010600030101010101" pitchFamily="2" charset="-122"/>
                <a:ea typeface="宋体" panose="02010600030101010101" pitchFamily="2" charset="-122"/>
              </a:rPr>
              <a:t>，后两个单元的内容作为段地址装入</a:t>
            </a:r>
            <a:endParaRPr lang="en-US" altLang="zh-CN" sz="2400" dirty="0">
              <a:solidFill>
                <a:srgbClr val="FF0000"/>
              </a:solidFill>
              <a:latin typeface="宋体" panose="02010600030101010101" pitchFamily="2" charset="-122"/>
              <a:ea typeface="宋体" panose="02010600030101010101" pitchFamily="2" charset="-122"/>
            </a:endParaRPr>
          </a:p>
          <a:p>
            <a:pPr algn="just" eaLnBrk="1" hangingPunct="1">
              <a:buNone/>
            </a:pPr>
            <a:r>
              <a:rPr lang="zh-CN" altLang="en-US" sz="2400" dirty="0">
                <a:solidFill>
                  <a:srgbClr val="FF0000"/>
                </a:solidFill>
                <a:latin typeface="宋体" panose="02010600030101010101" pitchFamily="2" charset="-122"/>
                <a:ea typeface="宋体" panose="02010600030101010101" pitchFamily="2" charset="-122"/>
              </a:rPr>
              <a:t>段寄存器</a:t>
            </a:r>
            <a:r>
              <a:rPr lang="en-US" altLang="zh-CN" sz="2400" dirty="0">
                <a:solidFill>
                  <a:srgbClr val="FF0000"/>
                </a:solidFill>
                <a:latin typeface="宋体" panose="02010600030101010101" pitchFamily="2" charset="-122"/>
                <a:ea typeface="宋体" panose="02010600030101010101" pitchFamily="2" charset="-122"/>
              </a:rPr>
              <a:t>DS</a:t>
            </a:r>
            <a:endParaRPr lang="zh-CN" altLang="en-US" sz="2400" dirty="0">
              <a:solidFill>
                <a:srgbClr val="FF0000"/>
              </a:solidFill>
              <a:latin typeface="宋体" panose="02010600030101010101" pitchFamily="2" charset="-122"/>
              <a:ea typeface="宋体" panose="02010600030101010101" pitchFamily="2" charset="-122"/>
            </a:endParaRPr>
          </a:p>
        </p:txBody>
      </p:sp>
      <p:cxnSp>
        <p:nvCxnSpPr>
          <p:cNvPr id="44036" name="直接箭头连接符 2"/>
          <p:cNvCxnSpPr/>
          <p:nvPr/>
        </p:nvCxnSpPr>
        <p:spPr>
          <a:xfrm flipH="1">
            <a:off x="2124075" y="2565400"/>
            <a:ext cx="287338" cy="0"/>
          </a:xfrm>
          <a:prstGeom prst="straightConnector1">
            <a:avLst/>
          </a:prstGeom>
          <a:ln w="9525" cap="flat" cmpd="sng">
            <a:solidFill>
              <a:schemeClr val="tx1"/>
            </a:solidFill>
            <a:prstDash val="solid"/>
            <a:headEnd type="none" w="med" len="med"/>
            <a:tailEnd type="triangle" w="med" len="med"/>
          </a:ln>
        </p:spPr>
      </p:cxnSp>
      <p:cxnSp>
        <p:nvCxnSpPr>
          <p:cNvPr id="44037" name="直接箭头连接符 4"/>
          <p:cNvCxnSpPr/>
          <p:nvPr/>
        </p:nvCxnSpPr>
        <p:spPr>
          <a:xfrm flipH="1">
            <a:off x="1619250" y="3068638"/>
            <a:ext cx="720725" cy="0"/>
          </a:xfrm>
          <a:prstGeom prst="straightConnector1">
            <a:avLst/>
          </a:prstGeom>
          <a:ln w="9525" cap="flat" cmpd="sng">
            <a:solidFill>
              <a:schemeClr val="tx1"/>
            </a:solidFill>
            <a:prstDash val="solid"/>
            <a:headEnd type="none" w="med" len="med"/>
            <a:tailEnd type="triangle" w="med" len="med"/>
          </a:ln>
        </p:spPr>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5059">
                                            <p:txEl>
                                              <p:charRg st="0" end="17"/>
                                            </p:txEl>
                                          </p:spTgt>
                                        </p:tgtEl>
                                        <p:attrNameLst>
                                          <p:attrName>style.visibility</p:attrName>
                                        </p:attrNameLst>
                                      </p:cBhvr>
                                      <p:to>
                                        <p:strVal val="visible"/>
                                      </p:to>
                                    </p:set>
                                    <p:animEffect transition="in" filter="wipe(left)">
                                      <p:cBhvr>
                                        <p:cTn id="7" dur="500"/>
                                        <p:tgtEl>
                                          <p:spTgt spid="45059">
                                            <p:txEl>
                                              <p:charRg st="0" end="17"/>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5059">
                                            <p:txEl>
                                              <p:charRg st="17" end="46"/>
                                            </p:txEl>
                                          </p:spTgt>
                                        </p:tgtEl>
                                        <p:attrNameLst>
                                          <p:attrName>style.visibility</p:attrName>
                                        </p:attrNameLst>
                                      </p:cBhvr>
                                      <p:to>
                                        <p:strVal val="visible"/>
                                      </p:to>
                                    </p:set>
                                    <p:animEffect transition="in" filter="wipe(left)">
                                      <p:cBhvr>
                                        <p:cTn id="11" dur="500"/>
                                        <p:tgtEl>
                                          <p:spTgt spid="45059">
                                            <p:txEl>
                                              <p:charRg st="17" end="46"/>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5059">
                                            <p:txEl>
                                              <p:charRg st="46" end="79"/>
                                            </p:txEl>
                                          </p:spTgt>
                                        </p:tgtEl>
                                        <p:attrNameLst>
                                          <p:attrName>style.visibility</p:attrName>
                                        </p:attrNameLst>
                                      </p:cBhvr>
                                      <p:to>
                                        <p:strVal val="visible"/>
                                      </p:to>
                                    </p:set>
                                    <p:animEffect transition="in" filter="wipe(left)">
                                      <p:cBhvr>
                                        <p:cTn id="15" dur="500"/>
                                        <p:tgtEl>
                                          <p:spTgt spid="45059">
                                            <p:txEl>
                                              <p:charRg st="46" end="79"/>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45059">
                                            <p:txEl>
                                              <p:charRg st="79" end="156"/>
                                            </p:txEl>
                                          </p:spTgt>
                                        </p:tgtEl>
                                        <p:attrNameLst>
                                          <p:attrName>style.visibility</p:attrName>
                                        </p:attrNameLst>
                                      </p:cBhvr>
                                      <p:to>
                                        <p:strVal val="visible"/>
                                      </p:to>
                                    </p:set>
                                    <p:animEffect transition="in" filter="wipe(left)">
                                      <p:cBhvr>
                                        <p:cTn id="19" dur="500"/>
                                        <p:tgtEl>
                                          <p:spTgt spid="45059">
                                            <p:txEl>
                                              <p:charRg st="79" end="156"/>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45059">
                                            <p:txEl>
                                              <p:charRg st="157" end="254"/>
                                            </p:txEl>
                                          </p:spTgt>
                                        </p:tgtEl>
                                        <p:attrNameLst>
                                          <p:attrName>style.visibility</p:attrName>
                                        </p:attrNameLst>
                                      </p:cBhvr>
                                      <p:to>
                                        <p:strVal val="visible"/>
                                      </p:to>
                                    </p:set>
                                    <p:animEffect transition="in" filter="wipe(left)">
                                      <p:cBhvr>
                                        <p:cTn id="23" dur="500"/>
                                        <p:tgtEl>
                                          <p:spTgt spid="45059">
                                            <p:txEl>
                                              <p:charRg st="157" end="25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内容占位符 2"/>
          <p:cNvSpPr>
            <a:spLocks noGrp="1"/>
          </p:cNvSpPr>
          <p:nvPr>
            <p:ph idx="4294967295"/>
          </p:nvPr>
        </p:nvSpPr>
        <p:spPr/>
        <p:txBody>
          <a:bodyPr vert="horz" wrap="square" lIns="91440" tIns="45720" rIns="91440" bIns="45720" anchor="t" anchorCtr="0"/>
          <a:p>
            <a:pPr>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例</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a:lnSpc>
                <a:spcPct val="150000"/>
              </a:lnSpc>
              <a:buNone/>
            </a:pPr>
            <a:r>
              <a:rPr lang="zh-CN" altLang="en-US" sz="2400" dirty="0">
                <a:latin typeface="宋体" panose="02010600030101010101" pitchFamily="2" charset="-122"/>
                <a:ea typeface="宋体" panose="02010600030101010101" pitchFamily="2" charset="-122"/>
              </a:rPr>
              <a:t>设（</a:t>
            </a:r>
            <a:r>
              <a:rPr lang="en-US" altLang="zh-CN" sz="2400" dirty="0">
                <a:latin typeface="宋体" panose="02010600030101010101" pitchFamily="2" charset="-122"/>
                <a:ea typeface="宋体" panose="02010600030101010101" pitchFamily="2" charset="-122"/>
              </a:rPr>
              <a:t>DS</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=6000H</a:t>
            </a:r>
            <a:r>
              <a:rPr lang="zh-CN" altLang="en-US" sz="2400" dirty="0">
                <a:latin typeface="宋体" panose="02010600030101010101" pitchFamily="2" charset="-122"/>
                <a:ea typeface="宋体" panose="02010600030101010101" pitchFamily="2" charset="-122"/>
              </a:rPr>
              <a:t>，内存地址为</a:t>
            </a:r>
            <a:r>
              <a:rPr lang="en-US" altLang="zh-CN" sz="2400" dirty="0">
                <a:latin typeface="宋体" panose="02010600030101010101" pitchFamily="2" charset="-122"/>
                <a:ea typeface="宋体" panose="02010600030101010101" pitchFamily="2" charset="-122"/>
              </a:rPr>
              <a:t>60348H</a:t>
            </a:r>
            <a:r>
              <a:rPr lang="zh-CN" altLang="en-US" sz="2400" dirty="0">
                <a:latin typeface="宋体" panose="02010600030101010101" pitchFamily="2" charset="-122"/>
                <a:ea typeface="宋体" panose="02010600030101010101" pitchFamily="2" charset="-122"/>
              </a:rPr>
              <a:t>开始的</a:t>
            </a:r>
            <a:r>
              <a:rPr lang="en-US" altLang="zh-CN" sz="2400" dirty="0">
                <a:latin typeface="宋体" panose="02010600030101010101" pitchFamily="2" charset="-122"/>
                <a:ea typeface="宋体" panose="02010600030101010101" pitchFamily="2" charset="-122"/>
              </a:rPr>
              <a:t>4</a:t>
            </a:r>
            <a:r>
              <a:rPr lang="zh-CN" altLang="en-US" sz="2400" dirty="0">
                <a:latin typeface="宋体" panose="02010600030101010101" pitchFamily="2" charset="-122"/>
                <a:ea typeface="宋体" panose="02010600030101010101" pitchFamily="2" charset="-122"/>
              </a:rPr>
              <a:t>个单元中存放了一个</a:t>
            </a:r>
            <a:r>
              <a:rPr lang="en-US" altLang="zh-CN" sz="2400" dirty="0">
                <a:latin typeface="宋体" panose="02010600030101010101" pitchFamily="2" charset="-122"/>
                <a:ea typeface="宋体" panose="02010600030101010101" pitchFamily="2" charset="-122"/>
              </a:rPr>
              <a:t>32</a:t>
            </a:r>
            <a:r>
              <a:rPr lang="zh-CN" altLang="en-US" sz="2400" dirty="0">
                <a:latin typeface="宋体" panose="02010600030101010101" pitchFamily="2" charset="-122"/>
                <a:ea typeface="宋体" panose="02010600030101010101" pitchFamily="2" charset="-122"/>
              </a:rPr>
              <a:t>位的远指针</a:t>
            </a:r>
            <a:r>
              <a:rPr lang="en-US" altLang="zh-CN" sz="2400" dirty="0">
                <a:latin typeface="宋体" panose="02010600030101010101" pitchFamily="2" charset="-122"/>
                <a:ea typeface="宋体" panose="02010600030101010101" pitchFamily="2" charset="-122"/>
              </a:rPr>
              <a:t>98011H</a:t>
            </a:r>
            <a:r>
              <a:rPr lang="zh-CN" altLang="en-US" sz="2400" dirty="0">
                <a:latin typeface="宋体" panose="02010600030101010101" pitchFamily="2" charset="-122"/>
                <a:ea typeface="宋体" panose="02010600030101010101" pitchFamily="2" charset="-122"/>
              </a:rPr>
              <a:t>（该地址存放的内容是</a:t>
            </a:r>
            <a:r>
              <a:rPr lang="en-US" altLang="zh-CN" sz="2400" dirty="0">
                <a:latin typeface="宋体" panose="02010600030101010101" pitchFamily="2" charset="-122"/>
                <a:ea typeface="宋体" panose="02010600030101010101" pitchFamily="2" charset="-122"/>
              </a:rPr>
              <a:t>3412H</a:t>
            </a:r>
            <a:r>
              <a:rPr lang="zh-CN" altLang="en-US" sz="2400" dirty="0">
                <a:latin typeface="宋体" panose="02010600030101010101" pitchFamily="2" charset="-122"/>
                <a:ea typeface="宋体" panose="02010600030101010101" pitchFamily="2" charset="-122"/>
              </a:rPr>
              <a:t>），以下指令将该指针装入</a:t>
            </a:r>
            <a:r>
              <a:rPr lang="en-US" altLang="zh-CN" sz="2400" dirty="0">
                <a:latin typeface="宋体" panose="02010600030101010101" pitchFamily="2" charset="-122"/>
                <a:ea typeface="宋体" panose="02010600030101010101" pitchFamily="2" charset="-122"/>
              </a:rPr>
              <a:t>DS</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SI</a:t>
            </a:r>
            <a:r>
              <a:rPr lang="zh-CN" altLang="en-US" sz="2400" dirty="0">
                <a:latin typeface="宋体" panose="02010600030101010101" pitchFamily="2" charset="-122"/>
                <a:ea typeface="宋体" panose="02010600030101010101" pitchFamily="2" charset="-122"/>
              </a:rPr>
              <a:t>中。</a:t>
            </a:r>
            <a:endParaRPr lang="en-US" altLang="zh-CN" sz="2400" dirty="0">
              <a:latin typeface="宋体" panose="02010600030101010101" pitchFamily="2" charset="-122"/>
              <a:ea typeface="宋体" panose="02010600030101010101" pitchFamily="2" charset="-122"/>
            </a:endParaRPr>
          </a:p>
          <a:p>
            <a:pPr>
              <a:lnSpc>
                <a:spcPct val="150000"/>
              </a:lnSpc>
              <a:buFont typeface="Wingdings" panose="05000000000000000000" pitchFamily="2" charset="2"/>
              <a:buChar char="l"/>
            </a:pPr>
            <a:r>
              <a:rPr lang="en-US" altLang="zh-CN" sz="2400" dirty="0">
                <a:latin typeface="宋体" panose="02010600030101010101" pitchFamily="2" charset="-122"/>
                <a:ea typeface="宋体" panose="02010600030101010101" pitchFamily="2" charset="-122"/>
              </a:rPr>
              <a:t>LDS SI</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[0348H]</a:t>
            </a:r>
            <a:endParaRPr lang="en-US" altLang="zh-CN" sz="2400" dirty="0">
              <a:latin typeface="宋体" panose="02010600030101010101" pitchFamily="2" charset="-122"/>
              <a:ea typeface="宋体" panose="02010600030101010101" pitchFamily="2" charset="-122"/>
            </a:endParaRPr>
          </a:p>
          <a:p>
            <a:pPr>
              <a:lnSpc>
                <a:spcPct val="150000"/>
              </a:lnSpc>
              <a:buFont typeface="Wingdings" panose="05000000000000000000" pitchFamily="2" charset="2"/>
              <a:buChar char="l"/>
            </a:pPr>
            <a:r>
              <a:rPr lang="en-US" altLang="zh-CN" sz="2400" dirty="0">
                <a:latin typeface="宋体" panose="02010600030101010101" pitchFamily="2" charset="-122"/>
                <a:ea typeface="宋体" panose="02010600030101010101" pitchFamily="2" charset="-122"/>
              </a:rPr>
              <a:t>MOV AX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[SI]</a:t>
            </a:r>
            <a:endParaRPr lang="en-US" altLang="zh-CN" sz="2400" dirty="0">
              <a:latin typeface="宋体" panose="02010600030101010101" pitchFamily="2" charset="-122"/>
              <a:ea typeface="宋体" panose="02010600030101010101" pitchFamily="2" charset="-122"/>
            </a:endParaRPr>
          </a:p>
          <a:p>
            <a:pPr>
              <a:lnSpc>
                <a:spcPct val="150000"/>
              </a:lnSpc>
              <a:buNone/>
            </a:pPr>
            <a:r>
              <a:rPr lang="zh-CN" altLang="en-US" sz="2400" dirty="0">
                <a:latin typeface="宋体" panose="02010600030101010101" pitchFamily="2" charset="-122"/>
                <a:ea typeface="宋体" panose="02010600030101010101" pitchFamily="2" charset="-122"/>
              </a:rPr>
              <a:t>指令执行后：（</a:t>
            </a:r>
            <a:r>
              <a:rPr lang="en-US" altLang="zh-CN" sz="2400" dirty="0">
                <a:latin typeface="宋体" panose="02010600030101010101" pitchFamily="2" charset="-122"/>
                <a:ea typeface="宋体" panose="02010600030101010101" pitchFamily="2" charset="-122"/>
              </a:rPr>
              <a:t>SI</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=8011H</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DS</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=9000H</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=3412H</a:t>
            </a:r>
            <a:endParaRPr lang="en-US" altLang="zh-CN" sz="2400" dirty="0">
              <a:latin typeface="宋体" panose="02010600030101010101" pitchFamily="2" charset="-122"/>
              <a:ea typeface="宋体" panose="02010600030101010101" pitchFamily="2" charset="-122"/>
            </a:endParaRPr>
          </a:p>
          <a:p>
            <a:pPr>
              <a:buFont typeface="Wingdings" panose="05000000000000000000" pitchFamily="2" charset="2"/>
              <a:buChar char="•"/>
            </a:pPr>
            <a:endParaRPr lang="zh-CN" altLang="en-US" dirty="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内容占位符 2"/>
          <p:cNvSpPr>
            <a:spLocks noGrp="1"/>
          </p:cNvSpPr>
          <p:nvPr>
            <p:ph idx="4294967295"/>
          </p:nvPr>
        </p:nvSpPr>
        <p:spPr>
          <a:xfrm>
            <a:off x="306388" y="990600"/>
            <a:ext cx="8532812" cy="5410200"/>
          </a:xfrm>
        </p:spPr>
        <p:txBody>
          <a:bodyPr vert="horz" wrap="square" lIns="91440" tIns="45720" rIns="91440" bIns="45720" anchor="t" anchorCtr="0"/>
          <a:p>
            <a:pPr>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LES</a:t>
            </a:r>
            <a:r>
              <a:rPr lang="zh-CN" altLang="en-US" dirty="0">
                <a:latin typeface="宋体" panose="02010600030101010101" pitchFamily="2" charset="-122"/>
                <a:ea typeface="宋体" panose="02010600030101010101" pitchFamily="2" charset="-122"/>
              </a:rPr>
              <a:t>指令</a:t>
            </a:r>
            <a:endParaRPr lang="en-US" altLang="zh-CN" dirty="0">
              <a:latin typeface="宋体" panose="02010600030101010101" pitchFamily="2" charset="-122"/>
              <a:ea typeface="宋体" panose="02010600030101010101" pitchFamily="2" charset="-122"/>
            </a:endParaRPr>
          </a:p>
          <a:p>
            <a:pPr>
              <a:lnSpc>
                <a:spcPct val="150000"/>
              </a:lnSpc>
              <a:buNone/>
            </a:pPr>
            <a:r>
              <a:rPr lang="zh-CN" altLang="en-US" sz="2400" b="0" dirty="0">
                <a:latin typeface="宋体" panose="02010600030101010101" pitchFamily="2" charset="-122"/>
                <a:ea typeface="宋体" panose="02010600030101010101" pitchFamily="2" charset="-122"/>
              </a:rPr>
              <a:t>    这条指令的格式及功能与</a:t>
            </a:r>
            <a:r>
              <a:rPr lang="en-US" altLang="zh-CN" sz="2400" b="0" dirty="0">
                <a:latin typeface="宋体" panose="02010600030101010101" pitchFamily="2" charset="-122"/>
                <a:ea typeface="宋体" panose="02010600030101010101" pitchFamily="2" charset="-122"/>
              </a:rPr>
              <a:t>LDS</a:t>
            </a:r>
            <a:r>
              <a:rPr lang="zh-CN" altLang="en-US" sz="2400" b="0" dirty="0">
                <a:latin typeface="宋体" panose="02010600030101010101" pitchFamily="2" charset="-122"/>
                <a:ea typeface="宋体" panose="02010600030101010101" pitchFamily="2" charset="-122"/>
              </a:rPr>
              <a:t>指令非常类似，不同的是，两个高地址单元中给出的段地址不是送往</a:t>
            </a:r>
            <a:r>
              <a:rPr lang="en-US" altLang="zh-CN" sz="2400" b="0" dirty="0">
                <a:latin typeface="宋体" panose="02010600030101010101" pitchFamily="2" charset="-122"/>
                <a:ea typeface="宋体" panose="02010600030101010101" pitchFamily="2" charset="-122"/>
              </a:rPr>
              <a:t>DS</a:t>
            </a:r>
            <a:r>
              <a:rPr lang="zh-CN" altLang="en-US" sz="2400" b="0" dirty="0">
                <a:latin typeface="宋体" panose="02010600030101010101" pitchFamily="2" charset="-122"/>
                <a:ea typeface="宋体" panose="02010600030101010101" pitchFamily="2" charset="-122"/>
              </a:rPr>
              <a:t>，而是送到</a:t>
            </a:r>
            <a:r>
              <a:rPr lang="en-US" altLang="zh-CN" sz="2400" b="0" dirty="0">
                <a:latin typeface="宋体" panose="02010600030101010101" pitchFamily="2" charset="-122"/>
                <a:ea typeface="宋体" panose="02010600030101010101" pitchFamily="2" charset="-122"/>
              </a:rPr>
              <a:t>ES</a:t>
            </a:r>
            <a:r>
              <a:rPr lang="zh-CN" altLang="en-US" sz="2400" b="0" dirty="0">
                <a:latin typeface="宋体" panose="02010600030101010101" pitchFamily="2" charset="-122"/>
                <a:ea typeface="宋体" panose="02010600030101010101" pitchFamily="2" charset="-122"/>
              </a:rPr>
              <a:t>。</a:t>
            </a:r>
            <a:endParaRPr lang="en-US" altLang="zh-CN" sz="2400" b="0" dirty="0">
              <a:latin typeface="宋体" panose="02010600030101010101" pitchFamily="2" charset="-122"/>
              <a:ea typeface="宋体" panose="02010600030101010101" pitchFamily="2" charset="-122"/>
            </a:endParaRPr>
          </a:p>
          <a:p>
            <a:pPr>
              <a:lnSpc>
                <a:spcPct val="150000"/>
              </a:lnSpc>
              <a:buNone/>
            </a:pPr>
            <a:r>
              <a:rPr lang="zh-CN" altLang="en-US" sz="2400" b="0" dirty="0">
                <a:latin typeface="宋体" panose="02010600030101010101" pitchFamily="2" charset="-122"/>
                <a:ea typeface="宋体" panose="02010600030101010101" pitchFamily="2" charset="-122"/>
              </a:rPr>
              <a:t>例如：将上例中的</a:t>
            </a:r>
            <a:r>
              <a:rPr lang="en-US" altLang="zh-CN" sz="2400" b="0" dirty="0">
                <a:latin typeface="宋体" panose="02010600030101010101" pitchFamily="2" charset="-122"/>
                <a:ea typeface="宋体" panose="02010600030101010101" pitchFamily="2" charset="-122"/>
              </a:rPr>
              <a:t>LDS</a:t>
            </a:r>
            <a:r>
              <a:rPr lang="zh-CN" altLang="en-US" sz="2400" b="0" dirty="0">
                <a:latin typeface="宋体" panose="02010600030101010101" pitchFamily="2" charset="-122"/>
                <a:ea typeface="宋体" panose="02010600030101010101" pitchFamily="2" charset="-122"/>
              </a:rPr>
              <a:t>指令改为</a:t>
            </a:r>
            <a:r>
              <a:rPr lang="en-US" altLang="zh-CN" sz="2400" b="0" dirty="0">
                <a:latin typeface="宋体" panose="02010600030101010101" pitchFamily="2" charset="-122"/>
                <a:ea typeface="宋体" panose="02010600030101010101" pitchFamily="2" charset="-122"/>
              </a:rPr>
              <a:t>LES</a:t>
            </a:r>
            <a:r>
              <a:rPr lang="zh-CN" altLang="en-US" sz="2400" b="0" dirty="0">
                <a:latin typeface="宋体" panose="02010600030101010101" pitchFamily="2" charset="-122"/>
                <a:ea typeface="宋体" panose="02010600030101010101" pitchFamily="2" charset="-122"/>
              </a:rPr>
              <a:t>指令，则指令执行后：</a:t>
            </a:r>
            <a:endParaRPr lang="en-US" altLang="zh-CN" sz="2400" b="0" dirty="0">
              <a:latin typeface="宋体" panose="02010600030101010101" pitchFamily="2" charset="-122"/>
              <a:ea typeface="宋体" panose="02010600030101010101" pitchFamily="2" charset="-122"/>
            </a:endParaRPr>
          </a:p>
          <a:p>
            <a:pPr>
              <a:lnSpc>
                <a:spcPct val="150000"/>
              </a:lnSpc>
              <a:buNone/>
            </a:pPr>
            <a:r>
              <a:rPr lang="zh-CN" altLang="en-US" sz="2400" b="0" dirty="0">
                <a:latin typeface="宋体" panose="02010600030101010101" pitchFamily="2" charset="-122"/>
                <a:ea typeface="宋体" panose="02010600030101010101" pitchFamily="2" charset="-122"/>
              </a:rPr>
              <a:t>  （</a:t>
            </a:r>
            <a:r>
              <a:rPr lang="en-US" altLang="zh-CN" sz="2400" b="0" dirty="0">
                <a:latin typeface="宋体" panose="02010600030101010101" pitchFamily="2" charset="-122"/>
                <a:ea typeface="宋体" panose="02010600030101010101" pitchFamily="2" charset="-122"/>
              </a:rPr>
              <a:t>SI</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=8011H</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ES</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=9000H</a:t>
            </a:r>
            <a:r>
              <a:rPr lang="zh-CN" altLang="en-US" sz="2400" b="0" dirty="0">
                <a:latin typeface="宋体" panose="02010600030101010101" pitchFamily="2" charset="-122"/>
                <a:ea typeface="宋体" panose="02010600030101010101" pitchFamily="2" charset="-122"/>
              </a:rPr>
              <a:t>，而</a:t>
            </a:r>
            <a:r>
              <a:rPr lang="en-US" altLang="zh-CN" sz="2400" b="0" dirty="0">
                <a:latin typeface="宋体" panose="02010600030101010101" pitchFamily="2" charset="-122"/>
                <a:ea typeface="宋体" panose="02010600030101010101" pitchFamily="2" charset="-122"/>
              </a:rPr>
              <a:t>DS</a:t>
            </a:r>
            <a:r>
              <a:rPr lang="zh-CN" altLang="en-US" sz="2400" b="0" dirty="0">
                <a:latin typeface="宋体" panose="02010600030101010101" pitchFamily="2" charset="-122"/>
                <a:ea typeface="宋体" panose="02010600030101010101" pitchFamily="2" charset="-122"/>
              </a:rPr>
              <a:t>内容没有改变</a:t>
            </a:r>
            <a:endParaRPr lang="zh-CN" altLang="en-US" sz="2400" b="0" dirty="0">
              <a:latin typeface="宋体" panose="02010600030101010101" pitchFamily="2" charset="-122"/>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3"/>
          <p:cNvSpPr>
            <a:spLocks noGrp="1"/>
          </p:cNvSpPr>
          <p:nvPr>
            <p:ph type="body" idx="4294967295"/>
          </p:nvPr>
        </p:nvSpPr>
        <p:spPr>
          <a:xfrm>
            <a:off x="2782888" y="2246313"/>
            <a:ext cx="2362200" cy="2819400"/>
          </a:xfrm>
        </p:spPr>
        <p:txBody>
          <a:bodyPr vert="horz" wrap="square" lIns="91440" tIns="45720" rIns="91440" bIns="45720" anchor="t" anchorCtr="0"/>
          <a:p>
            <a:pPr eaLnBrk="1" hangingPunct="1">
              <a:buNone/>
            </a:pPr>
            <a:r>
              <a:rPr lang="en-US" altLang="zh-CN" dirty="0">
                <a:ea typeface="宋体" panose="02010600030101010101" pitchFamily="2" charset="-122"/>
              </a:rPr>
              <a:t>LAHF</a:t>
            </a:r>
            <a:endParaRPr lang="en-US" altLang="zh-CN" dirty="0">
              <a:ea typeface="宋体" panose="02010600030101010101" pitchFamily="2" charset="-122"/>
            </a:endParaRPr>
          </a:p>
          <a:p>
            <a:pPr eaLnBrk="1" hangingPunct="1">
              <a:buNone/>
            </a:pPr>
            <a:r>
              <a:rPr lang="en-US" altLang="zh-CN" dirty="0">
                <a:ea typeface="宋体" panose="02010600030101010101" pitchFamily="2" charset="-122"/>
              </a:rPr>
              <a:t>SAHF</a:t>
            </a:r>
            <a:endParaRPr lang="en-US" altLang="zh-CN" dirty="0">
              <a:ea typeface="宋体" panose="02010600030101010101" pitchFamily="2" charset="-122"/>
            </a:endParaRPr>
          </a:p>
          <a:p>
            <a:pPr eaLnBrk="1" hangingPunct="1">
              <a:buNone/>
            </a:pPr>
            <a:endParaRPr lang="en-US" altLang="zh-CN" dirty="0">
              <a:ea typeface="宋体" panose="02010600030101010101" pitchFamily="2" charset="-122"/>
            </a:endParaRPr>
          </a:p>
          <a:p>
            <a:pPr eaLnBrk="1" hangingPunct="1">
              <a:buNone/>
            </a:pPr>
            <a:r>
              <a:rPr lang="en-US" altLang="zh-CN" dirty="0">
                <a:ea typeface="宋体" panose="02010600030101010101" pitchFamily="2" charset="-122"/>
              </a:rPr>
              <a:t>PUSHF</a:t>
            </a:r>
            <a:endParaRPr lang="en-US" altLang="zh-CN" dirty="0">
              <a:ea typeface="宋体" panose="02010600030101010101" pitchFamily="2" charset="-122"/>
            </a:endParaRPr>
          </a:p>
          <a:p>
            <a:pPr eaLnBrk="1" hangingPunct="1">
              <a:buNone/>
            </a:pPr>
            <a:r>
              <a:rPr lang="en-US" altLang="zh-CN" dirty="0">
                <a:ea typeface="宋体" panose="02010600030101010101" pitchFamily="2" charset="-122"/>
              </a:rPr>
              <a:t>POPF</a:t>
            </a:r>
            <a:endParaRPr lang="en-US" altLang="zh-CN" dirty="0">
              <a:ea typeface="宋体" panose="02010600030101010101" pitchFamily="2" charset="-122"/>
            </a:endParaRPr>
          </a:p>
        </p:txBody>
      </p:sp>
      <p:sp>
        <p:nvSpPr>
          <p:cNvPr id="48131" name="AutoShape 4"/>
          <p:cNvSpPr/>
          <p:nvPr/>
        </p:nvSpPr>
        <p:spPr>
          <a:xfrm>
            <a:off x="2339975" y="2492375"/>
            <a:ext cx="304800" cy="2376488"/>
          </a:xfrm>
          <a:prstGeom prst="leftBrace">
            <a:avLst>
              <a:gd name="adj1" fmla="val 64468"/>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48132" name="AutoShape 5"/>
          <p:cNvSpPr/>
          <p:nvPr/>
        </p:nvSpPr>
        <p:spPr>
          <a:xfrm>
            <a:off x="3983038" y="2382838"/>
            <a:ext cx="228600" cy="685800"/>
          </a:xfrm>
          <a:prstGeom prst="rightBrace">
            <a:avLst>
              <a:gd name="adj1" fmla="val 25000"/>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48133" name="AutoShape 6"/>
          <p:cNvSpPr/>
          <p:nvPr/>
        </p:nvSpPr>
        <p:spPr>
          <a:xfrm>
            <a:off x="4211638" y="4221163"/>
            <a:ext cx="228600" cy="685800"/>
          </a:xfrm>
          <a:prstGeom prst="rightBrace">
            <a:avLst>
              <a:gd name="adj1" fmla="val 25000"/>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48134" name="Text Box 7"/>
          <p:cNvSpPr txBox="1"/>
          <p:nvPr/>
        </p:nvSpPr>
        <p:spPr>
          <a:xfrm>
            <a:off x="4211638" y="2492375"/>
            <a:ext cx="2209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隐含操作数</a:t>
            </a:r>
            <a:r>
              <a:rPr lang="en-US" altLang="zh-CN" sz="2400" b="1" dirty="0">
                <a:latin typeface="Times New Roman" panose="02020603050405020304" pitchFamily="18" charset="0"/>
                <a:ea typeface="宋体" panose="02010600030101010101" pitchFamily="2" charset="-122"/>
              </a:rPr>
              <a:t>AH</a:t>
            </a:r>
            <a:endParaRPr lang="en-US" altLang="zh-CN" sz="2400" b="1" dirty="0">
              <a:latin typeface="Times New Roman" panose="02020603050405020304" pitchFamily="18" charset="0"/>
              <a:ea typeface="宋体" panose="02010600030101010101" pitchFamily="2" charset="-122"/>
            </a:endParaRPr>
          </a:p>
        </p:txBody>
      </p:sp>
      <p:sp>
        <p:nvSpPr>
          <p:cNvPr id="48135" name="Text Box 8"/>
          <p:cNvSpPr txBox="1"/>
          <p:nvPr/>
        </p:nvSpPr>
        <p:spPr>
          <a:xfrm>
            <a:off x="4500563" y="4292600"/>
            <a:ext cx="2971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隐含操作数</a:t>
            </a:r>
            <a:r>
              <a:rPr lang="en-US" altLang="zh-CN" sz="2400" b="1" dirty="0">
                <a:latin typeface="Times New Roman" panose="02020603050405020304" pitchFamily="18" charset="0"/>
                <a:ea typeface="宋体" panose="02010600030101010101" pitchFamily="2" charset="-122"/>
              </a:rPr>
              <a:t>FLAGS</a:t>
            </a:r>
            <a:endParaRPr lang="en-US" altLang="zh-CN" sz="2400" b="1" dirty="0">
              <a:latin typeface="Times New Roman" panose="02020603050405020304" pitchFamily="18" charset="0"/>
              <a:ea typeface="宋体" panose="02010600030101010101" pitchFamily="2" charset="-122"/>
            </a:endParaRPr>
          </a:p>
        </p:txBody>
      </p:sp>
      <p:sp>
        <p:nvSpPr>
          <p:cNvPr id="47112" name="Rectangle 2"/>
          <p:cNvSpPr>
            <a:spLocks noGrp="1"/>
          </p:cNvSpPr>
          <p:nvPr/>
        </p:nvSpPr>
        <p:spPr>
          <a:xfrm>
            <a:off x="1908175" y="188913"/>
            <a:ext cx="6553200"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3.4.1.4 </a:t>
            </a:r>
            <a:r>
              <a:rPr lang="zh-CN" altLang="en-US" sz="3600" b="1" dirty="0">
                <a:solidFill>
                  <a:schemeClr val="bg1"/>
                </a:solidFill>
                <a:latin typeface="宋体" panose="02010600030101010101" pitchFamily="2" charset="-122"/>
                <a:ea typeface="宋体" panose="02010600030101010101" pitchFamily="2" charset="-122"/>
              </a:rPr>
              <a:t>标志位操作指令</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8130">
                                            <p:txEl>
                                              <p:charRg st="0" end="5"/>
                                            </p:txEl>
                                          </p:spTgt>
                                        </p:tgtEl>
                                        <p:attrNameLst>
                                          <p:attrName>style.visibility</p:attrName>
                                        </p:attrNameLst>
                                      </p:cBhvr>
                                      <p:to>
                                        <p:strVal val="visible"/>
                                      </p:to>
                                    </p:set>
                                    <p:animEffect transition="in" filter="wipe(left)">
                                      <p:cBhvr>
                                        <p:cTn id="7" dur="500"/>
                                        <p:tgtEl>
                                          <p:spTgt spid="48130">
                                            <p:txEl>
                                              <p:charRg st="0" end="5"/>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48130">
                                            <p:txEl>
                                              <p:charRg st="5" end="10"/>
                                            </p:txEl>
                                          </p:spTgt>
                                        </p:tgtEl>
                                        <p:attrNameLst>
                                          <p:attrName>style.visibility</p:attrName>
                                        </p:attrNameLst>
                                      </p:cBhvr>
                                      <p:to>
                                        <p:strVal val="visible"/>
                                      </p:to>
                                    </p:set>
                                    <p:animEffect transition="in" filter="wipe(left)">
                                      <p:cBhvr>
                                        <p:cTn id="10" dur="500"/>
                                        <p:tgtEl>
                                          <p:spTgt spid="48130">
                                            <p:txEl>
                                              <p:charRg st="5" end="1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8130">
                                            <p:txEl>
                                              <p:charRg st="11" end="17"/>
                                            </p:txEl>
                                          </p:spTgt>
                                        </p:tgtEl>
                                        <p:attrNameLst>
                                          <p:attrName>style.visibility</p:attrName>
                                        </p:attrNameLst>
                                      </p:cBhvr>
                                      <p:to>
                                        <p:strVal val="visible"/>
                                      </p:to>
                                    </p:set>
                                    <p:animEffect transition="in" filter="wipe(left)">
                                      <p:cBhvr>
                                        <p:cTn id="15" dur="500"/>
                                        <p:tgtEl>
                                          <p:spTgt spid="48130">
                                            <p:txEl>
                                              <p:charRg st="11" end="17"/>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48130">
                                            <p:txEl>
                                              <p:charRg st="17" end="22"/>
                                            </p:txEl>
                                          </p:spTgt>
                                        </p:tgtEl>
                                        <p:attrNameLst>
                                          <p:attrName>style.visibility</p:attrName>
                                        </p:attrNameLst>
                                      </p:cBhvr>
                                      <p:to>
                                        <p:strVal val="visible"/>
                                      </p:to>
                                    </p:set>
                                    <p:animEffect transition="in" filter="wipe(left)">
                                      <p:cBhvr>
                                        <p:cTn id="18" dur="500"/>
                                        <p:tgtEl>
                                          <p:spTgt spid="48130">
                                            <p:txEl>
                                              <p:charRg st="17" end="22"/>
                                            </p:txEl>
                                          </p:spTgt>
                                        </p:tgtEl>
                                      </p:cBhvr>
                                    </p:animEffect>
                                  </p:childTnLst>
                                </p:cTn>
                              </p:par>
                            </p:childTnLst>
                          </p:cTn>
                        </p:par>
                        <p:par>
                          <p:cTn id="19" fill="hold">
                            <p:stCondLst>
                              <p:cond delay="500"/>
                            </p:stCondLst>
                            <p:childTnLst>
                              <p:par>
                                <p:cTn id="20" presetID="18" presetClass="entr" presetSubtype="12" fill="hold" grpId="0" nodeType="afterEffect">
                                  <p:stCondLst>
                                    <p:cond delay="0"/>
                                  </p:stCondLst>
                                  <p:childTnLst>
                                    <p:set>
                                      <p:cBhvr>
                                        <p:cTn id="21" dur="1" fill="hold">
                                          <p:stCondLst>
                                            <p:cond delay="0"/>
                                          </p:stCondLst>
                                        </p:cTn>
                                        <p:tgtEl>
                                          <p:spTgt spid="48131"/>
                                        </p:tgtEl>
                                        <p:attrNameLst>
                                          <p:attrName>style.visibility</p:attrName>
                                        </p:attrNameLst>
                                      </p:cBhvr>
                                      <p:to>
                                        <p:strVal val="visible"/>
                                      </p:to>
                                    </p:set>
                                    <p:animEffect transition="in" filter="strips(downLeft)">
                                      <p:cBhvr>
                                        <p:cTn id="22" dur="500"/>
                                        <p:tgtEl>
                                          <p:spTgt spid="48131"/>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48132"/>
                                        </p:tgtEl>
                                        <p:attrNameLst>
                                          <p:attrName>style.visibility</p:attrName>
                                        </p:attrNameLst>
                                      </p:cBhvr>
                                      <p:to>
                                        <p:strVal val="visible"/>
                                      </p:to>
                                    </p:set>
                                    <p:animEffect transition="in" filter="strips(downLeft)">
                                      <p:cBhvr>
                                        <p:cTn id="27" dur="500"/>
                                        <p:tgtEl>
                                          <p:spTgt spid="48132"/>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48134"/>
                                        </p:tgtEl>
                                        <p:attrNameLst>
                                          <p:attrName>style.visibility</p:attrName>
                                        </p:attrNameLst>
                                      </p:cBhvr>
                                      <p:to>
                                        <p:strVal val="visible"/>
                                      </p:to>
                                    </p:set>
                                    <p:animEffect transition="in" filter="wipe(left)">
                                      <p:cBhvr>
                                        <p:cTn id="31" dur="500"/>
                                        <p:tgtEl>
                                          <p:spTgt spid="48134"/>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12" fill="hold" grpId="0" nodeType="clickEffect">
                                  <p:stCondLst>
                                    <p:cond delay="0"/>
                                  </p:stCondLst>
                                  <p:childTnLst>
                                    <p:set>
                                      <p:cBhvr>
                                        <p:cTn id="35" dur="1" fill="hold">
                                          <p:stCondLst>
                                            <p:cond delay="0"/>
                                          </p:stCondLst>
                                        </p:cTn>
                                        <p:tgtEl>
                                          <p:spTgt spid="48133"/>
                                        </p:tgtEl>
                                        <p:attrNameLst>
                                          <p:attrName>style.visibility</p:attrName>
                                        </p:attrNameLst>
                                      </p:cBhvr>
                                      <p:to>
                                        <p:strVal val="visible"/>
                                      </p:to>
                                    </p:set>
                                    <p:animEffect transition="in" filter="strips(downLeft)">
                                      <p:cBhvr>
                                        <p:cTn id="36" dur="500"/>
                                        <p:tgtEl>
                                          <p:spTgt spid="48133"/>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48135"/>
                                        </p:tgtEl>
                                        <p:attrNameLst>
                                          <p:attrName>style.visibility</p:attrName>
                                        </p:attrNameLst>
                                      </p:cBhvr>
                                      <p:to>
                                        <p:strVal val="visible"/>
                                      </p:to>
                                    </p:set>
                                    <p:animEffect transition="in" filter="wipe(left)">
                                      <p:cBhvr>
                                        <p:cTn id="40" dur="500"/>
                                        <p:tgtEl>
                                          <p:spTgt spid="48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animBg="1"/>
      <p:bldP spid="48132" grpId="0" animBg="1"/>
      <p:bldP spid="48133" grpId="0" animBg="1"/>
      <p:bldP spid="48134" grpId="0"/>
      <p:bldP spid="4813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title" idx="4294967295"/>
          </p:nvPr>
        </p:nvSpPr>
        <p:spPr>
          <a:xfrm>
            <a:off x="681038" y="965200"/>
            <a:ext cx="6553200" cy="563563"/>
          </a:xfrm>
        </p:spPr>
        <p:txBody>
          <a:bodyPr vert="horz" wrap="square" lIns="91440" tIns="45720" rIns="91440" bIns="45720" anchor="ctr" anchorCtr="0"/>
          <a:p>
            <a:pPr eaLnBrk="1" hangingPunct="1"/>
            <a:r>
              <a:rPr lang="zh-CN" altLang="en-US" dirty="0">
                <a:solidFill>
                  <a:srgbClr val="002060"/>
                </a:solidFill>
                <a:latin typeface="宋体" panose="02010600030101010101" pitchFamily="2" charset="-122"/>
                <a:ea typeface="宋体" panose="02010600030101010101" pitchFamily="2" charset="-122"/>
              </a:rPr>
              <a:t>（</a:t>
            </a:r>
            <a:r>
              <a:rPr lang="en-US" altLang="zh-CN" dirty="0">
                <a:solidFill>
                  <a:srgbClr val="002060"/>
                </a:solidFill>
                <a:latin typeface="宋体" panose="02010600030101010101" pitchFamily="2" charset="-122"/>
                <a:ea typeface="宋体" panose="02010600030101010101" pitchFamily="2" charset="-122"/>
              </a:rPr>
              <a:t>1</a:t>
            </a:r>
            <a:r>
              <a:rPr lang="zh-CN" altLang="en-US" dirty="0">
                <a:solidFill>
                  <a:srgbClr val="002060"/>
                </a:solidFill>
                <a:latin typeface="宋体" panose="02010600030101010101" pitchFamily="2" charset="-122"/>
                <a:ea typeface="宋体" panose="02010600030101010101" pitchFamily="2" charset="-122"/>
              </a:rPr>
              <a:t>）</a:t>
            </a:r>
            <a:r>
              <a:rPr lang="en-US" altLang="zh-CN" dirty="0">
                <a:solidFill>
                  <a:srgbClr val="002060"/>
                </a:solidFill>
                <a:latin typeface="宋体" panose="02010600030101010101" pitchFamily="2" charset="-122"/>
                <a:ea typeface="宋体" panose="02010600030101010101" pitchFamily="2" charset="-122"/>
              </a:rPr>
              <a:t>LAHF，SAHF</a:t>
            </a:r>
            <a:endParaRPr lang="en-US" altLang="zh-CN" dirty="0">
              <a:solidFill>
                <a:srgbClr val="002060"/>
              </a:solidFill>
              <a:latin typeface="宋体" panose="02010600030101010101" pitchFamily="2" charset="-122"/>
              <a:ea typeface="宋体" panose="02010600030101010101" pitchFamily="2" charset="-122"/>
            </a:endParaRPr>
          </a:p>
        </p:txBody>
      </p:sp>
      <p:sp>
        <p:nvSpPr>
          <p:cNvPr id="49155" name="Rectangle 3"/>
          <p:cNvSpPr>
            <a:spLocks noGrp="1"/>
          </p:cNvSpPr>
          <p:nvPr>
            <p:ph type="body" idx="4294967295"/>
          </p:nvPr>
        </p:nvSpPr>
        <p:spPr>
          <a:xfrm>
            <a:off x="941388" y="1957388"/>
            <a:ext cx="7772400" cy="1871662"/>
          </a:xfrm>
        </p:spPr>
        <p:txBody>
          <a:bodyPr vert="horz" wrap="square" lIns="91440" tIns="45720" rIns="91440" bIns="45720" anchor="t" anchorCtr="0"/>
          <a:p>
            <a:pPr eaLnBrk="1" hangingPunct="1">
              <a:buFont typeface="Wingdings" panose="05000000000000000000" pitchFamily="2" charset="2"/>
              <a:buChar char="Ø"/>
            </a:pPr>
            <a:r>
              <a:rPr lang="en-US" altLang="zh-CN" dirty="0">
                <a:ea typeface="宋体" panose="02010600030101010101" pitchFamily="2" charset="-122"/>
              </a:rPr>
              <a:t>LAHF          </a:t>
            </a:r>
            <a:endParaRPr lang="en-US" altLang="zh-CN" dirty="0">
              <a:ea typeface="宋体" panose="02010600030101010101" pitchFamily="2" charset="-122"/>
            </a:endParaRPr>
          </a:p>
          <a:p>
            <a:pPr eaLnBrk="1" hangingPunct="1">
              <a:buNone/>
            </a:pPr>
            <a:r>
              <a:rPr lang="zh-CN" altLang="en-US" dirty="0">
                <a:ea typeface="宋体" panose="02010600030101010101" pitchFamily="2" charset="-122"/>
              </a:rPr>
              <a:t>   操作：</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将</a:t>
            </a:r>
            <a:r>
              <a:rPr lang="en-US" altLang="zh-CN" dirty="0">
                <a:ea typeface="宋体" panose="02010600030101010101" pitchFamily="2" charset="-122"/>
              </a:rPr>
              <a:t>FLAGS</a:t>
            </a:r>
            <a:r>
              <a:rPr lang="zh-CN" altLang="en-US" dirty="0">
                <a:ea typeface="宋体" panose="02010600030101010101" pitchFamily="2" charset="-122"/>
              </a:rPr>
              <a:t>的低8位的</a:t>
            </a:r>
            <a:r>
              <a:rPr lang="en-US" altLang="zh-CN" dirty="0">
                <a:ea typeface="宋体" panose="02010600030101010101" pitchFamily="2" charset="-122"/>
              </a:rPr>
              <a:t>SF</a:t>
            </a:r>
            <a:r>
              <a:rPr lang="zh-CN" altLang="en-US" dirty="0">
                <a:ea typeface="宋体" panose="02010600030101010101" pitchFamily="2" charset="-122"/>
              </a:rPr>
              <a:t>，</a:t>
            </a:r>
            <a:r>
              <a:rPr lang="en-US" altLang="zh-CN" dirty="0">
                <a:ea typeface="宋体" panose="02010600030101010101" pitchFamily="2" charset="-122"/>
              </a:rPr>
              <a:t>ZF</a:t>
            </a:r>
            <a:r>
              <a:rPr lang="zh-CN" altLang="en-US" dirty="0">
                <a:ea typeface="宋体" panose="02010600030101010101" pitchFamily="2" charset="-122"/>
              </a:rPr>
              <a:t>，</a:t>
            </a:r>
            <a:r>
              <a:rPr lang="en-US" altLang="zh-CN" dirty="0">
                <a:ea typeface="宋体" panose="02010600030101010101" pitchFamily="2" charset="-122"/>
              </a:rPr>
              <a:t>AF</a:t>
            </a:r>
            <a:r>
              <a:rPr lang="zh-CN" altLang="en-US" dirty="0">
                <a:ea typeface="宋体" panose="02010600030101010101" pitchFamily="2" charset="-122"/>
              </a:rPr>
              <a:t>，</a:t>
            </a:r>
            <a:r>
              <a:rPr lang="en-US" altLang="zh-CN" dirty="0">
                <a:ea typeface="宋体" panose="02010600030101010101" pitchFamily="2" charset="-122"/>
              </a:rPr>
              <a:t>PF</a:t>
            </a:r>
            <a:r>
              <a:rPr lang="zh-CN" altLang="en-US" dirty="0">
                <a:ea typeface="宋体" panose="02010600030101010101" pitchFamily="2" charset="-122"/>
              </a:rPr>
              <a:t>，和</a:t>
            </a:r>
            <a:r>
              <a:rPr lang="en-US" altLang="zh-CN" dirty="0">
                <a:ea typeface="宋体" panose="02010600030101010101" pitchFamily="2" charset="-122"/>
              </a:rPr>
              <a:t>CF</a:t>
            </a:r>
            <a:r>
              <a:rPr lang="zh-CN" altLang="en-US" dirty="0">
                <a:ea typeface="宋体" panose="02010600030101010101" pitchFamily="2" charset="-122"/>
              </a:rPr>
              <a:t>装入</a:t>
            </a:r>
            <a:r>
              <a:rPr lang="en-US" altLang="zh-CN" dirty="0">
                <a:ea typeface="宋体" panose="02010600030101010101" pitchFamily="2" charset="-122"/>
              </a:rPr>
              <a:t>AH</a:t>
            </a:r>
            <a:r>
              <a:rPr lang="zh-CN" altLang="en-US" dirty="0">
                <a:ea typeface="宋体" panose="02010600030101010101" pitchFamily="2" charset="-122"/>
              </a:rPr>
              <a:t>对应位置，</a:t>
            </a:r>
            <a:r>
              <a:rPr lang="en-US" altLang="zh-CN" dirty="0">
                <a:ea typeface="宋体" panose="02010600030101010101" pitchFamily="2" charset="-122"/>
              </a:rPr>
              <a:t>8</a:t>
            </a:r>
            <a:r>
              <a:rPr lang="zh-CN" altLang="en-US" dirty="0">
                <a:ea typeface="宋体" panose="02010600030101010101" pitchFamily="2" charset="-122"/>
              </a:rPr>
              <a:t>位中其余</a:t>
            </a:r>
            <a:r>
              <a:rPr lang="en-US" altLang="zh-CN" dirty="0">
                <a:ea typeface="宋体" panose="02010600030101010101" pitchFamily="2" charset="-122"/>
              </a:rPr>
              <a:t>3</a:t>
            </a:r>
            <a:r>
              <a:rPr lang="zh-CN" altLang="en-US" dirty="0">
                <a:ea typeface="宋体" panose="02010600030101010101" pitchFamily="2" charset="-122"/>
              </a:rPr>
              <a:t>位为无效位</a:t>
            </a:r>
            <a:endParaRPr lang="zh-CN" altLang="en-US" dirty="0">
              <a:ea typeface="宋体" panose="02010600030101010101" pitchFamily="2" charset="-122"/>
            </a:endParaRPr>
          </a:p>
        </p:txBody>
      </p:sp>
      <p:sp>
        <p:nvSpPr>
          <p:cNvPr id="49156" name="Rectangle 4"/>
          <p:cNvSpPr/>
          <p:nvPr/>
        </p:nvSpPr>
        <p:spPr>
          <a:xfrm>
            <a:off x="1847850" y="4910138"/>
            <a:ext cx="6469063" cy="3810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49157" name="Line 5"/>
          <p:cNvSpPr/>
          <p:nvPr/>
        </p:nvSpPr>
        <p:spPr>
          <a:xfrm>
            <a:off x="7791450" y="4910138"/>
            <a:ext cx="0" cy="381000"/>
          </a:xfrm>
          <a:prstGeom prst="line">
            <a:avLst/>
          </a:prstGeom>
          <a:ln w="25400" cap="sq" cmpd="sng">
            <a:solidFill>
              <a:schemeClr val="accent1"/>
            </a:solidFill>
            <a:prstDash val="solid"/>
            <a:headEnd type="none" w="med" len="med"/>
            <a:tailEnd type="none" w="med" len="med"/>
          </a:ln>
        </p:spPr>
      </p:sp>
      <p:sp>
        <p:nvSpPr>
          <p:cNvPr id="49158" name="Line 6"/>
          <p:cNvSpPr/>
          <p:nvPr/>
        </p:nvSpPr>
        <p:spPr>
          <a:xfrm>
            <a:off x="4133850" y="4910138"/>
            <a:ext cx="0" cy="381000"/>
          </a:xfrm>
          <a:prstGeom prst="line">
            <a:avLst/>
          </a:prstGeom>
          <a:ln w="25400" cap="sq" cmpd="sng">
            <a:solidFill>
              <a:schemeClr val="accent1"/>
            </a:solidFill>
            <a:prstDash val="solid"/>
            <a:headEnd type="none" w="med" len="med"/>
            <a:tailEnd type="none" w="med" len="med"/>
          </a:ln>
        </p:spPr>
      </p:sp>
      <p:sp>
        <p:nvSpPr>
          <p:cNvPr id="49159" name="Line 7"/>
          <p:cNvSpPr/>
          <p:nvPr/>
        </p:nvSpPr>
        <p:spPr>
          <a:xfrm>
            <a:off x="7258050" y="4910138"/>
            <a:ext cx="0" cy="381000"/>
          </a:xfrm>
          <a:prstGeom prst="line">
            <a:avLst/>
          </a:prstGeom>
          <a:ln w="25400" cap="sq" cmpd="sng">
            <a:solidFill>
              <a:schemeClr val="accent1"/>
            </a:solidFill>
            <a:prstDash val="solid"/>
            <a:headEnd type="none" w="med" len="med"/>
            <a:tailEnd type="none" w="med" len="med"/>
          </a:ln>
        </p:spPr>
      </p:sp>
      <p:sp>
        <p:nvSpPr>
          <p:cNvPr id="49160" name="Line 8"/>
          <p:cNvSpPr/>
          <p:nvPr/>
        </p:nvSpPr>
        <p:spPr>
          <a:xfrm>
            <a:off x="6800850" y="4910138"/>
            <a:ext cx="0" cy="381000"/>
          </a:xfrm>
          <a:prstGeom prst="line">
            <a:avLst/>
          </a:prstGeom>
          <a:ln w="25400" cap="sq" cmpd="sng">
            <a:solidFill>
              <a:schemeClr val="accent1"/>
            </a:solidFill>
            <a:prstDash val="solid"/>
            <a:headEnd type="none" w="med" len="med"/>
            <a:tailEnd type="none" w="med" len="med"/>
          </a:ln>
        </p:spPr>
      </p:sp>
      <p:sp>
        <p:nvSpPr>
          <p:cNvPr id="49161" name="Line 9"/>
          <p:cNvSpPr/>
          <p:nvPr/>
        </p:nvSpPr>
        <p:spPr>
          <a:xfrm>
            <a:off x="6267450" y="4910138"/>
            <a:ext cx="0" cy="381000"/>
          </a:xfrm>
          <a:prstGeom prst="line">
            <a:avLst/>
          </a:prstGeom>
          <a:ln w="25400" cap="sq" cmpd="sng">
            <a:solidFill>
              <a:schemeClr val="accent1"/>
            </a:solidFill>
            <a:prstDash val="solid"/>
            <a:headEnd type="none" w="med" len="med"/>
            <a:tailEnd type="none" w="med" len="med"/>
          </a:ln>
        </p:spPr>
      </p:sp>
      <p:sp>
        <p:nvSpPr>
          <p:cNvPr id="49162" name="Line 10"/>
          <p:cNvSpPr/>
          <p:nvPr/>
        </p:nvSpPr>
        <p:spPr>
          <a:xfrm>
            <a:off x="4667250" y="4910138"/>
            <a:ext cx="0" cy="381000"/>
          </a:xfrm>
          <a:prstGeom prst="line">
            <a:avLst/>
          </a:prstGeom>
          <a:ln w="25400" cap="sq" cmpd="sng">
            <a:solidFill>
              <a:schemeClr val="accent1"/>
            </a:solidFill>
            <a:prstDash val="solid"/>
            <a:headEnd type="none" w="med" len="med"/>
            <a:tailEnd type="none" w="med" len="med"/>
          </a:ln>
        </p:spPr>
      </p:sp>
      <p:sp>
        <p:nvSpPr>
          <p:cNvPr id="49163" name="Line 11"/>
          <p:cNvSpPr/>
          <p:nvPr/>
        </p:nvSpPr>
        <p:spPr>
          <a:xfrm>
            <a:off x="5734050" y="4910138"/>
            <a:ext cx="0" cy="381000"/>
          </a:xfrm>
          <a:prstGeom prst="line">
            <a:avLst/>
          </a:prstGeom>
          <a:ln w="25400" cap="sq" cmpd="sng">
            <a:solidFill>
              <a:schemeClr val="accent1"/>
            </a:solidFill>
            <a:prstDash val="solid"/>
            <a:headEnd type="none" w="med" len="med"/>
            <a:tailEnd type="none" w="med" len="med"/>
          </a:ln>
        </p:spPr>
      </p:sp>
      <p:sp>
        <p:nvSpPr>
          <p:cNvPr id="49164" name="Line 12"/>
          <p:cNvSpPr/>
          <p:nvPr/>
        </p:nvSpPr>
        <p:spPr>
          <a:xfrm>
            <a:off x="5200650" y="4910138"/>
            <a:ext cx="0" cy="381000"/>
          </a:xfrm>
          <a:prstGeom prst="line">
            <a:avLst/>
          </a:prstGeom>
          <a:ln w="25400" cap="sq" cmpd="sng">
            <a:solidFill>
              <a:schemeClr val="accent1"/>
            </a:solidFill>
            <a:prstDash val="solid"/>
            <a:headEnd type="none" w="med" len="med"/>
            <a:tailEnd type="none" w="med" len="med"/>
          </a:ln>
        </p:spPr>
      </p:sp>
      <p:sp>
        <p:nvSpPr>
          <p:cNvPr id="49165" name="Text Box 13"/>
          <p:cNvSpPr txBox="1"/>
          <p:nvPr/>
        </p:nvSpPr>
        <p:spPr>
          <a:xfrm>
            <a:off x="4133850" y="4872038"/>
            <a:ext cx="685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SF</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49166" name="Text Box 14"/>
          <p:cNvSpPr txBox="1"/>
          <p:nvPr/>
        </p:nvSpPr>
        <p:spPr>
          <a:xfrm>
            <a:off x="6775450" y="4872038"/>
            <a:ext cx="533400" cy="82232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PF</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49167" name="Text Box 15"/>
          <p:cNvSpPr txBox="1"/>
          <p:nvPr/>
        </p:nvSpPr>
        <p:spPr>
          <a:xfrm>
            <a:off x="5708650" y="4846638"/>
            <a:ext cx="609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AF</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49168" name="Text Box 16"/>
          <p:cNvSpPr txBox="1"/>
          <p:nvPr/>
        </p:nvSpPr>
        <p:spPr>
          <a:xfrm>
            <a:off x="4667250" y="4872038"/>
            <a:ext cx="685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ZF</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49169" name="Text Box 17"/>
          <p:cNvSpPr txBox="1"/>
          <p:nvPr/>
        </p:nvSpPr>
        <p:spPr>
          <a:xfrm>
            <a:off x="7778750" y="4872038"/>
            <a:ext cx="609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CF</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49170" name="Rectangle 18"/>
          <p:cNvSpPr/>
          <p:nvPr/>
        </p:nvSpPr>
        <p:spPr>
          <a:xfrm>
            <a:off x="4133850" y="4071938"/>
            <a:ext cx="4114800" cy="3810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49171" name="Line 19"/>
          <p:cNvSpPr/>
          <p:nvPr/>
        </p:nvSpPr>
        <p:spPr>
          <a:xfrm>
            <a:off x="5200650" y="4071938"/>
            <a:ext cx="0" cy="381000"/>
          </a:xfrm>
          <a:prstGeom prst="line">
            <a:avLst/>
          </a:prstGeom>
          <a:ln w="25400" cap="sq" cmpd="sng">
            <a:solidFill>
              <a:schemeClr val="accent1"/>
            </a:solidFill>
            <a:prstDash val="solid"/>
            <a:headEnd type="none" w="med" len="med"/>
            <a:tailEnd type="none" w="med" len="med"/>
          </a:ln>
        </p:spPr>
      </p:sp>
      <p:sp>
        <p:nvSpPr>
          <p:cNvPr id="49172" name="Line 20"/>
          <p:cNvSpPr/>
          <p:nvPr/>
        </p:nvSpPr>
        <p:spPr>
          <a:xfrm>
            <a:off x="4667250" y="4071938"/>
            <a:ext cx="0" cy="381000"/>
          </a:xfrm>
          <a:prstGeom prst="line">
            <a:avLst/>
          </a:prstGeom>
          <a:ln w="25400" cap="sq" cmpd="sng">
            <a:solidFill>
              <a:schemeClr val="accent1"/>
            </a:solidFill>
            <a:prstDash val="solid"/>
            <a:headEnd type="none" w="med" len="med"/>
            <a:tailEnd type="none" w="med" len="med"/>
          </a:ln>
        </p:spPr>
      </p:sp>
      <p:sp>
        <p:nvSpPr>
          <p:cNvPr id="49173" name="Line 21"/>
          <p:cNvSpPr/>
          <p:nvPr/>
        </p:nvSpPr>
        <p:spPr>
          <a:xfrm>
            <a:off x="5734050" y="4071938"/>
            <a:ext cx="0" cy="381000"/>
          </a:xfrm>
          <a:prstGeom prst="line">
            <a:avLst/>
          </a:prstGeom>
          <a:ln w="25400" cap="sq" cmpd="sng">
            <a:solidFill>
              <a:schemeClr val="accent1"/>
            </a:solidFill>
            <a:prstDash val="solid"/>
            <a:headEnd type="none" w="med" len="med"/>
            <a:tailEnd type="none" w="med" len="med"/>
          </a:ln>
        </p:spPr>
      </p:sp>
      <p:sp>
        <p:nvSpPr>
          <p:cNvPr id="49174" name="Line 22"/>
          <p:cNvSpPr/>
          <p:nvPr/>
        </p:nvSpPr>
        <p:spPr>
          <a:xfrm>
            <a:off x="6267450" y="4071938"/>
            <a:ext cx="0" cy="381000"/>
          </a:xfrm>
          <a:prstGeom prst="line">
            <a:avLst/>
          </a:prstGeom>
          <a:ln w="25400" cap="sq" cmpd="sng">
            <a:solidFill>
              <a:schemeClr val="accent1"/>
            </a:solidFill>
            <a:prstDash val="solid"/>
            <a:headEnd type="none" w="med" len="med"/>
            <a:tailEnd type="none" w="med" len="med"/>
          </a:ln>
        </p:spPr>
      </p:sp>
      <p:sp>
        <p:nvSpPr>
          <p:cNvPr id="49175" name="Line 23"/>
          <p:cNvSpPr/>
          <p:nvPr/>
        </p:nvSpPr>
        <p:spPr>
          <a:xfrm>
            <a:off x="6800850" y="4071938"/>
            <a:ext cx="0" cy="381000"/>
          </a:xfrm>
          <a:prstGeom prst="line">
            <a:avLst/>
          </a:prstGeom>
          <a:ln w="25400" cap="sq" cmpd="sng">
            <a:solidFill>
              <a:schemeClr val="accent1"/>
            </a:solidFill>
            <a:prstDash val="solid"/>
            <a:headEnd type="none" w="med" len="med"/>
            <a:tailEnd type="none" w="med" len="med"/>
          </a:ln>
        </p:spPr>
      </p:sp>
      <p:sp>
        <p:nvSpPr>
          <p:cNvPr id="49176" name="Line 24"/>
          <p:cNvSpPr/>
          <p:nvPr/>
        </p:nvSpPr>
        <p:spPr>
          <a:xfrm>
            <a:off x="7258050" y="4071938"/>
            <a:ext cx="0" cy="381000"/>
          </a:xfrm>
          <a:prstGeom prst="line">
            <a:avLst/>
          </a:prstGeom>
          <a:ln w="25400" cap="sq" cmpd="sng">
            <a:solidFill>
              <a:schemeClr val="accent1"/>
            </a:solidFill>
            <a:prstDash val="solid"/>
            <a:headEnd type="none" w="med" len="med"/>
            <a:tailEnd type="none" w="med" len="med"/>
          </a:ln>
        </p:spPr>
      </p:sp>
      <p:sp>
        <p:nvSpPr>
          <p:cNvPr id="49177" name="Line 25"/>
          <p:cNvSpPr/>
          <p:nvPr/>
        </p:nvSpPr>
        <p:spPr>
          <a:xfrm>
            <a:off x="7791450" y="4071938"/>
            <a:ext cx="0" cy="381000"/>
          </a:xfrm>
          <a:prstGeom prst="line">
            <a:avLst/>
          </a:prstGeom>
          <a:ln w="25400" cap="sq" cmpd="sng">
            <a:solidFill>
              <a:schemeClr val="accent1"/>
            </a:solidFill>
            <a:prstDash val="solid"/>
            <a:headEnd type="none" w="med" len="med"/>
            <a:tailEnd type="none" w="med" len="med"/>
          </a:ln>
        </p:spPr>
      </p:sp>
      <p:sp>
        <p:nvSpPr>
          <p:cNvPr id="49178" name="Line 26"/>
          <p:cNvSpPr/>
          <p:nvPr/>
        </p:nvSpPr>
        <p:spPr>
          <a:xfrm flipV="1">
            <a:off x="4413250" y="4452938"/>
            <a:ext cx="0" cy="457200"/>
          </a:xfrm>
          <a:prstGeom prst="line">
            <a:avLst/>
          </a:prstGeom>
          <a:ln w="25400" cap="sq" cmpd="sng">
            <a:solidFill>
              <a:srgbClr val="FF6600"/>
            </a:solidFill>
            <a:prstDash val="solid"/>
            <a:headEnd type="none" w="med" len="med"/>
            <a:tailEnd type="triangle" w="lg" len="lg"/>
          </a:ln>
        </p:spPr>
      </p:sp>
      <p:sp>
        <p:nvSpPr>
          <p:cNvPr id="49179" name="Line 30"/>
          <p:cNvSpPr/>
          <p:nvPr/>
        </p:nvSpPr>
        <p:spPr>
          <a:xfrm flipV="1">
            <a:off x="8020050" y="4452938"/>
            <a:ext cx="0" cy="457200"/>
          </a:xfrm>
          <a:prstGeom prst="line">
            <a:avLst/>
          </a:prstGeom>
          <a:ln w="25400" cap="sq" cmpd="sng">
            <a:solidFill>
              <a:srgbClr val="FF6600"/>
            </a:solidFill>
            <a:prstDash val="solid"/>
            <a:headEnd type="none" w="med" len="med"/>
            <a:tailEnd type="triangle" w="lg" len="lg"/>
          </a:ln>
        </p:spPr>
      </p:sp>
      <p:sp>
        <p:nvSpPr>
          <p:cNvPr id="49180" name="Text Box 31"/>
          <p:cNvSpPr txBox="1"/>
          <p:nvPr/>
        </p:nvSpPr>
        <p:spPr>
          <a:xfrm>
            <a:off x="5734050" y="4376738"/>
            <a:ext cx="685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p:txBody>
      </p:sp>
      <p:sp>
        <p:nvSpPr>
          <p:cNvPr id="49181" name="Text Box 32"/>
          <p:cNvSpPr txBox="1"/>
          <p:nvPr/>
        </p:nvSpPr>
        <p:spPr>
          <a:xfrm>
            <a:off x="3454400" y="4027488"/>
            <a:ext cx="685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AH</a:t>
            </a:r>
            <a:endParaRPr lang="en-US" altLang="zh-CN" sz="2400" b="1" dirty="0">
              <a:latin typeface="Times New Roman" panose="02020603050405020304" pitchFamily="18" charset="0"/>
              <a:ea typeface="宋体" panose="02010600030101010101" pitchFamily="2" charset="-122"/>
            </a:endParaRPr>
          </a:p>
        </p:txBody>
      </p:sp>
      <p:sp>
        <p:nvSpPr>
          <p:cNvPr id="49182" name="Text Box 33"/>
          <p:cNvSpPr txBox="1"/>
          <p:nvPr/>
        </p:nvSpPr>
        <p:spPr>
          <a:xfrm>
            <a:off x="539750" y="4892675"/>
            <a:ext cx="1371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FLAGS</a:t>
            </a:r>
            <a:endParaRPr lang="en-US" altLang="zh-CN" sz="2400" b="1" dirty="0">
              <a:latin typeface="Times New Roman" panose="02020603050405020304" pitchFamily="18" charset="0"/>
              <a:ea typeface="宋体" panose="02010600030101010101" pitchFamily="2" charset="-122"/>
            </a:endParaRPr>
          </a:p>
        </p:txBody>
      </p:sp>
      <p:sp>
        <p:nvSpPr>
          <p:cNvPr id="49183" name="Text Box 34"/>
          <p:cNvSpPr txBox="1"/>
          <p:nvPr/>
        </p:nvSpPr>
        <p:spPr>
          <a:xfrm>
            <a:off x="1695450" y="4529138"/>
            <a:ext cx="685800" cy="366712"/>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D</a:t>
            </a:r>
            <a:r>
              <a:rPr lang="en-US" altLang="zh-CN" sz="1600" dirty="0">
                <a:latin typeface="Times New Roman" panose="02020603050405020304" pitchFamily="18" charset="0"/>
                <a:ea typeface="宋体" panose="02010600030101010101" pitchFamily="2" charset="-122"/>
              </a:rPr>
              <a:t>15</a:t>
            </a:r>
            <a:endParaRPr lang="en-US" altLang="zh-CN" sz="1600" dirty="0">
              <a:latin typeface="Times New Roman" panose="02020603050405020304" pitchFamily="18" charset="0"/>
              <a:ea typeface="宋体" panose="02010600030101010101" pitchFamily="2" charset="-122"/>
            </a:endParaRPr>
          </a:p>
        </p:txBody>
      </p:sp>
      <p:sp>
        <p:nvSpPr>
          <p:cNvPr id="49184" name="Text Box 35"/>
          <p:cNvSpPr txBox="1"/>
          <p:nvPr/>
        </p:nvSpPr>
        <p:spPr>
          <a:xfrm>
            <a:off x="8027988" y="4529138"/>
            <a:ext cx="685800" cy="366712"/>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D</a:t>
            </a:r>
            <a:r>
              <a:rPr lang="en-US" altLang="zh-CN" sz="1600" dirty="0">
                <a:latin typeface="Times New Roman" panose="02020603050405020304" pitchFamily="18" charset="0"/>
                <a:ea typeface="宋体" panose="02010600030101010101" pitchFamily="2" charset="-122"/>
              </a:rPr>
              <a:t>0</a:t>
            </a:r>
            <a:endParaRPr lang="en-US" altLang="zh-CN" sz="1600" dirty="0">
              <a:latin typeface="Times New Roman" panose="02020603050405020304" pitchFamily="18" charset="0"/>
              <a:ea typeface="宋体" panose="02010600030101010101" pitchFamily="2" charset="-122"/>
            </a:endParaRPr>
          </a:p>
        </p:txBody>
      </p:sp>
      <p:sp>
        <p:nvSpPr>
          <p:cNvPr id="49185" name="Text Box 36"/>
          <p:cNvSpPr txBox="1"/>
          <p:nvPr/>
        </p:nvSpPr>
        <p:spPr>
          <a:xfrm>
            <a:off x="3957638" y="3692525"/>
            <a:ext cx="685800" cy="366713"/>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D</a:t>
            </a:r>
            <a:r>
              <a:rPr lang="en-US" altLang="zh-CN" sz="1600" dirty="0">
                <a:latin typeface="Times New Roman" panose="02020603050405020304" pitchFamily="18" charset="0"/>
                <a:ea typeface="宋体" panose="02010600030101010101" pitchFamily="2" charset="-122"/>
              </a:rPr>
              <a:t>7</a:t>
            </a:r>
            <a:endParaRPr lang="en-US" altLang="zh-CN" sz="1600" dirty="0">
              <a:latin typeface="Times New Roman" panose="02020603050405020304" pitchFamily="18" charset="0"/>
              <a:ea typeface="宋体" panose="02010600030101010101" pitchFamily="2" charset="-122"/>
            </a:endParaRPr>
          </a:p>
        </p:txBody>
      </p:sp>
      <p:sp>
        <p:nvSpPr>
          <p:cNvPr id="49186" name="Text Box 37"/>
          <p:cNvSpPr txBox="1"/>
          <p:nvPr/>
        </p:nvSpPr>
        <p:spPr>
          <a:xfrm>
            <a:off x="7918450" y="3690938"/>
            <a:ext cx="685800" cy="366712"/>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D</a:t>
            </a:r>
            <a:r>
              <a:rPr lang="en-US" altLang="zh-CN" sz="1600" dirty="0">
                <a:latin typeface="Times New Roman" panose="02020603050405020304" pitchFamily="18" charset="0"/>
                <a:ea typeface="宋体" panose="02010600030101010101" pitchFamily="2" charset="-122"/>
              </a:rPr>
              <a:t>0</a:t>
            </a:r>
            <a:endParaRPr lang="en-US" altLang="zh-CN" sz="1600" dirty="0">
              <a:latin typeface="Times New Roman" panose="02020603050405020304" pitchFamily="18" charset="0"/>
              <a:ea typeface="宋体" panose="02010600030101010101" pitchFamily="2" charset="-122"/>
            </a:endParaRPr>
          </a:p>
        </p:txBody>
      </p:sp>
      <p:sp>
        <p:nvSpPr>
          <p:cNvPr id="49187" name="Text Box 39"/>
          <p:cNvSpPr txBox="1"/>
          <p:nvPr/>
        </p:nvSpPr>
        <p:spPr>
          <a:xfrm>
            <a:off x="900113" y="5876925"/>
            <a:ext cx="2159000" cy="519113"/>
          </a:xfrm>
          <a:prstGeom prst="rect">
            <a:avLst/>
          </a:prstGeom>
          <a:noFill/>
          <a:ln w="9525">
            <a:noFill/>
          </a:ln>
        </p:spPr>
        <p:txBody>
          <a:bodyPr lIns="92075" tIns="46038" rIns="92075" bIns="46038">
            <a:spAutoFit/>
          </a:bodyPr>
          <a:p>
            <a:pPr eaLnBrk="0" hangingPunct="0">
              <a:spcBef>
                <a:spcPct val="50000"/>
              </a:spcBef>
              <a:buSzPct val="70000"/>
              <a:buFont typeface="Wingdings" panose="05000000000000000000" pitchFamily="2" charset="2"/>
              <a:buChar char="n"/>
            </a:pPr>
            <a:r>
              <a:rPr lang="en-US" altLang="zh-CN" sz="2800" b="1" dirty="0">
                <a:solidFill>
                  <a:schemeClr val="tx2"/>
                </a:solidFill>
                <a:latin typeface="Times New Roman" panose="02020603050405020304" pitchFamily="18" charset="0"/>
                <a:ea typeface="宋体" panose="02010600030101010101" pitchFamily="2" charset="-122"/>
              </a:rPr>
              <a:t>  SAHF</a:t>
            </a:r>
            <a:endParaRPr lang="zh-CN" altLang="en-US" sz="2800" b="1" dirty="0">
              <a:solidFill>
                <a:schemeClr val="tx2"/>
              </a:solidFill>
              <a:latin typeface="Times New Roman" panose="02020603050405020304" pitchFamily="18" charset="0"/>
              <a:ea typeface="宋体" panose="02010600030101010101" pitchFamily="2" charset="-122"/>
            </a:endParaRPr>
          </a:p>
        </p:txBody>
      </p:sp>
      <p:sp>
        <p:nvSpPr>
          <p:cNvPr id="49188" name="Text Box 40"/>
          <p:cNvSpPr txBox="1"/>
          <p:nvPr/>
        </p:nvSpPr>
        <p:spPr>
          <a:xfrm>
            <a:off x="3276600" y="5876925"/>
            <a:ext cx="4392613" cy="541338"/>
          </a:xfrm>
          <a:prstGeom prst="rect">
            <a:avLst/>
          </a:prstGeom>
          <a:solidFill>
            <a:srgbClr val="FF6600"/>
          </a:solidFill>
          <a:ln w="22225" cap="flat" cmpd="sng">
            <a:solidFill>
              <a:srgbClr val="FF6600"/>
            </a:solidFill>
            <a:prstDash val="solid"/>
            <a:miter/>
            <a:headEnd type="none" w="med" len="med"/>
            <a:tailEnd type="none" w="med" len="med"/>
          </a:ln>
        </p:spPr>
        <p:txBody>
          <a:bodyPr lIns="92075" tIns="46038" rIns="92075" bIns="46038">
            <a:spAutoFit/>
          </a:bodyPr>
          <a:p>
            <a:pPr eaLnBrk="0" hangingPunct="0">
              <a:spcBef>
                <a:spcPct val="50000"/>
              </a:spcBef>
              <a:buFont typeface="Wingdings" panose="05000000000000000000" pitchFamily="2" charset="2"/>
            </a:pPr>
            <a:r>
              <a:rPr lang="zh-CN" altLang="en-US" sz="2800" b="1" dirty="0">
                <a:latin typeface="Times New Roman" panose="02020603050405020304" pitchFamily="18" charset="0"/>
                <a:ea typeface="宋体" panose="02010600030101010101" pitchFamily="2" charset="-122"/>
              </a:rPr>
              <a:t>执行与</a:t>
            </a:r>
            <a:r>
              <a:rPr lang="en-US" altLang="zh-CN" sz="2800" b="1" dirty="0">
                <a:latin typeface="Times New Roman" panose="02020603050405020304" pitchFamily="18" charset="0"/>
                <a:ea typeface="宋体" panose="02010600030101010101" pitchFamily="2" charset="-122"/>
              </a:rPr>
              <a:t>LAHF</a:t>
            </a:r>
            <a:r>
              <a:rPr lang="zh-CN" altLang="en-US" sz="2800" b="1" dirty="0">
                <a:latin typeface="Times New Roman" panose="02020603050405020304" pitchFamily="18" charset="0"/>
                <a:ea typeface="宋体" panose="02010600030101010101" pitchFamily="2" charset="-122"/>
              </a:rPr>
              <a:t>相反的操作</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5">
                                            <p:txEl>
                                              <p:charRg st="0" end="15"/>
                                            </p:txEl>
                                          </p:spTgt>
                                        </p:tgtEl>
                                        <p:attrNameLst>
                                          <p:attrName>style.visibility</p:attrName>
                                        </p:attrNameLst>
                                      </p:cBhvr>
                                      <p:to>
                                        <p:strVal val="visible"/>
                                      </p:to>
                                    </p:set>
                                    <p:animEffect transition="in" filter="wipe(left)">
                                      <p:cBhvr>
                                        <p:cTn id="7" dur="500"/>
                                        <p:tgtEl>
                                          <p:spTgt spid="49155">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155">
                                            <p:txEl>
                                              <p:charRg st="15" end="22"/>
                                            </p:txEl>
                                          </p:spTgt>
                                        </p:tgtEl>
                                        <p:attrNameLst>
                                          <p:attrName>style.visibility</p:attrName>
                                        </p:attrNameLst>
                                      </p:cBhvr>
                                      <p:to>
                                        <p:strVal val="visible"/>
                                      </p:to>
                                    </p:set>
                                    <p:animEffect transition="in" filter="wipe(left)">
                                      <p:cBhvr>
                                        <p:cTn id="12" dur="500"/>
                                        <p:tgtEl>
                                          <p:spTgt spid="49155">
                                            <p:txEl>
                                              <p:charRg st="15" end="22"/>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49155">
                                            <p:txEl>
                                              <p:charRg st="22" end="69"/>
                                            </p:txEl>
                                          </p:spTgt>
                                        </p:tgtEl>
                                        <p:attrNameLst>
                                          <p:attrName>style.visibility</p:attrName>
                                        </p:attrNameLst>
                                      </p:cBhvr>
                                      <p:to>
                                        <p:strVal val="visible"/>
                                      </p:to>
                                    </p:set>
                                    <p:animEffect transition="in" filter="wipe(left)">
                                      <p:cBhvr>
                                        <p:cTn id="16" dur="500"/>
                                        <p:tgtEl>
                                          <p:spTgt spid="49155">
                                            <p:txEl>
                                              <p:charRg st="22" end="69"/>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9156"/>
                                        </p:tgtEl>
                                        <p:attrNameLst>
                                          <p:attrName>style.visibility</p:attrName>
                                        </p:attrNameLst>
                                      </p:cBhvr>
                                      <p:to>
                                        <p:strVal val="visible"/>
                                      </p:to>
                                    </p:set>
                                    <p:anim calcmode="lin" valueType="num">
                                      <p:cBhvr>
                                        <p:cTn id="21" dur="500" fill="hold"/>
                                        <p:tgtEl>
                                          <p:spTgt spid="49156"/>
                                        </p:tgtEl>
                                        <p:attrNameLst>
                                          <p:attrName>ppt_x</p:attrName>
                                        </p:attrNameLst>
                                      </p:cBhvr>
                                      <p:tavLst>
                                        <p:tav tm="0">
                                          <p:val>
                                            <p:strVal val="#ppt_x"/>
                                          </p:val>
                                        </p:tav>
                                        <p:tav tm="100000">
                                          <p:val>
                                            <p:strVal val="#ppt_x"/>
                                          </p:val>
                                        </p:tav>
                                      </p:tavLst>
                                    </p:anim>
                                    <p:anim calcmode="lin" valueType="num">
                                      <p:cBhvr>
                                        <p:cTn id="22" dur="500" fill="hold"/>
                                        <p:tgtEl>
                                          <p:spTgt spid="49156"/>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9157"/>
                                        </p:tgtEl>
                                        <p:attrNameLst>
                                          <p:attrName>style.visibility</p:attrName>
                                        </p:attrNameLst>
                                      </p:cBhvr>
                                      <p:to>
                                        <p:strVal val="visible"/>
                                      </p:to>
                                    </p:set>
                                    <p:anim calcmode="lin" valueType="num">
                                      <p:cBhvr>
                                        <p:cTn id="25" dur="500" fill="hold"/>
                                        <p:tgtEl>
                                          <p:spTgt spid="49157"/>
                                        </p:tgtEl>
                                        <p:attrNameLst>
                                          <p:attrName>ppt_x</p:attrName>
                                        </p:attrNameLst>
                                      </p:cBhvr>
                                      <p:tavLst>
                                        <p:tav tm="0">
                                          <p:val>
                                            <p:strVal val="#ppt_x"/>
                                          </p:val>
                                        </p:tav>
                                        <p:tav tm="100000">
                                          <p:val>
                                            <p:strVal val="#ppt_x"/>
                                          </p:val>
                                        </p:tav>
                                      </p:tavLst>
                                    </p:anim>
                                    <p:anim calcmode="lin" valueType="num">
                                      <p:cBhvr>
                                        <p:cTn id="26" dur="500" fill="hold"/>
                                        <p:tgtEl>
                                          <p:spTgt spid="49157"/>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9158"/>
                                        </p:tgtEl>
                                        <p:attrNameLst>
                                          <p:attrName>style.visibility</p:attrName>
                                        </p:attrNameLst>
                                      </p:cBhvr>
                                      <p:to>
                                        <p:strVal val="visible"/>
                                      </p:to>
                                    </p:set>
                                    <p:anim calcmode="lin" valueType="num">
                                      <p:cBhvr>
                                        <p:cTn id="29" dur="500" fill="hold"/>
                                        <p:tgtEl>
                                          <p:spTgt spid="49158"/>
                                        </p:tgtEl>
                                        <p:attrNameLst>
                                          <p:attrName>ppt_x</p:attrName>
                                        </p:attrNameLst>
                                      </p:cBhvr>
                                      <p:tavLst>
                                        <p:tav tm="0">
                                          <p:val>
                                            <p:strVal val="#ppt_x"/>
                                          </p:val>
                                        </p:tav>
                                        <p:tav tm="100000">
                                          <p:val>
                                            <p:strVal val="#ppt_x"/>
                                          </p:val>
                                        </p:tav>
                                      </p:tavLst>
                                    </p:anim>
                                    <p:anim calcmode="lin" valueType="num">
                                      <p:cBhvr>
                                        <p:cTn id="30" dur="500" fill="hold"/>
                                        <p:tgtEl>
                                          <p:spTgt spid="49158"/>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9159"/>
                                        </p:tgtEl>
                                        <p:attrNameLst>
                                          <p:attrName>style.visibility</p:attrName>
                                        </p:attrNameLst>
                                      </p:cBhvr>
                                      <p:to>
                                        <p:strVal val="visible"/>
                                      </p:to>
                                    </p:set>
                                    <p:anim calcmode="lin" valueType="num">
                                      <p:cBhvr>
                                        <p:cTn id="33" dur="500" fill="hold"/>
                                        <p:tgtEl>
                                          <p:spTgt spid="49159"/>
                                        </p:tgtEl>
                                        <p:attrNameLst>
                                          <p:attrName>ppt_x</p:attrName>
                                        </p:attrNameLst>
                                      </p:cBhvr>
                                      <p:tavLst>
                                        <p:tav tm="0">
                                          <p:val>
                                            <p:strVal val="#ppt_x"/>
                                          </p:val>
                                        </p:tav>
                                        <p:tav tm="100000">
                                          <p:val>
                                            <p:strVal val="#ppt_x"/>
                                          </p:val>
                                        </p:tav>
                                      </p:tavLst>
                                    </p:anim>
                                    <p:anim calcmode="lin" valueType="num">
                                      <p:cBhvr>
                                        <p:cTn id="34" dur="500" fill="hold"/>
                                        <p:tgtEl>
                                          <p:spTgt spid="49159"/>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9160"/>
                                        </p:tgtEl>
                                        <p:attrNameLst>
                                          <p:attrName>style.visibility</p:attrName>
                                        </p:attrNameLst>
                                      </p:cBhvr>
                                      <p:to>
                                        <p:strVal val="visible"/>
                                      </p:to>
                                    </p:set>
                                    <p:anim calcmode="lin" valueType="num">
                                      <p:cBhvr>
                                        <p:cTn id="37" dur="500" fill="hold"/>
                                        <p:tgtEl>
                                          <p:spTgt spid="49160"/>
                                        </p:tgtEl>
                                        <p:attrNameLst>
                                          <p:attrName>ppt_x</p:attrName>
                                        </p:attrNameLst>
                                      </p:cBhvr>
                                      <p:tavLst>
                                        <p:tav tm="0">
                                          <p:val>
                                            <p:strVal val="#ppt_x"/>
                                          </p:val>
                                        </p:tav>
                                        <p:tav tm="100000">
                                          <p:val>
                                            <p:strVal val="#ppt_x"/>
                                          </p:val>
                                        </p:tav>
                                      </p:tavLst>
                                    </p:anim>
                                    <p:anim calcmode="lin" valueType="num">
                                      <p:cBhvr>
                                        <p:cTn id="38" dur="500" fill="hold"/>
                                        <p:tgtEl>
                                          <p:spTgt spid="49160"/>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9161"/>
                                        </p:tgtEl>
                                        <p:attrNameLst>
                                          <p:attrName>style.visibility</p:attrName>
                                        </p:attrNameLst>
                                      </p:cBhvr>
                                      <p:to>
                                        <p:strVal val="visible"/>
                                      </p:to>
                                    </p:set>
                                    <p:anim calcmode="lin" valueType="num">
                                      <p:cBhvr>
                                        <p:cTn id="41" dur="500" fill="hold"/>
                                        <p:tgtEl>
                                          <p:spTgt spid="49161"/>
                                        </p:tgtEl>
                                        <p:attrNameLst>
                                          <p:attrName>ppt_x</p:attrName>
                                        </p:attrNameLst>
                                      </p:cBhvr>
                                      <p:tavLst>
                                        <p:tav tm="0">
                                          <p:val>
                                            <p:strVal val="#ppt_x"/>
                                          </p:val>
                                        </p:tav>
                                        <p:tav tm="100000">
                                          <p:val>
                                            <p:strVal val="#ppt_x"/>
                                          </p:val>
                                        </p:tav>
                                      </p:tavLst>
                                    </p:anim>
                                    <p:anim calcmode="lin" valueType="num">
                                      <p:cBhvr>
                                        <p:cTn id="42" dur="500" fill="hold"/>
                                        <p:tgtEl>
                                          <p:spTgt spid="49161"/>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9162"/>
                                        </p:tgtEl>
                                        <p:attrNameLst>
                                          <p:attrName>style.visibility</p:attrName>
                                        </p:attrNameLst>
                                      </p:cBhvr>
                                      <p:to>
                                        <p:strVal val="visible"/>
                                      </p:to>
                                    </p:set>
                                    <p:anim calcmode="lin" valueType="num">
                                      <p:cBhvr>
                                        <p:cTn id="45" dur="500" fill="hold"/>
                                        <p:tgtEl>
                                          <p:spTgt spid="49162"/>
                                        </p:tgtEl>
                                        <p:attrNameLst>
                                          <p:attrName>ppt_x</p:attrName>
                                        </p:attrNameLst>
                                      </p:cBhvr>
                                      <p:tavLst>
                                        <p:tav tm="0">
                                          <p:val>
                                            <p:strVal val="#ppt_x"/>
                                          </p:val>
                                        </p:tav>
                                        <p:tav tm="100000">
                                          <p:val>
                                            <p:strVal val="#ppt_x"/>
                                          </p:val>
                                        </p:tav>
                                      </p:tavLst>
                                    </p:anim>
                                    <p:anim calcmode="lin" valueType="num">
                                      <p:cBhvr>
                                        <p:cTn id="46" dur="500" fill="hold"/>
                                        <p:tgtEl>
                                          <p:spTgt spid="49162"/>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49163"/>
                                        </p:tgtEl>
                                        <p:attrNameLst>
                                          <p:attrName>style.visibility</p:attrName>
                                        </p:attrNameLst>
                                      </p:cBhvr>
                                      <p:to>
                                        <p:strVal val="visible"/>
                                      </p:to>
                                    </p:set>
                                    <p:anim calcmode="lin" valueType="num">
                                      <p:cBhvr>
                                        <p:cTn id="49" dur="500" fill="hold"/>
                                        <p:tgtEl>
                                          <p:spTgt spid="49163"/>
                                        </p:tgtEl>
                                        <p:attrNameLst>
                                          <p:attrName>ppt_x</p:attrName>
                                        </p:attrNameLst>
                                      </p:cBhvr>
                                      <p:tavLst>
                                        <p:tav tm="0">
                                          <p:val>
                                            <p:strVal val="#ppt_x"/>
                                          </p:val>
                                        </p:tav>
                                        <p:tav tm="100000">
                                          <p:val>
                                            <p:strVal val="#ppt_x"/>
                                          </p:val>
                                        </p:tav>
                                      </p:tavLst>
                                    </p:anim>
                                    <p:anim calcmode="lin" valueType="num">
                                      <p:cBhvr>
                                        <p:cTn id="50" dur="500" fill="hold"/>
                                        <p:tgtEl>
                                          <p:spTgt spid="49163"/>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49164"/>
                                        </p:tgtEl>
                                        <p:attrNameLst>
                                          <p:attrName>style.visibility</p:attrName>
                                        </p:attrNameLst>
                                      </p:cBhvr>
                                      <p:to>
                                        <p:strVal val="visible"/>
                                      </p:to>
                                    </p:set>
                                    <p:anim calcmode="lin" valueType="num">
                                      <p:cBhvr>
                                        <p:cTn id="53" dur="500" fill="hold"/>
                                        <p:tgtEl>
                                          <p:spTgt spid="49164"/>
                                        </p:tgtEl>
                                        <p:attrNameLst>
                                          <p:attrName>ppt_x</p:attrName>
                                        </p:attrNameLst>
                                      </p:cBhvr>
                                      <p:tavLst>
                                        <p:tav tm="0">
                                          <p:val>
                                            <p:strVal val="#ppt_x"/>
                                          </p:val>
                                        </p:tav>
                                        <p:tav tm="100000">
                                          <p:val>
                                            <p:strVal val="#ppt_x"/>
                                          </p:val>
                                        </p:tav>
                                      </p:tavLst>
                                    </p:anim>
                                    <p:anim calcmode="lin" valueType="num">
                                      <p:cBhvr>
                                        <p:cTn id="54" dur="500" fill="hold"/>
                                        <p:tgtEl>
                                          <p:spTgt spid="4916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9165"/>
                                        </p:tgtEl>
                                        <p:attrNameLst>
                                          <p:attrName>style.visibility</p:attrName>
                                        </p:attrNameLst>
                                      </p:cBhvr>
                                      <p:to>
                                        <p:strVal val="visible"/>
                                      </p:to>
                                    </p:set>
                                    <p:anim calcmode="lin" valueType="num">
                                      <p:cBhvr>
                                        <p:cTn id="57" dur="500" fill="hold"/>
                                        <p:tgtEl>
                                          <p:spTgt spid="49165"/>
                                        </p:tgtEl>
                                        <p:attrNameLst>
                                          <p:attrName>ppt_x</p:attrName>
                                        </p:attrNameLst>
                                      </p:cBhvr>
                                      <p:tavLst>
                                        <p:tav tm="0">
                                          <p:val>
                                            <p:strVal val="#ppt_x"/>
                                          </p:val>
                                        </p:tav>
                                        <p:tav tm="100000">
                                          <p:val>
                                            <p:strVal val="#ppt_x"/>
                                          </p:val>
                                        </p:tav>
                                      </p:tavLst>
                                    </p:anim>
                                    <p:anim calcmode="lin" valueType="num">
                                      <p:cBhvr>
                                        <p:cTn id="58" dur="500" fill="hold"/>
                                        <p:tgtEl>
                                          <p:spTgt spid="49165"/>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49166"/>
                                        </p:tgtEl>
                                        <p:attrNameLst>
                                          <p:attrName>style.visibility</p:attrName>
                                        </p:attrNameLst>
                                      </p:cBhvr>
                                      <p:to>
                                        <p:strVal val="visible"/>
                                      </p:to>
                                    </p:set>
                                    <p:anim calcmode="lin" valueType="num">
                                      <p:cBhvr>
                                        <p:cTn id="61" dur="500" fill="hold"/>
                                        <p:tgtEl>
                                          <p:spTgt spid="49166"/>
                                        </p:tgtEl>
                                        <p:attrNameLst>
                                          <p:attrName>ppt_x</p:attrName>
                                        </p:attrNameLst>
                                      </p:cBhvr>
                                      <p:tavLst>
                                        <p:tav tm="0">
                                          <p:val>
                                            <p:strVal val="#ppt_x"/>
                                          </p:val>
                                        </p:tav>
                                        <p:tav tm="100000">
                                          <p:val>
                                            <p:strVal val="#ppt_x"/>
                                          </p:val>
                                        </p:tav>
                                      </p:tavLst>
                                    </p:anim>
                                    <p:anim calcmode="lin" valueType="num">
                                      <p:cBhvr>
                                        <p:cTn id="62" dur="500" fill="hold"/>
                                        <p:tgtEl>
                                          <p:spTgt spid="49166"/>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49167"/>
                                        </p:tgtEl>
                                        <p:attrNameLst>
                                          <p:attrName>style.visibility</p:attrName>
                                        </p:attrNameLst>
                                      </p:cBhvr>
                                      <p:to>
                                        <p:strVal val="visible"/>
                                      </p:to>
                                    </p:set>
                                    <p:anim calcmode="lin" valueType="num">
                                      <p:cBhvr>
                                        <p:cTn id="65" dur="500" fill="hold"/>
                                        <p:tgtEl>
                                          <p:spTgt spid="49167"/>
                                        </p:tgtEl>
                                        <p:attrNameLst>
                                          <p:attrName>ppt_x</p:attrName>
                                        </p:attrNameLst>
                                      </p:cBhvr>
                                      <p:tavLst>
                                        <p:tav tm="0">
                                          <p:val>
                                            <p:strVal val="#ppt_x"/>
                                          </p:val>
                                        </p:tav>
                                        <p:tav tm="100000">
                                          <p:val>
                                            <p:strVal val="#ppt_x"/>
                                          </p:val>
                                        </p:tav>
                                      </p:tavLst>
                                    </p:anim>
                                    <p:anim calcmode="lin" valueType="num">
                                      <p:cBhvr>
                                        <p:cTn id="66" dur="500" fill="hold"/>
                                        <p:tgtEl>
                                          <p:spTgt spid="49167"/>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49168"/>
                                        </p:tgtEl>
                                        <p:attrNameLst>
                                          <p:attrName>style.visibility</p:attrName>
                                        </p:attrNameLst>
                                      </p:cBhvr>
                                      <p:to>
                                        <p:strVal val="visible"/>
                                      </p:to>
                                    </p:set>
                                    <p:anim calcmode="lin" valueType="num">
                                      <p:cBhvr>
                                        <p:cTn id="69" dur="500" fill="hold"/>
                                        <p:tgtEl>
                                          <p:spTgt spid="49168"/>
                                        </p:tgtEl>
                                        <p:attrNameLst>
                                          <p:attrName>ppt_x</p:attrName>
                                        </p:attrNameLst>
                                      </p:cBhvr>
                                      <p:tavLst>
                                        <p:tav tm="0">
                                          <p:val>
                                            <p:strVal val="#ppt_x"/>
                                          </p:val>
                                        </p:tav>
                                        <p:tav tm="100000">
                                          <p:val>
                                            <p:strVal val="#ppt_x"/>
                                          </p:val>
                                        </p:tav>
                                      </p:tavLst>
                                    </p:anim>
                                    <p:anim calcmode="lin" valueType="num">
                                      <p:cBhvr>
                                        <p:cTn id="70" dur="500" fill="hold"/>
                                        <p:tgtEl>
                                          <p:spTgt spid="49168"/>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49169"/>
                                        </p:tgtEl>
                                        <p:attrNameLst>
                                          <p:attrName>style.visibility</p:attrName>
                                        </p:attrNameLst>
                                      </p:cBhvr>
                                      <p:to>
                                        <p:strVal val="visible"/>
                                      </p:to>
                                    </p:set>
                                    <p:anim calcmode="lin" valueType="num">
                                      <p:cBhvr>
                                        <p:cTn id="73" dur="500" fill="hold"/>
                                        <p:tgtEl>
                                          <p:spTgt spid="49169"/>
                                        </p:tgtEl>
                                        <p:attrNameLst>
                                          <p:attrName>ppt_x</p:attrName>
                                        </p:attrNameLst>
                                      </p:cBhvr>
                                      <p:tavLst>
                                        <p:tav tm="0">
                                          <p:val>
                                            <p:strVal val="#ppt_x"/>
                                          </p:val>
                                        </p:tav>
                                        <p:tav tm="100000">
                                          <p:val>
                                            <p:strVal val="#ppt_x"/>
                                          </p:val>
                                        </p:tav>
                                      </p:tavLst>
                                    </p:anim>
                                    <p:anim calcmode="lin" valueType="num">
                                      <p:cBhvr>
                                        <p:cTn id="74" dur="500" fill="hold"/>
                                        <p:tgtEl>
                                          <p:spTgt spid="49169"/>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49170"/>
                                        </p:tgtEl>
                                        <p:attrNameLst>
                                          <p:attrName>style.visibility</p:attrName>
                                        </p:attrNameLst>
                                      </p:cBhvr>
                                      <p:to>
                                        <p:strVal val="visible"/>
                                      </p:to>
                                    </p:set>
                                    <p:anim calcmode="lin" valueType="num">
                                      <p:cBhvr>
                                        <p:cTn id="77" dur="500" fill="hold"/>
                                        <p:tgtEl>
                                          <p:spTgt spid="49170"/>
                                        </p:tgtEl>
                                        <p:attrNameLst>
                                          <p:attrName>ppt_x</p:attrName>
                                        </p:attrNameLst>
                                      </p:cBhvr>
                                      <p:tavLst>
                                        <p:tav tm="0">
                                          <p:val>
                                            <p:strVal val="#ppt_x"/>
                                          </p:val>
                                        </p:tav>
                                        <p:tav tm="100000">
                                          <p:val>
                                            <p:strVal val="#ppt_x"/>
                                          </p:val>
                                        </p:tav>
                                      </p:tavLst>
                                    </p:anim>
                                    <p:anim calcmode="lin" valueType="num">
                                      <p:cBhvr>
                                        <p:cTn id="78" dur="500" fill="hold"/>
                                        <p:tgtEl>
                                          <p:spTgt spid="49170"/>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49171"/>
                                        </p:tgtEl>
                                        <p:attrNameLst>
                                          <p:attrName>style.visibility</p:attrName>
                                        </p:attrNameLst>
                                      </p:cBhvr>
                                      <p:to>
                                        <p:strVal val="visible"/>
                                      </p:to>
                                    </p:set>
                                    <p:anim calcmode="lin" valueType="num">
                                      <p:cBhvr>
                                        <p:cTn id="81" dur="500" fill="hold"/>
                                        <p:tgtEl>
                                          <p:spTgt spid="49171"/>
                                        </p:tgtEl>
                                        <p:attrNameLst>
                                          <p:attrName>ppt_x</p:attrName>
                                        </p:attrNameLst>
                                      </p:cBhvr>
                                      <p:tavLst>
                                        <p:tav tm="0">
                                          <p:val>
                                            <p:strVal val="#ppt_x"/>
                                          </p:val>
                                        </p:tav>
                                        <p:tav tm="100000">
                                          <p:val>
                                            <p:strVal val="#ppt_x"/>
                                          </p:val>
                                        </p:tav>
                                      </p:tavLst>
                                    </p:anim>
                                    <p:anim calcmode="lin" valueType="num">
                                      <p:cBhvr>
                                        <p:cTn id="82" dur="500" fill="hold"/>
                                        <p:tgtEl>
                                          <p:spTgt spid="49171"/>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49172"/>
                                        </p:tgtEl>
                                        <p:attrNameLst>
                                          <p:attrName>style.visibility</p:attrName>
                                        </p:attrNameLst>
                                      </p:cBhvr>
                                      <p:to>
                                        <p:strVal val="visible"/>
                                      </p:to>
                                    </p:set>
                                    <p:anim calcmode="lin" valueType="num">
                                      <p:cBhvr>
                                        <p:cTn id="85" dur="500" fill="hold"/>
                                        <p:tgtEl>
                                          <p:spTgt spid="49172"/>
                                        </p:tgtEl>
                                        <p:attrNameLst>
                                          <p:attrName>ppt_x</p:attrName>
                                        </p:attrNameLst>
                                      </p:cBhvr>
                                      <p:tavLst>
                                        <p:tav tm="0">
                                          <p:val>
                                            <p:strVal val="#ppt_x"/>
                                          </p:val>
                                        </p:tav>
                                        <p:tav tm="100000">
                                          <p:val>
                                            <p:strVal val="#ppt_x"/>
                                          </p:val>
                                        </p:tav>
                                      </p:tavLst>
                                    </p:anim>
                                    <p:anim calcmode="lin" valueType="num">
                                      <p:cBhvr>
                                        <p:cTn id="86" dur="500" fill="hold"/>
                                        <p:tgtEl>
                                          <p:spTgt spid="49172"/>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49173"/>
                                        </p:tgtEl>
                                        <p:attrNameLst>
                                          <p:attrName>style.visibility</p:attrName>
                                        </p:attrNameLst>
                                      </p:cBhvr>
                                      <p:to>
                                        <p:strVal val="visible"/>
                                      </p:to>
                                    </p:set>
                                    <p:anim calcmode="lin" valueType="num">
                                      <p:cBhvr>
                                        <p:cTn id="89" dur="500" fill="hold"/>
                                        <p:tgtEl>
                                          <p:spTgt spid="49173"/>
                                        </p:tgtEl>
                                        <p:attrNameLst>
                                          <p:attrName>ppt_x</p:attrName>
                                        </p:attrNameLst>
                                      </p:cBhvr>
                                      <p:tavLst>
                                        <p:tav tm="0">
                                          <p:val>
                                            <p:strVal val="#ppt_x"/>
                                          </p:val>
                                        </p:tav>
                                        <p:tav tm="100000">
                                          <p:val>
                                            <p:strVal val="#ppt_x"/>
                                          </p:val>
                                        </p:tav>
                                      </p:tavLst>
                                    </p:anim>
                                    <p:anim calcmode="lin" valueType="num">
                                      <p:cBhvr>
                                        <p:cTn id="90" dur="500" fill="hold"/>
                                        <p:tgtEl>
                                          <p:spTgt spid="49173"/>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49174"/>
                                        </p:tgtEl>
                                        <p:attrNameLst>
                                          <p:attrName>style.visibility</p:attrName>
                                        </p:attrNameLst>
                                      </p:cBhvr>
                                      <p:to>
                                        <p:strVal val="visible"/>
                                      </p:to>
                                    </p:set>
                                    <p:anim calcmode="lin" valueType="num">
                                      <p:cBhvr>
                                        <p:cTn id="93" dur="500" fill="hold"/>
                                        <p:tgtEl>
                                          <p:spTgt spid="49174"/>
                                        </p:tgtEl>
                                        <p:attrNameLst>
                                          <p:attrName>ppt_x</p:attrName>
                                        </p:attrNameLst>
                                      </p:cBhvr>
                                      <p:tavLst>
                                        <p:tav tm="0">
                                          <p:val>
                                            <p:strVal val="#ppt_x"/>
                                          </p:val>
                                        </p:tav>
                                        <p:tav tm="100000">
                                          <p:val>
                                            <p:strVal val="#ppt_x"/>
                                          </p:val>
                                        </p:tav>
                                      </p:tavLst>
                                    </p:anim>
                                    <p:anim calcmode="lin" valueType="num">
                                      <p:cBhvr>
                                        <p:cTn id="94" dur="500" fill="hold"/>
                                        <p:tgtEl>
                                          <p:spTgt spid="49174"/>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49175"/>
                                        </p:tgtEl>
                                        <p:attrNameLst>
                                          <p:attrName>style.visibility</p:attrName>
                                        </p:attrNameLst>
                                      </p:cBhvr>
                                      <p:to>
                                        <p:strVal val="visible"/>
                                      </p:to>
                                    </p:set>
                                    <p:anim calcmode="lin" valueType="num">
                                      <p:cBhvr>
                                        <p:cTn id="97" dur="500" fill="hold"/>
                                        <p:tgtEl>
                                          <p:spTgt spid="49175"/>
                                        </p:tgtEl>
                                        <p:attrNameLst>
                                          <p:attrName>ppt_x</p:attrName>
                                        </p:attrNameLst>
                                      </p:cBhvr>
                                      <p:tavLst>
                                        <p:tav tm="0">
                                          <p:val>
                                            <p:strVal val="#ppt_x"/>
                                          </p:val>
                                        </p:tav>
                                        <p:tav tm="100000">
                                          <p:val>
                                            <p:strVal val="#ppt_x"/>
                                          </p:val>
                                        </p:tav>
                                      </p:tavLst>
                                    </p:anim>
                                    <p:anim calcmode="lin" valueType="num">
                                      <p:cBhvr>
                                        <p:cTn id="98" dur="500" fill="hold"/>
                                        <p:tgtEl>
                                          <p:spTgt spid="49175"/>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49176"/>
                                        </p:tgtEl>
                                        <p:attrNameLst>
                                          <p:attrName>style.visibility</p:attrName>
                                        </p:attrNameLst>
                                      </p:cBhvr>
                                      <p:to>
                                        <p:strVal val="visible"/>
                                      </p:to>
                                    </p:set>
                                    <p:anim calcmode="lin" valueType="num">
                                      <p:cBhvr>
                                        <p:cTn id="101" dur="500" fill="hold"/>
                                        <p:tgtEl>
                                          <p:spTgt spid="49176"/>
                                        </p:tgtEl>
                                        <p:attrNameLst>
                                          <p:attrName>ppt_x</p:attrName>
                                        </p:attrNameLst>
                                      </p:cBhvr>
                                      <p:tavLst>
                                        <p:tav tm="0">
                                          <p:val>
                                            <p:strVal val="#ppt_x"/>
                                          </p:val>
                                        </p:tav>
                                        <p:tav tm="100000">
                                          <p:val>
                                            <p:strVal val="#ppt_x"/>
                                          </p:val>
                                        </p:tav>
                                      </p:tavLst>
                                    </p:anim>
                                    <p:anim calcmode="lin" valueType="num">
                                      <p:cBhvr>
                                        <p:cTn id="102" dur="500" fill="hold"/>
                                        <p:tgtEl>
                                          <p:spTgt spid="49176"/>
                                        </p:tgtEl>
                                        <p:attrNameLst>
                                          <p:attrName>ppt_y</p:attrName>
                                        </p:attrNameLst>
                                      </p:cBhvr>
                                      <p:tavLst>
                                        <p:tav tm="0">
                                          <p:val>
                                            <p:strVal val="1+#ppt_h/2"/>
                                          </p:val>
                                        </p:tav>
                                        <p:tav tm="100000">
                                          <p:val>
                                            <p:strVal val="#ppt_y"/>
                                          </p:val>
                                        </p:tav>
                                      </p:tavLst>
                                    </p:anim>
                                  </p:childTnLst>
                                </p:cTn>
                              </p:par>
                              <p:par>
                                <p:cTn id="103" presetID="2" presetClass="entr" presetSubtype="4" fill="hold" nodeType="withEffect">
                                  <p:stCondLst>
                                    <p:cond delay="0"/>
                                  </p:stCondLst>
                                  <p:childTnLst>
                                    <p:set>
                                      <p:cBhvr>
                                        <p:cTn id="104" dur="1" fill="hold">
                                          <p:stCondLst>
                                            <p:cond delay="0"/>
                                          </p:stCondLst>
                                        </p:cTn>
                                        <p:tgtEl>
                                          <p:spTgt spid="49177"/>
                                        </p:tgtEl>
                                        <p:attrNameLst>
                                          <p:attrName>style.visibility</p:attrName>
                                        </p:attrNameLst>
                                      </p:cBhvr>
                                      <p:to>
                                        <p:strVal val="visible"/>
                                      </p:to>
                                    </p:set>
                                    <p:anim calcmode="lin" valueType="num">
                                      <p:cBhvr>
                                        <p:cTn id="105" dur="500" fill="hold"/>
                                        <p:tgtEl>
                                          <p:spTgt spid="49177"/>
                                        </p:tgtEl>
                                        <p:attrNameLst>
                                          <p:attrName>ppt_x</p:attrName>
                                        </p:attrNameLst>
                                      </p:cBhvr>
                                      <p:tavLst>
                                        <p:tav tm="0">
                                          <p:val>
                                            <p:strVal val="#ppt_x"/>
                                          </p:val>
                                        </p:tav>
                                        <p:tav tm="100000">
                                          <p:val>
                                            <p:strVal val="#ppt_x"/>
                                          </p:val>
                                        </p:tav>
                                      </p:tavLst>
                                    </p:anim>
                                    <p:anim calcmode="lin" valueType="num">
                                      <p:cBhvr>
                                        <p:cTn id="106" dur="500" fill="hold"/>
                                        <p:tgtEl>
                                          <p:spTgt spid="49177"/>
                                        </p:tgtEl>
                                        <p:attrNameLst>
                                          <p:attrName>ppt_y</p:attrName>
                                        </p:attrNameLst>
                                      </p:cBhvr>
                                      <p:tavLst>
                                        <p:tav tm="0">
                                          <p:val>
                                            <p:strVal val="1+#ppt_h/2"/>
                                          </p:val>
                                        </p:tav>
                                        <p:tav tm="100000">
                                          <p:val>
                                            <p:strVal val="#ppt_y"/>
                                          </p:val>
                                        </p:tav>
                                      </p:tavLst>
                                    </p:anim>
                                  </p:childTnLst>
                                </p:cTn>
                              </p:par>
                              <p:par>
                                <p:cTn id="107" presetID="2" presetClass="entr" presetSubtype="4" fill="hold" nodeType="withEffect">
                                  <p:stCondLst>
                                    <p:cond delay="0"/>
                                  </p:stCondLst>
                                  <p:childTnLst>
                                    <p:set>
                                      <p:cBhvr>
                                        <p:cTn id="108" dur="1" fill="hold">
                                          <p:stCondLst>
                                            <p:cond delay="0"/>
                                          </p:stCondLst>
                                        </p:cTn>
                                        <p:tgtEl>
                                          <p:spTgt spid="49178"/>
                                        </p:tgtEl>
                                        <p:attrNameLst>
                                          <p:attrName>style.visibility</p:attrName>
                                        </p:attrNameLst>
                                      </p:cBhvr>
                                      <p:to>
                                        <p:strVal val="visible"/>
                                      </p:to>
                                    </p:set>
                                    <p:anim calcmode="lin" valueType="num">
                                      <p:cBhvr>
                                        <p:cTn id="109" dur="500" fill="hold"/>
                                        <p:tgtEl>
                                          <p:spTgt spid="49178"/>
                                        </p:tgtEl>
                                        <p:attrNameLst>
                                          <p:attrName>ppt_x</p:attrName>
                                        </p:attrNameLst>
                                      </p:cBhvr>
                                      <p:tavLst>
                                        <p:tav tm="0">
                                          <p:val>
                                            <p:strVal val="#ppt_x"/>
                                          </p:val>
                                        </p:tav>
                                        <p:tav tm="100000">
                                          <p:val>
                                            <p:strVal val="#ppt_x"/>
                                          </p:val>
                                        </p:tav>
                                      </p:tavLst>
                                    </p:anim>
                                    <p:anim calcmode="lin" valueType="num">
                                      <p:cBhvr>
                                        <p:cTn id="110" dur="500" fill="hold"/>
                                        <p:tgtEl>
                                          <p:spTgt spid="49178"/>
                                        </p:tgtEl>
                                        <p:attrNameLst>
                                          <p:attrName>ppt_y</p:attrName>
                                        </p:attrNameLst>
                                      </p:cBhvr>
                                      <p:tavLst>
                                        <p:tav tm="0">
                                          <p:val>
                                            <p:strVal val="1+#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49179"/>
                                        </p:tgtEl>
                                        <p:attrNameLst>
                                          <p:attrName>style.visibility</p:attrName>
                                        </p:attrNameLst>
                                      </p:cBhvr>
                                      <p:to>
                                        <p:strVal val="visible"/>
                                      </p:to>
                                    </p:set>
                                    <p:anim calcmode="lin" valueType="num">
                                      <p:cBhvr>
                                        <p:cTn id="113" dur="500" fill="hold"/>
                                        <p:tgtEl>
                                          <p:spTgt spid="49179"/>
                                        </p:tgtEl>
                                        <p:attrNameLst>
                                          <p:attrName>ppt_x</p:attrName>
                                        </p:attrNameLst>
                                      </p:cBhvr>
                                      <p:tavLst>
                                        <p:tav tm="0">
                                          <p:val>
                                            <p:strVal val="#ppt_x"/>
                                          </p:val>
                                        </p:tav>
                                        <p:tav tm="100000">
                                          <p:val>
                                            <p:strVal val="#ppt_x"/>
                                          </p:val>
                                        </p:tav>
                                      </p:tavLst>
                                    </p:anim>
                                    <p:anim calcmode="lin" valueType="num">
                                      <p:cBhvr>
                                        <p:cTn id="114" dur="500" fill="hold"/>
                                        <p:tgtEl>
                                          <p:spTgt spid="49179"/>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49180"/>
                                        </p:tgtEl>
                                        <p:attrNameLst>
                                          <p:attrName>style.visibility</p:attrName>
                                        </p:attrNameLst>
                                      </p:cBhvr>
                                      <p:to>
                                        <p:strVal val="visible"/>
                                      </p:to>
                                    </p:set>
                                    <p:anim calcmode="lin" valueType="num">
                                      <p:cBhvr>
                                        <p:cTn id="117" dur="500" fill="hold"/>
                                        <p:tgtEl>
                                          <p:spTgt spid="49180"/>
                                        </p:tgtEl>
                                        <p:attrNameLst>
                                          <p:attrName>ppt_x</p:attrName>
                                        </p:attrNameLst>
                                      </p:cBhvr>
                                      <p:tavLst>
                                        <p:tav tm="0">
                                          <p:val>
                                            <p:strVal val="#ppt_x"/>
                                          </p:val>
                                        </p:tav>
                                        <p:tav tm="100000">
                                          <p:val>
                                            <p:strVal val="#ppt_x"/>
                                          </p:val>
                                        </p:tav>
                                      </p:tavLst>
                                    </p:anim>
                                    <p:anim calcmode="lin" valueType="num">
                                      <p:cBhvr>
                                        <p:cTn id="118" dur="500" fill="hold"/>
                                        <p:tgtEl>
                                          <p:spTgt spid="49180"/>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49181"/>
                                        </p:tgtEl>
                                        <p:attrNameLst>
                                          <p:attrName>style.visibility</p:attrName>
                                        </p:attrNameLst>
                                      </p:cBhvr>
                                      <p:to>
                                        <p:strVal val="visible"/>
                                      </p:to>
                                    </p:set>
                                    <p:anim calcmode="lin" valueType="num">
                                      <p:cBhvr>
                                        <p:cTn id="121" dur="500" fill="hold"/>
                                        <p:tgtEl>
                                          <p:spTgt spid="49181"/>
                                        </p:tgtEl>
                                        <p:attrNameLst>
                                          <p:attrName>ppt_x</p:attrName>
                                        </p:attrNameLst>
                                      </p:cBhvr>
                                      <p:tavLst>
                                        <p:tav tm="0">
                                          <p:val>
                                            <p:strVal val="#ppt_x"/>
                                          </p:val>
                                        </p:tav>
                                        <p:tav tm="100000">
                                          <p:val>
                                            <p:strVal val="#ppt_x"/>
                                          </p:val>
                                        </p:tav>
                                      </p:tavLst>
                                    </p:anim>
                                    <p:anim calcmode="lin" valueType="num">
                                      <p:cBhvr>
                                        <p:cTn id="122" dur="500" fill="hold"/>
                                        <p:tgtEl>
                                          <p:spTgt spid="49181"/>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49182"/>
                                        </p:tgtEl>
                                        <p:attrNameLst>
                                          <p:attrName>style.visibility</p:attrName>
                                        </p:attrNameLst>
                                      </p:cBhvr>
                                      <p:to>
                                        <p:strVal val="visible"/>
                                      </p:to>
                                    </p:set>
                                    <p:anim calcmode="lin" valueType="num">
                                      <p:cBhvr>
                                        <p:cTn id="125" dur="500" fill="hold"/>
                                        <p:tgtEl>
                                          <p:spTgt spid="49182"/>
                                        </p:tgtEl>
                                        <p:attrNameLst>
                                          <p:attrName>ppt_x</p:attrName>
                                        </p:attrNameLst>
                                      </p:cBhvr>
                                      <p:tavLst>
                                        <p:tav tm="0">
                                          <p:val>
                                            <p:strVal val="#ppt_x"/>
                                          </p:val>
                                        </p:tav>
                                        <p:tav tm="100000">
                                          <p:val>
                                            <p:strVal val="#ppt_x"/>
                                          </p:val>
                                        </p:tav>
                                      </p:tavLst>
                                    </p:anim>
                                    <p:anim calcmode="lin" valueType="num">
                                      <p:cBhvr>
                                        <p:cTn id="126" dur="500" fill="hold"/>
                                        <p:tgtEl>
                                          <p:spTgt spid="49182"/>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49183"/>
                                        </p:tgtEl>
                                        <p:attrNameLst>
                                          <p:attrName>style.visibility</p:attrName>
                                        </p:attrNameLst>
                                      </p:cBhvr>
                                      <p:to>
                                        <p:strVal val="visible"/>
                                      </p:to>
                                    </p:set>
                                    <p:anim calcmode="lin" valueType="num">
                                      <p:cBhvr>
                                        <p:cTn id="129" dur="500" fill="hold"/>
                                        <p:tgtEl>
                                          <p:spTgt spid="49183"/>
                                        </p:tgtEl>
                                        <p:attrNameLst>
                                          <p:attrName>ppt_x</p:attrName>
                                        </p:attrNameLst>
                                      </p:cBhvr>
                                      <p:tavLst>
                                        <p:tav tm="0">
                                          <p:val>
                                            <p:strVal val="#ppt_x"/>
                                          </p:val>
                                        </p:tav>
                                        <p:tav tm="100000">
                                          <p:val>
                                            <p:strVal val="#ppt_x"/>
                                          </p:val>
                                        </p:tav>
                                      </p:tavLst>
                                    </p:anim>
                                    <p:anim calcmode="lin" valueType="num">
                                      <p:cBhvr>
                                        <p:cTn id="130" dur="500" fill="hold"/>
                                        <p:tgtEl>
                                          <p:spTgt spid="49183"/>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49184"/>
                                        </p:tgtEl>
                                        <p:attrNameLst>
                                          <p:attrName>style.visibility</p:attrName>
                                        </p:attrNameLst>
                                      </p:cBhvr>
                                      <p:to>
                                        <p:strVal val="visible"/>
                                      </p:to>
                                    </p:set>
                                    <p:anim calcmode="lin" valueType="num">
                                      <p:cBhvr>
                                        <p:cTn id="133" dur="500" fill="hold"/>
                                        <p:tgtEl>
                                          <p:spTgt spid="49184"/>
                                        </p:tgtEl>
                                        <p:attrNameLst>
                                          <p:attrName>ppt_x</p:attrName>
                                        </p:attrNameLst>
                                      </p:cBhvr>
                                      <p:tavLst>
                                        <p:tav tm="0">
                                          <p:val>
                                            <p:strVal val="#ppt_x"/>
                                          </p:val>
                                        </p:tav>
                                        <p:tav tm="100000">
                                          <p:val>
                                            <p:strVal val="#ppt_x"/>
                                          </p:val>
                                        </p:tav>
                                      </p:tavLst>
                                    </p:anim>
                                    <p:anim calcmode="lin" valueType="num">
                                      <p:cBhvr>
                                        <p:cTn id="134" dur="500" fill="hold"/>
                                        <p:tgtEl>
                                          <p:spTgt spid="49184"/>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49185"/>
                                        </p:tgtEl>
                                        <p:attrNameLst>
                                          <p:attrName>style.visibility</p:attrName>
                                        </p:attrNameLst>
                                      </p:cBhvr>
                                      <p:to>
                                        <p:strVal val="visible"/>
                                      </p:to>
                                    </p:set>
                                    <p:anim calcmode="lin" valueType="num">
                                      <p:cBhvr>
                                        <p:cTn id="137" dur="500" fill="hold"/>
                                        <p:tgtEl>
                                          <p:spTgt spid="49185"/>
                                        </p:tgtEl>
                                        <p:attrNameLst>
                                          <p:attrName>ppt_x</p:attrName>
                                        </p:attrNameLst>
                                      </p:cBhvr>
                                      <p:tavLst>
                                        <p:tav tm="0">
                                          <p:val>
                                            <p:strVal val="#ppt_x"/>
                                          </p:val>
                                        </p:tav>
                                        <p:tav tm="100000">
                                          <p:val>
                                            <p:strVal val="#ppt_x"/>
                                          </p:val>
                                        </p:tav>
                                      </p:tavLst>
                                    </p:anim>
                                    <p:anim calcmode="lin" valueType="num">
                                      <p:cBhvr>
                                        <p:cTn id="138" dur="500" fill="hold"/>
                                        <p:tgtEl>
                                          <p:spTgt spid="49185"/>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49186"/>
                                        </p:tgtEl>
                                        <p:attrNameLst>
                                          <p:attrName>style.visibility</p:attrName>
                                        </p:attrNameLst>
                                      </p:cBhvr>
                                      <p:to>
                                        <p:strVal val="visible"/>
                                      </p:to>
                                    </p:set>
                                    <p:anim calcmode="lin" valueType="num">
                                      <p:cBhvr>
                                        <p:cTn id="141" dur="500" fill="hold"/>
                                        <p:tgtEl>
                                          <p:spTgt spid="49186"/>
                                        </p:tgtEl>
                                        <p:attrNameLst>
                                          <p:attrName>ppt_x</p:attrName>
                                        </p:attrNameLst>
                                      </p:cBhvr>
                                      <p:tavLst>
                                        <p:tav tm="0">
                                          <p:val>
                                            <p:strVal val="#ppt_x"/>
                                          </p:val>
                                        </p:tav>
                                        <p:tav tm="100000">
                                          <p:val>
                                            <p:strVal val="#ppt_x"/>
                                          </p:val>
                                        </p:tav>
                                      </p:tavLst>
                                    </p:anim>
                                    <p:anim calcmode="lin" valueType="num">
                                      <p:cBhvr>
                                        <p:cTn id="142" dur="500" fill="hold"/>
                                        <p:tgtEl>
                                          <p:spTgt spid="49186"/>
                                        </p:tgtEl>
                                        <p:attrNameLst>
                                          <p:attrName>ppt_y</p:attrName>
                                        </p:attrNameLst>
                                      </p:cBhvr>
                                      <p:tavLst>
                                        <p:tav tm="0">
                                          <p:val>
                                            <p:strVal val="1+#ppt_h/2"/>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18" presetClass="entr" presetSubtype="6" fill="hold" grpId="0" nodeType="clickEffect">
                                  <p:stCondLst>
                                    <p:cond delay="0"/>
                                  </p:stCondLst>
                                  <p:childTnLst>
                                    <p:set>
                                      <p:cBhvr>
                                        <p:cTn id="146" dur="1" fill="hold">
                                          <p:stCondLst>
                                            <p:cond delay="0"/>
                                          </p:stCondLst>
                                        </p:cTn>
                                        <p:tgtEl>
                                          <p:spTgt spid="49187"/>
                                        </p:tgtEl>
                                        <p:attrNameLst>
                                          <p:attrName>style.visibility</p:attrName>
                                        </p:attrNameLst>
                                      </p:cBhvr>
                                      <p:to>
                                        <p:strVal val="visible"/>
                                      </p:to>
                                    </p:set>
                                    <p:animEffect transition="in" filter="strips(downRight)">
                                      <p:cBhvr>
                                        <p:cTn id="147" dur="500"/>
                                        <p:tgtEl>
                                          <p:spTgt spid="49187"/>
                                        </p:tgtEl>
                                      </p:cBhvr>
                                    </p:animEffect>
                                  </p:childTnLst>
                                </p:cTn>
                              </p:par>
                            </p:childTnLst>
                          </p:cTn>
                        </p:par>
                      </p:childTnLst>
                    </p:cTn>
                  </p:par>
                  <p:par>
                    <p:cTn id="148" fill="hold">
                      <p:stCondLst>
                        <p:cond delay="indefinite"/>
                      </p:stCondLst>
                      <p:childTnLst>
                        <p:par>
                          <p:cTn id="149" fill="hold">
                            <p:stCondLst>
                              <p:cond delay="0"/>
                            </p:stCondLst>
                            <p:childTnLst>
                              <p:par>
                                <p:cTn id="150" presetID="5" presetClass="entr" presetSubtype="10" fill="hold" grpId="0" nodeType="clickEffect">
                                  <p:stCondLst>
                                    <p:cond delay="0"/>
                                  </p:stCondLst>
                                  <p:childTnLst>
                                    <p:set>
                                      <p:cBhvr>
                                        <p:cTn id="151" dur="1" fill="hold">
                                          <p:stCondLst>
                                            <p:cond delay="0"/>
                                          </p:stCondLst>
                                        </p:cTn>
                                        <p:tgtEl>
                                          <p:spTgt spid="49188"/>
                                        </p:tgtEl>
                                        <p:attrNameLst>
                                          <p:attrName>style.visibility</p:attrName>
                                        </p:attrNameLst>
                                      </p:cBhvr>
                                      <p:to>
                                        <p:strVal val="visible"/>
                                      </p:to>
                                    </p:set>
                                    <p:animEffect transition="in" filter="checkerboard(across)">
                                      <p:cBhvr>
                                        <p:cTn id="152" dur="500"/>
                                        <p:tgtEl>
                                          <p:spTgt spid="49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P spid="49156" grpId="0" animBg="1"/>
      <p:bldP spid="49165" grpId="0"/>
      <p:bldP spid="49166" grpId="0"/>
      <p:bldP spid="49167" grpId="0"/>
      <p:bldP spid="49168" grpId="0"/>
      <p:bldP spid="49169" grpId="0"/>
      <p:bldP spid="49170" grpId="0" animBg="1"/>
      <p:bldP spid="49180" grpId="0"/>
      <p:bldP spid="49181" grpId="0"/>
      <p:bldP spid="49182" grpId="0"/>
      <p:bldP spid="49183" grpId="0"/>
      <p:bldP spid="49184" grpId="0"/>
      <p:bldP spid="49185" grpId="0"/>
      <p:bldP spid="49186" grpId="0"/>
      <p:bldP spid="49187" grpId="0"/>
      <p:bldP spid="4918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idx="4294967295"/>
          </p:nvPr>
        </p:nvSpPr>
        <p:spPr>
          <a:xfrm>
            <a:off x="827088" y="981075"/>
            <a:ext cx="6553200" cy="563563"/>
          </a:xfrm>
        </p:spPr>
        <p:txBody>
          <a:bodyPr vert="horz" wrap="square" lIns="91440" tIns="45720" rIns="91440" bIns="45720" anchor="ctr" anchorCtr="0"/>
          <a:p>
            <a:pPr eaLnBrk="1" hangingPunct="1"/>
            <a:r>
              <a:rPr lang="zh-CN" altLang="en-US" dirty="0">
                <a:solidFill>
                  <a:srgbClr val="002060"/>
                </a:solidFill>
                <a:latin typeface="宋体" panose="02010600030101010101" pitchFamily="2" charset="-122"/>
                <a:ea typeface="宋体" panose="02010600030101010101" pitchFamily="2" charset="-122"/>
              </a:rPr>
              <a:t>（</a:t>
            </a:r>
            <a:r>
              <a:rPr lang="en-US" altLang="zh-CN" dirty="0">
                <a:solidFill>
                  <a:srgbClr val="002060"/>
                </a:solidFill>
                <a:latin typeface="宋体" panose="02010600030101010101" pitchFamily="2" charset="-122"/>
                <a:ea typeface="宋体" panose="02010600030101010101" pitchFamily="2" charset="-122"/>
              </a:rPr>
              <a:t>2</a:t>
            </a:r>
            <a:r>
              <a:rPr lang="zh-CN" altLang="en-US" dirty="0">
                <a:solidFill>
                  <a:srgbClr val="002060"/>
                </a:solidFill>
                <a:latin typeface="宋体" panose="02010600030101010101" pitchFamily="2" charset="-122"/>
                <a:ea typeface="宋体" panose="02010600030101010101" pitchFamily="2" charset="-122"/>
              </a:rPr>
              <a:t>）</a:t>
            </a:r>
            <a:r>
              <a:rPr lang="en-US" altLang="zh-CN" dirty="0">
                <a:solidFill>
                  <a:srgbClr val="002060"/>
                </a:solidFill>
                <a:latin typeface="宋体" panose="02010600030101010101" pitchFamily="2" charset="-122"/>
                <a:ea typeface="宋体" panose="02010600030101010101" pitchFamily="2" charset="-122"/>
              </a:rPr>
              <a:t>PUSHF，POPF</a:t>
            </a:r>
            <a:endParaRPr lang="en-US" altLang="zh-CN" dirty="0">
              <a:solidFill>
                <a:srgbClr val="002060"/>
              </a:solidFill>
              <a:latin typeface="宋体" panose="02010600030101010101" pitchFamily="2" charset="-122"/>
              <a:ea typeface="宋体" panose="02010600030101010101" pitchFamily="2" charset="-122"/>
            </a:endParaRPr>
          </a:p>
        </p:txBody>
      </p:sp>
      <p:sp>
        <p:nvSpPr>
          <p:cNvPr id="50179" name="Rectangle 3"/>
          <p:cNvSpPr>
            <a:spLocks noGrp="1"/>
          </p:cNvSpPr>
          <p:nvPr>
            <p:ph type="body" idx="4294967295"/>
          </p:nvPr>
        </p:nvSpPr>
        <p:spPr>
          <a:xfrm>
            <a:off x="971550" y="1773238"/>
            <a:ext cx="5688013" cy="4679950"/>
          </a:xfrm>
        </p:spPr>
        <p:txBody>
          <a:bodyPr vert="horz" wrap="square" lIns="91440" tIns="45720" rIns="91440" bIns="45720" anchor="t" anchorCtr="0"/>
          <a:p>
            <a:pPr eaLnBrk="1" hangingPunct="1">
              <a:buFont typeface="Wingdings" panose="05000000000000000000" pitchFamily="2" charset="2"/>
              <a:buChar char="Ø"/>
            </a:pPr>
            <a:r>
              <a:rPr lang="zh-CN" altLang="en-US" b="0" dirty="0">
                <a:latin typeface="宋体" panose="02010600030101010101" pitchFamily="2" charset="-122"/>
                <a:ea typeface="宋体" panose="02010600030101010101" pitchFamily="2" charset="-122"/>
              </a:rPr>
              <a:t>针对</a:t>
            </a:r>
            <a:r>
              <a:rPr lang="en-US" altLang="zh-CN" b="0" dirty="0">
                <a:latin typeface="宋体" panose="02010600030101010101" pitchFamily="2" charset="-122"/>
                <a:ea typeface="宋体" panose="02010600030101010101" pitchFamily="2" charset="-122"/>
              </a:rPr>
              <a:t>FLAGS</a:t>
            </a:r>
            <a:r>
              <a:rPr lang="zh-CN" altLang="en-US" b="0" dirty="0">
                <a:latin typeface="宋体" panose="02010600030101010101" pitchFamily="2" charset="-122"/>
                <a:ea typeface="宋体" panose="02010600030101010101" pitchFamily="2" charset="-122"/>
              </a:rPr>
              <a:t>的堆栈操作指令</a:t>
            </a:r>
            <a:endParaRPr lang="zh-CN" altLang="en-US" b="0" dirty="0">
              <a:latin typeface="宋体" panose="02010600030101010101" pitchFamily="2" charset="-122"/>
              <a:ea typeface="宋体" panose="02010600030101010101" pitchFamily="2" charset="-122"/>
            </a:endParaRPr>
          </a:p>
          <a:p>
            <a:pPr eaLnBrk="1" hangingPunct="1">
              <a:buNone/>
            </a:pPr>
            <a:r>
              <a:rPr lang="zh-CN" altLang="en-US" b="0" dirty="0">
                <a:latin typeface="宋体" panose="02010600030101010101" pitchFamily="2" charset="-122"/>
                <a:ea typeface="宋体" panose="02010600030101010101" pitchFamily="2" charset="-122"/>
              </a:rPr>
              <a:t> </a:t>
            </a:r>
            <a:r>
              <a:rPr lang="zh-CN" altLang="en-US" b="0" dirty="0">
                <a:solidFill>
                  <a:srgbClr val="FF0000"/>
                </a:solidFill>
                <a:latin typeface="宋体" panose="02010600030101010101" pitchFamily="2" charset="-122"/>
                <a:ea typeface="宋体" panose="02010600030101010101" pitchFamily="2" charset="-122"/>
              </a:rPr>
              <a:t>将标志寄存器压栈或从堆栈弹出</a:t>
            </a:r>
            <a:endParaRPr lang="en-US" altLang="zh-CN" b="0" dirty="0">
              <a:solidFill>
                <a:srgbClr val="FF0000"/>
              </a:solidFill>
              <a:latin typeface="宋体" panose="02010600030101010101" pitchFamily="2" charset="-122"/>
              <a:ea typeface="宋体" panose="02010600030101010101" pitchFamily="2" charset="-122"/>
            </a:endParaRPr>
          </a:p>
          <a:p>
            <a:pPr eaLnBrk="1" hangingPunct="1">
              <a:buFont typeface="Wingdings" panose="05000000000000000000" pitchFamily="2" charset="2"/>
              <a:buChar char="l"/>
            </a:pPr>
            <a:r>
              <a:rPr lang="en-US" altLang="zh-CN" b="0" dirty="0">
                <a:solidFill>
                  <a:srgbClr val="002060"/>
                </a:solidFill>
                <a:latin typeface="宋体" panose="02010600030101010101" pitchFamily="2" charset="-122"/>
                <a:ea typeface="宋体" panose="02010600030101010101" pitchFamily="2" charset="-122"/>
              </a:rPr>
              <a:t>PUSHF</a:t>
            </a:r>
            <a:r>
              <a:rPr lang="en-US" altLang="zh-CN" b="0" dirty="0">
                <a:solidFill>
                  <a:srgbClr val="002060"/>
                </a:solidFill>
                <a:latin typeface="宋体" panose="02010600030101010101" pitchFamily="2" charset="-122"/>
                <a:ea typeface="宋体" panose="02010600030101010101" pitchFamily="2" charset="-122"/>
                <a:sym typeface="Wingdings" panose="05000000000000000000" pitchFamily="2" charset="2"/>
              </a:rPr>
              <a:t>:(</a:t>
            </a:r>
            <a:r>
              <a:rPr lang="zh-CN" altLang="en-US" b="0" dirty="0">
                <a:solidFill>
                  <a:srgbClr val="002060"/>
                </a:solidFill>
                <a:latin typeface="宋体" panose="02010600030101010101" pitchFamily="2" charset="-122"/>
                <a:ea typeface="宋体" panose="02010600030101010101" pitchFamily="2" charset="-122"/>
                <a:sym typeface="Wingdings" panose="05000000000000000000" pitchFamily="2" charset="2"/>
              </a:rPr>
              <a:t>指令本身不影响标志位</a:t>
            </a:r>
            <a:r>
              <a:rPr lang="en-US" altLang="zh-CN" b="0" dirty="0">
                <a:solidFill>
                  <a:srgbClr val="002060"/>
                </a:solidFill>
                <a:latin typeface="宋体" panose="02010600030101010101" pitchFamily="2" charset="-122"/>
                <a:ea typeface="宋体" panose="02010600030101010101" pitchFamily="2" charset="-122"/>
                <a:sym typeface="Wingdings" panose="05000000000000000000" pitchFamily="2" charset="2"/>
              </a:rPr>
              <a:t>)</a:t>
            </a:r>
            <a:endParaRPr lang="en-US" altLang="zh-CN" b="0" dirty="0">
              <a:solidFill>
                <a:srgbClr val="002060"/>
              </a:solidFill>
              <a:latin typeface="宋体" panose="02010600030101010101" pitchFamily="2" charset="-122"/>
              <a:ea typeface="宋体" panose="02010600030101010101" pitchFamily="2" charset="-122"/>
            </a:endParaRPr>
          </a:p>
          <a:p>
            <a:pPr eaLnBrk="1" hangingPunct="1">
              <a:buNone/>
            </a:pPr>
            <a:r>
              <a:rPr lang="en-US" altLang="zh-CN" dirty="0">
                <a:solidFill>
                  <a:srgbClr val="002060"/>
                </a:solidFill>
                <a:latin typeface="宋体" panose="02010600030101010101" pitchFamily="2" charset="-122"/>
                <a:ea typeface="宋体" panose="02010600030101010101" pitchFamily="2" charset="-122"/>
              </a:rPr>
              <a:t>  </a:t>
            </a:r>
            <a:r>
              <a:rPr lang="en-US" altLang="zh-CN" sz="2000" dirty="0">
                <a:solidFill>
                  <a:srgbClr val="002060"/>
                </a:solidFill>
                <a:latin typeface="宋体" panose="02010600030101010101" pitchFamily="2" charset="-122"/>
                <a:ea typeface="宋体" panose="02010600030101010101" pitchFamily="2" charset="-122"/>
              </a:rPr>
              <a:t>[SP-1]     </a:t>
            </a:r>
            <a:r>
              <a:rPr lang="zh-CN" altLang="en-US" sz="2000" dirty="0">
                <a:solidFill>
                  <a:srgbClr val="002060"/>
                </a:solidFill>
                <a:latin typeface="宋体" panose="02010600030101010101" pitchFamily="2" charset="-122"/>
                <a:ea typeface="宋体" panose="02010600030101010101" pitchFamily="2" charset="-122"/>
              </a:rPr>
              <a:t>（</a:t>
            </a:r>
            <a:r>
              <a:rPr lang="en-US" altLang="zh-CN" sz="2000" dirty="0">
                <a:solidFill>
                  <a:srgbClr val="002060"/>
                </a:solidFill>
                <a:latin typeface="宋体" panose="02010600030101010101" pitchFamily="2" charset="-122"/>
                <a:ea typeface="宋体" panose="02010600030101010101" pitchFamily="2" charset="-122"/>
              </a:rPr>
              <a:t>FLAGS</a:t>
            </a:r>
            <a:r>
              <a:rPr lang="en-US" altLang="zh-CN" sz="1200" dirty="0">
                <a:solidFill>
                  <a:srgbClr val="002060"/>
                </a:solidFill>
                <a:latin typeface="宋体" panose="02010600030101010101" pitchFamily="2" charset="-122"/>
                <a:ea typeface="宋体" panose="02010600030101010101" pitchFamily="2" charset="-122"/>
              </a:rPr>
              <a:t>H</a:t>
            </a:r>
            <a:r>
              <a:rPr lang="zh-CN" altLang="en-US" sz="2000" dirty="0">
                <a:solidFill>
                  <a:srgbClr val="002060"/>
                </a:solidFill>
                <a:latin typeface="宋体" panose="02010600030101010101" pitchFamily="2" charset="-122"/>
                <a:ea typeface="宋体" panose="02010600030101010101" pitchFamily="2" charset="-122"/>
              </a:rPr>
              <a:t>）</a:t>
            </a:r>
            <a:endParaRPr lang="en-US" altLang="zh-CN" sz="2000" dirty="0">
              <a:solidFill>
                <a:srgbClr val="002060"/>
              </a:solidFill>
              <a:latin typeface="宋体" panose="02010600030101010101" pitchFamily="2" charset="-122"/>
              <a:ea typeface="宋体" panose="02010600030101010101" pitchFamily="2" charset="-122"/>
            </a:endParaRPr>
          </a:p>
          <a:p>
            <a:pPr eaLnBrk="1" hangingPunct="1">
              <a:buNone/>
            </a:pPr>
            <a:r>
              <a:rPr lang="en-US" altLang="zh-CN" sz="2000" dirty="0">
                <a:solidFill>
                  <a:srgbClr val="002060"/>
                </a:solidFill>
                <a:latin typeface="宋体" panose="02010600030101010101" pitchFamily="2" charset="-122"/>
                <a:ea typeface="宋体" panose="02010600030101010101" pitchFamily="2" charset="-122"/>
              </a:rPr>
              <a:t>   [SP-2]     </a:t>
            </a:r>
            <a:r>
              <a:rPr lang="zh-CN" altLang="en-US" sz="2000" dirty="0">
                <a:solidFill>
                  <a:srgbClr val="002060"/>
                </a:solidFill>
                <a:latin typeface="宋体" panose="02010600030101010101" pitchFamily="2" charset="-122"/>
                <a:ea typeface="宋体" panose="02010600030101010101" pitchFamily="2" charset="-122"/>
              </a:rPr>
              <a:t>（</a:t>
            </a:r>
            <a:r>
              <a:rPr lang="en-US" altLang="zh-CN" sz="2000" dirty="0">
                <a:solidFill>
                  <a:srgbClr val="002060"/>
                </a:solidFill>
                <a:latin typeface="宋体" panose="02010600030101010101" pitchFamily="2" charset="-122"/>
                <a:ea typeface="宋体" panose="02010600030101010101" pitchFamily="2" charset="-122"/>
              </a:rPr>
              <a:t>FLAGS</a:t>
            </a:r>
            <a:r>
              <a:rPr lang="en-US" altLang="zh-CN" sz="1200" dirty="0">
                <a:solidFill>
                  <a:srgbClr val="002060"/>
                </a:solidFill>
                <a:latin typeface="宋体" panose="02010600030101010101" pitchFamily="2" charset="-122"/>
                <a:ea typeface="宋体" panose="02010600030101010101" pitchFamily="2" charset="-122"/>
              </a:rPr>
              <a:t>L</a:t>
            </a:r>
            <a:r>
              <a:rPr lang="zh-CN" altLang="en-US" sz="2000" dirty="0">
                <a:solidFill>
                  <a:srgbClr val="002060"/>
                </a:solidFill>
                <a:latin typeface="宋体" panose="02010600030101010101" pitchFamily="2" charset="-122"/>
                <a:ea typeface="宋体" panose="02010600030101010101" pitchFamily="2" charset="-122"/>
              </a:rPr>
              <a:t>）</a:t>
            </a:r>
            <a:endParaRPr lang="en-US" altLang="zh-CN" sz="2000" dirty="0">
              <a:solidFill>
                <a:srgbClr val="002060"/>
              </a:solidFill>
              <a:latin typeface="宋体" panose="02010600030101010101" pitchFamily="2" charset="-122"/>
              <a:ea typeface="宋体" panose="02010600030101010101" pitchFamily="2" charset="-122"/>
            </a:endParaRPr>
          </a:p>
          <a:p>
            <a:pPr eaLnBrk="1" hangingPunct="1">
              <a:buNone/>
            </a:pPr>
            <a:r>
              <a:rPr lang="zh-CN" altLang="en-US" sz="2000" dirty="0">
                <a:solidFill>
                  <a:srgbClr val="002060"/>
                </a:solidFill>
                <a:latin typeface="宋体" panose="02010600030101010101" pitchFamily="2" charset="-122"/>
                <a:ea typeface="宋体" panose="02010600030101010101" pitchFamily="2" charset="-122"/>
              </a:rPr>
              <a:t>  （</a:t>
            </a:r>
            <a:r>
              <a:rPr lang="en-US" altLang="zh-CN" sz="2000" dirty="0">
                <a:solidFill>
                  <a:srgbClr val="002060"/>
                </a:solidFill>
                <a:latin typeface="宋体" panose="02010600030101010101" pitchFamily="2" charset="-122"/>
                <a:ea typeface="宋体" panose="02010600030101010101" pitchFamily="2" charset="-122"/>
              </a:rPr>
              <a:t>SP</a:t>
            </a:r>
            <a:r>
              <a:rPr lang="zh-CN" altLang="en-US" sz="2000" dirty="0">
                <a:solidFill>
                  <a:srgbClr val="002060"/>
                </a:solidFill>
                <a:latin typeface="宋体" panose="02010600030101010101" pitchFamily="2" charset="-122"/>
                <a:ea typeface="宋体" panose="02010600030101010101" pitchFamily="2" charset="-122"/>
              </a:rPr>
              <a:t>）      （</a:t>
            </a:r>
            <a:r>
              <a:rPr lang="en-US" altLang="zh-CN" sz="2000" dirty="0">
                <a:solidFill>
                  <a:srgbClr val="002060"/>
                </a:solidFill>
                <a:latin typeface="宋体" panose="02010600030101010101" pitchFamily="2" charset="-122"/>
                <a:ea typeface="宋体" panose="02010600030101010101" pitchFamily="2" charset="-122"/>
              </a:rPr>
              <a:t>SP</a:t>
            </a:r>
            <a:r>
              <a:rPr lang="zh-CN" altLang="en-US" sz="2000" dirty="0">
                <a:solidFill>
                  <a:srgbClr val="002060"/>
                </a:solidFill>
                <a:latin typeface="宋体" panose="02010600030101010101" pitchFamily="2" charset="-122"/>
                <a:ea typeface="宋体" panose="02010600030101010101" pitchFamily="2" charset="-122"/>
              </a:rPr>
              <a:t>）</a:t>
            </a:r>
            <a:r>
              <a:rPr lang="en-US" altLang="zh-CN" sz="2000" dirty="0">
                <a:solidFill>
                  <a:srgbClr val="002060"/>
                </a:solidFill>
                <a:latin typeface="宋体" panose="02010600030101010101" pitchFamily="2" charset="-122"/>
                <a:ea typeface="宋体" panose="02010600030101010101" pitchFamily="2" charset="-122"/>
              </a:rPr>
              <a:t>-2</a:t>
            </a:r>
            <a:endParaRPr lang="en-US" altLang="zh-CN" sz="2000" dirty="0">
              <a:solidFill>
                <a:srgbClr val="002060"/>
              </a:solidFill>
              <a:latin typeface="宋体" panose="02010600030101010101" pitchFamily="2" charset="-122"/>
              <a:ea typeface="宋体" panose="02010600030101010101" pitchFamily="2" charset="-122"/>
            </a:endParaRPr>
          </a:p>
          <a:p>
            <a:pPr eaLnBrk="1" hangingPunct="1">
              <a:buFont typeface="Wingdings" panose="05000000000000000000" pitchFamily="2" charset="2"/>
              <a:buChar char="l"/>
            </a:pPr>
            <a:r>
              <a:rPr lang="en-US" altLang="zh-CN" b="0" dirty="0">
                <a:solidFill>
                  <a:srgbClr val="002060"/>
                </a:solidFill>
                <a:latin typeface="宋体" panose="02010600030101010101" pitchFamily="2" charset="-122"/>
                <a:ea typeface="宋体" panose="02010600030101010101" pitchFamily="2" charset="-122"/>
              </a:rPr>
              <a:t>POPF:</a:t>
            </a:r>
            <a:r>
              <a:rPr lang="en-US" altLang="zh-CN" b="0" dirty="0">
                <a:solidFill>
                  <a:srgbClr val="002060"/>
                </a:solidFill>
                <a:latin typeface="宋体" panose="02010600030101010101" pitchFamily="2" charset="-122"/>
                <a:ea typeface="宋体" panose="02010600030101010101" pitchFamily="2" charset="-122"/>
                <a:sym typeface="Wingdings" panose="05000000000000000000" pitchFamily="2" charset="2"/>
              </a:rPr>
              <a:t>(</a:t>
            </a:r>
            <a:r>
              <a:rPr lang="zh-CN" altLang="en-US" b="0" dirty="0">
                <a:solidFill>
                  <a:srgbClr val="002060"/>
                </a:solidFill>
                <a:latin typeface="宋体" panose="02010600030101010101" pitchFamily="2" charset="-122"/>
                <a:ea typeface="宋体" panose="02010600030101010101" pitchFamily="2" charset="-122"/>
                <a:sym typeface="Wingdings" panose="05000000000000000000" pitchFamily="2" charset="2"/>
              </a:rPr>
              <a:t>指令影响标志位</a:t>
            </a:r>
            <a:r>
              <a:rPr lang="en-US" altLang="zh-CN" b="0" dirty="0">
                <a:solidFill>
                  <a:srgbClr val="002060"/>
                </a:solidFill>
                <a:latin typeface="宋体" panose="02010600030101010101" pitchFamily="2" charset="-122"/>
                <a:ea typeface="宋体" panose="02010600030101010101" pitchFamily="2" charset="-122"/>
                <a:sym typeface="Wingdings" panose="05000000000000000000" pitchFamily="2" charset="2"/>
              </a:rPr>
              <a:t>)</a:t>
            </a:r>
            <a:endParaRPr lang="en-US" altLang="zh-CN" b="0" dirty="0">
              <a:solidFill>
                <a:srgbClr val="002060"/>
              </a:solidFill>
              <a:latin typeface="宋体" panose="02010600030101010101" pitchFamily="2" charset="-122"/>
              <a:ea typeface="宋体" panose="02010600030101010101" pitchFamily="2" charset="-122"/>
              <a:sym typeface="Wingdings" panose="05000000000000000000" pitchFamily="2" charset="2"/>
            </a:endParaRPr>
          </a:p>
          <a:p>
            <a:pPr eaLnBrk="1" hangingPunct="1">
              <a:buNone/>
            </a:pPr>
            <a:r>
              <a:rPr lang="en-US" altLang="zh-CN" b="0" dirty="0">
                <a:solidFill>
                  <a:srgbClr val="002060"/>
                </a:solidFill>
                <a:latin typeface="宋体" panose="02010600030101010101" pitchFamily="2" charset="-122"/>
                <a:ea typeface="宋体" panose="02010600030101010101" pitchFamily="2" charset="-122"/>
                <a:sym typeface="Wingdings" panose="05000000000000000000" pitchFamily="2" charset="2"/>
              </a:rPr>
              <a:t> </a:t>
            </a:r>
            <a:r>
              <a:rPr lang="zh-CN" altLang="en-US" sz="2000" dirty="0">
                <a:solidFill>
                  <a:srgbClr val="002060"/>
                </a:solidFill>
                <a:latin typeface="宋体" panose="02010600030101010101" pitchFamily="2" charset="-122"/>
                <a:ea typeface="宋体" panose="02010600030101010101" pitchFamily="2" charset="-122"/>
              </a:rPr>
              <a:t>（</a:t>
            </a:r>
            <a:r>
              <a:rPr lang="en-US" altLang="zh-CN" sz="2000" dirty="0">
                <a:solidFill>
                  <a:srgbClr val="002060"/>
                </a:solidFill>
                <a:latin typeface="宋体" panose="02010600030101010101" pitchFamily="2" charset="-122"/>
                <a:ea typeface="宋体" panose="02010600030101010101" pitchFamily="2" charset="-122"/>
              </a:rPr>
              <a:t>FLAGS</a:t>
            </a:r>
            <a:r>
              <a:rPr lang="en-US" altLang="zh-CN" sz="1200" dirty="0">
                <a:solidFill>
                  <a:srgbClr val="002060"/>
                </a:solidFill>
                <a:latin typeface="宋体" panose="02010600030101010101" pitchFamily="2" charset="-122"/>
                <a:ea typeface="宋体" panose="02010600030101010101" pitchFamily="2" charset="-122"/>
              </a:rPr>
              <a:t>L</a:t>
            </a:r>
            <a:r>
              <a:rPr lang="zh-CN" altLang="en-US" sz="2000" dirty="0">
                <a:solidFill>
                  <a:srgbClr val="002060"/>
                </a:solidFill>
                <a:latin typeface="宋体" panose="02010600030101010101" pitchFamily="2" charset="-122"/>
                <a:ea typeface="宋体" panose="02010600030101010101" pitchFamily="2" charset="-122"/>
              </a:rPr>
              <a:t>）    </a:t>
            </a:r>
            <a:r>
              <a:rPr lang="en-US" altLang="zh-CN" sz="2000" dirty="0">
                <a:solidFill>
                  <a:srgbClr val="002060"/>
                </a:solidFill>
                <a:latin typeface="宋体" panose="02010600030101010101" pitchFamily="2" charset="-122"/>
                <a:ea typeface="宋体" panose="02010600030101010101" pitchFamily="2" charset="-122"/>
              </a:rPr>
              <a:t>[SP]</a:t>
            </a:r>
            <a:r>
              <a:rPr lang="zh-CN" altLang="en-US" sz="2000" dirty="0">
                <a:solidFill>
                  <a:srgbClr val="002060"/>
                </a:solidFill>
                <a:latin typeface="宋体" panose="02010600030101010101" pitchFamily="2" charset="-122"/>
                <a:ea typeface="宋体" panose="02010600030101010101" pitchFamily="2" charset="-122"/>
              </a:rPr>
              <a:t> </a:t>
            </a:r>
            <a:endParaRPr lang="en-US" altLang="zh-CN" sz="2000" dirty="0">
              <a:solidFill>
                <a:srgbClr val="002060"/>
              </a:solidFill>
              <a:latin typeface="宋体" panose="02010600030101010101" pitchFamily="2" charset="-122"/>
              <a:ea typeface="宋体" panose="02010600030101010101" pitchFamily="2" charset="-122"/>
            </a:endParaRPr>
          </a:p>
          <a:p>
            <a:pPr eaLnBrk="1" hangingPunct="1">
              <a:buNone/>
            </a:pPr>
            <a:r>
              <a:rPr lang="zh-CN" altLang="en-US" sz="2000" dirty="0">
                <a:solidFill>
                  <a:srgbClr val="002060"/>
                </a:solidFill>
                <a:latin typeface="宋体" panose="02010600030101010101" pitchFamily="2" charset="-122"/>
                <a:ea typeface="宋体" panose="02010600030101010101" pitchFamily="2" charset="-122"/>
              </a:rPr>
              <a:t> （</a:t>
            </a:r>
            <a:r>
              <a:rPr lang="en-US" altLang="zh-CN" sz="2000" dirty="0">
                <a:solidFill>
                  <a:srgbClr val="002060"/>
                </a:solidFill>
                <a:latin typeface="宋体" panose="02010600030101010101" pitchFamily="2" charset="-122"/>
                <a:ea typeface="宋体" panose="02010600030101010101" pitchFamily="2" charset="-122"/>
              </a:rPr>
              <a:t>FLAGS</a:t>
            </a:r>
            <a:r>
              <a:rPr lang="en-US" altLang="zh-CN" sz="1400" dirty="0">
                <a:solidFill>
                  <a:srgbClr val="002060"/>
                </a:solidFill>
                <a:latin typeface="宋体" panose="02010600030101010101" pitchFamily="2" charset="-122"/>
                <a:ea typeface="宋体" panose="02010600030101010101" pitchFamily="2" charset="-122"/>
              </a:rPr>
              <a:t>H</a:t>
            </a:r>
            <a:r>
              <a:rPr lang="zh-CN" altLang="en-US" sz="2000" dirty="0">
                <a:solidFill>
                  <a:srgbClr val="002060"/>
                </a:solidFill>
                <a:latin typeface="宋体" panose="02010600030101010101" pitchFamily="2" charset="-122"/>
                <a:ea typeface="宋体" panose="02010600030101010101" pitchFamily="2" charset="-122"/>
              </a:rPr>
              <a:t>）    </a:t>
            </a:r>
            <a:r>
              <a:rPr lang="en-US" altLang="zh-CN" sz="2000" dirty="0">
                <a:solidFill>
                  <a:srgbClr val="002060"/>
                </a:solidFill>
                <a:latin typeface="宋体" panose="02010600030101010101" pitchFamily="2" charset="-122"/>
                <a:ea typeface="宋体" panose="02010600030101010101" pitchFamily="2" charset="-122"/>
              </a:rPr>
              <a:t>[SP+1]</a:t>
            </a:r>
            <a:endParaRPr lang="en-US" altLang="zh-CN" sz="2000" dirty="0">
              <a:solidFill>
                <a:srgbClr val="002060"/>
              </a:solidFill>
              <a:latin typeface="宋体" panose="02010600030101010101" pitchFamily="2" charset="-122"/>
              <a:ea typeface="宋体" panose="02010600030101010101" pitchFamily="2" charset="-122"/>
            </a:endParaRPr>
          </a:p>
          <a:p>
            <a:pPr eaLnBrk="1" hangingPunct="1">
              <a:buNone/>
            </a:pPr>
            <a:r>
              <a:rPr lang="zh-CN" altLang="en-US" sz="2000" dirty="0">
                <a:solidFill>
                  <a:srgbClr val="002060"/>
                </a:solidFill>
                <a:latin typeface="宋体" panose="02010600030101010101" pitchFamily="2" charset="-122"/>
                <a:ea typeface="宋体" panose="02010600030101010101" pitchFamily="2" charset="-122"/>
              </a:rPr>
              <a:t> （</a:t>
            </a:r>
            <a:r>
              <a:rPr lang="en-US" altLang="zh-CN" sz="2000" dirty="0">
                <a:solidFill>
                  <a:srgbClr val="002060"/>
                </a:solidFill>
                <a:latin typeface="宋体" panose="02010600030101010101" pitchFamily="2" charset="-122"/>
                <a:ea typeface="宋体" panose="02010600030101010101" pitchFamily="2" charset="-122"/>
              </a:rPr>
              <a:t>SP</a:t>
            </a:r>
            <a:r>
              <a:rPr lang="zh-CN" altLang="en-US" sz="2000" dirty="0">
                <a:solidFill>
                  <a:srgbClr val="002060"/>
                </a:solidFill>
                <a:latin typeface="宋体" panose="02010600030101010101" pitchFamily="2" charset="-122"/>
                <a:ea typeface="宋体" panose="02010600030101010101" pitchFamily="2" charset="-122"/>
              </a:rPr>
              <a:t>）      （</a:t>
            </a:r>
            <a:r>
              <a:rPr lang="en-US" altLang="zh-CN" sz="2000" dirty="0">
                <a:solidFill>
                  <a:srgbClr val="002060"/>
                </a:solidFill>
                <a:latin typeface="宋体" panose="02010600030101010101" pitchFamily="2" charset="-122"/>
                <a:ea typeface="宋体" panose="02010600030101010101" pitchFamily="2" charset="-122"/>
              </a:rPr>
              <a:t>SP</a:t>
            </a:r>
            <a:r>
              <a:rPr lang="zh-CN" altLang="en-US" sz="2000" dirty="0">
                <a:solidFill>
                  <a:srgbClr val="002060"/>
                </a:solidFill>
                <a:latin typeface="宋体" panose="02010600030101010101" pitchFamily="2" charset="-122"/>
                <a:ea typeface="宋体" panose="02010600030101010101" pitchFamily="2" charset="-122"/>
              </a:rPr>
              <a:t>）</a:t>
            </a:r>
            <a:r>
              <a:rPr lang="en-US" altLang="zh-CN" sz="2000" dirty="0">
                <a:solidFill>
                  <a:srgbClr val="002060"/>
                </a:solidFill>
                <a:latin typeface="宋体" panose="02010600030101010101" pitchFamily="2" charset="-122"/>
                <a:ea typeface="宋体" panose="02010600030101010101" pitchFamily="2" charset="-122"/>
              </a:rPr>
              <a:t>+2</a:t>
            </a:r>
            <a:endParaRPr lang="en-US" altLang="zh-CN" sz="2000" dirty="0">
              <a:solidFill>
                <a:srgbClr val="002060"/>
              </a:solidFill>
              <a:latin typeface="宋体" panose="02010600030101010101" pitchFamily="2" charset="-122"/>
              <a:ea typeface="宋体" panose="02010600030101010101" pitchFamily="2" charset="-122"/>
            </a:endParaRPr>
          </a:p>
          <a:p>
            <a:pPr eaLnBrk="1" hangingPunct="1">
              <a:buNone/>
            </a:pPr>
            <a:endParaRPr lang="en-US" altLang="zh-CN" b="0" dirty="0">
              <a:solidFill>
                <a:srgbClr val="002060"/>
              </a:solidFill>
              <a:latin typeface="宋体" panose="02010600030101010101" pitchFamily="2" charset="-122"/>
              <a:ea typeface="宋体" panose="02010600030101010101" pitchFamily="2" charset="-122"/>
            </a:endParaRPr>
          </a:p>
          <a:p>
            <a:pPr eaLnBrk="1" hangingPunct="1">
              <a:buNone/>
            </a:pPr>
            <a:endParaRPr lang="zh-CN" altLang="en-US" b="0" dirty="0">
              <a:solidFill>
                <a:srgbClr val="002060"/>
              </a:solidFill>
              <a:latin typeface="宋体" panose="02010600030101010101" pitchFamily="2" charset="-122"/>
              <a:ea typeface="宋体" panose="02010600030101010101" pitchFamily="2" charset="-122"/>
            </a:endParaRPr>
          </a:p>
        </p:txBody>
      </p:sp>
      <p:cxnSp>
        <p:nvCxnSpPr>
          <p:cNvPr id="49156" name="直接箭头连接符 2"/>
          <p:cNvCxnSpPr/>
          <p:nvPr/>
        </p:nvCxnSpPr>
        <p:spPr>
          <a:xfrm flipH="1">
            <a:off x="2252663" y="3573463"/>
            <a:ext cx="576262" cy="0"/>
          </a:xfrm>
          <a:prstGeom prst="straightConnector1">
            <a:avLst/>
          </a:prstGeom>
          <a:ln w="9525" cap="flat" cmpd="sng">
            <a:solidFill>
              <a:schemeClr val="tx1"/>
            </a:solidFill>
            <a:prstDash val="solid"/>
            <a:headEnd type="none" w="med" len="med"/>
            <a:tailEnd type="triangle" w="med" len="med"/>
          </a:ln>
        </p:spPr>
      </p:cxnSp>
      <p:cxnSp>
        <p:nvCxnSpPr>
          <p:cNvPr id="49157" name="直接箭头连接符 4"/>
          <p:cNvCxnSpPr/>
          <p:nvPr/>
        </p:nvCxnSpPr>
        <p:spPr>
          <a:xfrm flipH="1">
            <a:off x="2268538" y="4005263"/>
            <a:ext cx="574675" cy="0"/>
          </a:xfrm>
          <a:prstGeom prst="straightConnector1">
            <a:avLst/>
          </a:prstGeom>
          <a:ln w="9525" cap="flat" cmpd="sng">
            <a:solidFill>
              <a:schemeClr val="tx1"/>
            </a:solidFill>
            <a:prstDash val="solid"/>
            <a:headEnd type="none" w="med" len="med"/>
            <a:tailEnd type="triangle" w="med" len="med"/>
          </a:ln>
        </p:spPr>
      </p:cxnSp>
      <p:cxnSp>
        <p:nvCxnSpPr>
          <p:cNvPr id="49158" name="直接箭头连接符 9"/>
          <p:cNvCxnSpPr/>
          <p:nvPr/>
        </p:nvCxnSpPr>
        <p:spPr>
          <a:xfrm flipH="1">
            <a:off x="2252663" y="4365625"/>
            <a:ext cx="576262" cy="0"/>
          </a:xfrm>
          <a:prstGeom prst="straightConnector1">
            <a:avLst/>
          </a:prstGeom>
          <a:ln w="9525" cap="flat" cmpd="sng">
            <a:solidFill>
              <a:schemeClr val="tx1"/>
            </a:solidFill>
            <a:prstDash val="solid"/>
            <a:headEnd type="none" w="med" len="med"/>
            <a:tailEnd type="triangle" w="med" len="med"/>
          </a:ln>
        </p:spPr>
      </p:cxnSp>
      <p:cxnSp>
        <p:nvCxnSpPr>
          <p:cNvPr id="49159" name="直接箭头连接符 10"/>
          <p:cNvCxnSpPr/>
          <p:nvPr/>
        </p:nvCxnSpPr>
        <p:spPr>
          <a:xfrm flipH="1">
            <a:off x="2339975" y="5373688"/>
            <a:ext cx="576263" cy="0"/>
          </a:xfrm>
          <a:prstGeom prst="straightConnector1">
            <a:avLst/>
          </a:prstGeom>
          <a:ln w="9525" cap="flat" cmpd="sng">
            <a:solidFill>
              <a:schemeClr val="tx1"/>
            </a:solidFill>
            <a:prstDash val="solid"/>
            <a:headEnd type="none" w="med" len="med"/>
            <a:tailEnd type="triangle" w="med" len="med"/>
          </a:ln>
        </p:spPr>
      </p:cxnSp>
      <p:cxnSp>
        <p:nvCxnSpPr>
          <p:cNvPr id="49160" name="直接箭头连接符 11"/>
          <p:cNvCxnSpPr/>
          <p:nvPr/>
        </p:nvCxnSpPr>
        <p:spPr>
          <a:xfrm flipH="1">
            <a:off x="2339975" y="5732463"/>
            <a:ext cx="576263" cy="0"/>
          </a:xfrm>
          <a:prstGeom prst="straightConnector1">
            <a:avLst/>
          </a:prstGeom>
          <a:ln w="9525" cap="flat" cmpd="sng">
            <a:solidFill>
              <a:schemeClr val="tx1"/>
            </a:solidFill>
            <a:prstDash val="solid"/>
            <a:headEnd type="none" w="med" len="med"/>
            <a:tailEnd type="triangle" w="med" len="med"/>
          </a:ln>
        </p:spPr>
      </p:cxnSp>
      <p:cxnSp>
        <p:nvCxnSpPr>
          <p:cNvPr id="49161" name="直接箭头连接符 12"/>
          <p:cNvCxnSpPr/>
          <p:nvPr/>
        </p:nvCxnSpPr>
        <p:spPr>
          <a:xfrm flipH="1">
            <a:off x="2089150" y="6165850"/>
            <a:ext cx="576263" cy="0"/>
          </a:xfrm>
          <a:prstGeom prst="straightConnector1">
            <a:avLst/>
          </a:prstGeom>
          <a:ln w="9525" cap="flat" cmpd="sng">
            <a:solidFill>
              <a:schemeClr val="tx1"/>
            </a:solidFill>
            <a:prstDash val="solid"/>
            <a:headEnd type="none" w="med" len="med"/>
            <a:tailEnd type="triangle" w="med" len="med"/>
          </a:ln>
        </p:spPr>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0179">
                                            <p:txEl>
                                              <p:charRg st="0" end="15"/>
                                            </p:txEl>
                                          </p:spTgt>
                                        </p:tgtEl>
                                        <p:attrNameLst>
                                          <p:attrName>style.visibility</p:attrName>
                                        </p:attrNameLst>
                                      </p:cBhvr>
                                      <p:to>
                                        <p:strVal val="visible"/>
                                      </p:to>
                                    </p:set>
                                    <p:animEffect transition="in" filter="wipe(left)">
                                      <p:cBhvr>
                                        <p:cTn id="7" dur="500"/>
                                        <p:tgtEl>
                                          <p:spTgt spid="50179">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0179">
                                            <p:txEl>
                                              <p:charRg st="15" end="31"/>
                                            </p:txEl>
                                          </p:spTgt>
                                        </p:tgtEl>
                                        <p:attrNameLst>
                                          <p:attrName>style.visibility</p:attrName>
                                        </p:attrNameLst>
                                      </p:cBhvr>
                                      <p:to>
                                        <p:strVal val="visible"/>
                                      </p:to>
                                    </p:set>
                                    <p:animEffect transition="in" filter="wipe(left)">
                                      <p:cBhvr>
                                        <p:cTn id="12" dur="500"/>
                                        <p:tgtEl>
                                          <p:spTgt spid="50179">
                                            <p:txEl>
                                              <p:charRg st="15" end="3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0179">
                                            <p:txEl>
                                              <p:charRg st="31" end="50"/>
                                            </p:txEl>
                                          </p:spTgt>
                                        </p:tgtEl>
                                        <p:attrNameLst>
                                          <p:attrName>style.visibility</p:attrName>
                                        </p:attrNameLst>
                                      </p:cBhvr>
                                      <p:to>
                                        <p:strVal val="visible"/>
                                      </p:to>
                                    </p:set>
                                    <p:animEffect transition="in" filter="wipe(left)">
                                      <p:cBhvr>
                                        <p:cTn id="17" dur="500"/>
                                        <p:tgtEl>
                                          <p:spTgt spid="50179">
                                            <p:txEl>
                                              <p:charRg st="31" end="5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0179">
                                            <p:txEl>
                                              <p:charRg st="50" end="72"/>
                                            </p:txEl>
                                          </p:spTgt>
                                        </p:tgtEl>
                                        <p:attrNameLst>
                                          <p:attrName>style.visibility</p:attrName>
                                        </p:attrNameLst>
                                      </p:cBhvr>
                                      <p:to>
                                        <p:strVal val="visible"/>
                                      </p:to>
                                    </p:set>
                                    <p:animEffect transition="in" filter="wipe(left)">
                                      <p:cBhvr>
                                        <p:cTn id="22" dur="500"/>
                                        <p:tgtEl>
                                          <p:spTgt spid="50179">
                                            <p:txEl>
                                              <p:charRg st="50" end="7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0179">
                                            <p:txEl>
                                              <p:charRg st="72" end="95"/>
                                            </p:txEl>
                                          </p:spTgt>
                                        </p:tgtEl>
                                        <p:attrNameLst>
                                          <p:attrName>style.visibility</p:attrName>
                                        </p:attrNameLst>
                                      </p:cBhvr>
                                      <p:to>
                                        <p:strVal val="visible"/>
                                      </p:to>
                                    </p:set>
                                    <p:animEffect transition="in" filter="wipe(left)">
                                      <p:cBhvr>
                                        <p:cTn id="27" dur="500"/>
                                        <p:tgtEl>
                                          <p:spTgt spid="50179">
                                            <p:txEl>
                                              <p:charRg st="72" end="9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0179">
                                            <p:txEl>
                                              <p:charRg st="95" end="114"/>
                                            </p:txEl>
                                          </p:spTgt>
                                        </p:tgtEl>
                                        <p:attrNameLst>
                                          <p:attrName>style.visibility</p:attrName>
                                        </p:attrNameLst>
                                      </p:cBhvr>
                                      <p:to>
                                        <p:strVal val="visible"/>
                                      </p:to>
                                    </p:set>
                                    <p:animEffect transition="in" filter="wipe(left)">
                                      <p:cBhvr>
                                        <p:cTn id="32" dur="500"/>
                                        <p:tgtEl>
                                          <p:spTgt spid="50179">
                                            <p:txEl>
                                              <p:charRg st="95" end="11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0179">
                                            <p:txEl>
                                              <p:charRg st="114" end="129"/>
                                            </p:txEl>
                                          </p:spTgt>
                                        </p:tgtEl>
                                        <p:attrNameLst>
                                          <p:attrName>style.visibility</p:attrName>
                                        </p:attrNameLst>
                                      </p:cBhvr>
                                      <p:to>
                                        <p:strVal val="visible"/>
                                      </p:to>
                                    </p:set>
                                    <p:animEffect transition="in" filter="wipe(left)">
                                      <p:cBhvr>
                                        <p:cTn id="37" dur="500"/>
                                        <p:tgtEl>
                                          <p:spTgt spid="50179">
                                            <p:txEl>
                                              <p:charRg st="114" end="12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50179">
                                            <p:txEl>
                                              <p:charRg st="129" end="148"/>
                                            </p:txEl>
                                          </p:spTgt>
                                        </p:tgtEl>
                                        <p:attrNameLst>
                                          <p:attrName>style.visibility</p:attrName>
                                        </p:attrNameLst>
                                      </p:cBhvr>
                                      <p:to>
                                        <p:strVal val="visible"/>
                                      </p:to>
                                    </p:set>
                                    <p:animEffect transition="in" filter="wipe(left)">
                                      <p:cBhvr>
                                        <p:cTn id="42" dur="500"/>
                                        <p:tgtEl>
                                          <p:spTgt spid="50179">
                                            <p:txEl>
                                              <p:charRg st="129" end="14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0179">
                                            <p:txEl>
                                              <p:charRg st="148" end="168"/>
                                            </p:txEl>
                                          </p:spTgt>
                                        </p:tgtEl>
                                        <p:attrNameLst>
                                          <p:attrName>style.visibility</p:attrName>
                                        </p:attrNameLst>
                                      </p:cBhvr>
                                      <p:to>
                                        <p:strVal val="visible"/>
                                      </p:to>
                                    </p:set>
                                    <p:animEffect transition="in" filter="wipe(left)">
                                      <p:cBhvr>
                                        <p:cTn id="47" dur="500"/>
                                        <p:tgtEl>
                                          <p:spTgt spid="50179">
                                            <p:txEl>
                                              <p:charRg st="148" end="16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0179">
                                            <p:txEl>
                                              <p:charRg st="168" end="186"/>
                                            </p:txEl>
                                          </p:spTgt>
                                        </p:tgtEl>
                                        <p:attrNameLst>
                                          <p:attrName>style.visibility</p:attrName>
                                        </p:attrNameLst>
                                      </p:cBhvr>
                                      <p:to>
                                        <p:strVal val="visible"/>
                                      </p:to>
                                    </p:set>
                                    <p:animEffect transition="in" filter="wipe(left)">
                                      <p:cBhvr>
                                        <p:cTn id="52" dur="500"/>
                                        <p:tgtEl>
                                          <p:spTgt spid="50179">
                                            <p:txEl>
                                              <p:charRg st="168" end="1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3"/>
          <p:cNvSpPr>
            <a:spLocks noGrp="1"/>
          </p:cNvSpPr>
          <p:nvPr>
            <p:ph type="body" idx="4294967295"/>
          </p:nvPr>
        </p:nvSpPr>
        <p:spPr>
          <a:xfrm>
            <a:off x="1763713" y="2133600"/>
            <a:ext cx="4038600" cy="2667000"/>
          </a:xfrm>
        </p:spPr>
        <p:txBody>
          <a:bodyPr vert="horz" wrap="square" lIns="91440" tIns="45720" rIns="91440" bIns="45720" anchor="t" anchorCtr="0"/>
          <a:p>
            <a:pPr eaLnBrk="1" hangingPunct="1">
              <a:buFont typeface="Wingdings" panose="05000000000000000000" pitchFamily="2" charset="2"/>
              <a:buChar char="Ø"/>
            </a:pPr>
            <a:r>
              <a:rPr lang="zh-CN" altLang="en-US" sz="3200" dirty="0">
                <a:ea typeface="宋体" panose="02010600030101010101" pitchFamily="2" charset="-122"/>
              </a:rPr>
              <a:t>加法运算指令</a:t>
            </a:r>
            <a:endParaRPr lang="zh-CN" altLang="en-US" sz="3200" dirty="0">
              <a:ea typeface="宋体" panose="02010600030101010101" pitchFamily="2" charset="-122"/>
            </a:endParaRPr>
          </a:p>
          <a:p>
            <a:pPr eaLnBrk="1" hangingPunct="1">
              <a:buFont typeface="Wingdings" panose="05000000000000000000" pitchFamily="2" charset="2"/>
              <a:buChar char="Ø"/>
            </a:pPr>
            <a:r>
              <a:rPr lang="zh-CN" altLang="en-US" sz="3200" dirty="0">
                <a:ea typeface="宋体" panose="02010600030101010101" pitchFamily="2" charset="-122"/>
              </a:rPr>
              <a:t>减法运算指令</a:t>
            </a:r>
            <a:endParaRPr lang="zh-CN" altLang="en-US" sz="3200" dirty="0">
              <a:ea typeface="宋体" panose="02010600030101010101" pitchFamily="2" charset="-122"/>
            </a:endParaRPr>
          </a:p>
          <a:p>
            <a:pPr eaLnBrk="1" hangingPunct="1">
              <a:buFont typeface="Wingdings" panose="05000000000000000000" pitchFamily="2" charset="2"/>
              <a:buChar char="Ø"/>
            </a:pPr>
            <a:r>
              <a:rPr lang="zh-CN" altLang="en-US" sz="3200" dirty="0">
                <a:ea typeface="宋体" panose="02010600030101010101" pitchFamily="2" charset="-122"/>
              </a:rPr>
              <a:t>乘法指令</a:t>
            </a:r>
            <a:endParaRPr lang="zh-CN" altLang="en-US" sz="3200" dirty="0">
              <a:ea typeface="宋体" panose="02010600030101010101" pitchFamily="2" charset="-122"/>
            </a:endParaRPr>
          </a:p>
          <a:p>
            <a:pPr eaLnBrk="1" hangingPunct="1">
              <a:buFont typeface="Wingdings" panose="05000000000000000000" pitchFamily="2" charset="2"/>
              <a:buChar char="Ø"/>
            </a:pPr>
            <a:r>
              <a:rPr lang="zh-CN" altLang="en-US" sz="3200" dirty="0">
                <a:ea typeface="宋体" panose="02010600030101010101" pitchFamily="2" charset="-122"/>
              </a:rPr>
              <a:t>除法指令</a:t>
            </a:r>
            <a:endParaRPr lang="zh-CN" altLang="en-US" sz="3200" dirty="0">
              <a:ea typeface="宋体" panose="02010600030101010101" pitchFamily="2" charset="-122"/>
            </a:endParaRPr>
          </a:p>
        </p:txBody>
      </p:sp>
      <p:sp>
        <p:nvSpPr>
          <p:cNvPr id="51203" name="Text Box 6"/>
          <p:cNvSpPr txBox="1"/>
          <p:nvPr/>
        </p:nvSpPr>
        <p:spPr>
          <a:xfrm>
            <a:off x="611188" y="5013325"/>
            <a:ext cx="8243887" cy="647700"/>
          </a:xfrm>
          <a:prstGeom prst="rect">
            <a:avLst/>
          </a:prstGeom>
          <a:noFill/>
          <a:ln w="9525">
            <a:noFill/>
          </a:ln>
        </p:spPr>
        <p:txBody>
          <a:bodyPr>
            <a:spAutoFit/>
          </a:bodyPr>
          <a:p>
            <a:pPr eaLnBrk="0" hangingPunct="0">
              <a:lnSpc>
                <a:spcPct val="130000"/>
              </a:lnSpc>
              <a:spcBef>
                <a:spcPct val="50000"/>
              </a:spcBef>
              <a:buFont typeface="Wingdings" panose="05000000000000000000" pitchFamily="2" charset="2"/>
            </a:pPr>
            <a:r>
              <a:rPr lang="zh-CN" altLang="en-US" sz="2800" b="1" dirty="0">
                <a:solidFill>
                  <a:srgbClr val="FF0000"/>
                </a:solidFill>
                <a:latin typeface="Arial" panose="020B0604020202020204" pitchFamily="34" charset="0"/>
                <a:ea typeface="宋体" panose="02010600030101010101" pitchFamily="2" charset="-122"/>
              </a:rPr>
              <a:t>算术运算指令的执行大多对状态标志位会产生影响</a:t>
            </a:r>
            <a:endParaRPr lang="zh-CN" altLang="en-US" sz="2800" b="1" dirty="0">
              <a:solidFill>
                <a:srgbClr val="FF0000"/>
              </a:solidFill>
              <a:latin typeface="Arial" panose="020B0604020202020204" pitchFamily="34" charset="0"/>
              <a:ea typeface="宋体" panose="02010600030101010101" pitchFamily="2" charset="-122"/>
            </a:endParaRPr>
          </a:p>
        </p:txBody>
      </p:sp>
      <p:sp>
        <p:nvSpPr>
          <p:cNvPr id="50180" name="Rectangle 2"/>
          <p:cNvSpPr>
            <a:spLocks noGrp="1"/>
          </p:cNvSpPr>
          <p:nvPr/>
        </p:nvSpPr>
        <p:spPr>
          <a:xfrm>
            <a:off x="1763713" y="119063"/>
            <a:ext cx="6553200"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3.4.2 </a:t>
            </a:r>
            <a:r>
              <a:rPr lang="zh-CN" altLang="en-US" sz="3600" b="1" dirty="0">
                <a:solidFill>
                  <a:schemeClr val="bg1"/>
                </a:solidFill>
                <a:latin typeface="宋体" panose="02010600030101010101" pitchFamily="2" charset="-122"/>
                <a:ea typeface="宋体" panose="02010600030101010101" pitchFamily="2" charset="-122"/>
              </a:rPr>
              <a:t>算术运算类指令</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wipe(left)">
                                      <p:cBhvr>
                                        <p:cTn id="7" dur="500"/>
                                        <p:tgtEl>
                                          <p:spTgt spid="5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3"/>
          <p:cNvSpPr>
            <a:spLocks noGrp="1"/>
          </p:cNvSpPr>
          <p:nvPr>
            <p:ph type="body" idx="4294967295"/>
          </p:nvPr>
        </p:nvSpPr>
        <p:spPr>
          <a:xfrm>
            <a:off x="2087563" y="2263775"/>
            <a:ext cx="5410200" cy="2438400"/>
          </a:xfrm>
        </p:spPr>
        <p:txBody>
          <a:bodyPr vert="horz" wrap="square" lIns="91440" tIns="45720" rIns="91440" bIns="45720" anchor="t" anchorCtr="0"/>
          <a:p>
            <a:pPr eaLnBrk="1" hangingPunct="1">
              <a:lnSpc>
                <a:spcPct val="120000"/>
              </a:lnSpc>
              <a:buNone/>
            </a:pPr>
            <a:r>
              <a:rPr lang="zh-CN" altLang="en-US" dirty="0">
                <a:ea typeface="宋体" panose="02010600030101010101" pitchFamily="2" charset="-122"/>
              </a:rPr>
              <a:t>    普通加法指令</a:t>
            </a:r>
            <a:r>
              <a:rPr lang="en-US" altLang="zh-CN" dirty="0">
                <a:ea typeface="宋体" panose="02010600030101010101" pitchFamily="2" charset="-122"/>
              </a:rPr>
              <a:t>ADD</a:t>
            </a:r>
            <a:endParaRPr lang="en-US" altLang="zh-CN" dirty="0">
              <a:ea typeface="宋体" panose="02010600030101010101" pitchFamily="2" charset="-122"/>
            </a:endParaRPr>
          </a:p>
          <a:p>
            <a:pPr eaLnBrk="1" hangingPunct="1">
              <a:lnSpc>
                <a:spcPct val="120000"/>
              </a:lnSpc>
              <a:buNone/>
            </a:pPr>
            <a:r>
              <a:rPr lang="en-US" altLang="zh-CN" dirty="0">
                <a:ea typeface="宋体" panose="02010600030101010101" pitchFamily="2" charset="-122"/>
              </a:rPr>
              <a:t>    </a:t>
            </a:r>
            <a:r>
              <a:rPr lang="zh-CN" altLang="en-US" dirty="0">
                <a:ea typeface="宋体" panose="02010600030101010101" pitchFamily="2" charset="-122"/>
              </a:rPr>
              <a:t>带进位的加法指令</a:t>
            </a:r>
            <a:r>
              <a:rPr lang="en-US" altLang="zh-CN" dirty="0">
                <a:ea typeface="宋体" panose="02010600030101010101" pitchFamily="2" charset="-122"/>
              </a:rPr>
              <a:t>ADC</a:t>
            </a:r>
            <a:endParaRPr lang="en-US" altLang="zh-CN" dirty="0">
              <a:ea typeface="宋体" panose="02010600030101010101" pitchFamily="2" charset="-122"/>
            </a:endParaRPr>
          </a:p>
          <a:p>
            <a:pPr eaLnBrk="1" hangingPunct="1">
              <a:lnSpc>
                <a:spcPct val="120000"/>
              </a:lnSpc>
              <a:buNone/>
            </a:pPr>
            <a:r>
              <a:rPr lang="zh-CN" altLang="en-US" dirty="0">
                <a:ea typeface="宋体" panose="02010600030101010101" pitchFamily="2" charset="-122"/>
              </a:rPr>
              <a:t>    加1指令</a:t>
            </a:r>
            <a:r>
              <a:rPr lang="en-US" altLang="zh-CN" dirty="0">
                <a:ea typeface="宋体" panose="02010600030101010101" pitchFamily="2" charset="-122"/>
              </a:rPr>
              <a:t>INC</a:t>
            </a:r>
            <a:endParaRPr lang="en-US" altLang="zh-CN" dirty="0">
              <a:ea typeface="宋体" panose="02010600030101010101" pitchFamily="2" charset="-122"/>
            </a:endParaRPr>
          </a:p>
        </p:txBody>
      </p:sp>
      <p:sp>
        <p:nvSpPr>
          <p:cNvPr id="51203" name="AutoShape 4"/>
          <p:cNvSpPr/>
          <p:nvPr/>
        </p:nvSpPr>
        <p:spPr>
          <a:xfrm>
            <a:off x="2195513" y="2565400"/>
            <a:ext cx="215900" cy="1260475"/>
          </a:xfrm>
          <a:prstGeom prst="leftBrace">
            <a:avLst>
              <a:gd name="adj1" fmla="val 48273"/>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52228" name="Text Box 5"/>
          <p:cNvSpPr txBox="1"/>
          <p:nvPr/>
        </p:nvSpPr>
        <p:spPr>
          <a:xfrm>
            <a:off x="1114425" y="4675188"/>
            <a:ext cx="7129463" cy="625475"/>
          </a:xfrm>
          <a:prstGeom prst="rect">
            <a:avLst/>
          </a:prstGeom>
          <a:noFill/>
          <a:ln w="9525">
            <a:noFill/>
          </a:ln>
        </p:spPr>
        <p:txBody>
          <a:bodyPr>
            <a:spAutoFit/>
          </a:bodyPr>
          <a:p>
            <a:pPr eaLnBrk="0" hangingPunct="0">
              <a:lnSpc>
                <a:spcPct val="125000"/>
              </a:lnSpc>
              <a:spcBef>
                <a:spcPct val="50000"/>
              </a:spcBef>
              <a:buFont typeface="Wingdings" panose="05000000000000000000" pitchFamily="2" charset="2"/>
            </a:pPr>
            <a:r>
              <a:rPr lang="zh-CN" altLang="en-US" sz="2800" b="1" dirty="0">
                <a:solidFill>
                  <a:srgbClr val="FF0000"/>
                </a:solidFill>
                <a:latin typeface="Times New Roman" panose="02020603050405020304" pitchFamily="18" charset="0"/>
                <a:ea typeface="宋体" panose="02010600030101010101" pitchFamily="2" charset="-122"/>
              </a:rPr>
              <a:t>加法指令对操作数的要求与</a:t>
            </a:r>
            <a:r>
              <a:rPr lang="en-US" altLang="zh-CN" sz="2800" b="1" dirty="0">
                <a:solidFill>
                  <a:srgbClr val="FF0000"/>
                </a:solidFill>
                <a:latin typeface="Times New Roman" panose="02020603050405020304" pitchFamily="18" charset="0"/>
                <a:ea typeface="宋体" panose="02010600030101010101" pitchFamily="2" charset="-122"/>
              </a:rPr>
              <a:t>MOV</a:t>
            </a:r>
            <a:r>
              <a:rPr lang="zh-CN" altLang="en-US" sz="2800" b="1" dirty="0">
                <a:solidFill>
                  <a:srgbClr val="FF0000"/>
                </a:solidFill>
                <a:latin typeface="Times New Roman" panose="02020603050405020304" pitchFamily="18" charset="0"/>
                <a:ea typeface="宋体" panose="02010600030101010101" pitchFamily="2" charset="-122"/>
              </a:rPr>
              <a:t>指令相同</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51205" name="Rectangle 2"/>
          <p:cNvSpPr>
            <a:spLocks noGrp="1"/>
          </p:cNvSpPr>
          <p:nvPr/>
        </p:nvSpPr>
        <p:spPr>
          <a:xfrm>
            <a:off x="1763713" y="119063"/>
            <a:ext cx="6553200"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3.4.2.1 </a:t>
            </a:r>
            <a:r>
              <a:rPr lang="zh-CN" altLang="en-US" sz="3600" b="1" dirty="0">
                <a:solidFill>
                  <a:schemeClr val="bg1"/>
                </a:solidFill>
                <a:latin typeface="宋体" panose="02010600030101010101" pitchFamily="2" charset="-122"/>
                <a:ea typeface="宋体" panose="02010600030101010101" pitchFamily="2" charset="-122"/>
              </a:rPr>
              <a:t>加法指令</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2228">
                                            <p:txEl>
                                              <p:charRg st="0" end="20"/>
                                            </p:txEl>
                                          </p:spTgt>
                                        </p:tgtEl>
                                        <p:attrNameLst>
                                          <p:attrName>style.visibility</p:attrName>
                                        </p:attrNameLst>
                                      </p:cBhvr>
                                      <p:to>
                                        <p:strVal val="visible"/>
                                      </p:to>
                                    </p:set>
                                    <p:animEffect transition="in" filter="wipe(left)">
                                      <p:cBhvr>
                                        <p:cTn id="7" dur="500"/>
                                        <p:tgtEl>
                                          <p:spTgt spid="52228">
                                            <p:txEl>
                                              <p:charRg st="0" end="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type="title" idx="4294967295"/>
          </p:nvPr>
        </p:nvSpPr>
        <p:spPr>
          <a:xfrm>
            <a:off x="971550" y="1049338"/>
            <a:ext cx="6553200" cy="563562"/>
          </a:xfrm>
        </p:spPr>
        <p:txBody>
          <a:bodyPr vert="horz" wrap="square" lIns="91440" tIns="45720" rIns="91440" bIns="45720" anchor="ctr" anchorCtr="0"/>
          <a:p>
            <a:pPr eaLnBrk="1" hangingPunct="1"/>
            <a:r>
              <a:rPr lang="zh-CN" altLang="en-US" dirty="0">
                <a:solidFill>
                  <a:srgbClr val="002060"/>
                </a:solidFill>
                <a:latin typeface="宋体" panose="02010600030101010101" pitchFamily="2" charset="-122"/>
                <a:ea typeface="宋体" panose="02010600030101010101" pitchFamily="2" charset="-122"/>
              </a:rPr>
              <a:t>（</a:t>
            </a:r>
            <a:r>
              <a:rPr lang="en-US" altLang="zh-CN" dirty="0">
                <a:solidFill>
                  <a:srgbClr val="002060"/>
                </a:solidFill>
                <a:latin typeface="宋体" panose="02010600030101010101" pitchFamily="2" charset="-122"/>
                <a:ea typeface="宋体" panose="02010600030101010101" pitchFamily="2" charset="-122"/>
              </a:rPr>
              <a:t>1</a:t>
            </a:r>
            <a:r>
              <a:rPr lang="zh-CN" altLang="en-US" dirty="0">
                <a:solidFill>
                  <a:srgbClr val="002060"/>
                </a:solidFill>
                <a:latin typeface="宋体" panose="02010600030101010101" pitchFamily="2" charset="-122"/>
                <a:ea typeface="宋体" panose="02010600030101010101" pitchFamily="2" charset="-122"/>
              </a:rPr>
              <a:t>）</a:t>
            </a:r>
            <a:r>
              <a:rPr lang="en-US" altLang="zh-CN" dirty="0">
                <a:solidFill>
                  <a:srgbClr val="002060"/>
                </a:solidFill>
                <a:latin typeface="宋体" panose="02010600030101010101" pitchFamily="2" charset="-122"/>
                <a:ea typeface="宋体" panose="02010600030101010101" pitchFamily="2" charset="-122"/>
              </a:rPr>
              <a:t>ADD</a:t>
            </a:r>
            <a:r>
              <a:rPr lang="zh-CN" altLang="en-US" dirty="0">
                <a:solidFill>
                  <a:srgbClr val="002060"/>
                </a:solidFill>
                <a:latin typeface="宋体" panose="02010600030101010101" pitchFamily="2" charset="-122"/>
                <a:ea typeface="宋体" panose="02010600030101010101" pitchFamily="2" charset="-122"/>
              </a:rPr>
              <a:t>指令</a:t>
            </a:r>
            <a:endParaRPr lang="zh-CN" altLang="en-US" dirty="0">
              <a:solidFill>
                <a:srgbClr val="002060"/>
              </a:solidFill>
              <a:latin typeface="宋体" panose="02010600030101010101" pitchFamily="2" charset="-122"/>
              <a:ea typeface="宋体" panose="02010600030101010101" pitchFamily="2" charset="-122"/>
            </a:endParaRPr>
          </a:p>
        </p:txBody>
      </p:sp>
      <p:sp>
        <p:nvSpPr>
          <p:cNvPr id="53251" name="Rectangle 3"/>
          <p:cNvSpPr>
            <a:spLocks noGrp="1"/>
          </p:cNvSpPr>
          <p:nvPr>
            <p:ph type="body" idx="4294967295"/>
          </p:nvPr>
        </p:nvSpPr>
        <p:spPr>
          <a:xfrm>
            <a:off x="1182688" y="2017713"/>
            <a:ext cx="5621337" cy="2706687"/>
          </a:xfrm>
        </p:spPr>
        <p:txBody>
          <a:bodyPr vert="horz" wrap="square" lIns="91440" tIns="45720" rIns="91440" bIns="45720" anchor="t" anchorCtr="0"/>
          <a:p>
            <a:pPr eaLnBrk="1" hangingPunct="1">
              <a:buFont typeface="Wingdings" panose="05000000000000000000" pitchFamily="2" charset="2"/>
              <a:buChar char="Ø"/>
            </a:pPr>
            <a:r>
              <a:rPr lang="zh-CN" altLang="en-US" dirty="0">
                <a:ea typeface="宋体" panose="02010600030101010101" pitchFamily="2" charset="-122"/>
              </a:rPr>
              <a:t>格式：</a:t>
            </a:r>
            <a:endParaRPr lang="zh-CN" altLang="en-US" dirty="0">
              <a:ea typeface="宋体" panose="02010600030101010101" pitchFamily="2" charset="-122"/>
            </a:endParaRPr>
          </a:p>
          <a:p>
            <a:pPr lvl="1" eaLnBrk="1" hangingPunct="1">
              <a:buFont typeface="Wingdings" panose="05000000000000000000" pitchFamily="2" charset="2"/>
              <a:buChar char="•"/>
            </a:pPr>
            <a:r>
              <a:rPr lang="zh-CN" altLang="en-US" dirty="0">
                <a:ea typeface="宋体" panose="02010600030101010101" pitchFamily="2" charset="-122"/>
              </a:rPr>
              <a:t> </a:t>
            </a:r>
            <a:r>
              <a:rPr lang="en-US" altLang="zh-CN" dirty="0">
                <a:ea typeface="宋体" panose="02010600030101010101" pitchFamily="2" charset="-122"/>
              </a:rPr>
              <a:t>ADD  OPRD1，OPRD2</a:t>
            </a:r>
            <a:endParaRPr lang="en-US" altLang="zh-CN" dirty="0">
              <a:ea typeface="宋体" panose="02010600030101010101" pitchFamily="2" charset="-122"/>
            </a:endParaRPr>
          </a:p>
          <a:p>
            <a:pPr eaLnBrk="1" hangingPunct="1">
              <a:buFont typeface="Wingdings" panose="05000000000000000000" pitchFamily="2" charset="2"/>
              <a:buChar char="Ø"/>
            </a:pPr>
            <a:r>
              <a:rPr lang="zh-CN" altLang="en-US" dirty="0">
                <a:ea typeface="宋体" panose="02010600030101010101" pitchFamily="2" charset="-122"/>
              </a:rPr>
              <a:t>操作：</a:t>
            </a:r>
            <a:endParaRPr lang="zh-CN" altLang="en-US" dirty="0">
              <a:ea typeface="宋体" panose="02010600030101010101" pitchFamily="2" charset="-122"/>
            </a:endParaRPr>
          </a:p>
          <a:p>
            <a:pPr lvl="1" eaLnBrk="1" hangingPunct="1"/>
            <a:r>
              <a:rPr lang="zh-CN" altLang="en-US" dirty="0">
                <a:ea typeface="宋体" panose="02010600030101010101" pitchFamily="2" charset="-122"/>
              </a:rPr>
              <a:t> </a:t>
            </a:r>
            <a:r>
              <a:rPr lang="en-US" altLang="zh-CN" dirty="0">
                <a:ea typeface="宋体" panose="02010600030101010101" pitchFamily="2" charset="-122"/>
              </a:rPr>
              <a:t>OPRD1+OPRD2</a:t>
            </a:r>
            <a:endParaRPr lang="en-US" altLang="zh-CN" dirty="0">
              <a:ea typeface="宋体" panose="02010600030101010101" pitchFamily="2" charset="-122"/>
            </a:endParaRPr>
          </a:p>
        </p:txBody>
      </p:sp>
      <p:sp>
        <p:nvSpPr>
          <p:cNvPr id="53252" name="Line 4"/>
          <p:cNvSpPr/>
          <p:nvPr/>
        </p:nvSpPr>
        <p:spPr>
          <a:xfrm>
            <a:off x="4643438" y="3692525"/>
            <a:ext cx="762000" cy="0"/>
          </a:xfrm>
          <a:prstGeom prst="line">
            <a:avLst/>
          </a:prstGeom>
          <a:ln w="25400" cap="sq" cmpd="sng">
            <a:solidFill>
              <a:srgbClr val="FF6600"/>
            </a:solidFill>
            <a:prstDash val="solid"/>
            <a:headEnd type="none" w="med" len="med"/>
            <a:tailEnd type="triangle" w="lg" len="lg"/>
          </a:ln>
        </p:spPr>
      </p:sp>
      <p:sp>
        <p:nvSpPr>
          <p:cNvPr id="53253" name="Text Box 5"/>
          <p:cNvSpPr txBox="1"/>
          <p:nvPr/>
        </p:nvSpPr>
        <p:spPr>
          <a:xfrm>
            <a:off x="468313" y="4214813"/>
            <a:ext cx="7993062" cy="630237"/>
          </a:xfrm>
          <a:prstGeom prst="rect">
            <a:avLst/>
          </a:prstGeom>
          <a:solidFill>
            <a:srgbClr val="CCFFFF"/>
          </a:solidFill>
          <a:ln w="25400" cap="sq" cmpd="sng">
            <a:solidFill>
              <a:srgbClr val="CCFFFF"/>
            </a:solidFill>
            <a:prstDash val="solid"/>
            <a:miter/>
            <a:headEnd type="none" w="med" len="med"/>
            <a:tailEnd type="none" w="med" len="med"/>
          </a:ln>
        </p:spPr>
        <p:txBody>
          <a:bodyPr>
            <a:spAutoFit/>
          </a:bodyPr>
          <a:p>
            <a:pPr eaLnBrk="0" hangingPunct="0">
              <a:lnSpc>
                <a:spcPct val="120000"/>
              </a:lnSpc>
              <a:spcBef>
                <a:spcPct val="50000"/>
              </a:spcBef>
              <a:buFont typeface="Wingdings" panose="05000000000000000000" pitchFamily="2" charset="2"/>
            </a:pPr>
            <a:r>
              <a:rPr lang="en-US" altLang="zh-CN" sz="2800" b="1" dirty="0">
                <a:solidFill>
                  <a:srgbClr val="FF0000"/>
                </a:solidFill>
                <a:latin typeface="Times New Roman" panose="02020603050405020304" pitchFamily="18" charset="0"/>
                <a:ea typeface="宋体" panose="02010600030101010101" pitchFamily="2" charset="-122"/>
              </a:rPr>
              <a:t>ADD</a:t>
            </a:r>
            <a:r>
              <a:rPr lang="zh-CN" altLang="en-US" sz="2800" b="1" dirty="0">
                <a:solidFill>
                  <a:srgbClr val="FF0000"/>
                </a:solidFill>
                <a:latin typeface="Times New Roman" panose="02020603050405020304" pitchFamily="18" charset="0"/>
                <a:ea typeface="宋体" panose="02010600030101010101" pitchFamily="2" charset="-122"/>
              </a:rPr>
              <a:t>指令的执行对全部6个状态标志位都产生影响</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53254" name="Text Box 7"/>
          <p:cNvSpPr txBox="1"/>
          <p:nvPr/>
        </p:nvSpPr>
        <p:spPr>
          <a:xfrm>
            <a:off x="5580063" y="3463925"/>
            <a:ext cx="2447925" cy="457200"/>
          </a:xfrm>
          <a:prstGeom prst="rect">
            <a:avLst/>
          </a:prstGeom>
          <a:noFill/>
          <a:ln w="9525">
            <a:noFill/>
          </a:ln>
        </p:spPr>
        <p:txBody>
          <a:bodyPr lIns="92075" tIns="46038" rIns="92075" bIns="46038">
            <a:spAutoFit/>
          </a:bodyPr>
          <a:p>
            <a:pPr eaLnBrk="0" hangingPunct="0">
              <a:spcBef>
                <a:spcPct val="30000"/>
              </a:spcBef>
              <a:spcAft>
                <a:spcPct val="30000"/>
              </a:spcAft>
              <a:buClr>
                <a:schemeClr val="folHlink"/>
              </a:buClr>
              <a:buSzPct val="60000"/>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OPRD1</a:t>
            </a:r>
            <a:endParaRPr lang="zh-CN" altLang="en-US" sz="2400" b="1" dirty="0">
              <a:latin typeface="Times New Roman" panose="02020603050405020304" pitchFamily="18" charset="0"/>
              <a:ea typeface="宋体" panose="02010600030101010101" pitchFamily="2" charset="-122"/>
            </a:endParaRPr>
          </a:p>
        </p:txBody>
      </p:sp>
      <p:sp>
        <p:nvSpPr>
          <p:cNvPr id="52231" name="文本框 1"/>
          <p:cNvSpPr txBox="1"/>
          <p:nvPr/>
        </p:nvSpPr>
        <p:spPr>
          <a:xfrm>
            <a:off x="468313" y="5151438"/>
            <a:ext cx="7848600" cy="1114425"/>
          </a:xfrm>
          <a:prstGeom prst="rect">
            <a:avLst/>
          </a:prstGeom>
          <a:noFill/>
          <a:ln w="9525">
            <a:noFill/>
          </a:ln>
        </p:spPr>
        <p:txBody>
          <a:bodyPr>
            <a:spAutoFit/>
          </a:bodyPr>
          <a:p>
            <a:pPr eaLnBrk="0" hangingPunct="0">
              <a:lnSpc>
                <a:spcPct val="150000"/>
              </a:lnSpc>
              <a:buFont typeface="Wingdings" panose="05000000000000000000" pitchFamily="2" charset="2"/>
            </a:pPr>
            <a:r>
              <a:rPr lang="zh-CN" altLang="en-US" sz="2400" dirty="0">
                <a:latin typeface="宋体" panose="02010600030101010101" pitchFamily="2" charset="-122"/>
                <a:ea typeface="宋体" panose="02010600030101010101" pitchFamily="2" charset="-122"/>
              </a:rPr>
              <a:t>注意：源操作数和目标操作数不能同时为存储器操作数； </a:t>
            </a:r>
            <a:endParaRPr lang="en-US" altLang="zh-CN" sz="2400"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不能对段寄存器进行运算。</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3251">
                                            <p:txEl>
                                              <p:charRg st="0" end="4"/>
                                            </p:txEl>
                                          </p:spTgt>
                                        </p:tgtEl>
                                        <p:attrNameLst>
                                          <p:attrName>style.visibility</p:attrName>
                                        </p:attrNameLst>
                                      </p:cBhvr>
                                      <p:to>
                                        <p:strVal val="visible"/>
                                      </p:to>
                                    </p:set>
                                    <p:animEffect transition="in" filter="wipe(left)">
                                      <p:cBhvr>
                                        <p:cTn id="7" dur="500"/>
                                        <p:tgtEl>
                                          <p:spTgt spid="53251">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3251">
                                            <p:txEl>
                                              <p:charRg st="4" end="22"/>
                                            </p:txEl>
                                          </p:spTgt>
                                        </p:tgtEl>
                                        <p:attrNameLst>
                                          <p:attrName>style.visibility</p:attrName>
                                        </p:attrNameLst>
                                      </p:cBhvr>
                                      <p:to>
                                        <p:strVal val="visible"/>
                                      </p:to>
                                    </p:set>
                                    <p:animEffect transition="in" filter="wipe(left)">
                                      <p:cBhvr>
                                        <p:cTn id="11" dur="500"/>
                                        <p:tgtEl>
                                          <p:spTgt spid="53251">
                                            <p:txEl>
                                              <p:charRg st="4" end="2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3251">
                                            <p:txEl>
                                              <p:charRg st="22" end="26"/>
                                            </p:txEl>
                                          </p:spTgt>
                                        </p:tgtEl>
                                        <p:attrNameLst>
                                          <p:attrName>style.visibility</p:attrName>
                                        </p:attrNameLst>
                                      </p:cBhvr>
                                      <p:to>
                                        <p:strVal val="visible"/>
                                      </p:to>
                                    </p:set>
                                    <p:animEffect transition="in" filter="wipe(left)">
                                      <p:cBhvr>
                                        <p:cTn id="16" dur="500"/>
                                        <p:tgtEl>
                                          <p:spTgt spid="53251">
                                            <p:txEl>
                                              <p:charRg st="22" end="2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3251">
                                            <p:txEl>
                                              <p:charRg st="26" end="39"/>
                                            </p:txEl>
                                          </p:spTgt>
                                        </p:tgtEl>
                                        <p:attrNameLst>
                                          <p:attrName>style.visibility</p:attrName>
                                        </p:attrNameLst>
                                      </p:cBhvr>
                                      <p:to>
                                        <p:strVal val="visible"/>
                                      </p:to>
                                    </p:set>
                                    <p:animEffect transition="in" filter="wipe(left)">
                                      <p:cBhvr>
                                        <p:cTn id="21" dur="500"/>
                                        <p:tgtEl>
                                          <p:spTgt spid="53251">
                                            <p:txEl>
                                              <p:charRg st="26" end="39"/>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500"/>
                                  </p:stCondLst>
                                  <p:childTnLst>
                                    <p:set>
                                      <p:cBhvr>
                                        <p:cTn id="25" dur="1" fill="hold">
                                          <p:stCondLst>
                                            <p:cond delay="0"/>
                                          </p:stCondLst>
                                        </p:cTn>
                                        <p:tgtEl>
                                          <p:spTgt spid="53252"/>
                                        </p:tgtEl>
                                        <p:attrNameLst>
                                          <p:attrName>style.visibility</p:attrName>
                                        </p:attrNameLst>
                                      </p:cBhvr>
                                      <p:to>
                                        <p:strVal val="visible"/>
                                      </p:to>
                                    </p:set>
                                    <p:animEffect transition="in" filter="wipe(left)">
                                      <p:cBhvr>
                                        <p:cTn id="26" dur="500"/>
                                        <p:tgtEl>
                                          <p:spTgt spid="53252"/>
                                        </p:tgtEl>
                                      </p:cBhvr>
                                    </p:animEffect>
                                  </p:childTnLst>
                                </p:cTn>
                              </p:par>
                              <p:par>
                                <p:cTn id="27" presetID="22" presetClass="entr" presetSubtype="8" fill="hold" grpId="0" nodeType="withEffect">
                                  <p:stCondLst>
                                    <p:cond delay="500"/>
                                  </p:stCondLst>
                                  <p:childTnLst>
                                    <p:set>
                                      <p:cBhvr>
                                        <p:cTn id="28" dur="1" fill="hold">
                                          <p:stCondLst>
                                            <p:cond delay="0"/>
                                          </p:stCondLst>
                                        </p:cTn>
                                        <p:tgtEl>
                                          <p:spTgt spid="53254"/>
                                        </p:tgtEl>
                                        <p:attrNameLst>
                                          <p:attrName>style.visibility</p:attrName>
                                        </p:attrNameLst>
                                      </p:cBhvr>
                                      <p:to>
                                        <p:strVal val="visible"/>
                                      </p:to>
                                    </p:set>
                                    <p:animEffect transition="in" filter="wipe(left)">
                                      <p:cBhvr>
                                        <p:cTn id="29" dur="500"/>
                                        <p:tgtEl>
                                          <p:spTgt spid="5325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3253"/>
                                        </p:tgtEl>
                                        <p:attrNameLst>
                                          <p:attrName>style.visibility</p:attrName>
                                        </p:attrNameLst>
                                      </p:cBhvr>
                                      <p:to>
                                        <p:strVal val="visible"/>
                                      </p:to>
                                    </p:set>
                                    <p:animEffect transition="in" filter="wipe(left)">
                                      <p:cBhvr>
                                        <p:cTn id="34" dur="500"/>
                                        <p:tgtEl>
                                          <p:spTgt spid="53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animBg="1"/>
      <p:bldP spid="5325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3"/>
          <p:cNvSpPr>
            <a:spLocks noGrp="1"/>
          </p:cNvSpPr>
          <p:nvPr>
            <p:ph type="body" idx="4294967295"/>
          </p:nvPr>
        </p:nvSpPr>
        <p:spPr>
          <a:xfrm>
            <a:off x="2312988" y="2706688"/>
            <a:ext cx="3581400" cy="1905000"/>
          </a:xfrm>
        </p:spPr>
        <p:txBody>
          <a:bodyPr vert="horz" wrap="square" lIns="91440" tIns="45720" rIns="91440" bIns="45720" anchor="t" anchorCtr="0"/>
          <a:p>
            <a:pPr eaLnBrk="1" hangingPunct="1">
              <a:buNone/>
            </a:pPr>
            <a:r>
              <a:rPr lang="en-US" altLang="zh-CN" dirty="0">
                <a:ea typeface="宋体" panose="02010600030101010101" pitchFamily="2" charset="-122"/>
              </a:rPr>
              <a:t>       </a:t>
            </a:r>
            <a:r>
              <a:rPr lang="en-US" altLang="zh-CN" dirty="0">
                <a:latin typeface="宋体" panose="02010600030101010101" pitchFamily="2" charset="-122"/>
                <a:ea typeface="宋体" panose="02010600030101010101" pitchFamily="2" charset="-122"/>
              </a:rPr>
              <a:t>01111000</a:t>
            </a: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rPr>
              <a:t> +   10011001</a:t>
            </a: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rPr>
              <a:t>     00010001</a:t>
            </a:r>
            <a:endParaRPr lang="en-US" altLang="zh-CN" dirty="0">
              <a:latin typeface="宋体" panose="02010600030101010101" pitchFamily="2" charset="-122"/>
              <a:ea typeface="宋体" panose="02010600030101010101" pitchFamily="2" charset="-122"/>
            </a:endParaRPr>
          </a:p>
        </p:txBody>
      </p:sp>
      <p:sp>
        <p:nvSpPr>
          <p:cNvPr id="54275" name="Line 4"/>
          <p:cNvSpPr/>
          <p:nvPr/>
        </p:nvSpPr>
        <p:spPr>
          <a:xfrm>
            <a:off x="1946275" y="3751263"/>
            <a:ext cx="2971800" cy="0"/>
          </a:xfrm>
          <a:prstGeom prst="line">
            <a:avLst/>
          </a:prstGeom>
          <a:ln w="25400" cap="sq" cmpd="sng">
            <a:solidFill>
              <a:srgbClr val="339966"/>
            </a:solidFill>
            <a:prstDash val="solid"/>
            <a:headEnd type="none" w="med" len="med"/>
            <a:tailEnd type="none" w="med" len="med"/>
          </a:ln>
        </p:spPr>
      </p:sp>
      <p:sp>
        <p:nvSpPr>
          <p:cNvPr id="54276" name="Text Box 5"/>
          <p:cNvSpPr txBox="1"/>
          <p:nvPr/>
        </p:nvSpPr>
        <p:spPr>
          <a:xfrm>
            <a:off x="2484438" y="3798888"/>
            <a:ext cx="457200" cy="544512"/>
          </a:xfrm>
          <a:prstGeom prst="rect">
            <a:avLst/>
          </a:prstGeom>
          <a:noFill/>
          <a:ln w="25400" cap="sq" cmpd="sng">
            <a:solidFill>
              <a:schemeClr val="tx1"/>
            </a:solidFill>
            <a:prstDash val="solid"/>
            <a:miter/>
            <a:headEnd type="none" w="med" len="med"/>
            <a:tailEnd type="none" w="med" len="med"/>
          </a:ln>
        </p:spPr>
        <p:txBody>
          <a:bodyPr>
            <a:spAutoFit/>
          </a:bodyPr>
          <a:p>
            <a:pPr eaLnBrk="0" hangingPunct="0">
              <a:spcBef>
                <a:spcPct val="50000"/>
              </a:spcBef>
              <a:buFont typeface="Wingdings" panose="05000000000000000000" pitchFamily="2" charset="2"/>
            </a:pPr>
            <a:r>
              <a:rPr lang="en-US" altLang="zh-CN" sz="2800" b="1" dirty="0">
                <a:solidFill>
                  <a:srgbClr val="FF0000"/>
                </a:solidFill>
                <a:latin typeface="Times New Roman" panose="02020603050405020304" pitchFamily="18" charset="0"/>
                <a:ea typeface="宋体" panose="02010600030101010101" pitchFamily="2" charset="-122"/>
              </a:rPr>
              <a:t>1</a:t>
            </a:r>
            <a:endParaRPr lang="en-US" altLang="zh-CN" sz="2800" b="1" dirty="0">
              <a:solidFill>
                <a:srgbClr val="FF0000"/>
              </a:solidFill>
              <a:latin typeface="Times New Roman" panose="02020603050405020304" pitchFamily="18" charset="0"/>
              <a:ea typeface="宋体" panose="02010600030101010101" pitchFamily="2" charset="-122"/>
            </a:endParaRPr>
          </a:p>
        </p:txBody>
      </p:sp>
      <p:sp>
        <p:nvSpPr>
          <p:cNvPr id="54277" name="Text Box 6"/>
          <p:cNvSpPr txBox="1"/>
          <p:nvPr/>
        </p:nvSpPr>
        <p:spPr>
          <a:xfrm>
            <a:off x="900113" y="4437063"/>
            <a:ext cx="6324600" cy="1801812"/>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800" b="1" dirty="0">
                <a:latin typeface="Times New Roman" panose="02020603050405020304" pitchFamily="18" charset="0"/>
                <a:ea typeface="宋体" panose="02010600030101010101" pitchFamily="2" charset="-122"/>
              </a:rPr>
              <a:t>标志位状态： </a:t>
            </a:r>
            <a:r>
              <a:rPr lang="en-US" altLang="zh-CN" sz="2800" b="1" dirty="0">
                <a:latin typeface="Times New Roman" panose="02020603050405020304" pitchFamily="18" charset="0"/>
                <a:ea typeface="宋体" panose="02010600030101010101" pitchFamily="2" charset="-122"/>
              </a:rPr>
              <a:t>CF=             SF=</a:t>
            </a:r>
            <a:endParaRPr lang="en-US" altLang="zh-CN" sz="2800" b="1" dirty="0">
              <a:latin typeface="Times New Roman" panose="02020603050405020304" pitchFamily="18" charset="0"/>
              <a:ea typeface="宋体" panose="02010600030101010101" pitchFamily="2" charset="-122"/>
            </a:endParaRPr>
          </a:p>
          <a:p>
            <a:pPr eaLnBrk="0" hangingPunct="0">
              <a:spcBef>
                <a:spcPct val="50000"/>
              </a:spcBef>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                         AF=             ZF=</a:t>
            </a:r>
            <a:endParaRPr lang="en-US" altLang="zh-CN" sz="2800" b="1" dirty="0">
              <a:latin typeface="Times New Roman" panose="02020603050405020304" pitchFamily="18" charset="0"/>
              <a:ea typeface="宋体" panose="02010600030101010101" pitchFamily="2" charset="-122"/>
            </a:endParaRPr>
          </a:p>
          <a:p>
            <a:pPr eaLnBrk="0" hangingPunct="0">
              <a:spcBef>
                <a:spcPct val="50000"/>
              </a:spcBef>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                          PF=            OF=</a:t>
            </a:r>
            <a:endParaRPr lang="en-US" altLang="zh-CN" sz="2800" b="1" dirty="0">
              <a:latin typeface="Times New Roman" panose="02020603050405020304" pitchFamily="18" charset="0"/>
              <a:ea typeface="宋体" panose="02010600030101010101" pitchFamily="2" charset="-122"/>
            </a:endParaRPr>
          </a:p>
        </p:txBody>
      </p:sp>
      <p:sp>
        <p:nvSpPr>
          <p:cNvPr id="54278" name="Text Box 8"/>
          <p:cNvSpPr txBox="1"/>
          <p:nvPr/>
        </p:nvSpPr>
        <p:spPr>
          <a:xfrm>
            <a:off x="3851275" y="4437063"/>
            <a:ext cx="503238" cy="519112"/>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800" b="1" dirty="0">
                <a:solidFill>
                  <a:srgbClr val="FF0000"/>
                </a:solidFill>
                <a:latin typeface="Times New Roman" panose="02020603050405020304" pitchFamily="18" charset="0"/>
                <a:ea typeface="宋体" panose="02010600030101010101" pitchFamily="2" charset="-122"/>
              </a:rPr>
              <a:t>1</a:t>
            </a:r>
            <a:endParaRPr lang="en-US" altLang="zh-CN" sz="2800" b="1" dirty="0">
              <a:solidFill>
                <a:srgbClr val="FF0000"/>
              </a:solidFill>
              <a:latin typeface="Times New Roman" panose="02020603050405020304" pitchFamily="18" charset="0"/>
              <a:ea typeface="宋体" panose="02010600030101010101" pitchFamily="2" charset="-122"/>
            </a:endParaRPr>
          </a:p>
        </p:txBody>
      </p:sp>
      <p:sp>
        <p:nvSpPr>
          <p:cNvPr id="54279" name="Text Box 9"/>
          <p:cNvSpPr txBox="1"/>
          <p:nvPr/>
        </p:nvSpPr>
        <p:spPr>
          <a:xfrm>
            <a:off x="5724525" y="4437063"/>
            <a:ext cx="503238" cy="519112"/>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800" b="1" dirty="0">
                <a:solidFill>
                  <a:srgbClr val="FF0000"/>
                </a:solidFill>
                <a:latin typeface="Times New Roman" panose="02020603050405020304" pitchFamily="18" charset="0"/>
                <a:ea typeface="宋体" panose="02010600030101010101" pitchFamily="2" charset="-122"/>
              </a:rPr>
              <a:t>0</a:t>
            </a:r>
            <a:endParaRPr lang="en-US" altLang="zh-CN" sz="2800" b="1" dirty="0">
              <a:solidFill>
                <a:srgbClr val="FF0000"/>
              </a:solidFill>
              <a:latin typeface="Times New Roman" panose="02020603050405020304" pitchFamily="18" charset="0"/>
              <a:ea typeface="宋体" panose="02010600030101010101" pitchFamily="2" charset="-122"/>
            </a:endParaRPr>
          </a:p>
        </p:txBody>
      </p:sp>
      <p:sp>
        <p:nvSpPr>
          <p:cNvPr id="54280" name="Text Box 10"/>
          <p:cNvSpPr txBox="1"/>
          <p:nvPr/>
        </p:nvSpPr>
        <p:spPr>
          <a:xfrm>
            <a:off x="3851275" y="5086350"/>
            <a:ext cx="503238" cy="519113"/>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800" b="1" dirty="0">
                <a:solidFill>
                  <a:srgbClr val="FF0000"/>
                </a:solidFill>
                <a:latin typeface="Times New Roman" panose="02020603050405020304" pitchFamily="18" charset="0"/>
                <a:ea typeface="宋体" panose="02010600030101010101" pitchFamily="2" charset="-122"/>
              </a:rPr>
              <a:t>1</a:t>
            </a:r>
            <a:endParaRPr lang="en-US" altLang="zh-CN" sz="2800" b="1" dirty="0">
              <a:solidFill>
                <a:srgbClr val="FF0000"/>
              </a:solidFill>
              <a:latin typeface="Times New Roman" panose="02020603050405020304" pitchFamily="18" charset="0"/>
              <a:ea typeface="宋体" panose="02010600030101010101" pitchFamily="2" charset="-122"/>
            </a:endParaRPr>
          </a:p>
        </p:txBody>
      </p:sp>
      <p:sp>
        <p:nvSpPr>
          <p:cNvPr id="54281" name="Text Box 11"/>
          <p:cNvSpPr txBox="1"/>
          <p:nvPr/>
        </p:nvSpPr>
        <p:spPr>
          <a:xfrm>
            <a:off x="5724525" y="5086350"/>
            <a:ext cx="503238" cy="517525"/>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800" b="1" dirty="0">
                <a:solidFill>
                  <a:srgbClr val="FF0000"/>
                </a:solidFill>
                <a:latin typeface="Times New Roman" panose="02020603050405020304" pitchFamily="18" charset="0"/>
                <a:ea typeface="宋体" panose="02010600030101010101" pitchFamily="2" charset="-122"/>
              </a:rPr>
              <a:t>0</a:t>
            </a:r>
            <a:endParaRPr lang="en-US" altLang="zh-CN" sz="2800" b="1" dirty="0">
              <a:solidFill>
                <a:srgbClr val="FF0000"/>
              </a:solidFill>
              <a:latin typeface="Times New Roman" panose="02020603050405020304" pitchFamily="18" charset="0"/>
              <a:ea typeface="宋体" panose="02010600030101010101" pitchFamily="2" charset="-122"/>
            </a:endParaRPr>
          </a:p>
        </p:txBody>
      </p:sp>
      <p:sp>
        <p:nvSpPr>
          <p:cNvPr id="54282" name="Text Box 12"/>
          <p:cNvSpPr txBox="1"/>
          <p:nvPr/>
        </p:nvSpPr>
        <p:spPr>
          <a:xfrm>
            <a:off x="3851275" y="5734050"/>
            <a:ext cx="503238" cy="517525"/>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800" b="1" dirty="0">
                <a:solidFill>
                  <a:srgbClr val="FF0000"/>
                </a:solidFill>
                <a:latin typeface="Times New Roman" panose="02020603050405020304" pitchFamily="18" charset="0"/>
                <a:ea typeface="宋体" panose="02010600030101010101" pitchFamily="2" charset="-122"/>
              </a:rPr>
              <a:t>1</a:t>
            </a:r>
            <a:endParaRPr lang="en-US" altLang="zh-CN" sz="2800" b="1" dirty="0">
              <a:solidFill>
                <a:srgbClr val="FF0000"/>
              </a:solidFill>
              <a:latin typeface="Times New Roman" panose="02020603050405020304" pitchFamily="18" charset="0"/>
              <a:ea typeface="宋体" panose="02010600030101010101" pitchFamily="2" charset="-122"/>
            </a:endParaRPr>
          </a:p>
        </p:txBody>
      </p:sp>
      <p:sp>
        <p:nvSpPr>
          <p:cNvPr id="54283" name="Text Box 13"/>
          <p:cNvSpPr txBox="1"/>
          <p:nvPr/>
        </p:nvSpPr>
        <p:spPr>
          <a:xfrm>
            <a:off x="5724525" y="5734050"/>
            <a:ext cx="503238" cy="517525"/>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800" b="1" dirty="0">
                <a:solidFill>
                  <a:srgbClr val="FF0000"/>
                </a:solidFill>
                <a:latin typeface="Times New Roman" panose="02020603050405020304" pitchFamily="18" charset="0"/>
                <a:ea typeface="宋体" panose="02010600030101010101" pitchFamily="2" charset="-122"/>
              </a:rPr>
              <a:t>0</a:t>
            </a:r>
            <a:endParaRPr lang="en-US" altLang="zh-CN" sz="2800" b="1" dirty="0">
              <a:solidFill>
                <a:srgbClr val="FF0000"/>
              </a:solidFill>
              <a:latin typeface="Times New Roman" panose="02020603050405020304" pitchFamily="18" charset="0"/>
              <a:ea typeface="宋体" panose="02010600030101010101" pitchFamily="2" charset="-122"/>
            </a:endParaRPr>
          </a:p>
        </p:txBody>
      </p:sp>
      <p:sp>
        <p:nvSpPr>
          <p:cNvPr id="54284" name="Rectangle 3"/>
          <p:cNvSpPr txBox="1"/>
          <p:nvPr/>
        </p:nvSpPr>
        <p:spPr>
          <a:xfrm>
            <a:off x="873125" y="1011238"/>
            <a:ext cx="6999288" cy="1625600"/>
          </a:xfrm>
          <a:prstGeom prst="rect">
            <a:avLst/>
          </a:prstGeom>
          <a:noFill/>
          <a:ln w="9525">
            <a:noFill/>
          </a:ln>
        </p:spPr>
        <p:txBody>
          <a:bodyPr/>
          <a:p>
            <a:pPr marL="342900" indent="-342900">
              <a:spcBef>
                <a:spcPct val="20000"/>
              </a:spcBef>
              <a:buClr>
                <a:schemeClr val="hlink"/>
              </a:buClr>
              <a:buFont typeface="Wingdings" panose="05000000000000000000" pitchFamily="2" charset="2"/>
              <a:buChar char="Ø"/>
            </a:pPr>
            <a:r>
              <a:rPr lang="en-US" altLang="zh-CN" sz="2800" b="1" dirty="0">
                <a:latin typeface="Verdana" panose="020B0604030504040204" pitchFamily="34" charset="0"/>
                <a:ea typeface="宋体" panose="02010600030101010101" pitchFamily="2" charset="-122"/>
              </a:rPr>
              <a:t>  </a:t>
            </a:r>
            <a:r>
              <a:rPr lang="zh-CN" altLang="en-US" sz="2800" b="1" dirty="0">
                <a:latin typeface="Arial" panose="020B0604020202020204" pitchFamily="34" charset="0"/>
                <a:ea typeface="宋体" panose="02010600030101010101" pitchFamily="2" charset="-122"/>
              </a:rPr>
              <a:t>例：</a:t>
            </a:r>
            <a:r>
              <a:rPr lang="en-US" altLang="zh-CN" sz="2800" b="1" dirty="0">
                <a:latin typeface="Verdana" panose="020B0604030504040204" pitchFamily="34" charset="0"/>
                <a:ea typeface="宋体" panose="02010600030101010101" pitchFamily="2" charset="-122"/>
              </a:rPr>
              <a:t>  </a:t>
            </a:r>
            <a:r>
              <a:rPr lang="en-US" altLang="zh-CN" sz="2800" b="1" dirty="0">
                <a:latin typeface="宋体" panose="02010600030101010101" pitchFamily="2" charset="-122"/>
                <a:ea typeface="宋体" panose="02010600030101010101" pitchFamily="2" charset="-122"/>
              </a:rPr>
              <a:t>MOV  AL，78H</a:t>
            </a:r>
            <a:endParaRPr lang="en-US" altLang="zh-CN" sz="2800" b="1" dirty="0">
              <a:latin typeface="宋体" panose="02010600030101010101" pitchFamily="2" charset="-122"/>
              <a:ea typeface="宋体" panose="02010600030101010101" pitchFamily="2" charset="-122"/>
            </a:endParaRPr>
          </a:p>
          <a:p>
            <a:pPr marL="342900" indent="-342900">
              <a:spcBef>
                <a:spcPct val="20000"/>
              </a:spcBef>
              <a:buClr>
                <a:schemeClr val="hlink"/>
              </a:buClr>
              <a:buFont typeface="Wingdings" panose="05000000000000000000" pitchFamily="2" charset="2"/>
            </a:pPr>
            <a:r>
              <a:rPr lang="en-US" altLang="zh-CN" sz="2800" b="1" dirty="0">
                <a:latin typeface="宋体" panose="02010600030101010101" pitchFamily="2" charset="-122"/>
                <a:ea typeface="宋体" panose="02010600030101010101" pitchFamily="2" charset="-122"/>
              </a:rPr>
              <a:t>             ADD  AL，99H</a:t>
            </a:r>
            <a:endParaRPr lang="en-US" altLang="zh-CN" sz="2800" b="1" dirty="0">
              <a:latin typeface="宋体" panose="02010600030101010101" pitchFamily="2" charset="-122"/>
              <a:ea typeface="宋体" panose="02010600030101010101" pitchFamily="2" charset="-122"/>
            </a:endParaRPr>
          </a:p>
          <a:p>
            <a:pPr marL="342900" indent="-342900">
              <a:spcBef>
                <a:spcPct val="20000"/>
              </a:spcBef>
              <a:buClr>
                <a:schemeClr val="hlink"/>
              </a:buClr>
              <a:buFont typeface="Wingdings" panose="05000000000000000000" pitchFamily="2" charset="2"/>
            </a:pPr>
            <a:r>
              <a:rPr lang="zh-CN" altLang="en-US" sz="2800" b="1" dirty="0">
                <a:latin typeface="宋体" panose="02010600030101010101" pitchFamily="2" charset="-122"/>
                <a:ea typeface="宋体" panose="02010600030101010101" pitchFamily="2" charset="-122"/>
              </a:rPr>
              <a:t>指令执行后6个状态标志位的状态</a:t>
            </a:r>
            <a:endParaRPr lang="zh-CN" altLang="en-US" sz="2800" b="1" dirty="0">
              <a:latin typeface="宋体" panose="02010600030101010101" pitchFamily="2" charset="-122"/>
              <a:ea typeface="宋体" panose="02010600030101010101" pitchFamily="2" charset="-122"/>
            </a:endParaRPr>
          </a:p>
        </p:txBody>
      </p:sp>
      <p:cxnSp>
        <p:nvCxnSpPr>
          <p:cNvPr id="53261" name="直接连接符 2"/>
          <p:cNvCxnSpPr/>
          <p:nvPr/>
        </p:nvCxnSpPr>
        <p:spPr>
          <a:xfrm>
            <a:off x="855663" y="2752725"/>
            <a:ext cx="6999287" cy="0"/>
          </a:xfrm>
          <a:prstGeom prst="line">
            <a:avLst/>
          </a:prstGeom>
          <a:ln w="28575" cap="flat" cmpd="sng">
            <a:solidFill>
              <a:schemeClr val="tx1"/>
            </a:solidFill>
            <a:prstDash val="solid"/>
            <a:headEnd type="none" w="med" len="med"/>
            <a:tailEnd type="none" w="med" len="med"/>
          </a:ln>
        </p:spPr>
      </p:cxnSp>
      <p:pic>
        <p:nvPicPr>
          <p:cNvPr id="53262" name="Picture 14"/>
          <p:cNvPicPr>
            <a:picLocks noChangeAspect="1"/>
          </p:cNvPicPr>
          <p:nvPr/>
        </p:nvPicPr>
        <p:blipFill>
          <a:blip r:embed="rId1"/>
          <a:stretch>
            <a:fillRect/>
          </a:stretch>
        </p:blipFill>
        <p:spPr>
          <a:xfrm>
            <a:off x="468313" y="6165850"/>
            <a:ext cx="8180387" cy="504825"/>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4274">
                                            <p:txEl>
                                              <p:charRg st="0" end="16"/>
                                            </p:txEl>
                                          </p:spTgt>
                                        </p:tgtEl>
                                        <p:attrNameLst>
                                          <p:attrName>style.visibility</p:attrName>
                                        </p:attrNameLst>
                                      </p:cBhvr>
                                      <p:to>
                                        <p:strVal val="visible"/>
                                      </p:to>
                                    </p:set>
                                    <p:animEffect transition="in" filter="wipe(left)">
                                      <p:cBhvr>
                                        <p:cTn id="7" dur="500"/>
                                        <p:tgtEl>
                                          <p:spTgt spid="54274">
                                            <p:txEl>
                                              <p:charRg st="0" end="16"/>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4274">
                                            <p:txEl>
                                              <p:charRg st="16" end="30"/>
                                            </p:txEl>
                                          </p:spTgt>
                                        </p:tgtEl>
                                        <p:attrNameLst>
                                          <p:attrName>style.visibility</p:attrName>
                                        </p:attrNameLst>
                                      </p:cBhvr>
                                      <p:to>
                                        <p:strVal val="visible"/>
                                      </p:to>
                                    </p:set>
                                    <p:animEffect transition="in" filter="wipe(left)">
                                      <p:cBhvr>
                                        <p:cTn id="11" dur="500"/>
                                        <p:tgtEl>
                                          <p:spTgt spid="54274">
                                            <p:txEl>
                                              <p:charRg st="16" end="3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4275"/>
                                        </p:tgtEl>
                                        <p:attrNameLst>
                                          <p:attrName>style.visibility</p:attrName>
                                        </p:attrNameLst>
                                      </p:cBhvr>
                                      <p:to>
                                        <p:strVal val="visible"/>
                                      </p:to>
                                    </p:set>
                                    <p:animEffect transition="in" filter="wipe(left)">
                                      <p:cBhvr>
                                        <p:cTn id="16" dur="500"/>
                                        <p:tgtEl>
                                          <p:spTgt spid="54275"/>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54274">
                                            <p:txEl>
                                              <p:charRg st="30" end="44"/>
                                            </p:txEl>
                                          </p:spTgt>
                                        </p:tgtEl>
                                        <p:attrNameLst>
                                          <p:attrName>style.visibility</p:attrName>
                                        </p:attrNameLst>
                                      </p:cBhvr>
                                      <p:to>
                                        <p:strVal val="visible"/>
                                      </p:to>
                                    </p:set>
                                    <p:animEffect transition="in" filter="wipe(left)">
                                      <p:cBhvr>
                                        <p:cTn id="20" dur="500"/>
                                        <p:tgtEl>
                                          <p:spTgt spid="54274">
                                            <p:txEl>
                                              <p:charRg st="30" end="44"/>
                                            </p:txEl>
                                          </p:spTgt>
                                        </p:tgtEl>
                                      </p:cBhvr>
                                    </p:animEffect>
                                  </p:childTnLst>
                                </p:cTn>
                              </p:par>
                            </p:childTnLst>
                          </p:cTn>
                        </p:par>
                        <p:par>
                          <p:cTn id="21" fill="hold">
                            <p:stCondLst>
                              <p:cond delay="1000"/>
                            </p:stCondLst>
                            <p:childTnLst>
                              <p:par>
                                <p:cTn id="22" presetID="18" presetClass="entr" presetSubtype="12" fill="hold" grpId="0" nodeType="afterEffect">
                                  <p:stCondLst>
                                    <p:cond delay="0"/>
                                  </p:stCondLst>
                                  <p:childTnLst>
                                    <p:set>
                                      <p:cBhvr>
                                        <p:cTn id="23" dur="1" fill="hold">
                                          <p:stCondLst>
                                            <p:cond delay="0"/>
                                          </p:stCondLst>
                                        </p:cTn>
                                        <p:tgtEl>
                                          <p:spTgt spid="54276"/>
                                        </p:tgtEl>
                                        <p:attrNameLst>
                                          <p:attrName>style.visibility</p:attrName>
                                        </p:attrNameLst>
                                      </p:cBhvr>
                                      <p:to>
                                        <p:strVal val="visible"/>
                                      </p:to>
                                    </p:set>
                                    <p:animEffect transition="in" filter="strips(downLeft)">
                                      <p:cBhvr>
                                        <p:cTn id="24" dur="500"/>
                                        <p:tgtEl>
                                          <p:spTgt spid="54276"/>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6" fill="hold" nodeType="clickEffect">
                                  <p:stCondLst>
                                    <p:cond delay="0"/>
                                  </p:stCondLst>
                                  <p:childTnLst>
                                    <p:set>
                                      <p:cBhvr>
                                        <p:cTn id="28" dur="1" fill="hold">
                                          <p:stCondLst>
                                            <p:cond delay="0"/>
                                          </p:stCondLst>
                                        </p:cTn>
                                        <p:tgtEl>
                                          <p:spTgt spid="54277">
                                            <p:txEl>
                                              <p:charRg st="0" end="27"/>
                                            </p:txEl>
                                          </p:spTgt>
                                        </p:tgtEl>
                                        <p:attrNameLst>
                                          <p:attrName>style.visibility</p:attrName>
                                        </p:attrNameLst>
                                      </p:cBhvr>
                                      <p:to>
                                        <p:strVal val="visible"/>
                                      </p:to>
                                    </p:set>
                                    <p:animEffect transition="in" filter="strips(downRight)">
                                      <p:cBhvr>
                                        <p:cTn id="29" dur="500"/>
                                        <p:tgtEl>
                                          <p:spTgt spid="54277">
                                            <p:txEl>
                                              <p:charRg st="0" end="27"/>
                                            </p:txEl>
                                          </p:spTgt>
                                        </p:tgtEl>
                                      </p:cBhvr>
                                    </p:animEffect>
                                  </p:childTnLst>
                                </p:cTn>
                              </p:par>
                              <p:par>
                                <p:cTn id="30" presetID="18" presetClass="entr" presetSubtype="6" fill="hold" nodeType="withEffect">
                                  <p:stCondLst>
                                    <p:cond delay="0"/>
                                  </p:stCondLst>
                                  <p:childTnLst>
                                    <p:set>
                                      <p:cBhvr>
                                        <p:cTn id="31" dur="1" fill="hold">
                                          <p:stCondLst>
                                            <p:cond delay="0"/>
                                          </p:stCondLst>
                                        </p:cTn>
                                        <p:tgtEl>
                                          <p:spTgt spid="54277">
                                            <p:txEl>
                                              <p:charRg st="27" end="72"/>
                                            </p:txEl>
                                          </p:spTgt>
                                        </p:tgtEl>
                                        <p:attrNameLst>
                                          <p:attrName>style.visibility</p:attrName>
                                        </p:attrNameLst>
                                      </p:cBhvr>
                                      <p:to>
                                        <p:strVal val="visible"/>
                                      </p:to>
                                    </p:set>
                                    <p:animEffect transition="in" filter="strips(downRight)">
                                      <p:cBhvr>
                                        <p:cTn id="32" dur="500"/>
                                        <p:tgtEl>
                                          <p:spTgt spid="54277">
                                            <p:txEl>
                                              <p:charRg st="27" end="72"/>
                                            </p:txEl>
                                          </p:spTgt>
                                        </p:tgtEl>
                                      </p:cBhvr>
                                    </p:animEffect>
                                  </p:childTnLst>
                                </p:cTn>
                              </p:par>
                              <p:par>
                                <p:cTn id="33" presetID="18" presetClass="entr" presetSubtype="6" fill="hold" nodeType="withEffect">
                                  <p:stCondLst>
                                    <p:cond delay="0"/>
                                  </p:stCondLst>
                                  <p:childTnLst>
                                    <p:set>
                                      <p:cBhvr>
                                        <p:cTn id="34" dur="1" fill="hold">
                                          <p:stCondLst>
                                            <p:cond delay="0"/>
                                          </p:stCondLst>
                                        </p:cTn>
                                        <p:tgtEl>
                                          <p:spTgt spid="54277">
                                            <p:txEl>
                                              <p:charRg st="72" end="117"/>
                                            </p:txEl>
                                          </p:spTgt>
                                        </p:tgtEl>
                                        <p:attrNameLst>
                                          <p:attrName>style.visibility</p:attrName>
                                        </p:attrNameLst>
                                      </p:cBhvr>
                                      <p:to>
                                        <p:strVal val="visible"/>
                                      </p:to>
                                    </p:set>
                                    <p:animEffect transition="in" filter="strips(downRight)">
                                      <p:cBhvr>
                                        <p:cTn id="35" dur="500"/>
                                        <p:tgtEl>
                                          <p:spTgt spid="54277">
                                            <p:txEl>
                                              <p:charRg st="72" end="11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427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5427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5428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54281"/>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54282"/>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54283"/>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54284">
                                            <p:txEl>
                                              <p:charRg st="43" end="59"/>
                                            </p:txEl>
                                          </p:spTgt>
                                        </p:tgtEl>
                                        <p:attrNameLst>
                                          <p:attrName>style.visibility</p:attrName>
                                        </p:attrNameLst>
                                      </p:cBhvr>
                                      <p:to>
                                        <p:strVal val="visible"/>
                                      </p:to>
                                    </p:set>
                                    <p:animEffect transition="in" filter="wipe(left)">
                                      <p:cBhvr>
                                        <p:cTn id="64" dur="500"/>
                                        <p:tgtEl>
                                          <p:spTgt spid="54284">
                                            <p:txEl>
                                              <p:charRg st="43" end="5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animBg="1"/>
      <p:bldP spid="54278" grpId="0"/>
      <p:bldP spid="54279" grpId="0"/>
      <p:bldP spid="54280" grpId="0"/>
      <p:bldP spid="54281" grpId="0"/>
      <p:bldP spid="54282" grpId="0"/>
      <p:bldP spid="5428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文本框 1"/>
          <p:cNvSpPr txBox="1"/>
          <p:nvPr/>
        </p:nvSpPr>
        <p:spPr>
          <a:xfrm>
            <a:off x="527050" y="1473200"/>
            <a:ext cx="8382000" cy="4206875"/>
          </a:xfrm>
          <a:prstGeom prst="rect">
            <a:avLst/>
          </a:prstGeom>
          <a:noFill/>
          <a:ln w="9525">
            <a:noFill/>
          </a:ln>
        </p:spPr>
        <p:txBody>
          <a:bodyPr>
            <a:spAutoFit/>
          </a:bodyPr>
          <a:p>
            <a:pPr>
              <a:buNone/>
            </a:pPr>
            <a:r>
              <a:rPr lang="zh-CN" altLang="en-US" dirty="0">
                <a:latin typeface="Arial" panose="020B0604020202020204" pitchFamily="34" charset="0"/>
                <a:ea typeface="宋体" panose="02010600030101010101" pitchFamily="2" charset="-122"/>
              </a:rPr>
              <a:t>溢出标志OF(Over flow flag)                         OV(1)                          NV(0)</a:t>
            </a:r>
            <a:endParaRPr lang="zh-CN" altLang="en-US" dirty="0">
              <a:latin typeface="Arial" panose="020B0604020202020204" pitchFamily="34" charset="0"/>
              <a:ea typeface="宋体" panose="02010600030101010101" pitchFamily="2" charset="-122"/>
            </a:endParaRPr>
          </a:p>
          <a:p>
            <a:pPr>
              <a:buNone/>
            </a:pPr>
            <a:endParaRPr lang="zh-CN" altLang="en-US" dirty="0">
              <a:latin typeface="Arial" panose="020B0604020202020204" pitchFamily="34" charset="0"/>
              <a:ea typeface="宋体" panose="02010600030101010101" pitchFamily="2" charset="-122"/>
            </a:endParaRPr>
          </a:p>
          <a:p>
            <a:pPr>
              <a:buNone/>
            </a:pPr>
            <a:r>
              <a:rPr lang="zh-CN" altLang="en-US" dirty="0">
                <a:latin typeface="Arial" panose="020B0604020202020204" pitchFamily="34" charset="0"/>
                <a:ea typeface="宋体" panose="02010600030101010101" pitchFamily="2" charset="-122"/>
              </a:rPr>
              <a:t>方向标志DF(Direction flag)                           DN(1)                         UP(0)</a:t>
            </a:r>
            <a:endParaRPr lang="zh-CN" altLang="en-US" dirty="0">
              <a:latin typeface="Arial" panose="020B0604020202020204" pitchFamily="34" charset="0"/>
              <a:ea typeface="宋体" panose="02010600030101010101" pitchFamily="2" charset="-122"/>
            </a:endParaRPr>
          </a:p>
          <a:p>
            <a:pPr>
              <a:buNone/>
            </a:pPr>
            <a:endParaRPr lang="zh-CN" altLang="en-US" dirty="0">
              <a:latin typeface="Arial" panose="020B0604020202020204" pitchFamily="34" charset="0"/>
              <a:ea typeface="宋体" panose="02010600030101010101" pitchFamily="2" charset="-122"/>
            </a:endParaRPr>
          </a:p>
          <a:p>
            <a:pPr>
              <a:buNone/>
            </a:pPr>
            <a:r>
              <a:rPr lang="zh-CN" altLang="en-US" dirty="0">
                <a:latin typeface="Arial" panose="020B0604020202020204" pitchFamily="34" charset="0"/>
                <a:ea typeface="宋体" panose="02010600030101010101" pitchFamily="2" charset="-122"/>
              </a:rPr>
              <a:t>中断标志IF(Interrupt flag)                             EI(1)                           DI(0)</a:t>
            </a:r>
            <a:endParaRPr lang="zh-CN" altLang="en-US" dirty="0">
              <a:latin typeface="Arial" panose="020B0604020202020204" pitchFamily="34" charset="0"/>
              <a:ea typeface="宋体" panose="02010600030101010101" pitchFamily="2" charset="-122"/>
            </a:endParaRPr>
          </a:p>
          <a:p>
            <a:pPr>
              <a:buNone/>
            </a:pPr>
            <a:endParaRPr lang="zh-CN" altLang="en-US" dirty="0">
              <a:latin typeface="Arial" panose="020B0604020202020204" pitchFamily="34" charset="0"/>
              <a:ea typeface="宋体" panose="02010600030101010101" pitchFamily="2" charset="-122"/>
            </a:endParaRPr>
          </a:p>
          <a:p>
            <a:pPr>
              <a:buNone/>
            </a:pPr>
            <a:r>
              <a:rPr lang="zh-CN" altLang="en-US" dirty="0">
                <a:latin typeface="Arial" panose="020B0604020202020204" pitchFamily="34" charset="0"/>
                <a:ea typeface="宋体" panose="02010600030101010101" pitchFamily="2" charset="-122"/>
              </a:rPr>
              <a:t>符号标志SF(Sign flag)                                  NG(1)                         PL(0)</a:t>
            </a:r>
            <a:endParaRPr lang="zh-CN" altLang="en-US" dirty="0">
              <a:latin typeface="Arial" panose="020B0604020202020204" pitchFamily="34" charset="0"/>
              <a:ea typeface="宋体" panose="02010600030101010101" pitchFamily="2" charset="-122"/>
            </a:endParaRPr>
          </a:p>
          <a:p>
            <a:pPr>
              <a:buNone/>
            </a:pPr>
            <a:endParaRPr lang="zh-CN" altLang="en-US" dirty="0">
              <a:latin typeface="Arial" panose="020B0604020202020204" pitchFamily="34" charset="0"/>
              <a:ea typeface="宋体" panose="02010600030101010101" pitchFamily="2" charset="-122"/>
            </a:endParaRPr>
          </a:p>
          <a:p>
            <a:pPr>
              <a:buNone/>
            </a:pPr>
            <a:r>
              <a:rPr lang="zh-CN" altLang="en-US" dirty="0">
                <a:latin typeface="Arial" panose="020B0604020202020204" pitchFamily="34" charset="0"/>
                <a:ea typeface="宋体" panose="02010600030101010101" pitchFamily="2" charset="-122"/>
              </a:rPr>
              <a:t>零标志ZF(Zero flag)                                      ZR(1)                         NZ(0)</a:t>
            </a:r>
            <a:endParaRPr lang="zh-CN" altLang="en-US" dirty="0">
              <a:latin typeface="Arial" panose="020B0604020202020204" pitchFamily="34" charset="0"/>
              <a:ea typeface="宋体" panose="02010600030101010101" pitchFamily="2" charset="-122"/>
            </a:endParaRPr>
          </a:p>
          <a:p>
            <a:pPr>
              <a:buNone/>
            </a:pPr>
            <a:endParaRPr lang="zh-CN" altLang="en-US" dirty="0">
              <a:latin typeface="Arial" panose="020B0604020202020204" pitchFamily="34" charset="0"/>
              <a:ea typeface="宋体" panose="02010600030101010101" pitchFamily="2" charset="-122"/>
            </a:endParaRPr>
          </a:p>
          <a:p>
            <a:pPr>
              <a:buNone/>
            </a:pPr>
            <a:r>
              <a:rPr lang="zh-CN" altLang="en-US" dirty="0">
                <a:latin typeface="Arial" panose="020B0604020202020204" pitchFamily="34" charset="0"/>
                <a:ea typeface="宋体" panose="02010600030101010101" pitchFamily="2" charset="-122"/>
              </a:rPr>
              <a:t>辅助标志AF(Auxiliary carry flag)                   AC(1)                         NA(0)</a:t>
            </a:r>
            <a:endParaRPr lang="zh-CN" altLang="en-US" dirty="0">
              <a:latin typeface="Arial" panose="020B0604020202020204" pitchFamily="34" charset="0"/>
              <a:ea typeface="宋体" panose="02010600030101010101" pitchFamily="2" charset="-122"/>
            </a:endParaRPr>
          </a:p>
          <a:p>
            <a:pPr>
              <a:buNone/>
            </a:pPr>
            <a:endParaRPr lang="zh-CN" altLang="en-US" dirty="0">
              <a:latin typeface="Arial" panose="020B0604020202020204" pitchFamily="34" charset="0"/>
              <a:ea typeface="宋体" panose="02010600030101010101" pitchFamily="2" charset="-122"/>
            </a:endParaRPr>
          </a:p>
          <a:p>
            <a:pPr>
              <a:buNone/>
            </a:pPr>
            <a:r>
              <a:rPr lang="zh-CN" altLang="en-US" dirty="0">
                <a:latin typeface="Arial" panose="020B0604020202020204" pitchFamily="34" charset="0"/>
                <a:ea typeface="宋体" panose="02010600030101010101" pitchFamily="2" charset="-122"/>
              </a:rPr>
              <a:t>奇偶标志PF(Parity flag)                                PE(1)                         PO(0)</a:t>
            </a:r>
            <a:endParaRPr lang="zh-CN" altLang="en-US" dirty="0">
              <a:latin typeface="Arial" panose="020B0604020202020204" pitchFamily="34" charset="0"/>
              <a:ea typeface="宋体" panose="02010600030101010101" pitchFamily="2" charset="-122"/>
            </a:endParaRPr>
          </a:p>
          <a:p>
            <a:pPr>
              <a:buNone/>
            </a:pPr>
            <a:endParaRPr lang="zh-CN" altLang="en-US" dirty="0">
              <a:latin typeface="Arial" panose="020B0604020202020204" pitchFamily="34" charset="0"/>
              <a:ea typeface="宋体" panose="02010600030101010101" pitchFamily="2" charset="-122"/>
            </a:endParaRPr>
          </a:p>
          <a:p>
            <a:pPr>
              <a:buNone/>
            </a:pPr>
            <a:r>
              <a:rPr lang="zh-CN" altLang="en-US" dirty="0">
                <a:latin typeface="Arial" panose="020B0604020202020204" pitchFamily="34" charset="0"/>
                <a:ea typeface="宋体" panose="02010600030101010101" pitchFamily="2" charset="-122"/>
              </a:rPr>
              <a:t>进位标志CF(Carry flag)                                CY(1)                         NC(0)</a:t>
            </a: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idx="4294967295"/>
          </p:nvPr>
        </p:nvSpPr>
        <p:spPr>
          <a:xfrm>
            <a:off x="879475" y="1052513"/>
            <a:ext cx="6553200" cy="563562"/>
          </a:xfrm>
        </p:spPr>
        <p:txBody>
          <a:bodyPr vert="horz" wrap="square" lIns="91440" tIns="45720" rIns="91440" bIns="45720" anchor="ctr" anchorCtr="0"/>
          <a:p>
            <a:pPr eaLnBrk="1" hangingPunct="1"/>
            <a:r>
              <a:rPr lang="zh-CN" altLang="en-US" dirty="0">
                <a:solidFill>
                  <a:srgbClr val="002060"/>
                </a:solidFill>
                <a:latin typeface="宋体" panose="02010600030101010101" pitchFamily="2" charset="-122"/>
                <a:ea typeface="宋体" panose="02010600030101010101" pitchFamily="2" charset="-122"/>
              </a:rPr>
              <a:t>（</a:t>
            </a:r>
            <a:r>
              <a:rPr lang="en-US" altLang="zh-CN" dirty="0">
                <a:solidFill>
                  <a:srgbClr val="002060"/>
                </a:solidFill>
                <a:latin typeface="宋体" panose="02010600030101010101" pitchFamily="2" charset="-122"/>
                <a:ea typeface="宋体" panose="02010600030101010101" pitchFamily="2" charset="-122"/>
              </a:rPr>
              <a:t>2</a:t>
            </a:r>
            <a:r>
              <a:rPr lang="zh-CN" altLang="en-US" dirty="0">
                <a:solidFill>
                  <a:srgbClr val="002060"/>
                </a:solidFill>
                <a:latin typeface="宋体" panose="02010600030101010101" pitchFamily="2" charset="-122"/>
                <a:ea typeface="宋体" panose="02010600030101010101" pitchFamily="2" charset="-122"/>
              </a:rPr>
              <a:t>）</a:t>
            </a:r>
            <a:r>
              <a:rPr lang="en-US" altLang="zh-CN" dirty="0">
                <a:solidFill>
                  <a:srgbClr val="002060"/>
                </a:solidFill>
                <a:latin typeface="宋体" panose="02010600030101010101" pitchFamily="2" charset="-122"/>
                <a:ea typeface="宋体" panose="02010600030101010101" pitchFamily="2" charset="-122"/>
              </a:rPr>
              <a:t>ADC</a:t>
            </a:r>
            <a:r>
              <a:rPr lang="zh-CN" altLang="en-US" dirty="0">
                <a:solidFill>
                  <a:srgbClr val="002060"/>
                </a:solidFill>
                <a:latin typeface="宋体" panose="02010600030101010101" pitchFamily="2" charset="-122"/>
                <a:ea typeface="宋体" panose="02010600030101010101" pitchFamily="2" charset="-122"/>
              </a:rPr>
              <a:t>指令</a:t>
            </a:r>
            <a:endParaRPr lang="zh-CN" altLang="en-US" dirty="0">
              <a:solidFill>
                <a:srgbClr val="002060"/>
              </a:solidFill>
              <a:latin typeface="宋体" panose="02010600030101010101" pitchFamily="2" charset="-122"/>
              <a:ea typeface="宋体" panose="02010600030101010101" pitchFamily="2" charset="-122"/>
            </a:endParaRPr>
          </a:p>
        </p:txBody>
      </p:sp>
      <p:sp>
        <p:nvSpPr>
          <p:cNvPr id="55299" name="Rectangle 3"/>
          <p:cNvSpPr>
            <a:spLocks noGrp="1"/>
          </p:cNvSpPr>
          <p:nvPr>
            <p:ph type="body" idx="4294967295"/>
          </p:nvPr>
        </p:nvSpPr>
        <p:spPr>
          <a:xfrm>
            <a:off x="900113" y="2060575"/>
            <a:ext cx="7772400" cy="3657600"/>
          </a:xfrm>
        </p:spPr>
        <p:txBody>
          <a:bodyPr vert="horz" wrap="square" lIns="91440" tIns="45720" rIns="91440" bIns="45720" anchor="t" anchorCtr="0"/>
          <a:p>
            <a:pPr eaLnBrk="1" hangingPunct="1">
              <a:buFont typeface="Wingdings" panose="05000000000000000000" pitchFamily="2" charset="2"/>
              <a:buChar char="Ø"/>
            </a:pPr>
            <a:r>
              <a:rPr lang="zh-CN" altLang="en-US" dirty="0">
                <a:ea typeface="宋体" panose="02010600030101010101" pitchFamily="2" charset="-122"/>
              </a:rPr>
              <a:t>指令格式、对操作数的要求、对标志位的影响与</a:t>
            </a:r>
            <a:r>
              <a:rPr lang="en-US" altLang="zh-CN" dirty="0">
                <a:ea typeface="宋体" panose="02010600030101010101" pitchFamily="2" charset="-122"/>
              </a:rPr>
              <a:t>ADD</a:t>
            </a:r>
            <a:r>
              <a:rPr lang="zh-CN" altLang="en-US" dirty="0">
                <a:ea typeface="宋体" panose="02010600030101010101" pitchFamily="2" charset="-122"/>
              </a:rPr>
              <a:t>指令完全一样</a:t>
            </a:r>
            <a:endParaRPr lang="zh-CN" altLang="en-US" dirty="0">
              <a:ea typeface="宋体" panose="02010600030101010101" pitchFamily="2" charset="-122"/>
            </a:endParaRPr>
          </a:p>
          <a:p>
            <a:pPr eaLnBrk="1" hangingPunct="1">
              <a:spcBef>
                <a:spcPct val="50000"/>
              </a:spcBef>
              <a:spcAft>
                <a:spcPct val="30000"/>
              </a:spcAft>
              <a:buFont typeface="Wingdings" panose="05000000000000000000" pitchFamily="2" charset="2"/>
              <a:buChar char="Ø"/>
            </a:pPr>
            <a:r>
              <a:rPr lang="zh-CN" altLang="en-US" dirty="0">
                <a:ea typeface="宋体" panose="02010600030101010101" pitchFamily="2" charset="-122"/>
              </a:rPr>
              <a:t>指令的操作：</a:t>
            </a:r>
            <a:endParaRPr lang="zh-CN" altLang="en-US" dirty="0">
              <a:ea typeface="宋体" panose="02010600030101010101" pitchFamily="2" charset="-122"/>
            </a:endParaRPr>
          </a:p>
          <a:p>
            <a:pPr lvl="1" eaLnBrk="1" hangingPunct="1">
              <a:spcBef>
                <a:spcPct val="50000"/>
              </a:spcBef>
              <a:spcAft>
                <a:spcPct val="30000"/>
              </a:spcAft>
              <a:buFont typeface="Wingdings" panose="05000000000000000000" pitchFamily="2" charset="2"/>
              <a:buChar char="•"/>
            </a:pPr>
            <a:r>
              <a:rPr lang="zh-CN" altLang="en-US" dirty="0">
                <a:ea typeface="宋体" panose="02010600030101010101" pitchFamily="2" charset="-122"/>
              </a:rPr>
              <a:t> </a:t>
            </a:r>
            <a:r>
              <a:rPr lang="en-US" altLang="zh-CN" dirty="0">
                <a:ea typeface="宋体" panose="02010600030101010101" pitchFamily="2" charset="-122"/>
              </a:rPr>
              <a:t>OPRD1+OPRD2+CF             OPRD1</a:t>
            </a:r>
            <a:endParaRPr lang="en-US" altLang="zh-CN" dirty="0">
              <a:ea typeface="宋体" panose="02010600030101010101" pitchFamily="2" charset="-122"/>
            </a:endParaRPr>
          </a:p>
          <a:p>
            <a:pPr eaLnBrk="1" hangingPunct="1">
              <a:lnSpc>
                <a:spcPct val="115000"/>
              </a:lnSpc>
              <a:spcBef>
                <a:spcPct val="55000"/>
              </a:spcBef>
              <a:buFont typeface="Wingdings" panose="05000000000000000000" pitchFamily="2" charset="2"/>
              <a:buChar char="Ø"/>
            </a:pPr>
            <a:r>
              <a:rPr lang="en-US" altLang="zh-CN" dirty="0">
                <a:solidFill>
                  <a:srgbClr val="FF0000"/>
                </a:solidFill>
                <a:ea typeface="宋体" panose="02010600030101010101" pitchFamily="2" charset="-122"/>
              </a:rPr>
              <a:t>ADC</a:t>
            </a:r>
            <a:r>
              <a:rPr lang="zh-CN" altLang="en-US" dirty="0">
                <a:solidFill>
                  <a:srgbClr val="FF0000"/>
                </a:solidFill>
                <a:ea typeface="宋体" panose="02010600030101010101" pitchFamily="2" charset="-122"/>
              </a:rPr>
              <a:t>指令多用于多字节数相加，使用前要先将</a:t>
            </a:r>
            <a:r>
              <a:rPr lang="en-US" altLang="zh-CN" dirty="0">
                <a:solidFill>
                  <a:srgbClr val="FF0000"/>
                </a:solidFill>
                <a:ea typeface="宋体" panose="02010600030101010101" pitchFamily="2" charset="-122"/>
              </a:rPr>
              <a:t>CF</a:t>
            </a:r>
            <a:r>
              <a:rPr lang="zh-CN" altLang="en-US" dirty="0">
                <a:solidFill>
                  <a:srgbClr val="FF0000"/>
                </a:solidFill>
                <a:ea typeface="宋体" panose="02010600030101010101" pitchFamily="2" charset="-122"/>
              </a:rPr>
              <a:t>清零。</a:t>
            </a:r>
            <a:endParaRPr lang="zh-CN" altLang="en-US" dirty="0">
              <a:solidFill>
                <a:srgbClr val="FF0000"/>
              </a:solidFill>
              <a:ea typeface="宋体" panose="02010600030101010101" pitchFamily="2" charset="-122"/>
            </a:endParaRPr>
          </a:p>
        </p:txBody>
      </p:sp>
      <p:sp>
        <p:nvSpPr>
          <p:cNvPr id="55300" name="Line 4"/>
          <p:cNvSpPr/>
          <p:nvPr/>
        </p:nvSpPr>
        <p:spPr>
          <a:xfrm>
            <a:off x="4937125" y="4106863"/>
            <a:ext cx="838200" cy="0"/>
          </a:xfrm>
          <a:prstGeom prst="line">
            <a:avLst/>
          </a:prstGeom>
          <a:ln w="25400" cap="sq" cmpd="sng">
            <a:solidFill>
              <a:srgbClr val="FF6600"/>
            </a:solidFill>
            <a:prstDash val="solid"/>
            <a:headEnd type="none" w="med" len="med"/>
            <a:tailEnd type="triangle" w="lg" len="lg"/>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5299">
                                            <p:txEl>
                                              <p:charRg st="0" end="31"/>
                                            </p:txEl>
                                          </p:spTgt>
                                        </p:tgtEl>
                                        <p:attrNameLst>
                                          <p:attrName>style.visibility</p:attrName>
                                        </p:attrNameLst>
                                      </p:cBhvr>
                                      <p:to>
                                        <p:strVal val="visible"/>
                                      </p:to>
                                    </p:set>
                                    <p:animEffect transition="in" filter="blinds(horizontal)">
                                      <p:cBhvr>
                                        <p:cTn id="7" dur="500"/>
                                        <p:tgtEl>
                                          <p:spTgt spid="55299">
                                            <p:txEl>
                                              <p:charRg st="0" end="3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299">
                                            <p:txEl>
                                              <p:charRg st="31" end="38"/>
                                            </p:txEl>
                                          </p:spTgt>
                                        </p:tgtEl>
                                        <p:attrNameLst>
                                          <p:attrName>style.visibility</p:attrName>
                                        </p:attrNameLst>
                                      </p:cBhvr>
                                      <p:to>
                                        <p:strVal val="visible"/>
                                      </p:to>
                                    </p:set>
                                    <p:animEffect transition="in" filter="wipe(left)">
                                      <p:cBhvr>
                                        <p:cTn id="12" dur="500"/>
                                        <p:tgtEl>
                                          <p:spTgt spid="55299">
                                            <p:txEl>
                                              <p:charRg st="31" end="38"/>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5299">
                                            <p:txEl>
                                              <p:charRg st="38" end="72"/>
                                            </p:txEl>
                                          </p:spTgt>
                                        </p:tgtEl>
                                        <p:attrNameLst>
                                          <p:attrName>style.visibility</p:attrName>
                                        </p:attrNameLst>
                                      </p:cBhvr>
                                      <p:to>
                                        <p:strVal val="visible"/>
                                      </p:to>
                                    </p:set>
                                    <p:animEffect transition="in" filter="wipe(left)">
                                      <p:cBhvr>
                                        <p:cTn id="15" dur="500"/>
                                        <p:tgtEl>
                                          <p:spTgt spid="55299">
                                            <p:txEl>
                                              <p:charRg st="38" end="72"/>
                                            </p:txEl>
                                          </p:spTgt>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55300"/>
                                        </p:tgtEl>
                                        <p:attrNameLst>
                                          <p:attrName>style.visibility</p:attrName>
                                        </p:attrNameLst>
                                      </p:cBhvr>
                                      <p:to>
                                        <p:strVal val="visible"/>
                                      </p:to>
                                    </p:set>
                                    <p:animEffect transition="in" filter="wipe(left)">
                                      <p:cBhvr>
                                        <p:cTn id="19" dur="500"/>
                                        <p:tgtEl>
                                          <p:spTgt spid="55300"/>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55299">
                                            <p:txEl>
                                              <p:charRg st="72" end="99"/>
                                            </p:txEl>
                                          </p:spTgt>
                                        </p:tgtEl>
                                        <p:attrNameLst>
                                          <p:attrName>style.visibility</p:attrName>
                                        </p:attrNameLst>
                                      </p:cBhvr>
                                      <p:to>
                                        <p:strVal val="visible"/>
                                      </p:to>
                                    </p:set>
                                    <p:animEffect transition="in" filter="blinds(horizontal)">
                                      <p:cBhvr>
                                        <p:cTn id="24" dur="500"/>
                                        <p:tgtEl>
                                          <p:spTgt spid="55299">
                                            <p:txEl>
                                              <p:charRg st="72" end="9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type="title" idx="4294967295"/>
          </p:nvPr>
        </p:nvSpPr>
        <p:spPr>
          <a:xfrm>
            <a:off x="763588" y="996950"/>
            <a:ext cx="6553200" cy="563563"/>
          </a:xfrm>
        </p:spPr>
        <p:txBody>
          <a:bodyPr vert="horz" wrap="square" lIns="91440" tIns="45720" rIns="91440" bIns="45720" anchor="ctr" anchorCtr="0"/>
          <a:p>
            <a:pPr eaLnBrk="1" hangingPunct="1"/>
            <a:r>
              <a:rPr lang="zh-CN" altLang="en-US" dirty="0">
                <a:solidFill>
                  <a:srgbClr val="002060"/>
                </a:solidFill>
                <a:latin typeface="宋体" panose="02010600030101010101" pitchFamily="2" charset="-122"/>
                <a:ea typeface="宋体" panose="02010600030101010101" pitchFamily="2" charset="-122"/>
              </a:rPr>
              <a:t>例：</a:t>
            </a:r>
            <a:r>
              <a:rPr lang="zh-CN" altLang="en-US" dirty="0">
                <a:solidFill>
                  <a:schemeClr val="tx1"/>
                </a:solidFill>
                <a:latin typeface="宋体" panose="02010600030101010101" pitchFamily="2" charset="-122"/>
                <a:ea typeface="宋体" panose="02010600030101010101" pitchFamily="2" charset="-122"/>
              </a:rPr>
              <a:t>求两个</a:t>
            </a:r>
            <a:r>
              <a:rPr lang="en-US" altLang="zh-CN" dirty="0">
                <a:solidFill>
                  <a:schemeClr val="tx1"/>
                </a:solidFill>
                <a:latin typeface="宋体" panose="02010600030101010101" pitchFamily="2" charset="-122"/>
                <a:ea typeface="宋体" panose="02010600030101010101" pitchFamily="2" charset="-122"/>
              </a:rPr>
              <a:t>20B</a:t>
            </a:r>
            <a:r>
              <a:rPr lang="zh-CN" altLang="en-US" dirty="0">
                <a:solidFill>
                  <a:schemeClr val="tx1"/>
                </a:solidFill>
                <a:latin typeface="宋体" panose="02010600030101010101" pitchFamily="2" charset="-122"/>
                <a:ea typeface="宋体" panose="02010600030101010101" pitchFamily="2" charset="-122"/>
              </a:rPr>
              <a:t>数的和</a:t>
            </a:r>
            <a:endParaRPr lang="zh-CN" altLang="en-US" dirty="0">
              <a:solidFill>
                <a:schemeClr val="tx1"/>
              </a:solidFill>
              <a:latin typeface="宋体" panose="02010600030101010101" pitchFamily="2" charset="-122"/>
              <a:ea typeface="宋体" panose="02010600030101010101" pitchFamily="2" charset="-122"/>
            </a:endParaRPr>
          </a:p>
        </p:txBody>
      </p:sp>
      <p:sp>
        <p:nvSpPr>
          <p:cNvPr id="56323" name="Rectangle 3"/>
          <p:cNvSpPr>
            <a:spLocks noGrp="1"/>
          </p:cNvSpPr>
          <p:nvPr>
            <p:ph type="body" idx="4294967295"/>
          </p:nvPr>
        </p:nvSpPr>
        <p:spPr>
          <a:xfrm>
            <a:off x="763588" y="1652588"/>
            <a:ext cx="4829175" cy="5016500"/>
          </a:xfrm>
        </p:spPr>
        <p:txBody>
          <a:bodyPr vert="horz" wrap="square" lIns="91440" tIns="45720" rIns="91440" bIns="45720" anchor="t" anchorCtr="0"/>
          <a:p>
            <a:pPr marL="0" indent="0" eaLnBrk="1" hangingPunct="1">
              <a:lnSpc>
                <a:spcPct val="130000"/>
              </a:lnSpc>
              <a:buNone/>
            </a:pPr>
            <a:r>
              <a:rPr lang="en-US" altLang="zh-CN" sz="2000" dirty="0">
                <a:latin typeface="宋体" panose="02010600030101010101" pitchFamily="2" charset="-122"/>
                <a:ea typeface="宋体" panose="02010600030101010101" pitchFamily="2" charset="-122"/>
              </a:rPr>
              <a:t>	 LEA  SI</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M1</a:t>
            </a:r>
            <a:endParaRPr lang="en-US" altLang="zh-CN" sz="2000" dirty="0">
              <a:latin typeface="宋体" panose="02010600030101010101" pitchFamily="2" charset="-122"/>
              <a:ea typeface="宋体" panose="02010600030101010101" pitchFamily="2" charset="-122"/>
            </a:endParaRPr>
          </a:p>
          <a:p>
            <a:pPr marL="0" indent="0" eaLnBrk="1" hangingPunct="1">
              <a:lnSpc>
                <a:spcPct val="130000"/>
              </a:lnSpc>
              <a:buNone/>
            </a:pPr>
            <a:r>
              <a:rPr lang="en-US" altLang="zh-CN" sz="2000" dirty="0">
                <a:latin typeface="宋体" panose="02010600030101010101" pitchFamily="2" charset="-122"/>
                <a:ea typeface="宋体" panose="02010600030101010101" pitchFamily="2" charset="-122"/>
              </a:rPr>
              <a:t>	 LEA  DI</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M2</a:t>
            </a:r>
            <a:endParaRPr lang="en-US" altLang="zh-CN" sz="2000" dirty="0">
              <a:latin typeface="宋体" panose="02010600030101010101" pitchFamily="2" charset="-122"/>
              <a:ea typeface="宋体" panose="02010600030101010101" pitchFamily="2" charset="-122"/>
            </a:endParaRPr>
          </a:p>
          <a:p>
            <a:pPr marL="0" indent="0" eaLnBrk="1" hangingPunct="1">
              <a:lnSpc>
                <a:spcPct val="130000"/>
              </a:lnSpc>
              <a:buNone/>
            </a:pPr>
            <a:r>
              <a:rPr lang="en-US" altLang="zh-CN" sz="2000" dirty="0">
                <a:latin typeface="宋体" panose="02010600030101010101" pitchFamily="2" charset="-122"/>
                <a:ea typeface="宋体" panose="02010600030101010101" pitchFamily="2" charset="-122"/>
              </a:rPr>
              <a:t>	 MOV CX</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20</a:t>
            </a:r>
            <a:endParaRPr lang="en-US" altLang="zh-CN" sz="2000" dirty="0">
              <a:latin typeface="宋体" panose="02010600030101010101" pitchFamily="2" charset="-122"/>
              <a:ea typeface="宋体" panose="02010600030101010101" pitchFamily="2" charset="-122"/>
            </a:endParaRPr>
          </a:p>
          <a:p>
            <a:pPr marL="0" indent="0" eaLnBrk="1" hangingPunct="1">
              <a:lnSpc>
                <a:spcPct val="130000"/>
              </a:lnSpc>
              <a:buNone/>
            </a:pPr>
            <a:r>
              <a:rPr lang="en-US" altLang="zh-CN" sz="2000" dirty="0">
                <a:latin typeface="宋体" panose="02010600030101010101" pitchFamily="2" charset="-122"/>
                <a:ea typeface="宋体" panose="02010600030101010101" pitchFamily="2" charset="-122"/>
              </a:rPr>
              <a:t>	 CLC          </a:t>
            </a:r>
            <a:r>
              <a:rPr lang="zh-CN" altLang="en-US" sz="2000" dirty="0">
                <a:latin typeface="宋体" panose="02010600030101010101" pitchFamily="2" charset="-122"/>
                <a:ea typeface="宋体" panose="02010600030101010101" pitchFamily="2" charset="-122"/>
              </a:rPr>
              <a:t>；使</a:t>
            </a:r>
            <a:r>
              <a:rPr lang="en-US" altLang="zh-CN" sz="2000" dirty="0">
                <a:latin typeface="宋体" panose="02010600030101010101" pitchFamily="2" charset="-122"/>
                <a:ea typeface="宋体" panose="02010600030101010101" pitchFamily="2" charset="-122"/>
              </a:rPr>
              <a:t>CF=0</a:t>
            </a:r>
            <a:endParaRPr lang="en-US" altLang="zh-CN" sz="2000" dirty="0">
              <a:latin typeface="宋体" panose="02010600030101010101" pitchFamily="2" charset="-122"/>
              <a:ea typeface="宋体" panose="02010600030101010101" pitchFamily="2" charset="-122"/>
            </a:endParaRPr>
          </a:p>
          <a:p>
            <a:pPr marL="0" indent="0" eaLnBrk="1" hangingPunct="1">
              <a:lnSpc>
                <a:spcPct val="130000"/>
              </a:lnSpc>
              <a:buNone/>
            </a:pPr>
            <a:r>
              <a:rPr lang="en-US" altLang="zh-CN" sz="2000" dirty="0">
                <a:latin typeface="宋体" panose="02010600030101010101" pitchFamily="2" charset="-122"/>
                <a:ea typeface="宋体" panose="02010600030101010101" pitchFamily="2" charset="-122"/>
              </a:rPr>
              <a:t>NEXT </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 MOV AL</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[SI]</a:t>
            </a:r>
            <a:endParaRPr lang="en-US" altLang="zh-CN" sz="2000" dirty="0">
              <a:latin typeface="宋体" panose="02010600030101010101" pitchFamily="2" charset="-122"/>
              <a:ea typeface="宋体" panose="02010600030101010101" pitchFamily="2" charset="-122"/>
            </a:endParaRPr>
          </a:p>
          <a:p>
            <a:pPr marL="0" indent="0" eaLnBrk="1" hangingPunct="1">
              <a:lnSpc>
                <a:spcPct val="130000"/>
              </a:lnSpc>
              <a:buNone/>
            </a:pPr>
            <a:r>
              <a:rPr lang="en-US" altLang="zh-CN" sz="2000" dirty="0">
                <a:latin typeface="宋体" panose="02010600030101010101" pitchFamily="2" charset="-122"/>
                <a:ea typeface="宋体" panose="02010600030101010101" pitchFamily="2" charset="-122"/>
              </a:rPr>
              <a:t>        </a:t>
            </a:r>
            <a:r>
              <a:rPr lang="en-US" altLang="zh-CN" sz="2000" dirty="0">
                <a:solidFill>
                  <a:srgbClr val="FF0000"/>
                </a:solidFill>
                <a:latin typeface="宋体" panose="02010600030101010101" pitchFamily="2" charset="-122"/>
                <a:ea typeface="宋体" panose="02010600030101010101" pitchFamily="2" charset="-122"/>
              </a:rPr>
              <a:t>ADC [DI]</a:t>
            </a:r>
            <a:r>
              <a:rPr lang="zh-CN" altLang="en-US" sz="2000" dirty="0">
                <a:solidFill>
                  <a:srgbClr val="FF0000"/>
                </a:solidFill>
                <a:latin typeface="宋体" panose="02010600030101010101" pitchFamily="2" charset="-122"/>
                <a:ea typeface="宋体" panose="02010600030101010101" pitchFamily="2" charset="-122"/>
              </a:rPr>
              <a:t>，</a:t>
            </a:r>
            <a:r>
              <a:rPr lang="en-US" altLang="zh-CN" sz="2000" dirty="0">
                <a:solidFill>
                  <a:srgbClr val="FF0000"/>
                </a:solidFill>
                <a:latin typeface="宋体" panose="02010600030101010101" pitchFamily="2" charset="-122"/>
                <a:ea typeface="宋体" panose="02010600030101010101" pitchFamily="2" charset="-122"/>
              </a:rPr>
              <a:t>AL</a:t>
            </a:r>
            <a:endParaRPr lang="en-US" altLang="zh-CN" sz="2000" dirty="0">
              <a:solidFill>
                <a:srgbClr val="FF0000"/>
              </a:solidFill>
              <a:latin typeface="宋体" panose="02010600030101010101" pitchFamily="2" charset="-122"/>
              <a:ea typeface="宋体" panose="02010600030101010101" pitchFamily="2" charset="-122"/>
            </a:endParaRPr>
          </a:p>
          <a:p>
            <a:pPr marL="0" indent="0" eaLnBrk="1" hangingPunct="1">
              <a:lnSpc>
                <a:spcPct val="130000"/>
              </a:lnSpc>
              <a:buNone/>
            </a:pPr>
            <a:r>
              <a:rPr lang="en-US" altLang="zh-CN" sz="2000" dirty="0">
                <a:latin typeface="宋体" panose="02010600030101010101" pitchFamily="2" charset="-122"/>
                <a:ea typeface="宋体" panose="02010600030101010101" pitchFamily="2" charset="-122"/>
              </a:rPr>
              <a:t>	 INC SI</a:t>
            </a:r>
            <a:endParaRPr lang="en-US" altLang="zh-CN" sz="2000" dirty="0">
              <a:latin typeface="宋体" panose="02010600030101010101" pitchFamily="2" charset="-122"/>
              <a:ea typeface="宋体" panose="02010600030101010101" pitchFamily="2" charset="-122"/>
            </a:endParaRPr>
          </a:p>
          <a:p>
            <a:pPr marL="0" indent="0" eaLnBrk="1" hangingPunct="1">
              <a:lnSpc>
                <a:spcPct val="130000"/>
              </a:lnSpc>
              <a:buNone/>
            </a:pPr>
            <a:r>
              <a:rPr lang="en-US" altLang="zh-CN" sz="2000" dirty="0">
                <a:latin typeface="宋体" panose="02010600030101010101" pitchFamily="2" charset="-122"/>
                <a:ea typeface="宋体" panose="02010600030101010101" pitchFamily="2" charset="-122"/>
              </a:rPr>
              <a:t>	 INC DI</a:t>
            </a:r>
            <a:endParaRPr lang="en-US" altLang="zh-CN" sz="2000" dirty="0">
              <a:latin typeface="宋体" panose="02010600030101010101" pitchFamily="2" charset="-122"/>
              <a:ea typeface="宋体" panose="02010600030101010101" pitchFamily="2" charset="-122"/>
            </a:endParaRPr>
          </a:p>
          <a:p>
            <a:pPr marL="0" indent="0" eaLnBrk="1" hangingPunct="1">
              <a:lnSpc>
                <a:spcPct val="130000"/>
              </a:lnSpc>
              <a:buNone/>
            </a:pPr>
            <a:r>
              <a:rPr lang="en-US" altLang="zh-CN" sz="2000" dirty="0">
                <a:latin typeface="宋体" panose="02010600030101010101" pitchFamily="2" charset="-122"/>
                <a:ea typeface="宋体" panose="02010600030101010101" pitchFamily="2" charset="-122"/>
              </a:rPr>
              <a:t>	 DEC CX </a:t>
            </a:r>
            <a:endParaRPr lang="en-US" altLang="zh-CN" sz="2000" dirty="0">
              <a:latin typeface="宋体" panose="02010600030101010101" pitchFamily="2" charset="-122"/>
              <a:ea typeface="宋体" panose="02010600030101010101" pitchFamily="2" charset="-122"/>
            </a:endParaRPr>
          </a:p>
          <a:p>
            <a:pPr marL="0" indent="0" eaLnBrk="1" hangingPunct="1">
              <a:lnSpc>
                <a:spcPct val="130000"/>
              </a:lnSpc>
              <a:buNone/>
            </a:pPr>
            <a:r>
              <a:rPr lang="en-US" altLang="zh-CN" sz="2000" dirty="0">
                <a:latin typeface="宋体" panose="02010600030101010101" pitchFamily="2" charset="-122"/>
                <a:ea typeface="宋体" panose="02010600030101010101" pitchFamily="2" charset="-122"/>
              </a:rPr>
              <a:t>	 JNZ NEXT</a:t>
            </a:r>
            <a:endParaRPr lang="en-US" altLang="zh-CN" sz="2000" dirty="0">
              <a:latin typeface="宋体" panose="02010600030101010101" pitchFamily="2" charset="-122"/>
              <a:ea typeface="宋体" panose="02010600030101010101" pitchFamily="2" charset="-122"/>
            </a:endParaRPr>
          </a:p>
          <a:p>
            <a:pPr marL="0" indent="0" eaLnBrk="1" hangingPunct="1">
              <a:lnSpc>
                <a:spcPct val="130000"/>
              </a:lnSpc>
              <a:buNone/>
            </a:pPr>
            <a:r>
              <a:rPr lang="en-US" altLang="zh-CN" sz="2000" dirty="0">
                <a:latin typeface="宋体" panose="02010600030101010101" pitchFamily="2" charset="-122"/>
                <a:ea typeface="宋体" panose="02010600030101010101" pitchFamily="2" charset="-122"/>
              </a:rPr>
              <a:t>HLT</a:t>
            </a:r>
            <a:endParaRPr lang="en-US" altLang="zh-CN" sz="2000" dirty="0">
              <a:latin typeface="宋体" panose="02010600030101010101" pitchFamily="2" charset="-122"/>
              <a:ea typeface="宋体" panose="02010600030101010101" pitchFamily="2" charset="-122"/>
            </a:endParaRPr>
          </a:p>
        </p:txBody>
      </p:sp>
      <p:grpSp>
        <p:nvGrpSpPr>
          <p:cNvPr id="2" name="Group 23"/>
          <p:cNvGrpSpPr/>
          <p:nvPr/>
        </p:nvGrpSpPr>
        <p:grpSpPr>
          <a:xfrm>
            <a:off x="5999163" y="2346325"/>
            <a:ext cx="2460625" cy="3962400"/>
            <a:chOff x="0" y="0"/>
            <a:chExt cx="1550" cy="2496"/>
          </a:xfrm>
        </p:grpSpPr>
        <p:sp>
          <p:nvSpPr>
            <p:cNvPr id="56325" name="Rectangle 5"/>
            <p:cNvSpPr/>
            <p:nvPr/>
          </p:nvSpPr>
          <p:spPr>
            <a:xfrm>
              <a:off x="446" y="0"/>
              <a:ext cx="1104" cy="2496"/>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56326" name="Line 6"/>
            <p:cNvSpPr/>
            <p:nvPr/>
          </p:nvSpPr>
          <p:spPr>
            <a:xfrm flipH="1">
              <a:off x="446" y="0"/>
              <a:ext cx="1" cy="2496"/>
            </a:xfrm>
            <a:prstGeom prst="line">
              <a:avLst/>
            </a:prstGeom>
            <a:ln w="25400" cap="sq" cmpd="sng">
              <a:solidFill>
                <a:schemeClr val="tx1"/>
              </a:solidFill>
              <a:prstDash val="solid"/>
              <a:headEnd type="none" w="med" len="med"/>
              <a:tailEnd type="none" w="med" len="med"/>
            </a:ln>
          </p:spPr>
        </p:sp>
        <p:sp>
          <p:nvSpPr>
            <p:cNvPr id="56327" name="Line 7"/>
            <p:cNvSpPr/>
            <p:nvPr/>
          </p:nvSpPr>
          <p:spPr>
            <a:xfrm>
              <a:off x="1550" y="0"/>
              <a:ext cx="0" cy="2496"/>
            </a:xfrm>
            <a:prstGeom prst="line">
              <a:avLst/>
            </a:prstGeom>
            <a:ln w="25400" cap="sq" cmpd="sng">
              <a:solidFill>
                <a:schemeClr val="tx1"/>
              </a:solidFill>
              <a:prstDash val="solid"/>
              <a:headEnd type="none" w="med" len="med"/>
              <a:tailEnd type="none" w="med" len="med"/>
            </a:ln>
          </p:spPr>
        </p:sp>
        <p:sp>
          <p:nvSpPr>
            <p:cNvPr id="56328" name="Line 8"/>
            <p:cNvSpPr/>
            <p:nvPr/>
          </p:nvSpPr>
          <p:spPr>
            <a:xfrm>
              <a:off x="446" y="576"/>
              <a:ext cx="1104" cy="0"/>
            </a:xfrm>
            <a:prstGeom prst="line">
              <a:avLst/>
            </a:prstGeom>
            <a:ln w="25400" cap="sq" cmpd="sng">
              <a:solidFill>
                <a:schemeClr val="tx1"/>
              </a:solidFill>
              <a:prstDash val="solid"/>
              <a:headEnd type="none" w="med" len="med"/>
              <a:tailEnd type="none" w="med" len="med"/>
            </a:ln>
          </p:spPr>
        </p:sp>
        <p:sp>
          <p:nvSpPr>
            <p:cNvPr id="56329" name="Line 9"/>
            <p:cNvSpPr/>
            <p:nvPr/>
          </p:nvSpPr>
          <p:spPr>
            <a:xfrm>
              <a:off x="446" y="816"/>
              <a:ext cx="1104" cy="0"/>
            </a:xfrm>
            <a:prstGeom prst="line">
              <a:avLst/>
            </a:prstGeom>
            <a:ln w="25400" cap="sq" cmpd="sng">
              <a:solidFill>
                <a:schemeClr val="tx1"/>
              </a:solidFill>
              <a:prstDash val="solid"/>
              <a:headEnd type="none" w="med" len="med"/>
              <a:tailEnd type="none" w="med" len="med"/>
            </a:ln>
          </p:spPr>
        </p:sp>
        <p:sp>
          <p:nvSpPr>
            <p:cNvPr id="56330" name="Line 10"/>
            <p:cNvSpPr/>
            <p:nvPr/>
          </p:nvSpPr>
          <p:spPr>
            <a:xfrm>
              <a:off x="446" y="1056"/>
              <a:ext cx="1104" cy="0"/>
            </a:xfrm>
            <a:prstGeom prst="line">
              <a:avLst/>
            </a:prstGeom>
            <a:ln w="25400" cap="sq" cmpd="sng">
              <a:solidFill>
                <a:schemeClr val="tx1"/>
              </a:solidFill>
              <a:prstDash val="solid"/>
              <a:headEnd type="none" w="med" len="med"/>
              <a:tailEnd type="none" w="med" len="med"/>
            </a:ln>
          </p:spPr>
        </p:sp>
        <p:sp>
          <p:nvSpPr>
            <p:cNvPr id="56331" name="Line 11"/>
            <p:cNvSpPr/>
            <p:nvPr/>
          </p:nvSpPr>
          <p:spPr>
            <a:xfrm>
              <a:off x="446" y="0"/>
              <a:ext cx="1104" cy="0"/>
            </a:xfrm>
            <a:prstGeom prst="line">
              <a:avLst/>
            </a:prstGeom>
            <a:ln w="25400" cap="sq" cmpd="sng">
              <a:solidFill>
                <a:schemeClr val="tx1"/>
              </a:solidFill>
              <a:prstDash val="solid"/>
              <a:headEnd type="none" w="med" len="med"/>
              <a:tailEnd type="none" w="med" len="med"/>
            </a:ln>
          </p:spPr>
        </p:sp>
        <p:sp>
          <p:nvSpPr>
            <p:cNvPr id="56332" name="Line 12"/>
            <p:cNvSpPr/>
            <p:nvPr/>
          </p:nvSpPr>
          <p:spPr>
            <a:xfrm>
              <a:off x="446" y="1872"/>
              <a:ext cx="1104" cy="0"/>
            </a:xfrm>
            <a:prstGeom prst="line">
              <a:avLst/>
            </a:prstGeom>
            <a:ln w="25400" cap="sq" cmpd="sng">
              <a:solidFill>
                <a:schemeClr val="tx1"/>
              </a:solidFill>
              <a:prstDash val="solid"/>
              <a:headEnd type="none" w="med" len="med"/>
              <a:tailEnd type="none" w="med" len="med"/>
            </a:ln>
          </p:spPr>
        </p:sp>
        <p:sp>
          <p:nvSpPr>
            <p:cNvPr id="56333" name="Line 13"/>
            <p:cNvSpPr/>
            <p:nvPr/>
          </p:nvSpPr>
          <p:spPr>
            <a:xfrm>
              <a:off x="446" y="1632"/>
              <a:ext cx="1104" cy="0"/>
            </a:xfrm>
            <a:prstGeom prst="line">
              <a:avLst/>
            </a:prstGeom>
            <a:ln w="25400" cap="sq" cmpd="sng">
              <a:solidFill>
                <a:schemeClr val="tx1"/>
              </a:solidFill>
              <a:prstDash val="solid"/>
              <a:headEnd type="none" w="med" len="med"/>
              <a:tailEnd type="none" w="med" len="med"/>
            </a:ln>
          </p:spPr>
        </p:sp>
        <p:sp>
          <p:nvSpPr>
            <p:cNvPr id="56334" name="Line 14"/>
            <p:cNvSpPr/>
            <p:nvPr/>
          </p:nvSpPr>
          <p:spPr>
            <a:xfrm>
              <a:off x="446" y="2496"/>
              <a:ext cx="1104" cy="0"/>
            </a:xfrm>
            <a:prstGeom prst="line">
              <a:avLst/>
            </a:prstGeom>
            <a:ln w="25400" cap="sq" cmpd="sng">
              <a:solidFill>
                <a:schemeClr val="tx1"/>
              </a:solidFill>
              <a:prstDash val="solid"/>
              <a:headEnd type="none" w="med" len="med"/>
              <a:tailEnd type="none" w="med" len="med"/>
            </a:ln>
          </p:spPr>
        </p:sp>
        <p:sp>
          <p:nvSpPr>
            <p:cNvPr id="56335" name="Line 15"/>
            <p:cNvSpPr/>
            <p:nvPr/>
          </p:nvSpPr>
          <p:spPr>
            <a:xfrm>
              <a:off x="446" y="2112"/>
              <a:ext cx="1104" cy="0"/>
            </a:xfrm>
            <a:prstGeom prst="line">
              <a:avLst/>
            </a:prstGeom>
            <a:ln w="25400" cap="sq" cmpd="sng">
              <a:solidFill>
                <a:schemeClr val="tx1"/>
              </a:solidFill>
              <a:prstDash val="solid"/>
              <a:headEnd type="none" w="med" len="med"/>
              <a:tailEnd type="none" w="med" len="med"/>
            </a:ln>
          </p:spPr>
        </p:sp>
        <p:sp>
          <p:nvSpPr>
            <p:cNvPr id="56336" name="Text Box 16"/>
            <p:cNvSpPr txBox="1"/>
            <p:nvPr/>
          </p:nvSpPr>
          <p:spPr>
            <a:xfrm>
              <a:off x="830" y="1200"/>
              <a:ext cx="384" cy="288"/>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solidFill>
                    <a:schemeClr val="bg1"/>
                  </a:solidFill>
                  <a:latin typeface="宋体" panose="02010600030101010101" pitchFamily="2" charset="-122"/>
                  <a:ea typeface="宋体" panose="02010600030101010101" pitchFamily="2" charset="-122"/>
                </a:rPr>
                <a:t>┇</a:t>
              </a:r>
              <a:r>
                <a:rPr lang="en-US" altLang="zh-CN" sz="2400" dirty="0">
                  <a:solidFill>
                    <a:schemeClr val="bg1"/>
                  </a:solidFill>
                  <a:latin typeface="Times New Roman" panose="02020603050405020304" pitchFamily="18" charset="0"/>
                  <a:ea typeface="宋体" panose="02010600030101010101" pitchFamily="2" charset="-122"/>
                </a:rPr>
                <a:t> </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56337" name="Text Box 17"/>
            <p:cNvSpPr txBox="1"/>
            <p:nvPr/>
          </p:nvSpPr>
          <p:spPr>
            <a:xfrm>
              <a:off x="830" y="144"/>
              <a:ext cx="384" cy="288"/>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solidFill>
                    <a:schemeClr val="bg1"/>
                  </a:solidFill>
                  <a:latin typeface="宋体" panose="02010600030101010101" pitchFamily="2" charset="-122"/>
                  <a:ea typeface="宋体" panose="02010600030101010101" pitchFamily="2" charset="-122"/>
                </a:rPr>
                <a:t>┇</a:t>
              </a:r>
              <a:r>
                <a:rPr lang="en-US" altLang="zh-CN" sz="2400" dirty="0">
                  <a:solidFill>
                    <a:schemeClr val="bg1"/>
                  </a:solidFill>
                  <a:latin typeface="Times New Roman" panose="02020603050405020304" pitchFamily="18" charset="0"/>
                  <a:ea typeface="宋体" panose="02010600030101010101" pitchFamily="2" charset="-122"/>
                </a:rPr>
                <a:t> </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56338" name="Text Box 18"/>
            <p:cNvSpPr txBox="1"/>
            <p:nvPr/>
          </p:nvSpPr>
          <p:spPr>
            <a:xfrm>
              <a:off x="830" y="2160"/>
              <a:ext cx="384" cy="288"/>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solidFill>
                    <a:schemeClr val="bg1"/>
                  </a:solidFill>
                  <a:latin typeface="宋体" panose="02010600030101010101" pitchFamily="2" charset="-122"/>
                  <a:ea typeface="宋体" panose="02010600030101010101" pitchFamily="2" charset="-122"/>
                </a:rPr>
                <a:t>┇</a:t>
              </a:r>
              <a:r>
                <a:rPr lang="en-US" altLang="zh-CN" sz="2400" dirty="0">
                  <a:solidFill>
                    <a:schemeClr val="bg1"/>
                  </a:solidFill>
                  <a:latin typeface="Times New Roman" panose="02020603050405020304" pitchFamily="18" charset="0"/>
                  <a:ea typeface="宋体" panose="02010600030101010101" pitchFamily="2" charset="-122"/>
                </a:rPr>
                <a:t> </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56339" name="Text Box 19"/>
            <p:cNvSpPr txBox="1"/>
            <p:nvPr/>
          </p:nvSpPr>
          <p:spPr>
            <a:xfrm>
              <a:off x="27" y="568"/>
              <a:ext cx="389" cy="25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M1</a:t>
              </a:r>
              <a:endParaRPr lang="en-US" altLang="zh-CN" sz="2000" b="1" dirty="0">
                <a:latin typeface="Times New Roman" panose="02020603050405020304" pitchFamily="18" charset="0"/>
                <a:ea typeface="宋体" panose="02010600030101010101" pitchFamily="2" charset="-122"/>
              </a:endParaRPr>
            </a:p>
          </p:txBody>
        </p:sp>
        <p:sp>
          <p:nvSpPr>
            <p:cNvPr id="56340" name="Text Box 20"/>
            <p:cNvSpPr txBox="1"/>
            <p:nvPr/>
          </p:nvSpPr>
          <p:spPr>
            <a:xfrm>
              <a:off x="750" y="792"/>
              <a:ext cx="480" cy="288"/>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12</a:t>
              </a:r>
              <a:r>
                <a:rPr lang="en-US" altLang="zh-CN" sz="2400" b="1" dirty="0">
                  <a:solidFill>
                    <a:schemeClr val="bg1"/>
                  </a:solidFill>
                  <a:latin typeface="Times New Roman" panose="02020603050405020304" pitchFamily="18" charset="0"/>
                  <a:ea typeface="宋体" panose="02010600030101010101" pitchFamily="2" charset="-122"/>
                </a:rPr>
                <a:t>H</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56341" name="Text Box 21"/>
            <p:cNvSpPr txBox="1"/>
            <p:nvPr/>
          </p:nvSpPr>
          <p:spPr>
            <a:xfrm>
              <a:off x="750" y="552"/>
              <a:ext cx="480" cy="288"/>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34H</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56342" name="Text Box 22"/>
            <p:cNvSpPr txBox="1"/>
            <p:nvPr/>
          </p:nvSpPr>
          <p:spPr>
            <a:xfrm>
              <a:off x="0" y="1619"/>
              <a:ext cx="416" cy="25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M2</a:t>
              </a:r>
              <a:endParaRPr lang="en-US" altLang="zh-CN" sz="2000" b="1" dirty="0">
                <a:latin typeface="Times New Roman" panose="02020603050405020304" pitchFamily="18" charset="0"/>
                <a:ea typeface="宋体" panose="02010600030101010101" pitchFamily="2" charset="-122"/>
              </a:endParaRP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6323">
                                            <p:txEl>
                                              <p:charRg st="0" end="13"/>
                                            </p:txEl>
                                          </p:spTgt>
                                        </p:tgtEl>
                                        <p:attrNameLst>
                                          <p:attrName>style.visibility</p:attrName>
                                        </p:attrNameLst>
                                      </p:cBhvr>
                                      <p:to>
                                        <p:strVal val="visible"/>
                                      </p:to>
                                    </p:set>
                                    <p:animEffect transition="in" filter="blinds(horizontal)">
                                      <p:cBhvr>
                                        <p:cTn id="12" dur="500"/>
                                        <p:tgtEl>
                                          <p:spTgt spid="56323">
                                            <p:txEl>
                                              <p:charRg st="0" end="13"/>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6323">
                                            <p:txEl>
                                              <p:charRg st="13" end="26"/>
                                            </p:txEl>
                                          </p:spTgt>
                                        </p:tgtEl>
                                        <p:attrNameLst>
                                          <p:attrName>style.visibility</p:attrName>
                                        </p:attrNameLst>
                                      </p:cBhvr>
                                      <p:to>
                                        <p:strVal val="visible"/>
                                      </p:to>
                                    </p:set>
                                    <p:animEffect transition="in" filter="blinds(horizontal)">
                                      <p:cBhvr>
                                        <p:cTn id="15" dur="500"/>
                                        <p:tgtEl>
                                          <p:spTgt spid="56323">
                                            <p:txEl>
                                              <p:charRg st="13" end="2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56323">
                                            <p:txEl>
                                              <p:charRg st="26" end="38"/>
                                            </p:txEl>
                                          </p:spTgt>
                                        </p:tgtEl>
                                        <p:attrNameLst>
                                          <p:attrName>style.visibility</p:attrName>
                                        </p:attrNameLst>
                                      </p:cBhvr>
                                      <p:to>
                                        <p:strVal val="visible"/>
                                      </p:to>
                                    </p:set>
                                    <p:animEffect transition="in" filter="blinds(horizontal)">
                                      <p:cBhvr>
                                        <p:cTn id="20" dur="500"/>
                                        <p:tgtEl>
                                          <p:spTgt spid="56323">
                                            <p:txEl>
                                              <p:charRg st="26" end="38"/>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56323">
                                            <p:txEl>
                                              <p:charRg st="38" end="60"/>
                                            </p:txEl>
                                          </p:spTgt>
                                        </p:tgtEl>
                                        <p:attrNameLst>
                                          <p:attrName>style.visibility</p:attrName>
                                        </p:attrNameLst>
                                      </p:cBhvr>
                                      <p:to>
                                        <p:strVal val="visible"/>
                                      </p:to>
                                    </p:set>
                                    <p:animEffect transition="in" filter="blinds(horizontal)">
                                      <p:cBhvr>
                                        <p:cTn id="25" dur="500"/>
                                        <p:tgtEl>
                                          <p:spTgt spid="56323">
                                            <p:txEl>
                                              <p:charRg st="38" end="60"/>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56323">
                                            <p:txEl>
                                              <p:charRg st="60" end="79"/>
                                            </p:txEl>
                                          </p:spTgt>
                                        </p:tgtEl>
                                        <p:attrNameLst>
                                          <p:attrName>style.visibility</p:attrName>
                                        </p:attrNameLst>
                                      </p:cBhvr>
                                      <p:to>
                                        <p:strVal val="visible"/>
                                      </p:to>
                                    </p:set>
                                    <p:animEffect transition="in" filter="blinds(horizontal)">
                                      <p:cBhvr>
                                        <p:cTn id="28" dur="500"/>
                                        <p:tgtEl>
                                          <p:spTgt spid="56323">
                                            <p:txEl>
                                              <p:charRg st="60" end="79"/>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56323">
                                            <p:txEl>
                                              <p:charRg st="79" end="99"/>
                                            </p:txEl>
                                          </p:spTgt>
                                        </p:tgtEl>
                                        <p:attrNameLst>
                                          <p:attrName>style.visibility</p:attrName>
                                        </p:attrNameLst>
                                      </p:cBhvr>
                                      <p:to>
                                        <p:strVal val="visible"/>
                                      </p:to>
                                    </p:set>
                                    <p:animEffect transition="in" filter="wipe(left)">
                                      <p:cBhvr>
                                        <p:cTn id="33" dur="500"/>
                                        <p:tgtEl>
                                          <p:spTgt spid="56323">
                                            <p:txEl>
                                              <p:charRg st="79" end="99"/>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56323">
                                            <p:txEl>
                                              <p:charRg st="99" end="108"/>
                                            </p:txEl>
                                          </p:spTgt>
                                        </p:tgtEl>
                                        <p:attrNameLst>
                                          <p:attrName>style.visibility</p:attrName>
                                        </p:attrNameLst>
                                      </p:cBhvr>
                                      <p:to>
                                        <p:strVal val="visible"/>
                                      </p:to>
                                    </p:set>
                                    <p:animEffect transition="in" filter="wipe(left)">
                                      <p:cBhvr>
                                        <p:cTn id="38" dur="500"/>
                                        <p:tgtEl>
                                          <p:spTgt spid="56323">
                                            <p:txEl>
                                              <p:charRg st="99" end="108"/>
                                            </p:txEl>
                                          </p:spTgt>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56323">
                                            <p:txEl>
                                              <p:charRg st="108" end="117"/>
                                            </p:txEl>
                                          </p:spTgt>
                                        </p:tgtEl>
                                        <p:attrNameLst>
                                          <p:attrName>style.visibility</p:attrName>
                                        </p:attrNameLst>
                                      </p:cBhvr>
                                      <p:to>
                                        <p:strVal val="visible"/>
                                      </p:to>
                                    </p:set>
                                    <p:animEffect transition="in" filter="wipe(left)">
                                      <p:cBhvr>
                                        <p:cTn id="42" dur="500"/>
                                        <p:tgtEl>
                                          <p:spTgt spid="56323">
                                            <p:txEl>
                                              <p:charRg st="108" end="117"/>
                                            </p:txEl>
                                          </p:spTgt>
                                        </p:tgtEl>
                                      </p:cBhvr>
                                    </p:animEffect>
                                  </p:childTnLst>
                                </p:cTn>
                              </p:par>
                            </p:childTnLst>
                          </p:cTn>
                        </p:par>
                        <p:par>
                          <p:cTn id="43" fill="hold">
                            <p:stCondLst>
                              <p:cond delay="1000"/>
                            </p:stCondLst>
                            <p:childTnLst>
                              <p:par>
                                <p:cTn id="44" presetID="22" presetClass="entr" presetSubtype="8" fill="hold" nodeType="afterEffect">
                                  <p:stCondLst>
                                    <p:cond delay="0"/>
                                  </p:stCondLst>
                                  <p:childTnLst>
                                    <p:set>
                                      <p:cBhvr>
                                        <p:cTn id="45" dur="1" fill="hold">
                                          <p:stCondLst>
                                            <p:cond delay="0"/>
                                          </p:stCondLst>
                                        </p:cTn>
                                        <p:tgtEl>
                                          <p:spTgt spid="56323">
                                            <p:txEl>
                                              <p:charRg st="117" end="127"/>
                                            </p:txEl>
                                          </p:spTgt>
                                        </p:tgtEl>
                                        <p:attrNameLst>
                                          <p:attrName>style.visibility</p:attrName>
                                        </p:attrNameLst>
                                      </p:cBhvr>
                                      <p:to>
                                        <p:strVal val="visible"/>
                                      </p:to>
                                    </p:set>
                                    <p:animEffect transition="in" filter="wipe(left)">
                                      <p:cBhvr>
                                        <p:cTn id="46" dur="500"/>
                                        <p:tgtEl>
                                          <p:spTgt spid="56323">
                                            <p:txEl>
                                              <p:charRg st="117" end="127"/>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56323">
                                            <p:txEl>
                                              <p:charRg st="127" end="138"/>
                                            </p:txEl>
                                          </p:spTgt>
                                        </p:tgtEl>
                                        <p:attrNameLst>
                                          <p:attrName>style.visibility</p:attrName>
                                        </p:attrNameLst>
                                      </p:cBhvr>
                                      <p:to>
                                        <p:strVal val="visible"/>
                                      </p:to>
                                    </p:set>
                                    <p:animEffect transition="in" filter="wipe(left)">
                                      <p:cBhvr>
                                        <p:cTn id="51" dur="500"/>
                                        <p:tgtEl>
                                          <p:spTgt spid="56323">
                                            <p:txEl>
                                              <p:charRg st="127" end="138"/>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56323">
                                            <p:txEl>
                                              <p:charRg st="138" end="142"/>
                                            </p:txEl>
                                          </p:spTgt>
                                        </p:tgtEl>
                                        <p:attrNameLst>
                                          <p:attrName>style.visibility</p:attrName>
                                        </p:attrNameLst>
                                      </p:cBhvr>
                                      <p:to>
                                        <p:strVal val="visible"/>
                                      </p:to>
                                    </p:set>
                                    <p:animEffect transition="in" filter="wipe(left)">
                                      <p:cBhvr>
                                        <p:cTn id="56" dur="500"/>
                                        <p:tgtEl>
                                          <p:spTgt spid="56323">
                                            <p:txEl>
                                              <p:charRg st="138" end="1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idx="4294967295"/>
          </p:nvPr>
        </p:nvSpPr>
        <p:spPr>
          <a:xfrm>
            <a:off x="1208088" y="1087438"/>
            <a:ext cx="6553200" cy="563562"/>
          </a:xfrm>
        </p:spPr>
        <p:txBody>
          <a:bodyPr vert="horz" wrap="square" lIns="91440" tIns="45720" rIns="91440" bIns="45720" anchor="ctr" anchorCtr="0"/>
          <a:p>
            <a:pPr eaLnBrk="1" hangingPunct="1"/>
            <a:r>
              <a:rPr lang="zh-CN" altLang="en-US" dirty="0">
                <a:solidFill>
                  <a:srgbClr val="002060"/>
                </a:solidFill>
                <a:latin typeface="宋体" panose="02010600030101010101" pitchFamily="2" charset="-122"/>
                <a:ea typeface="宋体" panose="02010600030101010101" pitchFamily="2" charset="-122"/>
              </a:rPr>
              <a:t>（</a:t>
            </a:r>
            <a:r>
              <a:rPr lang="en-US" altLang="zh-CN" dirty="0">
                <a:solidFill>
                  <a:srgbClr val="002060"/>
                </a:solidFill>
                <a:latin typeface="宋体" panose="02010600030101010101" pitchFamily="2" charset="-122"/>
                <a:ea typeface="宋体" panose="02010600030101010101" pitchFamily="2" charset="-122"/>
              </a:rPr>
              <a:t>3</a:t>
            </a:r>
            <a:r>
              <a:rPr lang="zh-CN" altLang="en-US" dirty="0">
                <a:solidFill>
                  <a:srgbClr val="002060"/>
                </a:solidFill>
                <a:latin typeface="宋体" panose="02010600030101010101" pitchFamily="2" charset="-122"/>
                <a:ea typeface="宋体" panose="02010600030101010101" pitchFamily="2" charset="-122"/>
              </a:rPr>
              <a:t>）</a:t>
            </a:r>
            <a:r>
              <a:rPr lang="en-US" altLang="zh-CN" dirty="0">
                <a:solidFill>
                  <a:srgbClr val="002060"/>
                </a:solidFill>
                <a:latin typeface="宋体" panose="02010600030101010101" pitchFamily="2" charset="-122"/>
                <a:ea typeface="宋体" panose="02010600030101010101" pitchFamily="2" charset="-122"/>
              </a:rPr>
              <a:t>INC</a:t>
            </a:r>
            <a:r>
              <a:rPr lang="zh-CN" altLang="en-US" dirty="0">
                <a:solidFill>
                  <a:srgbClr val="002060"/>
                </a:solidFill>
                <a:latin typeface="宋体" panose="02010600030101010101" pitchFamily="2" charset="-122"/>
                <a:ea typeface="宋体" panose="02010600030101010101" pitchFamily="2" charset="-122"/>
              </a:rPr>
              <a:t>指令</a:t>
            </a:r>
            <a:endParaRPr lang="zh-CN" altLang="en-US" dirty="0">
              <a:solidFill>
                <a:srgbClr val="002060"/>
              </a:solidFill>
              <a:latin typeface="宋体" panose="02010600030101010101" pitchFamily="2" charset="-122"/>
              <a:ea typeface="宋体" panose="02010600030101010101" pitchFamily="2" charset="-122"/>
            </a:endParaRPr>
          </a:p>
        </p:txBody>
      </p:sp>
      <p:sp>
        <p:nvSpPr>
          <p:cNvPr id="57347" name="Rectangle 3"/>
          <p:cNvSpPr>
            <a:spLocks noGrp="1"/>
          </p:cNvSpPr>
          <p:nvPr>
            <p:ph type="body" idx="4294967295"/>
          </p:nvPr>
        </p:nvSpPr>
        <p:spPr>
          <a:xfrm>
            <a:off x="1182688" y="2017713"/>
            <a:ext cx="7772400" cy="3352800"/>
          </a:xfrm>
        </p:spPr>
        <p:txBody>
          <a:bodyPr vert="horz" wrap="square" lIns="91440" tIns="45720" rIns="91440" bIns="45720" anchor="t" anchorCtr="0"/>
          <a:p>
            <a:pPr marL="0" indent="0" eaLnBrk="1" hangingPunct="1">
              <a:buNone/>
            </a:pPr>
            <a:r>
              <a:rPr lang="en-US" altLang="zh-CN" dirty="0">
                <a:ea typeface="宋体" panose="02010600030101010101" pitchFamily="2" charset="-122"/>
              </a:rPr>
              <a:t>  </a:t>
            </a:r>
            <a:r>
              <a:rPr lang="zh-CN" altLang="en-US" dirty="0">
                <a:ea typeface="宋体" panose="02010600030101010101" pitchFamily="2" charset="-122"/>
              </a:rPr>
              <a:t>格式：</a:t>
            </a:r>
            <a:endParaRPr lang="zh-CN" altLang="en-US" dirty="0">
              <a:ea typeface="宋体" panose="02010600030101010101" pitchFamily="2" charset="-122"/>
            </a:endParaRPr>
          </a:p>
          <a:p>
            <a:pPr marL="0" indent="0" eaLnBrk="1" hangingPunct="1">
              <a:spcBef>
                <a:spcPct val="50000"/>
              </a:spcBef>
              <a:spcAft>
                <a:spcPct val="40000"/>
              </a:spcAft>
              <a:buNone/>
            </a:pPr>
            <a:r>
              <a:rPr lang="zh-CN" altLang="en-US" dirty="0">
                <a:ea typeface="宋体" panose="02010600030101010101" pitchFamily="2" charset="-122"/>
              </a:rPr>
              <a:t>       </a:t>
            </a:r>
            <a:r>
              <a:rPr lang="en-US" altLang="zh-CN" dirty="0">
                <a:ea typeface="宋体" panose="02010600030101010101" pitchFamily="2" charset="-122"/>
              </a:rPr>
              <a:t>INC  OPRD</a:t>
            </a:r>
            <a:endParaRPr lang="en-US" altLang="zh-CN" dirty="0">
              <a:ea typeface="宋体" panose="02010600030101010101" pitchFamily="2" charset="-122"/>
            </a:endParaRPr>
          </a:p>
          <a:p>
            <a:pPr marL="0" indent="0" eaLnBrk="1" hangingPunct="1">
              <a:buNone/>
            </a:pPr>
            <a:r>
              <a:rPr lang="zh-CN" altLang="en-US" dirty="0">
                <a:ea typeface="宋体" panose="02010600030101010101" pitchFamily="2" charset="-122"/>
              </a:rPr>
              <a:t>  操作：</a:t>
            </a:r>
            <a:endParaRPr lang="zh-CN" altLang="en-US" dirty="0">
              <a:ea typeface="宋体" panose="02010600030101010101" pitchFamily="2" charset="-122"/>
            </a:endParaRPr>
          </a:p>
          <a:p>
            <a:pPr marL="0" indent="0" eaLnBrk="1" hangingPunct="1">
              <a:spcBef>
                <a:spcPct val="40000"/>
              </a:spcBef>
              <a:buNone/>
            </a:pPr>
            <a:r>
              <a:rPr lang="zh-CN" altLang="en-US" dirty="0">
                <a:ea typeface="宋体" panose="02010600030101010101" pitchFamily="2" charset="-122"/>
              </a:rPr>
              <a:t>       </a:t>
            </a:r>
            <a:r>
              <a:rPr lang="en-US" altLang="zh-CN" dirty="0">
                <a:ea typeface="宋体" panose="02010600030101010101" pitchFamily="2" charset="-122"/>
              </a:rPr>
              <a:t>OPRD+1            OPRD</a:t>
            </a:r>
            <a:endParaRPr lang="en-US" altLang="zh-CN" dirty="0">
              <a:ea typeface="宋体" panose="02010600030101010101" pitchFamily="2" charset="-122"/>
            </a:endParaRPr>
          </a:p>
        </p:txBody>
      </p:sp>
      <p:sp>
        <p:nvSpPr>
          <p:cNvPr id="57348" name="Line 4"/>
          <p:cNvSpPr/>
          <p:nvPr/>
        </p:nvSpPr>
        <p:spPr>
          <a:xfrm>
            <a:off x="4114800" y="4221163"/>
            <a:ext cx="838200" cy="0"/>
          </a:xfrm>
          <a:prstGeom prst="line">
            <a:avLst/>
          </a:prstGeom>
          <a:ln w="25400" cap="sq" cmpd="sng">
            <a:solidFill>
              <a:srgbClr val="FF6600"/>
            </a:solidFill>
            <a:prstDash val="solid"/>
            <a:headEnd type="none" w="med" len="med"/>
            <a:tailEnd type="triangle" w="lg" len="lg"/>
          </a:ln>
        </p:spPr>
      </p:sp>
      <p:sp>
        <p:nvSpPr>
          <p:cNvPr id="57349" name="Text Box 5"/>
          <p:cNvSpPr txBox="1"/>
          <p:nvPr/>
        </p:nvSpPr>
        <p:spPr>
          <a:xfrm>
            <a:off x="1600200" y="4953000"/>
            <a:ext cx="5029200" cy="519113"/>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800" b="1" dirty="0">
                <a:solidFill>
                  <a:srgbClr val="FF0000"/>
                </a:solidFill>
                <a:latin typeface="Times New Roman" panose="02020603050405020304" pitchFamily="18" charset="0"/>
                <a:ea typeface="宋体" panose="02010600030101010101" pitchFamily="2" charset="-122"/>
              </a:rPr>
              <a:t>常用于在程序中修改地址指针</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57350" name="AutoShape 10"/>
          <p:cNvSpPr/>
          <p:nvPr/>
        </p:nvSpPr>
        <p:spPr>
          <a:xfrm>
            <a:off x="4319588" y="1752600"/>
            <a:ext cx="1981200" cy="762000"/>
          </a:xfrm>
          <a:prstGeom prst="wedgeRectCallout">
            <a:avLst>
              <a:gd name="adj1" fmla="val -83736"/>
              <a:gd name="adj2" fmla="val 59167"/>
            </a:avLst>
          </a:prstGeom>
          <a:solidFill>
            <a:srgbClr val="FF6600"/>
          </a:solidFill>
          <a:ln w="25400" cap="sq" cmpd="sng">
            <a:solidFill>
              <a:srgbClr val="FF6600"/>
            </a:solidFill>
            <a:prstDash val="solid"/>
            <a:miter/>
            <a:headEnd type="none" w="med" len="med"/>
            <a:tailEnd type="none" w="med" len="med"/>
          </a:ln>
        </p:spPr>
        <p:txBody>
          <a:bodyPr/>
          <a:p>
            <a:pPr algn="ct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不能是段寄存器或立即数</a:t>
            </a:r>
            <a:endParaRPr lang="zh-CN" altLang="en-US" sz="2000" b="1" dirty="0">
              <a:latin typeface="Times New Roman" panose="02020603050405020304" pitchFamily="18" charset="0"/>
              <a:ea typeface="宋体" panose="02010600030101010101" pitchFamily="2" charset="-122"/>
            </a:endParaRPr>
          </a:p>
        </p:txBody>
      </p:sp>
      <p:sp>
        <p:nvSpPr>
          <p:cNvPr id="57351" name="文本框 1"/>
          <p:cNvSpPr txBox="1"/>
          <p:nvPr/>
        </p:nvSpPr>
        <p:spPr>
          <a:xfrm>
            <a:off x="609600" y="5686425"/>
            <a:ext cx="7848600" cy="831850"/>
          </a:xfrm>
          <a:prstGeom prst="rect">
            <a:avLst/>
          </a:prstGeom>
          <a:noFill/>
          <a:ln w="19050" cap="flat" cmpd="sng">
            <a:solidFill>
              <a:schemeClr val="tx1"/>
            </a:solidFill>
            <a:prstDash val="solid"/>
            <a:miter/>
            <a:headEnd type="none" w="med" len="med"/>
            <a:tailEnd type="none" w="med" len="med"/>
          </a:ln>
        </p:spPr>
        <p:txBody>
          <a:bodyPr>
            <a:spAutoFit/>
          </a:bodyPr>
          <a:p>
            <a:pPr eaLnBrk="0" hangingPunct="0">
              <a:buFont typeface="Wingdings" panose="05000000000000000000" pitchFamily="2" charset="2"/>
            </a:pPr>
            <a:r>
              <a:rPr lang="en-US" altLang="zh-CN" sz="2400" dirty="0">
                <a:latin typeface="宋体" panose="02010600030101010101" pitchFamily="2" charset="-122"/>
                <a:ea typeface="宋体" panose="02010600030101010101" pitchFamily="2" charset="-122"/>
              </a:rPr>
              <a:t>INC</a:t>
            </a:r>
            <a:r>
              <a:rPr lang="zh-CN" altLang="en-US" sz="2400" dirty="0">
                <a:latin typeface="宋体" panose="02010600030101010101" pitchFamily="2" charset="-122"/>
                <a:ea typeface="宋体" panose="02010600030101010101" pitchFamily="2" charset="-122"/>
              </a:rPr>
              <a:t>指令不影响</a:t>
            </a:r>
            <a:r>
              <a:rPr lang="en-US" altLang="zh-CN" sz="2400" dirty="0">
                <a:latin typeface="宋体" panose="02010600030101010101" pitchFamily="2" charset="-122"/>
                <a:ea typeface="宋体" panose="02010600030101010101" pitchFamily="2" charset="-122"/>
              </a:rPr>
              <a:t>CF</a:t>
            </a:r>
            <a:r>
              <a:rPr lang="zh-CN" altLang="en-US" sz="2400" dirty="0">
                <a:latin typeface="宋体" panose="02010600030101010101" pitchFamily="2" charset="-122"/>
                <a:ea typeface="宋体" panose="02010600030101010101" pitchFamily="2" charset="-122"/>
              </a:rPr>
              <a:t>标志位，但对其它</a:t>
            </a:r>
            <a:r>
              <a:rPr lang="en-US" altLang="zh-CN" sz="2400" dirty="0">
                <a:latin typeface="宋体" panose="02010600030101010101" pitchFamily="2" charset="-122"/>
                <a:ea typeface="宋体" panose="02010600030101010101" pitchFamily="2" charset="-122"/>
              </a:rPr>
              <a:t>5</a:t>
            </a:r>
            <a:r>
              <a:rPr lang="zh-CN" altLang="en-US" sz="2400" dirty="0">
                <a:latin typeface="宋体" panose="02010600030101010101" pitchFamily="2" charset="-122"/>
                <a:ea typeface="宋体" panose="02010600030101010101" pitchFamily="2" charset="-122"/>
              </a:rPr>
              <a:t>个状态标志</a:t>
            </a:r>
            <a:r>
              <a:rPr lang="en-US" altLang="zh-CN" sz="2400" dirty="0">
                <a:latin typeface="宋体" panose="02010600030101010101" pitchFamily="2" charset="-122"/>
                <a:ea typeface="宋体" panose="02010600030101010101" pitchFamily="2" charset="-122"/>
              </a:rPr>
              <a:t>AF</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OF</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PF</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SF</a:t>
            </a:r>
            <a:r>
              <a:rPr lang="zh-CN" altLang="en-US" sz="2400" dirty="0">
                <a:latin typeface="宋体" panose="02010600030101010101" pitchFamily="2" charset="-122"/>
                <a:ea typeface="宋体" panose="02010600030101010101" pitchFamily="2" charset="-122"/>
              </a:rPr>
              <a:t>及</a:t>
            </a:r>
            <a:r>
              <a:rPr lang="en-US" altLang="zh-CN" sz="2400" dirty="0">
                <a:latin typeface="宋体" panose="02010600030101010101" pitchFamily="2" charset="-122"/>
                <a:ea typeface="宋体" panose="02010600030101010101" pitchFamily="2" charset="-122"/>
              </a:rPr>
              <a:t>ZF</a:t>
            </a:r>
            <a:r>
              <a:rPr lang="zh-CN" altLang="en-US" sz="2400" dirty="0">
                <a:latin typeface="宋体" panose="02010600030101010101" pitchFamily="2" charset="-122"/>
                <a:ea typeface="宋体" panose="02010600030101010101" pitchFamily="2" charset="-122"/>
              </a:rPr>
              <a:t>会产生影响。</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7347">
                                            <p:txEl>
                                              <p:charRg st="0" end="6"/>
                                            </p:txEl>
                                          </p:spTgt>
                                        </p:tgtEl>
                                        <p:attrNameLst>
                                          <p:attrName>style.visibility</p:attrName>
                                        </p:attrNameLst>
                                      </p:cBhvr>
                                      <p:to>
                                        <p:strVal val="visible"/>
                                      </p:to>
                                    </p:set>
                                    <p:animEffect transition="in" filter="wipe(left)">
                                      <p:cBhvr>
                                        <p:cTn id="7" dur="500"/>
                                        <p:tgtEl>
                                          <p:spTgt spid="57347">
                                            <p:txEl>
                                              <p:charRg st="0"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7347">
                                            <p:txEl>
                                              <p:charRg st="6" end="23"/>
                                            </p:txEl>
                                          </p:spTgt>
                                        </p:tgtEl>
                                        <p:attrNameLst>
                                          <p:attrName>style.visibility</p:attrName>
                                        </p:attrNameLst>
                                      </p:cBhvr>
                                      <p:to>
                                        <p:strVal val="visible"/>
                                      </p:to>
                                    </p:set>
                                    <p:animEffect transition="in" filter="wipe(left)">
                                      <p:cBhvr>
                                        <p:cTn id="12" dur="500"/>
                                        <p:tgtEl>
                                          <p:spTgt spid="57347">
                                            <p:txEl>
                                              <p:charRg st="6" end="2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57350"/>
                                        </p:tgtEl>
                                        <p:attrNameLst>
                                          <p:attrName>style.visibility</p:attrName>
                                        </p:attrNameLst>
                                      </p:cBhvr>
                                      <p:to>
                                        <p:strVal val="visible"/>
                                      </p:to>
                                    </p:set>
                                    <p:anim calcmode="lin" valueType="num">
                                      <p:cBhvr>
                                        <p:cTn id="17" dur="500" fill="hold"/>
                                        <p:tgtEl>
                                          <p:spTgt spid="57350"/>
                                        </p:tgtEl>
                                        <p:attrNameLst>
                                          <p:attrName>ppt_x</p:attrName>
                                        </p:attrNameLst>
                                      </p:cBhvr>
                                      <p:tavLst>
                                        <p:tav tm="0">
                                          <p:val>
                                            <p:strVal val="#ppt_x"/>
                                          </p:val>
                                        </p:tav>
                                        <p:tav tm="100000">
                                          <p:val>
                                            <p:strVal val="#ppt_x"/>
                                          </p:val>
                                        </p:tav>
                                      </p:tavLst>
                                    </p:anim>
                                    <p:anim calcmode="lin" valueType="num">
                                      <p:cBhvr>
                                        <p:cTn id="18" dur="500" fill="hold"/>
                                        <p:tgtEl>
                                          <p:spTgt spid="57350"/>
                                        </p:tgtEl>
                                        <p:attrNameLst>
                                          <p:attrName>ppt_y</p:attrName>
                                        </p:attrNameLst>
                                      </p:cBhvr>
                                      <p:tavLst>
                                        <p:tav tm="0">
                                          <p:val>
                                            <p:strVal val="0-#ppt_h/2"/>
                                          </p:val>
                                        </p:tav>
                                        <p:tav tm="100000">
                                          <p:val>
                                            <p:strVal val="#ppt_y"/>
                                          </p:val>
                                        </p:tav>
                                      </p:tavLst>
                                    </p:anim>
                                  </p:childTnLst>
                                </p:cTn>
                              </p:par>
                            </p:childTnLst>
                          </p:cTn>
                        </p:par>
                        <p:par>
                          <p:cTn id="19" fill="hold">
                            <p:stCondLst>
                              <p:cond delay="500"/>
                            </p:stCondLst>
                            <p:childTnLst>
                              <p:par>
                                <p:cTn id="20" presetID="26" presetClass="emph" presetSubtype="0" repeatCount="3000" fill="hold" grpId="1" nodeType="afterEffect">
                                  <p:stCondLst>
                                    <p:cond delay="500"/>
                                  </p:stCondLst>
                                  <p:childTnLst>
                                    <p:animEffect transition="out" filter="fade">
                                      <p:cBhvr>
                                        <p:cTn id="21" dur="500" tmFilter="0, 0; .2, .5; .8, .5; 1, 0"/>
                                        <p:tgtEl>
                                          <p:spTgt spid="57350"/>
                                        </p:tgtEl>
                                      </p:cBhvr>
                                    </p:animEffect>
                                    <p:animScale>
                                      <p:cBhvr>
                                        <p:cTn id="22" dur="250" autoRev="1" fill="hold"/>
                                        <p:tgtEl>
                                          <p:spTgt spid="57350"/>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7347">
                                            <p:txEl>
                                              <p:charRg st="23" end="29"/>
                                            </p:txEl>
                                          </p:spTgt>
                                        </p:tgtEl>
                                        <p:attrNameLst>
                                          <p:attrName>style.visibility</p:attrName>
                                        </p:attrNameLst>
                                      </p:cBhvr>
                                      <p:to>
                                        <p:strVal val="visible"/>
                                      </p:to>
                                    </p:set>
                                    <p:animEffect transition="in" filter="wipe(left)">
                                      <p:cBhvr>
                                        <p:cTn id="27" dur="500"/>
                                        <p:tgtEl>
                                          <p:spTgt spid="57347">
                                            <p:txEl>
                                              <p:charRg st="23" end="2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7347">
                                            <p:txEl>
                                              <p:charRg st="29" end="59"/>
                                            </p:txEl>
                                          </p:spTgt>
                                        </p:tgtEl>
                                        <p:attrNameLst>
                                          <p:attrName>style.visibility</p:attrName>
                                        </p:attrNameLst>
                                      </p:cBhvr>
                                      <p:to>
                                        <p:strVal val="visible"/>
                                      </p:to>
                                    </p:set>
                                    <p:animEffect transition="in" filter="wipe(left)">
                                      <p:cBhvr>
                                        <p:cTn id="32" dur="500"/>
                                        <p:tgtEl>
                                          <p:spTgt spid="57347">
                                            <p:txEl>
                                              <p:charRg st="29" end="59"/>
                                            </p:txEl>
                                          </p:spTgt>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57348"/>
                                        </p:tgtEl>
                                        <p:attrNameLst>
                                          <p:attrName>style.visibility</p:attrName>
                                        </p:attrNameLst>
                                      </p:cBhvr>
                                      <p:to>
                                        <p:strVal val="visible"/>
                                      </p:to>
                                    </p:set>
                                    <p:animEffect transition="in" filter="wipe(left)">
                                      <p:cBhvr>
                                        <p:cTn id="36" dur="500"/>
                                        <p:tgtEl>
                                          <p:spTgt spid="5734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7349">
                                            <p:txEl>
                                              <p:charRg st="0" end="14"/>
                                            </p:txEl>
                                          </p:spTgt>
                                        </p:tgtEl>
                                        <p:attrNameLst>
                                          <p:attrName>style.visibility</p:attrName>
                                        </p:attrNameLst>
                                      </p:cBhvr>
                                      <p:to>
                                        <p:strVal val="visible"/>
                                      </p:to>
                                    </p:set>
                                    <p:animEffect transition="in" filter="wipe(left)">
                                      <p:cBhvr>
                                        <p:cTn id="41" dur="500"/>
                                        <p:tgtEl>
                                          <p:spTgt spid="57349">
                                            <p:txEl>
                                              <p:charRg st="0"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0" grpId="0" animBg="1"/>
      <p:bldP spid="57350"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1027"/>
          <p:cNvSpPr>
            <a:spLocks noGrp="1"/>
          </p:cNvSpPr>
          <p:nvPr>
            <p:ph type="body" idx="4294967295"/>
          </p:nvPr>
        </p:nvSpPr>
        <p:spPr>
          <a:xfrm>
            <a:off x="2555875" y="1916113"/>
            <a:ext cx="4538663" cy="3124200"/>
          </a:xfrm>
        </p:spPr>
        <p:txBody>
          <a:bodyPr vert="horz" wrap="square" lIns="91440" tIns="45720" rIns="91440" bIns="45720" anchor="t" anchorCtr="0"/>
          <a:p>
            <a:pPr eaLnBrk="1" hangingPunct="1">
              <a:lnSpc>
                <a:spcPct val="115000"/>
              </a:lnSpc>
              <a:buNone/>
            </a:pPr>
            <a:r>
              <a:rPr lang="zh-CN" altLang="en-US" dirty="0">
                <a:ea typeface="宋体" panose="02010600030101010101" pitchFamily="2" charset="-122"/>
              </a:rPr>
              <a:t>普通减法指令</a:t>
            </a:r>
            <a:r>
              <a:rPr lang="en-US" altLang="zh-CN" dirty="0">
                <a:ea typeface="宋体" panose="02010600030101010101" pitchFamily="2" charset="-122"/>
              </a:rPr>
              <a:t>SUB</a:t>
            </a:r>
            <a:endParaRPr lang="en-US" altLang="zh-CN" dirty="0">
              <a:ea typeface="宋体" panose="02010600030101010101" pitchFamily="2" charset="-122"/>
            </a:endParaRPr>
          </a:p>
          <a:p>
            <a:pPr eaLnBrk="1" hangingPunct="1">
              <a:lnSpc>
                <a:spcPct val="115000"/>
              </a:lnSpc>
              <a:buNone/>
            </a:pPr>
            <a:r>
              <a:rPr lang="zh-CN" altLang="en-US" dirty="0">
                <a:ea typeface="宋体" panose="02010600030101010101" pitchFamily="2" charset="-122"/>
              </a:rPr>
              <a:t>考虑借位的减法指令</a:t>
            </a:r>
            <a:r>
              <a:rPr lang="en-US" altLang="zh-CN" dirty="0">
                <a:ea typeface="宋体" panose="02010600030101010101" pitchFamily="2" charset="-122"/>
              </a:rPr>
              <a:t>SBB</a:t>
            </a:r>
            <a:endParaRPr lang="en-US" altLang="zh-CN" dirty="0">
              <a:ea typeface="宋体" panose="02010600030101010101" pitchFamily="2" charset="-122"/>
            </a:endParaRPr>
          </a:p>
          <a:p>
            <a:pPr eaLnBrk="1" hangingPunct="1">
              <a:lnSpc>
                <a:spcPct val="115000"/>
              </a:lnSpc>
              <a:buNone/>
            </a:pPr>
            <a:r>
              <a:rPr lang="zh-CN" altLang="en-US" dirty="0">
                <a:ea typeface="宋体" panose="02010600030101010101" pitchFamily="2" charset="-122"/>
              </a:rPr>
              <a:t>减1指令</a:t>
            </a:r>
            <a:r>
              <a:rPr lang="en-US" altLang="zh-CN" dirty="0">
                <a:ea typeface="宋体" panose="02010600030101010101" pitchFamily="2" charset="-122"/>
              </a:rPr>
              <a:t>DEC</a:t>
            </a:r>
            <a:endParaRPr lang="en-US" altLang="zh-CN" dirty="0">
              <a:ea typeface="宋体" panose="02010600030101010101" pitchFamily="2" charset="-122"/>
            </a:endParaRPr>
          </a:p>
          <a:p>
            <a:pPr eaLnBrk="1" hangingPunct="1">
              <a:lnSpc>
                <a:spcPct val="115000"/>
              </a:lnSpc>
              <a:buNone/>
            </a:pPr>
            <a:r>
              <a:rPr lang="zh-CN" altLang="en-US" dirty="0">
                <a:ea typeface="宋体" panose="02010600030101010101" pitchFamily="2" charset="-122"/>
              </a:rPr>
              <a:t>比较指令</a:t>
            </a:r>
            <a:r>
              <a:rPr lang="en-US" altLang="zh-CN" dirty="0">
                <a:ea typeface="宋体" panose="02010600030101010101" pitchFamily="2" charset="-122"/>
              </a:rPr>
              <a:t>CMP</a:t>
            </a:r>
            <a:endParaRPr lang="en-US" altLang="zh-CN" dirty="0">
              <a:ea typeface="宋体" panose="02010600030101010101" pitchFamily="2" charset="-122"/>
            </a:endParaRPr>
          </a:p>
          <a:p>
            <a:pPr eaLnBrk="1" hangingPunct="1">
              <a:lnSpc>
                <a:spcPct val="115000"/>
              </a:lnSpc>
              <a:buNone/>
            </a:pPr>
            <a:r>
              <a:rPr lang="zh-CN" altLang="en-US" dirty="0">
                <a:ea typeface="宋体" panose="02010600030101010101" pitchFamily="2" charset="-122"/>
              </a:rPr>
              <a:t>求补指令</a:t>
            </a:r>
            <a:r>
              <a:rPr lang="en-US" altLang="zh-CN" dirty="0">
                <a:ea typeface="宋体" panose="02010600030101010101" pitchFamily="2" charset="-122"/>
              </a:rPr>
              <a:t>NEG</a:t>
            </a:r>
            <a:endParaRPr lang="en-US" altLang="zh-CN" dirty="0">
              <a:ea typeface="宋体" panose="02010600030101010101" pitchFamily="2" charset="-122"/>
            </a:endParaRPr>
          </a:p>
        </p:txBody>
      </p:sp>
      <p:sp>
        <p:nvSpPr>
          <p:cNvPr id="58371" name="AutoShape 1028"/>
          <p:cNvSpPr/>
          <p:nvPr/>
        </p:nvSpPr>
        <p:spPr>
          <a:xfrm>
            <a:off x="2195513" y="2205038"/>
            <a:ext cx="230187" cy="2338387"/>
          </a:xfrm>
          <a:prstGeom prst="leftBrace">
            <a:avLst>
              <a:gd name="adj1" fmla="val 82538"/>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58372" name="Text Box 1029"/>
          <p:cNvSpPr txBox="1"/>
          <p:nvPr/>
        </p:nvSpPr>
        <p:spPr>
          <a:xfrm>
            <a:off x="611188" y="5357813"/>
            <a:ext cx="7704137" cy="519112"/>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800" b="1" dirty="0">
                <a:solidFill>
                  <a:srgbClr val="FF0000"/>
                </a:solidFill>
                <a:latin typeface="Times New Roman" panose="02020603050405020304" pitchFamily="18" charset="0"/>
                <a:ea typeface="宋体" panose="02010600030101010101" pitchFamily="2" charset="-122"/>
              </a:rPr>
              <a:t>减法指令对操作数的要求与对应的加法指令相同</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58373" name="Rectangle 2"/>
          <p:cNvSpPr>
            <a:spLocks noGrp="1"/>
          </p:cNvSpPr>
          <p:nvPr/>
        </p:nvSpPr>
        <p:spPr>
          <a:xfrm>
            <a:off x="1763713" y="119063"/>
            <a:ext cx="6553200"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3.4.2.2 </a:t>
            </a:r>
            <a:r>
              <a:rPr lang="zh-CN" altLang="en-US" sz="3600" b="1" dirty="0">
                <a:solidFill>
                  <a:schemeClr val="bg1"/>
                </a:solidFill>
                <a:latin typeface="宋体" panose="02010600030101010101" pitchFamily="2" charset="-122"/>
                <a:ea typeface="宋体" panose="02010600030101010101" pitchFamily="2" charset="-122"/>
              </a:rPr>
              <a:t>减法指令</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372">
                                            <p:txEl>
                                              <p:charRg st="0" end="22"/>
                                            </p:txEl>
                                          </p:spTgt>
                                        </p:tgtEl>
                                        <p:attrNameLst>
                                          <p:attrName>style.visibility</p:attrName>
                                        </p:attrNameLst>
                                      </p:cBhvr>
                                      <p:to>
                                        <p:strVal val="visible"/>
                                      </p:to>
                                    </p:set>
                                    <p:animEffect transition="in" filter="wipe(left)">
                                      <p:cBhvr>
                                        <p:cTn id="7" dur="500"/>
                                        <p:tgtEl>
                                          <p:spTgt spid="58372">
                                            <p:txEl>
                                              <p:charRg st="0" end="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title" idx="4294967295"/>
          </p:nvPr>
        </p:nvSpPr>
        <p:spPr>
          <a:xfrm>
            <a:off x="900113" y="1131888"/>
            <a:ext cx="6553200" cy="565150"/>
          </a:xfrm>
        </p:spPr>
        <p:txBody>
          <a:bodyPr vert="horz" wrap="square" lIns="91440" tIns="45720" rIns="91440" bIns="45720" anchor="ctr" anchorCtr="0"/>
          <a:p>
            <a:pPr eaLnBrk="1" hangingPunct="1"/>
            <a:r>
              <a:rPr lang="zh-CN" altLang="en-US" dirty="0">
                <a:solidFill>
                  <a:srgbClr val="061E27"/>
                </a:solidFill>
                <a:latin typeface="宋体" panose="02010600030101010101" pitchFamily="2" charset="-122"/>
                <a:ea typeface="宋体" panose="02010600030101010101" pitchFamily="2" charset="-122"/>
              </a:rPr>
              <a:t>（</a:t>
            </a:r>
            <a:r>
              <a:rPr lang="en-US" altLang="zh-CN" dirty="0">
                <a:solidFill>
                  <a:srgbClr val="061E27"/>
                </a:solidFill>
                <a:latin typeface="宋体" panose="02010600030101010101" pitchFamily="2" charset="-122"/>
                <a:ea typeface="宋体" panose="02010600030101010101" pitchFamily="2" charset="-122"/>
              </a:rPr>
              <a:t>1</a:t>
            </a:r>
            <a:r>
              <a:rPr lang="zh-CN" altLang="en-US" dirty="0">
                <a:solidFill>
                  <a:srgbClr val="061E27"/>
                </a:solidFill>
                <a:latin typeface="宋体" panose="02010600030101010101" pitchFamily="2" charset="-122"/>
                <a:ea typeface="宋体" panose="02010600030101010101" pitchFamily="2" charset="-122"/>
              </a:rPr>
              <a:t>）</a:t>
            </a:r>
            <a:r>
              <a:rPr lang="en-US" altLang="zh-CN" dirty="0">
                <a:solidFill>
                  <a:srgbClr val="061E27"/>
                </a:solidFill>
                <a:latin typeface="宋体" panose="02010600030101010101" pitchFamily="2" charset="-122"/>
                <a:ea typeface="宋体" panose="02010600030101010101" pitchFamily="2" charset="-122"/>
              </a:rPr>
              <a:t>SUB</a:t>
            </a:r>
            <a:r>
              <a:rPr lang="zh-CN" altLang="en-US" dirty="0">
                <a:solidFill>
                  <a:srgbClr val="061E27"/>
                </a:solidFill>
                <a:latin typeface="宋体" panose="02010600030101010101" pitchFamily="2" charset="-122"/>
                <a:ea typeface="宋体" panose="02010600030101010101" pitchFamily="2" charset="-122"/>
              </a:rPr>
              <a:t>指令</a:t>
            </a:r>
            <a:endParaRPr lang="zh-CN" altLang="en-US" dirty="0">
              <a:solidFill>
                <a:srgbClr val="061E27"/>
              </a:solidFill>
              <a:latin typeface="宋体" panose="02010600030101010101" pitchFamily="2" charset="-122"/>
              <a:ea typeface="宋体" panose="02010600030101010101" pitchFamily="2" charset="-122"/>
            </a:endParaRPr>
          </a:p>
        </p:txBody>
      </p:sp>
      <p:sp>
        <p:nvSpPr>
          <p:cNvPr id="59395" name="Rectangle 3"/>
          <p:cNvSpPr>
            <a:spLocks noGrp="1"/>
          </p:cNvSpPr>
          <p:nvPr>
            <p:ph type="body" idx="4294967295"/>
          </p:nvPr>
        </p:nvSpPr>
        <p:spPr>
          <a:xfrm>
            <a:off x="900113" y="2017713"/>
            <a:ext cx="7200900" cy="2851150"/>
          </a:xfrm>
        </p:spPr>
        <p:txBody>
          <a:bodyPr vert="horz" wrap="square" lIns="91440" tIns="45720" rIns="91440" bIns="45720" anchor="t" anchorCtr="0"/>
          <a:p>
            <a:pPr eaLnBrk="1" hangingPunct="1">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格式：</a:t>
            </a:r>
            <a:endParaRPr lang="zh-CN" altLang="en-US" sz="2400" dirty="0">
              <a:latin typeface="宋体" panose="02010600030101010101" pitchFamily="2" charset="-122"/>
              <a:ea typeface="宋体" panose="02010600030101010101" pitchFamily="2" charset="-122"/>
            </a:endParaRPr>
          </a:p>
          <a:p>
            <a:pPr lvl="1" eaLnBrk="1" hangingPunct="1">
              <a:buFont typeface="Wingdings" panose="05000000000000000000" pitchFamily="2" charset="2"/>
              <a:buChar char="•"/>
            </a:pPr>
            <a:r>
              <a:rPr lang="en-US" altLang="zh-CN" dirty="0">
                <a:latin typeface="宋体" panose="02010600030101010101" pitchFamily="2" charset="-122"/>
                <a:ea typeface="宋体" panose="02010600030101010101" pitchFamily="2" charset="-122"/>
              </a:rPr>
              <a:t>SUB  OPRD1，OPRD2</a:t>
            </a:r>
            <a:endParaRPr lang="en-US" altLang="zh-CN"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操作：</a:t>
            </a:r>
            <a:endParaRPr lang="zh-CN" altLang="en-US" sz="2400" dirty="0">
              <a:latin typeface="宋体" panose="02010600030101010101" pitchFamily="2" charset="-122"/>
              <a:ea typeface="宋体" panose="02010600030101010101" pitchFamily="2" charset="-122"/>
            </a:endParaRPr>
          </a:p>
          <a:p>
            <a:pPr lvl="1" eaLnBrk="1" hangingPunct="1">
              <a:buFont typeface="Wingdings" panose="05000000000000000000" pitchFamily="2" charset="2"/>
              <a:buChar char="•"/>
            </a:pPr>
            <a:r>
              <a:rPr lang="en-US" altLang="zh-CN" dirty="0">
                <a:latin typeface="宋体" panose="02010600030101010101" pitchFamily="2" charset="-122"/>
                <a:ea typeface="宋体" panose="02010600030101010101" pitchFamily="2" charset="-122"/>
              </a:rPr>
              <a:t>OPRD1- OPRD2         OPRD1</a:t>
            </a:r>
            <a:endParaRPr lang="en-US" altLang="zh-CN" dirty="0">
              <a:latin typeface="宋体" panose="02010600030101010101" pitchFamily="2" charset="-122"/>
              <a:ea typeface="宋体" panose="02010600030101010101" pitchFamily="2" charset="-122"/>
            </a:endParaRPr>
          </a:p>
          <a:p>
            <a:pPr eaLnBrk="1" hangingPunct="1">
              <a:spcBef>
                <a:spcPct val="75000"/>
              </a:spcBef>
              <a:spcAft>
                <a:spcPct val="30000"/>
              </a:spcAft>
              <a:buFont typeface="Wingdings" panose="05000000000000000000" pitchFamily="2" charset="2"/>
              <a:buChar char="Ø"/>
            </a:pPr>
            <a:r>
              <a:rPr lang="zh-CN" altLang="en-US" sz="2400" dirty="0">
                <a:solidFill>
                  <a:srgbClr val="FF0000"/>
                </a:solidFill>
                <a:latin typeface="宋体" panose="02010600030101010101" pitchFamily="2" charset="-122"/>
                <a:ea typeface="宋体" panose="02010600030101010101" pitchFamily="2" charset="-122"/>
              </a:rPr>
              <a:t>对操作数的要求以及对标志位的影响与</a:t>
            </a:r>
            <a:r>
              <a:rPr lang="en-US" altLang="zh-CN" sz="2400" dirty="0">
                <a:solidFill>
                  <a:srgbClr val="FF0000"/>
                </a:solidFill>
                <a:latin typeface="宋体" panose="02010600030101010101" pitchFamily="2" charset="-122"/>
                <a:ea typeface="宋体" panose="02010600030101010101" pitchFamily="2" charset="-122"/>
              </a:rPr>
              <a:t>ADD</a:t>
            </a:r>
            <a:r>
              <a:rPr lang="zh-CN" altLang="en-US" sz="2400" dirty="0">
                <a:solidFill>
                  <a:srgbClr val="FF0000"/>
                </a:solidFill>
                <a:latin typeface="宋体" panose="02010600030101010101" pitchFamily="2" charset="-122"/>
                <a:ea typeface="宋体" panose="02010600030101010101" pitchFamily="2" charset="-122"/>
              </a:rPr>
              <a:t>指令相同</a:t>
            </a:r>
            <a:endParaRPr lang="zh-CN" altLang="en-US" sz="2400" dirty="0">
              <a:solidFill>
                <a:srgbClr val="FF0000"/>
              </a:solidFill>
              <a:latin typeface="宋体" panose="02010600030101010101" pitchFamily="2" charset="-122"/>
              <a:ea typeface="宋体" panose="02010600030101010101" pitchFamily="2" charset="-122"/>
            </a:endParaRPr>
          </a:p>
        </p:txBody>
      </p:sp>
      <p:sp>
        <p:nvSpPr>
          <p:cNvPr id="59396" name="Line 4"/>
          <p:cNvSpPr/>
          <p:nvPr/>
        </p:nvSpPr>
        <p:spPr>
          <a:xfrm>
            <a:off x="3851275" y="3573463"/>
            <a:ext cx="936625" cy="0"/>
          </a:xfrm>
          <a:prstGeom prst="line">
            <a:avLst/>
          </a:prstGeom>
          <a:ln w="25400" cap="sq" cmpd="sng">
            <a:solidFill>
              <a:srgbClr val="FF6600"/>
            </a:solidFill>
            <a:prstDash val="solid"/>
            <a:headEnd type="none" w="med" len="med"/>
            <a:tailEnd type="triangle" w="lg" len="lg"/>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9395">
                                            <p:txEl>
                                              <p:charRg st="0" end="4"/>
                                            </p:txEl>
                                          </p:spTgt>
                                        </p:tgtEl>
                                        <p:attrNameLst>
                                          <p:attrName>style.visibility</p:attrName>
                                        </p:attrNameLst>
                                      </p:cBhvr>
                                      <p:to>
                                        <p:strVal val="visible"/>
                                      </p:to>
                                    </p:set>
                                    <p:animEffect transition="in" filter="wipe(left)">
                                      <p:cBhvr>
                                        <p:cTn id="7" dur="500"/>
                                        <p:tgtEl>
                                          <p:spTgt spid="59395">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9395">
                                            <p:txEl>
                                              <p:charRg st="4" end="21"/>
                                            </p:txEl>
                                          </p:spTgt>
                                        </p:tgtEl>
                                        <p:attrNameLst>
                                          <p:attrName>style.visibility</p:attrName>
                                        </p:attrNameLst>
                                      </p:cBhvr>
                                      <p:to>
                                        <p:strVal val="visible"/>
                                      </p:to>
                                    </p:set>
                                    <p:animEffect transition="in" filter="wipe(left)">
                                      <p:cBhvr>
                                        <p:cTn id="11" dur="500"/>
                                        <p:tgtEl>
                                          <p:spTgt spid="59395">
                                            <p:txEl>
                                              <p:charRg st="4" end="2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9395">
                                            <p:txEl>
                                              <p:charRg st="21" end="25"/>
                                            </p:txEl>
                                          </p:spTgt>
                                        </p:tgtEl>
                                        <p:attrNameLst>
                                          <p:attrName>style.visibility</p:attrName>
                                        </p:attrNameLst>
                                      </p:cBhvr>
                                      <p:to>
                                        <p:strVal val="visible"/>
                                      </p:to>
                                    </p:set>
                                    <p:animEffect transition="in" filter="wipe(left)">
                                      <p:cBhvr>
                                        <p:cTn id="16" dur="500"/>
                                        <p:tgtEl>
                                          <p:spTgt spid="59395">
                                            <p:txEl>
                                              <p:charRg st="21" end="2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9395">
                                            <p:txEl>
                                              <p:charRg st="25" end="52"/>
                                            </p:txEl>
                                          </p:spTgt>
                                        </p:tgtEl>
                                        <p:attrNameLst>
                                          <p:attrName>style.visibility</p:attrName>
                                        </p:attrNameLst>
                                      </p:cBhvr>
                                      <p:to>
                                        <p:strVal val="visible"/>
                                      </p:to>
                                    </p:set>
                                    <p:animEffect transition="in" filter="wipe(left)">
                                      <p:cBhvr>
                                        <p:cTn id="21" dur="500"/>
                                        <p:tgtEl>
                                          <p:spTgt spid="59395">
                                            <p:txEl>
                                              <p:charRg st="25" end="52"/>
                                            </p:txEl>
                                          </p:spTgt>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59396"/>
                                        </p:tgtEl>
                                        <p:attrNameLst>
                                          <p:attrName>style.visibility</p:attrName>
                                        </p:attrNameLst>
                                      </p:cBhvr>
                                      <p:to>
                                        <p:strVal val="visible"/>
                                      </p:to>
                                    </p:set>
                                    <p:animEffect transition="in" filter="wipe(left)">
                                      <p:cBhvr>
                                        <p:cTn id="25" dur="500"/>
                                        <p:tgtEl>
                                          <p:spTgt spid="5939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9395">
                                            <p:txEl>
                                              <p:charRg st="52" end="77"/>
                                            </p:txEl>
                                          </p:spTgt>
                                        </p:tgtEl>
                                        <p:attrNameLst>
                                          <p:attrName>style.visibility</p:attrName>
                                        </p:attrNameLst>
                                      </p:cBhvr>
                                      <p:to>
                                        <p:strVal val="visible"/>
                                      </p:to>
                                    </p:set>
                                    <p:animEffect transition="in" filter="wipe(left)">
                                      <p:cBhvr>
                                        <p:cTn id="30" dur="500"/>
                                        <p:tgtEl>
                                          <p:spTgt spid="59395">
                                            <p:txEl>
                                              <p:charRg st="52" end="7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1026"/>
          <p:cNvSpPr>
            <a:spLocks noGrp="1"/>
          </p:cNvSpPr>
          <p:nvPr>
            <p:ph type="title" idx="4294967295"/>
          </p:nvPr>
        </p:nvSpPr>
        <p:spPr>
          <a:xfrm>
            <a:off x="539750" y="908050"/>
            <a:ext cx="7793038" cy="582613"/>
          </a:xfrm>
        </p:spPr>
        <p:txBody>
          <a:bodyPr vert="horz" wrap="square" lIns="91440" tIns="45720" rIns="91440" bIns="45720" anchor="ctr" anchorCtr="0"/>
          <a:p>
            <a:pPr eaLnBrk="1" hangingPunct="1"/>
            <a:r>
              <a:rPr lang="zh-CN" altLang="en-US" dirty="0">
                <a:solidFill>
                  <a:srgbClr val="061E27"/>
                </a:solidFill>
                <a:latin typeface="宋体" panose="02010600030101010101" pitchFamily="2" charset="-122"/>
                <a:ea typeface="宋体" panose="02010600030101010101" pitchFamily="2" charset="-122"/>
              </a:rPr>
              <a:t>（</a:t>
            </a:r>
            <a:r>
              <a:rPr lang="en-US" altLang="zh-CN" dirty="0">
                <a:solidFill>
                  <a:srgbClr val="061E27"/>
                </a:solidFill>
                <a:latin typeface="宋体" panose="02010600030101010101" pitchFamily="2" charset="-122"/>
                <a:ea typeface="宋体" panose="02010600030101010101" pitchFamily="2" charset="-122"/>
              </a:rPr>
              <a:t>2</a:t>
            </a:r>
            <a:r>
              <a:rPr lang="zh-CN" altLang="en-US" dirty="0">
                <a:solidFill>
                  <a:srgbClr val="061E27"/>
                </a:solidFill>
                <a:latin typeface="宋体" panose="02010600030101010101" pitchFamily="2" charset="-122"/>
                <a:ea typeface="宋体" panose="02010600030101010101" pitchFamily="2" charset="-122"/>
              </a:rPr>
              <a:t>）</a:t>
            </a:r>
            <a:r>
              <a:rPr lang="en-US" altLang="zh-CN" dirty="0">
                <a:solidFill>
                  <a:srgbClr val="061E27"/>
                </a:solidFill>
                <a:latin typeface="宋体" panose="02010600030101010101" pitchFamily="2" charset="-122"/>
                <a:ea typeface="宋体" panose="02010600030101010101" pitchFamily="2" charset="-122"/>
              </a:rPr>
              <a:t>SBB</a:t>
            </a:r>
            <a:r>
              <a:rPr lang="zh-CN" altLang="en-US" dirty="0">
                <a:solidFill>
                  <a:srgbClr val="061E27"/>
                </a:solidFill>
                <a:latin typeface="宋体" panose="02010600030101010101" pitchFamily="2" charset="-122"/>
                <a:ea typeface="宋体" panose="02010600030101010101" pitchFamily="2" charset="-122"/>
              </a:rPr>
              <a:t>指令</a:t>
            </a:r>
            <a:endParaRPr lang="zh-CN" altLang="en-US" dirty="0">
              <a:solidFill>
                <a:srgbClr val="061E27"/>
              </a:solidFill>
              <a:latin typeface="宋体" panose="02010600030101010101" pitchFamily="2" charset="-122"/>
              <a:ea typeface="宋体" panose="02010600030101010101" pitchFamily="2" charset="-122"/>
            </a:endParaRPr>
          </a:p>
        </p:txBody>
      </p:sp>
      <p:sp>
        <p:nvSpPr>
          <p:cNvPr id="60419" name="Rectangle 1027"/>
          <p:cNvSpPr>
            <a:spLocks noGrp="1"/>
          </p:cNvSpPr>
          <p:nvPr>
            <p:ph type="body" idx="4294967295"/>
          </p:nvPr>
        </p:nvSpPr>
        <p:spPr>
          <a:xfrm>
            <a:off x="717550" y="2060575"/>
            <a:ext cx="7772400" cy="4114800"/>
          </a:xfrm>
        </p:spPr>
        <p:txBody>
          <a:bodyPr vert="horz" wrap="square" lIns="91440" tIns="45720" rIns="91440" bIns="45720" anchor="t" anchorCtr="0"/>
          <a:p>
            <a:pPr eaLnBrk="1" hangingPunct="1">
              <a:lnSpc>
                <a:spcPct val="115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指令格式、对操作数的要求、对标志位的影响与</a:t>
            </a:r>
            <a:r>
              <a:rPr lang="en-US" altLang="zh-CN" dirty="0">
                <a:latin typeface="宋体" panose="02010600030101010101" pitchFamily="2" charset="-122"/>
                <a:ea typeface="宋体" panose="02010600030101010101" pitchFamily="2" charset="-122"/>
              </a:rPr>
              <a:t>SUB</a:t>
            </a:r>
            <a:r>
              <a:rPr lang="zh-CN" altLang="en-US" dirty="0">
                <a:latin typeface="宋体" panose="02010600030101010101" pitchFamily="2" charset="-122"/>
                <a:ea typeface="宋体" panose="02010600030101010101" pitchFamily="2" charset="-122"/>
              </a:rPr>
              <a:t>指令完全一样。</a:t>
            </a:r>
            <a:endParaRPr lang="en-US" altLang="zh-CN" dirty="0">
              <a:latin typeface="宋体" panose="02010600030101010101" pitchFamily="2" charset="-122"/>
              <a:ea typeface="宋体" panose="02010600030101010101" pitchFamily="2" charset="-122"/>
            </a:endParaRPr>
          </a:p>
          <a:p>
            <a:pPr eaLnBrk="1" hangingPunct="1">
              <a:lnSpc>
                <a:spcPct val="115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主要用于多字节减法运算。</a:t>
            </a:r>
            <a:endParaRPr lang="zh-CN" altLang="en-US" dirty="0">
              <a:latin typeface="宋体" panose="02010600030101010101" pitchFamily="2" charset="-122"/>
              <a:ea typeface="宋体" panose="02010600030101010101" pitchFamily="2" charset="-122"/>
            </a:endParaRPr>
          </a:p>
          <a:p>
            <a:pPr eaLnBrk="1" hangingPunct="1">
              <a:lnSpc>
                <a:spcPct val="115000"/>
              </a:lnSpc>
              <a:spcBef>
                <a:spcPct val="50000"/>
              </a:spcBef>
              <a:spcAft>
                <a:spcPct val="30000"/>
              </a:spcAft>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指令的操作：</a:t>
            </a:r>
            <a:endParaRPr lang="zh-CN" altLang="en-US" dirty="0">
              <a:latin typeface="宋体" panose="02010600030101010101" pitchFamily="2" charset="-122"/>
              <a:ea typeface="宋体" panose="02010600030101010101" pitchFamily="2" charset="-122"/>
            </a:endParaRPr>
          </a:p>
          <a:p>
            <a:pPr lvl="1" eaLnBrk="1" hangingPunct="1">
              <a:lnSpc>
                <a:spcPct val="115000"/>
              </a:lnSpc>
              <a:spcBef>
                <a:spcPct val="25000"/>
              </a:spcBef>
              <a:spcAft>
                <a:spcPct val="30000"/>
              </a:spcAft>
            </a:pPr>
            <a:r>
              <a:rPr lang="en-US" altLang="zh-CN" dirty="0">
                <a:latin typeface="宋体" panose="02010600030101010101" pitchFamily="2" charset="-122"/>
                <a:ea typeface="宋体" panose="02010600030101010101" pitchFamily="2" charset="-122"/>
              </a:rPr>
              <a:t>OPRD1- OPRD2- CF          OPRD1</a:t>
            </a:r>
            <a:endParaRPr lang="zh-CN" altLang="en-US" dirty="0">
              <a:latin typeface="宋体" panose="02010600030101010101" pitchFamily="2" charset="-122"/>
              <a:ea typeface="宋体" panose="02010600030101010101" pitchFamily="2" charset="-122"/>
            </a:endParaRPr>
          </a:p>
        </p:txBody>
      </p:sp>
      <p:sp>
        <p:nvSpPr>
          <p:cNvPr id="60420" name="Line 1028"/>
          <p:cNvSpPr/>
          <p:nvPr/>
        </p:nvSpPr>
        <p:spPr>
          <a:xfrm>
            <a:off x="4356100" y="4797425"/>
            <a:ext cx="914400" cy="0"/>
          </a:xfrm>
          <a:prstGeom prst="line">
            <a:avLst/>
          </a:prstGeom>
          <a:ln w="25400" cap="sq" cmpd="sng">
            <a:solidFill>
              <a:srgbClr val="FF6600"/>
            </a:solidFill>
            <a:prstDash val="solid"/>
            <a:headEnd type="none" w="med" len="med"/>
            <a:tailEnd type="triangle" w="lg" len="lg"/>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419">
                                            <p:txEl>
                                              <p:charRg st="0" end="32"/>
                                            </p:txEl>
                                          </p:spTgt>
                                        </p:tgtEl>
                                        <p:attrNameLst>
                                          <p:attrName>style.visibility</p:attrName>
                                        </p:attrNameLst>
                                      </p:cBhvr>
                                      <p:to>
                                        <p:strVal val="visible"/>
                                      </p:to>
                                    </p:set>
                                    <p:animEffect transition="in" filter="blinds(horizontal)">
                                      <p:cBhvr>
                                        <p:cTn id="7" dur="500"/>
                                        <p:tgtEl>
                                          <p:spTgt spid="60419">
                                            <p:txEl>
                                              <p:charRg st="0" end="3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0419">
                                            <p:txEl>
                                              <p:charRg st="32" end="45"/>
                                            </p:txEl>
                                          </p:spTgt>
                                        </p:tgtEl>
                                        <p:attrNameLst>
                                          <p:attrName>style.visibility</p:attrName>
                                        </p:attrNameLst>
                                      </p:cBhvr>
                                      <p:to>
                                        <p:strVal val="visible"/>
                                      </p:to>
                                    </p:set>
                                    <p:animEffect transition="in" filter="blinds(horizontal)">
                                      <p:cBhvr>
                                        <p:cTn id="12" dur="500"/>
                                        <p:tgtEl>
                                          <p:spTgt spid="60419">
                                            <p:txEl>
                                              <p:charRg st="32" end="4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0419">
                                            <p:txEl>
                                              <p:charRg st="45" end="52"/>
                                            </p:txEl>
                                          </p:spTgt>
                                        </p:tgtEl>
                                        <p:attrNameLst>
                                          <p:attrName>style.visibility</p:attrName>
                                        </p:attrNameLst>
                                      </p:cBhvr>
                                      <p:to>
                                        <p:strVal val="visible"/>
                                      </p:to>
                                    </p:set>
                                    <p:animEffect transition="in" filter="wipe(left)">
                                      <p:cBhvr>
                                        <p:cTn id="17" dur="500"/>
                                        <p:tgtEl>
                                          <p:spTgt spid="60419">
                                            <p:txEl>
                                              <p:charRg st="45" end="5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0419">
                                            <p:txEl>
                                              <p:charRg st="52" end="84"/>
                                            </p:txEl>
                                          </p:spTgt>
                                        </p:tgtEl>
                                        <p:attrNameLst>
                                          <p:attrName>style.visibility</p:attrName>
                                        </p:attrNameLst>
                                      </p:cBhvr>
                                      <p:to>
                                        <p:strVal val="visible"/>
                                      </p:to>
                                    </p:set>
                                    <p:animEffect transition="in" filter="wipe(left)">
                                      <p:cBhvr>
                                        <p:cTn id="22" dur="500"/>
                                        <p:tgtEl>
                                          <p:spTgt spid="60419">
                                            <p:txEl>
                                              <p:charRg st="52" end="84"/>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60420"/>
                                        </p:tgtEl>
                                        <p:attrNameLst>
                                          <p:attrName>style.visibility</p:attrName>
                                        </p:attrNameLst>
                                      </p:cBhvr>
                                      <p:to>
                                        <p:strVal val="visible"/>
                                      </p:to>
                                    </p:set>
                                    <p:animEffect transition="in" filter="wipe(left)">
                                      <p:cBhvr>
                                        <p:cTn id="25" dur="500"/>
                                        <p:tgtEl>
                                          <p:spTgt spid="60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idx="4294967295"/>
          </p:nvPr>
        </p:nvSpPr>
        <p:spPr>
          <a:xfrm>
            <a:off x="617538" y="998538"/>
            <a:ext cx="2514600" cy="565150"/>
          </a:xfrm>
        </p:spPr>
        <p:txBody>
          <a:bodyPr vert="horz" wrap="square" lIns="91440" tIns="45720" rIns="91440" bIns="45720" anchor="ctr" anchorCtr="0"/>
          <a:p>
            <a:pPr eaLnBrk="1" hangingPunct="1"/>
            <a:r>
              <a:rPr lang="zh-CN" altLang="en-US" dirty="0">
                <a:solidFill>
                  <a:srgbClr val="061E27"/>
                </a:solidFill>
                <a:latin typeface="宋体" panose="02010600030101010101" pitchFamily="2" charset="-122"/>
                <a:ea typeface="宋体" panose="02010600030101010101" pitchFamily="2" charset="-122"/>
              </a:rPr>
              <a:t>（</a:t>
            </a:r>
            <a:r>
              <a:rPr lang="en-US" altLang="zh-CN" dirty="0">
                <a:solidFill>
                  <a:srgbClr val="061E27"/>
                </a:solidFill>
                <a:latin typeface="宋体" panose="02010600030101010101" pitchFamily="2" charset="-122"/>
                <a:ea typeface="宋体" panose="02010600030101010101" pitchFamily="2" charset="-122"/>
              </a:rPr>
              <a:t>3</a:t>
            </a:r>
            <a:r>
              <a:rPr lang="zh-CN" altLang="en-US" dirty="0">
                <a:solidFill>
                  <a:srgbClr val="061E27"/>
                </a:solidFill>
                <a:latin typeface="宋体" panose="02010600030101010101" pitchFamily="2" charset="-122"/>
                <a:ea typeface="宋体" panose="02010600030101010101" pitchFamily="2" charset="-122"/>
              </a:rPr>
              <a:t>）</a:t>
            </a:r>
            <a:r>
              <a:rPr lang="en-US" altLang="zh-CN" dirty="0">
                <a:solidFill>
                  <a:srgbClr val="061E27"/>
                </a:solidFill>
                <a:latin typeface="宋体" panose="02010600030101010101" pitchFamily="2" charset="-122"/>
                <a:ea typeface="宋体" panose="02010600030101010101" pitchFamily="2" charset="-122"/>
              </a:rPr>
              <a:t>DEC</a:t>
            </a:r>
            <a:r>
              <a:rPr lang="zh-CN" altLang="en-US" dirty="0">
                <a:solidFill>
                  <a:srgbClr val="061E27"/>
                </a:solidFill>
                <a:latin typeface="宋体" panose="02010600030101010101" pitchFamily="2" charset="-122"/>
                <a:ea typeface="宋体" panose="02010600030101010101" pitchFamily="2" charset="-122"/>
              </a:rPr>
              <a:t>指令</a:t>
            </a:r>
            <a:endParaRPr lang="zh-CN" altLang="en-US" dirty="0">
              <a:solidFill>
                <a:srgbClr val="061E27"/>
              </a:solidFill>
              <a:latin typeface="宋体" panose="02010600030101010101" pitchFamily="2" charset="-122"/>
              <a:ea typeface="宋体" panose="02010600030101010101" pitchFamily="2" charset="-122"/>
            </a:endParaRPr>
          </a:p>
        </p:txBody>
      </p:sp>
      <p:sp>
        <p:nvSpPr>
          <p:cNvPr id="61443" name="Rectangle 3"/>
          <p:cNvSpPr>
            <a:spLocks noGrp="1"/>
          </p:cNvSpPr>
          <p:nvPr>
            <p:ph type="body" idx="4294967295"/>
          </p:nvPr>
        </p:nvSpPr>
        <p:spPr>
          <a:xfrm>
            <a:off x="762000" y="1924050"/>
            <a:ext cx="7475538" cy="3952875"/>
          </a:xfrm>
        </p:spPr>
        <p:txBody>
          <a:bodyPr vert="horz" wrap="square" lIns="91440" tIns="45720" rIns="91440" bIns="45720" anchor="t" anchorCtr="0"/>
          <a:p>
            <a:pPr eaLnBrk="1" hangingPunct="1">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格式：</a:t>
            </a:r>
            <a:endParaRPr lang="zh-CN" altLang="en-US" dirty="0">
              <a:latin typeface="宋体" panose="02010600030101010101" pitchFamily="2" charset="-122"/>
              <a:ea typeface="宋体" panose="02010600030101010101" pitchFamily="2" charset="-122"/>
            </a:endParaRPr>
          </a:p>
          <a:p>
            <a:pPr lvl="1" eaLnBrk="1" hangingPunct="1">
              <a:buFont typeface="Wingdings" panose="05000000000000000000" pitchFamily="2" charset="2"/>
              <a:buChar char="•"/>
            </a:pPr>
            <a:r>
              <a:rPr lang="en-US" altLang="zh-CN" dirty="0">
                <a:latin typeface="宋体" panose="02010600030101010101" pitchFamily="2" charset="-122"/>
                <a:ea typeface="宋体" panose="02010600030101010101" pitchFamily="2" charset="-122"/>
              </a:rPr>
              <a:t>DEC  OPRD</a:t>
            </a:r>
            <a:endParaRPr lang="en-US" altLang="zh-CN"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操作：</a:t>
            </a:r>
            <a:endParaRPr lang="zh-CN" altLang="en-US" dirty="0">
              <a:latin typeface="宋体" panose="02010600030101010101" pitchFamily="2" charset="-122"/>
              <a:ea typeface="宋体" panose="02010600030101010101" pitchFamily="2" charset="-122"/>
            </a:endParaRPr>
          </a:p>
          <a:p>
            <a:pPr lvl="1" eaLnBrk="1" hangingPunct="1"/>
            <a:r>
              <a:rPr lang="en-US" altLang="zh-CN" dirty="0">
                <a:latin typeface="宋体" panose="02010600030101010101" pitchFamily="2" charset="-122"/>
                <a:ea typeface="宋体" panose="02010600030101010101" pitchFamily="2" charset="-122"/>
              </a:rPr>
              <a:t>OPRD - 1         OPRD</a:t>
            </a:r>
            <a:endParaRPr lang="zh-CN" altLang="en-US" dirty="0">
              <a:latin typeface="宋体" panose="02010600030101010101" pitchFamily="2" charset="-122"/>
              <a:ea typeface="宋体" panose="02010600030101010101" pitchFamily="2" charset="-122"/>
            </a:endParaRPr>
          </a:p>
        </p:txBody>
      </p:sp>
      <p:sp>
        <p:nvSpPr>
          <p:cNvPr id="61444" name="Line 4"/>
          <p:cNvSpPr/>
          <p:nvPr/>
        </p:nvSpPr>
        <p:spPr>
          <a:xfrm>
            <a:off x="3132138" y="3644900"/>
            <a:ext cx="762000" cy="0"/>
          </a:xfrm>
          <a:prstGeom prst="line">
            <a:avLst/>
          </a:prstGeom>
          <a:ln w="25400" cap="sq" cmpd="sng">
            <a:solidFill>
              <a:srgbClr val="FF6600"/>
            </a:solidFill>
            <a:prstDash val="solid"/>
            <a:headEnd type="none" w="med" len="med"/>
            <a:tailEnd type="triangle" w="lg" len="lg"/>
          </a:ln>
        </p:spPr>
      </p:sp>
      <p:sp>
        <p:nvSpPr>
          <p:cNvPr id="61445" name="Text Box 5"/>
          <p:cNvSpPr txBox="1"/>
          <p:nvPr/>
        </p:nvSpPr>
        <p:spPr>
          <a:xfrm>
            <a:off x="900113" y="4287838"/>
            <a:ext cx="8064500" cy="1557337"/>
          </a:xfrm>
          <a:prstGeom prst="rect">
            <a:avLst/>
          </a:prstGeom>
          <a:noFill/>
          <a:ln w="9525">
            <a:noFill/>
          </a:ln>
        </p:spPr>
        <p:txBody>
          <a:bodyPr>
            <a:spAutoFit/>
          </a:bodyPr>
          <a:p>
            <a:pPr marL="457200" indent="-457200" eaLnBrk="0" hangingPunct="0">
              <a:lnSpc>
                <a:spcPct val="105000"/>
              </a:lnSpc>
              <a:spcBef>
                <a:spcPct val="25000"/>
              </a:spcBef>
              <a:buFont typeface="Wingdings" panose="05000000000000000000" pitchFamily="2" charset="2"/>
              <a:buChar char="l"/>
            </a:pPr>
            <a:r>
              <a:rPr lang="zh-CN" altLang="en-US" sz="2800" b="1" dirty="0">
                <a:solidFill>
                  <a:srgbClr val="FF0000"/>
                </a:solidFill>
                <a:latin typeface="宋体" panose="02010600030101010101" pitchFamily="2" charset="-122"/>
                <a:ea typeface="宋体" panose="02010600030101010101" pitchFamily="2" charset="-122"/>
              </a:rPr>
              <a:t>指令对操作数的要求与</a:t>
            </a:r>
            <a:r>
              <a:rPr lang="en-US" altLang="zh-CN" sz="2800" b="1" dirty="0">
                <a:solidFill>
                  <a:srgbClr val="FF0000"/>
                </a:solidFill>
                <a:latin typeface="宋体" panose="02010600030101010101" pitchFamily="2" charset="-122"/>
                <a:ea typeface="宋体" panose="02010600030101010101" pitchFamily="2" charset="-122"/>
              </a:rPr>
              <a:t>INC</a:t>
            </a:r>
            <a:r>
              <a:rPr lang="zh-CN" altLang="en-US" sz="2800" b="1" dirty="0">
                <a:solidFill>
                  <a:srgbClr val="FF0000"/>
                </a:solidFill>
                <a:latin typeface="宋体" panose="02010600030101010101" pitchFamily="2" charset="-122"/>
                <a:ea typeface="宋体" panose="02010600030101010101" pitchFamily="2" charset="-122"/>
              </a:rPr>
              <a:t>相同（不能是段寄存器或立即数）</a:t>
            </a:r>
            <a:endParaRPr lang="zh-CN" altLang="en-US" sz="2800" b="1" dirty="0">
              <a:solidFill>
                <a:srgbClr val="FF0000"/>
              </a:solidFill>
              <a:latin typeface="宋体" panose="02010600030101010101" pitchFamily="2" charset="-122"/>
              <a:ea typeface="宋体" panose="02010600030101010101" pitchFamily="2" charset="-122"/>
            </a:endParaRPr>
          </a:p>
          <a:p>
            <a:pPr marL="457200" indent="-457200" eaLnBrk="0" hangingPunct="0">
              <a:lnSpc>
                <a:spcPct val="105000"/>
              </a:lnSpc>
              <a:spcBef>
                <a:spcPct val="25000"/>
              </a:spcBef>
              <a:buFont typeface="Wingdings" panose="05000000000000000000" pitchFamily="2" charset="2"/>
              <a:buChar char="l"/>
            </a:pPr>
            <a:r>
              <a:rPr lang="zh-CN" altLang="en-US" sz="2800" b="1" dirty="0">
                <a:solidFill>
                  <a:srgbClr val="FF0000"/>
                </a:solidFill>
                <a:latin typeface="宋体" panose="02010600030101010101" pitchFamily="2" charset="-122"/>
                <a:ea typeface="宋体" panose="02010600030101010101" pitchFamily="2" charset="-122"/>
              </a:rPr>
              <a:t>指令常用于在程序中修改计数值</a:t>
            </a:r>
            <a:endParaRPr lang="zh-CN" altLang="en-US" sz="2800" b="1"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1443">
                                            <p:txEl>
                                              <p:charRg st="0" end="4"/>
                                            </p:txEl>
                                          </p:spTgt>
                                        </p:tgtEl>
                                        <p:attrNameLst>
                                          <p:attrName>style.visibility</p:attrName>
                                        </p:attrNameLst>
                                      </p:cBhvr>
                                      <p:to>
                                        <p:strVal val="visible"/>
                                      </p:to>
                                    </p:set>
                                    <p:animEffect transition="in" filter="wipe(left)">
                                      <p:cBhvr>
                                        <p:cTn id="7" dur="500"/>
                                        <p:tgtEl>
                                          <p:spTgt spid="61443">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1443">
                                            <p:txEl>
                                              <p:charRg st="4" end="14"/>
                                            </p:txEl>
                                          </p:spTgt>
                                        </p:tgtEl>
                                        <p:attrNameLst>
                                          <p:attrName>style.visibility</p:attrName>
                                        </p:attrNameLst>
                                      </p:cBhvr>
                                      <p:to>
                                        <p:strVal val="visible"/>
                                      </p:to>
                                    </p:set>
                                    <p:animEffect transition="in" filter="wipe(left)">
                                      <p:cBhvr>
                                        <p:cTn id="11" dur="500"/>
                                        <p:tgtEl>
                                          <p:spTgt spid="61443">
                                            <p:txEl>
                                              <p:charRg st="4" end="1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1443">
                                            <p:txEl>
                                              <p:charRg st="14" end="18"/>
                                            </p:txEl>
                                          </p:spTgt>
                                        </p:tgtEl>
                                        <p:attrNameLst>
                                          <p:attrName>style.visibility</p:attrName>
                                        </p:attrNameLst>
                                      </p:cBhvr>
                                      <p:to>
                                        <p:strVal val="visible"/>
                                      </p:to>
                                    </p:set>
                                    <p:animEffect transition="in" filter="wipe(left)">
                                      <p:cBhvr>
                                        <p:cTn id="16" dur="500"/>
                                        <p:tgtEl>
                                          <p:spTgt spid="61443">
                                            <p:txEl>
                                              <p:charRg st="14" end="18"/>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1443">
                                            <p:txEl>
                                              <p:charRg st="18" end="40"/>
                                            </p:txEl>
                                          </p:spTgt>
                                        </p:tgtEl>
                                        <p:attrNameLst>
                                          <p:attrName>style.visibility</p:attrName>
                                        </p:attrNameLst>
                                      </p:cBhvr>
                                      <p:to>
                                        <p:strVal val="visible"/>
                                      </p:to>
                                    </p:set>
                                    <p:animEffect transition="in" filter="wipe(left)">
                                      <p:cBhvr>
                                        <p:cTn id="21" dur="500"/>
                                        <p:tgtEl>
                                          <p:spTgt spid="61443">
                                            <p:txEl>
                                              <p:charRg st="18" end="40"/>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61444"/>
                                        </p:tgtEl>
                                        <p:attrNameLst>
                                          <p:attrName>style.visibility</p:attrName>
                                        </p:attrNameLst>
                                      </p:cBhvr>
                                      <p:to>
                                        <p:strVal val="visible"/>
                                      </p:to>
                                    </p:set>
                                    <p:animEffect transition="in" filter="wipe(left)">
                                      <p:cBhvr>
                                        <p:cTn id="24" dur="500"/>
                                        <p:tgtEl>
                                          <p:spTgt spid="6144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61445">
                                            <p:txEl>
                                              <p:charRg st="0" end="29"/>
                                            </p:txEl>
                                          </p:spTgt>
                                        </p:tgtEl>
                                        <p:attrNameLst>
                                          <p:attrName>style.visibility</p:attrName>
                                        </p:attrNameLst>
                                      </p:cBhvr>
                                      <p:to>
                                        <p:strVal val="visible"/>
                                      </p:to>
                                    </p:set>
                                    <p:animEffect transition="in" filter="wipe(left)">
                                      <p:cBhvr>
                                        <p:cTn id="29" dur="500"/>
                                        <p:tgtEl>
                                          <p:spTgt spid="61445">
                                            <p:txEl>
                                              <p:charRg st="0" end="29"/>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61445">
                                            <p:txEl>
                                              <p:charRg st="29" end="44"/>
                                            </p:txEl>
                                          </p:spTgt>
                                        </p:tgtEl>
                                        <p:attrNameLst>
                                          <p:attrName>style.visibility</p:attrName>
                                        </p:attrNameLst>
                                      </p:cBhvr>
                                      <p:to>
                                        <p:strVal val="visible"/>
                                      </p:to>
                                    </p:set>
                                    <p:animEffect transition="in" filter="wipe(left)">
                                      <p:cBhvr>
                                        <p:cTn id="33" dur="500"/>
                                        <p:tgtEl>
                                          <p:spTgt spid="61445">
                                            <p:txEl>
                                              <p:charRg st="29" end="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idx="4294967295"/>
          </p:nvPr>
        </p:nvSpPr>
        <p:spPr>
          <a:xfrm>
            <a:off x="971550" y="981075"/>
            <a:ext cx="1368425" cy="563563"/>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61E27"/>
                </a:solidFill>
                <a:ea typeface="宋体" panose="02010600030101010101" pitchFamily="2" charset="-122"/>
              </a:rPr>
              <a:t>例：</a:t>
            </a:r>
            <a:endParaRPr lang="zh-CN" altLang="en-US" dirty="0">
              <a:solidFill>
                <a:srgbClr val="061E27"/>
              </a:solidFill>
              <a:ea typeface="宋体" panose="02010600030101010101" pitchFamily="2" charset="-122"/>
            </a:endParaRPr>
          </a:p>
        </p:txBody>
      </p:sp>
      <p:sp>
        <p:nvSpPr>
          <p:cNvPr id="62467" name="Rectangle 3"/>
          <p:cNvSpPr>
            <a:spLocks noGrp="1"/>
          </p:cNvSpPr>
          <p:nvPr>
            <p:ph type="body" idx="4294967295"/>
          </p:nvPr>
        </p:nvSpPr>
        <p:spPr>
          <a:xfrm>
            <a:off x="468313" y="1546225"/>
            <a:ext cx="7843837" cy="4537075"/>
          </a:xfrm>
        </p:spPr>
        <p:txBody>
          <a:bodyPr vert="horz" wrap="square" lIns="91440" tIns="45720" rIns="91440" bIns="45720" anchor="t" anchorCtr="0"/>
          <a:p>
            <a:pPr eaLnBrk="1" hangingPunct="1">
              <a:lnSpc>
                <a:spcPct val="150000"/>
              </a:lnSpc>
              <a:buNone/>
            </a:pPr>
            <a:r>
              <a:rPr lang="en-US" altLang="zh-CN" sz="2400" dirty="0">
                <a:latin typeface="宋体" panose="02010600030101010101" pitchFamily="2" charset="-122"/>
                <a:ea typeface="宋体" panose="02010600030101010101" pitchFamily="2" charset="-122"/>
              </a:rPr>
              <a:t>                MOV  BL，2</a:t>
            </a:r>
            <a:endParaRPr lang="en-US" altLang="zh-CN" sz="2400" dirty="0">
              <a:latin typeface="宋体" panose="02010600030101010101" pitchFamily="2" charset="-122"/>
              <a:ea typeface="宋体" panose="02010600030101010101" pitchFamily="2" charset="-122"/>
            </a:endParaRPr>
          </a:p>
          <a:p>
            <a:pPr eaLnBrk="1" hangingPunct="1">
              <a:lnSpc>
                <a:spcPct val="150000"/>
              </a:lnSpc>
              <a:buNone/>
            </a:pPr>
            <a:r>
              <a:rPr lang="en-US" altLang="zh-CN" sz="2400" dirty="0">
                <a:latin typeface="宋体" panose="02010600030101010101" pitchFamily="2" charset="-122"/>
                <a:ea typeface="宋体" panose="02010600030101010101" pitchFamily="2" charset="-122"/>
              </a:rPr>
              <a:t>	      NEXT1： MOV  CX，0FFFFH</a:t>
            </a:r>
            <a:endParaRPr lang="en-US" altLang="zh-CN" sz="2400" dirty="0">
              <a:latin typeface="宋体" panose="02010600030101010101" pitchFamily="2" charset="-122"/>
              <a:ea typeface="宋体" panose="02010600030101010101" pitchFamily="2" charset="-122"/>
            </a:endParaRPr>
          </a:p>
          <a:p>
            <a:pPr eaLnBrk="1" hangingPunct="1">
              <a:lnSpc>
                <a:spcPct val="150000"/>
              </a:lnSpc>
              <a:buNone/>
            </a:pPr>
            <a:r>
              <a:rPr lang="en-US" altLang="zh-CN" sz="2400" dirty="0">
                <a:latin typeface="宋体" panose="02010600030101010101" pitchFamily="2" charset="-122"/>
                <a:ea typeface="宋体" panose="02010600030101010101" pitchFamily="2" charset="-122"/>
              </a:rPr>
              <a:t>	      NEXT2： DEC  CX</a:t>
            </a:r>
            <a:endParaRPr lang="en-US" altLang="zh-CN" sz="2400" dirty="0">
              <a:latin typeface="宋体" panose="02010600030101010101" pitchFamily="2" charset="-122"/>
              <a:ea typeface="宋体" panose="02010600030101010101" pitchFamily="2" charset="-122"/>
            </a:endParaRPr>
          </a:p>
          <a:p>
            <a:pPr eaLnBrk="1" hangingPunct="1">
              <a:lnSpc>
                <a:spcPct val="150000"/>
              </a:lnSpc>
              <a:buNone/>
            </a:pPr>
            <a:r>
              <a:rPr lang="en-US" altLang="zh-CN" sz="2400" dirty="0">
                <a:latin typeface="宋体" panose="02010600030101010101" pitchFamily="2" charset="-122"/>
                <a:ea typeface="宋体" panose="02010600030101010101" pitchFamily="2" charset="-122"/>
              </a:rPr>
              <a:t>                JNZ  NEXT2     ; ZF=0</a:t>
            </a:r>
            <a:r>
              <a:rPr lang="zh-CN" altLang="en-US" sz="2400" dirty="0">
                <a:latin typeface="宋体" panose="02010600030101010101" pitchFamily="2" charset="-122"/>
                <a:ea typeface="宋体" panose="02010600030101010101" pitchFamily="2" charset="-122"/>
              </a:rPr>
              <a:t>转</a:t>
            </a:r>
            <a:r>
              <a:rPr lang="en-US" altLang="zh-CN" sz="2400" dirty="0">
                <a:latin typeface="宋体" panose="02010600030101010101" pitchFamily="2" charset="-122"/>
                <a:ea typeface="宋体" panose="02010600030101010101" pitchFamily="2" charset="-122"/>
              </a:rPr>
              <a:t>NEXT2</a:t>
            </a:r>
            <a:endParaRPr lang="en-US" altLang="zh-CN" sz="2400" dirty="0">
              <a:latin typeface="宋体" panose="02010600030101010101" pitchFamily="2" charset="-122"/>
              <a:ea typeface="宋体" panose="02010600030101010101" pitchFamily="2" charset="-122"/>
            </a:endParaRPr>
          </a:p>
          <a:p>
            <a:pPr eaLnBrk="1" hangingPunct="1">
              <a:lnSpc>
                <a:spcPct val="150000"/>
              </a:lnSpc>
              <a:buNone/>
            </a:pPr>
            <a:r>
              <a:rPr lang="en-US" altLang="zh-CN" sz="2400" dirty="0">
                <a:latin typeface="宋体" panose="02010600030101010101" pitchFamily="2" charset="-122"/>
                <a:ea typeface="宋体" panose="02010600030101010101" pitchFamily="2" charset="-122"/>
              </a:rPr>
              <a:t>                DEC  BL</a:t>
            </a:r>
            <a:endParaRPr lang="en-US" altLang="zh-CN" sz="2400" dirty="0">
              <a:latin typeface="宋体" panose="02010600030101010101" pitchFamily="2" charset="-122"/>
              <a:ea typeface="宋体" panose="02010600030101010101" pitchFamily="2" charset="-122"/>
            </a:endParaRPr>
          </a:p>
          <a:p>
            <a:pPr eaLnBrk="1" hangingPunct="1">
              <a:lnSpc>
                <a:spcPct val="150000"/>
              </a:lnSpc>
              <a:buNone/>
            </a:pPr>
            <a:r>
              <a:rPr lang="en-US" altLang="zh-CN" sz="2400" dirty="0">
                <a:latin typeface="宋体" panose="02010600030101010101" pitchFamily="2" charset="-122"/>
                <a:ea typeface="宋体" panose="02010600030101010101" pitchFamily="2" charset="-122"/>
              </a:rPr>
              <a:t>                JNZ  NEXT1     ; ZF=0</a:t>
            </a:r>
            <a:r>
              <a:rPr lang="zh-CN" altLang="en-US" sz="2400" dirty="0">
                <a:latin typeface="宋体" panose="02010600030101010101" pitchFamily="2" charset="-122"/>
                <a:ea typeface="宋体" panose="02010600030101010101" pitchFamily="2" charset="-122"/>
              </a:rPr>
              <a:t>转</a:t>
            </a:r>
            <a:r>
              <a:rPr lang="en-US" altLang="zh-CN" sz="2400" dirty="0">
                <a:latin typeface="宋体" panose="02010600030101010101" pitchFamily="2" charset="-122"/>
                <a:ea typeface="宋体" panose="02010600030101010101" pitchFamily="2" charset="-122"/>
              </a:rPr>
              <a:t>NEXT1</a:t>
            </a:r>
            <a:endParaRPr lang="en-US" altLang="zh-CN" sz="2400" dirty="0">
              <a:latin typeface="宋体" panose="02010600030101010101" pitchFamily="2" charset="-122"/>
              <a:ea typeface="宋体" panose="02010600030101010101" pitchFamily="2" charset="-122"/>
            </a:endParaRPr>
          </a:p>
          <a:p>
            <a:pPr eaLnBrk="1" hangingPunct="1">
              <a:lnSpc>
                <a:spcPct val="150000"/>
              </a:lnSpc>
              <a:buNone/>
            </a:pPr>
            <a:r>
              <a:rPr lang="en-US" altLang="zh-CN" sz="2400" dirty="0">
                <a:latin typeface="宋体" panose="02010600030101010101" pitchFamily="2" charset="-122"/>
                <a:ea typeface="宋体" panose="02010600030101010101" pitchFamily="2" charset="-122"/>
              </a:rPr>
              <a:t>                HLT            ; </a:t>
            </a:r>
            <a:r>
              <a:rPr lang="zh-CN" altLang="en-US" sz="2400" dirty="0">
                <a:latin typeface="宋体" panose="02010600030101010101" pitchFamily="2" charset="-122"/>
                <a:ea typeface="宋体" panose="02010600030101010101" pitchFamily="2" charset="-122"/>
              </a:rPr>
              <a:t>暂停执行</a:t>
            </a:r>
            <a:endParaRPr lang="en-US" altLang="zh-CN" sz="2400"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idx="4294967295"/>
          </p:nvPr>
        </p:nvSpPr>
        <p:spPr>
          <a:xfrm>
            <a:off x="784225" y="1079500"/>
            <a:ext cx="6553200" cy="563563"/>
          </a:xfrm>
        </p:spPr>
        <p:txBody>
          <a:bodyPr vert="horz" wrap="square" lIns="91440" tIns="45720" rIns="91440" bIns="45720" anchor="ctr" anchorCtr="0"/>
          <a:p>
            <a:pPr eaLnBrk="1" hangingPunct="1"/>
            <a:r>
              <a:rPr lang="zh-CN" altLang="en-US" dirty="0">
                <a:solidFill>
                  <a:srgbClr val="061E27"/>
                </a:solidFill>
                <a:latin typeface="宋体" panose="02010600030101010101" pitchFamily="2" charset="-122"/>
                <a:ea typeface="宋体" panose="02010600030101010101" pitchFamily="2" charset="-122"/>
              </a:rPr>
              <a:t>（</a:t>
            </a:r>
            <a:r>
              <a:rPr lang="en-US" altLang="zh-CN" dirty="0">
                <a:solidFill>
                  <a:srgbClr val="061E27"/>
                </a:solidFill>
                <a:latin typeface="宋体" panose="02010600030101010101" pitchFamily="2" charset="-122"/>
                <a:ea typeface="宋体" panose="02010600030101010101" pitchFamily="2" charset="-122"/>
              </a:rPr>
              <a:t>4</a:t>
            </a:r>
            <a:r>
              <a:rPr lang="zh-CN" altLang="en-US" dirty="0">
                <a:solidFill>
                  <a:srgbClr val="061E27"/>
                </a:solidFill>
                <a:latin typeface="宋体" panose="02010600030101010101" pitchFamily="2" charset="-122"/>
                <a:ea typeface="宋体" panose="02010600030101010101" pitchFamily="2" charset="-122"/>
              </a:rPr>
              <a:t>）</a:t>
            </a:r>
            <a:r>
              <a:rPr lang="en-US" altLang="zh-CN" dirty="0">
                <a:solidFill>
                  <a:srgbClr val="061E27"/>
                </a:solidFill>
                <a:latin typeface="宋体" panose="02010600030101010101" pitchFamily="2" charset="-122"/>
                <a:ea typeface="宋体" panose="02010600030101010101" pitchFamily="2" charset="-122"/>
              </a:rPr>
              <a:t>NEG</a:t>
            </a:r>
            <a:r>
              <a:rPr lang="zh-CN" altLang="en-US" dirty="0">
                <a:solidFill>
                  <a:srgbClr val="061E27"/>
                </a:solidFill>
                <a:latin typeface="宋体" panose="02010600030101010101" pitchFamily="2" charset="-122"/>
                <a:ea typeface="宋体" panose="02010600030101010101" pitchFamily="2" charset="-122"/>
              </a:rPr>
              <a:t>指令（求补指令）</a:t>
            </a:r>
            <a:endParaRPr lang="zh-CN" altLang="en-US" dirty="0">
              <a:solidFill>
                <a:srgbClr val="061E27"/>
              </a:solidFill>
              <a:latin typeface="宋体" panose="02010600030101010101" pitchFamily="2" charset="-122"/>
              <a:ea typeface="宋体" panose="02010600030101010101" pitchFamily="2" charset="-122"/>
            </a:endParaRPr>
          </a:p>
        </p:txBody>
      </p:sp>
      <p:sp>
        <p:nvSpPr>
          <p:cNvPr id="63491" name="Rectangle 3"/>
          <p:cNvSpPr>
            <a:spLocks noGrp="1"/>
          </p:cNvSpPr>
          <p:nvPr>
            <p:ph type="body" idx="4294967295"/>
          </p:nvPr>
        </p:nvSpPr>
        <p:spPr>
          <a:xfrm>
            <a:off x="1187768" y="1844675"/>
            <a:ext cx="6121400" cy="2419350"/>
          </a:xfrm>
        </p:spPr>
        <p:txBody>
          <a:bodyPr vert="horz" wrap="square" lIns="91440" tIns="45720" rIns="91440" bIns="45720" anchor="t" anchorCtr="0"/>
          <a:p>
            <a:pPr eaLnBrk="1" hangingPunct="1">
              <a:buFont typeface="Wingdings" panose="05000000000000000000" pitchFamily="2" charset="2"/>
              <a:buChar char="Ø"/>
            </a:pPr>
            <a:r>
              <a:rPr lang="zh-CN" altLang="en-US" dirty="0">
                <a:ea typeface="宋体" panose="02010600030101010101" pitchFamily="2" charset="-122"/>
              </a:rPr>
              <a:t>格式：</a:t>
            </a:r>
            <a:endParaRPr lang="zh-CN" altLang="en-US" dirty="0">
              <a:ea typeface="宋体" panose="02010600030101010101" pitchFamily="2" charset="-122"/>
            </a:endParaRPr>
          </a:p>
          <a:p>
            <a:pPr lvl="1" eaLnBrk="1" hangingPunct="1">
              <a:buFont typeface="Wingdings" panose="05000000000000000000" pitchFamily="2" charset="2"/>
              <a:buChar char="•"/>
            </a:pPr>
            <a:r>
              <a:rPr lang="en-US" altLang="zh-CN" dirty="0">
                <a:ea typeface="宋体" panose="02010600030101010101" pitchFamily="2" charset="-122"/>
              </a:rPr>
              <a:t>NEG  OPRD</a:t>
            </a:r>
            <a:endParaRPr lang="en-US" altLang="zh-CN" dirty="0">
              <a:ea typeface="宋体" panose="02010600030101010101" pitchFamily="2" charset="-122"/>
            </a:endParaRPr>
          </a:p>
          <a:p>
            <a:pPr eaLnBrk="1" hangingPunct="1">
              <a:buFont typeface="Wingdings" panose="05000000000000000000" pitchFamily="2" charset="2"/>
              <a:buChar char="Ø"/>
            </a:pPr>
            <a:r>
              <a:rPr lang="zh-CN" altLang="en-US" dirty="0">
                <a:ea typeface="宋体" panose="02010600030101010101" pitchFamily="2" charset="-122"/>
              </a:rPr>
              <a:t>操作：</a:t>
            </a:r>
            <a:endParaRPr lang="zh-CN" altLang="en-US" dirty="0">
              <a:ea typeface="宋体" panose="02010600030101010101" pitchFamily="2" charset="-122"/>
            </a:endParaRPr>
          </a:p>
          <a:p>
            <a:pPr lvl="1" eaLnBrk="1" hangingPunct="1">
              <a:buFont typeface="Wingdings" panose="05000000000000000000" pitchFamily="2" charset="2"/>
              <a:buChar char="•"/>
            </a:pPr>
            <a:r>
              <a:rPr lang="zh-CN" altLang="en-US" dirty="0">
                <a:ea typeface="宋体" panose="02010600030101010101" pitchFamily="2" charset="-122"/>
              </a:rPr>
              <a:t>0 - </a:t>
            </a:r>
            <a:r>
              <a:rPr lang="en-US" altLang="zh-CN" dirty="0">
                <a:ea typeface="宋体" panose="02010600030101010101" pitchFamily="2" charset="-122"/>
              </a:rPr>
              <a:t>OPRD            OPRD</a:t>
            </a:r>
            <a:endParaRPr lang="zh-CN" altLang="en-US" dirty="0">
              <a:ea typeface="宋体" panose="02010600030101010101" pitchFamily="2" charset="-122"/>
            </a:endParaRPr>
          </a:p>
          <a:p>
            <a:pPr eaLnBrk="1" hangingPunct="1">
              <a:buFont typeface="Wingdings" panose="05000000000000000000" pitchFamily="2" charset="2"/>
              <a:buChar char="•"/>
            </a:pPr>
            <a:endParaRPr lang="zh-CN" altLang="en-US" dirty="0">
              <a:ea typeface="宋体" panose="02010600030101010101" pitchFamily="2" charset="-122"/>
            </a:endParaRPr>
          </a:p>
        </p:txBody>
      </p:sp>
      <p:sp>
        <p:nvSpPr>
          <p:cNvPr id="63492" name="Line 4"/>
          <p:cNvSpPr/>
          <p:nvPr/>
        </p:nvSpPr>
        <p:spPr>
          <a:xfrm>
            <a:off x="3443605" y="3521075"/>
            <a:ext cx="762000" cy="0"/>
          </a:xfrm>
          <a:prstGeom prst="line">
            <a:avLst/>
          </a:prstGeom>
          <a:ln w="25400" cap="sq" cmpd="sng">
            <a:solidFill>
              <a:srgbClr val="FF6600"/>
            </a:solidFill>
            <a:prstDash val="solid"/>
            <a:headEnd type="none" w="med" len="med"/>
            <a:tailEnd type="triangle" w="lg" len="lg"/>
          </a:ln>
        </p:spPr>
      </p:sp>
      <p:sp>
        <p:nvSpPr>
          <p:cNvPr id="63493" name="AutoShape 5"/>
          <p:cNvSpPr/>
          <p:nvPr/>
        </p:nvSpPr>
        <p:spPr>
          <a:xfrm>
            <a:off x="4572318" y="1543050"/>
            <a:ext cx="1981200" cy="762000"/>
          </a:xfrm>
          <a:prstGeom prst="wedgeRectCallout">
            <a:avLst>
              <a:gd name="adj1" fmla="val -84856"/>
              <a:gd name="adj2" fmla="val 65625"/>
            </a:avLst>
          </a:prstGeom>
          <a:solidFill>
            <a:srgbClr val="FF6600"/>
          </a:solidFill>
          <a:ln w="25400" cap="sq" cmpd="sng">
            <a:solidFill>
              <a:srgbClr val="FF6600"/>
            </a:solidFill>
            <a:prstDash val="solid"/>
            <a:miter/>
            <a:headEnd type="none" w="med" len="med"/>
            <a:tailEnd type="none" w="med" len="med"/>
          </a:ln>
        </p:spPr>
        <p:txBody>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8/16</a:t>
            </a:r>
            <a:r>
              <a:rPr lang="zh-CN" altLang="en-US" sz="2000" b="1" dirty="0">
                <a:latin typeface="Times New Roman" panose="02020603050405020304" pitchFamily="18" charset="0"/>
                <a:ea typeface="宋体" panose="02010600030101010101" pitchFamily="2" charset="-122"/>
              </a:rPr>
              <a:t>位寄存器或存储器操作数</a:t>
            </a:r>
            <a:endParaRPr lang="zh-CN" altLang="en-US" sz="2000" b="1" dirty="0">
              <a:latin typeface="Times New Roman" panose="02020603050405020304" pitchFamily="18" charset="0"/>
              <a:ea typeface="宋体" panose="02010600030101010101" pitchFamily="2" charset="-122"/>
            </a:endParaRPr>
          </a:p>
        </p:txBody>
      </p:sp>
      <p:sp>
        <p:nvSpPr>
          <p:cNvPr id="63494" name="Text Box 6"/>
          <p:cNvSpPr txBox="1"/>
          <p:nvPr/>
        </p:nvSpPr>
        <p:spPr>
          <a:xfrm>
            <a:off x="1316355" y="3806825"/>
            <a:ext cx="616585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rgbClr val="FF0000"/>
                </a:solidFill>
                <a:latin typeface="Times New Roman" panose="02020603050405020304" pitchFamily="18" charset="0"/>
                <a:ea typeface="宋体" panose="02010600030101010101" pitchFamily="2" charset="-122"/>
              </a:rPr>
              <a:t>用</a:t>
            </a:r>
            <a:r>
              <a:rPr lang="en-US" altLang="zh-CN" sz="2400" b="1" dirty="0">
                <a:solidFill>
                  <a:srgbClr val="FF0000"/>
                </a:solidFill>
                <a:latin typeface="Times New Roman" panose="02020603050405020304" pitchFamily="18" charset="0"/>
                <a:ea typeface="宋体" panose="02010600030101010101" pitchFamily="2" charset="-122"/>
              </a:rPr>
              <a:t>0</a:t>
            </a:r>
            <a:r>
              <a:rPr lang="zh-CN" altLang="en-US" sz="2400" b="1" dirty="0">
                <a:solidFill>
                  <a:srgbClr val="FF0000"/>
                </a:solidFill>
                <a:latin typeface="Times New Roman" panose="02020603050405020304" pitchFamily="18" charset="0"/>
                <a:ea typeface="宋体" panose="02010600030101010101" pitchFamily="2" charset="-122"/>
              </a:rPr>
              <a:t>减去操作数，相当于对该操作数求补码</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63495" name="文本框 1"/>
          <p:cNvSpPr txBox="1"/>
          <p:nvPr/>
        </p:nvSpPr>
        <p:spPr>
          <a:xfrm>
            <a:off x="107633" y="4436745"/>
            <a:ext cx="8964612" cy="1938020"/>
          </a:xfrm>
          <a:prstGeom prst="rect">
            <a:avLst/>
          </a:prstGeom>
          <a:noFill/>
          <a:ln w="12700" cap="flat" cmpd="sng">
            <a:solidFill>
              <a:schemeClr val="tx1"/>
            </a:solidFill>
            <a:prstDash val="solid"/>
            <a:miter/>
            <a:headEnd type="none" w="med" len="med"/>
            <a:tailEnd type="none" w="med" len="med"/>
          </a:ln>
        </p:spPr>
        <p:txBody>
          <a:bodyPr>
            <a:spAutoFit/>
          </a:bodyPr>
          <a:p>
            <a:pPr eaLnBrk="0" hangingPunct="0">
              <a:lnSpc>
                <a:spcPct val="150000"/>
              </a:lnSpc>
              <a:buFont typeface="Wingdings" panose="05000000000000000000" pitchFamily="2" charset="2"/>
            </a:pPr>
            <a:r>
              <a:rPr lang="en-US" altLang="zh-CN" sz="2000" dirty="0">
                <a:latin typeface="宋体" panose="02010600030101010101" pitchFamily="2" charset="-122"/>
                <a:ea typeface="宋体" panose="02010600030101010101" pitchFamily="2" charset="-122"/>
              </a:rPr>
              <a:t>NEG</a:t>
            </a:r>
            <a:r>
              <a:rPr lang="zh-CN" altLang="en-US" sz="2000" dirty="0">
                <a:latin typeface="宋体" panose="02010600030101010101" pitchFamily="2" charset="-122"/>
                <a:ea typeface="宋体" panose="02010600030101010101" pitchFamily="2" charset="-122"/>
              </a:rPr>
              <a:t>指令对</a:t>
            </a:r>
            <a:r>
              <a:rPr lang="en-US" altLang="zh-CN" sz="2000" dirty="0">
                <a:latin typeface="宋体" panose="02010600030101010101" pitchFamily="2" charset="-122"/>
                <a:ea typeface="宋体" panose="02010600030101010101" pitchFamily="2" charset="-122"/>
              </a:rPr>
              <a:t>6</a:t>
            </a:r>
            <a:r>
              <a:rPr lang="zh-CN" altLang="en-US" sz="2000" dirty="0">
                <a:latin typeface="宋体" panose="02010600030101010101" pitchFamily="2" charset="-122"/>
                <a:ea typeface="宋体" panose="02010600030101010101" pitchFamily="2" charset="-122"/>
              </a:rPr>
              <a:t>个状态标志位均有影响，但要注意以下两点：</a:t>
            </a:r>
            <a:endParaRPr lang="en-US" altLang="zh-CN" sz="2000"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zh-CN" altLang="en-US" sz="2000" dirty="0">
                <a:latin typeface="宋体" panose="02010600030101010101" pitchFamily="2" charset="-122"/>
                <a:ea typeface="宋体" panose="02010600030101010101" pitchFamily="2" charset="-122"/>
              </a:rPr>
              <a:t>①执行</a:t>
            </a:r>
            <a:r>
              <a:rPr lang="en-US" altLang="zh-CN" sz="2000" dirty="0">
                <a:latin typeface="宋体" panose="02010600030101010101" pitchFamily="2" charset="-122"/>
                <a:ea typeface="宋体" panose="02010600030101010101" pitchFamily="2" charset="-122"/>
              </a:rPr>
              <a:t>NEG</a:t>
            </a:r>
            <a:r>
              <a:rPr lang="zh-CN" altLang="en-US" sz="2000" dirty="0">
                <a:latin typeface="宋体" panose="02010600030101010101" pitchFamily="2" charset="-122"/>
                <a:ea typeface="宋体" panose="02010600030101010101" pitchFamily="2" charset="-122"/>
              </a:rPr>
              <a:t>指令后，一般情况都会使</a:t>
            </a:r>
            <a:r>
              <a:rPr lang="en-US" altLang="zh-CN" sz="2000" dirty="0">
                <a:latin typeface="宋体" panose="02010600030101010101" pitchFamily="2" charset="-122"/>
                <a:ea typeface="宋体" panose="02010600030101010101" pitchFamily="2" charset="-122"/>
              </a:rPr>
              <a:t>CF</a:t>
            </a:r>
            <a:r>
              <a:rPr lang="zh-CN" altLang="en-US" sz="2000" dirty="0">
                <a:latin typeface="宋体" panose="02010600030101010101" pitchFamily="2" charset="-122"/>
                <a:ea typeface="宋体" panose="02010600030101010101" pitchFamily="2" charset="-122"/>
              </a:rPr>
              <a:t>为</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，除非给定操作数为</a:t>
            </a:r>
            <a:r>
              <a:rPr lang="en-US" altLang="zh-CN" sz="2000" dirty="0">
                <a:latin typeface="宋体" panose="02010600030101010101" pitchFamily="2" charset="-122"/>
                <a:ea typeface="宋体" panose="02010600030101010101" pitchFamily="2" charset="-122"/>
              </a:rPr>
              <a:t>0</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CF</a:t>
            </a:r>
            <a:r>
              <a:rPr lang="zh-CN" altLang="en-US" sz="2000" dirty="0">
                <a:latin typeface="宋体" panose="02010600030101010101" pitchFamily="2" charset="-122"/>
                <a:ea typeface="宋体" panose="02010600030101010101" pitchFamily="2" charset="-122"/>
              </a:rPr>
              <a:t>才会为</a:t>
            </a:r>
            <a:r>
              <a:rPr lang="en-US" altLang="zh-CN" sz="2000" dirty="0">
                <a:latin typeface="宋体" panose="02010600030101010101" pitchFamily="2" charset="-122"/>
                <a:ea typeface="宋体" panose="02010600030101010101" pitchFamily="2" charset="-122"/>
              </a:rPr>
              <a:t>0</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zh-CN" altLang="en-US" sz="2000" dirty="0">
                <a:latin typeface="宋体" panose="02010600030101010101" pitchFamily="2" charset="-122"/>
                <a:ea typeface="宋体" panose="02010600030101010101" pitchFamily="2" charset="-122"/>
              </a:rPr>
              <a:t>②当指定的操作数为</a:t>
            </a:r>
            <a:r>
              <a:rPr lang="en-US" altLang="zh-CN" sz="2000" dirty="0">
                <a:latin typeface="宋体" panose="02010600030101010101" pitchFamily="2" charset="-122"/>
                <a:ea typeface="宋体" panose="02010600030101010101" pitchFamily="2" charset="-122"/>
              </a:rPr>
              <a:t>80H</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-128</a:t>
            </a:r>
            <a:r>
              <a:rPr lang="zh-CN" altLang="en-US" sz="2000" dirty="0">
                <a:latin typeface="宋体" panose="02010600030101010101" pitchFamily="2" charset="-122"/>
                <a:ea typeface="宋体" panose="02010600030101010101" pitchFamily="2" charset="-122"/>
              </a:rPr>
              <a:t>）或为</a:t>
            </a:r>
            <a:r>
              <a:rPr lang="en-US" altLang="zh-CN" sz="2000" dirty="0">
                <a:latin typeface="宋体" panose="02010600030101010101" pitchFamily="2" charset="-122"/>
                <a:ea typeface="宋体" panose="02010600030101010101" pitchFamily="2" charset="-122"/>
              </a:rPr>
              <a:t>8000H</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-32768</a:t>
            </a:r>
            <a:r>
              <a:rPr lang="zh-CN" altLang="en-US" sz="2000" dirty="0">
                <a:latin typeface="宋体" panose="02010600030101010101" pitchFamily="2" charset="-122"/>
                <a:ea typeface="宋体" panose="02010600030101010101" pitchFamily="2" charset="-122"/>
              </a:rPr>
              <a:t>），则执行</a:t>
            </a:r>
            <a:r>
              <a:rPr lang="en-US" altLang="zh-CN" sz="2000" dirty="0">
                <a:latin typeface="宋体" panose="02010600030101010101" pitchFamily="2" charset="-122"/>
                <a:ea typeface="宋体" panose="02010600030101010101" pitchFamily="2" charset="-122"/>
              </a:rPr>
              <a:t>NEG</a:t>
            </a:r>
            <a:r>
              <a:rPr lang="zh-CN" altLang="en-US" sz="2000" dirty="0">
                <a:latin typeface="宋体" panose="02010600030101010101" pitchFamily="2" charset="-122"/>
                <a:ea typeface="宋体" panose="02010600030101010101" pitchFamily="2" charset="-122"/>
              </a:rPr>
              <a:t>指令后，结果不变，但</a:t>
            </a:r>
            <a:r>
              <a:rPr lang="en-US" altLang="zh-CN" sz="2000" dirty="0">
                <a:latin typeface="宋体" panose="02010600030101010101" pitchFamily="2" charset="-122"/>
                <a:ea typeface="宋体" panose="02010600030101010101" pitchFamily="2" charset="-122"/>
              </a:rPr>
              <a:t>OF</a:t>
            </a:r>
            <a:r>
              <a:rPr lang="zh-CN" altLang="en-US" sz="2000" dirty="0">
                <a:latin typeface="宋体" panose="02010600030101010101" pitchFamily="2" charset="-122"/>
                <a:ea typeface="宋体" panose="02010600030101010101" pitchFamily="2" charset="-122"/>
              </a:rPr>
              <a:t>置</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，其它情况下</a:t>
            </a:r>
            <a:r>
              <a:rPr lang="en-US" altLang="zh-CN" sz="2000" dirty="0">
                <a:latin typeface="宋体" panose="02010600030101010101" pitchFamily="2" charset="-122"/>
                <a:ea typeface="宋体" panose="02010600030101010101" pitchFamily="2" charset="-122"/>
              </a:rPr>
              <a:t>OF</a:t>
            </a:r>
            <a:r>
              <a:rPr lang="zh-CN" altLang="en-US" sz="2000" dirty="0">
                <a:latin typeface="宋体" panose="02010600030101010101" pitchFamily="2" charset="-122"/>
                <a:ea typeface="宋体" panose="02010600030101010101" pitchFamily="2" charset="-122"/>
              </a:rPr>
              <a:t>均值</a:t>
            </a:r>
            <a:r>
              <a:rPr lang="en-US" altLang="zh-CN" sz="2000" dirty="0">
                <a:latin typeface="宋体" panose="02010600030101010101" pitchFamily="2" charset="-122"/>
                <a:ea typeface="宋体" panose="02010600030101010101" pitchFamily="2" charset="-122"/>
              </a:rPr>
              <a:t>0</a:t>
            </a:r>
            <a:endParaRPr lang="zh-CN" altLang="en-US" sz="20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3491">
                                            <p:txEl>
                                              <p:charRg st="0" end="4"/>
                                            </p:txEl>
                                          </p:spTgt>
                                        </p:tgtEl>
                                        <p:attrNameLst>
                                          <p:attrName>style.visibility</p:attrName>
                                        </p:attrNameLst>
                                      </p:cBhvr>
                                      <p:to>
                                        <p:strVal val="visible"/>
                                      </p:to>
                                    </p:set>
                                    <p:animEffect transition="in" filter="wipe(left)">
                                      <p:cBhvr>
                                        <p:cTn id="7" dur="500"/>
                                        <p:tgtEl>
                                          <p:spTgt spid="63491">
                                            <p:txEl>
                                              <p:charRg st="0"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3491">
                                            <p:txEl>
                                              <p:charRg st="4" end="14"/>
                                            </p:txEl>
                                          </p:spTgt>
                                        </p:tgtEl>
                                        <p:attrNameLst>
                                          <p:attrName>style.visibility</p:attrName>
                                        </p:attrNameLst>
                                      </p:cBhvr>
                                      <p:to>
                                        <p:strVal val="visible"/>
                                      </p:to>
                                    </p:set>
                                    <p:animEffect transition="in" filter="wipe(left)">
                                      <p:cBhvr>
                                        <p:cTn id="12" dur="500"/>
                                        <p:tgtEl>
                                          <p:spTgt spid="63491">
                                            <p:txEl>
                                              <p:charRg st="4" end="1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63493"/>
                                        </p:tgtEl>
                                        <p:attrNameLst>
                                          <p:attrName>style.visibility</p:attrName>
                                        </p:attrNameLst>
                                      </p:cBhvr>
                                      <p:to>
                                        <p:strVal val="visible"/>
                                      </p:to>
                                    </p:set>
                                    <p:anim calcmode="lin" valueType="num">
                                      <p:cBhvr>
                                        <p:cTn id="17" dur="500" fill="hold"/>
                                        <p:tgtEl>
                                          <p:spTgt spid="63493"/>
                                        </p:tgtEl>
                                        <p:attrNameLst>
                                          <p:attrName>ppt_x</p:attrName>
                                        </p:attrNameLst>
                                      </p:cBhvr>
                                      <p:tavLst>
                                        <p:tav tm="0">
                                          <p:val>
                                            <p:strVal val="1+#ppt_w/2"/>
                                          </p:val>
                                        </p:tav>
                                        <p:tav tm="100000">
                                          <p:val>
                                            <p:strVal val="#ppt_x"/>
                                          </p:val>
                                        </p:tav>
                                      </p:tavLst>
                                    </p:anim>
                                    <p:anim calcmode="lin" valueType="num">
                                      <p:cBhvr>
                                        <p:cTn id="18" dur="500" fill="hold"/>
                                        <p:tgtEl>
                                          <p:spTgt spid="63493"/>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26" presetClass="emph" presetSubtype="0" repeatCount="4000" fill="hold" grpId="1" nodeType="afterEffect">
                                  <p:stCondLst>
                                    <p:cond delay="0"/>
                                  </p:stCondLst>
                                  <p:childTnLst>
                                    <p:animEffect transition="out" filter="fade">
                                      <p:cBhvr>
                                        <p:cTn id="21" dur="500" tmFilter="0, 0; .2, .5; .8, .5; 1, 0"/>
                                        <p:tgtEl>
                                          <p:spTgt spid="63493"/>
                                        </p:tgtEl>
                                      </p:cBhvr>
                                    </p:animEffect>
                                    <p:animScale>
                                      <p:cBhvr>
                                        <p:cTn id="22" dur="250" autoRev="1" fill="hold"/>
                                        <p:tgtEl>
                                          <p:spTgt spid="63493"/>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3491">
                                            <p:txEl>
                                              <p:charRg st="14" end="18"/>
                                            </p:txEl>
                                          </p:spTgt>
                                        </p:tgtEl>
                                        <p:attrNameLst>
                                          <p:attrName>style.visibility</p:attrName>
                                        </p:attrNameLst>
                                      </p:cBhvr>
                                      <p:to>
                                        <p:strVal val="visible"/>
                                      </p:to>
                                    </p:set>
                                    <p:animEffect transition="in" filter="wipe(left)">
                                      <p:cBhvr>
                                        <p:cTn id="27" dur="500"/>
                                        <p:tgtEl>
                                          <p:spTgt spid="63491">
                                            <p:txEl>
                                              <p:charRg st="14" end="1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3491">
                                            <p:txEl>
                                              <p:charRg st="18" end="43"/>
                                            </p:txEl>
                                          </p:spTgt>
                                        </p:tgtEl>
                                        <p:attrNameLst>
                                          <p:attrName>style.visibility</p:attrName>
                                        </p:attrNameLst>
                                      </p:cBhvr>
                                      <p:to>
                                        <p:strVal val="visible"/>
                                      </p:to>
                                    </p:set>
                                    <p:animEffect transition="in" filter="wipe(left)">
                                      <p:cBhvr>
                                        <p:cTn id="32" dur="500"/>
                                        <p:tgtEl>
                                          <p:spTgt spid="63491">
                                            <p:txEl>
                                              <p:charRg st="18" end="43"/>
                                            </p:txEl>
                                          </p:spTgt>
                                        </p:tgtEl>
                                      </p:cBhvr>
                                    </p:animEffect>
                                  </p:childTnLst>
                                </p:cTn>
                              </p:par>
                              <p:par>
                                <p:cTn id="33" presetID="22" presetClass="entr" presetSubtype="8" fill="hold" nodeType="withEffect">
                                  <p:stCondLst>
                                    <p:cond delay="0"/>
                                  </p:stCondLst>
                                  <p:childTnLst>
                                    <p:set>
                                      <p:cBhvr>
                                        <p:cTn id="34" dur="1" fill="hold">
                                          <p:stCondLst>
                                            <p:cond delay="0"/>
                                          </p:stCondLst>
                                        </p:cTn>
                                        <p:tgtEl>
                                          <p:spTgt spid="63492"/>
                                        </p:tgtEl>
                                        <p:attrNameLst>
                                          <p:attrName>style.visibility</p:attrName>
                                        </p:attrNameLst>
                                      </p:cBhvr>
                                      <p:to>
                                        <p:strVal val="visible"/>
                                      </p:to>
                                    </p:set>
                                    <p:animEffect transition="in" filter="wipe(left)">
                                      <p:cBhvr>
                                        <p:cTn id="35" dur="500"/>
                                        <p:tgtEl>
                                          <p:spTgt spid="6349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63494"/>
                                        </p:tgtEl>
                                        <p:attrNameLst>
                                          <p:attrName>style.visibility</p:attrName>
                                        </p:attrNameLst>
                                      </p:cBhvr>
                                      <p:to>
                                        <p:strVal val="visible"/>
                                      </p:to>
                                    </p:set>
                                    <p:animEffect transition="in" filter="wipe(left)">
                                      <p:cBhvr>
                                        <p:cTn id="40" dur="500"/>
                                        <p:tgtEl>
                                          <p:spTgt spid="63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bldLvl="0" animBg="1"/>
      <p:bldP spid="63493" grpId="1" bldLvl="0" animBg="1"/>
      <p:bldP spid="6349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title" idx="4294967295"/>
          </p:nvPr>
        </p:nvSpPr>
        <p:spPr>
          <a:xfrm>
            <a:off x="890588" y="908050"/>
            <a:ext cx="7793037" cy="720725"/>
          </a:xfrm>
        </p:spPr>
        <p:txBody>
          <a:bodyPr vert="horz" wrap="square" lIns="91440" tIns="45720" rIns="91440" bIns="45720" anchor="ctr" anchorCtr="0"/>
          <a:p>
            <a:pPr eaLnBrk="1" hangingPunct="1"/>
            <a:r>
              <a:rPr lang="zh-CN" altLang="en-US" dirty="0">
                <a:solidFill>
                  <a:srgbClr val="061E27"/>
                </a:solidFill>
                <a:latin typeface="宋体" panose="02010600030101010101" pitchFamily="2" charset="-122"/>
                <a:ea typeface="宋体" panose="02010600030101010101" pitchFamily="2" charset="-122"/>
              </a:rPr>
              <a:t>（</a:t>
            </a:r>
            <a:r>
              <a:rPr lang="en-US" altLang="zh-CN" dirty="0">
                <a:solidFill>
                  <a:srgbClr val="061E27"/>
                </a:solidFill>
                <a:latin typeface="宋体" panose="02010600030101010101" pitchFamily="2" charset="-122"/>
                <a:ea typeface="宋体" panose="02010600030101010101" pitchFamily="2" charset="-122"/>
              </a:rPr>
              <a:t>5</a:t>
            </a:r>
            <a:r>
              <a:rPr lang="zh-CN" altLang="en-US" dirty="0">
                <a:solidFill>
                  <a:srgbClr val="061E27"/>
                </a:solidFill>
                <a:latin typeface="宋体" panose="02010600030101010101" pitchFamily="2" charset="-122"/>
                <a:ea typeface="宋体" panose="02010600030101010101" pitchFamily="2" charset="-122"/>
              </a:rPr>
              <a:t>）</a:t>
            </a:r>
            <a:r>
              <a:rPr lang="en-US" altLang="zh-CN" dirty="0">
                <a:solidFill>
                  <a:srgbClr val="061E27"/>
                </a:solidFill>
                <a:latin typeface="宋体" panose="02010600030101010101" pitchFamily="2" charset="-122"/>
                <a:ea typeface="宋体" panose="02010600030101010101" pitchFamily="2" charset="-122"/>
              </a:rPr>
              <a:t>CMP</a:t>
            </a:r>
            <a:r>
              <a:rPr lang="zh-CN" altLang="en-US" dirty="0">
                <a:solidFill>
                  <a:srgbClr val="061E27"/>
                </a:solidFill>
                <a:latin typeface="宋体" panose="02010600030101010101" pitchFamily="2" charset="-122"/>
                <a:ea typeface="宋体" panose="02010600030101010101" pitchFamily="2" charset="-122"/>
              </a:rPr>
              <a:t>指令</a:t>
            </a:r>
            <a:endParaRPr lang="zh-CN" altLang="en-US" dirty="0">
              <a:solidFill>
                <a:srgbClr val="061E27"/>
              </a:solidFill>
              <a:latin typeface="宋体" panose="02010600030101010101" pitchFamily="2" charset="-122"/>
              <a:ea typeface="宋体" panose="02010600030101010101" pitchFamily="2" charset="-122"/>
            </a:endParaRPr>
          </a:p>
        </p:txBody>
      </p:sp>
      <p:sp>
        <p:nvSpPr>
          <p:cNvPr id="64515" name="Rectangle 3"/>
          <p:cNvSpPr>
            <a:spLocks noGrp="1"/>
          </p:cNvSpPr>
          <p:nvPr>
            <p:ph type="body" idx="4294967295"/>
          </p:nvPr>
        </p:nvSpPr>
        <p:spPr>
          <a:xfrm>
            <a:off x="1042988" y="1628775"/>
            <a:ext cx="4249737" cy="1944688"/>
          </a:xfrm>
        </p:spPr>
        <p:txBody>
          <a:bodyPr vert="horz" wrap="square" lIns="91440" tIns="45720" rIns="91440" bIns="45720" anchor="t" anchorCtr="0"/>
          <a:p>
            <a:pPr eaLnBrk="1" hangingPunct="1">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格式：</a:t>
            </a:r>
            <a:endParaRPr lang="zh-CN" altLang="en-US" sz="2400" dirty="0">
              <a:latin typeface="宋体" panose="02010600030101010101" pitchFamily="2" charset="-122"/>
              <a:ea typeface="宋体" panose="02010600030101010101" pitchFamily="2" charset="-122"/>
            </a:endParaRPr>
          </a:p>
          <a:p>
            <a:pPr lvl="1" eaLnBrk="1" hangingPunct="1">
              <a:buFont typeface="Wingdings" panose="05000000000000000000" pitchFamily="2" charset="2"/>
              <a:buChar char="•"/>
            </a:pPr>
            <a:r>
              <a:rPr lang="en-US" altLang="zh-CN" dirty="0">
                <a:latin typeface="宋体" panose="02010600030101010101" pitchFamily="2" charset="-122"/>
                <a:ea typeface="宋体" panose="02010600030101010101" pitchFamily="2" charset="-122"/>
              </a:rPr>
              <a:t>CMP  OPRD1，OPRD2</a:t>
            </a:r>
            <a:endParaRPr lang="en-US" altLang="zh-CN"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操作：</a:t>
            </a:r>
            <a:endParaRPr lang="zh-CN" altLang="en-US" sz="2400" dirty="0">
              <a:latin typeface="宋体" panose="02010600030101010101" pitchFamily="2" charset="-122"/>
              <a:ea typeface="宋体" panose="02010600030101010101" pitchFamily="2" charset="-122"/>
            </a:endParaRPr>
          </a:p>
          <a:p>
            <a:pPr lvl="1" eaLnBrk="1" hangingPunct="1"/>
            <a:r>
              <a:rPr lang="en-US" altLang="zh-CN" dirty="0">
                <a:latin typeface="宋体" panose="02010600030101010101" pitchFamily="2" charset="-122"/>
                <a:ea typeface="宋体" panose="02010600030101010101" pitchFamily="2" charset="-122"/>
              </a:rPr>
              <a:t>OPRD1- OPRD2  </a:t>
            </a:r>
            <a:r>
              <a:rPr lang="en-US" altLang="zh-CN" dirty="0">
                <a:ea typeface="宋体" panose="02010600030101010101" pitchFamily="2" charset="-122"/>
              </a:rPr>
              <a:t>  </a:t>
            </a:r>
            <a:endParaRPr lang="zh-CN" altLang="en-US" dirty="0">
              <a:ea typeface="宋体" panose="02010600030101010101" pitchFamily="2" charset="-122"/>
            </a:endParaRPr>
          </a:p>
        </p:txBody>
      </p:sp>
      <p:sp>
        <p:nvSpPr>
          <p:cNvPr id="64516" name="Rectangle 3"/>
          <p:cNvSpPr txBox="1"/>
          <p:nvPr/>
        </p:nvSpPr>
        <p:spPr>
          <a:xfrm>
            <a:off x="1042988" y="3582988"/>
            <a:ext cx="7772400" cy="1862137"/>
          </a:xfrm>
          <a:prstGeom prst="rect">
            <a:avLst/>
          </a:prstGeom>
          <a:noFill/>
          <a:ln w="9525">
            <a:noFill/>
          </a:ln>
        </p:spPr>
        <p:txBody>
          <a:bodyPr/>
          <a:p>
            <a:pPr marL="342900" indent="-342900">
              <a:spcBef>
                <a:spcPct val="10000"/>
              </a:spcBef>
              <a:spcAft>
                <a:spcPct val="15000"/>
              </a:spcAft>
              <a:buClr>
                <a:schemeClr val="hlink"/>
              </a:buClr>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用途：用于比较两个数的大小，可作为条件转移指令转移的条件</a:t>
            </a:r>
            <a:endParaRPr lang="en-US" altLang="zh-CN" sz="2400" dirty="0">
              <a:latin typeface="宋体" panose="02010600030101010101" pitchFamily="2" charset="-122"/>
              <a:ea typeface="宋体" panose="02010600030101010101" pitchFamily="2" charset="-122"/>
            </a:endParaRPr>
          </a:p>
          <a:p>
            <a:pPr marL="342900" indent="-342900">
              <a:spcBef>
                <a:spcPct val="10000"/>
              </a:spcBef>
              <a:spcAft>
                <a:spcPct val="15000"/>
              </a:spcAft>
              <a:buClr>
                <a:schemeClr val="hlink"/>
              </a:buClr>
              <a:buFont typeface="Wingdings" panose="05000000000000000000" pitchFamily="2" charset="2"/>
              <a:buChar char="Ø"/>
            </a:pPr>
            <a:r>
              <a:rPr lang="zh-CN" altLang="en-US" sz="2400" dirty="0">
                <a:solidFill>
                  <a:srgbClr val="FF0000"/>
                </a:solidFill>
                <a:latin typeface="宋体" panose="02010600030101010101" pitchFamily="2" charset="-122"/>
                <a:ea typeface="宋体" panose="02010600030101010101" pitchFamily="2" charset="-122"/>
              </a:rPr>
              <a:t>指令执行的结果不影响目标操作数，仅影响标志位！</a:t>
            </a:r>
            <a:endParaRPr lang="en-US" altLang="zh-CN" sz="2400" dirty="0">
              <a:latin typeface="宋体" panose="02010600030101010101" pitchFamily="2" charset="-122"/>
              <a:ea typeface="宋体" panose="02010600030101010101" pitchFamily="2" charset="-122"/>
            </a:endParaRPr>
          </a:p>
          <a:p>
            <a:pPr marL="342900" indent="-342900">
              <a:spcBef>
                <a:spcPct val="10000"/>
              </a:spcBef>
              <a:spcAft>
                <a:spcPct val="15000"/>
              </a:spcAft>
              <a:buClr>
                <a:schemeClr val="hlink"/>
              </a:buClr>
              <a:buFont typeface="Wingdings" panose="05000000000000000000" pitchFamily="2" charset="2"/>
              <a:buChar char="Ø"/>
            </a:pPr>
            <a:r>
              <a:rPr lang="zh-CN" altLang="en-US" sz="2400" dirty="0">
                <a:solidFill>
                  <a:srgbClr val="FF0000"/>
                </a:solidFill>
                <a:latin typeface="宋体" panose="02010600030101010101" pitchFamily="2" charset="-122"/>
                <a:ea typeface="宋体" panose="02010600030101010101" pitchFamily="2" charset="-122"/>
              </a:rPr>
              <a:t>指令对操作数的要求及对标志位的影响与</a:t>
            </a:r>
            <a:r>
              <a:rPr lang="en-US" altLang="zh-CN" sz="2400" dirty="0">
                <a:solidFill>
                  <a:srgbClr val="FF0000"/>
                </a:solidFill>
                <a:latin typeface="宋体" panose="02010600030101010101" pitchFamily="2" charset="-122"/>
                <a:ea typeface="宋体" panose="02010600030101010101" pitchFamily="2" charset="-122"/>
              </a:rPr>
              <a:t>SUB</a:t>
            </a:r>
            <a:r>
              <a:rPr lang="zh-CN" altLang="en-US" sz="2400" dirty="0">
                <a:solidFill>
                  <a:srgbClr val="FF0000"/>
                </a:solidFill>
                <a:latin typeface="宋体" panose="02010600030101010101" pitchFamily="2" charset="-122"/>
                <a:ea typeface="宋体" panose="02010600030101010101" pitchFamily="2" charset="-122"/>
              </a:rPr>
              <a:t>指令相同</a:t>
            </a:r>
            <a:endParaRPr lang="zh-CN" altLang="en-US" sz="2400"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4515">
                                            <p:txEl>
                                              <p:charRg st="0" end="4"/>
                                            </p:txEl>
                                          </p:spTgt>
                                        </p:tgtEl>
                                        <p:attrNameLst>
                                          <p:attrName>style.visibility</p:attrName>
                                        </p:attrNameLst>
                                      </p:cBhvr>
                                      <p:to>
                                        <p:strVal val="visible"/>
                                      </p:to>
                                    </p:set>
                                    <p:animEffect transition="in" filter="wipe(left)">
                                      <p:cBhvr>
                                        <p:cTn id="7" dur="500"/>
                                        <p:tgtEl>
                                          <p:spTgt spid="64515">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4515">
                                            <p:txEl>
                                              <p:charRg st="4" end="21"/>
                                            </p:txEl>
                                          </p:spTgt>
                                        </p:tgtEl>
                                        <p:attrNameLst>
                                          <p:attrName>style.visibility</p:attrName>
                                        </p:attrNameLst>
                                      </p:cBhvr>
                                      <p:to>
                                        <p:strVal val="visible"/>
                                      </p:to>
                                    </p:set>
                                    <p:animEffect transition="in" filter="wipe(left)">
                                      <p:cBhvr>
                                        <p:cTn id="11" dur="500"/>
                                        <p:tgtEl>
                                          <p:spTgt spid="64515">
                                            <p:txEl>
                                              <p:charRg st="4" end="2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4515">
                                            <p:txEl>
                                              <p:charRg st="21" end="25"/>
                                            </p:txEl>
                                          </p:spTgt>
                                        </p:tgtEl>
                                        <p:attrNameLst>
                                          <p:attrName>style.visibility</p:attrName>
                                        </p:attrNameLst>
                                      </p:cBhvr>
                                      <p:to>
                                        <p:strVal val="visible"/>
                                      </p:to>
                                    </p:set>
                                    <p:animEffect transition="in" filter="wipe(left)">
                                      <p:cBhvr>
                                        <p:cTn id="16" dur="500"/>
                                        <p:tgtEl>
                                          <p:spTgt spid="64515">
                                            <p:txEl>
                                              <p:charRg st="21" end="2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4515">
                                            <p:txEl>
                                              <p:charRg st="25" end="42"/>
                                            </p:txEl>
                                          </p:spTgt>
                                        </p:tgtEl>
                                        <p:attrNameLst>
                                          <p:attrName>style.visibility</p:attrName>
                                        </p:attrNameLst>
                                      </p:cBhvr>
                                      <p:to>
                                        <p:strVal val="visible"/>
                                      </p:to>
                                    </p:set>
                                    <p:animEffect transition="in" filter="wipe(left)">
                                      <p:cBhvr>
                                        <p:cTn id="21" dur="500"/>
                                        <p:tgtEl>
                                          <p:spTgt spid="64515">
                                            <p:txEl>
                                              <p:charRg st="25" end="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3"/>
          <p:cNvSpPr>
            <a:spLocks noGrp="1"/>
          </p:cNvSpPr>
          <p:nvPr>
            <p:ph type="body" idx="4294967295"/>
          </p:nvPr>
        </p:nvSpPr>
        <p:spPr>
          <a:xfrm>
            <a:off x="1042988" y="3316288"/>
            <a:ext cx="5761037" cy="3571875"/>
          </a:xfrm>
        </p:spPr>
        <p:txBody>
          <a:bodyPr vert="horz" wrap="square" lIns="91440" tIns="45720" rIns="91440" bIns="45720" anchor="t" anchorCtr="0"/>
          <a:p>
            <a:pPr eaLnBrk="1" hangingPunct="1">
              <a:lnSpc>
                <a:spcPct val="115000"/>
              </a:lnSpc>
              <a:spcBef>
                <a:spcPct val="35000"/>
              </a:spcBef>
              <a:spcAft>
                <a:spcPct val="30000"/>
              </a:spcAft>
              <a:buFont typeface="Wingdings" panose="05000000000000000000" pitchFamily="2" charset="2"/>
              <a:buChar char="Ø"/>
            </a:pPr>
            <a:r>
              <a:rPr lang="zh-CN" altLang="en-US" b="0" dirty="0">
                <a:latin typeface="宋体" panose="02010600030101010101" pitchFamily="2" charset="-122"/>
                <a:ea typeface="宋体" panose="02010600030101010101" pitchFamily="2" charset="-122"/>
              </a:rPr>
              <a:t>两个带符号数的比较</a:t>
            </a:r>
            <a:endParaRPr lang="zh-CN" altLang="en-US" b="0" dirty="0">
              <a:latin typeface="宋体" panose="02010600030101010101" pitchFamily="2" charset="-122"/>
              <a:ea typeface="宋体" panose="02010600030101010101" pitchFamily="2" charset="-122"/>
            </a:endParaRPr>
          </a:p>
          <a:p>
            <a:pPr eaLnBrk="1" hangingPunct="1">
              <a:lnSpc>
                <a:spcPct val="115000"/>
              </a:lnSpc>
              <a:buNone/>
            </a:pPr>
            <a:r>
              <a:rPr lang="en-US" altLang="zh-CN" b="0" dirty="0">
                <a:latin typeface="宋体" panose="02010600030101010101" pitchFamily="2" charset="-122"/>
                <a:ea typeface="宋体" panose="02010600030101010101" pitchFamily="2" charset="-122"/>
              </a:rPr>
              <a:t>       CMP  AX，BX</a:t>
            </a:r>
            <a:endParaRPr lang="en-US" altLang="zh-CN" b="0" dirty="0">
              <a:latin typeface="宋体" panose="02010600030101010101" pitchFamily="2" charset="-122"/>
              <a:ea typeface="宋体" panose="02010600030101010101" pitchFamily="2" charset="-122"/>
            </a:endParaRPr>
          </a:p>
          <a:p>
            <a:pPr eaLnBrk="1" hangingPunct="1">
              <a:lnSpc>
                <a:spcPct val="115000"/>
              </a:lnSpc>
              <a:spcBef>
                <a:spcPct val="50000"/>
              </a:spcBef>
              <a:spcAft>
                <a:spcPct val="25000"/>
              </a:spcAft>
              <a:buNone/>
            </a:pPr>
            <a:r>
              <a:rPr lang="zh-CN" altLang="en-US" b="0" dirty="0">
                <a:latin typeface="宋体" panose="02010600030101010101" pitchFamily="2" charset="-122"/>
                <a:ea typeface="宋体" panose="02010600030101010101" pitchFamily="2" charset="-122"/>
              </a:rPr>
              <a:t>  </a:t>
            </a:r>
            <a:r>
              <a:rPr lang="zh-CN" altLang="en-US" b="0" dirty="0">
                <a:solidFill>
                  <a:srgbClr val="FF0000"/>
                </a:solidFill>
                <a:latin typeface="宋体" panose="02010600030101010101" pitchFamily="2" charset="-122"/>
                <a:ea typeface="宋体" panose="02010600030101010101" pitchFamily="2" charset="-122"/>
              </a:rPr>
              <a:t>两个数的大小由</a:t>
            </a:r>
            <a:r>
              <a:rPr lang="en-US" altLang="zh-CN" b="0" dirty="0">
                <a:solidFill>
                  <a:srgbClr val="FF0000"/>
                </a:solidFill>
                <a:latin typeface="宋体" panose="02010600030101010101" pitchFamily="2" charset="-122"/>
                <a:ea typeface="宋体" panose="02010600030101010101" pitchFamily="2" charset="-122"/>
              </a:rPr>
              <a:t>OF</a:t>
            </a:r>
            <a:r>
              <a:rPr lang="zh-CN" altLang="en-US" b="0" dirty="0">
                <a:solidFill>
                  <a:srgbClr val="FF0000"/>
                </a:solidFill>
                <a:latin typeface="宋体" panose="02010600030101010101" pitchFamily="2" charset="-122"/>
                <a:ea typeface="宋体" panose="02010600030101010101" pitchFamily="2" charset="-122"/>
              </a:rPr>
              <a:t>和</a:t>
            </a:r>
            <a:r>
              <a:rPr lang="en-US" altLang="zh-CN" b="0" dirty="0">
                <a:solidFill>
                  <a:srgbClr val="FF0000"/>
                </a:solidFill>
                <a:latin typeface="宋体" panose="02010600030101010101" pitchFamily="2" charset="-122"/>
                <a:ea typeface="宋体" panose="02010600030101010101" pitchFamily="2" charset="-122"/>
              </a:rPr>
              <a:t>SF</a:t>
            </a:r>
            <a:r>
              <a:rPr lang="zh-CN" altLang="en-US" b="0" dirty="0">
                <a:solidFill>
                  <a:srgbClr val="FF0000"/>
                </a:solidFill>
                <a:latin typeface="宋体" panose="02010600030101010101" pitchFamily="2" charset="-122"/>
                <a:ea typeface="宋体" panose="02010600030101010101" pitchFamily="2" charset="-122"/>
              </a:rPr>
              <a:t>共同决定</a:t>
            </a:r>
            <a:endParaRPr lang="zh-CN" altLang="en-US" b="0" dirty="0">
              <a:solidFill>
                <a:srgbClr val="FF0000"/>
              </a:solidFill>
              <a:latin typeface="宋体" panose="02010600030101010101" pitchFamily="2" charset="-122"/>
              <a:ea typeface="宋体" panose="02010600030101010101" pitchFamily="2" charset="-122"/>
            </a:endParaRPr>
          </a:p>
          <a:p>
            <a:pPr eaLnBrk="1" hangingPunct="1">
              <a:lnSpc>
                <a:spcPct val="115000"/>
              </a:lnSpc>
              <a:buNone/>
            </a:pPr>
            <a:r>
              <a:rPr lang="en-US" altLang="zh-CN" b="0" dirty="0">
                <a:latin typeface="宋体" panose="02010600030101010101" pitchFamily="2" charset="-122"/>
                <a:ea typeface="宋体" panose="02010600030101010101" pitchFamily="2" charset="-122"/>
              </a:rPr>
              <a:t>  </a:t>
            </a:r>
            <a:endParaRPr lang="zh-CN" altLang="en-US" b="0" dirty="0">
              <a:latin typeface="宋体" panose="02010600030101010101" pitchFamily="2" charset="-122"/>
              <a:ea typeface="宋体" panose="02010600030101010101" pitchFamily="2" charset="-122"/>
            </a:endParaRPr>
          </a:p>
        </p:txBody>
      </p:sp>
      <p:sp>
        <p:nvSpPr>
          <p:cNvPr id="65540" name="Rectangle 3"/>
          <p:cNvSpPr txBox="1"/>
          <p:nvPr/>
        </p:nvSpPr>
        <p:spPr>
          <a:xfrm>
            <a:off x="1042988" y="868363"/>
            <a:ext cx="5257800" cy="2447925"/>
          </a:xfrm>
          <a:prstGeom prst="rect">
            <a:avLst/>
          </a:prstGeom>
          <a:noFill/>
          <a:ln w="9525">
            <a:noFill/>
          </a:ln>
        </p:spPr>
        <p:txBody>
          <a:bodyPr/>
          <a:p>
            <a:pPr marL="342900" indent="-342900">
              <a:lnSpc>
                <a:spcPct val="115000"/>
              </a:lnSpc>
              <a:spcBef>
                <a:spcPct val="20000"/>
              </a:spcBef>
              <a:spcAft>
                <a:spcPct val="20000"/>
              </a:spcAft>
              <a:buClr>
                <a:schemeClr val="hlink"/>
              </a:buClr>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两个无符号数的比较</a:t>
            </a:r>
            <a:endParaRPr lang="zh-CN" altLang="en-US" sz="2800" dirty="0">
              <a:latin typeface="宋体" panose="02010600030101010101" pitchFamily="2" charset="-122"/>
              <a:ea typeface="宋体" panose="02010600030101010101" pitchFamily="2" charset="-122"/>
            </a:endParaRPr>
          </a:p>
          <a:p>
            <a:pPr marL="342900" indent="-342900">
              <a:lnSpc>
                <a:spcPct val="115000"/>
              </a:lnSpc>
              <a:spcBef>
                <a:spcPct val="20000"/>
              </a:spcBef>
              <a:buClr>
                <a:schemeClr val="hlink"/>
              </a:buClr>
              <a:buFont typeface="Wingdings" panose="05000000000000000000" pitchFamily="2" charset="2"/>
            </a:pPr>
            <a:r>
              <a:rPr lang="zh-CN" altLang="en-US" sz="2800" dirty="0">
                <a:latin typeface="宋体" panose="02010600030101010101" pitchFamily="2" charset="-122"/>
                <a:ea typeface="宋体" panose="02010600030101010101" pitchFamily="2" charset="-122"/>
              </a:rPr>
              <a:t>       </a:t>
            </a:r>
            <a:r>
              <a:rPr lang="en-US" altLang="zh-CN" sz="2800" dirty="0">
                <a:latin typeface="宋体" panose="02010600030101010101" pitchFamily="2" charset="-122"/>
                <a:ea typeface="宋体" panose="02010600030101010101" pitchFamily="2" charset="-122"/>
              </a:rPr>
              <a:t>CMP  AX，BX</a:t>
            </a:r>
            <a:endParaRPr lang="en-US" altLang="zh-CN" sz="2800" dirty="0">
              <a:latin typeface="宋体" panose="02010600030101010101" pitchFamily="2" charset="-122"/>
              <a:ea typeface="宋体" panose="02010600030101010101" pitchFamily="2" charset="-122"/>
            </a:endParaRPr>
          </a:p>
          <a:p>
            <a:pPr marL="342900" indent="-342900">
              <a:lnSpc>
                <a:spcPct val="115000"/>
              </a:lnSpc>
              <a:spcBef>
                <a:spcPct val="20000"/>
              </a:spcBef>
              <a:buClr>
                <a:schemeClr val="hlink"/>
              </a:buClr>
              <a:buFont typeface="Wingdings" panose="05000000000000000000" pitchFamily="2" charset="2"/>
            </a:pPr>
            <a:r>
              <a:rPr lang="en-US" altLang="zh-CN" sz="2800" dirty="0">
                <a:latin typeface="宋体" panose="02010600030101010101" pitchFamily="2" charset="-122"/>
                <a:ea typeface="宋体" panose="02010600030101010101" pitchFamily="2" charset="-122"/>
              </a:rPr>
              <a:t>   </a:t>
            </a:r>
            <a:r>
              <a:rPr lang="zh-CN" altLang="en-US" sz="2800" dirty="0">
                <a:latin typeface="宋体" panose="02010600030101010101" pitchFamily="2" charset="-122"/>
                <a:ea typeface="宋体" panose="02010600030101010101" pitchFamily="2" charset="-122"/>
              </a:rPr>
              <a:t>若  </a:t>
            </a:r>
            <a:r>
              <a:rPr lang="en-US" altLang="zh-CN" sz="2800" dirty="0">
                <a:latin typeface="宋体" panose="02010600030101010101" pitchFamily="2" charset="-122"/>
                <a:ea typeface="宋体" panose="02010600030101010101" pitchFamily="2" charset="-122"/>
              </a:rPr>
              <a:t>AX &gt; BX    CF=0</a:t>
            </a:r>
            <a:endParaRPr lang="en-US" altLang="zh-CN" sz="2800" dirty="0">
              <a:latin typeface="宋体" panose="02010600030101010101" pitchFamily="2" charset="-122"/>
              <a:ea typeface="宋体" panose="02010600030101010101" pitchFamily="2" charset="-122"/>
            </a:endParaRPr>
          </a:p>
          <a:p>
            <a:pPr marL="342900" indent="-342900">
              <a:lnSpc>
                <a:spcPct val="115000"/>
              </a:lnSpc>
              <a:spcBef>
                <a:spcPct val="20000"/>
              </a:spcBef>
              <a:buClr>
                <a:schemeClr val="hlink"/>
              </a:buClr>
              <a:buFont typeface="Wingdings" panose="05000000000000000000" pitchFamily="2" charset="2"/>
            </a:pPr>
            <a:r>
              <a:rPr lang="zh-CN" altLang="en-US" sz="2800" dirty="0">
                <a:latin typeface="宋体" panose="02010600030101010101" pitchFamily="2" charset="-122"/>
                <a:ea typeface="宋体" panose="02010600030101010101" pitchFamily="2" charset="-122"/>
              </a:rPr>
              <a:t>   若  </a:t>
            </a:r>
            <a:r>
              <a:rPr lang="en-US" altLang="zh-CN" sz="2800" dirty="0">
                <a:latin typeface="宋体" panose="02010600030101010101" pitchFamily="2" charset="-122"/>
                <a:ea typeface="宋体" panose="02010600030101010101" pitchFamily="2" charset="-122"/>
              </a:rPr>
              <a:t>AX &lt; BX    CF=1</a:t>
            </a:r>
            <a:endParaRPr lang="en-US" altLang="zh-CN" sz="2800" dirty="0">
              <a:latin typeface="宋体" panose="02010600030101010101" pitchFamily="2" charset="-122"/>
              <a:ea typeface="宋体" panose="02010600030101010101" pitchFamily="2" charset="-122"/>
            </a:endParaRPr>
          </a:p>
        </p:txBody>
      </p:sp>
      <p:sp>
        <p:nvSpPr>
          <p:cNvPr id="65541" name="左大括号 3"/>
          <p:cNvSpPr/>
          <p:nvPr/>
        </p:nvSpPr>
        <p:spPr bwMode="auto">
          <a:xfrm>
            <a:off x="684213" y="1268413"/>
            <a:ext cx="358775" cy="2376488"/>
          </a:xfrm>
          <a:prstGeom prst="leftBrace">
            <a:avLst>
              <a:gd name="adj1" fmla="val 8341"/>
              <a:gd name="adj2" fmla="val 50000"/>
            </a:avLst>
          </a:prstGeom>
          <a:noFill/>
          <a:ln w="6350" cmpd="sng">
            <a:solidFill>
              <a:schemeClr val="tx1"/>
            </a:solidFill>
            <a:round/>
          </a:ln>
        </p:spPr>
        <p:txBody>
          <a:bodyPr/>
          <a:lstStyle>
            <a:lvl1pPr>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hlink"/>
              </a:buClr>
              <a:buFont typeface="Wingdings" panose="05000000000000000000" pitchFamily="2" charset="2"/>
              <a:buChar char="§"/>
              <a:defRPr sz="2400" b="1">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200" b="1">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5542" name="文本框 4"/>
          <p:cNvSpPr txBox="1"/>
          <p:nvPr/>
        </p:nvSpPr>
        <p:spPr>
          <a:xfrm>
            <a:off x="107950" y="1773238"/>
            <a:ext cx="576263" cy="1568450"/>
          </a:xfrm>
          <a:prstGeom prst="rect">
            <a:avLst/>
          </a:prstGeom>
          <a:noFill/>
          <a:ln w="9525">
            <a:noFill/>
          </a:ln>
        </p:spPr>
        <p:txBody>
          <a:bodyPr>
            <a:spAutoFit/>
          </a:bodyPr>
          <a:p>
            <a:pPr eaLnBrk="0" hangingPunct="0">
              <a:buFont typeface="Wingdings" panose="05000000000000000000" pitchFamily="2" charset="2"/>
            </a:pPr>
            <a:r>
              <a:rPr lang="zh-CN" altLang="en-US" sz="2400" dirty="0">
                <a:solidFill>
                  <a:srgbClr val="FF0000"/>
                </a:solidFill>
                <a:latin typeface="宋体" panose="02010600030101010101" pitchFamily="2" charset="-122"/>
                <a:ea typeface="宋体" panose="02010600030101010101" pitchFamily="2" charset="-122"/>
              </a:rPr>
              <a:t>不等关系</a:t>
            </a:r>
            <a:endParaRPr lang="zh-CN" altLang="en-US" sz="2400" dirty="0">
              <a:solidFill>
                <a:srgbClr val="FF0000"/>
              </a:solidFill>
              <a:latin typeface="宋体" panose="02010600030101010101" pitchFamily="2" charset="-122"/>
              <a:ea typeface="宋体" panose="02010600030101010101" pitchFamily="2" charset="-122"/>
            </a:endParaRPr>
          </a:p>
        </p:txBody>
      </p:sp>
      <p:sp>
        <p:nvSpPr>
          <p:cNvPr id="65543" name="文本框 5"/>
          <p:cNvSpPr txBox="1"/>
          <p:nvPr/>
        </p:nvSpPr>
        <p:spPr>
          <a:xfrm>
            <a:off x="6084888" y="1671638"/>
            <a:ext cx="2705100" cy="1570037"/>
          </a:xfrm>
          <a:prstGeom prst="rect">
            <a:avLst/>
          </a:prstGeom>
          <a:noFill/>
          <a:ln w="19050" cap="flat" cmpd="sng">
            <a:solidFill>
              <a:schemeClr val="tx1"/>
            </a:solidFill>
            <a:prstDash val="solid"/>
            <a:miter/>
            <a:headEnd type="none" w="med" len="med"/>
            <a:tailEnd type="none" w="med" len="med"/>
          </a:ln>
        </p:spPr>
        <p:txBody>
          <a:bodyPr>
            <a:spAutoFit/>
          </a:bodyPr>
          <a:p>
            <a:pPr eaLnBrk="0" hangingPunct="0">
              <a:buFont typeface="Wingdings" panose="05000000000000000000" pitchFamily="2" charset="2"/>
            </a:pPr>
            <a:r>
              <a:rPr lang="zh-CN" altLang="en-US" sz="2400" dirty="0">
                <a:latin typeface="宋体" panose="02010600030101010101" pitchFamily="2" charset="-122"/>
                <a:ea typeface="宋体" panose="02010600030101010101" pitchFamily="2" charset="-122"/>
              </a:rPr>
              <a:t>根据</a:t>
            </a:r>
            <a:r>
              <a:rPr lang="en-US" altLang="zh-CN" sz="2400" dirty="0">
                <a:latin typeface="宋体" panose="02010600030101010101" pitchFamily="2" charset="-122"/>
                <a:ea typeface="宋体" panose="02010600030101010101" pitchFamily="2" charset="-122"/>
              </a:rPr>
              <a:t>ZF</a:t>
            </a:r>
            <a:r>
              <a:rPr lang="zh-CN" altLang="en-US" sz="2400" dirty="0">
                <a:latin typeface="宋体" panose="02010600030101010101" pitchFamily="2" charset="-122"/>
                <a:ea typeface="宋体" panose="02010600030101010101" pitchFamily="2" charset="-122"/>
              </a:rPr>
              <a:t>状态判断。如果</a:t>
            </a:r>
            <a:r>
              <a:rPr lang="en-US" altLang="zh-CN" sz="2400" dirty="0">
                <a:latin typeface="宋体" panose="02010600030101010101" pitchFamily="2" charset="-122"/>
                <a:ea typeface="宋体" panose="02010600030101010101" pitchFamily="2" charset="-122"/>
              </a:rPr>
              <a:t>ZF=1</a:t>
            </a:r>
            <a:r>
              <a:rPr lang="zh-CN" altLang="en-US" sz="2400" dirty="0">
                <a:latin typeface="宋体" panose="02010600030101010101" pitchFamily="2" charset="-122"/>
                <a:ea typeface="宋体" panose="02010600030101010101" pitchFamily="2" charset="-122"/>
              </a:rPr>
              <a:t>，则两个操作数相等，否则不相等。</a:t>
            </a:r>
            <a:endParaRPr lang="zh-CN" altLang="en-US" sz="2400" dirty="0">
              <a:latin typeface="宋体" panose="02010600030101010101" pitchFamily="2" charset="-122"/>
              <a:ea typeface="宋体" panose="02010600030101010101" pitchFamily="2" charset="-122"/>
            </a:endParaRPr>
          </a:p>
        </p:txBody>
      </p:sp>
      <p:sp>
        <p:nvSpPr>
          <p:cNvPr id="65544" name="文本框 7"/>
          <p:cNvSpPr txBox="1"/>
          <p:nvPr/>
        </p:nvSpPr>
        <p:spPr>
          <a:xfrm>
            <a:off x="5446713" y="1803400"/>
            <a:ext cx="554037" cy="1512888"/>
          </a:xfrm>
          <a:prstGeom prst="rect">
            <a:avLst/>
          </a:prstGeom>
          <a:noFill/>
          <a:ln w="9525">
            <a:noFill/>
          </a:ln>
        </p:spPr>
        <p:txBody>
          <a:bodyPr vert="eaVert">
            <a:spAutoFit/>
          </a:bodyPr>
          <a:p>
            <a:pPr eaLnBrk="0" hangingPunct="0">
              <a:buFont typeface="Wingdings" panose="05000000000000000000" pitchFamily="2" charset="2"/>
            </a:pPr>
            <a:r>
              <a:rPr lang="zh-CN" altLang="en-US" sz="2400" dirty="0">
                <a:solidFill>
                  <a:srgbClr val="FF0000"/>
                </a:solidFill>
                <a:latin typeface="宋体" panose="02010600030101010101" pitchFamily="2" charset="-122"/>
                <a:ea typeface="宋体" panose="02010600030101010101" pitchFamily="2" charset="-122"/>
              </a:rPr>
              <a:t>相等关系</a:t>
            </a:r>
            <a:endParaRPr lang="zh-CN" altLang="en-US" sz="2400"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5538">
                                            <p:txEl>
                                              <p:charRg st="0" end="10"/>
                                            </p:txEl>
                                          </p:spTgt>
                                        </p:tgtEl>
                                        <p:attrNameLst>
                                          <p:attrName>style.visibility</p:attrName>
                                        </p:attrNameLst>
                                      </p:cBhvr>
                                      <p:to>
                                        <p:strVal val="visible"/>
                                      </p:to>
                                    </p:set>
                                    <p:animEffect transition="in" filter="wipe(left)">
                                      <p:cBhvr>
                                        <p:cTn id="7" dur="500"/>
                                        <p:tgtEl>
                                          <p:spTgt spid="65538">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5538">
                                            <p:txEl>
                                              <p:charRg st="10" end="28"/>
                                            </p:txEl>
                                          </p:spTgt>
                                        </p:tgtEl>
                                        <p:attrNameLst>
                                          <p:attrName>style.visibility</p:attrName>
                                        </p:attrNameLst>
                                      </p:cBhvr>
                                      <p:to>
                                        <p:strVal val="visible"/>
                                      </p:to>
                                    </p:set>
                                    <p:animEffect transition="in" filter="wipe(left)">
                                      <p:cBhvr>
                                        <p:cTn id="12" dur="500"/>
                                        <p:tgtEl>
                                          <p:spTgt spid="65538">
                                            <p:txEl>
                                              <p:charRg st="10" end="2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5538">
                                            <p:txEl>
                                              <p:charRg st="28" end="47"/>
                                            </p:txEl>
                                          </p:spTgt>
                                        </p:tgtEl>
                                        <p:attrNameLst>
                                          <p:attrName>style.visibility</p:attrName>
                                        </p:attrNameLst>
                                      </p:cBhvr>
                                      <p:to>
                                        <p:strVal val="visible"/>
                                      </p:to>
                                    </p:set>
                                    <p:animEffect transition="in" filter="wipe(left)">
                                      <p:cBhvr>
                                        <p:cTn id="17" dur="500"/>
                                        <p:tgtEl>
                                          <p:spTgt spid="65538">
                                            <p:txEl>
                                              <p:charRg st="28" end="4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5538">
                                            <p:txEl>
                                              <p:charRg st="47" end="73"/>
                                            </p:txEl>
                                          </p:spTgt>
                                        </p:tgtEl>
                                        <p:attrNameLst>
                                          <p:attrName>style.visibility</p:attrName>
                                        </p:attrNameLst>
                                      </p:cBhvr>
                                      <p:to>
                                        <p:strVal val="visible"/>
                                      </p:to>
                                    </p:set>
                                    <p:animEffect transition="in" filter="wipe(left)">
                                      <p:cBhvr>
                                        <p:cTn id="22" dur="500"/>
                                        <p:tgtEl>
                                          <p:spTgt spid="65538">
                                            <p:txEl>
                                              <p:charRg st="47" end="73"/>
                                            </p:txEl>
                                          </p:spTgt>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65540">
                                            <p:txEl>
                                              <p:charRg st="0" end="10"/>
                                            </p:txEl>
                                          </p:spTgt>
                                        </p:tgtEl>
                                        <p:attrNameLst>
                                          <p:attrName>style.visibility</p:attrName>
                                        </p:attrNameLst>
                                      </p:cBhvr>
                                      <p:to>
                                        <p:strVal val="visible"/>
                                      </p:to>
                                    </p:set>
                                    <p:animEffect transition="in" filter="wipe(left)">
                                      <p:cBhvr>
                                        <p:cTn id="26" dur="500"/>
                                        <p:tgtEl>
                                          <p:spTgt spid="65540">
                                            <p:txEl>
                                              <p:charRg st="0" end="1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65540">
                                            <p:txEl>
                                              <p:charRg st="10" end="28"/>
                                            </p:txEl>
                                          </p:spTgt>
                                        </p:tgtEl>
                                        <p:attrNameLst>
                                          <p:attrName>style.visibility</p:attrName>
                                        </p:attrNameLst>
                                      </p:cBhvr>
                                      <p:to>
                                        <p:strVal val="visible"/>
                                      </p:to>
                                    </p:set>
                                    <p:animEffect transition="in" filter="wipe(left)">
                                      <p:cBhvr>
                                        <p:cTn id="31" dur="500"/>
                                        <p:tgtEl>
                                          <p:spTgt spid="65540">
                                            <p:txEl>
                                              <p:charRg st="10" end="2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65540">
                                            <p:txEl>
                                              <p:charRg st="28" end="50"/>
                                            </p:txEl>
                                          </p:spTgt>
                                        </p:tgtEl>
                                        <p:attrNameLst>
                                          <p:attrName>style.visibility</p:attrName>
                                        </p:attrNameLst>
                                      </p:cBhvr>
                                      <p:to>
                                        <p:strVal val="visible"/>
                                      </p:to>
                                    </p:set>
                                    <p:animEffect transition="in" filter="wipe(left)">
                                      <p:cBhvr>
                                        <p:cTn id="36" dur="500"/>
                                        <p:tgtEl>
                                          <p:spTgt spid="65540">
                                            <p:txEl>
                                              <p:charRg st="28" end="5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65540">
                                            <p:txEl>
                                              <p:charRg st="50" end="72"/>
                                            </p:txEl>
                                          </p:spTgt>
                                        </p:tgtEl>
                                        <p:attrNameLst>
                                          <p:attrName>style.visibility</p:attrName>
                                        </p:attrNameLst>
                                      </p:cBhvr>
                                      <p:to>
                                        <p:strVal val="visible"/>
                                      </p:to>
                                    </p:set>
                                    <p:animEffect transition="in" filter="wipe(left)">
                                      <p:cBhvr>
                                        <p:cTn id="41" dur="500"/>
                                        <p:tgtEl>
                                          <p:spTgt spid="65540">
                                            <p:txEl>
                                              <p:charRg st="50" end="7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文本框 1"/>
          <p:cNvSpPr txBox="1"/>
          <p:nvPr/>
        </p:nvSpPr>
        <p:spPr>
          <a:xfrm>
            <a:off x="523875" y="1211263"/>
            <a:ext cx="7927975" cy="3017837"/>
          </a:xfrm>
          <a:prstGeom prst="rect">
            <a:avLst/>
          </a:prstGeom>
          <a:noFill/>
          <a:ln w="9525">
            <a:noFill/>
          </a:ln>
        </p:spPr>
        <p:txBody>
          <a:bodyPr>
            <a:spAutoFit/>
          </a:bodyPr>
          <a:p>
            <a:pPr>
              <a:lnSpc>
                <a:spcPct val="200000"/>
              </a:lnSpc>
              <a:buNone/>
            </a:pPr>
            <a:r>
              <a:rPr lang="zh-CN" altLang="en-US" sz="2400" b="1" dirty="0">
                <a:latin typeface="Arial" panose="020B0604020202020204" pitchFamily="34" charset="0"/>
                <a:ea typeface="宋体" panose="02010600030101010101" pitchFamily="2" charset="-122"/>
              </a:rPr>
              <a:t>若SF=0，OF=0 则说明结果为正数，没有溢出，</a:t>
            </a:r>
            <a:r>
              <a:rPr lang="en-US" altLang="zh-CN" sz="2400" b="1" dirty="0">
                <a:latin typeface="Arial" panose="020B0604020202020204" pitchFamily="34" charset="0"/>
                <a:ea typeface="宋体" panose="02010600030101010101" pitchFamily="2" charset="-122"/>
              </a:rPr>
              <a:t>AX</a:t>
            </a:r>
            <a:r>
              <a:rPr lang="zh-CN" altLang="en-US" sz="2400" b="1" dirty="0">
                <a:latin typeface="Arial" panose="020B0604020202020204" pitchFamily="34" charset="0"/>
                <a:ea typeface="宋体" panose="02010600030101010101" pitchFamily="2" charset="-122"/>
              </a:rPr>
              <a:t>&gt;</a:t>
            </a:r>
            <a:r>
              <a:rPr lang="en-US" altLang="zh-CN" sz="2400" b="1" dirty="0">
                <a:latin typeface="Arial" panose="020B0604020202020204" pitchFamily="34" charset="0"/>
                <a:ea typeface="宋体" panose="02010600030101010101" pitchFamily="2" charset="-122"/>
              </a:rPr>
              <a:t>BX</a:t>
            </a:r>
            <a:endParaRPr lang="en-US" altLang="zh-CN" sz="2400" b="1" dirty="0">
              <a:latin typeface="Arial" panose="020B0604020202020204" pitchFamily="34" charset="0"/>
              <a:ea typeface="宋体" panose="02010600030101010101" pitchFamily="2" charset="-122"/>
            </a:endParaRPr>
          </a:p>
          <a:p>
            <a:pPr>
              <a:lnSpc>
                <a:spcPct val="200000"/>
              </a:lnSpc>
              <a:buNone/>
            </a:pPr>
            <a:r>
              <a:rPr lang="zh-CN" altLang="en-US" sz="2400" b="1" dirty="0">
                <a:latin typeface="Arial" panose="020B0604020202020204" pitchFamily="34" charset="0"/>
                <a:ea typeface="宋体" panose="02010600030101010101" pitchFamily="2" charset="-122"/>
              </a:rPr>
              <a:t>若SF=1，OF=0 则说明结果为负数，没有溢出，</a:t>
            </a:r>
            <a:r>
              <a:rPr lang="en-US" altLang="zh-CN" sz="2400" b="1" dirty="0">
                <a:latin typeface="Arial" panose="020B0604020202020204" pitchFamily="34" charset="0"/>
                <a:ea typeface="宋体" panose="02010600030101010101" pitchFamily="2" charset="-122"/>
              </a:rPr>
              <a:t>AX</a:t>
            </a:r>
            <a:r>
              <a:rPr lang="zh-CN" altLang="en-US" sz="2400" b="1" dirty="0">
                <a:latin typeface="Arial" panose="020B0604020202020204" pitchFamily="34" charset="0"/>
                <a:ea typeface="宋体" panose="02010600030101010101" pitchFamily="2" charset="-122"/>
              </a:rPr>
              <a:t>&lt;</a:t>
            </a:r>
            <a:r>
              <a:rPr lang="en-US" altLang="zh-CN" sz="2400" b="1" dirty="0">
                <a:latin typeface="Arial" panose="020B0604020202020204" pitchFamily="34" charset="0"/>
                <a:ea typeface="宋体" panose="02010600030101010101" pitchFamily="2" charset="-122"/>
              </a:rPr>
              <a:t>BX</a:t>
            </a:r>
            <a:endParaRPr lang="en-US" altLang="zh-CN" sz="2400" b="1" dirty="0">
              <a:latin typeface="Arial" panose="020B0604020202020204" pitchFamily="34" charset="0"/>
              <a:ea typeface="宋体" panose="02010600030101010101" pitchFamily="2" charset="-122"/>
            </a:endParaRPr>
          </a:p>
          <a:p>
            <a:pPr>
              <a:lnSpc>
                <a:spcPct val="200000"/>
              </a:lnSpc>
              <a:buNone/>
            </a:pPr>
            <a:r>
              <a:rPr lang="zh-CN" altLang="en-US" sz="2400" b="1" dirty="0">
                <a:latin typeface="Arial" panose="020B0604020202020204" pitchFamily="34" charset="0"/>
                <a:ea typeface="宋体" panose="02010600030101010101" pitchFamily="2" charset="-122"/>
              </a:rPr>
              <a:t>若SF=0，OF=1 则说明结果为正数，发生溢出，</a:t>
            </a:r>
            <a:r>
              <a:rPr lang="en-US" altLang="zh-CN" sz="2400" b="1" dirty="0">
                <a:latin typeface="Arial" panose="020B0604020202020204" pitchFamily="34" charset="0"/>
                <a:ea typeface="宋体" panose="02010600030101010101" pitchFamily="2" charset="-122"/>
              </a:rPr>
              <a:t>AX</a:t>
            </a:r>
            <a:r>
              <a:rPr lang="zh-CN" altLang="en-US" sz="2400" b="1" dirty="0">
                <a:latin typeface="Arial" panose="020B0604020202020204" pitchFamily="34" charset="0"/>
                <a:ea typeface="宋体" panose="02010600030101010101" pitchFamily="2" charset="-122"/>
              </a:rPr>
              <a:t>&lt;</a:t>
            </a:r>
            <a:r>
              <a:rPr lang="en-US" altLang="zh-CN" sz="2400" b="1" dirty="0">
                <a:latin typeface="Arial" panose="020B0604020202020204" pitchFamily="34" charset="0"/>
                <a:ea typeface="宋体" panose="02010600030101010101" pitchFamily="2" charset="-122"/>
              </a:rPr>
              <a:t>BX</a:t>
            </a:r>
            <a:endParaRPr lang="en-US" altLang="zh-CN" sz="2400" b="1" dirty="0">
              <a:latin typeface="Arial" panose="020B0604020202020204" pitchFamily="34" charset="0"/>
              <a:ea typeface="宋体" panose="02010600030101010101" pitchFamily="2" charset="-122"/>
            </a:endParaRPr>
          </a:p>
          <a:p>
            <a:pPr>
              <a:lnSpc>
                <a:spcPct val="200000"/>
              </a:lnSpc>
              <a:buNone/>
            </a:pPr>
            <a:r>
              <a:rPr lang="zh-CN" altLang="en-US" sz="2400" b="1" dirty="0">
                <a:latin typeface="Arial" panose="020B0604020202020204" pitchFamily="34" charset="0"/>
                <a:ea typeface="宋体" panose="02010600030101010101" pitchFamily="2" charset="-122"/>
              </a:rPr>
              <a:t>若SF=1，OF=1 则说明结果为负数，发生溢出，</a:t>
            </a:r>
            <a:r>
              <a:rPr lang="en-US" altLang="zh-CN" sz="2400" b="1" dirty="0">
                <a:latin typeface="Arial" panose="020B0604020202020204" pitchFamily="34" charset="0"/>
                <a:ea typeface="宋体" panose="02010600030101010101" pitchFamily="2" charset="-122"/>
              </a:rPr>
              <a:t>AX</a:t>
            </a:r>
            <a:r>
              <a:rPr lang="zh-CN" altLang="en-US" sz="2400" b="1" dirty="0">
                <a:latin typeface="Arial" panose="020B0604020202020204" pitchFamily="34" charset="0"/>
                <a:ea typeface="宋体" panose="02010600030101010101" pitchFamily="2" charset="-122"/>
              </a:rPr>
              <a:t>&gt;</a:t>
            </a:r>
            <a:r>
              <a:rPr lang="en-US" altLang="zh-CN" sz="2400" b="1" dirty="0">
                <a:latin typeface="Arial" panose="020B0604020202020204" pitchFamily="34" charset="0"/>
                <a:ea typeface="宋体" panose="02010600030101010101" pitchFamily="2" charset="-122"/>
              </a:rPr>
              <a:t>BX</a:t>
            </a:r>
            <a:endParaRPr lang="en-US" altLang="zh-CN" sz="2400" b="1" dirty="0">
              <a:latin typeface="Arial" panose="020B0604020202020204" pitchFamily="34" charset="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1835785" y="4436745"/>
            <a:ext cx="4657725" cy="161925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3"/>
          <p:cNvSpPr>
            <a:spLocks noGrp="1"/>
          </p:cNvSpPr>
          <p:nvPr>
            <p:ph type="body" idx="4294967295"/>
          </p:nvPr>
        </p:nvSpPr>
        <p:spPr>
          <a:xfrm>
            <a:off x="119063" y="1041400"/>
            <a:ext cx="5329237" cy="5483225"/>
          </a:xfrm>
        </p:spPr>
        <p:txBody>
          <a:bodyPr vert="horz" wrap="square" lIns="91440" tIns="45720" rIns="91440" bIns="45720" anchor="t" anchorCtr="0"/>
          <a:p>
            <a:pPr eaLnBrk="1" hangingPunct="1">
              <a:buNone/>
            </a:pPr>
            <a:r>
              <a:rPr lang="en-US" altLang="zh-CN" dirty="0">
                <a:ea typeface="宋体" panose="02010600030101010101" pitchFamily="2" charset="-122"/>
              </a:rPr>
              <a:t>           </a:t>
            </a:r>
            <a:r>
              <a:rPr lang="en-US" altLang="zh-CN" sz="2400" dirty="0">
                <a:latin typeface="宋体" panose="02010600030101010101" pitchFamily="2" charset="-122"/>
                <a:ea typeface="宋体" panose="02010600030101010101" pitchFamily="2" charset="-122"/>
              </a:rPr>
              <a:t>LEA BX，MAX</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LEA SI，BUF</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MOV CL，20</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MOV AL，[SI]</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NEXT：INC   SI</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CMP AL，[SI]</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a:t>
            </a:r>
            <a:r>
              <a:rPr lang="en-US" altLang="zh-CN" sz="2400" dirty="0">
                <a:solidFill>
                  <a:srgbClr val="FF0000"/>
                </a:solidFill>
                <a:latin typeface="宋体" panose="02010600030101010101" pitchFamily="2" charset="-122"/>
                <a:ea typeface="宋体" panose="02010600030101010101" pitchFamily="2" charset="-122"/>
              </a:rPr>
              <a:t>JNC  GOON  </a:t>
            </a:r>
            <a:r>
              <a:rPr lang="en-US" altLang="zh-CN" sz="2400" dirty="0">
                <a:solidFill>
                  <a:srgbClr val="A50021"/>
                </a:solidFill>
                <a:latin typeface="宋体" panose="02010600030101010101" pitchFamily="2" charset="-122"/>
                <a:ea typeface="宋体" panose="02010600030101010101" pitchFamily="2" charset="-122"/>
              </a:rPr>
              <a:t>；CF=0</a:t>
            </a:r>
            <a:r>
              <a:rPr lang="zh-CN" altLang="en-US" sz="2400" dirty="0">
                <a:solidFill>
                  <a:srgbClr val="A50021"/>
                </a:solidFill>
                <a:latin typeface="宋体" panose="02010600030101010101" pitchFamily="2" charset="-122"/>
                <a:ea typeface="宋体" panose="02010600030101010101" pitchFamily="2" charset="-122"/>
              </a:rPr>
              <a:t>转移</a:t>
            </a:r>
            <a:endParaRPr lang="zh-CN" altLang="en-US" sz="2400" dirty="0">
              <a:solidFill>
                <a:srgbClr val="A50021"/>
              </a:solidFill>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XCHG  [SI]，AL</a:t>
            </a:r>
            <a:endParaRPr lang="en-US" altLang="zh-CN" sz="2400" dirty="0">
              <a:latin typeface="宋体" panose="02010600030101010101" pitchFamily="2" charset="-122"/>
              <a:ea typeface="宋体" panose="02010600030101010101" pitchFamily="2" charset="-122"/>
            </a:endParaRPr>
          </a:p>
          <a:p>
            <a:pPr>
              <a:lnSpc>
                <a:spcPct val="110000"/>
              </a:lnSpc>
              <a:buClr>
                <a:schemeClr val="accent2"/>
              </a:buClr>
              <a:buSzPct val="80000"/>
              <a:buNone/>
            </a:pPr>
            <a:r>
              <a:rPr lang="en-US" altLang="zh-CN" sz="2400" dirty="0">
                <a:latin typeface="宋体" panose="02010600030101010101" pitchFamily="2" charset="-122"/>
                <a:ea typeface="宋体" panose="02010600030101010101" pitchFamily="2" charset="-122"/>
              </a:rPr>
              <a:t>	 GOON：DEC  CL</a:t>
            </a:r>
            <a:endParaRPr lang="en-US" altLang="zh-CN" sz="2400" dirty="0">
              <a:latin typeface="宋体" panose="02010600030101010101" pitchFamily="2" charset="-122"/>
              <a:ea typeface="宋体" panose="02010600030101010101" pitchFamily="2" charset="-122"/>
            </a:endParaRPr>
          </a:p>
          <a:p>
            <a:pPr>
              <a:lnSpc>
                <a:spcPct val="110000"/>
              </a:lnSpc>
              <a:buClr>
                <a:schemeClr val="accent2"/>
              </a:buClr>
              <a:buSzPct val="80000"/>
              <a:buNone/>
            </a:pPr>
            <a:r>
              <a:rPr lang="en-US" altLang="zh-CN" sz="2400" dirty="0">
                <a:latin typeface="宋体" panose="02010600030101010101" pitchFamily="2" charset="-122"/>
                <a:ea typeface="宋体" panose="02010600030101010101" pitchFamily="2" charset="-122"/>
              </a:rPr>
              <a:t>         JNZ  NEXT</a:t>
            </a:r>
            <a:endParaRPr lang="en-US" altLang="zh-CN" sz="2400" dirty="0">
              <a:latin typeface="宋体" panose="02010600030101010101" pitchFamily="2" charset="-122"/>
              <a:ea typeface="宋体" panose="02010600030101010101" pitchFamily="2" charset="-122"/>
            </a:endParaRPr>
          </a:p>
          <a:p>
            <a:pPr>
              <a:lnSpc>
                <a:spcPct val="110000"/>
              </a:lnSpc>
              <a:buClr>
                <a:schemeClr val="accent2"/>
              </a:buClr>
              <a:buSzPct val="80000"/>
              <a:buNone/>
            </a:pPr>
            <a:r>
              <a:rPr lang="en-US" altLang="zh-CN" sz="2400" dirty="0">
                <a:latin typeface="宋体" panose="02010600030101010101" pitchFamily="2" charset="-122"/>
                <a:ea typeface="宋体" panose="02010600030101010101" pitchFamily="2" charset="-122"/>
              </a:rPr>
              <a:t>         MOV [BX]，AL</a:t>
            </a:r>
            <a:endParaRPr lang="en-US" altLang="zh-CN" sz="2400" dirty="0">
              <a:latin typeface="宋体" panose="02010600030101010101" pitchFamily="2" charset="-122"/>
              <a:ea typeface="宋体" panose="02010600030101010101" pitchFamily="2" charset="-122"/>
            </a:endParaRPr>
          </a:p>
          <a:p>
            <a:pPr>
              <a:lnSpc>
                <a:spcPct val="110000"/>
              </a:lnSpc>
              <a:buClr>
                <a:schemeClr val="accent2"/>
              </a:buClr>
              <a:buSzPct val="80000"/>
              <a:buNone/>
            </a:pPr>
            <a:r>
              <a:rPr lang="en-US" altLang="zh-CN" sz="2400" dirty="0">
                <a:latin typeface="宋体" panose="02010600030101010101" pitchFamily="2" charset="-122"/>
                <a:ea typeface="宋体" panose="02010600030101010101" pitchFamily="2" charset="-122"/>
              </a:rPr>
              <a:t>    HLT</a:t>
            </a:r>
            <a:endParaRPr lang="en-US" altLang="zh-CN" sz="2400" dirty="0">
              <a:latin typeface="宋体" panose="02010600030101010101" pitchFamily="2" charset="-122"/>
              <a:ea typeface="宋体" panose="02010600030101010101" pitchFamily="2" charset="-122"/>
            </a:endParaRPr>
          </a:p>
          <a:p>
            <a:pPr eaLnBrk="1" hangingPunct="1">
              <a:buNone/>
            </a:pPr>
            <a:endParaRPr lang="en-US" altLang="zh-CN" sz="2400" dirty="0">
              <a:ea typeface="宋体" panose="02010600030101010101" pitchFamily="2" charset="-122"/>
            </a:endParaRPr>
          </a:p>
        </p:txBody>
      </p:sp>
      <p:sp>
        <p:nvSpPr>
          <p:cNvPr id="67587" name="Rectangle 4"/>
          <p:cNvSpPr/>
          <p:nvPr/>
        </p:nvSpPr>
        <p:spPr>
          <a:xfrm>
            <a:off x="5383213" y="1809750"/>
            <a:ext cx="3581400" cy="2014538"/>
          </a:xfrm>
          <a:prstGeom prst="rect">
            <a:avLst/>
          </a:prstGeom>
          <a:noFill/>
          <a:ln w="9525">
            <a:noFill/>
          </a:ln>
        </p:spPr>
        <p:txBody>
          <a:bodyPr lIns="92075" tIns="46038" rIns="92075" bIns="46038"/>
          <a:p>
            <a:pPr marL="342900" indent="-342900" eaLnBrk="0" hangingPunct="0">
              <a:lnSpc>
                <a:spcPct val="110000"/>
              </a:lnSpc>
              <a:spcBef>
                <a:spcPct val="20000"/>
              </a:spcBef>
              <a:buClr>
                <a:schemeClr val="accent2"/>
              </a:buClr>
              <a:buSzPct val="80000"/>
              <a:buFont typeface="Wingdings" panose="05000000000000000000" pitchFamily="2" charset="2"/>
            </a:pPr>
            <a:endParaRPr lang="en-US" altLang="zh-CN" sz="2400" b="1" dirty="0">
              <a:latin typeface="宋体" panose="02010600030101010101" pitchFamily="2" charset="-122"/>
              <a:ea typeface="宋体" panose="02010600030101010101" pitchFamily="2" charset="-122"/>
            </a:endParaRPr>
          </a:p>
        </p:txBody>
      </p:sp>
      <p:sp>
        <p:nvSpPr>
          <p:cNvPr id="67588" name="Line 5"/>
          <p:cNvSpPr/>
          <p:nvPr/>
        </p:nvSpPr>
        <p:spPr>
          <a:xfrm flipH="1">
            <a:off x="5349875" y="1520825"/>
            <a:ext cx="14288" cy="2911475"/>
          </a:xfrm>
          <a:prstGeom prst="line">
            <a:avLst/>
          </a:prstGeom>
          <a:ln w="25400" cap="flat" cmpd="sng">
            <a:solidFill>
              <a:srgbClr val="FF6600"/>
            </a:solidFill>
            <a:prstDash val="dashDot"/>
            <a:headEnd type="none" w="med" len="med"/>
            <a:tailEnd type="none" w="med" len="med"/>
          </a:ln>
        </p:spPr>
      </p:sp>
      <p:sp>
        <p:nvSpPr>
          <p:cNvPr id="67589" name="标题 1"/>
          <p:cNvSpPr>
            <a:spLocks noGrp="1"/>
          </p:cNvSpPr>
          <p:nvPr>
            <p:ph type="title" idx="4294967295"/>
          </p:nvPr>
        </p:nvSpPr>
        <p:spPr>
          <a:xfrm>
            <a:off x="827088" y="1041400"/>
            <a:ext cx="1296987" cy="563563"/>
          </a:xfrm>
        </p:spPr>
        <p:txBody>
          <a:bodyPr vert="horz" wrap="square" lIns="91440" tIns="45720" rIns="91440" bIns="45720" anchor="ctr" anchorCtr="0"/>
          <a:p>
            <a:r>
              <a:rPr lang="zh-CN" altLang="en-US" dirty="0">
                <a:solidFill>
                  <a:srgbClr val="061E27"/>
                </a:solidFill>
                <a:latin typeface="宋体" panose="02010600030101010101" pitchFamily="2" charset="-122"/>
                <a:ea typeface="宋体" panose="02010600030101010101" pitchFamily="2" charset="-122"/>
              </a:rPr>
              <a:t>例：</a:t>
            </a:r>
            <a:endParaRPr lang="zh-CN" altLang="en-US" dirty="0">
              <a:solidFill>
                <a:srgbClr val="061E27"/>
              </a:solidFill>
              <a:latin typeface="宋体" panose="02010600030101010101" pitchFamily="2" charset="-122"/>
              <a:ea typeface="宋体" panose="02010600030101010101" pitchFamily="2" charset="-122"/>
            </a:endParaRPr>
          </a:p>
        </p:txBody>
      </p:sp>
      <p:sp>
        <p:nvSpPr>
          <p:cNvPr id="67590" name="Rectangle 4"/>
          <p:cNvSpPr/>
          <p:nvPr/>
        </p:nvSpPr>
        <p:spPr>
          <a:xfrm>
            <a:off x="7169150" y="2119313"/>
            <a:ext cx="1600200" cy="33528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67591" name="Line 5"/>
          <p:cNvSpPr/>
          <p:nvPr/>
        </p:nvSpPr>
        <p:spPr>
          <a:xfrm>
            <a:off x="7169150" y="2522538"/>
            <a:ext cx="1600200" cy="0"/>
          </a:xfrm>
          <a:prstGeom prst="line">
            <a:avLst/>
          </a:prstGeom>
          <a:ln w="25400" cap="sq" cmpd="sng">
            <a:solidFill>
              <a:schemeClr val="accent1"/>
            </a:solidFill>
            <a:prstDash val="solid"/>
            <a:headEnd type="none" w="med" len="med"/>
            <a:tailEnd type="none" w="med" len="med"/>
          </a:ln>
        </p:spPr>
      </p:sp>
      <p:sp>
        <p:nvSpPr>
          <p:cNvPr id="67592" name="Line 6"/>
          <p:cNvSpPr/>
          <p:nvPr/>
        </p:nvSpPr>
        <p:spPr>
          <a:xfrm>
            <a:off x="7169150" y="2903538"/>
            <a:ext cx="1600200" cy="0"/>
          </a:xfrm>
          <a:prstGeom prst="line">
            <a:avLst/>
          </a:prstGeom>
          <a:ln w="25400" cap="sq" cmpd="sng">
            <a:solidFill>
              <a:schemeClr val="accent1"/>
            </a:solidFill>
            <a:prstDash val="solid"/>
            <a:headEnd type="none" w="med" len="med"/>
            <a:tailEnd type="none" w="med" len="med"/>
          </a:ln>
        </p:spPr>
      </p:sp>
      <p:sp>
        <p:nvSpPr>
          <p:cNvPr id="67593" name="Line 7"/>
          <p:cNvSpPr/>
          <p:nvPr/>
        </p:nvSpPr>
        <p:spPr>
          <a:xfrm>
            <a:off x="7169150" y="3284538"/>
            <a:ext cx="1600200" cy="0"/>
          </a:xfrm>
          <a:prstGeom prst="line">
            <a:avLst/>
          </a:prstGeom>
          <a:ln w="25400" cap="sq" cmpd="sng">
            <a:solidFill>
              <a:schemeClr val="accent1"/>
            </a:solidFill>
            <a:prstDash val="solid"/>
            <a:headEnd type="none" w="med" len="med"/>
            <a:tailEnd type="none" w="med" len="med"/>
          </a:ln>
        </p:spPr>
      </p:sp>
      <p:sp>
        <p:nvSpPr>
          <p:cNvPr id="67594" name="Line 8"/>
          <p:cNvSpPr/>
          <p:nvPr/>
        </p:nvSpPr>
        <p:spPr>
          <a:xfrm>
            <a:off x="7169150" y="4351338"/>
            <a:ext cx="1600200" cy="0"/>
          </a:xfrm>
          <a:prstGeom prst="line">
            <a:avLst/>
          </a:prstGeom>
          <a:ln w="25400" cap="sq" cmpd="sng">
            <a:solidFill>
              <a:schemeClr val="accent1"/>
            </a:solidFill>
            <a:prstDash val="solid"/>
            <a:headEnd type="none" w="med" len="med"/>
            <a:tailEnd type="none" w="med" len="med"/>
          </a:ln>
        </p:spPr>
      </p:sp>
      <p:sp>
        <p:nvSpPr>
          <p:cNvPr id="67595" name="Line 9"/>
          <p:cNvSpPr/>
          <p:nvPr/>
        </p:nvSpPr>
        <p:spPr>
          <a:xfrm>
            <a:off x="7169150" y="4732338"/>
            <a:ext cx="1600200" cy="0"/>
          </a:xfrm>
          <a:prstGeom prst="line">
            <a:avLst/>
          </a:prstGeom>
          <a:ln w="25400" cap="sq" cmpd="sng">
            <a:solidFill>
              <a:schemeClr val="accent1"/>
            </a:solidFill>
            <a:prstDash val="solid"/>
            <a:headEnd type="none" w="med" len="med"/>
            <a:tailEnd type="none" w="med" len="med"/>
          </a:ln>
        </p:spPr>
      </p:sp>
      <p:sp>
        <p:nvSpPr>
          <p:cNvPr id="67596" name="Line 10"/>
          <p:cNvSpPr/>
          <p:nvPr/>
        </p:nvSpPr>
        <p:spPr>
          <a:xfrm>
            <a:off x="7169150" y="5472113"/>
            <a:ext cx="1600200" cy="0"/>
          </a:xfrm>
          <a:prstGeom prst="line">
            <a:avLst/>
          </a:prstGeom>
          <a:ln w="25400" cap="sq" cmpd="sng">
            <a:solidFill>
              <a:schemeClr val="accent1"/>
            </a:solidFill>
            <a:prstDash val="solid"/>
            <a:headEnd type="none" w="med" len="med"/>
            <a:tailEnd type="none" w="med" len="med"/>
          </a:ln>
        </p:spPr>
      </p:sp>
      <p:sp>
        <p:nvSpPr>
          <p:cNvPr id="67597" name="Line 11"/>
          <p:cNvSpPr/>
          <p:nvPr/>
        </p:nvSpPr>
        <p:spPr>
          <a:xfrm flipH="1">
            <a:off x="7169150" y="1630363"/>
            <a:ext cx="17463" cy="4473575"/>
          </a:xfrm>
          <a:prstGeom prst="line">
            <a:avLst/>
          </a:prstGeom>
          <a:ln w="25400" cap="sq" cmpd="sng">
            <a:solidFill>
              <a:schemeClr val="accent1"/>
            </a:solidFill>
            <a:prstDash val="solid"/>
            <a:headEnd type="none" w="med" len="med"/>
            <a:tailEnd type="none" w="med" len="med"/>
          </a:ln>
        </p:spPr>
      </p:sp>
      <p:sp>
        <p:nvSpPr>
          <p:cNvPr id="67598" name="Line 12"/>
          <p:cNvSpPr/>
          <p:nvPr/>
        </p:nvSpPr>
        <p:spPr>
          <a:xfrm flipH="1">
            <a:off x="8769350" y="1701800"/>
            <a:ext cx="1588" cy="4402138"/>
          </a:xfrm>
          <a:prstGeom prst="line">
            <a:avLst/>
          </a:prstGeom>
          <a:ln w="25400" cap="sq" cmpd="sng">
            <a:solidFill>
              <a:schemeClr val="accent1"/>
            </a:solidFill>
            <a:prstDash val="solid"/>
            <a:headEnd type="none" w="med" len="med"/>
            <a:tailEnd type="none" w="med" len="med"/>
          </a:ln>
        </p:spPr>
      </p:sp>
      <p:sp>
        <p:nvSpPr>
          <p:cNvPr id="67599" name="Freeform 13"/>
          <p:cNvSpPr/>
          <p:nvPr/>
        </p:nvSpPr>
        <p:spPr>
          <a:xfrm>
            <a:off x="7138988" y="5921375"/>
            <a:ext cx="1631950" cy="388938"/>
          </a:xfrm>
          <a:custGeom>
            <a:avLst/>
            <a:gdLst>
              <a:gd name="txL" fmla="*/ 0 w 1028"/>
              <a:gd name="txT" fmla="*/ 0 h 245"/>
              <a:gd name="txR" fmla="*/ 1028 w 1028"/>
              <a:gd name="txB" fmla="*/ 245 h 245"/>
            </a:gdLst>
            <a:ahLst/>
            <a:cxnLst>
              <a:cxn ang="0">
                <a:pos x="0" y="352822340"/>
              </a:cxn>
              <a:cxn ang="0">
                <a:pos x="123486853" y="226814397"/>
              </a:cxn>
              <a:cxn ang="0">
                <a:pos x="186491524" y="206653076"/>
              </a:cxn>
              <a:cxn ang="0">
                <a:pos x="249494656" y="166330534"/>
              </a:cxn>
              <a:cxn ang="0">
                <a:pos x="269655896" y="103327332"/>
              </a:cxn>
              <a:cxn ang="0">
                <a:pos x="330139617" y="83166061"/>
              </a:cxn>
              <a:cxn ang="0">
                <a:pos x="435986229" y="0"/>
              </a:cxn>
              <a:cxn ang="0">
                <a:pos x="1098788000" y="60483837"/>
              </a:cxn>
              <a:cxn ang="0">
                <a:pos x="1244956993" y="103327332"/>
              </a:cxn>
              <a:cxn ang="0">
                <a:pos x="1348282556" y="186491805"/>
              </a:cxn>
              <a:cxn ang="0">
                <a:pos x="1491932188" y="249496620"/>
              </a:cxn>
              <a:cxn ang="0">
                <a:pos x="1534774030" y="289819162"/>
              </a:cxn>
              <a:cxn ang="0">
                <a:pos x="1595257752" y="309980433"/>
              </a:cxn>
              <a:cxn ang="0">
                <a:pos x="1638101181" y="352822340"/>
              </a:cxn>
              <a:cxn ang="0">
                <a:pos x="1658262422" y="413306153"/>
              </a:cxn>
              <a:cxn ang="0">
                <a:pos x="1844754293" y="496472288"/>
              </a:cxn>
              <a:cxn ang="0">
                <a:pos x="2147483647" y="496472288"/>
              </a:cxn>
              <a:cxn ang="0">
                <a:pos x="2147483647" y="352822340"/>
              </a:cxn>
              <a:cxn ang="0">
                <a:pos x="2147483647" y="289819162"/>
              </a:cxn>
            </a:cxnLst>
            <a:rect l="txL" t="txT" r="txR" b="txB"/>
            <a:pathLst>
              <a:path w="1028" h="245">
                <a:moveTo>
                  <a:pt x="0" y="140"/>
                </a:moveTo>
                <a:cubicBezTo>
                  <a:pt x="14" y="125"/>
                  <a:pt x="32" y="100"/>
                  <a:pt x="49" y="90"/>
                </a:cubicBezTo>
                <a:cubicBezTo>
                  <a:pt x="56" y="85"/>
                  <a:pt x="66" y="86"/>
                  <a:pt x="74" y="82"/>
                </a:cubicBezTo>
                <a:cubicBezTo>
                  <a:pt x="83" y="78"/>
                  <a:pt x="91" y="71"/>
                  <a:pt x="99" y="66"/>
                </a:cubicBezTo>
                <a:cubicBezTo>
                  <a:pt x="102" y="58"/>
                  <a:pt x="101" y="47"/>
                  <a:pt x="107" y="41"/>
                </a:cubicBezTo>
                <a:cubicBezTo>
                  <a:pt x="113" y="35"/>
                  <a:pt x="124" y="37"/>
                  <a:pt x="131" y="33"/>
                </a:cubicBezTo>
                <a:cubicBezTo>
                  <a:pt x="146" y="24"/>
                  <a:pt x="158" y="10"/>
                  <a:pt x="173" y="0"/>
                </a:cubicBezTo>
                <a:cubicBezTo>
                  <a:pt x="275" y="5"/>
                  <a:pt x="342" y="13"/>
                  <a:pt x="436" y="24"/>
                </a:cubicBezTo>
                <a:cubicBezTo>
                  <a:pt x="455" y="29"/>
                  <a:pt x="478" y="28"/>
                  <a:pt x="494" y="41"/>
                </a:cubicBezTo>
                <a:cubicBezTo>
                  <a:pt x="547" y="84"/>
                  <a:pt x="472" y="54"/>
                  <a:pt x="535" y="74"/>
                </a:cubicBezTo>
                <a:cubicBezTo>
                  <a:pt x="617" y="129"/>
                  <a:pt x="492" y="49"/>
                  <a:pt x="592" y="99"/>
                </a:cubicBezTo>
                <a:cubicBezTo>
                  <a:pt x="599" y="102"/>
                  <a:pt x="602" y="111"/>
                  <a:pt x="609" y="115"/>
                </a:cubicBezTo>
                <a:cubicBezTo>
                  <a:pt x="616" y="119"/>
                  <a:pt x="625" y="120"/>
                  <a:pt x="633" y="123"/>
                </a:cubicBezTo>
                <a:cubicBezTo>
                  <a:pt x="639" y="129"/>
                  <a:pt x="646" y="133"/>
                  <a:pt x="650" y="140"/>
                </a:cubicBezTo>
                <a:cubicBezTo>
                  <a:pt x="654" y="147"/>
                  <a:pt x="652" y="158"/>
                  <a:pt x="658" y="164"/>
                </a:cubicBezTo>
                <a:cubicBezTo>
                  <a:pt x="665" y="171"/>
                  <a:pt x="720" y="193"/>
                  <a:pt x="732" y="197"/>
                </a:cubicBezTo>
                <a:cubicBezTo>
                  <a:pt x="802" y="245"/>
                  <a:pt x="909" y="214"/>
                  <a:pt x="987" y="197"/>
                </a:cubicBezTo>
                <a:cubicBezTo>
                  <a:pt x="1008" y="178"/>
                  <a:pt x="1019" y="167"/>
                  <a:pt x="1028" y="140"/>
                </a:cubicBezTo>
                <a:cubicBezTo>
                  <a:pt x="1019" y="104"/>
                  <a:pt x="1020" y="96"/>
                  <a:pt x="1020" y="115"/>
                </a:cubicBezTo>
              </a:path>
            </a:pathLst>
          </a:custGeom>
          <a:noFill/>
          <a:ln w="25400" cap="sq" cmpd="sng">
            <a:solidFill>
              <a:schemeClr val="accent1">
                <a:alpha val="100000"/>
              </a:schemeClr>
            </a:solidFill>
            <a:prstDash val="solid"/>
            <a:miter lim="800000"/>
            <a:headEnd type="none" w="med" len="med"/>
            <a:tailEnd type="none" w="med" len="med"/>
          </a:ln>
        </p:spPr>
        <p:txBody>
          <a:bodyPr/>
          <a:p>
            <a:endParaRPr lang="zh-CN" altLang="en-US"/>
          </a:p>
        </p:txBody>
      </p:sp>
      <p:sp>
        <p:nvSpPr>
          <p:cNvPr id="67600" name="Freeform 14"/>
          <p:cNvSpPr/>
          <p:nvPr/>
        </p:nvSpPr>
        <p:spPr>
          <a:xfrm>
            <a:off x="7164388" y="1435100"/>
            <a:ext cx="1606550" cy="339725"/>
          </a:xfrm>
          <a:custGeom>
            <a:avLst/>
            <a:gdLst>
              <a:gd name="txL" fmla="*/ 0 w 1012"/>
              <a:gd name="txT" fmla="*/ 0 h 214"/>
              <a:gd name="txR" fmla="*/ 1012 w 1012"/>
              <a:gd name="txB" fmla="*/ 214 h 214"/>
            </a:gdLst>
            <a:ahLst/>
            <a:cxnLst>
              <a:cxn ang="0">
                <a:pos x="0" y="289817192"/>
              </a:cxn>
              <a:cxn ang="0">
                <a:pos x="126007832" y="166330315"/>
              </a:cxn>
              <a:cxn ang="0">
                <a:pos x="289818792" y="42843450"/>
              </a:cxn>
              <a:cxn ang="0">
                <a:pos x="415826574" y="0"/>
              </a:cxn>
              <a:cxn ang="0">
                <a:pos x="892135494" y="83165951"/>
              </a:cxn>
              <a:cxn ang="0">
                <a:pos x="1265118529" y="249496291"/>
              </a:cxn>
              <a:cxn ang="0">
                <a:pos x="1411287556" y="435987899"/>
              </a:cxn>
              <a:cxn ang="0">
                <a:pos x="1554937222" y="478829749"/>
              </a:cxn>
              <a:cxn ang="0">
                <a:pos x="1660783759" y="498990994"/>
              </a:cxn>
              <a:cxn ang="0">
                <a:pos x="1784270988" y="539313482"/>
              </a:cxn>
              <a:cxn ang="0">
                <a:pos x="2147483647" y="478829749"/>
              </a:cxn>
              <a:cxn ang="0">
                <a:pos x="2147483647" y="415826556"/>
              </a:cxn>
              <a:cxn ang="0">
                <a:pos x="2147483647" y="372983118"/>
              </a:cxn>
              <a:cxn ang="0">
                <a:pos x="2147483647" y="289817192"/>
              </a:cxn>
            </a:cxnLst>
            <a:rect l="txL" t="txT" r="txR" b="txB"/>
            <a:pathLst>
              <a:path w="1012" h="214">
                <a:moveTo>
                  <a:pt x="0" y="115"/>
                </a:moveTo>
                <a:cubicBezTo>
                  <a:pt x="29" y="88"/>
                  <a:pt x="10" y="79"/>
                  <a:pt x="50" y="66"/>
                </a:cubicBezTo>
                <a:cubicBezTo>
                  <a:pt x="72" y="51"/>
                  <a:pt x="91" y="29"/>
                  <a:pt x="115" y="17"/>
                </a:cubicBezTo>
                <a:cubicBezTo>
                  <a:pt x="131" y="9"/>
                  <a:pt x="148" y="6"/>
                  <a:pt x="165" y="0"/>
                </a:cubicBezTo>
                <a:cubicBezTo>
                  <a:pt x="229" y="8"/>
                  <a:pt x="292" y="13"/>
                  <a:pt x="354" y="33"/>
                </a:cubicBezTo>
                <a:cubicBezTo>
                  <a:pt x="394" y="73"/>
                  <a:pt x="449" y="81"/>
                  <a:pt x="502" y="99"/>
                </a:cubicBezTo>
                <a:cubicBezTo>
                  <a:pt x="525" y="121"/>
                  <a:pt x="529" y="158"/>
                  <a:pt x="560" y="173"/>
                </a:cubicBezTo>
                <a:cubicBezTo>
                  <a:pt x="578" y="182"/>
                  <a:pt x="598" y="185"/>
                  <a:pt x="617" y="190"/>
                </a:cubicBezTo>
                <a:cubicBezTo>
                  <a:pt x="631" y="194"/>
                  <a:pt x="645" y="194"/>
                  <a:pt x="659" y="198"/>
                </a:cubicBezTo>
                <a:cubicBezTo>
                  <a:pt x="676" y="202"/>
                  <a:pt x="708" y="214"/>
                  <a:pt x="708" y="214"/>
                </a:cubicBezTo>
                <a:cubicBezTo>
                  <a:pt x="774" y="208"/>
                  <a:pt x="831" y="196"/>
                  <a:pt x="897" y="190"/>
                </a:cubicBezTo>
                <a:cubicBezTo>
                  <a:pt x="930" y="178"/>
                  <a:pt x="963" y="176"/>
                  <a:pt x="996" y="165"/>
                </a:cubicBezTo>
                <a:cubicBezTo>
                  <a:pt x="1001" y="159"/>
                  <a:pt x="1012" y="156"/>
                  <a:pt x="1012" y="148"/>
                </a:cubicBezTo>
                <a:cubicBezTo>
                  <a:pt x="1012" y="108"/>
                  <a:pt x="975" y="136"/>
                  <a:pt x="1012" y="115"/>
                </a:cubicBezTo>
              </a:path>
            </a:pathLst>
          </a:custGeom>
          <a:noFill/>
          <a:ln w="25400" cap="sq" cmpd="sng">
            <a:solidFill>
              <a:schemeClr val="accent1">
                <a:alpha val="100000"/>
              </a:schemeClr>
            </a:solidFill>
            <a:prstDash val="solid"/>
            <a:miter lim="800000"/>
            <a:headEnd type="none" w="med" len="med"/>
            <a:tailEnd type="none" w="med" len="med"/>
          </a:ln>
        </p:spPr>
        <p:txBody>
          <a:bodyPr/>
          <a:p>
            <a:endParaRPr lang="zh-CN" altLang="en-US"/>
          </a:p>
        </p:txBody>
      </p:sp>
      <p:sp>
        <p:nvSpPr>
          <p:cNvPr id="67601" name="Line 15"/>
          <p:cNvSpPr/>
          <p:nvPr/>
        </p:nvSpPr>
        <p:spPr>
          <a:xfrm>
            <a:off x="7169150" y="2119313"/>
            <a:ext cx="1600200" cy="0"/>
          </a:xfrm>
          <a:prstGeom prst="line">
            <a:avLst/>
          </a:prstGeom>
          <a:ln w="25400" cap="sq" cmpd="sng">
            <a:solidFill>
              <a:schemeClr val="accent1"/>
            </a:solidFill>
            <a:prstDash val="solid"/>
            <a:headEnd type="none" w="med" len="med"/>
            <a:tailEnd type="none" w="med" len="med"/>
          </a:ln>
        </p:spPr>
      </p:sp>
      <p:sp>
        <p:nvSpPr>
          <p:cNvPr id="67602" name="Text Box 16"/>
          <p:cNvSpPr txBox="1"/>
          <p:nvPr/>
        </p:nvSpPr>
        <p:spPr>
          <a:xfrm>
            <a:off x="7702550" y="1585913"/>
            <a:ext cx="609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latin typeface="宋体" panose="02010600030101010101" pitchFamily="2" charset="-122"/>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p:txBody>
      </p:sp>
      <p:sp>
        <p:nvSpPr>
          <p:cNvPr id="67603" name="Text Box 17"/>
          <p:cNvSpPr txBox="1"/>
          <p:nvPr/>
        </p:nvSpPr>
        <p:spPr>
          <a:xfrm>
            <a:off x="7702550" y="5548313"/>
            <a:ext cx="609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latin typeface="宋体" panose="02010600030101010101" pitchFamily="2" charset="-122"/>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p:txBody>
      </p:sp>
      <p:sp>
        <p:nvSpPr>
          <p:cNvPr id="67604" name="Text Box 18"/>
          <p:cNvSpPr txBox="1"/>
          <p:nvPr/>
        </p:nvSpPr>
        <p:spPr>
          <a:xfrm>
            <a:off x="7702550" y="3567113"/>
            <a:ext cx="609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dirty="0">
                <a:solidFill>
                  <a:schemeClr val="bg1"/>
                </a:solidFill>
                <a:latin typeface="宋体" panose="02010600030101010101" pitchFamily="2" charset="-122"/>
                <a:ea typeface="宋体" panose="02010600030101010101" pitchFamily="2" charset="-122"/>
              </a:rPr>
              <a:t>┇</a:t>
            </a:r>
            <a:r>
              <a:rPr lang="en-US" altLang="zh-CN" sz="2400" dirty="0">
                <a:solidFill>
                  <a:schemeClr val="bg1"/>
                </a:solidFill>
                <a:latin typeface="Times New Roman" panose="02020603050405020304" pitchFamily="18" charset="0"/>
                <a:ea typeface="宋体" panose="02010600030101010101" pitchFamily="2" charset="-122"/>
              </a:rPr>
              <a:t> </a:t>
            </a:r>
            <a:endParaRPr lang="en-US" altLang="zh-CN" sz="2400" dirty="0">
              <a:solidFill>
                <a:schemeClr val="bg1"/>
              </a:solidFill>
              <a:latin typeface="Times New Roman" panose="02020603050405020304" pitchFamily="18" charset="0"/>
              <a:ea typeface="宋体" panose="02010600030101010101" pitchFamily="2" charset="-122"/>
            </a:endParaRPr>
          </a:p>
        </p:txBody>
      </p:sp>
      <p:sp>
        <p:nvSpPr>
          <p:cNvPr id="67605" name="Text Box 19"/>
          <p:cNvSpPr txBox="1"/>
          <p:nvPr/>
        </p:nvSpPr>
        <p:spPr>
          <a:xfrm>
            <a:off x="6153150" y="4278313"/>
            <a:ext cx="1066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MAX</a:t>
            </a:r>
            <a:endParaRPr lang="en-US" altLang="zh-CN" sz="2400" b="1" dirty="0">
              <a:latin typeface="Times New Roman" panose="02020603050405020304" pitchFamily="18" charset="0"/>
              <a:ea typeface="宋体" panose="02010600030101010101" pitchFamily="2" charset="-122"/>
            </a:endParaRPr>
          </a:p>
        </p:txBody>
      </p:sp>
      <p:sp>
        <p:nvSpPr>
          <p:cNvPr id="67606" name="Text Box 20"/>
          <p:cNvSpPr txBox="1"/>
          <p:nvPr/>
        </p:nvSpPr>
        <p:spPr>
          <a:xfrm>
            <a:off x="6254750" y="2068513"/>
            <a:ext cx="1066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BUF</a:t>
            </a:r>
            <a:endParaRPr lang="en-US" altLang="zh-CN" sz="2400" b="1" dirty="0">
              <a:latin typeface="Times New Roman" panose="02020603050405020304" pitchFamily="18" charset="0"/>
              <a:ea typeface="宋体" panose="02010600030101010101" pitchFamily="2" charset="-122"/>
            </a:endParaRPr>
          </a:p>
        </p:txBody>
      </p:sp>
      <p:sp>
        <p:nvSpPr>
          <p:cNvPr id="67607" name="Text Box 21"/>
          <p:cNvSpPr txBox="1"/>
          <p:nvPr/>
        </p:nvSpPr>
        <p:spPr>
          <a:xfrm>
            <a:off x="7537450" y="2093913"/>
            <a:ext cx="1066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XXH</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67608" name="Text Box 22"/>
          <p:cNvSpPr txBox="1"/>
          <p:nvPr/>
        </p:nvSpPr>
        <p:spPr>
          <a:xfrm>
            <a:off x="7550150" y="2500313"/>
            <a:ext cx="1066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XXH</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67609" name="Text Box 23"/>
          <p:cNvSpPr txBox="1"/>
          <p:nvPr/>
        </p:nvSpPr>
        <p:spPr>
          <a:xfrm>
            <a:off x="7550150" y="2881313"/>
            <a:ext cx="1066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XXH</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66586" name="Text Box 24"/>
          <p:cNvSpPr txBox="1"/>
          <p:nvPr/>
        </p:nvSpPr>
        <p:spPr>
          <a:xfrm>
            <a:off x="3708400" y="4981575"/>
            <a:ext cx="3187700" cy="1354138"/>
          </a:xfrm>
          <a:prstGeom prst="rect">
            <a:avLst/>
          </a:prstGeom>
          <a:noFill/>
          <a:ln w="25400" cap="sq" cmpd="sng">
            <a:solidFill>
              <a:srgbClr val="000000"/>
            </a:solidFill>
            <a:prstDash val="solid"/>
            <a:miter/>
            <a:headEnd type="none" w="med" len="med"/>
            <a:tailEnd type="none" w="med" len="med"/>
          </a:ln>
        </p:spPr>
        <p:txBody>
          <a:bodyPr>
            <a:spAutoFit/>
          </a:bodyPr>
          <a:p>
            <a:pPr eaLnBrk="0" hangingPunct="0">
              <a:lnSpc>
                <a:spcPct val="115000"/>
              </a:lnSpc>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在20个数中找最大的数，并将其存放在</a:t>
            </a:r>
            <a:r>
              <a:rPr lang="en-US" altLang="zh-CN" sz="2400" b="1" dirty="0">
                <a:latin typeface="Times New Roman" panose="02020603050405020304" pitchFamily="18" charset="0"/>
                <a:ea typeface="宋体" panose="02010600030101010101" pitchFamily="2" charset="-122"/>
              </a:rPr>
              <a:t>MAX</a:t>
            </a:r>
            <a:r>
              <a:rPr lang="zh-CN" altLang="en-US" sz="2400" b="1" dirty="0">
                <a:latin typeface="Times New Roman" panose="02020603050405020304" pitchFamily="18" charset="0"/>
                <a:ea typeface="宋体" panose="02010600030101010101" pitchFamily="2" charset="-122"/>
              </a:rPr>
              <a:t>单元中。</a:t>
            </a:r>
            <a:endParaRPr lang="zh-CN" altLang="en-US" sz="2400" b="1" dirty="0">
              <a:latin typeface="Times New Roman" panose="02020603050405020304" pitchFamily="18" charset="0"/>
              <a:ea typeface="宋体" panose="02010600030101010101" pitchFamily="2" charset="-122"/>
            </a:endParaRPr>
          </a:p>
        </p:txBody>
      </p:sp>
      <p:cxnSp>
        <p:nvCxnSpPr>
          <p:cNvPr id="66587" name="AutoShape 26"/>
          <p:cNvCxnSpPr/>
          <p:nvPr/>
        </p:nvCxnSpPr>
        <p:spPr>
          <a:xfrm flipV="1">
            <a:off x="5356225" y="4540250"/>
            <a:ext cx="815975" cy="441325"/>
          </a:xfrm>
          <a:prstGeom prst="bentConnector3">
            <a:avLst>
              <a:gd name="adj1" fmla="val -1634"/>
            </a:avLst>
          </a:prstGeom>
          <a:ln w="25400" cap="sq" cmpd="sng">
            <a:solidFill>
              <a:srgbClr val="FF6600"/>
            </a:solidFill>
            <a:prstDash val="solid"/>
            <a:miter/>
            <a:headEnd type="none" w="med" len="med"/>
            <a:tailEnd type="triangle" w="lg" len="lg"/>
          </a:ln>
        </p:spPr>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586"/>
                                        </p:tgtEl>
                                        <p:attrNameLst>
                                          <p:attrName>style.visibility</p:attrName>
                                        </p:attrNameLst>
                                      </p:cBhvr>
                                      <p:to>
                                        <p:strVal val="visible"/>
                                      </p:to>
                                    </p:set>
                                    <p:animEffect transition="in" filter="blinds(horizontal)">
                                      <p:cBhvr>
                                        <p:cTn id="7" dur="500"/>
                                        <p:tgtEl>
                                          <p:spTgt spid="6658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66587"/>
                                        </p:tgtEl>
                                        <p:attrNameLst>
                                          <p:attrName>style.visibility</p:attrName>
                                        </p:attrNameLst>
                                      </p:cBhvr>
                                      <p:to>
                                        <p:strVal val="visible"/>
                                      </p:to>
                                    </p:set>
                                    <p:animEffect transition="in" filter="strips(downRight)">
                                      <p:cBhvr>
                                        <p:cTn id="11" dur="500"/>
                                        <p:tgtEl>
                                          <p:spTgt spid="66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8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3"/>
          <p:cNvSpPr>
            <a:spLocks noGrp="1"/>
          </p:cNvSpPr>
          <p:nvPr>
            <p:ph type="body" idx="4294967295"/>
          </p:nvPr>
        </p:nvSpPr>
        <p:spPr>
          <a:xfrm>
            <a:off x="1836738" y="2060575"/>
            <a:ext cx="3814762" cy="1152525"/>
          </a:xfrm>
        </p:spPr>
        <p:txBody>
          <a:bodyPr vert="horz" wrap="square" lIns="91440" tIns="45720" rIns="91440" bIns="45720" anchor="t" anchorCtr="0"/>
          <a:p>
            <a:pPr eaLnBrk="1" hangingPunct="1">
              <a:spcAft>
                <a:spcPct val="30000"/>
              </a:spcAft>
              <a:buNone/>
            </a:pPr>
            <a:r>
              <a:rPr lang="zh-CN" altLang="en-US" dirty="0">
                <a:latin typeface="宋体" panose="02010600030101010101" pitchFamily="2" charset="-122"/>
                <a:ea typeface="宋体" panose="02010600030101010101" pitchFamily="2" charset="-122"/>
              </a:rPr>
              <a:t>无符号的乘法指令</a:t>
            </a:r>
            <a:r>
              <a:rPr lang="en-US" altLang="zh-CN" dirty="0">
                <a:latin typeface="宋体" panose="02010600030101010101" pitchFamily="2" charset="-122"/>
                <a:ea typeface="宋体" panose="02010600030101010101" pitchFamily="2" charset="-122"/>
              </a:rPr>
              <a:t>MUL</a:t>
            </a:r>
            <a:endParaRPr lang="en-US" altLang="zh-CN" dirty="0">
              <a:latin typeface="宋体" panose="02010600030101010101" pitchFamily="2" charset="-122"/>
              <a:ea typeface="宋体" panose="02010600030101010101" pitchFamily="2" charset="-122"/>
            </a:endParaRPr>
          </a:p>
          <a:p>
            <a:pPr eaLnBrk="1" hangingPunct="1">
              <a:buNone/>
            </a:pPr>
            <a:r>
              <a:rPr lang="zh-CN" altLang="en-US" dirty="0">
                <a:latin typeface="宋体" panose="02010600030101010101" pitchFamily="2" charset="-122"/>
                <a:ea typeface="宋体" panose="02010600030101010101" pitchFamily="2" charset="-122"/>
              </a:rPr>
              <a:t>带符号的乘法指令</a:t>
            </a:r>
            <a:r>
              <a:rPr lang="en-US" altLang="zh-CN" dirty="0">
                <a:latin typeface="宋体" panose="02010600030101010101" pitchFamily="2" charset="-122"/>
                <a:ea typeface="宋体" panose="02010600030101010101" pitchFamily="2" charset="-122"/>
              </a:rPr>
              <a:t>IMUL</a:t>
            </a:r>
            <a:endParaRPr lang="zh-CN" altLang="en-US" dirty="0">
              <a:latin typeface="宋体" panose="02010600030101010101" pitchFamily="2" charset="-122"/>
              <a:ea typeface="宋体" panose="02010600030101010101" pitchFamily="2" charset="-122"/>
            </a:endParaRPr>
          </a:p>
        </p:txBody>
      </p:sp>
      <p:sp>
        <p:nvSpPr>
          <p:cNvPr id="67587" name="AutoShape 4"/>
          <p:cNvSpPr/>
          <p:nvPr/>
        </p:nvSpPr>
        <p:spPr>
          <a:xfrm>
            <a:off x="1619250" y="2235200"/>
            <a:ext cx="228600" cy="838200"/>
          </a:xfrm>
          <a:prstGeom prst="leftBrace">
            <a:avLst>
              <a:gd name="adj1" fmla="val 30317"/>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67588" name="Text Box 5"/>
          <p:cNvSpPr txBox="1"/>
          <p:nvPr/>
        </p:nvSpPr>
        <p:spPr>
          <a:xfrm>
            <a:off x="684213" y="3573463"/>
            <a:ext cx="7920037" cy="1836737"/>
          </a:xfrm>
          <a:prstGeom prst="rect">
            <a:avLst/>
          </a:prstGeom>
          <a:noFill/>
          <a:ln w="9525">
            <a:noFill/>
          </a:ln>
        </p:spPr>
        <p:txBody>
          <a:bodyPr>
            <a:spAutoFit/>
          </a:bodyPr>
          <a:p>
            <a:pPr marL="262255" indent="-262255" defTabSz="900430" eaLnBrk="0" hangingPunct="0">
              <a:lnSpc>
                <a:spcPct val="120000"/>
              </a:lnSpc>
              <a:spcBef>
                <a:spcPct val="50000"/>
              </a:spcBef>
              <a:spcAft>
                <a:spcPct val="15000"/>
              </a:spcAft>
              <a:buClr>
                <a:schemeClr val="tx2"/>
              </a:buClr>
              <a:buSzPct val="60000"/>
              <a:buFont typeface="Wingdings" panose="05000000000000000000" pitchFamily="2" charset="2"/>
              <a:buChar char="Ø"/>
            </a:pPr>
            <a:r>
              <a:rPr lang="zh-CN" altLang="en-US" sz="2800" b="1" dirty="0">
                <a:solidFill>
                  <a:schemeClr val="tx2"/>
                </a:solidFill>
                <a:latin typeface="Times New Roman" panose="02020603050405020304" pitchFamily="18" charset="0"/>
                <a:ea typeface="宋体" panose="02010600030101010101" pitchFamily="2" charset="-122"/>
              </a:rPr>
              <a:t>注意点：</a:t>
            </a:r>
            <a:endParaRPr lang="zh-CN" altLang="en-US" sz="2800" b="1" dirty="0">
              <a:solidFill>
                <a:schemeClr val="tx2"/>
              </a:solidFill>
              <a:latin typeface="Times New Roman" panose="02020603050405020304" pitchFamily="18" charset="0"/>
              <a:ea typeface="宋体" panose="02010600030101010101" pitchFamily="2" charset="-122"/>
            </a:endParaRPr>
          </a:p>
          <a:p>
            <a:pPr marL="716280" lvl="1" indent="-274955" defTabSz="900430" eaLnBrk="0" hangingPunct="0">
              <a:lnSpc>
                <a:spcPct val="150000"/>
              </a:lnSpc>
              <a:spcBef>
                <a:spcPct val="15000"/>
              </a:spcBef>
              <a:spcAft>
                <a:spcPct val="15000"/>
              </a:spcAft>
              <a:buClr>
                <a:srgbClr val="FF0000"/>
              </a:buClr>
              <a:buSzPct val="60000"/>
              <a:buFont typeface="Wingdings" panose="05000000000000000000" pitchFamily="2" charset="2"/>
              <a:buChar char="n"/>
            </a:pPr>
            <a:r>
              <a:rPr lang="zh-CN" altLang="en-US" sz="2400" b="1" dirty="0">
                <a:latin typeface="楷体_GB2312" pitchFamily="49" charset="-122"/>
                <a:ea typeface="楷体_GB2312" pitchFamily="49" charset="-122"/>
              </a:rPr>
              <a:t>乘法指令采用隐含寻址，隐含的是存放被乘数的累加器</a:t>
            </a:r>
            <a:r>
              <a:rPr lang="en-US" altLang="zh-CN" sz="2400" b="1" dirty="0">
                <a:latin typeface="楷体_GB2312" pitchFamily="49" charset="-122"/>
                <a:ea typeface="楷体_GB2312" pitchFamily="49" charset="-122"/>
              </a:rPr>
              <a:t>AL</a:t>
            </a:r>
            <a:r>
              <a:rPr lang="zh-CN" altLang="en-US" sz="2400" b="1" dirty="0">
                <a:latin typeface="楷体_GB2312" pitchFamily="49" charset="-122"/>
                <a:ea typeface="楷体_GB2312" pitchFamily="49" charset="-122"/>
              </a:rPr>
              <a:t>或</a:t>
            </a:r>
            <a:r>
              <a:rPr lang="en-US" altLang="zh-CN" sz="2400" b="1" dirty="0">
                <a:latin typeface="楷体_GB2312" pitchFamily="49" charset="-122"/>
                <a:ea typeface="楷体_GB2312" pitchFamily="49" charset="-122"/>
              </a:rPr>
              <a:t>AX</a:t>
            </a:r>
            <a:r>
              <a:rPr lang="zh-CN" altLang="en-US" sz="2400" b="1" dirty="0">
                <a:latin typeface="楷体_GB2312" pitchFamily="49" charset="-122"/>
                <a:ea typeface="楷体_GB2312" pitchFamily="49" charset="-122"/>
              </a:rPr>
              <a:t>及存放结果的</a:t>
            </a:r>
            <a:r>
              <a:rPr lang="en-US" altLang="zh-CN" sz="2400" b="1" dirty="0">
                <a:latin typeface="楷体_GB2312" pitchFamily="49" charset="-122"/>
                <a:ea typeface="楷体_GB2312" pitchFamily="49" charset="-122"/>
              </a:rPr>
              <a:t>AX，DX.</a:t>
            </a:r>
            <a:endParaRPr lang="en-US" altLang="zh-CN" sz="2400" b="1" dirty="0">
              <a:latin typeface="楷体_GB2312" pitchFamily="49" charset="-122"/>
              <a:ea typeface="楷体_GB2312" pitchFamily="49" charset="-122"/>
            </a:endParaRPr>
          </a:p>
        </p:txBody>
      </p:sp>
      <p:sp>
        <p:nvSpPr>
          <p:cNvPr id="68613" name="Rectangle 2"/>
          <p:cNvSpPr>
            <a:spLocks noGrp="1"/>
          </p:cNvSpPr>
          <p:nvPr/>
        </p:nvSpPr>
        <p:spPr>
          <a:xfrm>
            <a:off x="1763713" y="119063"/>
            <a:ext cx="6553200"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3.4.2.3 </a:t>
            </a:r>
            <a:r>
              <a:rPr lang="zh-CN" altLang="en-US" sz="3600" b="1" dirty="0">
                <a:solidFill>
                  <a:schemeClr val="bg1"/>
                </a:solidFill>
                <a:latin typeface="宋体" panose="02010600030101010101" pitchFamily="2" charset="-122"/>
                <a:ea typeface="宋体" panose="02010600030101010101" pitchFamily="2" charset="-122"/>
              </a:rPr>
              <a:t>乘法指令</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7586">
                                            <p:txEl>
                                              <p:charRg st="0" end="12"/>
                                            </p:txEl>
                                          </p:spTgt>
                                        </p:tgtEl>
                                        <p:attrNameLst>
                                          <p:attrName>style.visibility</p:attrName>
                                        </p:attrNameLst>
                                      </p:cBhvr>
                                      <p:to>
                                        <p:strVal val="visible"/>
                                      </p:to>
                                    </p:set>
                                    <p:animEffect transition="in" filter="wipe(left)">
                                      <p:cBhvr>
                                        <p:cTn id="7" dur="500"/>
                                        <p:tgtEl>
                                          <p:spTgt spid="67586">
                                            <p:txEl>
                                              <p:charRg st="0" end="12"/>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7586">
                                            <p:txEl>
                                              <p:charRg st="12" end="25"/>
                                            </p:txEl>
                                          </p:spTgt>
                                        </p:tgtEl>
                                        <p:attrNameLst>
                                          <p:attrName>style.visibility</p:attrName>
                                        </p:attrNameLst>
                                      </p:cBhvr>
                                      <p:to>
                                        <p:strVal val="visible"/>
                                      </p:to>
                                    </p:set>
                                    <p:animEffect transition="in" filter="wipe(left)">
                                      <p:cBhvr>
                                        <p:cTn id="11" dur="500"/>
                                        <p:tgtEl>
                                          <p:spTgt spid="67586">
                                            <p:txEl>
                                              <p:charRg st="12" end="25"/>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67587"/>
                                        </p:tgtEl>
                                        <p:attrNameLst>
                                          <p:attrName>style.visibility</p:attrName>
                                        </p:attrNameLst>
                                      </p:cBhvr>
                                      <p:to>
                                        <p:strVal val="visible"/>
                                      </p:to>
                                    </p:set>
                                    <p:animEffect transition="in" filter="wipe(up)">
                                      <p:cBhvr>
                                        <p:cTn id="15" dur="500"/>
                                        <p:tgtEl>
                                          <p:spTgt spid="6758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7588">
                                            <p:txEl>
                                              <p:charRg st="0" end="5"/>
                                            </p:txEl>
                                          </p:spTgt>
                                        </p:tgtEl>
                                        <p:attrNameLst>
                                          <p:attrName>style.visibility</p:attrName>
                                        </p:attrNameLst>
                                      </p:cBhvr>
                                      <p:to>
                                        <p:strVal val="visible"/>
                                      </p:to>
                                    </p:set>
                                    <p:animEffect transition="in" filter="wipe(left)">
                                      <p:cBhvr>
                                        <p:cTn id="20" dur="500"/>
                                        <p:tgtEl>
                                          <p:spTgt spid="67588">
                                            <p:txEl>
                                              <p:charRg st="0"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67588">
                                            <p:txEl>
                                              <p:charRg st="5" end="47"/>
                                            </p:txEl>
                                          </p:spTgt>
                                        </p:tgtEl>
                                        <p:attrNameLst>
                                          <p:attrName>style.visibility</p:attrName>
                                        </p:attrNameLst>
                                      </p:cBhvr>
                                      <p:to>
                                        <p:strVal val="visible"/>
                                      </p:to>
                                    </p:set>
                                    <p:animEffect transition="in" filter="blinds(horizontal)">
                                      <p:cBhvr>
                                        <p:cTn id="25" dur="500"/>
                                        <p:tgtEl>
                                          <p:spTgt spid="67588">
                                            <p:txEl>
                                              <p:charRg st="5" end="4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1026"/>
          <p:cNvSpPr>
            <a:spLocks noGrp="1"/>
          </p:cNvSpPr>
          <p:nvPr>
            <p:ph type="title" idx="4294967295"/>
          </p:nvPr>
        </p:nvSpPr>
        <p:spPr>
          <a:xfrm>
            <a:off x="552450" y="1165225"/>
            <a:ext cx="6553200" cy="563563"/>
          </a:xfrm>
        </p:spPr>
        <p:txBody>
          <a:bodyPr vert="horz" wrap="square" lIns="91440" tIns="45720" rIns="91440" bIns="45720" anchor="ctr" anchorCtr="0"/>
          <a:p>
            <a:pPr eaLnBrk="1" hangingPunct="1"/>
            <a:r>
              <a:rPr lang="zh-CN" altLang="en-US" dirty="0">
                <a:solidFill>
                  <a:srgbClr val="000033"/>
                </a:solidFill>
                <a:ea typeface="宋体" panose="02010600030101010101" pitchFamily="2" charset="-122"/>
              </a:rPr>
              <a:t>（</a:t>
            </a:r>
            <a:r>
              <a:rPr lang="en-US" altLang="zh-CN" dirty="0">
                <a:solidFill>
                  <a:srgbClr val="000033"/>
                </a:solidFill>
                <a:ea typeface="宋体" panose="02010600030101010101" pitchFamily="2" charset="-122"/>
              </a:rPr>
              <a:t>1</a:t>
            </a:r>
            <a:r>
              <a:rPr lang="zh-CN" altLang="en-US" dirty="0">
                <a:solidFill>
                  <a:srgbClr val="000033"/>
                </a:solidFill>
                <a:ea typeface="宋体" panose="02010600030101010101" pitchFamily="2" charset="-122"/>
              </a:rPr>
              <a:t>）无符号数乘法指令</a:t>
            </a:r>
            <a:endParaRPr lang="zh-CN" altLang="en-US" dirty="0">
              <a:solidFill>
                <a:srgbClr val="000033"/>
              </a:solidFill>
              <a:ea typeface="宋体" panose="02010600030101010101" pitchFamily="2" charset="-122"/>
            </a:endParaRPr>
          </a:p>
        </p:txBody>
      </p:sp>
      <p:sp>
        <p:nvSpPr>
          <p:cNvPr id="68611" name="Rectangle 1027"/>
          <p:cNvSpPr>
            <a:spLocks noGrp="1"/>
          </p:cNvSpPr>
          <p:nvPr>
            <p:ph type="body" idx="4294967295"/>
          </p:nvPr>
        </p:nvSpPr>
        <p:spPr>
          <a:xfrm>
            <a:off x="501650" y="2060575"/>
            <a:ext cx="7394575" cy="3168650"/>
          </a:xfrm>
        </p:spPr>
        <p:txBody>
          <a:bodyPr vert="horz" wrap="square" lIns="91440" tIns="45720" rIns="91440" bIns="45720" anchor="t" anchorCtr="0"/>
          <a:p>
            <a:pPr eaLnBrk="1" hangingPunct="1">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格式：</a:t>
            </a:r>
            <a:endParaRPr lang="zh-CN" altLang="en-US" sz="2400" dirty="0">
              <a:latin typeface="宋体" panose="02010600030101010101" pitchFamily="2" charset="-122"/>
              <a:ea typeface="宋体" panose="02010600030101010101" pitchFamily="2" charset="-122"/>
            </a:endParaRPr>
          </a:p>
          <a:p>
            <a:pPr eaLnBrk="1" hangingPunct="1">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MUL  OPRD</a:t>
            </a:r>
            <a:endParaRPr lang="en-US" altLang="zh-CN" sz="2400" dirty="0">
              <a:latin typeface="宋体" panose="02010600030101010101" pitchFamily="2" charset="-122"/>
              <a:ea typeface="宋体" panose="02010600030101010101" pitchFamily="2" charset="-122"/>
            </a:endParaRPr>
          </a:p>
          <a:p>
            <a:pPr eaLnBrk="1" hangingPunct="1">
              <a:lnSpc>
                <a:spcPct val="115000"/>
              </a:lnSpc>
              <a:spcBef>
                <a:spcPct val="55000"/>
              </a:spcBef>
              <a:spcAft>
                <a:spcPct val="15000"/>
              </a:spcAft>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操作：</a:t>
            </a:r>
            <a:endParaRPr lang="zh-CN" altLang="en-US" sz="2400" dirty="0">
              <a:latin typeface="宋体" panose="02010600030101010101" pitchFamily="2" charset="-122"/>
              <a:ea typeface="宋体" panose="02010600030101010101" pitchFamily="2" charset="-122"/>
            </a:endParaRPr>
          </a:p>
          <a:p>
            <a:pPr eaLnBrk="1" hangingPunct="1">
              <a:lnSpc>
                <a:spcPct val="115000"/>
              </a:lnSpc>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OPRD</a:t>
            </a:r>
            <a:r>
              <a:rPr lang="zh-CN" altLang="en-US" sz="2400" dirty="0">
                <a:latin typeface="宋体" panose="02010600030101010101" pitchFamily="2" charset="-122"/>
                <a:ea typeface="宋体" panose="02010600030101010101" pitchFamily="2" charset="-122"/>
              </a:rPr>
              <a:t>为字节数 </a:t>
            </a:r>
            <a:endParaRPr lang="en-US" altLang="zh-CN" sz="2400" dirty="0">
              <a:latin typeface="宋体" panose="02010600030101010101" pitchFamily="2" charset="-122"/>
              <a:ea typeface="宋体" panose="02010600030101010101" pitchFamily="2" charset="-122"/>
            </a:endParaRPr>
          </a:p>
          <a:p>
            <a:pPr eaLnBrk="1" hangingPunct="1">
              <a:lnSpc>
                <a:spcPct val="115000"/>
              </a:lnSpc>
              <a:buNone/>
            </a:pPr>
            <a:r>
              <a:rPr lang="en-US" altLang="zh-CN" sz="2400" dirty="0">
                <a:latin typeface="宋体" panose="02010600030101010101" pitchFamily="2" charset="-122"/>
                <a:ea typeface="宋体" panose="02010600030101010101" pitchFamily="2" charset="-122"/>
              </a:rPr>
              <a:t>    OPRD</a:t>
            </a:r>
            <a:r>
              <a:rPr lang="zh-CN" altLang="en-US" sz="2400" dirty="0">
                <a:latin typeface="宋体" panose="02010600030101010101" pitchFamily="2" charset="-122"/>
                <a:ea typeface="宋体" panose="02010600030101010101" pitchFamily="2" charset="-122"/>
              </a:rPr>
              <a:t>为16位数</a:t>
            </a:r>
            <a:endParaRPr lang="en-US" altLang="zh-CN" sz="2400" dirty="0">
              <a:latin typeface="宋体" panose="02010600030101010101" pitchFamily="2" charset="-122"/>
              <a:ea typeface="宋体" panose="02010600030101010101" pitchFamily="2" charset="-122"/>
            </a:endParaRPr>
          </a:p>
          <a:p>
            <a:pPr eaLnBrk="1" hangingPunct="1">
              <a:lnSpc>
                <a:spcPct val="115000"/>
              </a:lnSpc>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注意：两操作数字长必须相等，且</a:t>
            </a:r>
            <a:r>
              <a:rPr lang="zh-CN" altLang="en-US" sz="2400" dirty="0">
                <a:solidFill>
                  <a:srgbClr val="FF0000"/>
                </a:solidFill>
                <a:latin typeface="宋体" panose="02010600030101010101" pitchFamily="2" charset="-122"/>
                <a:ea typeface="宋体" panose="02010600030101010101" pitchFamily="2" charset="-122"/>
              </a:rPr>
              <a:t>不能为立即数</a:t>
            </a:r>
            <a:r>
              <a:rPr lang="zh-CN" altLang="en-US"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p:txBody>
      </p:sp>
      <p:sp>
        <p:nvSpPr>
          <p:cNvPr id="68612" name="Line 1031"/>
          <p:cNvSpPr/>
          <p:nvPr/>
        </p:nvSpPr>
        <p:spPr>
          <a:xfrm>
            <a:off x="5842000" y="3933825"/>
            <a:ext cx="685800" cy="0"/>
          </a:xfrm>
          <a:prstGeom prst="line">
            <a:avLst/>
          </a:prstGeom>
          <a:ln w="25400" cap="sq" cmpd="sng">
            <a:solidFill>
              <a:srgbClr val="FF6600"/>
            </a:solidFill>
            <a:prstDash val="solid"/>
            <a:headEnd type="none" w="med" len="med"/>
            <a:tailEnd type="triangle" w="lg" len="lg"/>
          </a:ln>
        </p:spPr>
      </p:sp>
      <p:sp>
        <p:nvSpPr>
          <p:cNvPr id="68613" name="AutoShape 1033"/>
          <p:cNvSpPr/>
          <p:nvPr/>
        </p:nvSpPr>
        <p:spPr>
          <a:xfrm>
            <a:off x="3270250" y="3783013"/>
            <a:ext cx="914400" cy="228600"/>
          </a:xfrm>
          <a:prstGeom prst="rightArrow">
            <a:avLst>
              <a:gd name="adj1" fmla="val 50000"/>
              <a:gd name="adj2" fmla="val 100000"/>
            </a:avLst>
          </a:prstGeom>
          <a:solidFill>
            <a:srgbClr val="FF6600"/>
          </a:solidFill>
          <a:ln w="25400" cap="sq" cmpd="sng">
            <a:solidFill>
              <a:srgbClr val="FF6600"/>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68614" name="AutoShape 1034"/>
          <p:cNvSpPr/>
          <p:nvPr/>
        </p:nvSpPr>
        <p:spPr>
          <a:xfrm>
            <a:off x="3297238" y="4251325"/>
            <a:ext cx="914400" cy="228600"/>
          </a:xfrm>
          <a:prstGeom prst="rightArrow">
            <a:avLst>
              <a:gd name="adj1" fmla="val 50000"/>
              <a:gd name="adj2" fmla="val 100000"/>
            </a:avLst>
          </a:prstGeom>
          <a:solidFill>
            <a:srgbClr val="FF6600"/>
          </a:solidFill>
          <a:ln w="25400" cap="sq" cmpd="sng">
            <a:solidFill>
              <a:srgbClr val="FF6600"/>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68615" name="Line 1035"/>
          <p:cNvSpPr/>
          <p:nvPr/>
        </p:nvSpPr>
        <p:spPr>
          <a:xfrm>
            <a:off x="5842000" y="4365625"/>
            <a:ext cx="685800" cy="0"/>
          </a:xfrm>
          <a:prstGeom prst="line">
            <a:avLst/>
          </a:prstGeom>
          <a:ln w="25400" cap="sq" cmpd="sng">
            <a:solidFill>
              <a:srgbClr val="FF6600"/>
            </a:solidFill>
            <a:prstDash val="solid"/>
            <a:headEnd type="none" w="med" len="med"/>
            <a:tailEnd type="triangle" w="lg" len="lg"/>
          </a:ln>
        </p:spPr>
      </p:sp>
      <p:sp>
        <p:nvSpPr>
          <p:cNvPr id="68616" name="Text Box 1040"/>
          <p:cNvSpPr txBox="1"/>
          <p:nvPr/>
        </p:nvSpPr>
        <p:spPr>
          <a:xfrm>
            <a:off x="4222750" y="3594100"/>
            <a:ext cx="1619250" cy="519113"/>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zh-CN" altLang="en-US" sz="2800" dirty="0">
                <a:latin typeface="Times New Roman" panose="02020603050405020304" pitchFamily="18" charset="0"/>
                <a:ea typeface="宋体" panose="02010600030101010101" pitchFamily="2" charset="-122"/>
              </a:rPr>
              <a:t> </a:t>
            </a:r>
            <a:r>
              <a:rPr lang="en-US" altLang="zh-CN" sz="2400" b="1" dirty="0">
                <a:solidFill>
                  <a:schemeClr val="tx2"/>
                </a:solidFill>
                <a:latin typeface="宋体" panose="02010600030101010101" pitchFamily="2" charset="-122"/>
                <a:ea typeface="宋体" panose="02010600030101010101" pitchFamily="2" charset="-122"/>
              </a:rPr>
              <a:t>AL×OPRD</a:t>
            </a:r>
            <a:endParaRPr lang="zh-CN" altLang="en-US" sz="2400" b="1" dirty="0">
              <a:solidFill>
                <a:schemeClr val="tx2"/>
              </a:solidFill>
              <a:latin typeface="宋体" panose="02010600030101010101" pitchFamily="2" charset="-122"/>
              <a:ea typeface="宋体" panose="02010600030101010101" pitchFamily="2" charset="-122"/>
            </a:endParaRPr>
          </a:p>
        </p:txBody>
      </p:sp>
      <p:sp>
        <p:nvSpPr>
          <p:cNvPr id="68617" name="Text Box 1041"/>
          <p:cNvSpPr txBox="1"/>
          <p:nvPr/>
        </p:nvSpPr>
        <p:spPr>
          <a:xfrm>
            <a:off x="4294188" y="4113213"/>
            <a:ext cx="1547812" cy="461962"/>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400" b="1" dirty="0">
                <a:solidFill>
                  <a:schemeClr val="tx2"/>
                </a:solidFill>
                <a:latin typeface="宋体" panose="02010600030101010101" pitchFamily="2" charset="-122"/>
                <a:ea typeface="宋体" panose="02010600030101010101" pitchFamily="2" charset="-122"/>
              </a:rPr>
              <a:t>AX×OPRD</a:t>
            </a:r>
            <a:endParaRPr lang="zh-CN" altLang="en-US" sz="2400" b="1" dirty="0">
              <a:solidFill>
                <a:schemeClr val="tx2"/>
              </a:solidFill>
              <a:latin typeface="宋体" panose="02010600030101010101" pitchFamily="2" charset="-122"/>
              <a:ea typeface="宋体" panose="02010600030101010101" pitchFamily="2" charset="-122"/>
            </a:endParaRPr>
          </a:p>
        </p:txBody>
      </p:sp>
      <p:sp>
        <p:nvSpPr>
          <p:cNvPr id="68618" name="Text Box 1042"/>
          <p:cNvSpPr txBox="1"/>
          <p:nvPr/>
        </p:nvSpPr>
        <p:spPr>
          <a:xfrm>
            <a:off x="6561138" y="4117975"/>
            <a:ext cx="1657350" cy="463550"/>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400" b="1" dirty="0">
                <a:solidFill>
                  <a:schemeClr val="tx2"/>
                </a:solidFill>
                <a:latin typeface="宋体" panose="02010600030101010101" pitchFamily="2" charset="-122"/>
                <a:ea typeface="宋体" panose="02010600030101010101" pitchFamily="2" charset="-122"/>
              </a:rPr>
              <a:t>DX</a:t>
            </a:r>
            <a:r>
              <a:rPr lang="zh-CN" altLang="en-US" sz="2400" b="1" dirty="0">
                <a:solidFill>
                  <a:schemeClr val="tx2"/>
                </a:solidFill>
                <a:latin typeface="宋体" panose="02010600030101010101" pitchFamily="2" charset="-122"/>
                <a:ea typeface="宋体" panose="02010600030101010101" pitchFamily="2" charset="-122"/>
              </a:rPr>
              <a:t>：</a:t>
            </a:r>
            <a:r>
              <a:rPr lang="en-US" altLang="zh-CN" sz="2400" b="1" dirty="0">
                <a:solidFill>
                  <a:schemeClr val="tx2"/>
                </a:solidFill>
                <a:latin typeface="宋体" panose="02010600030101010101" pitchFamily="2" charset="-122"/>
                <a:ea typeface="宋体" panose="02010600030101010101" pitchFamily="2" charset="-122"/>
              </a:rPr>
              <a:t>AX</a:t>
            </a:r>
            <a:endParaRPr lang="zh-CN" altLang="en-US" sz="2400" b="1" dirty="0">
              <a:solidFill>
                <a:schemeClr val="tx2"/>
              </a:solidFill>
              <a:latin typeface="宋体" panose="02010600030101010101" pitchFamily="2" charset="-122"/>
              <a:ea typeface="宋体" panose="02010600030101010101" pitchFamily="2" charset="-122"/>
            </a:endParaRPr>
          </a:p>
        </p:txBody>
      </p:sp>
      <p:sp>
        <p:nvSpPr>
          <p:cNvPr id="68619" name="Text Box 1043"/>
          <p:cNvSpPr txBox="1"/>
          <p:nvPr/>
        </p:nvSpPr>
        <p:spPr>
          <a:xfrm>
            <a:off x="6527800" y="3663950"/>
            <a:ext cx="1368425" cy="461963"/>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400" b="1" dirty="0">
                <a:solidFill>
                  <a:schemeClr val="tx2"/>
                </a:solidFill>
                <a:latin typeface="宋体" panose="02010600030101010101" pitchFamily="2" charset="-122"/>
                <a:ea typeface="宋体" panose="02010600030101010101" pitchFamily="2" charset="-122"/>
              </a:rPr>
              <a:t>AX</a:t>
            </a:r>
            <a:endParaRPr lang="zh-CN" altLang="en-US" sz="2400" b="1" dirty="0">
              <a:solidFill>
                <a:schemeClr val="tx2"/>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8611">
                                            <p:txEl>
                                              <p:charRg st="0" end="4"/>
                                            </p:txEl>
                                          </p:spTgt>
                                        </p:tgtEl>
                                        <p:attrNameLst>
                                          <p:attrName>style.visibility</p:attrName>
                                        </p:attrNameLst>
                                      </p:cBhvr>
                                      <p:to>
                                        <p:strVal val="visible"/>
                                      </p:to>
                                    </p:set>
                                    <p:animEffect transition="in" filter="wipe(left)">
                                      <p:cBhvr>
                                        <p:cTn id="7" dur="500"/>
                                        <p:tgtEl>
                                          <p:spTgt spid="68611">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8611">
                                            <p:txEl>
                                              <p:charRg st="4" end="20"/>
                                            </p:txEl>
                                          </p:spTgt>
                                        </p:tgtEl>
                                        <p:attrNameLst>
                                          <p:attrName>style.visibility</p:attrName>
                                        </p:attrNameLst>
                                      </p:cBhvr>
                                      <p:to>
                                        <p:strVal val="visible"/>
                                      </p:to>
                                    </p:set>
                                    <p:animEffect transition="in" filter="wipe(left)">
                                      <p:cBhvr>
                                        <p:cTn id="11" dur="500"/>
                                        <p:tgtEl>
                                          <p:spTgt spid="68611">
                                            <p:txEl>
                                              <p:charRg st="4" end="2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8611">
                                            <p:txEl>
                                              <p:charRg st="20" end="24"/>
                                            </p:txEl>
                                          </p:spTgt>
                                        </p:tgtEl>
                                        <p:attrNameLst>
                                          <p:attrName>style.visibility</p:attrName>
                                        </p:attrNameLst>
                                      </p:cBhvr>
                                      <p:to>
                                        <p:strVal val="visible"/>
                                      </p:to>
                                    </p:set>
                                    <p:animEffect transition="in" filter="wipe(left)">
                                      <p:cBhvr>
                                        <p:cTn id="16" dur="500"/>
                                        <p:tgtEl>
                                          <p:spTgt spid="68611">
                                            <p:txEl>
                                              <p:charRg st="20" end="2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8611">
                                            <p:txEl>
                                              <p:charRg st="24" end="38"/>
                                            </p:txEl>
                                          </p:spTgt>
                                        </p:tgtEl>
                                        <p:attrNameLst>
                                          <p:attrName>style.visibility</p:attrName>
                                        </p:attrNameLst>
                                      </p:cBhvr>
                                      <p:to>
                                        <p:strVal val="visible"/>
                                      </p:to>
                                    </p:set>
                                    <p:animEffect transition="in" filter="wipe(left)">
                                      <p:cBhvr>
                                        <p:cTn id="21" dur="500"/>
                                        <p:tgtEl>
                                          <p:spTgt spid="68611">
                                            <p:txEl>
                                              <p:charRg st="24" end="3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8613"/>
                                        </p:tgtEl>
                                        <p:attrNameLst>
                                          <p:attrName>style.visibility</p:attrName>
                                        </p:attrNameLst>
                                      </p:cBhvr>
                                      <p:to>
                                        <p:strVal val="visible"/>
                                      </p:to>
                                    </p:set>
                                    <p:animEffect transition="in" filter="wipe(left)">
                                      <p:cBhvr>
                                        <p:cTn id="26" dur="500"/>
                                        <p:tgtEl>
                                          <p:spTgt spid="68613"/>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68616"/>
                                        </p:tgtEl>
                                        <p:attrNameLst>
                                          <p:attrName>style.visibility</p:attrName>
                                        </p:attrNameLst>
                                      </p:cBhvr>
                                      <p:to>
                                        <p:strVal val="visible"/>
                                      </p:to>
                                    </p:set>
                                    <p:animEffect transition="in" filter="wipe(left)">
                                      <p:cBhvr>
                                        <p:cTn id="30" dur="500"/>
                                        <p:tgtEl>
                                          <p:spTgt spid="6861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68612"/>
                                        </p:tgtEl>
                                        <p:attrNameLst>
                                          <p:attrName>style.visibility</p:attrName>
                                        </p:attrNameLst>
                                      </p:cBhvr>
                                      <p:to>
                                        <p:strVal val="visible"/>
                                      </p:to>
                                    </p:set>
                                    <p:animEffect transition="in" filter="wipe(left)">
                                      <p:cBhvr>
                                        <p:cTn id="35" dur="500"/>
                                        <p:tgtEl>
                                          <p:spTgt spid="68612"/>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68619"/>
                                        </p:tgtEl>
                                        <p:attrNameLst>
                                          <p:attrName>style.visibility</p:attrName>
                                        </p:attrNameLst>
                                      </p:cBhvr>
                                      <p:to>
                                        <p:strVal val="visible"/>
                                      </p:to>
                                    </p:set>
                                    <p:animEffect transition="in" filter="wipe(left)">
                                      <p:cBhvr>
                                        <p:cTn id="39" dur="500"/>
                                        <p:tgtEl>
                                          <p:spTgt spid="6861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68611">
                                            <p:txEl>
                                              <p:charRg st="38" end="52"/>
                                            </p:txEl>
                                          </p:spTgt>
                                        </p:tgtEl>
                                        <p:attrNameLst>
                                          <p:attrName>style.visibility</p:attrName>
                                        </p:attrNameLst>
                                      </p:cBhvr>
                                      <p:to>
                                        <p:strVal val="visible"/>
                                      </p:to>
                                    </p:set>
                                    <p:animEffect transition="in" filter="wipe(left)">
                                      <p:cBhvr>
                                        <p:cTn id="44" dur="500"/>
                                        <p:tgtEl>
                                          <p:spTgt spid="68611">
                                            <p:txEl>
                                              <p:charRg st="38" end="5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68611">
                                            <p:txEl>
                                              <p:charRg st="52" end="75"/>
                                            </p:txEl>
                                          </p:spTgt>
                                        </p:tgtEl>
                                        <p:attrNameLst>
                                          <p:attrName>style.visibility</p:attrName>
                                        </p:attrNameLst>
                                      </p:cBhvr>
                                      <p:to>
                                        <p:strVal val="visible"/>
                                      </p:to>
                                    </p:set>
                                    <p:animEffect transition="in" filter="wipe(left)">
                                      <p:cBhvr>
                                        <p:cTn id="49" dur="500"/>
                                        <p:tgtEl>
                                          <p:spTgt spid="68611">
                                            <p:txEl>
                                              <p:charRg st="52" end="7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68614"/>
                                        </p:tgtEl>
                                        <p:attrNameLst>
                                          <p:attrName>style.visibility</p:attrName>
                                        </p:attrNameLst>
                                      </p:cBhvr>
                                      <p:to>
                                        <p:strVal val="visible"/>
                                      </p:to>
                                    </p:set>
                                    <p:animEffect transition="in" filter="wipe(left)">
                                      <p:cBhvr>
                                        <p:cTn id="54" dur="500"/>
                                        <p:tgtEl>
                                          <p:spTgt spid="68614"/>
                                        </p:tgtEl>
                                      </p:cBhvr>
                                    </p:animEffect>
                                  </p:childTnLst>
                                </p:cTn>
                              </p:par>
                            </p:childTnLst>
                          </p:cTn>
                        </p:par>
                        <p:par>
                          <p:cTn id="55" fill="hold">
                            <p:stCondLst>
                              <p:cond delay="500"/>
                            </p:stCondLst>
                            <p:childTnLst>
                              <p:par>
                                <p:cTn id="56" presetID="22" presetClass="entr" presetSubtype="8" fill="hold" grpId="0" nodeType="afterEffect">
                                  <p:stCondLst>
                                    <p:cond delay="0"/>
                                  </p:stCondLst>
                                  <p:childTnLst>
                                    <p:set>
                                      <p:cBhvr>
                                        <p:cTn id="57" dur="1" fill="hold">
                                          <p:stCondLst>
                                            <p:cond delay="0"/>
                                          </p:stCondLst>
                                        </p:cTn>
                                        <p:tgtEl>
                                          <p:spTgt spid="68617"/>
                                        </p:tgtEl>
                                        <p:attrNameLst>
                                          <p:attrName>style.visibility</p:attrName>
                                        </p:attrNameLst>
                                      </p:cBhvr>
                                      <p:to>
                                        <p:strVal val="visible"/>
                                      </p:to>
                                    </p:set>
                                    <p:animEffect transition="in" filter="wipe(left)">
                                      <p:cBhvr>
                                        <p:cTn id="58" dur="500"/>
                                        <p:tgtEl>
                                          <p:spTgt spid="6861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68615"/>
                                        </p:tgtEl>
                                        <p:attrNameLst>
                                          <p:attrName>style.visibility</p:attrName>
                                        </p:attrNameLst>
                                      </p:cBhvr>
                                      <p:to>
                                        <p:strVal val="visible"/>
                                      </p:to>
                                    </p:set>
                                    <p:animEffect transition="in" filter="wipe(left)">
                                      <p:cBhvr>
                                        <p:cTn id="63" dur="500"/>
                                        <p:tgtEl>
                                          <p:spTgt spid="68615"/>
                                        </p:tgtEl>
                                      </p:cBhvr>
                                    </p:animEffect>
                                  </p:childTnLst>
                                </p:cTn>
                              </p:par>
                            </p:childTnLst>
                          </p:cTn>
                        </p:par>
                        <p:par>
                          <p:cTn id="64" fill="hold">
                            <p:stCondLst>
                              <p:cond delay="500"/>
                            </p:stCondLst>
                            <p:childTnLst>
                              <p:par>
                                <p:cTn id="65" presetID="22" presetClass="entr" presetSubtype="8" fill="hold" grpId="0" nodeType="afterEffect">
                                  <p:stCondLst>
                                    <p:cond delay="0"/>
                                  </p:stCondLst>
                                  <p:childTnLst>
                                    <p:set>
                                      <p:cBhvr>
                                        <p:cTn id="66" dur="1" fill="hold">
                                          <p:stCondLst>
                                            <p:cond delay="0"/>
                                          </p:stCondLst>
                                        </p:cTn>
                                        <p:tgtEl>
                                          <p:spTgt spid="68618"/>
                                        </p:tgtEl>
                                        <p:attrNameLst>
                                          <p:attrName>style.visibility</p:attrName>
                                        </p:attrNameLst>
                                      </p:cBhvr>
                                      <p:to>
                                        <p:strVal val="visible"/>
                                      </p:to>
                                    </p:set>
                                    <p:animEffect transition="in" filter="wipe(left)">
                                      <p:cBhvr>
                                        <p:cTn id="67" dur="500"/>
                                        <p:tgtEl>
                                          <p:spTgt spid="68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3" grpId="0" animBg="1"/>
      <p:bldP spid="68614" grpId="0" animBg="1"/>
      <p:bldP spid="68616" grpId="0"/>
      <p:bldP spid="68617" grpId="0"/>
      <p:bldP spid="68618" grpId="0"/>
      <p:bldP spid="68619"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3"/>
          <p:cNvSpPr>
            <a:spLocks noGrp="1"/>
          </p:cNvSpPr>
          <p:nvPr>
            <p:ph type="body" idx="4294967295"/>
          </p:nvPr>
        </p:nvSpPr>
        <p:spPr>
          <a:xfrm>
            <a:off x="1116013" y="2162175"/>
            <a:ext cx="3630612" cy="641350"/>
          </a:xfrm>
        </p:spPr>
        <p:txBody>
          <a:bodyPr vert="horz" wrap="square" lIns="91440" tIns="45720" rIns="91440" bIns="45720" anchor="t" anchorCtr="0"/>
          <a:p>
            <a:pPr marL="0" indent="0" eaLnBrk="1" hangingPunct="1">
              <a:buNone/>
            </a:pPr>
            <a:r>
              <a:rPr lang="en-US" altLang="zh-CN" dirty="0">
                <a:latin typeface="宋体" panose="02010600030101010101" pitchFamily="2" charset="-122"/>
                <a:ea typeface="宋体" panose="02010600030101010101" pitchFamily="2" charset="-122"/>
              </a:rPr>
              <a:t> MUL  BYTE  PTR[BX]</a:t>
            </a:r>
            <a:endParaRPr lang="en-US" altLang="zh-CN" dirty="0">
              <a:latin typeface="宋体" panose="02010600030101010101" pitchFamily="2" charset="-122"/>
              <a:ea typeface="宋体" panose="02010600030101010101" pitchFamily="2" charset="-122"/>
            </a:endParaRPr>
          </a:p>
        </p:txBody>
      </p:sp>
      <p:sp>
        <p:nvSpPr>
          <p:cNvPr id="69635" name="Rectangle 4"/>
          <p:cNvSpPr/>
          <p:nvPr/>
        </p:nvSpPr>
        <p:spPr>
          <a:xfrm>
            <a:off x="6284913" y="2884488"/>
            <a:ext cx="1600200" cy="33528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69636" name="Line 5"/>
          <p:cNvSpPr/>
          <p:nvPr/>
        </p:nvSpPr>
        <p:spPr>
          <a:xfrm>
            <a:off x="6284913" y="3287713"/>
            <a:ext cx="1600200" cy="0"/>
          </a:xfrm>
          <a:prstGeom prst="line">
            <a:avLst/>
          </a:prstGeom>
          <a:ln w="25400" cap="sq" cmpd="sng">
            <a:solidFill>
              <a:schemeClr val="accent1"/>
            </a:solidFill>
            <a:prstDash val="solid"/>
            <a:headEnd type="none" w="med" len="med"/>
            <a:tailEnd type="none" w="med" len="med"/>
          </a:ln>
        </p:spPr>
      </p:sp>
      <p:sp>
        <p:nvSpPr>
          <p:cNvPr id="69637" name="Line 8"/>
          <p:cNvSpPr/>
          <p:nvPr/>
        </p:nvSpPr>
        <p:spPr>
          <a:xfrm>
            <a:off x="6284913" y="5116513"/>
            <a:ext cx="1600200" cy="0"/>
          </a:xfrm>
          <a:prstGeom prst="line">
            <a:avLst/>
          </a:prstGeom>
          <a:ln w="25400" cap="sq" cmpd="sng">
            <a:solidFill>
              <a:schemeClr val="accent1"/>
            </a:solidFill>
            <a:prstDash val="solid"/>
            <a:headEnd type="none" w="med" len="med"/>
            <a:tailEnd type="none" w="med" len="med"/>
          </a:ln>
        </p:spPr>
      </p:sp>
      <p:sp>
        <p:nvSpPr>
          <p:cNvPr id="69638" name="Line 9"/>
          <p:cNvSpPr/>
          <p:nvPr/>
        </p:nvSpPr>
        <p:spPr>
          <a:xfrm>
            <a:off x="6284913" y="5497513"/>
            <a:ext cx="1600200" cy="0"/>
          </a:xfrm>
          <a:prstGeom prst="line">
            <a:avLst/>
          </a:prstGeom>
          <a:ln w="25400" cap="sq" cmpd="sng">
            <a:solidFill>
              <a:schemeClr val="accent1"/>
            </a:solidFill>
            <a:prstDash val="solid"/>
            <a:headEnd type="none" w="med" len="med"/>
            <a:tailEnd type="none" w="med" len="med"/>
          </a:ln>
        </p:spPr>
      </p:sp>
      <p:sp>
        <p:nvSpPr>
          <p:cNvPr id="69639" name="Text Box 12"/>
          <p:cNvSpPr txBox="1"/>
          <p:nvPr/>
        </p:nvSpPr>
        <p:spPr>
          <a:xfrm>
            <a:off x="6818313" y="4332288"/>
            <a:ext cx="609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宋体" panose="02010600030101010101" pitchFamily="2" charset="-122"/>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p:txBody>
      </p:sp>
      <p:sp>
        <p:nvSpPr>
          <p:cNvPr id="69640" name="Text Box 13"/>
          <p:cNvSpPr txBox="1"/>
          <p:nvPr/>
        </p:nvSpPr>
        <p:spPr>
          <a:xfrm>
            <a:off x="4746625" y="3717925"/>
            <a:ext cx="7620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BX</a:t>
            </a:r>
            <a:endParaRPr lang="en-US" altLang="zh-CN" sz="2400" b="1" dirty="0">
              <a:latin typeface="Times New Roman" panose="02020603050405020304" pitchFamily="18" charset="0"/>
              <a:ea typeface="宋体" panose="02010600030101010101" pitchFamily="2" charset="-122"/>
            </a:endParaRPr>
          </a:p>
        </p:txBody>
      </p:sp>
      <p:sp>
        <p:nvSpPr>
          <p:cNvPr id="69641" name="Text Box 17"/>
          <p:cNvSpPr txBox="1"/>
          <p:nvPr/>
        </p:nvSpPr>
        <p:spPr>
          <a:xfrm>
            <a:off x="6665913" y="3619500"/>
            <a:ext cx="1066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XXH</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69642" name="Line 18"/>
          <p:cNvSpPr/>
          <p:nvPr/>
        </p:nvSpPr>
        <p:spPr>
          <a:xfrm>
            <a:off x="5394325" y="3951288"/>
            <a:ext cx="762000" cy="0"/>
          </a:xfrm>
          <a:prstGeom prst="line">
            <a:avLst/>
          </a:prstGeom>
          <a:ln w="25400" cap="sq" cmpd="sng">
            <a:solidFill>
              <a:srgbClr val="FF6600"/>
            </a:solidFill>
            <a:prstDash val="solid"/>
            <a:headEnd type="none" w="med" len="med"/>
            <a:tailEnd type="triangle" w="lg" len="lg"/>
          </a:ln>
        </p:spPr>
      </p:sp>
      <p:sp>
        <p:nvSpPr>
          <p:cNvPr id="69643" name="Line 19"/>
          <p:cNvSpPr/>
          <p:nvPr/>
        </p:nvSpPr>
        <p:spPr>
          <a:xfrm>
            <a:off x="6284913" y="2884488"/>
            <a:ext cx="0" cy="3352800"/>
          </a:xfrm>
          <a:prstGeom prst="line">
            <a:avLst/>
          </a:prstGeom>
          <a:ln w="25400" cap="sq" cmpd="sng">
            <a:solidFill>
              <a:schemeClr val="accent1"/>
            </a:solidFill>
            <a:prstDash val="solid"/>
            <a:headEnd type="none" w="med" len="med"/>
            <a:tailEnd type="none" w="med" len="med"/>
          </a:ln>
        </p:spPr>
      </p:sp>
      <p:sp>
        <p:nvSpPr>
          <p:cNvPr id="69644" name="Line 20"/>
          <p:cNvSpPr/>
          <p:nvPr/>
        </p:nvSpPr>
        <p:spPr>
          <a:xfrm>
            <a:off x="7885113" y="2884488"/>
            <a:ext cx="0" cy="3352800"/>
          </a:xfrm>
          <a:prstGeom prst="line">
            <a:avLst/>
          </a:prstGeom>
          <a:ln w="25400" cap="sq" cmpd="sng">
            <a:solidFill>
              <a:schemeClr val="accent1"/>
            </a:solidFill>
            <a:prstDash val="solid"/>
            <a:headEnd type="none" w="med" len="med"/>
            <a:tailEnd type="none" w="med" len="med"/>
          </a:ln>
        </p:spPr>
      </p:sp>
      <p:sp>
        <p:nvSpPr>
          <p:cNvPr id="69645" name="Freeform 26"/>
          <p:cNvSpPr/>
          <p:nvPr/>
        </p:nvSpPr>
        <p:spPr>
          <a:xfrm>
            <a:off x="3160713" y="3951288"/>
            <a:ext cx="3200400" cy="914400"/>
          </a:xfrm>
          <a:custGeom>
            <a:avLst/>
            <a:gdLst>
              <a:gd name="txL" fmla="*/ 0 w 2048"/>
              <a:gd name="txT" fmla="*/ 0 h 568"/>
              <a:gd name="txR" fmla="*/ 2048 w 2048"/>
              <a:gd name="txB" fmla="*/ 568 h 568"/>
            </a:gdLst>
            <a:ahLst/>
            <a:cxnLst>
              <a:cxn ang="0">
                <a:pos x="2147483647" y="0"/>
              </a:cxn>
              <a:cxn ang="0">
                <a:pos x="2147483647" y="1368389755"/>
              </a:cxn>
              <a:cxn ang="0">
                <a:pos x="547012052" y="621994776"/>
              </a:cxn>
              <a:cxn ang="0">
                <a:pos x="312578079" y="621994776"/>
              </a:cxn>
            </a:cxnLst>
            <a:rect l="txL" t="txT" r="txR" b="txB"/>
            <a:pathLst>
              <a:path w="2048" h="568">
                <a:moveTo>
                  <a:pt x="2048" y="0"/>
                </a:moveTo>
                <a:cubicBezTo>
                  <a:pt x="1912" y="244"/>
                  <a:pt x="1776" y="488"/>
                  <a:pt x="1472" y="528"/>
                </a:cubicBezTo>
                <a:cubicBezTo>
                  <a:pt x="1168" y="568"/>
                  <a:pt x="448" y="288"/>
                  <a:pt x="224" y="240"/>
                </a:cubicBezTo>
                <a:cubicBezTo>
                  <a:pt x="0" y="192"/>
                  <a:pt x="144" y="240"/>
                  <a:pt x="128" y="240"/>
                </a:cubicBezTo>
              </a:path>
            </a:pathLst>
          </a:custGeom>
          <a:noFill/>
          <a:ln w="25400" cap="sq" cmpd="sng">
            <a:solidFill>
              <a:schemeClr val="tx1">
                <a:alpha val="100000"/>
              </a:schemeClr>
            </a:solidFill>
            <a:prstDash val="solid"/>
            <a:miter lim="800000"/>
            <a:headEnd type="oval" w="lg" len="lg"/>
            <a:tailEnd type="none" w="med" len="med"/>
          </a:ln>
        </p:spPr>
        <p:txBody>
          <a:bodyPr/>
          <a:p>
            <a:endParaRPr lang="zh-CN" altLang="en-US"/>
          </a:p>
        </p:txBody>
      </p:sp>
      <p:sp>
        <p:nvSpPr>
          <p:cNvPr id="69646" name="Line 27"/>
          <p:cNvSpPr/>
          <p:nvPr/>
        </p:nvSpPr>
        <p:spPr>
          <a:xfrm flipH="1" flipV="1">
            <a:off x="3084513" y="4270375"/>
            <a:ext cx="444500" cy="76200"/>
          </a:xfrm>
          <a:prstGeom prst="line">
            <a:avLst/>
          </a:prstGeom>
          <a:ln w="25400" cap="sq" cmpd="sng">
            <a:solidFill>
              <a:schemeClr val="tx1"/>
            </a:solidFill>
            <a:prstDash val="solid"/>
            <a:headEnd type="none" w="med" len="med"/>
            <a:tailEnd type="triangle" w="lg" len="lg"/>
          </a:ln>
        </p:spPr>
      </p:sp>
      <p:sp>
        <p:nvSpPr>
          <p:cNvPr id="69647" name="Text Box 28"/>
          <p:cNvSpPr txBox="1"/>
          <p:nvPr/>
        </p:nvSpPr>
        <p:spPr>
          <a:xfrm>
            <a:off x="1187450" y="3736975"/>
            <a:ext cx="1981200" cy="519113"/>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AL </a:t>
            </a:r>
            <a:r>
              <a:rPr lang="en-US" altLang="zh-CN" sz="2800" b="1" dirty="0">
                <a:latin typeface="Arial" panose="020B0604020202020204" pitchFamily="34" charset="0"/>
                <a:ea typeface="宋体" panose="02010600030101010101" pitchFamily="2" charset="-122"/>
              </a:rPr>
              <a:t>×</a:t>
            </a:r>
            <a:r>
              <a:rPr lang="en-US" altLang="zh-CN" sz="2800" b="1" dirty="0">
                <a:latin typeface="Times New Roman" panose="02020603050405020304" pitchFamily="18" charset="0"/>
                <a:ea typeface="宋体" panose="02010600030101010101" pitchFamily="2" charset="-122"/>
              </a:rPr>
              <a:t>XX</a:t>
            </a:r>
            <a:r>
              <a:rPr lang="en-US" altLang="zh-CN" sz="2800" b="1" dirty="0">
                <a:latin typeface="Arial" panose="020B0604020202020204" pitchFamily="34" charset="0"/>
                <a:ea typeface="宋体" panose="02010600030101010101" pitchFamily="2" charset="-122"/>
              </a:rPr>
              <a:t>H</a:t>
            </a:r>
            <a:endParaRPr lang="en-US" altLang="zh-CN" sz="2800" b="1" dirty="0">
              <a:latin typeface="Arial" panose="020B0604020202020204" pitchFamily="34" charset="0"/>
              <a:ea typeface="宋体" panose="02010600030101010101" pitchFamily="2" charset="-122"/>
            </a:endParaRPr>
          </a:p>
        </p:txBody>
      </p:sp>
      <p:sp>
        <p:nvSpPr>
          <p:cNvPr id="69648" name="Text Box 30"/>
          <p:cNvSpPr txBox="1"/>
          <p:nvPr/>
        </p:nvSpPr>
        <p:spPr>
          <a:xfrm>
            <a:off x="1778000" y="4956175"/>
            <a:ext cx="762000" cy="519113"/>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800" b="1" dirty="0">
                <a:latin typeface="Arial" panose="020B0604020202020204" pitchFamily="34" charset="0"/>
                <a:ea typeface="宋体" panose="02010600030101010101" pitchFamily="2" charset="-122"/>
              </a:rPr>
              <a:t>AX</a:t>
            </a:r>
            <a:endParaRPr lang="zh-CN" altLang="en-US" sz="2400" dirty="0">
              <a:latin typeface="Times New Roman" panose="02020603050405020304" pitchFamily="18" charset="0"/>
              <a:ea typeface="宋体" panose="02010600030101010101" pitchFamily="2" charset="-122"/>
            </a:endParaRPr>
          </a:p>
        </p:txBody>
      </p:sp>
      <p:sp>
        <p:nvSpPr>
          <p:cNvPr id="69649" name="Line 31"/>
          <p:cNvSpPr/>
          <p:nvPr/>
        </p:nvSpPr>
        <p:spPr>
          <a:xfrm>
            <a:off x="2170113" y="4346575"/>
            <a:ext cx="0" cy="609600"/>
          </a:xfrm>
          <a:prstGeom prst="line">
            <a:avLst/>
          </a:prstGeom>
          <a:ln w="25400" cap="sq" cmpd="sng">
            <a:solidFill>
              <a:srgbClr val="FF6600"/>
            </a:solidFill>
            <a:prstDash val="solid"/>
            <a:headEnd type="none" w="med" len="med"/>
            <a:tailEnd type="triangle" w="lg" len="lg"/>
          </a:ln>
        </p:spPr>
      </p:sp>
      <p:sp>
        <p:nvSpPr>
          <p:cNvPr id="69650" name="Line 6"/>
          <p:cNvSpPr/>
          <p:nvPr/>
        </p:nvSpPr>
        <p:spPr>
          <a:xfrm>
            <a:off x="6284913" y="3668713"/>
            <a:ext cx="1600200" cy="0"/>
          </a:xfrm>
          <a:prstGeom prst="line">
            <a:avLst/>
          </a:prstGeom>
          <a:ln w="25400" cap="sq" cmpd="sng">
            <a:solidFill>
              <a:schemeClr val="accent1"/>
            </a:solidFill>
            <a:prstDash val="solid"/>
            <a:headEnd type="none" w="med" len="med"/>
            <a:tailEnd type="none" w="med" len="med"/>
          </a:ln>
        </p:spPr>
      </p:sp>
      <p:sp>
        <p:nvSpPr>
          <p:cNvPr id="69651" name="Line 7"/>
          <p:cNvSpPr/>
          <p:nvPr/>
        </p:nvSpPr>
        <p:spPr>
          <a:xfrm>
            <a:off x="6284913" y="4049713"/>
            <a:ext cx="1600200" cy="0"/>
          </a:xfrm>
          <a:prstGeom prst="line">
            <a:avLst/>
          </a:prstGeom>
          <a:ln w="25400" cap="sq" cmpd="sng">
            <a:solidFill>
              <a:schemeClr val="accent1"/>
            </a:solidFill>
            <a:prstDash val="solid"/>
            <a:headEnd type="none" w="med" len="med"/>
            <a:tailEnd type="none" w="med" len="med"/>
          </a:ln>
        </p:spPr>
      </p:sp>
      <p:sp>
        <p:nvSpPr>
          <p:cNvPr id="70676" name="文本框 2"/>
          <p:cNvSpPr txBox="1"/>
          <p:nvPr/>
        </p:nvSpPr>
        <p:spPr>
          <a:xfrm>
            <a:off x="1116013" y="1412875"/>
            <a:ext cx="3960812" cy="523875"/>
          </a:xfrm>
          <a:prstGeom prst="rect">
            <a:avLst/>
          </a:prstGeom>
          <a:noFill/>
          <a:ln w="9525">
            <a:noFill/>
          </a:ln>
        </p:spPr>
        <p:txBody>
          <a:bodyPr>
            <a:spAutoFit/>
          </a:bodyPr>
          <a:p>
            <a:pPr eaLnBrk="0" hangingPunct="0">
              <a:buFont typeface="Wingdings" panose="05000000000000000000" pitchFamily="2" charset="2"/>
            </a:pP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例</a:t>
            </a:r>
            <a:r>
              <a:rPr lang="en-US" altLang="zh-CN" sz="2800" dirty="0">
                <a:latin typeface="宋体" panose="02010600030101010101" pitchFamily="2" charset="-122"/>
                <a:ea typeface="宋体" panose="02010600030101010101" pitchFamily="2" charset="-122"/>
              </a:rPr>
              <a:t>】</a:t>
            </a:r>
            <a:endParaRPr lang="zh-CN" altLang="en-US" sz="28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9634">
                                            <p:txEl>
                                              <p:charRg st="0" end="20"/>
                                            </p:txEl>
                                          </p:spTgt>
                                        </p:tgtEl>
                                        <p:attrNameLst>
                                          <p:attrName>style.visibility</p:attrName>
                                        </p:attrNameLst>
                                      </p:cBhvr>
                                      <p:to>
                                        <p:strVal val="visible"/>
                                      </p:to>
                                    </p:set>
                                    <p:animEffect transition="in" filter="wipe(left)">
                                      <p:cBhvr>
                                        <p:cTn id="7" dur="500"/>
                                        <p:tgtEl>
                                          <p:spTgt spid="69634">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9635"/>
                                        </p:tgtEl>
                                        <p:attrNameLst>
                                          <p:attrName>style.visibility</p:attrName>
                                        </p:attrNameLst>
                                      </p:cBhvr>
                                      <p:to>
                                        <p:strVal val="visible"/>
                                      </p:to>
                                    </p:set>
                                    <p:anim calcmode="lin" valueType="num">
                                      <p:cBhvr>
                                        <p:cTn id="12" dur="500" fill="hold"/>
                                        <p:tgtEl>
                                          <p:spTgt spid="69635"/>
                                        </p:tgtEl>
                                        <p:attrNameLst>
                                          <p:attrName>ppt_x</p:attrName>
                                        </p:attrNameLst>
                                      </p:cBhvr>
                                      <p:tavLst>
                                        <p:tav tm="0">
                                          <p:val>
                                            <p:strVal val="#ppt_x"/>
                                          </p:val>
                                        </p:tav>
                                        <p:tav tm="100000">
                                          <p:val>
                                            <p:strVal val="#ppt_x"/>
                                          </p:val>
                                        </p:tav>
                                      </p:tavLst>
                                    </p:anim>
                                    <p:anim calcmode="lin" valueType="num">
                                      <p:cBhvr>
                                        <p:cTn id="13" dur="500" fill="hold"/>
                                        <p:tgtEl>
                                          <p:spTgt spid="69635"/>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69636"/>
                                        </p:tgtEl>
                                        <p:attrNameLst>
                                          <p:attrName>style.visibility</p:attrName>
                                        </p:attrNameLst>
                                      </p:cBhvr>
                                      <p:to>
                                        <p:strVal val="visible"/>
                                      </p:to>
                                    </p:set>
                                    <p:anim calcmode="lin" valueType="num">
                                      <p:cBhvr>
                                        <p:cTn id="16" dur="500" fill="hold"/>
                                        <p:tgtEl>
                                          <p:spTgt spid="69636"/>
                                        </p:tgtEl>
                                        <p:attrNameLst>
                                          <p:attrName>ppt_x</p:attrName>
                                        </p:attrNameLst>
                                      </p:cBhvr>
                                      <p:tavLst>
                                        <p:tav tm="0">
                                          <p:val>
                                            <p:strVal val="#ppt_x"/>
                                          </p:val>
                                        </p:tav>
                                        <p:tav tm="100000">
                                          <p:val>
                                            <p:strVal val="#ppt_x"/>
                                          </p:val>
                                        </p:tav>
                                      </p:tavLst>
                                    </p:anim>
                                    <p:anim calcmode="lin" valueType="num">
                                      <p:cBhvr>
                                        <p:cTn id="17" dur="500" fill="hold"/>
                                        <p:tgtEl>
                                          <p:spTgt spid="69636"/>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69650"/>
                                        </p:tgtEl>
                                        <p:attrNameLst>
                                          <p:attrName>style.visibility</p:attrName>
                                        </p:attrNameLst>
                                      </p:cBhvr>
                                      <p:to>
                                        <p:strVal val="visible"/>
                                      </p:to>
                                    </p:set>
                                    <p:anim calcmode="lin" valueType="num">
                                      <p:cBhvr>
                                        <p:cTn id="20" dur="500" fill="hold"/>
                                        <p:tgtEl>
                                          <p:spTgt spid="69650"/>
                                        </p:tgtEl>
                                        <p:attrNameLst>
                                          <p:attrName>ppt_x</p:attrName>
                                        </p:attrNameLst>
                                      </p:cBhvr>
                                      <p:tavLst>
                                        <p:tav tm="0">
                                          <p:val>
                                            <p:strVal val="#ppt_x"/>
                                          </p:val>
                                        </p:tav>
                                        <p:tav tm="100000">
                                          <p:val>
                                            <p:strVal val="#ppt_x"/>
                                          </p:val>
                                        </p:tav>
                                      </p:tavLst>
                                    </p:anim>
                                    <p:anim calcmode="lin" valueType="num">
                                      <p:cBhvr>
                                        <p:cTn id="21" dur="500" fill="hold"/>
                                        <p:tgtEl>
                                          <p:spTgt spid="69650"/>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69651"/>
                                        </p:tgtEl>
                                        <p:attrNameLst>
                                          <p:attrName>style.visibility</p:attrName>
                                        </p:attrNameLst>
                                      </p:cBhvr>
                                      <p:to>
                                        <p:strVal val="visible"/>
                                      </p:to>
                                    </p:set>
                                    <p:anim calcmode="lin" valueType="num">
                                      <p:cBhvr>
                                        <p:cTn id="24" dur="500" fill="hold"/>
                                        <p:tgtEl>
                                          <p:spTgt spid="69651"/>
                                        </p:tgtEl>
                                        <p:attrNameLst>
                                          <p:attrName>ppt_x</p:attrName>
                                        </p:attrNameLst>
                                      </p:cBhvr>
                                      <p:tavLst>
                                        <p:tav tm="0">
                                          <p:val>
                                            <p:strVal val="#ppt_x"/>
                                          </p:val>
                                        </p:tav>
                                        <p:tav tm="100000">
                                          <p:val>
                                            <p:strVal val="#ppt_x"/>
                                          </p:val>
                                        </p:tav>
                                      </p:tavLst>
                                    </p:anim>
                                    <p:anim calcmode="lin" valueType="num">
                                      <p:cBhvr>
                                        <p:cTn id="25" dur="500" fill="hold"/>
                                        <p:tgtEl>
                                          <p:spTgt spid="69651"/>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69637"/>
                                        </p:tgtEl>
                                        <p:attrNameLst>
                                          <p:attrName>style.visibility</p:attrName>
                                        </p:attrNameLst>
                                      </p:cBhvr>
                                      <p:to>
                                        <p:strVal val="visible"/>
                                      </p:to>
                                    </p:set>
                                    <p:anim calcmode="lin" valueType="num">
                                      <p:cBhvr>
                                        <p:cTn id="28" dur="500" fill="hold"/>
                                        <p:tgtEl>
                                          <p:spTgt spid="69637"/>
                                        </p:tgtEl>
                                        <p:attrNameLst>
                                          <p:attrName>ppt_x</p:attrName>
                                        </p:attrNameLst>
                                      </p:cBhvr>
                                      <p:tavLst>
                                        <p:tav tm="0">
                                          <p:val>
                                            <p:strVal val="#ppt_x"/>
                                          </p:val>
                                        </p:tav>
                                        <p:tav tm="100000">
                                          <p:val>
                                            <p:strVal val="#ppt_x"/>
                                          </p:val>
                                        </p:tav>
                                      </p:tavLst>
                                    </p:anim>
                                    <p:anim calcmode="lin" valueType="num">
                                      <p:cBhvr>
                                        <p:cTn id="29" dur="500" fill="hold"/>
                                        <p:tgtEl>
                                          <p:spTgt spid="69637"/>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69638"/>
                                        </p:tgtEl>
                                        <p:attrNameLst>
                                          <p:attrName>style.visibility</p:attrName>
                                        </p:attrNameLst>
                                      </p:cBhvr>
                                      <p:to>
                                        <p:strVal val="visible"/>
                                      </p:to>
                                    </p:set>
                                    <p:anim calcmode="lin" valueType="num">
                                      <p:cBhvr>
                                        <p:cTn id="32" dur="500" fill="hold"/>
                                        <p:tgtEl>
                                          <p:spTgt spid="69638"/>
                                        </p:tgtEl>
                                        <p:attrNameLst>
                                          <p:attrName>ppt_x</p:attrName>
                                        </p:attrNameLst>
                                      </p:cBhvr>
                                      <p:tavLst>
                                        <p:tav tm="0">
                                          <p:val>
                                            <p:strVal val="#ppt_x"/>
                                          </p:val>
                                        </p:tav>
                                        <p:tav tm="100000">
                                          <p:val>
                                            <p:strVal val="#ppt_x"/>
                                          </p:val>
                                        </p:tav>
                                      </p:tavLst>
                                    </p:anim>
                                    <p:anim calcmode="lin" valueType="num">
                                      <p:cBhvr>
                                        <p:cTn id="33" dur="500" fill="hold"/>
                                        <p:tgtEl>
                                          <p:spTgt spid="69638"/>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69639"/>
                                        </p:tgtEl>
                                        <p:attrNameLst>
                                          <p:attrName>style.visibility</p:attrName>
                                        </p:attrNameLst>
                                      </p:cBhvr>
                                      <p:to>
                                        <p:strVal val="visible"/>
                                      </p:to>
                                    </p:set>
                                    <p:anim calcmode="lin" valueType="num">
                                      <p:cBhvr>
                                        <p:cTn id="36" dur="500" fill="hold"/>
                                        <p:tgtEl>
                                          <p:spTgt spid="69639"/>
                                        </p:tgtEl>
                                        <p:attrNameLst>
                                          <p:attrName>ppt_x</p:attrName>
                                        </p:attrNameLst>
                                      </p:cBhvr>
                                      <p:tavLst>
                                        <p:tav tm="0">
                                          <p:val>
                                            <p:strVal val="#ppt_x"/>
                                          </p:val>
                                        </p:tav>
                                        <p:tav tm="100000">
                                          <p:val>
                                            <p:strVal val="#ppt_x"/>
                                          </p:val>
                                        </p:tav>
                                      </p:tavLst>
                                    </p:anim>
                                    <p:anim calcmode="lin" valueType="num">
                                      <p:cBhvr>
                                        <p:cTn id="37" dur="500" fill="hold"/>
                                        <p:tgtEl>
                                          <p:spTgt spid="69639"/>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69641"/>
                                        </p:tgtEl>
                                        <p:attrNameLst>
                                          <p:attrName>style.visibility</p:attrName>
                                        </p:attrNameLst>
                                      </p:cBhvr>
                                      <p:to>
                                        <p:strVal val="visible"/>
                                      </p:to>
                                    </p:set>
                                    <p:anim calcmode="lin" valueType="num">
                                      <p:cBhvr>
                                        <p:cTn id="40" dur="500" fill="hold"/>
                                        <p:tgtEl>
                                          <p:spTgt spid="69641"/>
                                        </p:tgtEl>
                                        <p:attrNameLst>
                                          <p:attrName>ppt_x</p:attrName>
                                        </p:attrNameLst>
                                      </p:cBhvr>
                                      <p:tavLst>
                                        <p:tav tm="0">
                                          <p:val>
                                            <p:strVal val="#ppt_x"/>
                                          </p:val>
                                        </p:tav>
                                        <p:tav tm="100000">
                                          <p:val>
                                            <p:strVal val="#ppt_x"/>
                                          </p:val>
                                        </p:tav>
                                      </p:tavLst>
                                    </p:anim>
                                    <p:anim calcmode="lin" valueType="num">
                                      <p:cBhvr>
                                        <p:cTn id="41" dur="500" fill="hold"/>
                                        <p:tgtEl>
                                          <p:spTgt spid="69641"/>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69643"/>
                                        </p:tgtEl>
                                        <p:attrNameLst>
                                          <p:attrName>style.visibility</p:attrName>
                                        </p:attrNameLst>
                                      </p:cBhvr>
                                      <p:to>
                                        <p:strVal val="visible"/>
                                      </p:to>
                                    </p:set>
                                    <p:anim calcmode="lin" valueType="num">
                                      <p:cBhvr>
                                        <p:cTn id="44" dur="500" fill="hold"/>
                                        <p:tgtEl>
                                          <p:spTgt spid="69643"/>
                                        </p:tgtEl>
                                        <p:attrNameLst>
                                          <p:attrName>ppt_x</p:attrName>
                                        </p:attrNameLst>
                                      </p:cBhvr>
                                      <p:tavLst>
                                        <p:tav tm="0">
                                          <p:val>
                                            <p:strVal val="#ppt_x"/>
                                          </p:val>
                                        </p:tav>
                                        <p:tav tm="100000">
                                          <p:val>
                                            <p:strVal val="#ppt_x"/>
                                          </p:val>
                                        </p:tav>
                                      </p:tavLst>
                                    </p:anim>
                                    <p:anim calcmode="lin" valueType="num">
                                      <p:cBhvr>
                                        <p:cTn id="45" dur="500" fill="hold"/>
                                        <p:tgtEl>
                                          <p:spTgt spid="69643"/>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69644"/>
                                        </p:tgtEl>
                                        <p:attrNameLst>
                                          <p:attrName>style.visibility</p:attrName>
                                        </p:attrNameLst>
                                      </p:cBhvr>
                                      <p:to>
                                        <p:strVal val="visible"/>
                                      </p:to>
                                    </p:set>
                                    <p:anim calcmode="lin" valueType="num">
                                      <p:cBhvr>
                                        <p:cTn id="48" dur="500" fill="hold"/>
                                        <p:tgtEl>
                                          <p:spTgt spid="69644"/>
                                        </p:tgtEl>
                                        <p:attrNameLst>
                                          <p:attrName>ppt_x</p:attrName>
                                        </p:attrNameLst>
                                      </p:cBhvr>
                                      <p:tavLst>
                                        <p:tav tm="0">
                                          <p:val>
                                            <p:strVal val="#ppt_x"/>
                                          </p:val>
                                        </p:tav>
                                        <p:tav tm="100000">
                                          <p:val>
                                            <p:strVal val="#ppt_x"/>
                                          </p:val>
                                        </p:tav>
                                      </p:tavLst>
                                    </p:anim>
                                    <p:anim calcmode="lin" valueType="num">
                                      <p:cBhvr>
                                        <p:cTn id="49" dur="500" fill="hold"/>
                                        <p:tgtEl>
                                          <p:spTgt spid="69644"/>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69640"/>
                                        </p:tgtEl>
                                        <p:attrNameLst>
                                          <p:attrName>style.visibility</p:attrName>
                                        </p:attrNameLst>
                                      </p:cBhvr>
                                      <p:to>
                                        <p:strVal val="visible"/>
                                      </p:to>
                                    </p:set>
                                    <p:animEffect transition="in" filter="wipe(left)">
                                      <p:cBhvr>
                                        <p:cTn id="54" dur="500"/>
                                        <p:tgtEl>
                                          <p:spTgt spid="69640"/>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69642"/>
                                        </p:tgtEl>
                                        <p:attrNameLst>
                                          <p:attrName>style.visibility</p:attrName>
                                        </p:attrNameLst>
                                      </p:cBhvr>
                                      <p:to>
                                        <p:strVal val="visible"/>
                                      </p:to>
                                    </p:set>
                                    <p:animEffect transition="in" filter="wipe(left)">
                                      <p:cBhvr>
                                        <p:cTn id="58" dur="500"/>
                                        <p:tgtEl>
                                          <p:spTgt spid="69642"/>
                                        </p:tgtEl>
                                      </p:cBhvr>
                                    </p:animEffect>
                                  </p:childTnLst>
                                </p:cTn>
                              </p:par>
                            </p:childTnLst>
                          </p:cTn>
                        </p:par>
                      </p:childTnLst>
                    </p:cTn>
                  </p:par>
                  <p:par>
                    <p:cTn id="59" fill="hold">
                      <p:stCondLst>
                        <p:cond delay="indefinite"/>
                      </p:stCondLst>
                      <p:childTnLst>
                        <p:par>
                          <p:cTn id="60" fill="hold">
                            <p:stCondLst>
                              <p:cond delay="0"/>
                            </p:stCondLst>
                            <p:childTnLst>
                              <p:par>
                                <p:cTn id="61" presetID="27" presetClass="emph" presetSubtype="0" repeatCount="4000" fill="hold" grpId="1" nodeType="clickEffect">
                                  <p:stCondLst>
                                    <p:cond delay="0"/>
                                  </p:stCondLst>
                                  <p:childTnLst>
                                    <p:animClr clrSpc="rgb" dir="cw">
                                      <p:cBhvr override="childStyle">
                                        <p:cTn id="62" dur="250" autoRev="1" fill="hold"/>
                                        <p:tgtEl>
                                          <p:spTgt spid="69641"/>
                                        </p:tgtEl>
                                        <p:attrNameLst>
                                          <p:attrName>style.color</p:attrName>
                                        </p:attrNameLst>
                                      </p:cBhvr>
                                      <p:to>
                                        <a:schemeClr val="bg1"/>
                                      </p:to>
                                    </p:animClr>
                                    <p:animClr clrSpc="rgb" dir="cw">
                                      <p:cBhvr>
                                        <p:cTn id="63" dur="250" autoRev="1" fill="hold"/>
                                        <p:tgtEl>
                                          <p:spTgt spid="69641"/>
                                        </p:tgtEl>
                                        <p:attrNameLst>
                                          <p:attrName>fillcolor</p:attrName>
                                        </p:attrNameLst>
                                      </p:cBhvr>
                                      <p:to>
                                        <a:schemeClr val="bg1"/>
                                      </p:to>
                                    </p:animClr>
                                    <p:set>
                                      <p:cBhvr>
                                        <p:cTn id="64" dur="250" autoRev="1" fill="hold"/>
                                        <p:tgtEl>
                                          <p:spTgt spid="69641"/>
                                        </p:tgtEl>
                                        <p:attrNameLst>
                                          <p:attrName>fill.type</p:attrName>
                                        </p:attrNameLst>
                                      </p:cBhvr>
                                      <p:to>
                                        <p:strVal val="solid"/>
                                      </p:to>
                                    </p:set>
                                    <p:set>
                                      <p:cBhvr>
                                        <p:cTn id="65" dur="250" autoRev="1" fill="hold"/>
                                        <p:tgtEl>
                                          <p:spTgt spid="69641"/>
                                        </p:tgtEl>
                                        <p:attrNameLst>
                                          <p:attrName>fill.on</p:attrName>
                                        </p:attrNameLst>
                                      </p:cBhvr>
                                      <p:to>
                                        <p:strVal val="true"/>
                                      </p:to>
                                    </p:set>
                                  </p:childTnLst>
                                </p:cTn>
                              </p:par>
                            </p:childTnLst>
                          </p:cTn>
                        </p:par>
                        <p:par>
                          <p:cTn id="66" fill="hold">
                            <p:stCondLst>
                              <p:cond delay="500"/>
                            </p:stCondLst>
                            <p:childTnLst>
                              <p:par>
                                <p:cTn id="67" presetID="18" presetClass="entr" presetSubtype="12" fill="hold" nodeType="afterEffect">
                                  <p:stCondLst>
                                    <p:cond delay="0"/>
                                  </p:stCondLst>
                                  <p:childTnLst>
                                    <p:set>
                                      <p:cBhvr>
                                        <p:cTn id="68" dur="1" fill="hold">
                                          <p:stCondLst>
                                            <p:cond delay="0"/>
                                          </p:stCondLst>
                                        </p:cTn>
                                        <p:tgtEl>
                                          <p:spTgt spid="69645"/>
                                        </p:tgtEl>
                                        <p:attrNameLst>
                                          <p:attrName>style.visibility</p:attrName>
                                        </p:attrNameLst>
                                      </p:cBhvr>
                                      <p:to>
                                        <p:strVal val="visible"/>
                                      </p:to>
                                    </p:set>
                                    <p:animEffect transition="in" filter="strips(downLeft)">
                                      <p:cBhvr>
                                        <p:cTn id="69" dur="1000"/>
                                        <p:tgtEl>
                                          <p:spTgt spid="69645"/>
                                        </p:tgtEl>
                                      </p:cBhvr>
                                    </p:animEffect>
                                  </p:childTnLst>
                                </p:cTn>
                              </p:par>
                            </p:childTnLst>
                          </p:cTn>
                        </p:par>
                        <p:par>
                          <p:cTn id="70" fill="hold">
                            <p:stCondLst>
                              <p:cond delay="1500"/>
                            </p:stCondLst>
                            <p:childTnLst>
                              <p:par>
                                <p:cTn id="71" presetID="18" presetClass="entr" presetSubtype="12" fill="hold" nodeType="afterEffect">
                                  <p:stCondLst>
                                    <p:cond delay="0"/>
                                  </p:stCondLst>
                                  <p:childTnLst>
                                    <p:set>
                                      <p:cBhvr>
                                        <p:cTn id="72" dur="1" fill="hold">
                                          <p:stCondLst>
                                            <p:cond delay="0"/>
                                          </p:stCondLst>
                                        </p:cTn>
                                        <p:tgtEl>
                                          <p:spTgt spid="69646"/>
                                        </p:tgtEl>
                                        <p:attrNameLst>
                                          <p:attrName>style.visibility</p:attrName>
                                        </p:attrNameLst>
                                      </p:cBhvr>
                                      <p:to>
                                        <p:strVal val="visible"/>
                                      </p:to>
                                    </p:set>
                                    <p:animEffect transition="in" filter="strips(downLeft)">
                                      <p:cBhvr>
                                        <p:cTn id="73" dur="500"/>
                                        <p:tgtEl>
                                          <p:spTgt spid="69646"/>
                                        </p:tgtEl>
                                      </p:cBhvr>
                                    </p:animEffect>
                                  </p:childTnLst>
                                </p:cTn>
                              </p:par>
                            </p:childTnLst>
                          </p:cTn>
                        </p:par>
                        <p:par>
                          <p:cTn id="74" fill="hold">
                            <p:stCondLst>
                              <p:cond delay="2000"/>
                            </p:stCondLst>
                            <p:childTnLst>
                              <p:par>
                                <p:cTn id="75" presetID="22" presetClass="entr" presetSubtype="8" fill="hold" grpId="0" nodeType="afterEffect">
                                  <p:stCondLst>
                                    <p:cond delay="500"/>
                                  </p:stCondLst>
                                  <p:childTnLst>
                                    <p:set>
                                      <p:cBhvr>
                                        <p:cTn id="76" dur="1" fill="hold">
                                          <p:stCondLst>
                                            <p:cond delay="0"/>
                                          </p:stCondLst>
                                        </p:cTn>
                                        <p:tgtEl>
                                          <p:spTgt spid="69647"/>
                                        </p:tgtEl>
                                        <p:attrNameLst>
                                          <p:attrName>style.visibility</p:attrName>
                                        </p:attrNameLst>
                                      </p:cBhvr>
                                      <p:to>
                                        <p:strVal val="visible"/>
                                      </p:to>
                                    </p:set>
                                    <p:animEffect transition="in" filter="wipe(left)">
                                      <p:cBhvr>
                                        <p:cTn id="77" dur="500"/>
                                        <p:tgtEl>
                                          <p:spTgt spid="69647"/>
                                        </p:tgtEl>
                                      </p:cBhvr>
                                    </p:animEffect>
                                  </p:childTnLst>
                                </p:cTn>
                              </p:par>
                            </p:childTnLst>
                          </p:cTn>
                        </p:par>
                        <p:par>
                          <p:cTn id="78" fill="hold">
                            <p:stCondLst>
                              <p:cond delay="3000"/>
                            </p:stCondLst>
                            <p:childTnLst>
                              <p:par>
                                <p:cTn id="79" presetID="22" presetClass="entr" presetSubtype="1" fill="hold" nodeType="afterEffect">
                                  <p:stCondLst>
                                    <p:cond delay="0"/>
                                  </p:stCondLst>
                                  <p:childTnLst>
                                    <p:set>
                                      <p:cBhvr>
                                        <p:cTn id="80" dur="1" fill="hold">
                                          <p:stCondLst>
                                            <p:cond delay="0"/>
                                          </p:stCondLst>
                                        </p:cTn>
                                        <p:tgtEl>
                                          <p:spTgt spid="69649"/>
                                        </p:tgtEl>
                                        <p:attrNameLst>
                                          <p:attrName>style.visibility</p:attrName>
                                        </p:attrNameLst>
                                      </p:cBhvr>
                                      <p:to>
                                        <p:strVal val="visible"/>
                                      </p:to>
                                    </p:set>
                                    <p:animEffect transition="in" filter="wipe(up)">
                                      <p:cBhvr>
                                        <p:cTn id="81" dur="500"/>
                                        <p:tgtEl>
                                          <p:spTgt spid="69649"/>
                                        </p:tgtEl>
                                      </p:cBhvr>
                                    </p:animEffect>
                                  </p:childTnLst>
                                </p:cTn>
                              </p:par>
                            </p:childTnLst>
                          </p:cTn>
                        </p:par>
                        <p:par>
                          <p:cTn id="82" fill="hold">
                            <p:stCondLst>
                              <p:cond delay="3500"/>
                            </p:stCondLst>
                            <p:childTnLst>
                              <p:par>
                                <p:cTn id="83" presetID="22" presetClass="entr" presetSubtype="8" fill="hold" grpId="0" nodeType="afterEffect">
                                  <p:stCondLst>
                                    <p:cond delay="500"/>
                                  </p:stCondLst>
                                  <p:childTnLst>
                                    <p:set>
                                      <p:cBhvr>
                                        <p:cTn id="84" dur="1" fill="hold">
                                          <p:stCondLst>
                                            <p:cond delay="0"/>
                                          </p:stCondLst>
                                        </p:cTn>
                                        <p:tgtEl>
                                          <p:spTgt spid="69648"/>
                                        </p:tgtEl>
                                        <p:attrNameLst>
                                          <p:attrName>style.visibility</p:attrName>
                                        </p:attrNameLst>
                                      </p:cBhvr>
                                      <p:to>
                                        <p:strVal val="visible"/>
                                      </p:to>
                                    </p:set>
                                    <p:animEffect transition="in" filter="wipe(left)">
                                      <p:cBhvr>
                                        <p:cTn id="85" dur="500"/>
                                        <p:tgtEl>
                                          <p:spTgt spid="69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animBg="1"/>
      <p:bldP spid="69639" grpId="0"/>
      <p:bldP spid="69640" grpId="0"/>
      <p:bldP spid="69641" grpId="0"/>
      <p:bldP spid="69641" grpId="1"/>
      <p:bldP spid="69647" grpId="0"/>
      <p:bldP spid="6964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1026"/>
          <p:cNvSpPr>
            <a:spLocks noGrp="1"/>
          </p:cNvSpPr>
          <p:nvPr>
            <p:ph type="title" idx="4294967295"/>
          </p:nvPr>
        </p:nvSpPr>
        <p:spPr>
          <a:xfrm>
            <a:off x="552450" y="1165225"/>
            <a:ext cx="6553200" cy="563563"/>
          </a:xfrm>
        </p:spPr>
        <p:txBody>
          <a:bodyPr vert="horz" wrap="square" lIns="91440" tIns="45720" rIns="91440" bIns="45720" anchor="ctr" anchorCtr="0"/>
          <a:p>
            <a:pPr eaLnBrk="1" hangingPunct="1"/>
            <a:r>
              <a:rPr lang="zh-CN" altLang="en-US" dirty="0">
                <a:solidFill>
                  <a:srgbClr val="000033"/>
                </a:solidFill>
                <a:ea typeface="宋体" panose="02010600030101010101" pitchFamily="2" charset="-122"/>
              </a:rPr>
              <a:t>（</a:t>
            </a:r>
            <a:r>
              <a:rPr lang="en-US" altLang="zh-CN" dirty="0">
                <a:solidFill>
                  <a:srgbClr val="000033"/>
                </a:solidFill>
                <a:ea typeface="宋体" panose="02010600030101010101" pitchFamily="2" charset="-122"/>
              </a:rPr>
              <a:t>2</a:t>
            </a:r>
            <a:r>
              <a:rPr lang="zh-CN" altLang="en-US" dirty="0">
                <a:solidFill>
                  <a:srgbClr val="000033"/>
                </a:solidFill>
                <a:ea typeface="宋体" panose="02010600030101010101" pitchFamily="2" charset="-122"/>
              </a:rPr>
              <a:t>）带符号数乘法指令</a:t>
            </a:r>
            <a:endParaRPr lang="zh-CN" altLang="en-US" dirty="0">
              <a:solidFill>
                <a:srgbClr val="000033"/>
              </a:solidFill>
              <a:ea typeface="宋体" panose="02010600030101010101" pitchFamily="2" charset="-122"/>
            </a:endParaRPr>
          </a:p>
        </p:txBody>
      </p:sp>
      <p:sp>
        <p:nvSpPr>
          <p:cNvPr id="70659" name="Rectangle 1027"/>
          <p:cNvSpPr>
            <a:spLocks noGrp="1"/>
          </p:cNvSpPr>
          <p:nvPr>
            <p:ph type="body" idx="4294967295"/>
          </p:nvPr>
        </p:nvSpPr>
        <p:spPr>
          <a:xfrm>
            <a:off x="501650" y="2060575"/>
            <a:ext cx="7686675" cy="2663825"/>
          </a:xfrm>
        </p:spPr>
        <p:txBody>
          <a:bodyPr vert="horz" wrap="square" lIns="91440" tIns="45720" rIns="91440" bIns="45720" anchor="t" anchorCtr="0"/>
          <a:p>
            <a:pPr eaLnBrk="1" hangingPunct="1">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格式：</a:t>
            </a:r>
            <a:endParaRPr lang="zh-CN" altLang="en-US" sz="2400" dirty="0">
              <a:latin typeface="宋体" panose="02010600030101010101" pitchFamily="2" charset="-122"/>
              <a:ea typeface="宋体" panose="02010600030101010101" pitchFamily="2" charset="-122"/>
            </a:endParaRPr>
          </a:p>
          <a:p>
            <a:pPr eaLnBrk="1" hangingPunct="1">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IMUL  OPRD</a:t>
            </a:r>
            <a:endParaRPr lang="en-US" altLang="zh-CN" sz="2400" dirty="0">
              <a:latin typeface="宋体" panose="02010600030101010101" pitchFamily="2" charset="-122"/>
              <a:ea typeface="宋体" panose="02010600030101010101" pitchFamily="2" charset="-122"/>
            </a:endParaRPr>
          </a:p>
          <a:p>
            <a:pPr eaLnBrk="1" hangingPunct="1">
              <a:lnSpc>
                <a:spcPct val="115000"/>
              </a:lnSpc>
              <a:spcBef>
                <a:spcPct val="55000"/>
              </a:spcBef>
              <a:spcAft>
                <a:spcPct val="15000"/>
              </a:spcAft>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操作：</a:t>
            </a:r>
            <a:endParaRPr lang="zh-CN" altLang="en-US" sz="2400" dirty="0">
              <a:latin typeface="宋体" panose="02010600030101010101" pitchFamily="2" charset="-122"/>
              <a:ea typeface="宋体" panose="02010600030101010101" pitchFamily="2" charset="-122"/>
            </a:endParaRPr>
          </a:p>
          <a:p>
            <a:pPr eaLnBrk="1" hangingPunct="1">
              <a:lnSpc>
                <a:spcPct val="115000"/>
              </a:lnSpc>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OPRD</a:t>
            </a:r>
            <a:r>
              <a:rPr lang="zh-CN" altLang="en-US" sz="2400" dirty="0">
                <a:latin typeface="宋体" panose="02010600030101010101" pitchFamily="2" charset="-122"/>
                <a:ea typeface="宋体" panose="02010600030101010101" pitchFamily="2" charset="-122"/>
              </a:rPr>
              <a:t>为字节数 </a:t>
            </a:r>
            <a:endParaRPr lang="en-US" altLang="zh-CN" sz="2400" dirty="0">
              <a:latin typeface="宋体" panose="02010600030101010101" pitchFamily="2" charset="-122"/>
              <a:ea typeface="宋体" panose="02010600030101010101" pitchFamily="2" charset="-122"/>
            </a:endParaRPr>
          </a:p>
          <a:p>
            <a:pPr eaLnBrk="1" hangingPunct="1">
              <a:lnSpc>
                <a:spcPct val="115000"/>
              </a:lnSpc>
              <a:buNone/>
            </a:pPr>
            <a:r>
              <a:rPr lang="en-US" altLang="zh-CN" sz="2400" dirty="0">
                <a:latin typeface="宋体" panose="02010600030101010101" pitchFamily="2" charset="-122"/>
                <a:ea typeface="宋体" panose="02010600030101010101" pitchFamily="2" charset="-122"/>
              </a:rPr>
              <a:t>    OPRD</a:t>
            </a:r>
            <a:r>
              <a:rPr lang="zh-CN" altLang="en-US" sz="2400" dirty="0">
                <a:latin typeface="宋体" panose="02010600030101010101" pitchFamily="2" charset="-122"/>
                <a:ea typeface="宋体" panose="02010600030101010101" pitchFamily="2" charset="-122"/>
              </a:rPr>
              <a:t>为16位数</a:t>
            </a:r>
            <a:endParaRPr lang="en-US" altLang="zh-CN" sz="2400" dirty="0">
              <a:latin typeface="宋体" panose="02010600030101010101" pitchFamily="2" charset="-122"/>
              <a:ea typeface="宋体" panose="02010600030101010101" pitchFamily="2" charset="-122"/>
            </a:endParaRPr>
          </a:p>
        </p:txBody>
      </p:sp>
      <p:sp>
        <p:nvSpPr>
          <p:cNvPr id="70660" name="Line 1031"/>
          <p:cNvSpPr/>
          <p:nvPr/>
        </p:nvSpPr>
        <p:spPr>
          <a:xfrm>
            <a:off x="6076950" y="3910013"/>
            <a:ext cx="685800" cy="0"/>
          </a:xfrm>
          <a:prstGeom prst="line">
            <a:avLst/>
          </a:prstGeom>
          <a:ln w="25400" cap="sq" cmpd="sng">
            <a:solidFill>
              <a:srgbClr val="FF6600"/>
            </a:solidFill>
            <a:prstDash val="solid"/>
            <a:headEnd type="none" w="med" len="med"/>
            <a:tailEnd type="triangle" w="lg" len="lg"/>
          </a:ln>
        </p:spPr>
      </p:sp>
      <p:sp>
        <p:nvSpPr>
          <p:cNvPr id="70661" name="AutoShape 1033"/>
          <p:cNvSpPr/>
          <p:nvPr/>
        </p:nvSpPr>
        <p:spPr>
          <a:xfrm>
            <a:off x="3390900" y="3783013"/>
            <a:ext cx="914400" cy="228600"/>
          </a:xfrm>
          <a:prstGeom prst="rightArrow">
            <a:avLst>
              <a:gd name="adj1" fmla="val 50000"/>
              <a:gd name="adj2" fmla="val 100000"/>
            </a:avLst>
          </a:prstGeom>
          <a:solidFill>
            <a:srgbClr val="FF6600"/>
          </a:solidFill>
          <a:ln w="25400" cap="sq" cmpd="sng">
            <a:solidFill>
              <a:srgbClr val="FF6600"/>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70662" name="AutoShape 1034"/>
          <p:cNvSpPr/>
          <p:nvPr/>
        </p:nvSpPr>
        <p:spPr>
          <a:xfrm>
            <a:off x="3430588" y="4200525"/>
            <a:ext cx="914400" cy="228600"/>
          </a:xfrm>
          <a:prstGeom prst="rightArrow">
            <a:avLst>
              <a:gd name="adj1" fmla="val 50000"/>
              <a:gd name="adj2" fmla="val 100000"/>
            </a:avLst>
          </a:prstGeom>
          <a:solidFill>
            <a:srgbClr val="FF6600"/>
          </a:solidFill>
          <a:ln w="25400" cap="sq" cmpd="sng">
            <a:solidFill>
              <a:srgbClr val="FF6600"/>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70663" name="Line 1035"/>
          <p:cNvSpPr/>
          <p:nvPr/>
        </p:nvSpPr>
        <p:spPr>
          <a:xfrm>
            <a:off x="6076950" y="4289425"/>
            <a:ext cx="685800" cy="0"/>
          </a:xfrm>
          <a:prstGeom prst="line">
            <a:avLst/>
          </a:prstGeom>
          <a:ln w="25400" cap="sq" cmpd="sng">
            <a:solidFill>
              <a:srgbClr val="FF6600"/>
            </a:solidFill>
            <a:prstDash val="solid"/>
            <a:headEnd type="none" w="med" len="med"/>
            <a:tailEnd type="triangle" w="lg" len="lg"/>
          </a:ln>
        </p:spPr>
      </p:sp>
      <p:sp>
        <p:nvSpPr>
          <p:cNvPr id="70664" name="Text Box 1040"/>
          <p:cNvSpPr txBox="1"/>
          <p:nvPr/>
        </p:nvSpPr>
        <p:spPr>
          <a:xfrm>
            <a:off x="4344988" y="3586163"/>
            <a:ext cx="1554162" cy="519112"/>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zh-CN" altLang="en-US" sz="2800" dirty="0">
                <a:latin typeface="Times New Roman" panose="02020603050405020304" pitchFamily="18" charset="0"/>
                <a:ea typeface="宋体" panose="02010600030101010101" pitchFamily="2" charset="-122"/>
              </a:rPr>
              <a:t> </a:t>
            </a:r>
            <a:r>
              <a:rPr lang="en-US" altLang="zh-CN" sz="2400" b="1" dirty="0">
                <a:solidFill>
                  <a:schemeClr val="tx2"/>
                </a:solidFill>
                <a:latin typeface="宋体" panose="02010600030101010101" pitchFamily="2" charset="-122"/>
                <a:ea typeface="宋体" panose="02010600030101010101" pitchFamily="2" charset="-122"/>
              </a:rPr>
              <a:t>AL×OPRD</a:t>
            </a:r>
            <a:endParaRPr lang="zh-CN" altLang="en-US" sz="2400" b="1" dirty="0">
              <a:solidFill>
                <a:schemeClr val="tx2"/>
              </a:solidFill>
              <a:latin typeface="宋体" panose="02010600030101010101" pitchFamily="2" charset="-122"/>
              <a:ea typeface="宋体" panose="02010600030101010101" pitchFamily="2" charset="-122"/>
            </a:endParaRPr>
          </a:p>
        </p:txBody>
      </p:sp>
      <p:sp>
        <p:nvSpPr>
          <p:cNvPr id="70665" name="Text Box 1041"/>
          <p:cNvSpPr txBox="1"/>
          <p:nvPr/>
        </p:nvSpPr>
        <p:spPr>
          <a:xfrm>
            <a:off x="4400550" y="4054475"/>
            <a:ext cx="1538288" cy="463550"/>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400" b="1" dirty="0">
                <a:solidFill>
                  <a:schemeClr val="tx2"/>
                </a:solidFill>
                <a:latin typeface="宋体" panose="02010600030101010101" pitchFamily="2" charset="-122"/>
                <a:ea typeface="宋体" panose="02010600030101010101" pitchFamily="2" charset="-122"/>
              </a:rPr>
              <a:t>AX×OPRD</a:t>
            </a:r>
            <a:endParaRPr lang="zh-CN" altLang="en-US" sz="2400" b="1" dirty="0">
              <a:solidFill>
                <a:schemeClr val="tx2"/>
              </a:solidFill>
              <a:latin typeface="宋体" panose="02010600030101010101" pitchFamily="2" charset="-122"/>
              <a:ea typeface="宋体" panose="02010600030101010101" pitchFamily="2" charset="-122"/>
            </a:endParaRPr>
          </a:p>
        </p:txBody>
      </p:sp>
      <p:sp>
        <p:nvSpPr>
          <p:cNvPr id="70666" name="Text Box 1042"/>
          <p:cNvSpPr txBox="1"/>
          <p:nvPr/>
        </p:nvSpPr>
        <p:spPr>
          <a:xfrm>
            <a:off x="6889750" y="4017963"/>
            <a:ext cx="1298575" cy="463550"/>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400" b="1" dirty="0">
                <a:solidFill>
                  <a:schemeClr val="tx2"/>
                </a:solidFill>
                <a:latin typeface="宋体" panose="02010600030101010101" pitchFamily="2" charset="-122"/>
                <a:ea typeface="宋体" panose="02010600030101010101" pitchFamily="2" charset="-122"/>
              </a:rPr>
              <a:t>DX</a:t>
            </a:r>
            <a:r>
              <a:rPr lang="zh-CN" altLang="en-US" sz="2400" b="1" dirty="0">
                <a:solidFill>
                  <a:schemeClr val="tx2"/>
                </a:solidFill>
                <a:latin typeface="宋体" panose="02010600030101010101" pitchFamily="2" charset="-122"/>
                <a:ea typeface="宋体" panose="02010600030101010101" pitchFamily="2" charset="-122"/>
              </a:rPr>
              <a:t>：</a:t>
            </a:r>
            <a:r>
              <a:rPr lang="en-US" altLang="zh-CN" sz="2400" b="1" dirty="0">
                <a:solidFill>
                  <a:schemeClr val="tx2"/>
                </a:solidFill>
                <a:latin typeface="宋体" panose="02010600030101010101" pitchFamily="2" charset="-122"/>
                <a:ea typeface="宋体" panose="02010600030101010101" pitchFamily="2" charset="-122"/>
              </a:rPr>
              <a:t>AX</a:t>
            </a:r>
            <a:endParaRPr lang="zh-CN" altLang="en-US" sz="2400" b="1" dirty="0">
              <a:solidFill>
                <a:schemeClr val="tx2"/>
              </a:solidFill>
              <a:latin typeface="宋体" panose="02010600030101010101" pitchFamily="2" charset="-122"/>
              <a:ea typeface="宋体" panose="02010600030101010101" pitchFamily="2" charset="-122"/>
            </a:endParaRPr>
          </a:p>
        </p:txBody>
      </p:sp>
      <p:sp>
        <p:nvSpPr>
          <p:cNvPr id="70667" name="Text Box 1043"/>
          <p:cNvSpPr txBox="1"/>
          <p:nvPr/>
        </p:nvSpPr>
        <p:spPr>
          <a:xfrm>
            <a:off x="6889750" y="3614738"/>
            <a:ext cx="722313" cy="463550"/>
          </a:xfrm>
          <a:prstGeom prst="rect">
            <a:avLst/>
          </a:prstGeom>
          <a:noFill/>
          <a:ln w="9525">
            <a:noFill/>
          </a:ln>
        </p:spPr>
        <p:txBody>
          <a:bodyPr lIns="92075" tIns="46038" rIns="92075" bIns="46038">
            <a:spAutoFit/>
          </a:bodyPr>
          <a:p>
            <a:pPr eaLnBrk="0" hangingPunct="0">
              <a:spcBef>
                <a:spcPct val="50000"/>
              </a:spcBef>
              <a:buFont typeface="Wingdings" panose="05000000000000000000" pitchFamily="2" charset="2"/>
            </a:pPr>
            <a:r>
              <a:rPr lang="en-US" altLang="zh-CN" sz="2400" b="1" dirty="0">
                <a:solidFill>
                  <a:schemeClr val="tx2"/>
                </a:solidFill>
                <a:latin typeface="宋体" panose="02010600030101010101" pitchFamily="2" charset="-122"/>
                <a:ea typeface="宋体" panose="02010600030101010101" pitchFamily="2" charset="-122"/>
              </a:rPr>
              <a:t>AX</a:t>
            </a:r>
            <a:endParaRPr lang="zh-CN" altLang="en-US" sz="2400" b="1" dirty="0">
              <a:solidFill>
                <a:schemeClr val="tx2"/>
              </a:solidFill>
              <a:latin typeface="宋体" panose="02010600030101010101" pitchFamily="2" charset="-122"/>
              <a:ea typeface="宋体" panose="02010600030101010101" pitchFamily="2" charset="-122"/>
            </a:endParaRPr>
          </a:p>
        </p:txBody>
      </p:sp>
      <p:sp>
        <p:nvSpPr>
          <p:cNvPr id="71692" name="Text Box 12"/>
          <p:cNvSpPr txBox="1"/>
          <p:nvPr/>
        </p:nvSpPr>
        <p:spPr>
          <a:xfrm>
            <a:off x="2844800" y="5157788"/>
            <a:ext cx="2663825" cy="365125"/>
          </a:xfrm>
          <a:prstGeom prst="rect">
            <a:avLst/>
          </a:prstGeom>
          <a:noFill/>
          <a:ln w="28575" cap="flat" cmpd="sng">
            <a:solidFill>
              <a:srgbClr val="000000"/>
            </a:solidFill>
            <a:prstDash val="solid"/>
            <a:miter/>
            <a:headEnd type="none" w="med" len="med"/>
            <a:tailEnd type="none" w="med" len="med"/>
          </a:ln>
        </p:spPr>
        <p:txBody>
          <a:bodyPr>
            <a:spAutoFit/>
          </a:bodyPr>
          <a:p>
            <a:pPr eaLnBrk="0" hangingPunct="0"/>
            <a:r>
              <a:rPr lang="zh-CN" altLang="en-US" dirty="0">
                <a:latin typeface="Arial" panose="020B0604020202020204" pitchFamily="34" charset="0"/>
                <a:ea typeface="宋体" panose="02010600030101010101" pitchFamily="2" charset="-122"/>
              </a:rPr>
              <a:t>DX:高16位，AX:低16位</a:t>
            </a:r>
            <a:endParaRPr lang="zh-CN" altLang="en-US" dirty="0">
              <a:latin typeface="Arial" panose="020B0604020202020204" pitchFamily="34"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0659">
                                            <p:txEl>
                                              <p:charRg st="0" end="4"/>
                                            </p:txEl>
                                          </p:spTgt>
                                        </p:tgtEl>
                                        <p:attrNameLst>
                                          <p:attrName>style.visibility</p:attrName>
                                        </p:attrNameLst>
                                      </p:cBhvr>
                                      <p:to>
                                        <p:strVal val="visible"/>
                                      </p:to>
                                    </p:set>
                                    <p:animEffect transition="in" filter="wipe(left)">
                                      <p:cBhvr>
                                        <p:cTn id="7" dur="500"/>
                                        <p:tgtEl>
                                          <p:spTgt spid="70659">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0659">
                                            <p:txEl>
                                              <p:charRg st="4" end="20"/>
                                            </p:txEl>
                                          </p:spTgt>
                                        </p:tgtEl>
                                        <p:attrNameLst>
                                          <p:attrName>style.visibility</p:attrName>
                                        </p:attrNameLst>
                                      </p:cBhvr>
                                      <p:to>
                                        <p:strVal val="visible"/>
                                      </p:to>
                                    </p:set>
                                    <p:animEffect transition="in" filter="wipe(left)">
                                      <p:cBhvr>
                                        <p:cTn id="11" dur="500"/>
                                        <p:tgtEl>
                                          <p:spTgt spid="70659">
                                            <p:txEl>
                                              <p:charRg st="4" end="2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0659">
                                            <p:txEl>
                                              <p:charRg st="20" end="24"/>
                                            </p:txEl>
                                          </p:spTgt>
                                        </p:tgtEl>
                                        <p:attrNameLst>
                                          <p:attrName>style.visibility</p:attrName>
                                        </p:attrNameLst>
                                      </p:cBhvr>
                                      <p:to>
                                        <p:strVal val="visible"/>
                                      </p:to>
                                    </p:set>
                                    <p:animEffect transition="in" filter="wipe(left)">
                                      <p:cBhvr>
                                        <p:cTn id="16" dur="500"/>
                                        <p:tgtEl>
                                          <p:spTgt spid="70659">
                                            <p:txEl>
                                              <p:charRg st="20" end="2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0659">
                                            <p:txEl>
                                              <p:charRg st="24" end="38"/>
                                            </p:txEl>
                                          </p:spTgt>
                                        </p:tgtEl>
                                        <p:attrNameLst>
                                          <p:attrName>style.visibility</p:attrName>
                                        </p:attrNameLst>
                                      </p:cBhvr>
                                      <p:to>
                                        <p:strVal val="visible"/>
                                      </p:to>
                                    </p:set>
                                    <p:animEffect transition="in" filter="wipe(left)">
                                      <p:cBhvr>
                                        <p:cTn id="21" dur="500"/>
                                        <p:tgtEl>
                                          <p:spTgt spid="70659">
                                            <p:txEl>
                                              <p:charRg st="24" end="3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0661"/>
                                        </p:tgtEl>
                                        <p:attrNameLst>
                                          <p:attrName>style.visibility</p:attrName>
                                        </p:attrNameLst>
                                      </p:cBhvr>
                                      <p:to>
                                        <p:strVal val="visible"/>
                                      </p:to>
                                    </p:set>
                                    <p:animEffect transition="in" filter="wipe(left)">
                                      <p:cBhvr>
                                        <p:cTn id="26" dur="500"/>
                                        <p:tgtEl>
                                          <p:spTgt spid="70661"/>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70664"/>
                                        </p:tgtEl>
                                        <p:attrNameLst>
                                          <p:attrName>style.visibility</p:attrName>
                                        </p:attrNameLst>
                                      </p:cBhvr>
                                      <p:to>
                                        <p:strVal val="visible"/>
                                      </p:to>
                                    </p:set>
                                    <p:animEffect transition="in" filter="wipe(left)">
                                      <p:cBhvr>
                                        <p:cTn id="30" dur="500"/>
                                        <p:tgtEl>
                                          <p:spTgt spid="7066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70660"/>
                                        </p:tgtEl>
                                        <p:attrNameLst>
                                          <p:attrName>style.visibility</p:attrName>
                                        </p:attrNameLst>
                                      </p:cBhvr>
                                      <p:to>
                                        <p:strVal val="visible"/>
                                      </p:to>
                                    </p:set>
                                    <p:animEffect transition="in" filter="wipe(left)">
                                      <p:cBhvr>
                                        <p:cTn id="35" dur="500"/>
                                        <p:tgtEl>
                                          <p:spTgt spid="70660"/>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70667"/>
                                        </p:tgtEl>
                                        <p:attrNameLst>
                                          <p:attrName>style.visibility</p:attrName>
                                        </p:attrNameLst>
                                      </p:cBhvr>
                                      <p:to>
                                        <p:strVal val="visible"/>
                                      </p:to>
                                    </p:set>
                                    <p:animEffect transition="in" filter="wipe(left)">
                                      <p:cBhvr>
                                        <p:cTn id="39" dur="500"/>
                                        <p:tgtEl>
                                          <p:spTgt spid="7066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70659">
                                            <p:txEl>
                                              <p:charRg st="38" end="52"/>
                                            </p:txEl>
                                          </p:spTgt>
                                        </p:tgtEl>
                                        <p:attrNameLst>
                                          <p:attrName>style.visibility</p:attrName>
                                        </p:attrNameLst>
                                      </p:cBhvr>
                                      <p:to>
                                        <p:strVal val="visible"/>
                                      </p:to>
                                    </p:set>
                                    <p:animEffect transition="in" filter="wipe(left)">
                                      <p:cBhvr>
                                        <p:cTn id="44" dur="500"/>
                                        <p:tgtEl>
                                          <p:spTgt spid="70659">
                                            <p:txEl>
                                              <p:charRg st="38" end="5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70662"/>
                                        </p:tgtEl>
                                        <p:attrNameLst>
                                          <p:attrName>style.visibility</p:attrName>
                                        </p:attrNameLst>
                                      </p:cBhvr>
                                      <p:to>
                                        <p:strVal val="visible"/>
                                      </p:to>
                                    </p:set>
                                    <p:animEffect transition="in" filter="wipe(left)">
                                      <p:cBhvr>
                                        <p:cTn id="49" dur="500"/>
                                        <p:tgtEl>
                                          <p:spTgt spid="70662"/>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70665"/>
                                        </p:tgtEl>
                                        <p:attrNameLst>
                                          <p:attrName>style.visibility</p:attrName>
                                        </p:attrNameLst>
                                      </p:cBhvr>
                                      <p:to>
                                        <p:strVal val="visible"/>
                                      </p:to>
                                    </p:set>
                                    <p:animEffect transition="in" filter="wipe(left)">
                                      <p:cBhvr>
                                        <p:cTn id="53" dur="500"/>
                                        <p:tgtEl>
                                          <p:spTgt spid="7066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70663"/>
                                        </p:tgtEl>
                                        <p:attrNameLst>
                                          <p:attrName>style.visibility</p:attrName>
                                        </p:attrNameLst>
                                      </p:cBhvr>
                                      <p:to>
                                        <p:strVal val="visible"/>
                                      </p:to>
                                    </p:set>
                                    <p:animEffect transition="in" filter="wipe(left)">
                                      <p:cBhvr>
                                        <p:cTn id="58" dur="500"/>
                                        <p:tgtEl>
                                          <p:spTgt spid="70663"/>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70666"/>
                                        </p:tgtEl>
                                        <p:attrNameLst>
                                          <p:attrName>style.visibility</p:attrName>
                                        </p:attrNameLst>
                                      </p:cBhvr>
                                      <p:to>
                                        <p:strVal val="visible"/>
                                      </p:to>
                                    </p:set>
                                    <p:animEffect transition="in" filter="wipe(left)">
                                      <p:cBhvr>
                                        <p:cTn id="62" dur="500"/>
                                        <p:tgtEl>
                                          <p:spTgt spid="70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1" grpId="0" animBg="1"/>
      <p:bldP spid="70662" grpId="0" animBg="1"/>
      <p:bldP spid="70664" grpId="0"/>
      <p:bldP spid="70665" grpId="0"/>
      <p:bldP spid="70666" grpId="0"/>
      <p:bldP spid="7066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内容占位符 2"/>
          <p:cNvSpPr>
            <a:spLocks noGrp="1"/>
          </p:cNvSpPr>
          <p:nvPr>
            <p:ph idx="4294967295"/>
          </p:nvPr>
        </p:nvSpPr>
        <p:spPr>
          <a:xfrm>
            <a:off x="259080" y="990600"/>
            <a:ext cx="8580755" cy="346646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Ø"/>
              <a:defRPr/>
            </a:pP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rPr>
              <a:t>说明：</a:t>
            </a:r>
            <a:endPar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rPr>
              <a:t>IMUL</a:t>
            </a:r>
            <a:r>
              <a:rPr kumimoji="0" lang="zh-CN" altLang="en-US" sz="24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rPr>
              <a:t>指令在格式上和功能上都与</a:t>
            </a:r>
            <a:r>
              <a:rPr kumimoji="0" lang="en-US" altLang="zh-CN" sz="24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rPr>
              <a:t>MUL</a:t>
            </a:r>
            <a:r>
              <a:rPr kumimoji="0" lang="zh-CN" altLang="en-US" sz="24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rPr>
              <a:t>指令类似，有如下区别：</a:t>
            </a:r>
            <a:endParaRPr kumimoji="0" lang="en-US" altLang="zh-CN" sz="24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hlink"/>
              </a:buClr>
              <a:buSzTx/>
              <a:buFont typeface="Wingdings" panose="05000000000000000000" pitchFamily="2" charset="2"/>
              <a:buChar char="l"/>
              <a:defRPr/>
            </a:pPr>
            <a:r>
              <a:rPr kumimoji="0" lang="zh-CN" altLang="en-US" sz="24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rPr>
              <a:t>要求两乘数都须为有符号数</a:t>
            </a:r>
            <a:endParaRPr kumimoji="0" lang="en-US" altLang="zh-CN" sz="24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hlink"/>
              </a:buClr>
              <a:buSzTx/>
              <a:buFont typeface="Wingdings" panose="05000000000000000000" pitchFamily="2" charset="2"/>
              <a:buChar char="l"/>
              <a:defRPr/>
            </a:pPr>
            <a:r>
              <a:rPr kumimoji="0" lang="zh-CN" altLang="en-US" sz="24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rPr>
              <a:t>若乘积的高半部分是低半部分的符号位的扩展，则</a:t>
            </a:r>
            <a:r>
              <a:rPr kumimoji="0" lang="en-US" altLang="zh-CN" sz="24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rPr>
              <a:t>CF=OF=0</a:t>
            </a:r>
            <a:r>
              <a:rPr kumimoji="0" lang="zh-CN" altLang="en-US" sz="24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rPr>
              <a:t>，否则</a:t>
            </a:r>
            <a:r>
              <a:rPr kumimoji="0" lang="en-US" altLang="zh-CN" sz="24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rPr>
              <a:t>CF=OF=1</a:t>
            </a:r>
            <a:endParaRPr kumimoji="0" lang="en-US" altLang="zh-CN" sz="24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hlink"/>
              </a:buClr>
              <a:buSzTx/>
              <a:buFont typeface="Wingdings" panose="05000000000000000000" pitchFamily="2" charset="2"/>
              <a:buChar char="l"/>
              <a:defRPr/>
            </a:pPr>
            <a:r>
              <a:rPr kumimoji="0" lang="zh-CN" altLang="en-US" sz="24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rPr>
              <a:t>指令中给出的源操作数应满足带符号数的表示范围</a:t>
            </a:r>
            <a:endParaRPr kumimoji="0" lang="zh-CN" altLang="en-US" sz="24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内容占位符 2"/>
          <p:cNvSpPr>
            <a:spLocks noGrp="1"/>
          </p:cNvSpPr>
          <p:nvPr>
            <p:ph idx="4294967295"/>
          </p:nvPr>
        </p:nvSpPr>
        <p:spPr>
          <a:xfrm>
            <a:off x="468313" y="990600"/>
            <a:ext cx="8351838" cy="4525963"/>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例</a:t>
            </a:r>
            <a:r>
              <a:rPr kumimoji="0" lang="en-US" altLang="zh-CN"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en-US" altLang="zh-CN"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设（</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AL</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=FEH</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CL</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=11H</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，求</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AL</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与</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CL</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的乘积。</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l"/>
              <a:defRPr/>
            </a:pP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若将两个寄存器中内容看做无符号数，则应使用指令：</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MUL CL</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指令执行后（</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AX</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=10DEH</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，因</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AH</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中的结果不为零，故</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CF=OF=1</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l"/>
              <a:defRPr/>
            </a:pP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若将两操作数看做有符号数，则二者相乘应采用有符号数的乘法指令，即：</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IMUL CL</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指令执行后（</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AX</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=FFDEH=-34</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，则</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AH</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中内容为</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AL</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中的符号扩展，故</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CF=OF=0.</a:t>
            </a:r>
            <a:endPar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3"/>
          <p:cNvSpPr>
            <a:spLocks noGrp="1"/>
          </p:cNvSpPr>
          <p:nvPr>
            <p:ph type="body" idx="4294967295"/>
          </p:nvPr>
        </p:nvSpPr>
        <p:spPr>
          <a:xfrm>
            <a:off x="1258888" y="1196975"/>
            <a:ext cx="3600450" cy="1158875"/>
          </a:xfrm>
        </p:spPr>
        <p:txBody>
          <a:bodyPr vert="horz" wrap="square" lIns="91440" tIns="45720" rIns="91440" bIns="45720" anchor="t" anchorCtr="0"/>
          <a:p>
            <a:pPr eaLnBrk="1" hangingPunct="1">
              <a:lnSpc>
                <a:spcPct val="115000"/>
              </a:lnSpc>
              <a:buFont typeface="Wingdings" panose="05000000000000000000" pitchFamily="2" charset="2"/>
              <a:buChar char="Ø"/>
            </a:pPr>
            <a:r>
              <a:rPr lang="zh-CN" altLang="en-US" sz="2400" b="0" dirty="0">
                <a:latin typeface="宋体" panose="02010600030101010101" pitchFamily="2" charset="-122"/>
                <a:ea typeface="宋体" panose="02010600030101010101" pitchFamily="2" charset="-122"/>
              </a:rPr>
              <a:t>无符号除法指令：</a:t>
            </a:r>
            <a:r>
              <a:rPr lang="en-US" altLang="zh-CN" sz="2400" b="0" dirty="0">
                <a:latin typeface="宋体" panose="02010600030101010101" pitchFamily="2" charset="-122"/>
                <a:ea typeface="宋体" panose="02010600030101010101" pitchFamily="2" charset="-122"/>
              </a:rPr>
              <a:t>DIV</a:t>
            </a:r>
            <a:endParaRPr lang="zh-CN" altLang="en-US" sz="2400" b="0" dirty="0">
              <a:latin typeface="宋体" panose="02010600030101010101" pitchFamily="2" charset="-122"/>
              <a:ea typeface="宋体" panose="02010600030101010101" pitchFamily="2" charset="-122"/>
            </a:endParaRPr>
          </a:p>
          <a:p>
            <a:pPr eaLnBrk="1" hangingPunct="1">
              <a:lnSpc>
                <a:spcPct val="115000"/>
              </a:lnSpc>
              <a:spcBef>
                <a:spcPct val="55000"/>
              </a:spcBef>
              <a:buFont typeface="Wingdings" panose="05000000000000000000" pitchFamily="2" charset="2"/>
              <a:buChar char="Ø"/>
            </a:pPr>
            <a:r>
              <a:rPr lang="zh-CN" altLang="en-US" sz="2400" b="0" dirty="0">
                <a:latin typeface="宋体" panose="02010600030101010101" pitchFamily="2" charset="-122"/>
                <a:ea typeface="宋体" panose="02010600030101010101" pitchFamily="2" charset="-122"/>
              </a:rPr>
              <a:t>有符号除法指令：</a:t>
            </a:r>
            <a:r>
              <a:rPr lang="en-US" altLang="zh-CN" sz="2400" b="0" dirty="0">
                <a:latin typeface="宋体" panose="02010600030101010101" pitchFamily="2" charset="-122"/>
                <a:ea typeface="宋体" panose="02010600030101010101" pitchFamily="2" charset="-122"/>
              </a:rPr>
              <a:t>IDIV</a:t>
            </a:r>
            <a:endParaRPr lang="zh-CN" altLang="en-US" sz="2400" b="0" dirty="0">
              <a:latin typeface="宋体" panose="02010600030101010101" pitchFamily="2" charset="-122"/>
              <a:ea typeface="宋体" panose="02010600030101010101" pitchFamily="2" charset="-122"/>
            </a:endParaRPr>
          </a:p>
        </p:txBody>
      </p:sp>
      <p:sp>
        <p:nvSpPr>
          <p:cNvPr id="74755" name="Rectangle 2"/>
          <p:cNvSpPr>
            <a:spLocks noGrp="1"/>
          </p:cNvSpPr>
          <p:nvPr/>
        </p:nvSpPr>
        <p:spPr>
          <a:xfrm>
            <a:off x="1763713" y="119063"/>
            <a:ext cx="6553200"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3.4.2.4 </a:t>
            </a:r>
            <a:r>
              <a:rPr lang="zh-CN" altLang="en-US" sz="3600" b="1" dirty="0">
                <a:solidFill>
                  <a:schemeClr val="bg1"/>
                </a:solidFill>
                <a:latin typeface="宋体" panose="02010600030101010101" pitchFamily="2" charset="-122"/>
                <a:ea typeface="宋体" panose="02010600030101010101" pitchFamily="2" charset="-122"/>
              </a:rPr>
              <a:t>除法指令</a:t>
            </a:r>
            <a:endParaRPr lang="zh-CN" altLang="en-US" sz="3600" b="1" dirty="0">
              <a:solidFill>
                <a:schemeClr val="bg1"/>
              </a:solidFill>
              <a:latin typeface="宋体" panose="02010600030101010101" pitchFamily="2" charset="-122"/>
              <a:ea typeface="宋体" panose="02010600030101010101" pitchFamily="2" charset="-122"/>
            </a:endParaRPr>
          </a:p>
        </p:txBody>
      </p:sp>
      <p:sp>
        <p:nvSpPr>
          <p:cNvPr id="74756" name="Line 5"/>
          <p:cNvSpPr/>
          <p:nvPr/>
        </p:nvSpPr>
        <p:spPr>
          <a:xfrm>
            <a:off x="1216025" y="2470150"/>
            <a:ext cx="0" cy="1588"/>
          </a:xfrm>
          <a:prstGeom prst="line">
            <a:avLst/>
          </a:prstGeom>
          <a:ln w="12700" cap="flat" cmpd="sng">
            <a:solidFill>
              <a:schemeClr val="tx1"/>
            </a:solidFill>
            <a:prstDash val="solid"/>
            <a:headEnd type="none" w="med" len="med"/>
            <a:tailEnd type="none" w="med" len="med"/>
          </a:ln>
        </p:spPr>
      </p:sp>
      <p:sp>
        <p:nvSpPr>
          <p:cNvPr id="74757" name="矩形 2"/>
          <p:cNvSpPr/>
          <p:nvPr/>
        </p:nvSpPr>
        <p:spPr>
          <a:xfrm>
            <a:off x="1300163" y="2454275"/>
            <a:ext cx="2419350" cy="523875"/>
          </a:xfrm>
          <a:prstGeom prst="rect">
            <a:avLst/>
          </a:prstGeom>
          <a:noFill/>
          <a:ln w="9525">
            <a:noFill/>
          </a:ln>
        </p:spPr>
        <p:txBody>
          <a:bodyPr>
            <a:spAutoFit/>
          </a:bodyPr>
          <a:p>
            <a:pPr marL="457200" indent="-457200">
              <a:buFont typeface="Wingdings" panose="05000000000000000000" pitchFamily="2" charset="2"/>
              <a:buChar char="l"/>
            </a:pPr>
            <a:r>
              <a:rPr lang="zh-CN" altLang="en-US" sz="2400" dirty="0">
                <a:solidFill>
                  <a:srgbClr val="000033"/>
                </a:solidFill>
                <a:latin typeface="宋体" panose="02010600030101010101" pitchFamily="2" charset="-122"/>
                <a:ea typeface="宋体" panose="02010600030101010101" pitchFamily="2" charset="-122"/>
              </a:rPr>
              <a:t>进行除法时</a:t>
            </a:r>
            <a:r>
              <a:rPr lang="zh-CN" altLang="en-US" sz="2800" dirty="0">
                <a:solidFill>
                  <a:srgbClr val="000033"/>
                </a:solidFill>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p:txBody>
      </p:sp>
      <p:sp>
        <p:nvSpPr>
          <p:cNvPr id="74758" name="矩形 3"/>
          <p:cNvSpPr/>
          <p:nvPr/>
        </p:nvSpPr>
        <p:spPr>
          <a:xfrm>
            <a:off x="1300163" y="3284538"/>
            <a:ext cx="6596062" cy="1676400"/>
          </a:xfrm>
          <a:prstGeom prst="rect">
            <a:avLst/>
          </a:prstGeom>
          <a:noFill/>
          <a:ln w="9525">
            <a:noFill/>
          </a:ln>
        </p:spPr>
        <p:txBody>
          <a:bodyPr>
            <a:spAutoFit/>
          </a:bodyPr>
          <a:p>
            <a:pPr marL="457200" indent="-457200">
              <a:buFont typeface="Wingdings" panose="05000000000000000000" pitchFamily="2" charset="2"/>
              <a:buChar char="l"/>
            </a:pPr>
            <a:r>
              <a:rPr lang="zh-CN" altLang="en-US" sz="2400" dirty="0">
                <a:solidFill>
                  <a:srgbClr val="000033"/>
                </a:solidFill>
                <a:latin typeface="宋体" panose="02010600030101010101" pitchFamily="2" charset="-122"/>
                <a:ea typeface="宋体" panose="02010600030101010101" pitchFamily="2" charset="-122"/>
              </a:rPr>
              <a:t>对被除数、商及余数存放有如下规定：</a:t>
            </a:r>
            <a:r>
              <a:rPr lang="zh-CN" altLang="en-US" sz="2800" dirty="0">
                <a:solidFill>
                  <a:srgbClr val="000033"/>
                </a:solidFill>
                <a:latin typeface="宋体" panose="02010600030101010101" pitchFamily="2" charset="-122"/>
                <a:ea typeface="宋体" panose="02010600030101010101" pitchFamily="2" charset="-122"/>
              </a:rPr>
              <a:t>	</a:t>
            </a:r>
            <a:endParaRPr lang="zh-CN" altLang="en-US" sz="2800" dirty="0">
              <a:solidFill>
                <a:srgbClr val="000033"/>
              </a:solidFill>
              <a:latin typeface="宋体" panose="02010600030101010101" pitchFamily="2" charset="-122"/>
              <a:ea typeface="宋体" panose="02010600030101010101" pitchFamily="2" charset="-122"/>
            </a:endParaRPr>
          </a:p>
          <a:p>
            <a:pPr marL="457200" indent="-457200"/>
            <a:r>
              <a:rPr lang="zh-CN" altLang="en-US" sz="2800" dirty="0">
                <a:solidFill>
                  <a:srgbClr val="000033"/>
                </a:solidFill>
                <a:latin typeface="宋体" panose="02010600030101010101" pitchFamily="2" charset="-122"/>
                <a:ea typeface="宋体" panose="02010600030101010101" pitchFamily="2" charset="-122"/>
              </a:rPr>
              <a:t>		</a:t>
            </a:r>
            <a:r>
              <a:rPr lang="zh-CN" altLang="en-US" sz="2400" dirty="0">
                <a:solidFill>
                  <a:srgbClr val="000033"/>
                </a:solidFill>
                <a:latin typeface="宋体" panose="02010600030101010101" pitchFamily="2" charset="-122"/>
                <a:ea typeface="宋体" panose="02010600030101010101" pitchFamily="2" charset="-122"/>
              </a:rPr>
              <a:t>       被除数	    商	余数</a:t>
            </a:r>
            <a:endParaRPr lang="zh-CN" altLang="en-US" sz="2400" dirty="0">
              <a:solidFill>
                <a:srgbClr val="000033"/>
              </a:solidFill>
              <a:latin typeface="宋体" panose="02010600030101010101" pitchFamily="2" charset="-122"/>
              <a:ea typeface="宋体" panose="02010600030101010101" pitchFamily="2" charset="-122"/>
            </a:endParaRPr>
          </a:p>
          <a:p>
            <a:pPr marL="457200" indent="-457200"/>
            <a:r>
              <a:rPr lang="zh-CN" altLang="en-US" sz="2400" dirty="0">
                <a:solidFill>
                  <a:srgbClr val="000033"/>
                </a:solidFill>
                <a:latin typeface="宋体" panose="02010600030101010101" pitchFamily="2" charset="-122"/>
                <a:ea typeface="宋体" panose="02010600030101010101" pitchFamily="2" charset="-122"/>
              </a:rPr>
              <a:t>   字节除法    </a:t>
            </a:r>
            <a:r>
              <a:rPr lang="en-US" altLang="zh-CN" sz="2400" dirty="0">
                <a:solidFill>
                  <a:srgbClr val="000033"/>
                </a:solidFill>
                <a:latin typeface="宋体" panose="02010600030101010101" pitchFamily="2" charset="-122"/>
                <a:ea typeface="宋体" panose="02010600030101010101" pitchFamily="2" charset="-122"/>
              </a:rPr>
              <a:t>AX           AL	 AH</a:t>
            </a:r>
            <a:endParaRPr lang="en-US" altLang="zh-CN" sz="2400" dirty="0">
              <a:solidFill>
                <a:srgbClr val="000033"/>
              </a:solidFill>
              <a:latin typeface="宋体" panose="02010600030101010101" pitchFamily="2" charset="-122"/>
              <a:ea typeface="宋体" panose="02010600030101010101" pitchFamily="2" charset="-122"/>
            </a:endParaRPr>
          </a:p>
          <a:p>
            <a:pPr marL="457200" indent="-457200"/>
            <a:r>
              <a:rPr lang="zh-CN" altLang="en-US" sz="2400" dirty="0">
                <a:solidFill>
                  <a:srgbClr val="000033"/>
                </a:solidFill>
                <a:latin typeface="宋体" panose="02010600030101010101" pitchFamily="2" charset="-122"/>
                <a:ea typeface="宋体" panose="02010600030101010101" pitchFamily="2" charset="-122"/>
              </a:rPr>
              <a:t>   字除法	  </a:t>
            </a:r>
            <a:r>
              <a:rPr lang="en-US" altLang="zh-CN" sz="2400" dirty="0">
                <a:solidFill>
                  <a:srgbClr val="000033"/>
                </a:solidFill>
                <a:latin typeface="宋体" panose="02010600030101010101" pitchFamily="2" charset="-122"/>
                <a:ea typeface="宋体" panose="02010600030101010101" pitchFamily="2" charset="-122"/>
              </a:rPr>
              <a:t>DX:AX	    AX	 DX</a:t>
            </a:r>
            <a:endParaRPr lang="zh-CN" altLang="en-US" sz="2400" dirty="0">
              <a:solidFill>
                <a:srgbClr val="000033"/>
              </a:solidFill>
              <a:latin typeface="宋体" panose="02010600030101010101" pitchFamily="2" charset="-122"/>
              <a:ea typeface="宋体" panose="02010600030101010101" pitchFamily="2" charset="-122"/>
            </a:endParaRPr>
          </a:p>
        </p:txBody>
      </p:sp>
      <p:cxnSp>
        <p:nvCxnSpPr>
          <p:cNvPr id="74759" name="直接连接符 11"/>
          <p:cNvCxnSpPr/>
          <p:nvPr/>
        </p:nvCxnSpPr>
        <p:spPr>
          <a:xfrm>
            <a:off x="1487488" y="4581525"/>
            <a:ext cx="6235700" cy="0"/>
          </a:xfrm>
          <a:prstGeom prst="line">
            <a:avLst/>
          </a:prstGeom>
          <a:ln w="28575" cap="flat" cmpd="sng">
            <a:solidFill>
              <a:schemeClr val="tx1"/>
            </a:solidFill>
            <a:prstDash val="solid"/>
            <a:headEnd type="none" w="med" len="med"/>
            <a:tailEnd type="none" w="med" len="med"/>
          </a:ln>
        </p:spPr>
      </p:cxnSp>
      <p:cxnSp>
        <p:nvCxnSpPr>
          <p:cNvPr id="74760" name="直接连接符 13"/>
          <p:cNvCxnSpPr/>
          <p:nvPr/>
        </p:nvCxnSpPr>
        <p:spPr>
          <a:xfrm>
            <a:off x="3821113" y="2770188"/>
            <a:ext cx="2563812" cy="0"/>
          </a:xfrm>
          <a:prstGeom prst="line">
            <a:avLst/>
          </a:prstGeom>
          <a:ln w="28575" cap="flat" cmpd="sng">
            <a:solidFill>
              <a:schemeClr val="tx1"/>
            </a:solidFill>
            <a:prstDash val="solid"/>
            <a:headEnd type="none" w="med" len="med"/>
            <a:tailEnd type="none" w="med" len="med"/>
          </a:ln>
        </p:spPr>
      </p:cxnSp>
      <p:sp>
        <p:nvSpPr>
          <p:cNvPr id="74761" name="文本框 1"/>
          <p:cNvSpPr txBox="1"/>
          <p:nvPr/>
        </p:nvSpPr>
        <p:spPr>
          <a:xfrm>
            <a:off x="3719513" y="2355850"/>
            <a:ext cx="2808287" cy="830263"/>
          </a:xfrm>
          <a:prstGeom prst="rect">
            <a:avLst/>
          </a:prstGeom>
          <a:noFill/>
          <a:ln w="9525">
            <a:noFill/>
          </a:ln>
        </p:spPr>
        <p:txBody>
          <a:bodyPr>
            <a:spAutoFit/>
          </a:bodyPr>
          <a:p>
            <a:pPr eaLnBrk="0" hangingPunct="0">
              <a:buFont typeface="Wingdings" panose="05000000000000000000" pitchFamily="2" charset="2"/>
            </a:pPr>
            <a:r>
              <a:rPr lang="en-US" altLang="zh-CN" sz="2400" dirty="0">
                <a:latin typeface="宋体" panose="02010600030101010101" pitchFamily="2" charset="-122"/>
                <a:ea typeface="宋体" panose="02010600030101010101" pitchFamily="2" charset="-122"/>
              </a:rPr>
              <a:t>16</a:t>
            </a:r>
            <a:r>
              <a:rPr lang="zh-CN" altLang="en-US" sz="2400" dirty="0">
                <a:latin typeface="宋体" panose="02010600030101010101" pitchFamily="2" charset="-122"/>
                <a:ea typeface="宋体" panose="02010600030101010101" pitchFamily="2" charset="-122"/>
              </a:rPr>
              <a:t>位</a:t>
            </a:r>
            <a:r>
              <a:rPr lang="en-US" altLang="zh-CN" sz="2400" dirty="0">
                <a:latin typeface="宋体" panose="02010600030101010101" pitchFamily="2" charset="-122"/>
                <a:ea typeface="宋体" panose="02010600030101010101" pitchFamily="2" charset="-122"/>
              </a:rPr>
              <a:t>/8</a:t>
            </a:r>
            <a:r>
              <a:rPr lang="zh-CN" altLang="en-US" sz="2400" dirty="0">
                <a:latin typeface="宋体" panose="02010600030101010101" pitchFamily="2" charset="-122"/>
                <a:ea typeface="宋体" panose="02010600030101010101" pitchFamily="2" charset="-122"/>
              </a:rPr>
              <a:t>位 → </a:t>
            </a:r>
            <a:r>
              <a:rPr lang="en-US" altLang="zh-CN" sz="2400" dirty="0">
                <a:latin typeface="宋体" panose="02010600030101010101" pitchFamily="2" charset="-122"/>
                <a:ea typeface="宋体" panose="02010600030101010101" pitchFamily="2" charset="-122"/>
              </a:rPr>
              <a:t>8</a:t>
            </a:r>
            <a:r>
              <a:rPr lang="zh-CN" altLang="en-US" sz="2400" dirty="0">
                <a:latin typeface="宋体" panose="02010600030101010101" pitchFamily="2" charset="-122"/>
                <a:ea typeface="宋体" panose="02010600030101010101" pitchFamily="2" charset="-122"/>
              </a:rPr>
              <a:t>位商</a:t>
            </a:r>
            <a:endParaRPr lang="zh-CN" altLang="en-US" sz="2400" dirty="0">
              <a:latin typeface="宋体" panose="02010600030101010101" pitchFamily="2" charset="-122"/>
              <a:ea typeface="宋体" panose="02010600030101010101" pitchFamily="2" charset="-122"/>
            </a:endParaRPr>
          </a:p>
          <a:p>
            <a:pPr eaLnBrk="0" hangingPunct="0">
              <a:buFont typeface="Wingdings" panose="05000000000000000000" pitchFamily="2" charset="2"/>
            </a:pPr>
            <a:r>
              <a:rPr lang="en-US" altLang="zh-CN" sz="2400" dirty="0">
                <a:latin typeface="宋体" panose="02010600030101010101" pitchFamily="2" charset="-122"/>
                <a:ea typeface="宋体" panose="02010600030101010101" pitchFamily="2" charset="-122"/>
              </a:rPr>
              <a:t>32</a:t>
            </a:r>
            <a:r>
              <a:rPr lang="zh-CN" altLang="en-US" sz="2400" dirty="0">
                <a:latin typeface="宋体" panose="02010600030101010101" pitchFamily="2" charset="-122"/>
                <a:ea typeface="宋体" panose="02010600030101010101" pitchFamily="2" charset="-122"/>
              </a:rPr>
              <a:t>位</a:t>
            </a:r>
            <a:r>
              <a:rPr lang="en-US" altLang="zh-CN" sz="2400" dirty="0">
                <a:latin typeface="宋体" panose="02010600030101010101" pitchFamily="2" charset="-122"/>
                <a:ea typeface="宋体" panose="02010600030101010101" pitchFamily="2" charset="-122"/>
              </a:rPr>
              <a:t>/16</a:t>
            </a:r>
            <a:r>
              <a:rPr lang="zh-CN" altLang="en-US" sz="2400" dirty="0">
                <a:latin typeface="宋体" panose="02010600030101010101" pitchFamily="2" charset="-122"/>
                <a:ea typeface="宋体" panose="02010600030101010101" pitchFamily="2" charset="-122"/>
              </a:rPr>
              <a:t>位→</a:t>
            </a:r>
            <a:r>
              <a:rPr lang="en-US" altLang="zh-CN" sz="2400" dirty="0">
                <a:latin typeface="宋体" panose="02010600030101010101" pitchFamily="2" charset="-122"/>
                <a:ea typeface="宋体" panose="02010600030101010101" pitchFamily="2" charset="-122"/>
              </a:rPr>
              <a:t>16</a:t>
            </a:r>
            <a:r>
              <a:rPr lang="zh-CN" altLang="en-US" sz="2400" dirty="0">
                <a:latin typeface="宋体" panose="02010600030101010101" pitchFamily="2" charset="-122"/>
                <a:ea typeface="宋体" panose="02010600030101010101" pitchFamily="2" charset="-122"/>
              </a:rPr>
              <a:t>位商</a:t>
            </a:r>
            <a:endParaRPr lang="zh-CN" altLang="en-US" sz="2400" dirty="0">
              <a:latin typeface="宋体" panose="02010600030101010101" pitchFamily="2" charset="-122"/>
              <a:ea typeface="宋体" panose="02010600030101010101" pitchFamily="2" charset="-122"/>
            </a:endParaRPr>
          </a:p>
        </p:txBody>
      </p:sp>
      <p:sp>
        <p:nvSpPr>
          <p:cNvPr id="74762" name="内容占位符 2"/>
          <p:cNvSpPr txBox="1"/>
          <p:nvPr/>
        </p:nvSpPr>
        <p:spPr>
          <a:xfrm>
            <a:off x="414338" y="4970463"/>
            <a:ext cx="8382000" cy="1300162"/>
          </a:xfrm>
          <a:prstGeom prst="rect">
            <a:avLst/>
          </a:prstGeom>
          <a:noFill/>
          <a:ln w="9525" cap="flat" cmpd="sng">
            <a:solidFill>
              <a:srgbClr val="000000"/>
            </a:solidFill>
            <a:prstDash val="solid"/>
            <a:miter/>
            <a:headEnd type="none" w="med" len="med"/>
            <a:tailEnd type="none" w="med" len="med"/>
          </a:ln>
        </p:spPr>
        <p:txBody>
          <a:bodyPr/>
          <a:p>
            <a:pPr eaLnBrk="0" hangingPunct="0">
              <a:spcBef>
                <a:spcPct val="20000"/>
              </a:spcBef>
              <a:buClr>
                <a:schemeClr val="hlink"/>
              </a:buClr>
              <a:buFont typeface="Wingdings" panose="05000000000000000000" pitchFamily="2" charset="2"/>
            </a:pPr>
            <a:r>
              <a:rPr lang="zh-CN" altLang="en-US" sz="2400" dirty="0">
                <a:latin typeface="宋体" panose="02010600030101010101" pitchFamily="2" charset="-122"/>
                <a:ea typeface="宋体" panose="02010600030101010101" pitchFamily="2" charset="-122"/>
              </a:rPr>
              <a:t>除法指令规定</a:t>
            </a:r>
            <a:r>
              <a:rPr lang="zh-CN" altLang="en-US" sz="2400" dirty="0">
                <a:solidFill>
                  <a:srgbClr val="FF0066"/>
                </a:solidFill>
                <a:latin typeface="宋体" panose="02010600030101010101" pitchFamily="2" charset="-122"/>
                <a:ea typeface="宋体" panose="02010600030101010101" pitchFamily="2" charset="-122"/>
              </a:rPr>
              <a:t>被除数的字长必须为除数字长的</a:t>
            </a:r>
            <a:r>
              <a:rPr lang="en-US" altLang="zh-CN" sz="2400" dirty="0">
                <a:solidFill>
                  <a:srgbClr val="FF0066"/>
                </a:solidFill>
                <a:latin typeface="宋体" panose="02010600030101010101" pitchFamily="2" charset="-122"/>
                <a:ea typeface="宋体" panose="02010600030101010101" pitchFamily="2" charset="-122"/>
              </a:rPr>
              <a:t>2</a:t>
            </a:r>
            <a:r>
              <a:rPr lang="zh-CN" altLang="en-US" sz="2400" dirty="0">
                <a:solidFill>
                  <a:srgbClr val="FF0066"/>
                </a:solidFill>
                <a:latin typeface="宋体" panose="02010600030101010101" pitchFamily="2" charset="-122"/>
                <a:ea typeface="宋体" panose="02010600030101010101" pitchFamily="2" charset="-122"/>
              </a:rPr>
              <a:t>倍</a:t>
            </a:r>
            <a:r>
              <a:rPr lang="zh-CN" altLang="en-US" sz="2400" dirty="0">
                <a:latin typeface="宋体" panose="02010600030101010101" pitchFamily="2" charset="-122"/>
                <a:ea typeface="宋体" panose="02010600030101010101" pitchFamily="2" charset="-122"/>
              </a:rPr>
              <a:t>。如果被除数字长不够，就要使用字位扩展指令来扩展其位数。</a:t>
            </a:r>
            <a:endParaRPr lang="en-US" altLang="zh-CN" sz="2400" dirty="0">
              <a:latin typeface="宋体" panose="02010600030101010101" pitchFamily="2" charset="-122"/>
              <a:ea typeface="宋体" panose="02010600030101010101" pitchFamily="2" charset="-122"/>
            </a:endParaRPr>
          </a:p>
          <a:p>
            <a:pPr eaLnBrk="0" hangingPunct="0">
              <a:spcBef>
                <a:spcPct val="20000"/>
              </a:spcBef>
              <a:buClr>
                <a:schemeClr val="hlink"/>
              </a:buClr>
              <a:buFont typeface="Wingdings" panose="05000000000000000000" pitchFamily="2" charset="2"/>
            </a:pPr>
            <a:r>
              <a:rPr lang="zh-CN" altLang="en-US" sz="2400" dirty="0">
                <a:latin typeface="宋体" panose="02010600030101010101" pitchFamily="2" charset="-122"/>
                <a:ea typeface="宋体" panose="02010600030101010101" pitchFamily="2" charset="-122"/>
              </a:rPr>
              <a:t>无符号除法指令和有符号除法指令对</a:t>
            </a:r>
            <a:r>
              <a:rPr lang="en-US" altLang="zh-CN" sz="2400" dirty="0">
                <a:latin typeface="宋体" panose="02010600030101010101" pitchFamily="2" charset="-122"/>
                <a:ea typeface="宋体" panose="02010600030101010101" pitchFamily="2" charset="-122"/>
              </a:rPr>
              <a:t>6</a:t>
            </a:r>
            <a:r>
              <a:rPr lang="zh-CN" altLang="en-US" sz="2400" dirty="0">
                <a:latin typeface="宋体" panose="02010600030101010101" pitchFamily="2" charset="-122"/>
                <a:ea typeface="宋体" panose="02010600030101010101" pitchFamily="2" charset="-122"/>
              </a:rPr>
              <a:t>个标志位均无影响。</a:t>
            </a:r>
            <a:endParaRPr lang="zh-CN" altLang="en-US" sz="2400" dirty="0">
              <a:latin typeface="宋体" panose="02010600030101010101" pitchFamily="2" charset="-122"/>
              <a:ea typeface="宋体" panose="02010600030101010101" pitchFamily="2" charset="-122"/>
            </a:endParaRPr>
          </a:p>
        </p:txBody>
      </p:sp>
      <p:sp>
        <p:nvSpPr>
          <p:cNvPr id="74763" name="文本框 1"/>
          <p:cNvSpPr txBox="1"/>
          <p:nvPr/>
        </p:nvSpPr>
        <p:spPr>
          <a:xfrm>
            <a:off x="1730375" y="6280150"/>
            <a:ext cx="5218113" cy="461963"/>
          </a:xfrm>
          <a:prstGeom prst="rect">
            <a:avLst/>
          </a:prstGeom>
          <a:noFill/>
          <a:ln w="9525">
            <a:noFill/>
          </a:ln>
        </p:spPr>
        <p:txBody>
          <a:bodyPr>
            <a:spAutoFit/>
          </a:bodyPr>
          <a:p>
            <a:pPr eaLnBrk="0" hangingPunct="0">
              <a:buFont typeface="Wingdings" panose="05000000000000000000" pitchFamily="2" charset="2"/>
            </a:pPr>
            <a:r>
              <a:rPr lang="zh-CN" altLang="en-US" sz="2400" dirty="0">
                <a:solidFill>
                  <a:srgbClr val="FF0000"/>
                </a:solidFill>
                <a:latin typeface="宋体" panose="02010600030101010101" pitchFamily="2" charset="-122"/>
                <a:ea typeface="宋体" panose="02010600030101010101" pitchFamily="2" charset="-122"/>
              </a:rPr>
              <a:t>除数为</a:t>
            </a:r>
            <a:r>
              <a:rPr lang="en-US" altLang="zh-CN" sz="2400" dirty="0">
                <a:solidFill>
                  <a:srgbClr val="FF0000"/>
                </a:solidFill>
                <a:latin typeface="宋体" panose="02010600030101010101" pitchFamily="2" charset="-122"/>
                <a:ea typeface="宋体" panose="02010600030101010101" pitchFamily="2" charset="-122"/>
              </a:rPr>
              <a:t>16</a:t>
            </a:r>
            <a:r>
              <a:rPr lang="zh-CN" altLang="en-US" sz="2400" dirty="0">
                <a:solidFill>
                  <a:srgbClr val="FF0000"/>
                </a:solidFill>
                <a:latin typeface="宋体" panose="02010600030101010101" pitchFamily="2" charset="-122"/>
                <a:ea typeface="宋体" panose="02010600030101010101" pitchFamily="2" charset="-122"/>
              </a:rPr>
              <a:t>位或</a:t>
            </a:r>
            <a:r>
              <a:rPr lang="en-US" altLang="zh-CN" sz="2400" dirty="0">
                <a:solidFill>
                  <a:srgbClr val="FF0000"/>
                </a:solidFill>
                <a:latin typeface="宋体" panose="02010600030101010101" pitchFamily="2" charset="-122"/>
                <a:ea typeface="宋体" panose="02010600030101010101" pitchFamily="2" charset="-122"/>
              </a:rPr>
              <a:t>8</a:t>
            </a:r>
            <a:r>
              <a:rPr lang="zh-CN" altLang="en-US" sz="2400" dirty="0">
                <a:solidFill>
                  <a:srgbClr val="FF0000"/>
                </a:solidFill>
                <a:latin typeface="宋体" panose="02010600030101010101" pitchFamily="2" charset="-122"/>
                <a:ea typeface="宋体" panose="02010600030101010101" pitchFamily="2" charset="-122"/>
              </a:rPr>
              <a:t>位寄存器或者内存单元</a:t>
            </a:r>
            <a:endParaRPr lang="zh-CN" altLang="en-US" sz="2400"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4754">
                                            <p:txEl>
                                              <p:charRg st="0" end="12"/>
                                            </p:txEl>
                                          </p:spTgt>
                                        </p:tgtEl>
                                        <p:attrNameLst>
                                          <p:attrName>style.visibility</p:attrName>
                                        </p:attrNameLst>
                                      </p:cBhvr>
                                      <p:to>
                                        <p:strVal val="visible"/>
                                      </p:to>
                                    </p:set>
                                    <p:animEffect transition="in" filter="wipe(left)">
                                      <p:cBhvr>
                                        <p:cTn id="7" dur="500"/>
                                        <p:tgtEl>
                                          <p:spTgt spid="74754">
                                            <p:txEl>
                                              <p:charRg st="0" end="1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4754">
                                            <p:txEl>
                                              <p:charRg st="12" end="25"/>
                                            </p:txEl>
                                          </p:spTgt>
                                        </p:tgtEl>
                                        <p:attrNameLst>
                                          <p:attrName>style.visibility</p:attrName>
                                        </p:attrNameLst>
                                      </p:cBhvr>
                                      <p:to>
                                        <p:strVal val="visible"/>
                                      </p:to>
                                    </p:set>
                                    <p:animEffect transition="in" filter="wipe(left)">
                                      <p:cBhvr>
                                        <p:cTn id="12" dur="500"/>
                                        <p:tgtEl>
                                          <p:spTgt spid="74754">
                                            <p:txEl>
                                              <p:charRg st="12" end="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1026"/>
          <p:cNvSpPr>
            <a:spLocks noGrp="1"/>
          </p:cNvSpPr>
          <p:nvPr>
            <p:ph type="title" idx="4294967295"/>
          </p:nvPr>
        </p:nvSpPr>
        <p:spPr>
          <a:xfrm>
            <a:off x="552450" y="1165225"/>
            <a:ext cx="6553200" cy="563563"/>
          </a:xfrm>
        </p:spPr>
        <p:txBody>
          <a:bodyPr vert="horz" wrap="square" lIns="91440" tIns="45720" rIns="91440" bIns="45720" anchor="ctr" anchorCtr="0"/>
          <a:p>
            <a:pPr eaLnBrk="1" hangingPunct="1"/>
            <a:r>
              <a:rPr lang="zh-CN" altLang="en-US" dirty="0">
                <a:solidFill>
                  <a:srgbClr val="000033"/>
                </a:solidFill>
                <a:ea typeface="宋体" panose="02010600030101010101" pitchFamily="2" charset="-122"/>
              </a:rPr>
              <a:t>（</a:t>
            </a:r>
            <a:r>
              <a:rPr lang="en-US" altLang="zh-CN" dirty="0">
                <a:solidFill>
                  <a:srgbClr val="000033"/>
                </a:solidFill>
                <a:ea typeface="宋体" panose="02010600030101010101" pitchFamily="2" charset="-122"/>
              </a:rPr>
              <a:t>1</a:t>
            </a:r>
            <a:r>
              <a:rPr lang="zh-CN" altLang="en-US" dirty="0">
                <a:solidFill>
                  <a:srgbClr val="000033"/>
                </a:solidFill>
                <a:ea typeface="宋体" panose="02010600030101010101" pitchFamily="2" charset="-122"/>
              </a:rPr>
              <a:t>）无符号数除法指令</a:t>
            </a:r>
            <a:endParaRPr lang="zh-CN" altLang="en-US" dirty="0">
              <a:solidFill>
                <a:srgbClr val="000033"/>
              </a:solidFill>
              <a:ea typeface="宋体" panose="02010600030101010101" pitchFamily="2" charset="-122"/>
            </a:endParaRPr>
          </a:p>
        </p:txBody>
      </p:sp>
      <p:sp>
        <p:nvSpPr>
          <p:cNvPr id="75779" name="矩形 6"/>
          <p:cNvSpPr/>
          <p:nvPr/>
        </p:nvSpPr>
        <p:spPr>
          <a:xfrm>
            <a:off x="323850" y="1628775"/>
            <a:ext cx="8496300" cy="4154170"/>
          </a:xfrm>
          <a:prstGeom prst="rect">
            <a:avLst/>
          </a:prstGeom>
          <a:noFill/>
          <a:ln w="9525">
            <a:noFill/>
          </a:ln>
        </p:spPr>
        <p:txBody>
          <a:bodyPr>
            <a:spAutoFit/>
          </a:bodyPr>
          <a:p>
            <a:pPr marL="342900" indent="-342900" eaLnBrk="0" hangingPunct="0">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格式</a:t>
            </a:r>
            <a:endParaRPr lang="en-US" altLang="zh-CN" sz="2400" dirty="0">
              <a:latin typeface="宋体" panose="02010600030101010101" pitchFamily="2" charset="-122"/>
              <a:ea typeface="宋体" panose="02010600030101010101" pitchFamily="2" charset="-122"/>
            </a:endParaRPr>
          </a:p>
          <a:p>
            <a:pPr marL="342900" indent="-342900" eaLnBrk="0" hangingPunct="0"/>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DIV   OPRD</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OPRD</a:t>
            </a:r>
            <a:r>
              <a:rPr lang="zh-CN" altLang="en-US" sz="2400" dirty="0">
                <a:latin typeface="宋体" panose="02010600030101010101" pitchFamily="2" charset="-122"/>
                <a:ea typeface="宋体" panose="02010600030101010101" pitchFamily="2" charset="-122"/>
              </a:rPr>
              <a:t>的长度确定除法类型</a:t>
            </a:r>
            <a:endParaRPr lang="zh-CN" altLang="en-US" sz="2400" dirty="0">
              <a:latin typeface="宋体" panose="02010600030101010101" pitchFamily="2" charset="-122"/>
              <a:ea typeface="宋体" panose="02010600030101010101" pitchFamily="2" charset="-122"/>
            </a:endParaRPr>
          </a:p>
          <a:p>
            <a:pPr marL="342900" indent="-342900" eaLnBrk="0" hangingPunct="0"/>
            <a:r>
              <a:rPr lang="en-US" altLang="zh-CN" sz="2400" dirty="0">
                <a:solidFill>
                  <a:srgbClr val="FF0000"/>
                </a:solidFill>
                <a:latin typeface="宋体" panose="02010600030101010101" pitchFamily="2" charset="-122"/>
                <a:ea typeface="宋体" panose="02010600030101010101" pitchFamily="2" charset="-122"/>
              </a:rPr>
              <a:t>OPRD</a:t>
            </a:r>
            <a:r>
              <a:rPr lang="zh-CN" altLang="en-US" sz="2400" dirty="0">
                <a:solidFill>
                  <a:srgbClr val="FF0000"/>
                </a:solidFill>
                <a:latin typeface="宋体" panose="02010600030101010101" pitchFamily="2" charset="-122"/>
                <a:ea typeface="宋体" panose="02010600030101010101" pitchFamily="2" charset="-122"/>
              </a:rPr>
              <a:t>可以是寄存器或者内存单元，但不能是立即数</a:t>
            </a:r>
            <a:endParaRPr lang="en-US" altLang="zh-CN" sz="2400" dirty="0">
              <a:solidFill>
                <a:srgbClr val="FF0000"/>
              </a:solidFill>
              <a:latin typeface="宋体" panose="02010600030101010101" pitchFamily="2" charset="-122"/>
              <a:ea typeface="宋体" panose="02010600030101010101" pitchFamily="2" charset="-122"/>
            </a:endParaRPr>
          </a:p>
          <a:p>
            <a:pPr marL="342900" indent="-342900" eaLnBrk="0" hangingPunct="0"/>
            <a:endParaRPr lang="zh-CN" altLang="en-US" sz="2400" dirty="0">
              <a:latin typeface="宋体" panose="02010600030101010101" pitchFamily="2" charset="-122"/>
              <a:ea typeface="宋体" panose="02010600030101010101" pitchFamily="2" charset="-122"/>
            </a:endParaRPr>
          </a:p>
          <a:p>
            <a:pPr marL="342900" indent="-342900" eaLnBrk="0" hangingPunct="0"/>
            <a:r>
              <a:rPr lang="zh-CN" altLang="en-US" sz="2400" dirty="0">
                <a:latin typeface="宋体" panose="02010600030101010101" pitchFamily="2" charset="-122"/>
                <a:ea typeface="宋体" panose="02010600030101010101" pitchFamily="2" charset="-122"/>
              </a:rPr>
              <a:t> 操作：字节操作  </a:t>
            </a:r>
            <a:r>
              <a:rPr lang="en-US" altLang="zh-CN" sz="2400" dirty="0">
                <a:latin typeface="宋体" panose="02010600030101010101" pitchFamily="2" charset="-122"/>
                <a:ea typeface="宋体" panose="02010600030101010101" pitchFamily="2" charset="-122"/>
              </a:rPr>
              <a:t>(AL) </a:t>
            </a:r>
            <a:r>
              <a:rPr lang="en-US" altLang="zh-CN" sz="2400" b="1" dirty="0">
                <a:latin typeface="Arial" panose="020B0604020202020204" pitchFamily="34" charset="0"/>
                <a:ea typeface="黑体" panose="02010609060101010101" pitchFamily="49" charset="-122"/>
                <a:sym typeface="Symbol" panose="05050102010706020507" pitchFamily="18" charset="2"/>
              </a:rPr>
              <a:t></a:t>
            </a:r>
            <a:r>
              <a:rPr lang="en-US" altLang="zh-CN" sz="2400" dirty="0">
                <a:latin typeface="宋体" panose="02010600030101010101" pitchFamily="2" charset="-122"/>
                <a:ea typeface="宋体" panose="02010600030101010101" pitchFamily="2" charset="-122"/>
              </a:rPr>
              <a:t> (AX)/(OPRD)</a:t>
            </a:r>
            <a:r>
              <a:rPr lang="zh-CN" altLang="en-US" sz="2400" dirty="0">
                <a:latin typeface="宋体" panose="02010600030101010101" pitchFamily="2" charset="-122"/>
                <a:ea typeface="宋体" panose="02010600030101010101" pitchFamily="2" charset="-122"/>
              </a:rPr>
              <a:t>的商</a:t>
            </a:r>
            <a:endParaRPr lang="zh-CN" altLang="en-US" sz="2400" dirty="0">
              <a:latin typeface="宋体" panose="02010600030101010101" pitchFamily="2" charset="-122"/>
              <a:ea typeface="宋体" panose="02010600030101010101" pitchFamily="2" charset="-122"/>
            </a:endParaRPr>
          </a:p>
          <a:p>
            <a:pPr marL="342900" indent="-342900" eaLnBrk="0" hangingPunct="0"/>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(AH) </a:t>
            </a:r>
            <a:r>
              <a:rPr lang="en-US" altLang="zh-CN" sz="2400" b="1" dirty="0">
                <a:latin typeface="Arial" panose="020B0604020202020204" pitchFamily="34" charset="0"/>
                <a:ea typeface="黑体" panose="02010609060101010101" pitchFamily="49" charset="-122"/>
                <a:sym typeface="Symbol" panose="05050102010706020507" pitchFamily="18" charset="2"/>
              </a:rPr>
              <a:t> </a:t>
            </a:r>
            <a:r>
              <a:rPr lang="en-US" altLang="zh-CN" sz="2400" dirty="0">
                <a:latin typeface="宋体" panose="02010600030101010101" pitchFamily="2" charset="-122"/>
                <a:ea typeface="宋体" panose="02010600030101010101" pitchFamily="2" charset="-122"/>
              </a:rPr>
              <a:t>(AX)/(OPRD)</a:t>
            </a:r>
            <a:r>
              <a:rPr lang="zh-CN" altLang="en-US" sz="2400" dirty="0">
                <a:latin typeface="宋体" panose="02010600030101010101" pitchFamily="2" charset="-122"/>
                <a:ea typeface="宋体" panose="02010600030101010101" pitchFamily="2" charset="-122"/>
              </a:rPr>
              <a:t>的余数</a:t>
            </a:r>
            <a:endParaRPr lang="en-US" altLang="zh-CN" sz="2400" dirty="0">
              <a:latin typeface="宋体" panose="02010600030101010101" pitchFamily="2" charset="-122"/>
              <a:ea typeface="宋体" panose="02010600030101010101" pitchFamily="2" charset="-122"/>
            </a:endParaRPr>
          </a:p>
          <a:p>
            <a:pPr marL="342900" indent="-342900" eaLnBrk="0" hangingPunct="0"/>
            <a:r>
              <a:rPr lang="zh-CN" altLang="en-US" sz="2400" dirty="0">
                <a:latin typeface="宋体" panose="02010600030101010101" pitchFamily="2" charset="-122"/>
                <a:ea typeface="宋体" panose="02010600030101010101" pitchFamily="2" charset="-122"/>
              </a:rPr>
              <a:t>       字操作    </a:t>
            </a:r>
            <a:r>
              <a:rPr lang="en-US" altLang="zh-CN" sz="2400" dirty="0">
                <a:latin typeface="宋体" panose="02010600030101010101" pitchFamily="2" charset="-122"/>
                <a:ea typeface="宋体" panose="02010600030101010101" pitchFamily="2" charset="-122"/>
              </a:rPr>
              <a:t>(AX) </a:t>
            </a:r>
            <a:r>
              <a:rPr lang="en-US" altLang="zh-CN" sz="2400" b="1" dirty="0">
                <a:latin typeface="Arial" panose="020B0604020202020204" pitchFamily="34" charset="0"/>
                <a:ea typeface="黑体" panose="02010609060101010101" pitchFamily="49" charset="-122"/>
                <a:sym typeface="Symbol" panose="05050102010706020507" pitchFamily="18" charset="2"/>
              </a:rPr>
              <a:t> </a:t>
            </a:r>
            <a:r>
              <a:rPr lang="en-US" altLang="zh-CN" sz="2400" dirty="0">
                <a:latin typeface="宋体" panose="02010600030101010101" pitchFamily="2" charset="-122"/>
                <a:ea typeface="宋体" panose="02010600030101010101" pitchFamily="2" charset="-122"/>
              </a:rPr>
              <a:t>(DX, AX)/(OPRD)</a:t>
            </a:r>
            <a:r>
              <a:rPr lang="zh-CN" altLang="en-US" sz="2400" dirty="0">
                <a:latin typeface="宋体" panose="02010600030101010101" pitchFamily="2" charset="-122"/>
                <a:ea typeface="宋体" panose="02010600030101010101" pitchFamily="2" charset="-122"/>
              </a:rPr>
              <a:t>的商</a:t>
            </a:r>
            <a:endParaRPr lang="zh-CN" altLang="en-US" sz="2400" dirty="0">
              <a:latin typeface="宋体" panose="02010600030101010101" pitchFamily="2" charset="-122"/>
              <a:ea typeface="宋体" panose="02010600030101010101" pitchFamily="2" charset="-122"/>
            </a:endParaRPr>
          </a:p>
          <a:p>
            <a:pPr marL="342900" indent="-342900" eaLnBrk="0" hangingPunct="0"/>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(DX) </a:t>
            </a:r>
            <a:r>
              <a:rPr lang="en-US" altLang="zh-CN" sz="2400" b="1" dirty="0">
                <a:latin typeface="Arial" panose="020B0604020202020204" pitchFamily="34" charset="0"/>
                <a:ea typeface="黑体" panose="02010609060101010101" pitchFamily="49" charset="-122"/>
                <a:sym typeface="Symbol" panose="05050102010706020507" pitchFamily="18" charset="2"/>
              </a:rPr>
              <a:t> </a:t>
            </a:r>
            <a:r>
              <a:rPr lang="en-US" altLang="zh-CN" sz="2400" dirty="0">
                <a:latin typeface="宋体" panose="02010600030101010101" pitchFamily="2" charset="-122"/>
                <a:ea typeface="宋体" panose="02010600030101010101" pitchFamily="2" charset="-122"/>
              </a:rPr>
              <a:t>(DX, AX)/(OPRD)</a:t>
            </a:r>
            <a:r>
              <a:rPr lang="zh-CN" altLang="en-US" sz="2400" dirty="0">
                <a:latin typeface="宋体" panose="02010600030101010101" pitchFamily="2" charset="-122"/>
                <a:ea typeface="宋体" panose="02010600030101010101" pitchFamily="2" charset="-122"/>
              </a:rPr>
              <a:t>的余数</a:t>
            </a:r>
            <a:endParaRPr lang="en-US" altLang="zh-CN" sz="2400" dirty="0">
              <a:latin typeface="宋体" panose="02010600030101010101" pitchFamily="2" charset="-122"/>
              <a:ea typeface="宋体" panose="02010600030101010101" pitchFamily="2" charset="-122"/>
            </a:endParaRPr>
          </a:p>
          <a:p>
            <a:pPr marL="342900" indent="-342900" eaLnBrk="0" hangingPunct="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若除数为零或</a:t>
            </a:r>
            <a:r>
              <a:rPr lang="en-US" altLang="zh-CN" sz="2400" dirty="0">
                <a:latin typeface="宋体" panose="02010600030101010101" pitchFamily="2" charset="-122"/>
                <a:ea typeface="宋体" panose="02010600030101010101" pitchFamily="2" charset="-122"/>
              </a:rPr>
              <a:t>AL</a:t>
            </a:r>
            <a:r>
              <a:rPr lang="zh-CN" altLang="en-US" sz="2400" dirty="0">
                <a:latin typeface="宋体" panose="02010600030101010101" pitchFamily="2" charset="-122"/>
                <a:ea typeface="宋体" panose="02010600030101010101" pitchFamily="2" charset="-122"/>
              </a:rPr>
              <a:t>中商大于</a:t>
            </a:r>
            <a:r>
              <a:rPr lang="en-US" altLang="zh-CN" sz="2400" dirty="0">
                <a:latin typeface="宋体" panose="02010600030101010101" pitchFamily="2" charset="-122"/>
                <a:ea typeface="宋体" panose="02010600030101010101" pitchFamily="2" charset="-122"/>
              </a:rPr>
              <a:t>FFH,(</a:t>
            </a:r>
            <a:r>
              <a:rPr lang="zh-CN" altLang="en-US" sz="2400" dirty="0">
                <a:latin typeface="宋体" panose="02010600030101010101" pitchFamily="2" charset="-122"/>
                <a:ea typeface="宋体" panose="02010600030101010101" pitchFamily="2" charset="-122"/>
              </a:rPr>
              <a:t>或</a:t>
            </a:r>
            <a:r>
              <a:rPr lang="en-US" altLang="zh-CN" sz="2400" dirty="0">
                <a:latin typeface="宋体" panose="02010600030101010101" pitchFamily="2" charset="-122"/>
                <a:ea typeface="宋体" panose="02010600030101010101" pitchFamily="2" charset="-122"/>
              </a:rPr>
              <a:t>AX</a:t>
            </a:r>
            <a:r>
              <a:rPr lang="zh-CN" altLang="en-US" sz="2400" dirty="0">
                <a:latin typeface="宋体" panose="02010600030101010101" pitchFamily="2" charset="-122"/>
                <a:ea typeface="宋体" panose="02010600030101010101" pitchFamily="2" charset="-122"/>
              </a:rPr>
              <a:t>中商大于</a:t>
            </a:r>
            <a:r>
              <a:rPr lang="en-US" altLang="zh-CN" sz="2400" dirty="0">
                <a:latin typeface="宋体" panose="02010600030101010101" pitchFamily="2" charset="-122"/>
                <a:ea typeface="宋体" panose="02010600030101010101" pitchFamily="2" charset="-122"/>
              </a:rPr>
              <a:t>FFFFH)</a:t>
            </a:r>
            <a:r>
              <a:rPr lang="zh-CN" altLang="en-US" sz="2400" dirty="0">
                <a:latin typeface="宋体" panose="02010600030101010101" pitchFamily="2" charset="-122"/>
                <a:ea typeface="宋体" panose="02010600030101010101" pitchFamily="2" charset="-122"/>
              </a:rPr>
              <a:t>，则</a:t>
            </a:r>
            <a:r>
              <a:rPr lang="en-US" altLang="zh-CN" sz="2400" dirty="0">
                <a:latin typeface="宋体" panose="02010600030101010101" pitchFamily="2" charset="-122"/>
                <a:ea typeface="宋体" panose="02010600030101010101" pitchFamily="2" charset="-122"/>
              </a:rPr>
              <a:t>CPU</a:t>
            </a:r>
            <a:r>
              <a:rPr lang="zh-CN" altLang="en-US" sz="2400" dirty="0">
                <a:latin typeface="宋体" panose="02010600030101010101" pitchFamily="2" charset="-122"/>
                <a:ea typeface="宋体" panose="02010600030101010101" pitchFamily="2" charset="-122"/>
              </a:rPr>
              <a:t>产生一个类型</a:t>
            </a:r>
            <a:r>
              <a:rPr lang="en-US" altLang="zh-CN" sz="2400" dirty="0">
                <a:latin typeface="宋体" panose="02010600030101010101" pitchFamily="2" charset="-122"/>
                <a:ea typeface="宋体" panose="02010600030101010101" pitchFamily="2" charset="-122"/>
              </a:rPr>
              <a:t>0</a:t>
            </a:r>
            <a:r>
              <a:rPr lang="zh-CN" altLang="en-US" sz="2400" dirty="0">
                <a:latin typeface="宋体" panose="02010600030101010101" pitchFamily="2" charset="-122"/>
                <a:ea typeface="宋体" panose="02010600030101010101" pitchFamily="2" charset="-122"/>
              </a:rPr>
              <a:t>的内部中断。</a:t>
            </a:r>
            <a:endParaRPr lang="en-US" altLang="zh-CN" sz="2400" dirty="0">
              <a:latin typeface="宋体" panose="02010600030101010101" pitchFamily="2" charset="-122"/>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内容占位符 2"/>
          <p:cNvSpPr>
            <a:spLocks noGrp="1"/>
          </p:cNvSpPr>
          <p:nvPr>
            <p:ph idx="4294967295"/>
          </p:nvPr>
        </p:nvSpPr>
        <p:spPr>
          <a:xfrm>
            <a:off x="457200" y="990600"/>
            <a:ext cx="8291513" cy="2798763"/>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【1】</a:t>
            </a:r>
            <a:endParaRPr kumimoji="0" lang="en-US" altLang="zh-CN" sz="28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2800" b="1" i="0" u="none" strike="noStrike" kern="1200" cap="none" spc="0" normalizeH="0" baseline="0" noProof="0" dirty="0" smtClean="0">
                <a:ln>
                  <a:noFill/>
                </a:ln>
                <a:solidFill>
                  <a:schemeClr val="tx1"/>
                </a:solidFill>
                <a:effectLst/>
                <a:uLnTx/>
                <a:uFillTx/>
                <a:latin typeface="+mn-lt"/>
                <a:ea typeface="宋体" panose="02010600030101010101" pitchFamily="2" charset="-122"/>
                <a:cs typeface="+mn-cs"/>
              </a:rPr>
              <a:t>   </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DIV BL </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AX</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）除以（</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BL</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），商</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AL</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），余数</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AH</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DIV WORD PTR[SI]</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DX</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(AX)</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除以</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SI</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和</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SI+1</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所指向单元的内容，</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         </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；商</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AX</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），余数</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DX</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76803" name="内容占位符 2"/>
          <p:cNvSpPr txBox="1">
            <a:spLocks noChangeArrowheads="1"/>
          </p:cNvSpPr>
          <p:nvPr/>
        </p:nvSpPr>
        <p:spPr bwMode="auto">
          <a:xfrm>
            <a:off x="457200" y="3644900"/>
            <a:ext cx="6491288" cy="2798763"/>
          </a:xfrm>
          <a:prstGeom prst="rect">
            <a:avLst/>
          </a:prstGeom>
          <a:noFill/>
          <a:ln>
            <a:noFill/>
          </a:ln>
          <a:effectLst/>
        </p:spPr>
        <p:txBody>
          <a:bodyPr/>
          <a:lstStyle>
            <a:lvl1pPr marL="342900" indent="-342900">
              <a:spcBef>
                <a:spcPct val="20000"/>
              </a:spcBef>
              <a:buClr>
                <a:schemeClr val="hlink"/>
              </a:buClr>
              <a:buFont typeface="Wingdings" panose="05000000000000000000" pitchFamily="2" charset="2"/>
              <a:buChar char="v"/>
              <a:defRPr sz="2800" b="1">
                <a:solidFill>
                  <a:schemeClr val="tx1"/>
                </a:solidFill>
                <a:latin typeface="Verdana" panose="020B0604030504040204" pitchFamily="34" charset="0"/>
              </a:defRPr>
            </a:lvl1pPr>
            <a:lvl2pPr marL="742950" indent="-285750">
              <a:spcBef>
                <a:spcPct val="20000"/>
              </a:spcBef>
              <a:buClr>
                <a:schemeClr val="hlink"/>
              </a:buClr>
              <a:buFont typeface="Wingdings" panose="05000000000000000000" pitchFamily="2" charset="2"/>
              <a:buChar char="§"/>
              <a:defRPr sz="2400" b="1">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200" b="1">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【2】</a:t>
            </a:r>
            <a:endParaRPr kumimoji="0" lang="en-US" altLang="zh-CN" sz="28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2800" b="1" i="0" u="none" strike="noStrike" kern="1200" cap="none" spc="0" normalizeH="0" baseline="0" noProof="0" dirty="0" smtClean="0">
                <a:ln>
                  <a:noFill/>
                </a:ln>
                <a:solidFill>
                  <a:schemeClr val="tx1"/>
                </a:solidFill>
                <a:effectLst/>
                <a:uLnTx/>
                <a:uFillTx/>
                <a:latin typeface="Verdana" panose="020B0604030504040204" pitchFamily="34" charset="0"/>
                <a:ea typeface="宋体" panose="02010600030101010101" pitchFamily="2" charset="-122"/>
                <a:cs typeface="+mn-cs"/>
              </a:rPr>
              <a:t>   </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MOV AX</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7FA2H </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AX</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=7FA2H</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MOV BX</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03DDH </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BX</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=03DDH</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CWD           </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DX</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(AX)=00007FA2H</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  DIV BX        </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；商</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AX</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=0021H</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                </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；余数</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DX</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=0025H</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1026"/>
          <p:cNvSpPr>
            <a:spLocks noGrp="1"/>
          </p:cNvSpPr>
          <p:nvPr>
            <p:ph type="title" idx="4294967295"/>
          </p:nvPr>
        </p:nvSpPr>
        <p:spPr>
          <a:xfrm>
            <a:off x="552450" y="1165225"/>
            <a:ext cx="6553200" cy="563563"/>
          </a:xfrm>
        </p:spPr>
        <p:txBody>
          <a:bodyPr vert="horz" wrap="square" lIns="91440" tIns="45720" rIns="91440" bIns="45720" anchor="ctr" anchorCtr="0"/>
          <a:p>
            <a:pPr eaLnBrk="1" hangingPunct="1"/>
            <a:r>
              <a:rPr lang="zh-CN" altLang="en-US" dirty="0">
                <a:solidFill>
                  <a:srgbClr val="000033"/>
                </a:solidFill>
                <a:ea typeface="宋体" panose="02010600030101010101" pitchFamily="2" charset="-122"/>
              </a:rPr>
              <a:t>（</a:t>
            </a:r>
            <a:r>
              <a:rPr lang="en-US" altLang="zh-CN" dirty="0">
                <a:solidFill>
                  <a:srgbClr val="000033"/>
                </a:solidFill>
                <a:ea typeface="宋体" panose="02010600030101010101" pitchFamily="2" charset="-122"/>
              </a:rPr>
              <a:t>2</a:t>
            </a:r>
            <a:r>
              <a:rPr lang="zh-CN" altLang="en-US" dirty="0">
                <a:solidFill>
                  <a:srgbClr val="000033"/>
                </a:solidFill>
                <a:ea typeface="宋体" panose="02010600030101010101" pitchFamily="2" charset="-122"/>
              </a:rPr>
              <a:t>）有符号数除法指令</a:t>
            </a:r>
            <a:endParaRPr lang="zh-CN" altLang="en-US" dirty="0">
              <a:solidFill>
                <a:srgbClr val="000033"/>
              </a:solidFill>
              <a:ea typeface="宋体" panose="02010600030101010101" pitchFamily="2" charset="-122"/>
            </a:endParaRPr>
          </a:p>
        </p:txBody>
      </p:sp>
      <p:sp>
        <p:nvSpPr>
          <p:cNvPr id="77827" name="矩形 5"/>
          <p:cNvSpPr/>
          <p:nvPr/>
        </p:nvSpPr>
        <p:spPr>
          <a:xfrm>
            <a:off x="395288" y="1916113"/>
            <a:ext cx="8424862" cy="1114425"/>
          </a:xfrm>
          <a:prstGeom prst="rect">
            <a:avLst/>
          </a:prstGeom>
          <a:noFill/>
          <a:ln w="9525">
            <a:noFill/>
          </a:ln>
        </p:spPr>
        <p:txBody>
          <a:bodyPr>
            <a:spAutoFit/>
          </a:bodyPr>
          <a:p>
            <a:pPr>
              <a:lnSpc>
                <a:spcPct val="150000"/>
              </a:lnSpc>
              <a:buFont typeface="Wingdings" panose="05000000000000000000" pitchFamily="2" charset="2"/>
            </a:pPr>
            <a:r>
              <a:rPr lang="zh-CN" altLang="en-US" sz="2400" dirty="0">
                <a:latin typeface="宋体" panose="02010600030101010101" pitchFamily="2" charset="-122"/>
                <a:ea typeface="宋体" panose="02010600030101010101" pitchFamily="2" charset="-122"/>
              </a:rPr>
              <a:t>   这条指令除要求操作数为有符号数外，在格式和功能上都和</a:t>
            </a:r>
            <a:r>
              <a:rPr lang="en-US" altLang="zh-CN" sz="2400" dirty="0">
                <a:latin typeface="宋体" panose="02010600030101010101" pitchFamily="2" charset="-122"/>
                <a:ea typeface="宋体" panose="02010600030101010101" pitchFamily="2" charset="-122"/>
              </a:rPr>
              <a:t>DIV</a:t>
            </a:r>
            <a:r>
              <a:rPr lang="zh-CN" altLang="en-US" sz="2400" dirty="0">
                <a:latin typeface="宋体" panose="02010600030101010101" pitchFamily="2" charset="-122"/>
                <a:ea typeface="宋体" panose="02010600030101010101" pitchFamily="2" charset="-122"/>
              </a:rPr>
              <a:t>指令类似。</a:t>
            </a:r>
            <a:endParaRPr lang="en-US" altLang="zh-CN" sz="2400" dirty="0">
              <a:latin typeface="宋体" panose="02010600030101010101" pitchFamily="2" charset="-122"/>
              <a:ea typeface="宋体" panose="02010600030101010101" pitchFamily="2" charset="-122"/>
            </a:endParaRPr>
          </a:p>
        </p:txBody>
      </p:sp>
      <p:sp>
        <p:nvSpPr>
          <p:cNvPr id="77828" name="文本框 1"/>
          <p:cNvSpPr txBox="1"/>
          <p:nvPr/>
        </p:nvSpPr>
        <p:spPr>
          <a:xfrm>
            <a:off x="552450" y="3222625"/>
            <a:ext cx="7907338" cy="1939925"/>
          </a:xfrm>
          <a:prstGeom prst="rect">
            <a:avLst/>
          </a:prstGeom>
          <a:noFill/>
          <a:ln w="9525">
            <a:noFill/>
          </a:ln>
        </p:spPr>
        <p:txBody>
          <a:bodyPr>
            <a:spAutoFit/>
          </a:bodyPr>
          <a:p>
            <a:pPr eaLnBrk="0" hangingPunct="0">
              <a:buFont typeface="Wingdings" panose="05000000000000000000" pitchFamily="2" charset="2"/>
            </a:pPr>
            <a:r>
              <a:rPr lang="zh-CN" altLang="en-US" sz="2400" dirty="0">
                <a:latin typeface="宋体" panose="02010600030101010101" pitchFamily="2" charset="-122"/>
                <a:ea typeface="宋体" panose="02010600030101010101" pitchFamily="2" charset="-122"/>
              </a:rPr>
              <a:t>例：</a:t>
            </a:r>
            <a:endParaRPr lang="en-US" altLang="zh-CN" sz="2400" dirty="0">
              <a:latin typeface="宋体" panose="02010600030101010101" pitchFamily="2" charset="-122"/>
              <a:ea typeface="宋体" panose="02010600030101010101" pitchFamily="2" charset="-122"/>
            </a:endParaRPr>
          </a:p>
          <a:p>
            <a:pPr eaLnBrk="0" hangingPunct="0">
              <a:buFont typeface="Wingdings" panose="05000000000000000000" pitchFamily="2" charset="2"/>
            </a:pPr>
            <a:r>
              <a:rPr lang="en-US" altLang="zh-CN" sz="2400" dirty="0">
                <a:latin typeface="宋体" panose="02010600030101010101" pitchFamily="2" charset="-122"/>
                <a:ea typeface="宋体" panose="02010600030101010101" pitchFamily="2" charset="-122"/>
              </a:rPr>
              <a:t>IDIV CX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DX</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AX</a:t>
            </a:r>
            <a:r>
              <a:rPr lang="zh-CN" altLang="en-US" sz="2400" dirty="0">
                <a:latin typeface="宋体" panose="02010600030101010101" pitchFamily="2" charset="-122"/>
                <a:ea typeface="宋体" panose="02010600030101010101" pitchFamily="2" charset="-122"/>
              </a:rPr>
              <a:t>中的</a:t>
            </a:r>
            <a:r>
              <a:rPr lang="en-US" altLang="zh-CN" sz="2400" dirty="0">
                <a:latin typeface="宋体" panose="02010600030101010101" pitchFamily="2" charset="-122"/>
                <a:ea typeface="宋体" panose="02010600030101010101" pitchFamily="2" charset="-122"/>
              </a:rPr>
              <a:t>32</a:t>
            </a:r>
            <a:r>
              <a:rPr lang="zh-CN" altLang="en-US" sz="2400" dirty="0">
                <a:latin typeface="宋体" panose="02010600030101010101" pitchFamily="2" charset="-122"/>
                <a:ea typeface="宋体" panose="02010600030101010101" pitchFamily="2" charset="-122"/>
              </a:rPr>
              <a:t>位数除以（</a:t>
            </a:r>
            <a:r>
              <a:rPr lang="en-US" altLang="zh-CN" sz="2400" dirty="0">
                <a:latin typeface="宋体" panose="02010600030101010101" pitchFamily="2" charset="-122"/>
                <a:ea typeface="宋体" panose="02010600030101010101" pitchFamily="2" charset="-122"/>
              </a:rPr>
              <a:t>CX</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eaLnBrk="0" hangingPunct="0">
              <a:buFont typeface="Wingdings" panose="05000000000000000000" pitchFamily="2" charset="2"/>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；商</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AX</a:t>
            </a:r>
            <a:r>
              <a:rPr lang="zh-CN" altLang="en-US" sz="2400" dirty="0">
                <a:latin typeface="宋体" panose="02010600030101010101" pitchFamily="2" charset="-122"/>
                <a:ea typeface="宋体" panose="02010600030101010101" pitchFamily="2" charset="-122"/>
              </a:rPr>
              <a:t>），余数</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DX</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eaLnBrk="0" hangingPunct="0">
              <a:buFont typeface="Wingdings" panose="05000000000000000000" pitchFamily="2" charset="2"/>
            </a:pPr>
            <a:r>
              <a:rPr lang="en-US" altLang="zh-CN" sz="2400" dirty="0">
                <a:latin typeface="宋体" panose="02010600030101010101" pitchFamily="2" charset="-122"/>
                <a:ea typeface="宋体" panose="02010600030101010101" pitchFamily="2" charset="-122"/>
              </a:rPr>
              <a:t>IDIV BYTE PTR[BX]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AX</a:t>
            </a:r>
            <a:r>
              <a:rPr lang="zh-CN" altLang="en-US" sz="2400" dirty="0">
                <a:latin typeface="宋体" panose="02010600030101010101" pitchFamily="2" charset="-122"/>
                <a:ea typeface="宋体" panose="02010600030101010101" pitchFamily="2" charset="-122"/>
              </a:rPr>
              <a:t>）除以</a:t>
            </a:r>
            <a:r>
              <a:rPr lang="en-US" altLang="zh-CN" sz="2400" dirty="0">
                <a:latin typeface="宋体" panose="02010600030101010101" pitchFamily="2" charset="-122"/>
                <a:ea typeface="宋体" panose="02010600030101010101" pitchFamily="2" charset="-122"/>
              </a:rPr>
              <a:t>BX</a:t>
            </a:r>
            <a:r>
              <a:rPr lang="zh-CN" altLang="en-US" sz="2400" dirty="0">
                <a:latin typeface="宋体" panose="02010600030101010101" pitchFamily="2" charset="-122"/>
                <a:ea typeface="宋体" panose="02010600030101010101" pitchFamily="2" charset="-122"/>
              </a:rPr>
              <a:t>所指单元中的内容，</a:t>
            </a:r>
            <a:endParaRPr lang="en-US" altLang="zh-CN" sz="2400" dirty="0">
              <a:latin typeface="宋体" panose="02010600030101010101" pitchFamily="2" charset="-122"/>
              <a:ea typeface="宋体" panose="02010600030101010101" pitchFamily="2" charset="-122"/>
            </a:endParaRPr>
          </a:p>
          <a:p>
            <a:pPr eaLnBrk="0" hangingPunct="0">
              <a:buFont typeface="Wingdings" panose="05000000000000000000" pitchFamily="2" charset="2"/>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；商</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AL</a:t>
            </a:r>
            <a:r>
              <a:rPr lang="zh-CN" altLang="en-US" sz="2400" dirty="0">
                <a:latin typeface="宋体" panose="02010600030101010101" pitchFamily="2" charset="-122"/>
                <a:ea typeface="宋体" panose="02010600030101010101" pitchFamily="2" charset="-122"/>
              </a:rPr>
              <a:t>），余数</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AH</a:t>
            </a:r>
            <a:r>
              <a:rPr lang="zh-CN" altLang="en-US"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p:txBody>
      </p:sp>
      <p:sp>
        <p:nvSpPr>
          <p:cNvPr id="77829" name="文本框 2"/>
          <p:cNvSpPr txBox="1"/>
          <p:nvPr/>
        </p:nvSpPr>
        <p:spPr>
          <a:xfrm>
            <a:off x="552450" y="5354638"/>
            <a:ext cx="8064500" cy="1322387"/>
          </a:xfrm>
          <a:prstGeom prst="rect">
            <a:avLst/>
          </a:prstGeom>
          <a:noFill/>
          <a:ln w="28575" cap="flat" cmpd="sng">
            <a:solidFill>
              <a:srgbClr val="000000"/>
            </a:solidFill>
            <a:prstDash val="solid"/>
            <a:miter/>
            <a:headEnd type="none" w="med" len="med"/>
            <a:tailEnd type="none" w="med" len="med"/>
          </a:ln>
        </p:spPr>
        <p:txBody>
          <a:bodyPr>
            <a:spAutoFit/>
          </a:bodyPr>
          <a:p>
            <a:pPr eaLnBrk="0" hangingPunct="0">
              <a:buFont typeface="Wingdings" panose="05000000000000000000" pitchFamily="2" charset="2"/>
            </a:pPr>
            <a:r>
              <a:rPr lang="en-US" altLang="zh-CN" sz="2000" dirty="0">
                <a:latin typeface="宋体" panose="02010600030101010101" pitchFamily="2" charset="-122"/>
                <a:ea typeface="宋体" panose="02010600030101010101" pitchFamily="2" charset="-122"/>
              </a:rPr>
              <a:t>IDIV</a:t>
            </a:r>
            <a:r>
              <a:rPr lang="zh-CN" altLang="en-US" sz="2000" dirty="0">
                <a:latin typeface="宋体" panose="02010600030101010101" pitchFamily="2" charset="-122"/>
                <a:ea typeface="宋体" panose="02010600030101010101" pitchFamily="2" charset="-122"/>
              </a:rPr>
              <a:t>指令的结果，商和余数均为带符号数，且余数符号与被除数符号相同。如</a:t>
            </a:r>
            <a:r>
              <a:rPr lang="en-US" altLang="zh-CN" sz="2000" dirty="0">
                <a:latin typeface="宋体" panose="02010600030101010101" pitchFamily="2" charset="-122"/>
                <a:ea typeface="宋体" panose="02010600030101010101" pitchFamily="2" charset="-122"/>
              </a:rPr>
              <a:t>-26</a:t>
            </a:r>
            <a:r>
              <a:rPr lang="zh-CN" altLang="en-US" sz="2000" dirty="0">
                <a:latin typeface="宋体" panose="02010600030101010101" pitchFamily="2" charset="-122"/>
                <a:ea typeface="宋体" panose="02010600030101010101" pitchFamily="2" charset="-122"/>
              </a:rPr>
              <a:t>除以</a:t>
            </a:r>
            <a:r>
              <a:rPr lang="en-US" altLang="zh-CN" sz="2000" dirty="0">
                <a:latin typeface="宋体" panose="02010600030101010101" pitchFamily="2" charset="-122"/>
                <a:ea typeface="宋体" panose="02010600030101010101" pitchFamily="2" charset="-122"/>
              </a:rPr>
              <a:t>+4</a:t>
            </a:r>
            <a:r>
              <a:rPr lang="zh-CN" altLang="en-US" sz="2000" dirty="0">
                <a:latin typeface="宋体" panose="02010600030101010101" pitchFamily="2" charset="-122"/>
                <a:ea typeface="宋体" panose="02010600030101010101" pitchFamily="2" charset="-122"/>
              </a:rPr>
              <a:t>，可得到两种结果，一是商</a:t>
            </a:r>
            <a:r>
              <a:rPr lang="en-US" altLang="zh-CN" sz="2000" dirty="0">
                <a:latin typeface="宋体" panose="02010600030101010101" pitchFamily="2" charset="-122"/>
                <a:ea typeface="宋体" panose="02010600030101010101" pitchFamily="2" charset="-122"/>
              </a:rPr>
              <a:t>=-6</a:t>
            </a:r>
            <a:r>
              <a:rPr lang="zh-CN" altLang="en-US" sz="2000" dirty="0">
                <a:latin typeface="宋体" panose="02010600030101010101" pitchFamily="2" charset="-122"/>
                <a:ea typeface="宋体" panose="02010600030101010101" pitchFamily="2" charset="-122"/>
              </a:rPr>
              <a:t>，余数</a:t>
            </a: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；另一种是商</a:t>
            </a:r>
            <a:r>
              <a:rPr lang="en-US" altLang="zh-CN" sz="2000" dirty="0">
                <a:latin typeface="宋体" panose="02010600030101010101" pitchFamily="2" charset="-122"/>
                <a:ea typeface="宋体" panose="02010600030101010101" pitchFamily="2" charset="-122"/>
              </a:rPr>
              <a:t>=-7</a:t>
            </a:r>
            <a:r>
              <a:rPr lang="zh-CN" altLang="en-US" sz="2000" dirty="0">
                <a:latin typeface="宋体" panose="02010600030101010101" pitchFamily="2" charset="-122"/>
                <a:ea typeface="宋体" panose="02010600030101010101" pitchFamily="2" charset="-122"/>
              </a:rPr>
              <a:t>，余数</a:t>
            </a: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。两种结果都正确，但是，按照</a:t>
            </a:r>
            <a:r>
              <a:rPr lang="en-US" altLang="zh-CN" sz="2000" dirty="0">
                <a:latin typeface="宋体" panose="02010600030101010101" pitchFamily="2" charset="-122"/>
                <a:ea typeface="宋体" panose="02010600030101010101" pitchFamily="2" charset="-122"/>
              </a:rPr>
              <a:t>8086</a:t>
            </a:r>
            <a:r>
              <a:rPr lang="zh-CN" altLang="en-US" sz="2000" dirty="0">
                <a:latin typeface="宋体" panose="02010600030101010101" pitchFamily="2" charset="-122"/>
                <a:ea typeface="宋体" panose="02010600030101010101" pitchFamily="2" charset="-122"/>
              </a:rPr>
              <a:t>指令系统规定，会取第一种结果。</a:t>
            </a:r>
            <a:endParaRPr lang="zh-CN" altLang="en-US" sz="2000" dirty="0">
              <a:latin typeface="宋体" panose="02010600030101010101" pitchFamily="2" charset="-122"/>
              <a:ea typeface="宋体"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3"/>
          <p:cNvSpPr>
            <a:spLocks noGrp="1"/>
          </p:cNvSpPr>
          <p:nvPr>
            <p:ph type="body" idx="4294967295"/>
          </p:nvPr>
        </p:nvSpPr>
        <p:spPr>
          <a:xfrm>
            <a:off x="611188" y="1125538"/>
            <a:ext cx="7988300" cy="4319587"/>
          </a:xfrm>
        </p:spPr>
        <p:txBody>
          <a:bodyPr vert="horz" wrap="square" lIns="91440" tIns="45720" rIns="91440" bIns="45720" anchor="t" anchorCtr="0"/>
          <a:p>
            <a:pPr eaLnBrk="1" fontAlgn="ctr" hangingPunct="1">
              <a:lnSpc>
                <a:spcPct val="125000"/>
              </a:lnSpc>
              <a:buFont typeface="Wingdings" panose="05000000000000000000" pitchFamily="2" charset="2"/>
              <a:buChar char="Ø"/>
            </a:pPr>
            <a:r>
              <a:rPr lang="en-US" altLang="zh-CN" dirty="0">
                <a:latin typeface="宋体" panose="02010600030101010101" pitchFamily="2" charset="-122"/>
                <a:ea typeface="宋体" panose="02010600030101010101" pitchFamily="2" charset="-122"/>
              </a:rPr>
              <a:t>BCD</a:t>
            </a:r>
            <a:r>
              <a:rPr lang="zh-CN" altLang="en-US" dirty="0">
                <a:latin typeface="宋体" panose="02010600030101010101" pitchFamily="2" charset="-122"/>
                <a:ea typeface="宋体" panose="02010600030101010101" pitchFamily="2" charset="-122"/>
              </a:rPr>
              <a:t>码</a:t>
            </a:r>
            <a:endParaRPr lang="en-US" altLang="zh-CN" dirty="0">
              <a:latin typeface="宋体" panose="02010600030101010101" pitchFamily="2" charset="-122"/>
              <a:ea typeface="宋体" panose="02010600030101010101" pitchFamily="2" charset="-122"/>
            </a:endParaRPr>
          </a:p>
          <a:p>
            <a:pPr eaLnBrk="1" fontAlgn="ctr" hangingPunct="1">
              <a:buNone/>
            </a:pPr>
            <a:r>
              <a:rPr lang="en-US" altLang="zh-CN" sz="2400" dirty="0">
                <a:latin typeface="宋体" panose="02010600030101010101" pitchFamily="2" charset="-122"/>
                <a:ea typeface="宋体" panose="02010600030101010101" pitchFamily="2" charset="-122"/>
              </a:rPr>
              <a:t>  </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码：用四个二进制位表示一个十进制数字；最常用的是</a:t>
            </a:r>
            <a:r>
              <a:rPr lang="en-US" altLang="zh-CN" sz="2400" b="0" dirty="0">
                <a:latin typeface="宋体" panose="02010600030101010101" pitchFamily="2" charset="-122"/>
                <a:ea typeface="宋体" panose="02010600030101010101" pitchFamily="2" charset="-122"/>
              </a:rPr>
              <a:t>8421 BCD</a:t>
            </a:r>
            <a:r>
              <a:rPr lang="zh-CN" altLang="en-US" sz="2400" b="0" dirty="0">
                <a:latin typeface="宋体" panose="02010600030101010101" pitchFamily="2" charset="-122"/>
                <a:ea typeface="宋体" panose="02010600030101010101" pitchFamily="2" charset="-122"/>
              </a:rPr>
              <a:t>码。</a:t>
            </a:r>
            <a:endParaRPr lang="en-US" altLang="zh-CN" sz="2400" b="0" dirty="0">
              <a:latin typeface="宋体" panose="02010600030101010101" pitchFamily="2" charset="-122"/>
              <a:ea typeface="宋体" panose="02010600030101010101" pitchFamily="2" charset="-122"/>
            </a:endParaRPr>
          </a:p>
          <a:p>
            <a:pPr eaLnBrk="1" fontAlgn="ctr" hangingPunct="1">
              <a:buFont typeface="Wingdings" panose="05000000000000000000" pitchFamily="2" charset="2"/>
              <a:buChar char="l"/>
            </a:pPr>
            <a:r>
              <a:rPr lang="zh-CN" altLang="en-US" sz="2400" b="0" dirty="0">
                <a:latin typeface="宋体" panose="02010600030101010101" pitchFamily="2" charset="-122"/>
                <a:ea typeface="宋体" panose="02010600030101010101" pitchFamily="2" charset="-122"/>
              </a:rPr>
              <a:t>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码：每一个</a:t>
            </a:r>
            <a:r>
              <a:rPr lang="en-US" altLang="zh-CN" sz="2400" b="0" dirty="0">
                <a:latin typeface="宋体" panose="02010600030101010101" pitchFamily="2" charset="-122"/>
                <a:ea typeface="宋体" panose="02010600030101010101" pitchFamily="2" charset="-122"/>
              </a:rPr>
              <a:t>10</a:t>
            </a:r>
            <a:r>
              <a:rPr lang="zh-CN" altLang="en-US" sz="2400" b="0" dirty="0">
                <a:latin typeface="宋体" panose="02010600030101010101" pitchFamily="2" charset="-122"/>
                <a:ea typeface="宋体" panose="02010600030101010101" pitchFamily="2" charset="-122"/>
              </a:rPr>
              <a:t>进制位用</a:t>
            </a:r>
            <a:r>
              <a:rPr lang="en-US" altLang="zh-CN" sz="2400" b="0" dirty="0">
                <a:latin typeface="宋体" panose="02010600030101010101" pitchFamily="2" charset="-122"/>
                <a:ea typeface="宋体" panose="02010600030101010101" pitchFamily="2" charset="-122"/>
              </a:rPr>
              <a:t>4</a:t>
            </a:r>
            <a:r>
              <a:rPr lang="zh-CN" altLang="en-US" sz="2400" b="0" dirty="0">
                <a:latin typeface="宋体" panose="02010600030101010101" pitchFamily="2" charset="-122"/>
                <a:ea typeface="宋体" panose="02010600030101010101" pitchFamily="2" charset="-122"/>
              </a:rPr>
              <a:t>位二进制表示，一个字节可以表示</a:t>
            </a:r>
            <a:r>
              <a:rPr lang="en-US" altLang="zh-CN" sz="2400" b="0" dirty="0">
                <a:latin typeface="宋体" panose="02010600030101010101" pitchFamily="2" charset="-122"/>
                <a:ea typeface="宋体" panose="02010600030101010101" pitchFamily="2" charset="-122"/>
              </a:rPr>
              <a:t>2</a:t>
            </a:r>
            <a:r>
              <a:rPr lang="zh-CN" altLang="en-US" sz="2400" b="0" dirty="0">
                <a:latin typeface="宋体" panose="02010600030101010101" pitchFamily="2" charset="-122"/>
                <a:ea typeface="宋体" panose="02010600030101010101" pitchFamily="2" charset="-122"/>
              </a:rPr>
              <a:t>个</a:t>
            </a:r>
            <a:r>
              <a:rPr lang="en-US" altLang="zh-CN" sz="2400" b="0" dirty="0">
                <a:latin typeface="宋体" panose="02010600030101010101" pitchFamily="2" charset="-122"/>
                <a:ea typeface="宋体" panose="02010600030101010101" pitchFamily="2" charset="-122"/>
              </a:rPr>
              <a:t>10</a:t>
            </a:r>
            <a:r>
              <a:rPr lang="zh-CN" altLang="en-US" sz="2400" b="0" dirty="0">
                <a:latin typeface="宋体" panose="02010600030101010101" pitchFamily="2" charset="-122"/>
                <a:ea typeface="宋体" panose="02010600030101010101" pitchFamily="2" charset="-122"/>
              </a:rPr>
              <a:t>进制数。</a:t>
            </a:r>
            <a:endParaRPr lang="en-US" altLang="zh-CN" sz="2400" b="0" dirty="0">
              <a:latin typeface="宋体" panose="02010600030101010101" pitchFamily="2" charset="-122"/>
              <a:ea typeface="宋体" panose="02010600030101010101" pitchFamily="2" charset="-122"/>
            </a:endParaRPr>
          </a:p>
          <a:p>
            <a:pPr eaLnBrk="1" fontAlgn="ctr" hangingPunct="1">
              <a:buNone/>
            </a:pPr>
            <a:r>
              <a:rPr lang="zh-CN" altLang="en-US" sz="2400" b="0" dirty="0">
                <a:latin typeface="宋体" panose="02010600030101010101" pitchFamily="2" charset="-122"/>
                <a:ea typeface="宋体" panose="02010600030101010101" pitchFamily="2" charset="-122"/>
              </a:rPr>
              <a:t>  如：</a:t>
            </a:r>
            <a:r>
              <a:rPr lang="en-US" altLang="zh-CN" sz="2400" b="0" dirty="0">
                <a:latin typeface="宋体" panose="02010600030101010101" pitchFamily="2" charset="-122"/>
                <a:ea typeface="宋体" panose="02010600030101010101" pitchFamily="2" charset="-122"/>
              </a:rPr>
              <a:t>56</a:t>
            </a:r>
            <a:r>
              <a:rPr lang="zh-CN" altLang="en-US" sz="2400" b="0" dirty="0">
                <a:latin typeface="宋体" panose="02010600030101010101" pitchFamily="2" charset="-122"/>
                <a:ea typeface="宋体" panose="02010600030101010101" pitchFamily="2" charset="-122"/>
              </a:rPr>
              <a:t>的压缩型</a:t>
            </a:r>
            <a:r>
              <a:rPr lang="en-US" altLang="zh-CN" sz="2400" b="0" dirty="0">
                <a:latin typeface="宋体" panose="02010600030101010101" pitchFamily="2" charset="-122"/>
                <a:ea typeface="宋体" panose="02010600030101010101" pitchFamily="2" charset="-122"/>
              </a:rPr>
              <a:t>8421 BCD</a:t>
            </a:r>
            <a:r>
              <a:rPr lang="zh-CN" altLang="en-US" sz="2400" b="0" dirty="0">
                <a:latin typeface="宋体" panose="02010600030101010101" pitchFamily="2" charset="-122"/>
                <a:ea typeface="宋体" panose="02010600030101010101" pitchFamily="2" charset="-122"/>
              </a:rPr>
              <a:t>码是</a:t>
            </a:r>
            <a:r>
              <a:rPr lang="en-US" altLang="zh-CN" sz="2400" b="0" dirty="0">
                <a:latin typeface="宋体" panose="02010600030101010101" pitchFamily="2" charset="-122"/>
                <a:ea typeface="宋体" panose="02010600030101010101" pitchFamily="2" charset="-122"/>
              </a:rPr>
              <a:t>01010110</a:t>
            </a:r>
            <a:r>
              <a:rPr lang="zh-CN" altLang="en-US" sz="2400" b="0" dirty="0">
                <a:latin typeface="宋体" panose="02010600030101010101" pitchFamily="2" charset="-122"/>
                <a:ea typeface="宋体" panose="02010600030101010101" pitchFamily="2" charset="-122"/>
              </a:rPr>
              <a:t>； </a:t>
            </a:r>
            <a:endParaRPr lang="en-US" altLang="zh-CN" sz="2400" b="0" dirty="0">
              <a:latin typeface="宋体" panose="02010600030101010101" pitchFamily="2" charset="-122"/>
              <a:ea typeface="宋体" panose="02010600030101010101" pitchFamily="2" charset="-122"/>
            </a:endParaRPr>
          </a:p>
          <a:p>
            <a:pPr eaLnBrk="1" fontAlgn="ctr" hangingPunct="1">
              <a:buFont typeface="Wingdings" panose="05000000000000000000" pitchFamily="2" charset="2"/>
              <a:buChar char="l"/>
            </a:pPr>
            <a:r>
              <a:rPr lang="zh-CN" altLang="en-US" sz="2400" b="0" dirty="0">
                <a:latin typeface="宋体" panose="02010600030101010101" pitchFamily="2" charset="-122"/>
                <a:ea typeface="宋体" panose="02010600030101010101" pitchFamily="2" charset="-122"/>
              </a:rPr>
              <a:t>非压缩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码：每一个</a:t>
            </a:r>
            <a:r>
              <a:rPr lang="en-US" altLang="zh-CN" sz="2400" b="0" dirty="0">
                <a:latin typeface="宋体" panose="02010600030101010101" pitchFamily="2" charset="-122"/>
                <a:ea typeface="宋体" panose="02010600030101010101" pitchFamily="2" charset="-122"/>
              </a:rPr>
              <a:t>10</a:t>
            </a:r>
            <a:r>
              <a:rPr lang="zh-CN" altLang="en-US" sz="2400" b="0" dirty="0">
                <a:latin typeface="宋体" panose="02010600030101010101" pitchFamily="2" charset="-122"/>
                <a:ea typeface="宋体" panose="02010600030101010101" pitchFamily="2" charset="-122"/>
              </a:rPr>
              <a:t>进制位用</a:t>
            </a:r>
            <a:r>
              <a:rPr lang="en-US" altLang="zh-CN" sz="2400" b="0" dirty="0">
                <a:latin typeface="宋体" panose="02010600030101010101" pitchFamily="2" charset="-122"/>
                <a:ea typeface="宋体" panose="02010600030101010101" pitchFamily="2" charset="-122"/>
              </a:rPr>
              <a:t>1</a:t>
            </a:r>
            <a:r>
              <a:rPr lang="zh-CN" altLang="en-US" sz="2400" b="0" dirty="0">
                <a:latin typeface="宋体" panose="02010600030101010101" pitchFamily="2" charset="-122"/>
                <a:ea typeface="宋体" panose="02010600030101010101" pitchFamily="2" charset="-122"/>
              </a:rPr>
              <a:t>个字节二进制表示。其中，高</a:t>
            </a:r>
            <a:r>
              <a:rPr lang="en-US" altLang="zh-CN" sz="2400" b="0" dirty="0">
                <a:latin typeface="宋体" panose="02010600030101010101" pitchFamily="2" charset="-122"/>
                <a:ea typeface="宋体" panose="02010600030101010101" pitchFamily="2" charset="-122"/>
              </a:rPr>
              <a:t>4</a:t>
            </a:r>
            <a:r>
              <a:rPr lang="zh-CN" altLang="en-US" sz="2400" b="0" dirty="0">
                <a:latin typeface="宋体" panose="02010600030101010101" pitchFamily="2" charset="-122"/>
                <a:ea typeface="宋体" panose="02010600030101010101" pitchFamily="2" charset="-122"/>
              </a:rPr>
              <a:t>位为</a:t>
            </a:r>
            <a:r>
              <a:rPr lang="en-US" altLang="zh-CN" sz="2400" b="0" dirty="0">
                <a:latin typeface="宋体" panose="02010600030101010101" pitchFamily="2" charset="-122"/>
                <a:ea typeface="宋体" panose="02010600030101010101" pitchFamily="2" charset="-122"/>
              </a:rPr>
              <a:t>0</a:t>
            </a:r>
            <a:r>
              <a:rPr lang="zh-CN" altLang="en-US" sz="2400" b="0" dirty="0">
                <a:latin typeface="宋体" panose="02010600030101010101" pitchFamily="2" charset="-122"/>
                <a:ea typeface="宋体" panose="02010600030101010101" pitchFamily="2" charset="-122"/>
              </a:rPr>
              <a:t>，低</a:t>
            </a:r>
            <a:r>
              <a:rPr lang="en-US" altLang="zh-CN" sz="2400" b="0" dirty="0">
                <a:latin typeface="宋体" panose="02010600030101010101" pitchFamily="2" charset="-122"/>
                <a:ea typeface="宋体" panose="02010600030101010101" pitchFamily="2" charset="-122"/>
              </a:rPr>
              <a:t>4</a:t>
            </a:r>
            <a:r>
              <a:rPr lang="zh-CN" altLang="en-US" sz="2400" b="0" dirty="0">
                <a:latin typeface="宋体" panose="02010600030101010101" pitchFamily="2" charset="-122"/>
                <a:ea typeface="宋体" panose="02010600030101010101" pitchFamily="2" charset="-122"/>
              </a:rPr>
              <a:t>位存放对应的二进制数。</a:t>
            </a:r>
            <a:endParaRPr lang="en-US" altLang="zh-CN" sz="2400" b="0" dirty="0">
              <a:latin typeface="宋体" panose="02010600030101010101" pitchFamily="2" charset="-122"/>
              <a:ea typeface="宋体" panose="02010600030101010101" pitchFamily="2" charset="-122"/>
            </a:endParaRPr>
          </a:p>
          <a:p>
            <a:pPr eaLnBrk="1" fontAlgn="ctr" hangingPunct="1">
              <a:buNone/>
            </a:pPr>
            <a:r>
              <a:rPr lang="zh-CN" altLang="en-US" sz="2400" b="0" dirty="0">
                <a:latin typeface="宋体" panose="02010600030101010101" pitchFamily="2" charset="-122"/>
                <a:ea typeface="宋体" panose="02010600030101010101" pitchFamily="2" charset="-122"/>
              </a:rPr>
              <a:t>  如：</a:t>
            </a:r>
            <a:r>
              <a:rPr lang="en-US" altLang="zh-CN" sz="2400" b="0" dirty="0">
                <a:latin typeface="宋体" panose="02010600030101010101" pitchFamily="2" charset="-122"/>
                <a:ea typeface="宋体" panose="02010600030101010101" pitchFamily="2" charset="-122"/>
              </a:rPr>
              <a:t>5</a:t>
            </a:r>
            <a:r>
              <a:rPr lang="zh-CN" altLang="en-US" sz="2400" b="0" dirty="0">
                <a:latin typeface="宋体" panose="02010600030101010101" pitchFamily="2" charset="-122"/>
                <a:ea typeface="宋体" panose="02010600030101010101" pitchFamily="2" charset="-122"/>
              </a:rPr>
              <a:t>的非压缩型</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码是</a:t>
            </a:r>
            <a:r>
              <a:rPr lang="en-US" altLang="zh-CN" sz="2400" b="0" dirty="0">
                <a:latin typeface="宋体" panose="02010600030101010101" pitchFamily="2" charset="-122"/>
                <a:ea typeface="宋体" panose="02010600030101010101" pitchFamily="2" charset="-122"/>
              </a:rPr>
              <a:t>0000 0101</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56</a:t>
            </a:r>
            <a:r>
              <a:rPr lang="zh-CN" altLang="en-US" sz="2400" b="0" dirty="0">
                <a:latin typeface="宋体" panose="02010600030101010101" pitchFamily="2" charset="-122"/>
                <a:ea typeface="宋体" panose="02010600030101010101" pitchFamily="2" charset="-122"/>
              </a:rPr>
              <a:t>的非压缩型</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码是</a:t>
            </a:r>
            <a:r>
              <a:rPr lang="en-US" altLang="zh-CN" sz="2400" b="0" dirty="0">
                <a:latin typeface="宋体" panose="02010600030101010101" pitchFamily="2" charset="-122"/>
                <a:ea typeface="宋体" panose="02010600030101010101" pitchFamily="2" charset="-122"/>
              </a:rPr>
              <a:t>00000101 00000110</a:t>
            </a:r>
            <a:r>
              <a:rPr lang="zh-CN" altLang="en-US" sz="2400" b="0" dirty="0">
                <a:latin typeface="宋体" panose="02010600030101010101" pitchFamily="2" charset="-122"/>
                <a:ea typeface="宋体" panose="02010600030101010101" pitchFamily="2" charset="-122"/>
              </a:rPr>
              <a:t>。</a:t>
            </a:r>
            <a:endParaRPr lang="zh-CN" altLang="en-US" sz="2400" b="0" dirty="0">
              <a:latin typeface="宋体" panose="02010600030101010101" pitchFamily="2" charset="-122"/>
              <a:ea typeface="宋体" panose="02010600030101010101" pitchFamily="2" charset="-122"/>
            </a:endParaRPr>
          </a:p>
        </p:txBody>
      </p:sp>
      <p:sp>
        <p:nvSpPr>
          <p:cNvPr id="78851" name="Rectangle 2"/>
          <p:cNvSpPr>
            <a:spLocks noGrp="1"/>
          </p:cNvSpPr>
          <p:nvPr/>
        </p:nvSpPr>
        <p:spPr>
          <a:xfrm>
            <a:off x="1763713" y="119063"/>
            <a:ext cx="6553200"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3.4.2.5 BCD</a:t>
            </a:r>
            <a:r>
              <a:rPr lang="zh-CN" altLang="en-US" sz="3600" b="1" dirty="0">
                <a:solidFill>
                  <a:schemeClr val="bg1"/>
                </a:solidFill>
                <a:latin typeface="宋体" panose="02010600030101010101" pitchFamily="2" charset="-122"/>
                <a:ea typeface="宋体" panose="02010600030101010101" pitchFamily="2" charset="-122"/>
              </a:rPr>
              <a:t>码调整指令</a:t>
            </a:r>
            <a:endParaRPr lang="zh-CN" altLang="en-US" sz="3600" b="1" dirty="0">
              <a:solidFill>
                <a:schemeClr val="bg1"/>
              </a:solidFill>
              <a:latin typeface="宋体" panose="02010600030101010101" pitchFamily="2" charset="-122"/>
              <a:ea typeface="宋体" panose="02010600030101010101" pitchFamily="2" charset="-122"/>
            </a:endParaRPr>
          </a:p>
        </p:txBody>
      </p:sp>
      <p:sp>
        <p:nvSpPr>
          <p:cNvPr id="78852" name="矩形 1"/>
          <p:cNvSpPr/>
          <p:nvPr/>
        </p:nvSpPr>
        <p:spPr>
          <a:xfrm>
            <a:off x="2195513" y="5589588"/>
            <a:ext cx="4105275" cy="1200150"/>
          </a:xfrm>
          <a:prstGeom prst="rect">
            <a:avLst/>
          </a:prstGeom>
          <a:noFill/>
          <a:ln w="28575" cap="flat" cmpd="sng">
            <a:solidFill>
              <a:schemeClr val="tx1"/>
            </a:solidFill>
            <a:prstDash val="solid"/>
            <a:miter/>
            <a:headEnd type="none" w="med" len="med"/>
            <a:tailEnd type="none" w="med" len="med"/>
          </a:ln>
        </p:spPr>
        <p:txBody>
          <a:bodyPr>
            <a:spAutoFit/>
          </a:bodyPr>
          <a:p>
            <a:pPr eaLnBrk="0" hangingPunct="0"/>
            <a:r>
              <a:rPr lang="zh-CN" altLang="en-US" dirty="0">
                <a:latin typeface="宋体" panose="02010600030101010101" pitchFamily="2" charset="-122"/>
                <a:ea typeface="宋体" panose="02010600030101010101" pitchFamily="2" charset="-122"/>
              </a:rPr>
              <a:t>真值	         </a:t>
            </a:r>
            <a:r>
              <a:rPr lang="en-US" altLang="zh-CN" dirty="0">
                <a:latin typeface="宋体" panose="02010600030101010101" pitchFamily="2" charset="-122"/>
                <a:ea typeface="宋体" panose="02010600030101010101" pitchFamily="2" charset="-122"/>
              </a:rPr>
              <a:t>8	64</a:t>
            </a:r>
            <a:endParaRPr lang="en-US" altLang="zh-CN" dirty="0">
              <a:latin typeface="宋体" panose="02010600030101010101" pitchFamily="2" charset="-122"/>
              <a:ea typeface="宋体" panose="02010600030101010101" pitchFamily="2" charset="-122"/>
            </a:endParaRPr>
          </a:p>
          <a:p>
            <a:pPr eaLnBrk="0" hangingPunct="0"/>
            <a:r>
              <a:rPr lang="zh-CN" altLang="en-US" dirty="0">
                <a:latin typeface="宋体" panose="02010600030101010101" pitchFamily="2" charset="-122"/>
                <a:ea typeface="宋体" panose="02010600030101010101" pitchFamily="2" charset="-122"/>
              </a:rPr>
              <a:t>二进制编码	</a:t>
            </a:r>
            <a:r>
              <a:rPr lang="en-US" altLang="zh-CN" dirty="0">
                <a:latin typeface="宋体" panose="02010600030101010101" pitchFamily="2" charset="-122"/>
                <a:ea typeface="宋体" panose="02010600030101010101" pitchFamily="2" charset="-122"/>
              </a:rPr>
              <a:t>08H	40H</a:t>
            </a:r>
            <a:endParaRPr lang="en-US" altLang="zh-CN" dirty="0">
              <a:latin typeface="宋体" panose="02010600030101010101" pitchFamily="2" charset="-122"/>
              <a:ea typeface="宋体" panose="02010600030101010101" pitchFamily="2" charset="-122"/>
            </a:endParaRPr>
          </a:p>
          <a:p>
            <a:pPr eaLnBrk="0" hangingPunct="0"/>
            <a:r>
              <a:rPr lang="zh-CN" altLang="en-US" dirty="0">
                <a:latin typeface="宋体" panose="02010600030101010101" pitchFamily="2" charset="-122"/>
                <a:ea typeface="宋体" panose="02010600030101010101" pitchFamily="2" charset="-122"/>
              </a:rPr>
              <a:t>压缩</a:t>
            </a:r>
            <a:r>
              <a:rPr lang="en-US" altLang="zh-CN" dirty="0">
                <a:latin typeface="宋体" panose="02010600030101010101" pitchFamily="2" charset="-122"/>
                <a:ea typeface="宋体" panose="02010600030101010101" pitchFamily="2" charset="-122"/>
              </a:rPr>
              <a:t>BCD</a:t>
            </a:r>
            <a:r>
              <a:rPr lang="zh-CN" altLang="en-US" dirty="0">
                <a:latin typeface="宋体" panose="02010600030101010101" pitchFamily="2" charset="-122"/>
                <a:ea typeface="宋体" panose="02010600030101010101" pitchFamily="2" charset="-122"/>
              </a:rPr>
              <a:t>码	</a:t>
            </a:r>
            <a:r>
              <a:rPr lang="en-US" altLang="zh-CN" dirty="0">
                <a:latin typeface="宋体" panose="02010600030101010101" pitchFamily="2" charset="-122"/>
                <a:ea typeface="宋体" panose="02010600030101010101" pitchFamily="2" charset="-122"/>
              </a:rPr>
              <a:t>08H	64H</a:t>
            </a:r>
            <a:endParaRPr lang="en-US" altLang="zh-CN" dirty="0">
              <a:latin typeface="宋体" panose="02010600030101010101" pitchFamily="2" charset="-122"/>
              <a:ea typeface="宋体" panose="02010600030101010101" pitchFamily="2" charset="-122"/>
            </a:endParaRPr>
          </a:p>
          <a:p>
            <a:pPr eaLnBrk="0" hangingPunct="0"/>
            <a:r>
              <a:rPr lang="zh-CN" altLang="en-US" dirty="0">
                <a:latin typeface="宋体" panose="02010600030101010101" pitchFamily="2" charset="-122"/>
                <a:ea typeface="宋体" panose="02010600030101010101" pitchFamily="2" charset="-122"/>
              </a:rPr>
              <a:t>非压缩</a:t>
            </a:r>
            <a:r>
              <a:rPr lang="en-US" altLang="zh-CN" dirty="0">
                <a:latin typeface="宋体" panose="02010600030101010101" pitchFamily="2" charset="-122"/>
                <a:ea typeface="宋体" panose="02010600030101010101" pitchFamily="2" charset="-122"/>
              </a:rPr>
              <a:t>BCD</a:t>
            </a:r>
            <a:r>
              <a:rPr lang="zh-CN" altLang="en-US" dirty="0">
                <a:latin typeface="宋体" panose="02010600030101010101" pitchFamily="2" charset="-122"/>
                <a:ea typeface="宋体" panose="02010600030101010101" pitchFamily="2" charset="-122"/>
              </a:rPr>
              <a:t>码	</a:t>
            </a:r>
            <a:r>
              <a:rPr lang="en-US" altLang="zh-CN" dirty="0">
                <a:latin typeface="宋体" panose="02010600030101010101" pitchFamily="2" charset="-122"/>
                <a:ea typeface="宋体" panose="02010600030101010101" pitchFamily="2" charset="-122"/>
              </a:rPr>
              <a:t>08H	0604H</a:t>
            </a:r>
            <a:endParaRPr lang="en-US" altLang="zh-CN"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79874">
                                            <p:txEl>
                                              <p:charRg st="0" end="5"/>
                                            </p:txEl>
                                          </p:spTgt>
                                        </p:tgtEl>
                                        <p:attrNameLst>
                                          <p:attrName>style.visibility</p:attrName>
                                        </p:attrNameLst>
                                      </p:cBhvr>
                                      <p:to>
                                        <p:strVal val="visible"/>
                                      </p:to>
                                    </p:set>
                                    <p:animEffect transition="in" filter="blinds(horizontal)">
                                      <p:cBhvr>
                                        <p:cTn id="7" dur="500"/>
                                        <p:tgtEl>
                                          <p:spTgt spid="79874">
                                            <p:txEl>
                                              <p:charRg st="0" end="5"/>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79874">
                                            <p:txEl>
                                              <p:charRg st="5" end="45"/>
                                            </p:txEl>
                                          </p:spTgt>
                                        </p:tgtEl>
                                        <p:attrNameLst>
                                          <p:attrName>style.visibility</p:attrName>
                                        </p:attrNameLst>
                                      </p:cBhvr>
                                      <p:to>
                                        <p:strVal val="visible"/>
                                      </p:to>
                                    </p:set>
                                    <p:animEffect transition="in" filter="blinds(horizontal)">
                                      <p:cBhvr>
                                        <p:cTn id="11" dur="500"/>
                                        <p:tgtEl>
                                          <p:spTgt spid="79874">
                                            <p:txEl>
                                              <p:charRg st="5" end="45"/>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79874">
                                            <p:txEl>
                                              <p:charRg st="45" end="86"/>
                                            </p:txEl>
                                          </p:spTgt>
                                        </p:tgtEl>
                                        <p:attrNameLst>
                                          <p:attrName>style.visibility</p:attrName>
                                        </p:attrNameLst>
                                      </p:cBhvr>
                                      <p:to>
                                        <p:strVal val="visible"/>
                                      </p:to>
                                    </p:set>
                                    <p:animEffect transition="in" filter="blinds(horizontal)">
                                      <p:cBhvr>
                                        <p:cTn id="15" dur="500"/>
                                        <p:tgtEl>
                                          <p:spTgt spid="79874">
                                            <p:txEl>
                                              <p:charRg st="45" end="86"/>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79874">
                                            <p:txEl>
                                              <p:charRg st="86" end="117"/>
                                            </p:txEl>
                                          </p:spTgt>
                                        </p:tgtEl>
                                        <p:attrNameLst>
                                          <p:attrName>style.visibility</p:attrName>
                                        </p:attrNameLst>
                                      </p:cBhvr>
                                      <p:to>
                                        <p:strVal val="visible"/>
                                      </p:to>
                                    </p:set>
                                    <p:animEffect transition="in" filter="blinds(horizontal)">
                                      <p:cBhvr>
                                        <p:cTn id="19" dur="500"/>
                                        <p:tgtEl>
                                          <p:spTgt spid="79874">
                                            <p:txEl>
                                              <p:charRg st="86" end="117"/>
                                            </p:txEl>
                                          </p:spTgt>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79874">
                                            <p:txEl>
                                              <p:charRg st="117" end="167"/>
                                            </p:txEl>
                                          </p:spTgt>
                                        </p:tgtEl>
                                        <p:attrNameLst>
                                          <p:attrName>style.visibility</p:attrName>
                                        </p:attrNameLst>
                                      </p:cBhvr>
                                      <p:to>
                                        <p:strVal val="visible"/>
                                      </p:to>
                                    </p:set>
                                    <p:animEffect transition="in" filter="blinds(horizontal)">
                                      <p:cBhvr>
                                        <p:cTn id="23" dur="500"/>
                                        <p:tgtEl>
                                          <p:spTgt spid="79874">
                                            <p:txEl>
                                              <p:charRg st="117" end="167"/>
                                            </p:txEl>
                                          </p:spTgt>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79874">
                                            <p:txEl>
                                              <p:charRg st="167" end="223"/>
                                            </p:txEl>
                                          </p:spTgt>
                                        </p:tgtEl>
                                        <p:attrNameLst>
                                          <p:attrName>style.visibility</p:attrName>
                                        </p:attrNameLst>
                                      </p:cBhvr>
                                      <p:to>
                                        <p:strVal val="visible"/>
                                      </p:to>
                                    </p:set>
                                    <p:animEffect transition="in" filter="blinds(horizontal)">
                                      <p:cBhvr>
                                        <p:cTn id="27" dur="500"/>
                                        <p:tgtEl>
                                          <p:spTgt spid="79874">
                                            <p:txEl>
                                              <p:charRg st="167" end="2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内容占位符 2"/>
          <p:cNvSpPr>
            <a:spLocks noGrp="1"/>
          </p:cNvSpPr>
          <p:nvPr>
            <p:ph idx="4294967295"/>
          </p:nvPr>
        </p:nvSpPr>
        <p:spPr>
          <a:xfrm>
            <a:off x="323850" y="990600"/>
            <a:ext cx="8515350" cy="5751513"/>
          </a:xfrm>
        </p:spPr>
        <p:txBody>
          <a:bodyPr vert="horz" wrap="square" lIns="91440" tIns="45720" rIns="91440" bIns="45720" anchor="t" anchorCtr="0"/>
          <a:p>
            <a:pPr>
              <a:buFont typeface="Wingdings" panose="05000000000000000000" pitchFamily="2" charset="2"/>
              <a:buChar char="Ø"/>
            </a:pPr>
            <a:r>
              <a:rPr lang="en-US" altLang="zh-CN" b="0" dirty="0">
                <a:latin typeface="宋体" panose="02010600030101010101" pitchFamily="2" charset="-122"/>
                <a:ea typeface="宋体" panose="02010600030101010101" pitchFamily="2" charset="-122"/>
              </a:rPr>
              <a:t>BCD</a:t>
            </a:r>
            <a:r>
              <a:rPr lang="zh-CN" altLang="en-US" b="0" dirty="0">
                <a:latin typeface="宋体" panose="02010600030101010101" pitchFamily="2" charset="-122"/>
                <a:ea typeface="宋体" panose="02010600030101010101" pitchFamily="2" charset="-122"/>
              </a:rPr>
              <a:t>码运算调整指令</a:t>
            </a:r>
            <a:endParaRPr lang="en-US" altLang="zh-CN" b="0" dirty="0">
              <a:latin typeface="宋体" panose="02010600030101010101" pitchFamily="2" charset="-122"/>
              <a:ea typeface="宋体" panose="02010600030101010101" pitchFamily="2" charset="-122"/>
            </a:endParaRPr>
          </a:p>
          <a:p>
            <a:pPr>
              <a:lnSpc>
                <a:spcPct val="150000"/>
              </a:lnSpc>
              <a:buFont typeface="Wingdings" panose="05000000000000000000" pitchFamily="2" charset="2"/>
              <a:buChar char="l"/>
            </a:pPr>
            <a:r>
              <a:rPr lang="zh-CN" altLang="en-US" sz="2400" b="0" dirty="0">
                <a:latin typeface="宋体" panose="02010600030101010101" pitchFamily="2" charset="-122"/>
                <a:ea typeface="宋体" panose="02010600030101010101" pitchFamily="2" charset="-122"/>
              </a:rPr>
              <a:t>加法</a:t>
            </a:r>
            <a:r>
              <a:rPr lang="en-US" altLang="zh-CN" sz="2400" b="0" dirty="0">
                <a:latin typeface="宋体" panose="02010600030101010101" pitchFamily="2" charset="-122"/>
                <a:ea typeface="宋体" panose="02010600030101010101" pitchFamily="2" charset="-122"/>
              </a:rPr>
              <a:t>10</a:t>
            </a:r>
            <a:r>
              <a:rPr lang="zh-CN" altLang="en-US" sz="2400" b="0" dirty="0">
                <a:latin typeface="宋体" panose="02010600030101010101" pitchFamily="2" charset="-122"/>
                <a:ea typeface="宋体" panose="02010600030101010101" pitchFamily="2" charset="-122"/>
              </a:rPr>
              <a:t>进制调整指令：</a:t>
            </a:r>
            <a:r>
              <a:rPr lang="en-US" altLang="zh-CN" sz="2400" b="0" dirty="0">
                <a:latin typeface="宋体" panose="02010600030101010101" pitchFamily="2" charset="-122"/>
                <a:ea typeface="宋体" panose="02010600030101010101" pitchFamily="2" charset="-122"/>
              </a:rPr>
              <a:t>DAA,AAA</a:t>
            </a:r>
            <a:endParaRPr lang="en-US" altLang="zh-CN" sz="2400" b="0" dirty="0">
              <a:latin typeface="宋体" panose="02010600030101010101" pitchFamily="2" charset="-122"/>
              <a:ea typeface="宋体" panose="02010600030101010101" pitchFamily="2" charset="-122"/>
            </a:endParaRPr>
          </a:p>
          <a:p>
            <a:pPr>
              <a:lnSpc>
                <a:spcPct val="150000"/>
              </a:lnSpc>
              <a:buFont typeface="Wingdings" panose="05000000000000000000" pitchFamily="2" charset="2"/>
              <a:buChar char="l"/>
            </a:pPr>
            <a:r>
              <a:rPr lang="zh-CN" altLang="en-US" sz="2400" b="0" dirty="0">
                <a:latin typeface="宋体" panose="02010600030101010101" pitchFamily="2" charset="-122"/>
                <a:ea typeface="宋体" panose="02010600030101010101" pitchFamily="2" charset="-122"/>
              </a:rPr>
              <a:t>减法</a:t>
            </a:r>
            <a:r>
              <a:rPr lang="en-US" altLang="zh-CN" sz="2400" b="0" dirty="0">
                <a:latin typeface="宋体" panose="02010600030101010101" pitchFamily="2" charset="-122"/>
                <a:ea typeface="宋体" panose="02010600030101010101" pitchFamily="2" charset="-122"/>
              </a:rPr>
              <a:t>10</a:t>
            </a:r>
            <a:r>
              <a:rPr lang="zh-CN" altLang="en-US" sz="2400" b="0" dirty="0">
                <a:latin typeface="宋体" panose="02010600030101010101" pitchFamily="2" charset="-122"/>
                <a:ea typeface="宋体" panose="02010600030101010101" pitchFamily="2" charset="-122"/>
              </a:rPr>
              <a:t>进制调整指令：</a:t>
            </a:r>
            <a:r>
              <a:rPr lang="en-US" altLang="zh-CN" sz="2400" b="0" dirty="0">
                <a:latin typeface="宋体" panose="02010600030101010101" pitchFamily="2" charset="-122"/>
                <a:ea typeface="宋体" panose="02010600030101010101" pitchFamily="2" charset="-122"/>
              </a:rPr>
              <a:t>DAS,AAS</a:t>
            </a:r>
            <a:endParaRPr lang="en-US" altLang="zh-CN" sz="2400" b="0" dirty="0">
              <a:latin typeface="宋体" panose="02010600030101010101" pitchFamily="2" charset="-122"/>
              <a:ea typeface="宋体" panose="02010600030101010101" pitchFamily="2" charset="-122"/>
            </a:endParaRPr>
          </a:p>
          <a:p>
            <a:pPr>
              <a:lnSpc>
                <a:spcPct val="150000"/>
              </a:lnSpc>
              <a:buFont typeface="Wingdings" panose="05000000000000000000" pitchFamily="2" charset="2"/>
              <a:buChar char="l"/>
            </a:pPr>
            <a:r>
              <a:rPr lang="zh-CN" altLang="en-US" sz="2400" b="0" dirty="0">
                <a:latin typeface="宋体" panose="02010600030101010101" pitchFamily="2" charset="-122"/>
                <a:ea typeface="宋体" panose="02010600030101010101" pitchFamily="2" charset="-122"/>
              </a:rPr>
              <a:t>乘法</a:t>
            </a:r>
            <a:r>
              <a:rPr lang="en-US" altLang="zh-CN" sz="2400" b="0" dirty="0">
                <a:latin typeface="宋体" panose="02010600030101010101" pitchFamily="2" charset="-122"/>
                <a:ea typeface="宋体" panose="02010600030101010101" pitchFamily="2" charset="-122"/>
              </a:rPr>
              <a:t>10</a:t>
            </a:r>
            <a:r>
              <a:rPr lang="zh-CN" altLang="en-US" sz="2400" b="0" dirty="0">
                <a:latin typeface="宋体" panose="02010600030101010101" pitchFamily="2" charset="-122"/>
                <a:ea typeface="宋体" panose="02010600030101010101" pitchFamily="2" charset="-122"/>
              </a:rPr>
              <a:t>进制调整指令：</a:t>
            </a:r>
            <a:r>
              <a:rPr lang="en-US" altLang="zh-CN" sz="2400" b="0" dirty="0">
                <a:latin typeface="宋体" panose="02010600030101010101" pitchFamily="2" charset="-122"/>
                <a:ea typeface="宋体" panose="02010600030101010101" pitchFamily="2" charset="-122"/>
              </a:rPr>
              <a:t>AAM</a:t>
            </a:r>
            <a:endParaRPr lang="en-US" altLang="zh-CN" sz="2400" b="0" dirty="0">
              <a:latin typeface="宋体" panose="02010600030101010101" pitchFamily="2" charset="-122"/>
              <a:ea typeface="宋体" panose="02010600030101010101" pitchFamily="2" charset="-122"/>
            </a:endParaRPr>
          </a:p>
          <a:p>
            <a:pPr>
              <a:lnSpc>
                <a:spcPct val="150000"/>
              </a:lnSpc>
              <a:buFont typeface="Wingdings" panose="05000000000000000000" pitchFamily="2" charset="2"/>
              <a:buChar char="l"/>
            </a:pPr>
            <a:r>
              <a:rPr lang="zh-CN" altLang="en-US" sz="2400" b="0" dirty="0">
                <a:latin typeface="宋体" panose="02010600030101010101" pitchFamily="2" charset="-122"/>
                <a:ea typeface="宋体" panose="02010600030101010101" pitchFamily="2" charset="-122"/>
              </a:rPr>
              <a:t>除法</a:t>
            </a:r>
            <a:r>
              <a:rPr lang="en-US" altLang="zh-CN" sz="2400" b="0" dirty="0">
                <a:latin typeface="宋体" panose="02010600030101010101" pitchFamily="2" charset="-122"/>
                <a:ea typeface="宋体" panose="02010600030101010101" pitchFamily="2" charset="-122"/>
              </a:rPr>
              <a:t>10</a:t>
            </a:r>
            <a:r>
              <a:rPr lang="zh-CN" altLang="en-US" sz="2400" b="0" dirty="0">
                <a:latin typeface="宋体" panose="02010600030101010101" pitchFamily="2" charset="-122"/>
                <a:ea typeface="宋体" panose="02010600030101010101" pitchFamily="2" charset="-122"/>
              </a:rPr>
              <a:t>进制调整指令：</a:t>
            </a:r>
            <a:r>
              <a:rPr lang="en-US" altLang="zh-CN" sz="2400" b="0" dirty="0">
                <a:latin typeface="宋体" panose="02010600030101010101" pitchFamily="2" charset="-122"/>
                <a:ea typeface="宋体" panose="02010600030101010101" pitchFamily="2" charset="-122"/>
              </a:rPr>
              <a:t>AAD</a:t>
            </a:r>
            <a:endParaRPr lang="en-US" altLang="zh-CN" sz="2400" b="0" dirty="0">
              <a:latin typeface="宋体" panose="02010600030101010101" pitchFamily="2" charset="-122"/>
              <a:ea typeface="宋体" panose="02010600030101010101" pitchFamily="2" charset="-122"/>
            </a:endParaRPr>
          </a:p>
          <a:p>
            <a:pPr>
              <a:lnSpc>
                <a:spcPct val="150000"/>
              </a:lnSpc>
              <a:buFont typeface="Wingdings" panose="05000000000000000000" pitchFamily="2" charset="2"/>
              <a:buChar char="Ø"/>
            </a:pPr>
            <a:r>
              <a:rPr lang="zh-CN" altLang="en-US" b="0" dirty="0">
                <a:latin typeface="宋体" panose="02010600030101010101" pitchFamily="2" charset="-122"/>
                <a:ea typeface="宋体" panose="02010600030101010101" pitchFamily="2" charset="-122"/>
              </a:rPr>
              <a:t>注：</a:t>
            </a:r>
            <a:endParaRPr lang="en-US" altLang="zh-CN" b="0" dirty="0">
              <a:latin typeface="宋体" panose="02010600030101010101" pitchFamily="2" charset="-122"/>
              <a:ea typeface="宋体" panose="02010600030101010101" pitchFamily="2" charset="-122"/>
            </a:endParaRPr>
          </a:p>
          <a:p>
            <a:pPr>
              <a:lnSpc>
                <a:spcPct val="150000"/>
              </a:lnSpc>
              <a:buFont typeface="Wingdings" panose="05000000000000000000" pitchFamily="2" charset="2"/>
              <a:buChar char="l"/>
            </a:pP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调整指令不能单独使用，必须跟在算术运算指令之后（除法例外）。</a:t>
            </a:r>
            <a:endParaRPr lang="en-US" altLang="zh-CN" sz="2400" b="0" dirty="0">
              <a:latin typeface="宋体" panose="02010600030101010101" pitchFamily="2" charset="-122"/>
              <a:ea typeface="宋体" panose="02010600030101010101" pitchFamily="2" charset="-122"/>
            </a:endParaRPr>
          </a:p>
          <a:p>
            <a:pPr>
              <a:lnSpc>
                <a:spcPct val="150000"/>
              </a:lnSpc>
              <a:buFont typeface="Wingdings" panose="05000000000000000000" pitchFamily="2" charset="2"/>
              <a:buChar char="l"/>
            </a:pPr>
            <a:r>
              <a:rPr lang="zh-CN" altLang="en-US" sz="2400" b="0" dirty="0">
                <a:latin typeface="宋体" panose="02010600030101010101" pitchFamily="2" charset="-122"/>
                <a:ea typeface="宋体" panose="02010600030101010101" pitchFamily="2" charset="-122"/>
              </a:rPr>
              <a:t>均为隐含寻址方式，隐含的操作数是</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或</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AH</a:t>
            </a:r>
            <a:r>
              <a:rPr lang="zh-CN" altLang="en-US" sz="2400" b="0" dirty="0">
                <a:latin typeface="宋体" panose="02010600030101010101" pitchFamily="2" charset="-122"/>
                <a:ea typeface="宋体" panose="02010600030101010101" pitchFamily="2" charset="-122"/>
              </a:rPr>
              <a:t>。</a:t>
            </a:r>
            <a:endParaRPr lang="en-US" altLang="zh-CN" sz="2400" b="0" dirty="0">
              <a:latin typeface="宋体" panose="02010600030101010101" pitchFamily="2" charset="-122"/>
              <a:ea typeface="宋体" panose="02010600030101010101" pitchFamily="2" charset="-122"/>
            </a:endParaRPr>
          </a:p>
        </p:txBody>
      </p:sp>
      <p:sp>
        <p:nvSpPr>
          <p:cNvPr id="79875" name="文本框 1"/>
          <p:cNvSpPr txBox="1"/>
          <p:nvPr/>
        </p:nvSpPr>
        <p:spPr>
          <a:xfrm>
            <a:off x="5795963" y="1125538"/>
            <a:ext cx="2879725" cy="2862262"/>
          </a:xfrm>
          <a:prstGeom prst="rect">
            <a:avLst/>
          </a:prstGeom>
          <a:noFill/>
          <a:ln w="19050" cap="flat" cmpd="sng">
            <a:solidFill>
              <a:schemeClr val="tx1"/>
            </a:solidFill>
            <a:prstDash val="solid"/>
            <a:miter/>
            <a:headEnd type="none" w="med" len="med"/>
            <a:tailEnd type="none" w="med" len="med"/>
          </a:ln>
        </p:spPr>
        <p:txBody>
          <a:bodyPr>
            <a:spAutoFit/>
          </a:bodyPr>
          <a:p>
            <a:pPr eaLnBrk="0" hangingPunct="0">
              <a:lnSpc>
                <a:spcPct val="150000"/>
              </a:lnSpc>
              <a:buFont typeface="Wingdings" panose="05000000000000000000" pitchFamily="2" charset="2"/>
            </a:pPr>
            <a:r>
              <a:rPr lang="en-US" altLang="zh-CN" sz="2000" dirty="0">
                <a:solidFill>
                  <a:srgbClr val="FF0000"/>
                </a:solidFill>
                <a:latin typeface="宋体" panose="02010600030101010101" pitchFamily="2" charset="-122"/>
                <a:ea typeface="宋体" panose="02010600030101010101" pitchFamily="2" charset="-122"/>
              </a:rPr>
              <a:t>BCD</a:t>
            </a:r>
            <a:r>
              <a:rPr lang="zh-CN" altLang="en-US" sz="2000" dirty="0">
                <a:solidFill>
                  <a:srgbClr val="FF0000"/>
                </a:solidFill>
                <a:latin typeface="宋体" panose="02010600030101010101" pitchFamily="2" charset="-122"/>
                <a:ea typeface="宋体" panose="02010600030101010101" pitchFamily="2" charset="-122"/>
              </a:rPr>
              <a:t>码本质上是十进制数，即应遵循逢十进一的规则。而计算机是按二进制（十六进制）进行运算，并未按十进制规则进行运算。</a:t>
            </a:r>
            <a:endParaRPr lang="zh-CN" altLang="en-US" sz="2000" dirty="0">
              <a:solidFill>
                <a:srgbClr val="FF0000"/>
              </a:solidFill>
              <a:latin typeface="宋体" panose="02010600030101010101" pitchFamily="2" charset="-122"/>
              <a:ea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内容占位符 2"/>
          <p:cNvSpPr>
            <a:spLocks noGrp="1"/>
          </p:cNvSpPr>
          <p:nvPr>
            <p:ph idx="4294967295"/>
          </p:nvPr>
        </p:nvSpPr>
        <p:spPr>
          <a:xfrm>
            <a:off x="250825" y="990600"/>
            <a:ext cx="8588375" cy="4814888"/>
          </a:xfrm>
        </p:spPr>
        <p:txBody>
          <a:bodyPr vert="horz" wrap="square" lIns="91440" tIns="45720" rIns="91440" bIns="45720" anchor="t" anchorCtr="0"/>
          <a:p>
            <a:pPr marL="0" indent="0">
              <a:buNone/>
            </a:pP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）压缩</a:t>
            </a:r>
            <a:r>
              <a:rPr lang="en-US" altLang="zh-CN" dirty="0">
                <a:latin typeface="宋体" panose="02010600030101010101" pitchFamily="2" charset="-122"/>
                <a:ea typeface="宋体" panose="02010600030101010101" pitchFamily="2" charset="-122"/>
              </a:rPr>
              <a:t>BCD</a:t>
            </a:r>
            <a:r>
              <a:rPr lang="zh-CN" altLang="en-US" dirty="0">
                <a:latin typeface="宋体" panose="02010600030101010101" pitchFamily="2" charset="-122"/>
                <a:ea typeface="宋体" panose="02010600030101010101" pitchFamily="2" charset="-122"/>
              </a:rPr>
              <a:t>码加法十进制调整指令</a:t>
            </a:r>
            <a:r>
              <a:rPr lang="en-US" altLang="zh-CN" dirty="0">
                <a:latin typeface="宋体" panose="02010600030101010101" pitchFamily="2" charset="-122"/>
                <a:ea typeface="宋体" panose="02010600030101010101" pitchFamily="2" charset="-122"/>
              </a:rPr>
              <a:t>DAA</a:t>
            </a:r>
            <a:endParaRPr lang="en-US" altLang="zh-CN" dirty="0">
              <a:latin typeface="宋体" panose="02010600030101010101" pitchFamily="2" charset="-122"/>
              <a:ea typeface="宋体" panose="02010600030101010101" pitchFamily="2" charset="-122"/>
            </a:endParaRPr>
          </a:p>
          <a:p>
            <a:pPr marL="0" indent="0">
              <a:lnSpc>
                <a:spcPct val="150000"/>
              </a:lnSpc>
              <a:buNone/>
            </a:pPr>
            <a:r>
              <a:rPr lang="en-US" altLang="zh-CN" b="0" dirty="0">
                <a:latin typeface="宋体" panose="02010600030101010101" pitchFamily="2" charset="-122"/>
                <a:ea typeface="宋体" panose="02010600030101010101" pitchFamily="2" charset="-122"/>
              </a:rPr>
              <a:t> </a:t>
            </a:r>
            <a:r>
              <a:rPr lang="en-US" altLang="zh-CN" sz="2400" b="0" dirty="0">
                <a:latin typeface="宋体" panose="02010600030101010101" pitchFamily="2" charset="-122"/>
                <a:ea typeface="宋体" panose="02010600030101010101" pitchFamily="2" charset="-122"/>
              </a:rPr>
              <a:t> DAA</a:t>
            </a:r>
            <a:r>
              <a:rPr lang="zh-CN" altLang="en-US" sz="2400" b="0" dirty="0">
                <a:latin typeface="宋体" panose="02010600030101010101" pitchFamily="2" charset="-122"/>
                <a:ea typeface="宋体" panose="02010600030101010101" pitchFamily="2" charset="-122"/>
              </a:rPr>
              <a:t>用于对两个压缩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码相加之后的和（结果必须存入</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）进行调整，产生正确的压缩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a:t>
            </a:r>
            <a:endParaRPr lang="en-US" altLang="zh-CN" sz="2400" b="0" dirty="0">
              <a:latin typeface="宋体" panose="02010600030101010101" pitchFamily="2" charset="-122"/>
              <a:ea typeface="宋体" panose="02010600030101010101" pitchFamily="2" charset="-122"/>
            </a:endParaRPr>
          </a:p>
          <a:p>
            <a:pPr marL="0" indent="0">
              <a:lnSpc>
                <a:spcPct val="150000"/>
              </a:lnSpc>
              <a:buNone/>
            </a:pPr>
            <a:r>
              <a:rPr lang="zh-CN" altLang="en-US" sz="2400" b="0" dirty="0">
                <a:latin typeface="宋体" panose="02010600030101010101" pitchFamily="2" charset="-122"/>
                <a:ea typeface="宋体" panose="02010600030101010101" pitchFamily="2" charset="-122"/>
              </a:rPr>
              <a:t>调整方法：</a:t>
            </a:r>
            <a:endParaRPr lang="en-US" altLang="zh-CN" sz="2400" b="0" dirty="0">
              <a:latin typeface="宋体" panose="02010600030101010101" pitchFamily="2" charset="-122"/>
              <a:ea typeface="宋体" panose="02010600030101010101" pitchFamily="2" charset="-122"/>
            </a:endParaRPr>
          </a:p>
          <a:p>
            <a:pPr marL="0" indent="0">
              <a:lnSpc>
                <a:spcPct val="150000"/>
              </a:lnSpc>
              <a:buFont typeface="Wingdings" panose="05000000000000000000" pitchFamily="2" charset="2"/>
              <a:buChar char="l"/>
            </a:pPr>
            <a:r>
              <a:rPr lang="zh-CN" altLang="en-US" sz="2400" b="0" dirty="0">
                <a:latin typeface="宋体" panose="02010600030101010101" pitchFamily="2" charset="-122"/>
                <a:ea typeface="宋体" panose="02010600030101010101" pitchFamily="2" charset="-122"/>
              </a:rPr>
              <a:t>若（</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）中低</a:t>
            </a:r>
            <a:r>
              <a:rPr lang="en-US" altLang="zh-CN" sz="2400" b="0" dirty="0">
                <a:latin typeface="宋体" panose="02010600030101010101" pitchFamily="2" charset="-122"/>
                <a:ea typeface="宋体" panose="02010600030101010101" pitchFamily="2" charset="-122"/>
              </a:rPr>
              <a:t>4</a:t>
            </a:r>
            <a:r>
              <a:rPr lang="zh-CN" altLang="en-US" sz="2400" b="0" dirty="0">
                <a:latin typeface="宋体" panose="02010600030101010101" pitchFamily="2" charset="-122"/>
                <a:ea typeface="宋体" panose="02010600030101010101" pitchFamily="2" charset="-122"/>
              </a:rPr>
              <a:t>位</a:t>
            </a:r>
            <a:r>
              <a:rPr lang="en-US" altLang="zh-CN" sz="2400" b="0" dirty="0">
                <a:latin typeface="宋体" panose="02010600030101010101" pitchFamily="2" charset="-122"/>
                <a:ea typeface="宋体" panose="02010600030101010101" pitchFamily="2" charset="-122"/>
              </a:rPr>
              <a:t>&gt;9</a:t>
            </a:r>
            <a:r>
              <a:rPr lang="zh-CN" altLang="en-US" sz="2400" b="0" dirty="0">
                <a:latin typeface="宋体" panose="02010600030101010101" pitchFamily="2" charset="-122"/>
                <a:ea typeface="宋体" panose="02010600030101010101" pitchFamily="2" charset="-122"/>
              </a:rPr>
              <a:t>或</a:t>
            </a:r>
            <a:r>
              <a:rPr lang="en-US" altLang="zh-CN" sz="2400" b="0" dirty="0">
                <a:latin typeface="宋体" panose="02010600030101010101" pitchFamily="2" charset="-122"/>
                <a:ea typeface="宋体" panose="02010600030101010101" pitchFamily="2" charset="-122"/>
              </a:rPr>
              <a:t>AF=1</a:t>
            </a:r>
            <a:r>
              <a:rPr lang="zh-CN" altLang="en-US" sz="2400" b="0" dirty="0">
                <a:latin typeface="宋体" panose="02010600030101010101" pitchFamily="2" charset="-122"/>
                <a:ea typeface="宋体" panose="02010600030101010101" pitchFamily="2" charset="-122"/>
              </a:rPr>
              <a:t>，则（</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+06H →</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），并使</a:t>
            </a:r>
            <a:r>
              <a:rPr lang="en-US" altLang="zh-CN" sz="2400" b="0" dirty="0">
                <a:latin typeface="宋体" panose="02010600030101010101" pitchFamily="2" charset="-122"/>
                <a:ea typeface="宋体" panose="02010600030101010101" pitchFamily="2" charset="-122"/>
              </a:rPr>
              <a:t>AF=1</a:t>
            </a:r>
            <a:endParaRPr lang="en-US" altLang="zh-CN" sz="2400" b="0" dirty="0">
              <a:latin typeface="宋体" panose="02010600030101010101" pitchFamily="2" charset="-122"/>
              <a:ea typeface="宋体" panose="02010600030101010101" pitchFamily="2" charset="-122"/>
            </a:endParaRPr>
          </a:p>
          <a:p>
            <a:pPr marL="0" indent="0">
              <a:lnSpc>
                <a:spcPct val="150000"/>
              </a:lnSpc>
              <a:buFont typeface="Wingdings" panose="05000000000000000000" pitchFamily="2" charset="2"/>
              <a:buChar char="l"/>
            </a:pPr>
            <a:r>
              <a:rPr lang="zh-CN" altLang="en-US" sz="2400" b="0" dirty="0">
                <a:latin typeface="宋体" panose="02010600030101010101" pitchFamily="2" charset="-122"/>
                <a:ea typeface="宋体" panose="02010600030101010101" pitchFamily="2" charset="-122"/>
              </a:rPr>
              <a:t>若（</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）中高</a:t>
            </a:r>
            <a:r>
              <a:rPr lang="en-US" altLang="zh-CN" sz="2400" b="0" dirty="0">
                <a:latin typeface="宋体" panose="02010600030101010101" pitchFamily="2" charset="-122"/>
                <a:ea typeface="宋体" panose="02010600030101010101" pitchFamily="2" charset="-122"/>
              </a:rPr>
              <a:t>4</a:t>
            </a:r>
            <a:r>
              <a:rPr lang="zh-CN" altLang="en-US" sz="2400" b="0" dirty="0">
                <a:latin typeface="宋体" panose="02010600030101010101" pitchFamily="2" charset="-122"/>
                <a:ea typeface="宋体" panose="02010600030101010101" pitchFamily="2" charset="-122"/>
              </a:rPr>
              <a:t>位</a:t>
            </a:r>
            <a:r>
              <a:rPr lang="en-US" altLang="zh-CN" sz="2400" b="0" dirty="0">
                <a:latin typeface="宋体" panose="02010600030101010101" pitchFamily="2" charset="-122"/>
                <a:ea typeface="宋体" panose="02010600030101010101" pitchFamily="2" charset="-122"/>
              </a:rPr>
              <a:t>&gt;9</a:t>
            </a:r>
            <a:r>
              <a:rPr lang="zh-CN" altLang="en-US" sz="2400" b="0" dirty="0">
                <a:latin typeface="宋体" panose="02010600030101010101" pitchFamily="2" charset="-122"/>
                <a:ea typeface="宋体" panose="02010600030101010101" pitchFamily="2" charset="-122"/>
              </a:rPr>
              <a:t>或</a:t>
            </a:r>
            <a:r>
              <a:rPr lang="en-US" altLang="zh-CN" sz="2400" b="0" dirty="0">
                <a:latin typeface="宋体" panose="02010600030101010101" pitchFamily="2" charset="-122"/>
                <a:ea typeface="宋体" panose="02010600030101010101" pitchFamily="2" charset="-122"/>
              </a:rPr>
              <a:t>CF=1</a:t>
            </a:r>
            <a:r>
              <a:rPr lang="zh-CN" altLang="en-US" sz="2400" b="0" dirty="0">
                <a:latin typeface="宋体" panose="02010600030101010101" pitchFamily="2" charset="-122"/>
                <a:ea typeface="宋体" panose="02010600030101010101" pitchFamily="2" charset="-122"/>
              </a:rPr>
              <a:t>，则（</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+60H →</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），并使</a:t>
            </a:r>
            <a:r>
              <a:rPr lang="en-US" altLang="zh-CN" sz="2400" b="0" dirty="0">
                <a:latin typeface="宋体" panose="02010600030101010101" pitchFamily="2" charset="-122"/>
                <a:ea typeface="宋体" panose="02010600030101010101" pitchFamily="2" charset="-122"/>
              </a:rPr>
              <a:t>CF=1</a:t>
            </a:r>
            <a:endParaRPr lang="en-US" altLang="zh-CN" sz="2400" b="0" dirty="0">
              <a:latin typeface="宋体" panose="02010600030101010101" pitchFamily="2" charset="-122"/>
              <a:ea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内容占位符 2"/>
          <p:cNvSpPr>
            <a:spLocks noGrp="1"/>
          </p:cNvSpPr>
          <p:nvPr>
            <p:ph idx="4294967295"/>
          </p:nvPr>
        </p:nvSpPr>
        <p:spPr>
          <a:xfrm>
            <a:off x="250825" y="990600"/>
            <a:ext cx="8574088" cy="5410200"/>
          </a:xfrm>
        </p:spPr>
        <p:txBody>
          <a:bodyPr vert="horz" wrap="square" lIns="91440" tIns="45720" rIns="91440" bIns="45720" anchor="t" anchorCtr="0"/>
          <a:p>
            <a:pPr>
              <a:buFont typeface="Wingdings" panose="05000000000000000000" pitchFamily="2" charset="2"/>
              <a:buChar char="Ø"/>
            </a:pPr>
            <a:r>
              <a:rPr lang="zh-CN" altLang="en-US" b="0" dirty="0">
                <a:latin typeface="宋体" panose="02010600030101010101" pitchFamily="2" charset="-122"/>
                <a:ea typeface="宋体" panose="02010600030101010101" pitchFamily="2" charset="-122"/>
              </a:rPr>
              <a:t>例</a:t>
            </a:r>
            <a:r>
              <a:rPr lang="en-US" altLang="zh-CN" b="0" dirty="0">
                <a:latin typeface="宋体" panose="02010600030101010101" pitchFamily="2" charset="-122"/>
                <a:ea typeface="宋体" panose="02010600030101010101" pitchFamily="2" charset="-122"/>
              </a:rPr>
              <a:t>1</a:t>
            </a:r>
            <a:r>
              <a:rPr lang="zh-CN" altLang="en-US" b="0" dirty="0">
                <a:latin typeface="宋体" panose="02010600030101010101" pitchFamily="2" charset="-122"/>
                <a:ea typeface="宋体" panose="02010600030101010101" pitchFamily="2" charset="-122"/>
              </a:rPr>
              <a:t>：编程用压缩</a:t>
            </a:r>
            <a:r>
              <a:rPr lang="en-US" altLang="zh-CN" b="0" dirty="0">
                <a:latin typeface="宋体" panose="02010600030101010101" pitchFamily="2" charset="-122"/>
                <a:ea typeface="宋体" panose="02010600030101010101" pitchFamily="2" charset="-122"/>
              </a:rPr>
              <a:t>BCD</a:t>
            </a:r>
            <a:r>
              <a:rPr lang="zh-CN" altLang="en-US" b="0" dirty="0">
                <a:latin typeface="宋体" panose="02010600030101010101" pitchFamily="2" charset="-122"/>
                <a:ea typeface="宋体" panose="02010600030101010101" pitchFamily="2" charset="-122"/>
              </a:rPr>
              <a:t>数计算</a:t>
            </a:r>
            <a:r>
              <a:rPr lang="en-US" altLang="zh-CN" b="0" dirty="0">
                <a:latin typeface="宋体" panose="02010600030101010101" pitchFamily="2" charset="-122"/>
                <a:ea typeface="宋体" panose="02010600030101010101" pitchFamily="2" charset="-122"/>
              </a:rPr>
              <a:t>48+27=?</a:t>
            </a:r>
            <a:endParaRPr lang="en-US" altLang="zh-CN" b="0" dirty="0">
              <a:latin typeface="宋体" panose="02010600030101010101" pitchFamily="2" charset="-122"/>
              <a:ea typeface="宋体" panose="02010600030101010101" pitchFamily="2" charset="-122"/>
            </a:endParaRPr>
          </a:p>
          <a:p>
            <a:pPr>
              <a:buNone/>
            </a:pPr>
            <a:r>
              <a:rPr lang="en-US" altLang="zh-CN" sz="2400" b="0" dirty="0">
                <a:latin typeface="宋体" panose="02010600030101010101" pitchFamily="2" charset="-122"/>
                <a:ea typeface="宋体" panose="02010600030101010101" pitchFamily="2" charset="-122"/>
              </a:rPr>
              <a:t>MOV 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48H</a:t>
            </a:r>
            <a:endParaRPr lang="en-US" altLang="zh-CN" sz="2400" b="0" dirty="0">
              <a:latin typeface="宋体" panose="02010600030101010101" pitchFamily="2" charset="-122"/>
              <a:ea typeface="宋体" panose="02010600030101010101" pitchFamily="2" charset="-122"/>
            </a:endParaRPr>
          </a:p>
          <a:p>
            <a:pPr>
              <a:buNone/>
            </a:pPr>
            <a:r>
              <a:rPr lang="en-US" altLang="zh-CN" sz="2400" b="0" dirty="0">
                <a:latin typeface="宋体" panose="02010600030101010101" pitchFamily="2" charset="-122"/>
                <a:ea typeface="宋体" panose="02010600030101010101" pitchFamily="2" charset="-122"/>
              </a:rPr>
              <a:t>ADD 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27H</a:t>
            </a:r>
            <a:endParaRPr lang="en-US" altLang="zh-CN" sz="2400" b="0" dirty="0">
              <a:latin typeface="宋体" panose="02010600030101010101" pitchFamily="2" charset="-122"/>
              <a:ea typeface="宋体" panose="02010600030101010101" pitchFamily="2" charset="-122"/>
            </a:endParaRPr>
          </a:p>
          <a:p>
            <a:pPr>
              <a:buNone/>
            </a:pPr>
            <a:r>
              <a:rPr lang="en-US" altLang="zh-CN" sz="2400" b="0" dirty="0">
                <a:latin typeface="宋体" panose="02010600030101010101" pitchFamily="2" charset="-122"/>
                <a:ea typeface="宋体" panose="02010600030101010101" pitchFamily="2" charset="-122"/>
              </a:rPr>
              <a:t>DAA</a:t>
            </a:r>
            <a:endParaRPr lang="en-US" altLang="zh-CN" sz="2400" b="0" dirty="0">
              <a:latin typeface="宋体" panose="02010600030101010101" pitchFamily="2" charset="-122"/>
              <a:ea typeface="宋体" panose="02010600030101010101" pitchFamily="2" charset="-122"/>
            </a:endParaRPr>
          </a:p>
          <a:p>
            <a:pPr>
              <a:buNone/>
            </a:pPr>
            <a:r>
              <a:rPr lang="zh-CN" altLang="en-US" sz="2400" b="0" dirty="0">
                <a:latin typeface="宋体" panose="02010600030101010101" pitchFamily="2" charset="-122"/>
                <a:ea typeface="宋体" panose="02010600030101010101" pitchFamily="2" charset="-122"/>
              </a:rPr>
              <a:t>则</a:t>
            </a:r>
            <a:r>
              <a:rPr lang="en-US" altLang="zh-CN" sz="2400" b="0" dirty="0">
                <a:latin typeface="宋体" panose="02010600030101010101" pitchFamily="2" charset="-122"/>
                <a:ea typeface="宋体" panose="02010600030101010101" pitchFamily="2" charset="-122"/>
              </a:rPr>
              <a:t>ADD</a:t>
            </a:r>
            <a:r>
              <a:rPr lang="zh-CN" altLang="en-US" sz="2400" b="0" dirty="0">
                <a:latin typeface="宋体" panose="02010600030101010101" pitchFamily="2" charset="-122"/>
                <a:ea typeface="宋体" panose="02010600030101010101" pitchFamily="2" charset="-122"/>
              </a:rPr>
              <a:t>结果为：</a:t>
            </a:r>
            <a:r>
              <a:rPr lang="en-US" altLang="zh-CN" sz="2400" b="0" dirty="0">
                <a:latin typeface="宋体" panose="02010600030101010101" pitchFamily="2" charset="-122"/>
                <a:ea typeface="宋体" panose="02010600030101010101" pitchFamily="2" charset="-122"/>
              </a:rPr>
              <a:t>01101111</a:t>
            </a:r>
            <a:r>
              <a:rPr lang="zh-CN" altLang="en-US" sz="2400" b="0" dirty="0">
                <a:latin typeface="宋体" panose="02010600030101010101" pitchFamily="2" charset="-122"/>
                <a:ea typeface="宋体" panose="02010600030101010101" pitchFamily="2" charset="-122"/>
              </a:rPr>
              <a:t>。而</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数</a:t>
            </a:r>
            <a:r>
              <a:rPr lang="en-US" altLang="zh-CN" sz="2400" b="0" dirty="0">
                <a:latin typeface="宋体" panose="02010600030101010101" pitchFamily="2" charset="-122"/>
                <a:ea typeface="宋体" panose="02010600030101010101" pitchFamily="2" charset="-122"/>
              </a:rPr>
              <a:t>48H+27H</a:t>
            </a:r>
            <a:r>
              <a:rPr lang="zh-CN" altLang="en-US" sz="2400" b="0" dirty="0">
                <a:latin typeface="宋体" panose="02010600030101010101" pitchFamily="2" charset="-122"/>
                <a:ea typeface="宋体" panose="02010600030101010101" pitchFamily="2" charset="-122"/>
              </a:rPr>
              <a:t>应该等于</a:t>
            </a:r>
            <a:r>
              <a:rPr lang="en-US" altLang="zh-CN" sz="2400" b="0" dirty="0">
                <a:latin typeface="宋体" panose="02010600030101010101" pitchFamily="2" charset="-122"/>
                <a:ea typeface="宋体" panose="02010600030101010101" pitchFamily="2" charset="-122"/>
              </a:rPr>
              <a:t>75H</a:t>
            </a:r>
            <a:r>
              <a:rPr lang="zh-CN" altLang="en-US" sz="2400" b="0" dirty="0">
                <a:latin typeface="宋体" panose="02010600030101010101" pitchFamily="2" charset="-122"/>
                <a:ea typeface="宋体" panose="02010600030101010101" pitchFamily="2" charset="-122"/>
              </a:rPr>
              <a:t>，但</a:t>
            </a:r>
            <a:r>
              <a:rPr lang="en-US" altLang="zh-CN" sz="2400" b="0" dirty="0">
                <a:latin typeface="宋体" panose="02010600030101010101" pitchFamily="2" charset="-122"/>
                <a:ea typeface="宋体" panose="02010600030101010101" pitchFamily="2" charset="-122"/>
              </a:rPr>
              <a:t>ADD</a:t>
            </a:r>
            <a:r>
              <a:rPr lang="zh-CN" altLang="en-US" sz="2400" b="0" dirty="0">
                <a:latin typeface="宋体" panose="02010600030101010101" pitchFamily="2" charset="-122"/>
                <a:ea typeface="宋体" panose="02010600030101010101" pitchFamily="2" charset="-122"/>
              </a:rPr>
              <a:t>运算结果为</a:t>
            </a:r>
            <a:r>
              <a:rPr lang="en-US" altLang="zh-CN" sz="2400" b="0" dirty="0">
                <a:latin typeface="宋体" panose="02010600030101010101" pitchFamily="2" charset="-122"/>
                <a:ea typeface="宋体" panose="02010600030101010101" pitchFamily="2" charset="-122"/>
              </a:rPr>
              <a:t>6FH</a:t>
            </a:r>
            <a:r>
              <a:rPr lang="zh-CN" altLang="en-US" sz="2400" b="0" dirty="0">
                <a:latin typeface="宋体" panose="02010600030101010101" pitchFamily="2" charset="-122"/>
                <a:ea typeface="宋体" panose="02010600030101010101" pitchFamily="2" charset="-122"/>
              </a:rPr>
              <a:t>，结果不正确，应该采用</a:t>
            </a:r>
            <a:r>
              <a:rPr lang="en-US" altLang="zh-CN" sz="2400" b="0" dirty="0">
                <a:latin typeface="宋体" panose="02010600030101010101" pitchFamily="2" charset="-122"/>
                <a:ea typeface="宋体" panose="02010600030101010101" pitchFamily="2" charset="-122"/>
              </a:rPr>
              <a:t>DAA</a:t>
            </a:r>
            <a:r>
              <a:rPr lang="zh-CN" altLang="en-US" sz="2400" b="0" dirty="0">
                <a:latin typeface="宋体" panose="02010600030101010101" pitchFamily="2" charset="-122"/>
                <a:ea typeface="宋体" panose="02010600030101010101" pitchFamily="2" charset="-122"/>
              </a:rPr>
              <a:t>指令进行调整。</a:t>
            </a:r>
            <a:endParaRPr lang="en-US" altLang="zh-CN" sz="2400" b="0" dirty="0">
              <a:latin typeface="宋体" panose="02010600030101010101" pitchFamily="2" charset="-122"/>
              <a:ea typeface="宋体" panose="02010600030101010101" pitchFamily="2" charset="-122"/>
            </a:endParaRPr>
          </a:p>
          <a:p>
            <a:pPr>
              <a:buNone/>
            </a:pPr>
            <a:endParaRPr lang="en-US" altLang="zh-CN" sz="2400" b="0" dirty="0">
              <a:latin typeface="宋体" panose="02010600030101010101" pitchFamily="2" charset="-122"/>
              <a:ea typeface="宋体" panose="02010600030101010101" pitchFamily="2" charset="-122"/>
            </a:endParaRPr>
          </a:p>
          <a:p>
            <a:pPr>
              <a:buNone/>
            </a:pPr>
            <a:r>
              <a:rPr lang="zh-CN" altLang="en-US" sz="2400" b="0" dirty="0">
                <a:latin typeface="宋体" panose="02010600030101010101" pitchFamily="2" charset="-122"/>
                <a:ea typeface="宋体" panose="02010600030101010101" pitchFamily="2" charset="-122"/>
              </a:rPr>
              <a:t>因为低</a:t>
            </a:r>
            <a:r>
              <a:rPr lang="en-US" altLang="zh-CN" sz="2400" b="0" dirty="0">
                <a:latin typeface="宋体" panose="02010600030101010101" pitchFamily="2" charset="-122"/>
                <a:ea typeface="宋体" panose="02010600030101010101" pitchFamily="2" charset="-122"/>
              </a:rPr>
              <a:t>4</a:t>
            </a:r>
            <a:r>
              <a:rPr lang="zh-CN" altLang="en-US" sz="2400" b="0" dirty="0">
                <a:latin typeface="宋体" panose="02010600030101010101" pitchFamily="2" charset="-122"/>
                <a:ea typeface="宋体" panose="02010600030101010101" pitchFamily="2" charset="-122"/>
              </a:rPr>
              <a:t>位（</a:t>
            </a:r>
            <a:r>
              <a:rPr lang="en-US" altLang="zh-CN" sz="2400" b="0" dirty="0">
                <a:latin typeface="宋体" panose="02010600030101010101" pitchFamily="2" charset="-122"/>
                <a:ea typeface="宋体" panose="02010600030101010101" pitchFamily="2" charset="-122"/>
              </a:rPr>
              <a:t>1111</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&gt;9,</a:t>
            </a:r>
            <a:r>
              <a:rPr lang="zh-CN" altLang="en-US" sz="2400" b="0" dirty="0">
                <a:latin typeface="宋体" panose="02010600030101010101" pitchFamily="2" charset="-122"/>
                <a:ea typeface="宋体" panose="02010600030101010101" pitchFamily="2" charset="-122"/>
              </a:rPr>
              <a:t>故进行加</a:t>
            </a:r>
            <a:r>
              <a:rPr lang="en-US" altLang="zh-CN" sz="2400" b="0" dirty="0">
                <a:latin typeface="宋体" panose="02010600030101010101" pitchFamily="2" charset="-122"/>
                <a:ea typeface="宋体" panose="02010600030101010101" pitchFamily="2" charset="-122"/>
              </a:rPr>
              <a:t>6</a:t>
            </a:r>
            <a:r>
              <a:rPr lang="zh-CN" altLang="en-US" sz="2400" b="0" dirty="0">
                <a:latin typeface="宋体" panose="02010600030101010101" pitchFamily="2" charset="-122"/>
                <a:ea typeface="宋体" panose="02010600030101010101" pitchFamily="2" charset="-122"/>
              </a:rPr>
              <a:t>调整：</a:t>
            </a:r>
            <a:r>
              <a:rPr lang="en-US" altLang="zh-CN" sz="2400" b="0" dirty="0">
                <a:latin typeface="宋体" panose="02010600030101010101" pitchFamily="2" charset="-122"/>
                <a:ea typeface="宋体" panose="02010600030101010101" pitchFamily="2" charset="-122"/>
              </a:rPr>
              <a:t>01101111+00000110=01110101</a:t>
            </a:r>
            <a:endParaRPr lang="en-US" altLang="zh-CN" sz="2400" b="0" dirty="0">
              <a:latin typeface="宋体" panose="02010600030101010101" pitchFamily="2" charset="-122"/>
              <a:ea typeface="宋体" panose="02010600030101010101" pitchFamily="2" charset="-122"/>
            </a:endParaRPr>
          </a:p>
          <a:p>
            <a:pPr>
              <a:buNone/>
            </a:pPr>
            <a:endParaRPr lang="en-US" altLang="zh-CN" sz="2400" b="0" dirty="0">
              <a:latin typeface="宋体" panose="02010600030101010101" pitchFamily="2" charset="-122"/>
              <a:ea typeface="宋体" panose="02010600030101010101" pitchFamily="2" charset="-122"/>
            </a:endParaRPr>
          </a:p>
          <a:p>
            <a:pPr>
              <a:buNone/>
            </a:pPr>
            <a:r>
              <a:rPr lang="zh-CN" altLang="en-US" sz="2400" b="0" dirty="0">
                <a:latin typeface="宋体" panose="02010600030101010101" pitchFamily="2" charset="-122"/>
                <a:ea typeface="宋体" panose="02010600030101010101" pitchFamily="2" charset="-122"/>
              </a:rPr>
              <a:t>可以看出，调整后：</a:t>
            </a:r>
            <a:r>
              <a:rPr lang="zh-CN" altLang="en-US" sz="2400" b="0" dirty="0">
                <a:latin typeface="宋体" panose="02010600030101010101" pitchFamily="2" charset="-122"/>
                <a:ea typeface="宋体" panose="02010600030101010101" pitchFamily="2" charset="-122"/>
                <a:sym typeface="Wingdings" panose="05000000000000000000" pitchFamily="2" charset="2"/>
              </a:rPr>
              <a:t>（</a:t>
            </a:r>
            <a:r>
              <a:rPr lang="en-US" altLang="zh-CN" sz="2400" b="0" dirty="0">
                <a:latin typeface="宋体" panose="02010600030101010101" pitchFamily="2" charset="-122"/>
                <a:ea typeface="宋体" panose="02010600030101010101" pitchFamily="2" charset="-122"/>
                <a:sym typeface="Wingdings" panose="05000000000000000000" pitchFamily="2" charset="2"/>
              </a:rPr>
              <a:t>AL</a:t>
            </a:r>
            <a:r>
              <a:rPr lang="zh-CN" altLang="en-US" sz="2400" b="0" dirty="0">
                <a:latin typeface="宋体" panose="02010600030101010101" pitchFamily="2" charset="-122"/>
                <a:ea typeface="宋体" panose="02010600030101010101" pitchFamily="2" charset="-122"/>
                <a:sym typeface="Wingdings" panose="05000000000000000000" pitchFamily="2" charset="2"/>
              </a:rPr>
              <a:t>）</a:t>
            </a:r>
            <a:r>
              <a:rPr lang="en-US" altLang="zh-CN" sz="2400" b="0" dirty="0">
                <a:latin typeface="宋体" panose="02010600030101010101" pitchFamily="2" charset="-122"/>
                <a:ea typeface="宋体" panose="02010600030101010101" pitchFamily="2" charset="-122"/>
                <a:sym typeface="Wingdings" panose="05000000000000000000" pitchFamily="2" charset="2"/>
              </a:rPr>
              <a:t>=75H</a:t>
            </a:r>
            <a:r>
              <a:rPr lang="zh-CN" altLang="en-US" sz="2400" b="0" dirty="0">
                <a:latin typeface="宋体" panose="02010600030101010101" pitchFamily="2" charset="-122"/>
                <a:ea typeface="宋体" panose="02010600030101010101" pitchFamily="2" charset="-122"/>
                <a:sym typeface="Wingdings" panose="05000000000000000000" pitchFamily="2" charset="2"/>
              </a:rPr>
              <a:t>，</a:t>
            </a:r>
            <a:r>
              <a:rPr lang="en-US" altLang="zh-CN" sz="2400" b="0" dirty="0">
                <a:latin typeface="宋体" panose="02010600030101010101" pitchFamily="2" charset="-122"/>
                <a:ea typeface="宋体" panose="02010600030101010101" pitchFamily="2" charset="-122"/>
                <a:sym typeface="Wingdings" panose="05000000000000000000" pitchFamily="2" charset="2"/>
              </a:rPr>
              <a:t>AF=1</a:t>
            </a:r>
            <a:r>
              <a:rPr lang="zh-CN" altLang="en-US" sz="2400" b="0" dirty="0">
                <a:latin typeface="宋体" panose="02010600030101010101" pitchFamily="2" charset="-122"/>
                <a:ea typeface="宋体" panose="02010600030101010101" pitchFamily="2" charset="-122"/>
                <a:sym typeface="Wingdings" panose="05000000000000000000" pitchFamily="2" charset="2"/>
              </a:rPr>
              <a:t>，</a:t>
            </a:r>
            <a:r>
              <a:rPr lang="en-US" altLang="zh-CN" sz="2400" b="0" dirty="0">
                <a:latin typeface="宋体" panose="02010600030101010101" pitchFamily="2" charset="-122"/>
                <a:ea typeface="宋体" panose="02010600030101010101" pitchFamily="2" charset="-122"/>
                <a:sym typeface="Wingdings" panose="05000000000000000000" pitchFamily="2" charset="2"/>
              </a:rPr>
              <a:t>CF=0</a:t>
            </a:r>
            <a:r>
              <a:rPr lang="zh-CN" altLang="en-US" sz="2400" b="0" dirty="0">
                <a:latin typeface="宋体" panose="02010600030101010101" pitchFamily="2" charset="-122"/>
                <a:ea typeface="宋体" panose="02010600030101010101" pitchFamily="2" charset="-122"/>
                <a:sym typeface="Wingdings" panose="05000000000000000000" pitchFamily="2" charset="2"/>
              </a:rPr>
              <a:t>，结果正确。</a:t>
            </a:r>
            <a:endParaRPr lang="zh-CN" altLang="en-US" sz="2400" b="0" dirty="0">
              <a:latin typeface="宋体" panose="02010600030101010101" pitchFamily="2" charset="-122"/>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内容占位符 2"/>
          <p:cNvSpPr>
            <a:spLocks noGrp="1"/>
          </p:cNvSpPr>
          <p:nvPr>
            <p:ph idx="4294967295"/>
          </p:nvPr>
        </p:nvSpPr>
        <p:spPr>
          <a:xfrm>
            <a:off x="323850" y="990600"/>
            <a:ext cx="8515350" cy="5410200"/>
          </a:xfrm>
        </p:spPr>
        <p:txBody>
          <a:bodyPr vert="horz" wrap="square" lIns="91440" tIns="45720" rIns="91440" bIns="45720" anchor="t" anchorCtr="0"/>
          <a:p>
            <a:pPr marL="0" indent="0">
              <a:buNone/>
            </a:pP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a:t>
            </a:r>
            <a:r>
              <a:rPr lang="zh-CN" altLang="en-US" b="0" dirty="0">
                <a:latin typeface="宋体" panose="02010600030101010101" pitchFamily="2" charset="-122"/>
                <a:ea typeface="宋体" panose="02010600030101010101" pitchFamily="2" charset="-122"/>
              </a:rPr>
              <a:t>）非压缩</a:t>
            </a:r>
            <a:r>
              <a:rPr lang="en-US" altLang="zh-CN" b="0" dirty="0">
                <a:latin typeface="宋体" panose="02010600030101010101" pitchFamily="2" charset="-122"/>
                <a:ea typeface="宋体" panose="02010600030101010101" pitchFamily="2" charset="-122"/>
              </a:rPr>
              <a:t>BCD</a:t>
            </a:r>
            <a:r>
              <a:rPr lang="zh-CN" altLang="en-US" b="0" dirty="0">
                <a:latin typeface="宋体" panose="02010600030101010101" pitchFamily="2" charset="-122"/>
                <a:ea typeface="宋体" panose="02010600030101010101" pitchFamily="2" charset="-122"/>
              </a:rPr>
              <a:t>码加法十进制调整指令</a:t>
            </a:r>
            <a:r>
              <a:rPr lang="en-US" altLang="zh-CN" b="0" dirty="0">
                <a:latin typeface="宋体" panose="02010600030101010101" pitchFamily="2" charset="-122"/>
                <a:ea typeface="宋体" panose="02010600030101010101" pitchFamily="2" charset="-122"/>
              </a:rPr>
              <a:t>AAA</a:t>
            </a:r>
            <a:endParaRPr lang="en-US" altLang="zh-CN" b="0" dirty="0">
              <a:latin typeface="宋体" panose="02010600030101010101" pitchFamily="2" charset="-122"/>
              <a:ea typeface="宋体" panose="02010600030101010101" pitchFamily="2" charset="-122"/>
            </a:endParaRPr>
          </a:p>
          <a:p>
            <a:pPr marL="0" indent="0">
              <a:lnSpc>
                <a:spcPct val="150000"/>
              </a:lnSpc>
              <a:buNone/>
            </a:pPr>
            <a:r>
              <a:rPr lang="en-US" altLang="zh-CN" sz="2400" b="0" dirty="0">
                <a:latin typeface="宋体" panose="02010600030101010101" pitchFamily="2" charset="-122"/>
                <a:ea typeface="宋体" panose="02010600030101010101" pitchFamily="2" charset="-122"/>
              </a:rPr>
              <a:t>   AAA</a:t>
            </a:r>
            <a:r>
              <a:rPr lang="zh-CN" altLang="en-US" sz="2400" b="0" dirty="0">
                <a:latin typeface="宋体" panose="02010600030101010101" pitchFamily="2" charset="-122"/>
                <a:ea typeface="宋体" panose="02010600030101010101" pitchFamily="2" charset="-122"/>
              </a:rPr>
              <a:t>指令用于对两个非压缩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数相加之和（结果必须存入</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）进行调整，形成一个正确的非压缩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码，调整后的结果低位存入</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，高位存入</a:t>
            </a:r>
            <a:r>
              <a:rPr lang="en-US" altLang="zh-CN" sz="2400" b="0" dirty="0">
                <a:latin typeface="宋体" panose="02010600030101010101" pitchFamily="2" charset="-122"/>
                <a:ea typeface="宋体" panose="02010600030101010101" pitchFamily="2" charset="-122"/>
              </a:rPr>
              <a:t>AH</a:t>
            </a:r>
            <a:r>
              <a:rPr lang="zh-CN" altLang="en-US" sz="2400" b="0" dirty="0">
                <a:latin typeface="宋体" panose="02010600030101010101" pitchFamily="2" charset="-122"/>
                <a:ea typeface="宋体" panose="02010600030101010101" pitchFamily="2" charset="-122"/>
              </a:rPr>
              <a:t>。</a:t>
            </a:r>
            <a:endParaRPr lang="en-US" altLang="zh-CN" sz="2400" b="0" dirty="0">
              <a:latin typeface="宋体" panose="02010600030101010101" pitchFamily="2" charset="-122"/>
              <a:ea typeface="宋体" panose="02010600030101010101" pitchFamily="2" charset="-122"/>
            </a:endParaRPr>
          </a:p>
          <a:p>
            <a:pPr marL="0" indent="0">
              <a:lnSpc>
                <a:spcPct val="150000"/>
              </a:lnSpc>
              <a:buNone/>
            </a:pPr>
            <a:r>
              <a:rPr lang="en-US" altLang="zh-CN" sz="2400" b="0" dirty="0">
                <a:latin typeface="宋体" panose="02010600030101010101" pitchFamily="2" charset="-122"/>
                <a:ea typeface="宋体" panose="02010600030101010101" pitchFamily="2" charset="-122"/>
              </a:rPr>
              <a:t>  </a:t>
            </a:r>
            <a:r>
              <a:rPr lang="zh-CN" altLang="en-US" sz="2400" b="0" dirty="0">
                <a:latin typeface="宋体" panose="02010600030101010101" pitchFamily="2" charset="-122"/>
                <a:ea typeface="宋体" panose="02010600030101010101" pitchFamily="2" charset="-122"/>
              </a:rPr>
              <a:t>具体步骤为：</a:t>
            </a:r>
            <a:endParaRPr lang="en-US" altLang="zh-CN" sz="2400" b="0" dirty="0">
              <a:latin typeface="宋体" panose="02010600030101010101" pitchFamily="2" charset="-122"/>
              <a:ea typeface="宋体" panose="02010600030101010101" pitchFamily="2" charset="-122"/>
            </a:endParaRPr>
          </a:p>
          <a:p>
            <a:pPr marL="0" indent="0">
              <a:lnSpc>
                <a:spcPct val="150000"/>
              </a:lnSpc>
              <a:buFont typeface="Wingdings" panose="05000000000000000000" pitchFamily="2" charset="2"/>
              <a:buChar char="l"/>
            </a:pPr>
            <a:r>
              <a:rPr lang="zh-CN" altLang="en-US" sz="2400" b="0" dirty="0">
                <a:latin typeface="宋体" panose="02010600030101010101" pitchFamily="2" charset="-122"/>
                <a:ea typeface="宋体" panose="02010600030101010101" pitchFamily="2" charset="-122"/>
              </a:rPr>
              <a:t>若（</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）中低</a:t>
            </a:r>
            <a:r>
              <a:rPr lang="en-US" altLang="zh-CN" sz="2400" b="0" dirty="0">
                <a:latin typeface="宋体" panose="02010600030101010101" pitchFamily="2" charset="-122"/>
                <a:ea typeface="宋体" panose="02010600030101010101" pitchFamily="2" charset="-122"/>
              </a:rPr>
              <a:t>4</a:t>
            </a:r>
            <a:r>
              <a:rPr lang="zh-CN" altLang="en-US" sz="2400" b="0" dirty="0">
                <a:latin typeface="宋体" panose="02010600030101010101" pitchFamily="2" charset="-122"/>
                <a:ea typeface="宋体" panose="02010600030101010101" pitchFamily="2" charset="-122"/>
              </a:rPr>
              <a:t>位</a:t>
            </a:r>
            <a:r>
              <a:rPr lang="en-US" altLang="zh-CN" sz="2400" b="0" dirty="0">
                <a:latin typeface="宋体" panose="02010600030101010101" pitchFamily="2" charset="-122"/>
                <a:ea typeface="宋体" panose="02010600030101010101" pitchFamily="2" charset="-122"/>
              </a:rPr>
              <a:t>&gt;9</a:t>
            </a:r>
            <a:r>
              <a:rPr lang="zh-CN" altLang="en-US" sz="2400" b="0" dirty="0">
                <a:latin typeface="宋体" panose="02010600030101010101" pitchFamily="2" charset="-122"/>
                <a:ea typeface="宋体" panose="02010600030101010101" pitchFamily="2" charset="-122"/>
              </a:rPr>
              <a:t>或</a:t>
            </a:r>
            <a:r>
              <a:rPr lang="en-US" altLang="zh-CN" sz="2400" b="0" dirty="0">
                <a:latin typeface="宋体" panose="02010600030101010101" pitchFamily="2" charset="-122"/>
                <a:ea typeface="宋体" panose="02010600030101010101" pitchFamily="2" charset="-122"/>
              </a:rPr>
              <a:t>AF=1</a:t>
            </a:r>
            <a:r>
              <a:rPr lang="zh-CN" altLang="en-US" sz="2400" b="0" dirty="0">
                <a:latin typeface="宋体" panose="02010600030101010101" pitchFamily="2" charset="-122"/>
                <a:ea typeface="宋体" panose="02010600030101010101" pitchFamily="2" charset="-122"/>
              </a:rPr>
              <a:t>，则（</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+6,</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AH</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+1</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AF=1</a:t>
            </a:r>
            <a:r>
              <a:rPr lang="zh-CN" altLang="en-US" sz="2400" b="0" dirty="0">
                <a:latin typeface="宋体" panose="02010600030101010101" pitchFamily="2" charset="-122"/>
                <a:ea typeface="宋体" panose="02010600030101010101" pitchFamily="2" charset="-122"/>
              </a:rPr>
              <a:t>；</a:t>
            </a:r>
            <a:endParaRPr lang="en-US" altLang="zh-CN" sz="2400" b="0" dirty="0">
              <a:latin typeface="宋体" panose="02010600030101010101" pitchFamily="2" charset="-122"/>
              <a:ea typeface="宋体" panose="02010600030101010101" pitchFamily="2" charset="-122"/>
            </a:endParaRPr>
          </a:p>
          <a:p>
            <a:pPr marL="0" indent="0">
              <a:lnSpc>
                <a:spcPct val="150000"/>
              </a:lnSpc>
              <a:buFont typeface="Wingdings" panose="05000000000000000000" pitchFamily="2" charset="2"/>
              <a:buChar char="l"/>
            </a:pPr>
            <a:r>
              <a:rPr lang="zh-CN" altLang="en-US" sz="2400" b="0" dirty="0">
                <a:latin typeface="宋体" panose="02010600030101010101" pitchFamily="2" charset="-122"/>
                <a:ea typeface="宋体" panose="02010600030101010101" pitchFamily="2" charset="-122"/>
              </a:rPr>
              <a:t>屏蔽掉（</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）高</a:t>
            </a:r>
            <a:r>
              <a:rPr lang="en-US" altLang="zh-CN" sz="2400" b="0" dirty="0">
                <a:latin typeface="宋体" panose="02010600030101010101" pitchFamily="2" charset="-122"/>
                <a:ea typeface="宋体" panose="02010600030101010101" pitchFamily="2" charset="-122"/>
              </a:rPr>
              <a:t>4</a:t>
            </a:r>
            <a:r>
              <a:rPr lang="zh-CN" altLang="en-US" sz="2400" b="0" dirty="0">
                <a:latin typeface="宋体" panose="02010600030101010101" pitchFamily="2" charset="-122"/>
                <a:ea typeface="宋体" panose="02010600030101010101" pitchFamily="2" charset="-122"/>
              </a:rPr>
              <a:t>位，即（</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0FH</a:t>
            </a:r>
            <a:r>
              <a:rPr lang="zh-CN" altLang="en-US" sz="2400" b="0" dirty="0">
                <a:latin typeface="宋体" panose="02010600030101010101" pitchFamily="2" charset="-122"/>
                <a:ea typeface="宋体" panose="02010600030101010101" pitchFamily="2" charset="-122"/>
              </a:rPr>
              <a:t>；</a:t>
            </a:r>
            <a:endParaRPr lang="en-US" altLang="zh-CN" sz="2400" b="0" dirty="0">
              <a:latin typeface="宋体" panose="02010600030101010101" pitchFamily="2" charset="-122"/>
              <a:ea typeface="宋体" panose="02010600030101010101" pitchFamily="2" charset="-122"/>
            </a:endParaRPr>
          </a:p>
          <a:p>
            <a:pPr marL="0" indent="0">
              <a:lnSpc>
                <a:spcPct val="150000"/>
              </a:lnSpc>
              <a:buFont typeface="Wingdings" panose="05000000000000000000" pitchFamily="2" charset="2"/>
              <a:buChar char="l"/>
            </a:pPr>
            <a:r>
              <a:rPr lang="en-US" altLang="zh-CN" sz="2400" b="0" dirty="0">
                <a:latin typeface="宋体" panose="02010600030101010101" pitchFamily="2" charset="-122"/>
                <a:ea typeface="宋体" panose="02010600030101010101" pitchFamily="2" charset="-122"/>
              </a:rPr>
              <a:t>CF</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AF</a:t>
            </a:r>
            <a:endParaRPr lang="en-US" altLang="zh-CN" sz="2400" b="0" dirty="0">
              <a:latin typeface="宋体" panose="02010600030101010101" pitchFamily="2" charset="-122"/>
              <a:ea typeface="宋体" panose="02010600030101010101" pitchFamily="2" charset="-122"/>
            </a:endParaRPr>
          </a:p>
          <a:p>
            <a:pPr marL="0" indent="0">
              <a:buNone/>
            </a:pPr>
            <a:endParaRPr lang="zh-CN" altLang="en-US" dirty="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内容占位符 2"/>
          <p:cNvSpPr>
            <a:spLocks noGrp="1"/>
          </p:cNvSpPr>
          <p:nvPr>
            <p:ph idx="4294967295"/>
          </p:nvPr>
        </p:nvSpPr>
        <p:spPr>
          <a:xfrm>
            <a:off x="457200" y="990600"/>
            <a:ext cx="8382000" cy="4598988"/>
          </a:xfrm>
        </p:spPr>
        <p:txBody>
          <a:bodyPr vert="horz" wrap="square" lIns="91440" tIns="45720" rIns="91440" bIns="45720" anchor="t" anchorCtr="0"/>
          <a:p>
            <a:pPr>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例</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  计算</a:t>
            </a:r>
            <a:r>
              <a:rPr lang="en-US" altLang="zh-CN" sz="2400" dirty="0">
                <a:latin typeface="宋体" panose="02010600030101010101" pitchFamily="2" charset="-122"/>
                <a:ea typeface="宋体" panose="02010600030101010101" pitchFamily="2" charset="-122"/>
              </a:rPr>
              <a:t>8</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9     0000 1000</a:t>
            </a:r>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+0000 1001 </a:t>
            </a:r>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000</a:t>
            </a:r>
            <a:r>
              <a:rPr lang="en-US" altLang="zh-CN" sz="2400" dirty="0">
                <a:solidFill>
                  <a:srgbClr val="FF0000"/>
                </a:solidFill>
                <a:latin typeface="宋体" panose="02010600030101010101" pitchFamily="2" charset="-122"/>
                <a:ea typeface="宋体" panose="02010600030101010101" pitchFamily="2" charset="-122"/>
              </a:rPr>
              <a:t>1</a:t>
            </a:r>
            <a:r>
              <a:rPr lang="en-US" altLang="zh-CN" sz="2400" dirty="0">
                <a:latin typeface="宋体" panose="02010600030101010101" pitchFamily="2" charset="-122"/>
                <a:ea typeface="宋体" panose="02010600030101010101" pitchFamily="2" charset="-122"/>
              </a:rPr>
              <a:t> 0001 </a:t>
            </a: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11</a:t>
            </a:r>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a:p>
            <a:pPr>
              <a:buNone/>
            </a:pPr>
            <a:endParaRPr lang="en-US" altLang="zh-CN" sz="2400" dirty="0">
              <a:latin typeface="宋体" panose="02010600030101010101" pitchFamily="2" charset="-122"/>
              <a:ea typeface="宋体" panose="02010600030101010101" pitchFamily="2" charset="-122"/>
            </a:endParaRPr>
          </a:p>
          <a:p>
            <a:pPr>
              <a:lnSpc>
                <a:spcPct val="120000"/>
              </a:lnSpc>
              <a:buNone/>
            </a:pPr>
            <a:r>
              <a:rPr lang="zh-CN" altLang="en-US" sz="2400" dirty="0">
                <a:latin typeface="宋体" panose="02010600030101010101" pitchFamily="2" charset="-122"/>
                <a:ea typeface="宋体" panose="02010600030101010101" pitchFamily="2" charset="-122"/>
              </a:rPr>
              <a:t>结果应为</a:t>
            </a:r>
            <a:r>
              <a:rPr lang="en-US" altLang="zh-CN" sz="2400" dirty="0">
                <a:latin typeface="宋体" panose="02010600030101010101" pitchFamily="2" charset="-122"/>
                <a:ea typeface="宋体" panose="02010600030101010101" pitchFamily="2" charset="-122"/>
              </a:rPr>
              <a:t>17</a:t>
            </a:r>
            <a:r>
              <a:rPr lang="zh-CN" altLang="en-US" sz="2400" dirty="0">
                <a:latin typeface="宋体" panose="02010600030101010101" pitchFamily="2" charset="-122"/>
                <a:ea typeface="宋体" panose="02010600030101010101" pitchFamily="2" charset="-122"/>
              </a:rPr>
              <a:t>，而计算机相加为</a:t>
            </a:r>
            <a:r>
              <a:rPr lang="en-US" altLang="zh-CN" sz="2400" dirty="0">
                <a:latin typeface="宋体" panose="02010600030101010101" pitchFamily="2" charset="-122"/>
                <a:ea typeface="宋体" panose="02010600030101010101" pitchFamily="2" charset="-122"/>
              </a:rPr>
              <a:t>11</a:t>
            </a:r>
            <a:r>
              <a:rPr lang="zh-CN" altLang="en-US" sz="2400" dirty="0">
                <a:latin typeface="宋体" panose="02010600030101010101" pitchFamily="2" charset="-122"/>
                <a:ea typeface="宋体" panose="02010600030101010101" pitchFamily="2" charset="-122"/>
              </a:rPr>
              <a:t>，原因在于运算过程中，如</a:t>
            </a:r>
            <a:endParaRPr lang="en-US" altLang="zh-CN" sz="2400" dirty="0">
              <a:latin typeface="宋体" panose="02010600030101010101" pitchFamily="2" charset="-122"/>
              <a:ea typeface="宋体" panose="02010600030101010101" pitchFamily="2" charset="-122"/>
            </a:endParaRPr>
          </a:p>
          <a:p>
            <a:pPr>
              <a:lnSpc>
                <a:spcPct val="120000"/>
              </a:lnSpc>
              <a:buNone/>
            </a:pPr>
            <a:r>
              <a:rPr lang="zh-CN" altLang="en-US" sz="2400" dirty="0">
                <a:latin typeface="宋体" panose="02010600030101010101" pitchFamily="2" charset="-122"/>
                <a:ea typeface="宋体" panose="02010600030101010101" pitchFamily="2" charset="-122"/>
              </a:rPr>
              <a:t>遇到低</a:t>
            </a:r>
            <a:r>
              <a:rPr lang="en-US" altLang="zh-CN" sz="2400" dirty="0">
                <a:latin typeface="宋体" panose="02010600030101010101" pitchFamily="2" charset="-122"/>
                <a:ea typeface="宋体" panose="02010600030101010101" pitchFamily="2" charset="-122"/>
              </a:rPr>
              <a:t>4</a:t>
            </a:r>
            <a:r>
              <a:rPr lang="zh-CN" altLang="en-US" sz="2400" dirty="0">
                <a:latin typeface="宋体" panose="02010600030101010101" pitchFamily="2" charset="-122"/>
                <a:ea typeface="宋体" panose="02010600030101010101" pitchFamily="2" charset="-122"/>
              </a:rPr>
              <a:t>位往高</a:t>
            </a:r>
            <a:r>
              <a:rPr lang="en-US" altLang="zh-CN" sz="2400" dirty="0">
                <a:latin typeface="宋体" panose="02010600030101010101" pitchFamily="2" charset="-122"/>
                <a:ea typeface="宋体" panose="02010600030101010101" pitchFamily="2" charset="-122"/>
              </a:rPr>
              <a:t>4</a:t>
            </a:r>
            <a:r>
              <a:rPr lang="zh-CN" altLang="en-US" sz="2400" dirty="0">
                <a:latin typeface="宋体" panose="02010600030101010101" pitchFamily="2" charset="-122"/>
                <a:ea typeface="宋体" panose="02010600030101010101" pitchFamily="2" charset="-122"/>
              </a:rPr>
              <a:t>位产生进位时（此时</a:t>
            </a:r>
            <a:r>
              <a:rPr lang="en-US" altLang="zh-CN" sz="2400" dirty="0">
                <a:latin typeface="宋体" panose="02010600030101010101" pitchFamily="2" charset="-122"/>
                <a:ea typeface="宋体" panose="02010600030101010101" pitchFamily="2" charset="-122"/>
              </a:rPr>
              <a:t>AF=1</a:t>
            </a:r>
            <a:r>
              <a:rPr lang="zh-CN" altLang="en-US" sz="2400" dirty="0">
                <a:latin typeface="宋体" panose="02010600030101010101" pitchFamily="2" charset="-122"/>
                <a:ea typeface="宋体" panose="02010600030101010101" pitchFamily="2" charset="-122"/>
              </a:rPr>
              <a:t>）是按逢十六进一</a:t>
            </a:r>
            <a:endParaRPr lang="en-US" altLang="zh-CN" sz="2400" dirty="0">
              <a:latin typeface="宋体" panose="02010600030101010101" pitchFamily="2" charset="-122"/>
              <a:ea typeface="宋体" panose="02010600030101010101" pitchFamily="2" charset="-122"/>
            </a:endParaRPr>
          </a:p>
          <a:p>
            <a:pPr>
              <a:lnSpc>
                <a:spcPct val="120000"/>
              </a:lnSpc>
              <a:buNone/>
            </a:pPr>
            <a:r>
              <a:rPr lang="zh-CN" altLang="en-US" sz="2400" dirty="0">
                <a:latin typeface="宋体" panose="02010600030101010101" pitchFamily="2" charset="-122"/>
                <a:ea typeface="宋体" panose="02010600030101010101" pitchFamily="2" charset="-122"/>
              </a:rPr>
              <a:t>的规则，但</a:t>
            </a:r>
            <a:r>
              <a:rPr lang="en-US" altLang="zh-CN" sz="2400" dirty="0">
                <a:latin typeface="宋体" panose="02010600030101010101" pitchFamily="2" charset="-122"/>
                <a:ea typeface="宋体" panose="02010600030101010101" pitchFamily="2" charset="-122"/>
              </a:rPr>
              <a:t>BCD</a:t>
            </a:r>
            <a:r>
              <a:rPr lang="zh-CN" altLang="en-US" sz="2400" dirty="0">
                <a:latin typeface="宋体" panose="02010600030101010101" pitchFamily="2" charset="-122"/>
                <a:ea typeface="宋体" panose="02010600030101010101" pitchFamily="2" charset="-122"/>
              </a:rPr>
              <a:t>码要求逢十进一，因此只要产生进位，个位就</a:t>
            </a:r>
            <a:endParaRPr lang="en-US" altLang="zh-CN" sz="2400" dirty="0">
              <a:latin typeface="宋体" panose="02010600030101010101" pitchFamily="2" charset="-122"/>
              <a:ea typeface="宋体" panose="02010600030101010101" pitchFamily="2" charset="-122"/>
            </a:endParaRPr>
          </a:p>
          <a:p>
            <a:pPr>
              <a:lnSpc>
                <a:spcPct val="120000"/>
              </a:lnSpc>
              <a:buNone/>
            </a:pPr>
            <a:r>
              <a:rPr lang="zh-CN" altLang="en-US" sz="2400" dirty="0">
                <a:latin typeface="宋体" panose="02010600030101010101" pitchFamily="2" charset="-122"/>
                <a:ea typeface="宋体" panose="02010600030101010101" pitchFamily="2" charset="-122"/>
              </a:rPr>
              <a:t>会少</a:t>
            </a:r>
            <a:r>
              <a:rPr lang="en-US" altLang="zh-CN" sz="2400" dirty="0">
                <a:latin typeface="宋体" panose="02010600030101010101" pitchFamily="2" charset="-122"/>
                <a:ea typeface="宋体" panose="02010600030101010101" pitchFamily="2" charset="-122"/>
              </a:rPr>
              <a:t>6</a:t>
            </a:r>
            <a:r>
              <a:rPr lang="zh-CN" altLang="en-US" sz="2400" dirty="0">
                <a:latin typeface="宋体" panose="02010600030101010101" pitchFamily="2" charset="-122"/>
                <a:ea typeface="宋体" panose="02010600030101010101" pitchFamily="2" charset="-122"/>
              </a:rPr>
              <a:t>，这就要进行加</a:t>
            </a:r>
            <a:r>
              <a:rPr lang="en-US" altLang="zh-CN" sz="2400" dirty="0">
                <a:latin typeface="宋体" panose="02010600030101010101" pitchFamily="2" charset="-122"/>
                <a:ea typeface="宋体" panose="02010600030101010101" pitchFamily="2" charset="-122"/>
              </a:rPr>
              <a:t>6</a:t>
            </a:r>
            <a:r>
              <a:rPr lang="zh-CN" altLang="en-US" sz="2400" dirty="0">
                <a:latin typeface="宋体" panose="02010600030101010101" pitchFamily="2" charset="-122"/>
                <a:ea typeface="宋体" panose="02010600030101010101" pitchFamily="2" charset="-122"/>
              </a:rPr>
              <a:t>调正。</a:t>
            </a:r>
            <a:endParaRPr lang="zh-CN" altLang="en-US" sz="2400" dirty="0">
              <a:latin typeface="宋体" panose="02010600030101010101" pitchFamily="2" charset="-122"/>
              <a:ea typeface="宋体" panose="02010600030101010101" pitchFamily="2" charset="-122"/>
            </a:endParaRPr>
          </a:p>
          <a:p>
            <a:pPr>
              <a:buNone/>
            </a:pPr>
            <a:endParaRPr lang="zh-CN" altLang="en-US" dirty="0">
              <a:latin typeface="宋体" panose="02010600030101010101" pitchFamily="2" charset="-122"/>
              <a:ea typeface="宋体" panose="02010600030101010101" pitchFamily="2" charset="-122"/>
            </a:endParaRPr>
          </a:p>
        </p:txBody>
      </p:sp>
      <p:sp>
        <p:nvSpPr>
          <p:cNvPr id="84995" name="Text Box 3"/>
          <p:cNvSpPr txBox="1"/>
          <p:nvPr/>
        </p:nvSpPr>
        <p:spPr>
          <a:xfrm>
            <a:off x="4859338" y="2997200"/>
            <a:ext cx="3240087" cy="701675"/>
          </a:xfrm>
          <a:prstGeom prst="rect">
            <a:avLst/>
          </a:prstGeom>
          <a:noFill/>
          <a:ln w="9525">
            <a:noFill/>
          </a:ln>
        </p:spPr>
        <p:txBody>
          <a:bodyPr>
            <a:spAutoFit/>
          </a:bodyPr>
          <a:p>
            <a:pPr eaLnBrk="0" hangingPunct="0">
              <a:buFont typeface="Wingdings" panose="05000000000000000000" pitchFamily="2" charset="2"/>
            </a:pPr>
            <a:r>
              <a:rPr lang="zh-CN" altLang="en-US" sz="2000" b="1" dirty="0">
                <a:solidFill>
                  <a:srgbClr val="0000FF"/>
                </a:solidFill>
                <a:latin typeface="Times New Roman" panose="02020603050405020304" pitchFamily="18" charset="0"/>
                <a:ea typeface="宋体" panose="02010600030101010101" pitchFamily="2" charset="-122"/>
              </a:rPr>
              <a:t>这个</a:t>
            </a:r>
            <a:r>
              <a:rPr lang="en-US" altLang="zh-CN" sz="2000" b="1" dirty="0">
                <a:solidFill>
                  <a:srgbClr val="0000FF"/>
                </a:solidFill>
                <a:latin typeface="Times New Roman" panose="02020603050405020304" pitchFamily="18" charset="0"/>
                <a:ea typeface="宋体" panose="02010600030101010101" pitchFamily="2" charset="-122"/>
              </a:rPr>
              <a:t>1</a:t>
            </a:r>
            <a:r>
              <a:rPr lang="zh-CN" altLang="en-US" sz="2000" b="1" dirty="0">
                <a:solidFill>
                  <a:srgbClr val="0000FF"/>
                </a:solidFill>
                <a:latin typeface="Times New Roman" panose="02020603050405020304" pitchFamily="18" charset="0"/>
                <a:ea typeface="宋体" panose="02010600030101010101" pitchFamily="2" charset="-122"/>
              </a:rPr>
              <a:t>代表了</a:t>
            </a:r>
            <a:r>
              <a:rPr lang="en-US" altLang="zh-CN" sz="2000" b="1" dirty="0">
                <a:solidFill>
                  <a:srgbClr val="0000FF"/>
                </a:solidFill>
                <a:latin typeface="Times New Roman" panose="02020603050405020304" pitchFamily="18" charset="0"/>
                <a:ea typeface="宋体" panose="02010600030101010101" pitchFamily="2" charset="-122"/>
              </a:rPr>
              <a:t>16</a:t>
            </a:r>
            <a:r>
              <a:rPr lang="zh-CN" altLang="en-US" sz="2000" b="1" dirty="0">
                <a:solidFill>
                  <a:srgbClr val="0000FF"/>
                </a:solidFill>
                <a:latin typeface="Times New Roman" panose="02020603050405020304" pitchFamily="18" charset="0"/>
                <a:ea typeface="宋体" panose="02010600030101010101" pitchFamily="2" charset="-122"/>
              </a:rPr>
              <a:t>，而实际上仅应为</a:t>
            </a:r>
            <a:r>
              <a:rPr lang="en-US" altLang="zh-CN" sz="2000" b="1" dirty="0">
                <a:solidFill>
                  <a:srgbClr val="0000FF"/>
                </a:solidFill>
                <a:latin typeface="Times New Roman" panose="02020603050405020304" pitchFamily="18" charset="0"/>
                <a:ea typeface="宋体" panose="02010600030101010101" pitchFamily="2" charset="-122"/>
              </a:rPr>
              <a:t>10</a:t>
            </a:r>
            <a:r>
              <a:rPr lang="zh-CN" altLang="en-US" sz="2000" b="1" dirty="0">
                <a:solidFill>
                  <a:srgbClr val="0000FF"/>
                </a:solidFill>
                <a:latin typeface="Times New Roman" panose="02020603050405020304" pitchFamily="18" charset="0"/>
                <a:ea typeface="宋体" panose="02010600030101010101" pitchFamily="2" charset="-122"/>
              </a:rPr>
              <a:t>。 </a:t>
            </a:r>
            <a:endParaRPr lang="zh-CN" altLang="en-US" sz="2000" b="1" dirty="0">
              <a:solidFill>
                <a:srgbClr val="0000FF"/>
              </a:solidFill>
              <a:latin typeface="Times New Roman" panose="02020603050405020304" pitchFamily="18" charset="0"/>
              <a:ea typeface="宋体" panose="02010600030101010101" pitchFamily="2" charset="-122"/>
            </a:endParaRPr>
          </a:p>
        </p:txBody>
      </p:sp>
      <p:sp>
        <p:nvSpPr>
          <p:cNvPr id="84996" name="Line 4"/>
          <p:cNvSpPr/>
          <p:nvPr/>
        </p:nvSpPr>
        <p:spPr>
          <a:xfrm flipH="1" flipV="1">
            <a:off x="3419475" y="2781300"/>
            <a:ext cx="1439863" cy="576263"/>
          </a:xfrm>
          <a:prstGeom prst="line">
            <a:avLst/>
          </a:prstGeom>
          <a:ln w="12700" cap="flat" cmpd="sng">
            <a:solidFill>
              <a:schemeClr val="tx1"/>
            </a:solidFill>
            <a:prstDash val="solid"/>
            <a:headEnd type="none" w="med" len="med"/>
            <a:tailEnd type="triangle" w="med" len="lg"/>
          </a:ln>
        </p:spPr>
      </p:sp>
      <p:cxnSp>
        <p:nvCxnSpPr>
          <p:cNvPr id="84997" name="直接连接符 6"/>
          <p:cNvCxnSpPr/>
          <p:nvPr/>
        </p:nvCxnSpPr>
        <p:spPr>
          <a:xfrm>
            <a:off x="2627313" y="2420938"/>
            <a:ext cx="1944687" cy="0"/>
          </a:xfrm>
          <a:prstGeom prst="line">
            <a:avLst/>
          </a:prstGeom>
          <a:ln w="9525" cap="flat" cmpd="sng">
            <a:solidFill>
              <a:schemeClr val="tx1"/>
            </a:solidFill>
            <a:prstDash val="solid"/>
            <a:headEnd type="none" w="med" len="med"/>
            <a:tailEnd type="none" w="med" len="med"/>
          </a:ln>
        </p:spPr>
      </p:cxn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内容占位符 2"/>
          <p:cNvSpPr>
            <a:spLocks noGrp="1"/>
          </p:cNvSpPr>
          <p:nvPr>
            <p:ph idx="4294967295"/>
          </p:nvPr>
        </p:nvSpPr>
        <p:spPr>
          <a:xfrm>
            <a:off x="528955" y="1007110"/>
            <a:ext cx="8049895" cy="6515735"/>
          </a:xfrm>
        </p:spPr>
        <p:txBody>
          <a:bodyPr vert="horz" wrap="square" lIns="91440" tIns="45720" rIns="91440" bIns="45720" anchor="t" anchorCtr="0"/>
          <a:p>
            <a:pPr marL="0" indent="0">
              <a:lnSpc>
                <a:spcPct val="150000"/>
              </a:lnSpc>
              <a:buNone/>
            </a:pPr>
            <a:r>
              <a:rPr lang="zh-CN" altLang="en-US" sz="2000" dirty="0">
                <a:latin typeface="宋体" panose="02010600030101010101" pitchFamily="2" charset="-122"/>
                <a:ea typeface="宋体" panose="02010600030101010101" pitchFamily="2" charset="-122"/>
              </a:rPr>
              <a:t>实际上</a:t>
            </a:r>
            <a:r>
              <a:rPr lang="zh-CN" altLang="en-US" sz="2000" dirty="0">
                <a:solidFill>
                  <a:srgbClr val="FF0000"/>
                </a:solidFill>
                <a:latin typeface="宋体" panose="02010600030101010101" pitchFamily="2" charset="-122"/>
                <a:ea typeface="宋体" panose="02010600030101010101" pitchFamily="2" charset="-122"/>
              </a:rPr>
              <a:t>当低</a:t>
            </a:r>
            <a:r>
              <a:rPr lang="en-US" altLang="zh-CN" sz="2000" dirty="0">
                <a:solidFill>
                  <a:srgbClr val="FF0000"/>
                </a:solidFill>
                <a:latin typeface="宋体" panose="02010600030101010101" pitchFamily="2" charset="-122"/>
                <a:ea typeface="宋体" panose="02010600030101010101" pitchFamily="2" charset="-122"/>
              </a:rPr>
              <a:t>4</a:t>
            </a:r>
            <a:r>
              <a:rPr lang="zh-CN" altLang="en-US" sz="2000" dirty="0">
                <a:solidFill>
                  <a:srgbClr val="FF0000"/>
                </a:solidFill>
                <a:latin typeface="宋体" panose="02010600030101010101" pitchFamily="2" charset="-122"/>
                <a:ea typeface="宋体" panose="02010600030101010101" pitchFamily="2" charset="-122"/>
              </a:rPr>
              <a:t>位的结果</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9(</a:t>
            </a:r>
            <a:r>
              <a:rPr lang="zh-CN" altLang="en-US" sz="2000" dirty="0">
                <a:latin typeface="宋体" panose="02010600030101010101" pitchFamily="2" charset="-122"/>
                <a:ea typeface="宋体" panose="02010600030101010101" pitchFamily="2" charset="-122"/>
              </a:rPr>
              <a:t>即</a:t>
            </a:r>
            <a:r>
              <a:rPr lang="en-US" altLang="zh-CN" sz="2000" dirty="0">
                <a:latin typeface="宋体" panose="02010600030101010101" pitchFamily="2" charset="-122"/>
                <a:ea typeface="宋体" panose="02010600030101010101" pitchFamily="2" charset="-122"/>
              </a:rPr>
              <a:t>A</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F</a:t>
            </a:r>
            <a:r>
              <a:rPr lang="zh-CN" altLang="en-US" sz="2000" dirty="0">
                <a:latin typeface="宋体" panose="02010600030101010101" pitchFamily="2" charset="-122"/>
                <a:ea typeface="宋体" panose="02010600030101010101" pitchFamily="2" charset="-122"/>
              </a:rPr>
              <a:t>之间</a:t>
            </a: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时，也应进行加</a:t>
            </a:r>
            <a:r>
              <a:rPr lang="en-US" altLang="zh-CN" sz="2000" dirty="0">
                <a:latin typeface="宋体" panose="02010600030101010101" pitchFamily="2" charset="-122"/>
                <a:ea typeface="宋体" panose="02010600030101010101" pitchFamily="2" charset="-122"/>
              </a:rPr>
              <a:t>6</a:t>
            </a:r>
            <a:r>
              <a:rPr lang="zh-CN" altLang="en-US" sz="2000" dirty="0">
                <a:latin typeface="宋体" panose="02010600030101010101" pitchFamily="2" charset="-122"/>
                <a:ea typeface="宋体" panose="02010600030101010101" pitchFamily="2" charset="-122"/>
              </a:rPr>
              <a:t>调整 (原因是逢十没有进位，故用加6的方法强行产生进位) 。</a:t>
            </a:r>
            <a:endParaRPr lang="zh-CN" altLang="en-US" sz="2000" dirty="0">
              <a:latin typeface="宋体" panose="02010600030101010101" pitchFamily="2" charset="-122"/>
              <a:ea typeface="宋体" panose="02010600030101010101" pitchFamily="2" charset="-122"/>
            </a:endParaRPr>
          </a:p>
          <a:p>
            <a:pPr>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sym typeface="+mn-ea"/>
              </a:rPr>
              <a:t>例</a:t>
            </a:r>
            <a:r>
              <a:rPr lang="en-US" altLang="zh-CN" sz="2000" dirty="0">
                <a:latin typeface="宋体" panose="02010600030101010101" pitchFamily="2" charset="-122"/>
                <a:ea typeface="宋体" panose="02010600030101010101" pitchFamily="2" charset="-122"/>
                <a:sym typeface="+mn-ea"/>
              </a:rPr>
              <a:t>1</a:t>
            </a:r>
            <a:r>
              <a:rPr lang="zh-CN" altLang="en-US" sz="2000" dirty="0">
                <a:latin typeface="宋体" panose="02010600030101010101" pitchFamily="2" charset="-122"/>
                <a:ea typeface="宋体" panose="02010600030101010101" pitchFamily="2" charset="-122"/>
                <a:sym typeface="+mn-ea"/>
              </a:rPr>
              <a:t>：</a:t>
            </a:r>
            <a:endParaRPr lang="en-US" altLang="zh-CN" sz="2000" dirty="0">
              <a:latin typeface="宋体" panose="02010600030101010101" pitchFamily="2" charset="-122"/>
              <a:ea typeface="宋体" panose="02010600030101010101" pitchFamily="2" charset="-122"/>
            </a:endParaRPr>
          </a:p>
          <a:p>
            <a:pPr>
              <a:lnSpc>
                <a:spcPct val="150000"/>
              </a:lnSpc>
              <a:buNone/>
            </a:pPr>
            <a:r>
              <a:rPr lang="en-US" altLang="zh-CN" sz="2000" dirty="0">
                <a:latin typeface="宋体" panose="02010600030101010101" pitchFamily="2" charset="-122"/>
                <a:ea typeface="宋体" panose="02010600030101010101" pitchFamily="2" charset="-122"/>
                <a:sym typeface="+mn-ea"/>
              </a:rPr>
              <a:t>  </a:t>
            </a:r>
            <a:r>
              <a:rPr lang="zh-CN" altLang="en-US" sz="2000" dirty="0">
                <a:latin typeface="宋体" panose="02010600030101010101" pitchFamily="2" charset="-122"/>
                <a:ea typeface="宋体" panose="02010600030101010101" pitchFamily="2" charset="-122"/>
                <a:sym typeface="+mn-ea"/>
              </a:rPr>
              <a:t>用非压缩</a:t>
            </a:r>
            <a:r>
              <a:rPr lang="en-US" altLang="zh-CN" sz="2000" dirty="0">
                <a:latin typeface="宋体" panose="02010600030101010101" pitchFamily="2" charset="-122"/>
                <a:ea typeface="宋体" panose="02010600030101010101" pitchFamily="2" charset="-122"/>
                <a:sym typeface="+mn-ea"/>
              </a:rPr>
              <a:t>BCD</a:t>
            </a:r>
            <a:r>
              <a:rPr lang="zh-CN" altLang="en-US" sz="2000" dirty="0">
                <a:latin typeface="宋体" panose="02010600030101010101" pitchFamily="2" charset="-122"/>
                <a:ea typeface="宋体" panose="02010600030101010101" pitchFamily="2" charset="-122"/>
                <a:sym typeface="+mn-ea"/>
              </a:rPr>
              <a:t>码计算</a:t>
            </a:r>
            <a:r>
              <a:rPr lang="en-US" altLang="zh-CN" sz="2000" dirty="0">
                <a:latin typeface="宋体" panose="02010600030101010101" pitchFamily="2" charset="-122"/>
                <a:ea typeface="宋体" panose="02010600030101010101" pitchFamily="2" charset="-122"/>
                <a:sym typeface="+mn-ea"/>
              </a:rPr>
              <a:t>9+4=</a:t>
            </a:r>
            <a:r>
              <a:rPr lang="zh-CN" altLang="en-US" sz="2000" dirty="0">
                <a:latin typeface="宋体" panose="02010600030101010101" pitchFamily="2" charset="-122"/>
                <a:ea typeface="宋体" panose="02010600030101010101" pitchFamily="2" charset="-122"/>
                <a:sym typeface="+mn-ea"/>
              </a:rPr>
              <a:t>？</a:t>
            </a:r>
            <a:endParaRPr lang="en-US" altLang="zh-CN" sz="2000" dirty="0">
              <a:latin typeface="宋体" panose="02010600030101010101" pitchFamily="2" charset="-122"/>
              <a:ea typeface="宋体" panose="02010600030101010101" pitchFamily="2" charset="-122"/>
            </a:endParaRPr>
          </a:p>
          <a:p>
            <a:pPr>
              <a:lnSpc>
                <a:spcPct val="150000"/>
              </a:lnSpc>
              <a:buNone/>
            </a:pPr>
            <a:r>
              <a:rPr lang="en-US" altLang="zh-CN" sz="2000" dirty="0">
                <a:latin typeface="宋体" panose="02010600030101010101" pitchFamily="2" charset="-122"/>
                <a:ea typeface="宋体" panose="02010600030101010101" pitchFamily="2" charset="-122"/>
                <a:sym typeface="+mn-ea"/>
              </a:rPr>
              <a:t>  MOV AL</a:t>
            </a:r>
            <a:r>
              <a:rPr lang="zh-CN" altLang="en-US" sz="2000" dirty="0">
                <a:latin typeface="宋体" panose="02010600030101010101" pitchFamily="2" charset="-122"/>
                <a:ea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sym typeface="+mn-ea"/>
              </a:rPr>
              <a:t>09H   </a:t>
            </a:r>
            <a:r>
              <a:rPr lang="zh-CN" altLang="en-US" sz="2000" dirty="0">
                <a:latin typeface="宋体" panose="02010600030101010101" pitchFamily="2" charset="-122"/>
                <a:ea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sym typeface="+mn-ea"/>
              </a:rPr>
              <a:t>BCD</a:t>
            </a:r>
            <a:r>
              <a:rPr lang="zh-CN" altLang="en-US" sz="2000" dirty="0">
                <a:latin typeface="宋体" panose="02010600030101010101" pitchFamily="2" charset="-122"/>
                <a:ea typeface="宋体" panose="02010600030101010101" pitchFamily="2" charset="-122"/>
                <a:sym typeface="+mn-ea"/>
              </a:rPr>
              <a:t>数</a:t>
            </a:r>
            <a:r>
              <a:rPr lang="en-US" altLang="zh-CN" sz="2000" dirty="0">
                <a:latin typeface="宋体" panose="02010600030101010101" pitchFamily="2" charset="-122"/>
                <a:ea typeface="宋体" panose="02010600030101010101" pitchFamily="2" charset="-122"/>
                <a:sym typeface="+mn-ea"/>
              </a:rPr>
              <a:t>9</a:t>
            </a:r>
            <a:endParaRPr lang="en-US" altLang="zh-CN" sz="2000" dirty="0">
              <a:latin typeface="宋体" panose="02010600030101010101" pitchFamily="2" charset="-122"/>
              <a:ea typeface="宋体" panose="02010600030101010101" pitchFamily="2" charset="-122"/>
            </a:endParaRPr>
          </a:p>
          <a:p>
            <a:pPr>
              <a:lnSpc>
                <a:spcPct val="150000"/>
              </a:lnSpc>
              <a:buNone/>
            </a:pPr>
            <a:r>
              <a:rPr lang="en-US" altLang="zh-CN" sz="2000" dirty="0">
                <a:latin typeface="宋体" panose="02010600030101010101" pitchFamily="2" charset="-122"/>
                <a:ea typeface="宋体" panose="02010600030101010101" pitchFamily="2" charset="-122"/>
                <a:sym typeface="+mn-ea"/>
              </a:rPr>
              <a:t>  MOV BL</a:t>
            </a:r>
            <a:r>
              <a:rPr lang="zh-CN" altLang="en-US" sz="2000" dirty="0">
                <a:latin typeface="宋体" panose="02010600030101010101" pitchFamily="2" charset="-122"/>
                <a:ea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sym typeface="+mn-ea"/>
              </a:rPr>
              <a:t>04H</a:t>
            </a:r>
            <a:r>
              <a:rPr lang="zh-CN" altLang="en-US" sz="2000" dirty="0">
                <a:latin typeface="宋体" panose="02010600030101010101" pitchFamily="2" charset="-122"/>
                <a:ea typeface="宋体" panose="02010600030101010101" pitchFamily="2" charset="-122"/>
                <a:sym typeface="+mn-ea"/>
              </a:rPr>
              <a:t>   ；</a:t>
            </a:r>
            <a:r>
              <a:rPr lang="en-US" altLang="zh-CN" sz="2000" dirty="0">
                <a:latin typeface="宋体" panose="02010600030101010101" pitchFamily="2" charset="-122"/>
                <a:ea typeface="宋体" panose="02010600030101010101" pitchFamily="2" charset="-122"/>
                <a:sym typeface="+mn-ea"/>
              </a:rPr>
              <a:t>BCD</a:t>
            </a:r>
            <a:r>
              <a:rPr lang="zh-CN" altLang="en-US" sz="2000" dirty="0">
                <a:latin typeface="宋体" panose="02010600030101010101" pitchFamily="2" charset="-122"/>
                <a:ea typeface="宋体" panose="02010600030101010101" pitchFamily="2" charset="-122"/>
                <a:sym typeface="+mn-ea"/>
              </a:rPr>
              <a:t>数</a:t>
            </a:r>
            <a:r>
              <a:rPr lang="en-US" altLang="zh-CN" sz="2000" dirty="0">
                <a:latin typeface="宋体" panose="02010600030101010101" pitchFamily="2" charset="-122"/>
                <a:ea typeface="宋体" panose="02010600030101010101" pitchFamily="2" charset="-122"/>
                <a:sym typeface="+mn-ea"/>
              </a:rPr>
              <a:t>4</a:t>
            </a:r>
            <a:endParaRPr lang="en-US" altLang="zh-CN" sz="2000" dirty="0">
              <a:latin typeface="宋体" panose="02010600030101010101" pitchFamily="2" charset="-122"/>
              <a:ea typeface="宋体" panose="02010600030101010101" pitchFamily="2" charset="-122"/>
            </a:endParaRPr>
          </a:p>
          <a:p>
            <a:pPr>
              <a:lnSpc>
                <a:spcPct val="150000"/>
              </a:lnSpc>
              <a:buNone/>
            </a:pPr>
            <a:r>
              <a:rPr lang="en-US" altLang="zh-CN" sz="2000" dirty="0">
                <a:latin typeface="宋体" panose="02010600030101010101" pitchFamily="2" charset="-122"/>
                <a:ea typeface="宋体" panose="02010600030101010101" pitchFamily="2" charset="-122"/>
                <a:sym typeface="+mn-ea"/>
              </a:rPr>
              <a:t>  ADD AL</a:t>
            </a:r>
            <a:r>
              <a:rPr lang="zh-CN" altLang="en-US" sz="2000" dirty="0">
                <a:latin typeface="宋体" panose="02010600030101010101" pitchFamily="2" charset="-122"/>
                <a:ea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sym typeface="+mn-ea"/>
              </a:rPr>
              <a:t>BL    </a:t>
            </a:r>
            <a:r>
              <a:rPr lang="zh-CN" altLang="en-US" sz="2000" dirty="0">
                <a:latin typeface="宋体" panose="02010600030101010101" pitchFamily="2" charset="-122"/>
                <a:ea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sym typeface="+mn-ea"/>
              </a:rPr>
              <a:t>AL</a:t>
            </a:r>
            <a:r>
              <a:rPr lang="zh-CN" altLang="en-US" sz="2000" dirty="0">
                <a:latin typeface="宋体" panose="02010600030101010101" pitchFamily="2" charset="-122"/>
                <a:ea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sym typeface="+mn-ea"/>
              </a:rPr>
              <a:t>=09H+04H=0DH</a:t>
            </a:r>
            <a:endParaRPr lang="en-US" altLang="zh-CN" sz="2000" dirty="0">
              <a:latin typeface="宋体" panose="02010600030101010101" pitchFamily="2" charset="-122"/>
              <a:ea typeface="宋体" panose="02010600030101010101" pitchFamily="2" charset="-122"/>
            </a:endParaRPr>
          </a:p>
          <a:p>
            <a:pPr>
              <a:lnSpc>
                <a:spcPct val="150000"/>
              </a:lnSpc>
              <a:buNone/>
            </a:pPr>
            <a:r>
              <a:rPr lang="en-US" altLang="zh-CN" sz="2000" dirty="0">
                <a:latin typeface="宋体" panose="02010600030101010101" pitchFamily="2" charset="-122"/>
                <a:ea typeface="宋体" panose="02010600030101010101" pitchFamily="2" charset="-122"/>
                <a:sym typeface="+mn-ea"/>
              </a:rPr>
              <a:t>  AAA           </a:t>
            </a:r>
            <a:r>
              <a:rPr lang="zh-CN" altLang="en-US" sz="2000" dirty="0">
                <a:latin typeface="宋体" panose="02010600030101010101" pitchFamily="2" charset="-122"/>
                <a:ea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sym typeface="+mn-ea"/>
              </a:rPr>
              <a:t>AL</a:t>
            </a:r>
            <a:r>
              <a:rPr lang="zh-CN" altLang="en-US" sz="2000" dirty="0">
                <a:latin typeface="宋体" panose="02010600030101010101" pitchFamily="2" charset="-122"/>
                <a:ea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sym typeface="+mn-ea"/>
              </a:rPr>
              <a:t>=0DH+06H=03H</a:t>
            </a:r>
            <a:r>
              <a:rPr lang="zh-CN" altLang="en-US" sz="2000" dirty="0">
                <a:latin typeface="宋体" panose="02010600030101010101" pitchFamily="2" charset="-122"/>
                <a:ea typeface="宋体" panose="02010600030101010101" pitchFamily="2" charset="-122"/>
                <a:sym typeface="+mn-ea"/>
              </a:rPr>
              <a:t>（高</a:t>
            </a:r>
            <a:r>
              <a:rPr lang="en-US" altLang="zh-CN" sz="2000" dirty="0">
                <a:latin typeface="宋体" panose="02010600030101010101" pitchFamily="2" charset="-122"/>
                <a:ea typeface="宋体" panose="02010600030101010101" pitchFamily="2" charset="-122"/>
                <a:sym typeface="+mn-ea"/>
              </a:rPr>
              <a:t>4</a:t>
            </a:r>
            <a:r>
              <a:rPr lang="zh-CN" altLang="en-US" sz="2000" dirty="0">
                <a:latin typeface="宋体" panose="02010600030101010101" pitchFamily="2" charset="-122"/>
                <a:ea typeface="宋体" panose="02010600030101010101" pitchFamily="2" charset="-122"/>
                <a:sym typeface="+mn-ea"/>
              </a:rPr>
              <a:t>位清零）</a:t>
            </a:r>
            <a:endParaRPr lang="zh-CN" altLang="en-US" sz="2000" dirty="0">
              <a:latin typeface="宋体" panose="02010600030101010101" pitchFamily="2" charset="-122"/>
              <a:ea typeface="宋体" panose="02010600030101010101" pitchFamily="2" charset="-122"/>
            </a:endParaRPr>
          </a:p>
          <a:p>
            <a:pPr>
              <a:lnSpc>
                <a:spcPct val="150000"/>
              </a:lnSpc>
              <a:buNone/>
            </a:pPr>
            <a:r>
              <a:rPr lang="en-US" altLang="zh-CN" sz="2000" dirty="0">
                <a:latin typeface="宋体" panose="02010600030101010101" pitchFamily="2" charset="-122"/>
                <a:ea typeface="宋体" panose="02010600030101010101" pitchFamily="2" charset="-122"/>
                <a:sym typeface="+mn-ea"/>
              </a:rPr>
              <a:t>                </a:t>
            </a:r>
            <a:r>
              <a:rPr lang="zh-CN" altLang="en-US" sz="2000" dirty="0">
                <a:latin typeface="宋体" panose="02010600030101010101" pitchFamily="2" charset="-122"/>
                <a:ea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sym typeface="+mn-ea"/>
              </a:rPr>
              <a:t>AH</a:t>
            </a:r>
            <a:r>
              <a:rPr lang="zh-CN" altLang="en-US" sz="2000" dirty="0">
                <a:latin typeface="宋体" panose="02010600030101010101" pitchFamily="2" charset="-122"/>
                <a:ea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sym typeface="+mn-ea"/>
              </a:rPr>
              <a:t>=1</a:t>
            </a:r>
            <a:endParaRPr lang="en-US" altLang="zh-CN" sz="2000" dirty="0">
              <a:latin typeface="宋体" panose="02010600030101010101" pitchFamily="2" charset="-122"/>
              <a:ea typeface="宋体" panose="02010600030101010101" pitchFamily="2" charset="-122"/>
            </a:endParaRPr>
          </a:p>
          <a:p>
            <a:pPr>
              <a:lnSpc>
                <a:spcPct val="150000"/>
              </a:lnSpc>
              <a:buNone/>
            </a:pPr>
            <a:r>
              <a:rPr lang="en-US" altLang="zh-CN" sz="2000" dirty="0">
                <a:latin typeface="宋体" panose="02010600030101010101" pitchFamily="2" charset="-122"/>
                <a:ea typeface="宋体" panose="02010600030101010101" pitchFamily="2" charset="-122"/>
                <a:sym typeface="+mn-ea"/>
              </a:rPr>
              <a:t>                </a:t>
            </a:r>
            <a:r>
              <a:rPr lang="zh-CN" altLang="en-US" sz="2000" dirty="0">
                <a:latin typeface="宋体" panose="02010600030101010101" pitchFamily="2" charset="-122"/>
                <a:ea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sym typeface="+mn-ea"/>
              </a:rPr>
              <a:t>A</a:t>
            </a:r>
            <a:r>
              <a:rPr lang="zh-CN" altLang="en-US" sz="2000" dirty="0">
                <a:latin typeface="宋体" panose="02010600030101010101" pitchFamily="2" charset="-122"/>
                <a:ea typeface="宋体" panose="02010600030101010101" pitchFamily="2" charset="-122"/>
                <a:sym typeface="+mn-ea"/>
              </a:rPr>
              <a:t>F）</a:t>
            </a:r>
            <a:r>
              <a:rPr lang="en-US" altLang="zh-CN" sz="2000" dirty="0">
                <a:latin typeface="宋体" panose="02010600030101010101" pitchFamily="2" charset="-122"/>
                <a:ea typeface="宋体" panose="02010600030101010101" pitchFamily="2" charset="-122"/>
                <a:sym typeface="+mn-ea"/>
              </a:rPr>
              <a:t>=1</a:t>
            </a:r>
            <a:r>
              <a:rPr lang="zh-CN" altLang="en-US" sz="2000" dirty="0">
                <a:latin typeface="宋体" panose="02010600030101010101" pitchFamily="2" charset="-122"/>
                <a:ea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sym typeface="+mn-ea"/>
              </a:rPr>
              <a:t>CF</a:t>
            </a:r>
            <a:r>
              <a:rPr lang="zh-CN" altLang="en-US" sz="2000" dirty="0">
                <a:latin typeface="宋体" panose="02010600030101010101" pitchFamily="2" charset="-122"/>
                <a:ea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sym typeface="+mn-ea"/>
              </a:rPr>
              <a:t>=1</a:t>
            </a:r>
            <a:endParaRPr lang="zh-CN" altLang="en-US" sz="2000" dirty="0">
              <a:latin typeface="宋体" panose="02010600030101010101" pitchFamily="2" charset="-122"/>
              <a:ea typeface="宋体" panose="02010600030101010101" pitchFamily="2" charset="-122"/>
            </a:endParaRPr>
          </a:p>
          <a:p>
            <a:pPr marL="0" indent="0">
              <a:lnSpc>
                <a:spcPct val="150000"/>
              </a:lnSpc>
              <a:buNone/>
            </a:pPr>
            <a:endParaRPr lang="en-US" altLang="zh-CN" sz="2000" dirty="0">
              <a:latin typeface="宋体" panose="02010600030101010101" pitchFamily="2" charset="-122"/>
              <a:ea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内容占位符 2"/>
          <p:cNvSpPr>
            <a:spLocks noGrp="1"/>
          </p:cNvSpPr>
          <p:nvPr>
            <p:ph idx="4294967295"/>
          </p:nvPr>
        </p:nvSpPr>
        <p:spPr>
          <a:xfrm>
            <a:off x="323850" y="990600"/>
            <a:ext cx="8515350" cy="5410200"/>
          </a:xfrm>
        </p:spPr>
        <p:txBody>
          <a:bodyPr vert="horz" wrap="square" lIns="91440" tIns="45720" rIns="91440" bIns="45720" anchor="t" anchorCtr="0"/>
          <a:p>
            <a:pPr marL="0" indent="0">
              <a:buNone/>
            </a:pP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3</a:t>
            </a:r>
            <a:r>
              <a:rPr lang="zh-CN" altLang="en-US" b="0" dirty="0">
                <a:latin typeface="宋体" panose="02010600030101010101" pitchFamily="2" charset="-122"/>
                <a:ea typeface="宋体" panose="02010600030101010101" pitchFamily="2" charset="-122"/>
              </a:rPr>
              <a:t>）压缩</a:t>
            </a:r>
            <a:r>
              <a:rPr lang="en-US" altLang="zh-CN" b="0" dirty="0">
                <a:latin typeface="宋体" panose="02010600030101010101" pitchFamily="2" charset="-122"/>
                <a:ea typeface="宋体" panose="02010600030101010101" pitchFamily="2" charset="-122"/>
              </a:rPr>
              <a:t>BCD</a:t>
            </a:r>
            <a:r>
              <a:rPr lang="zh-CN" altLang="en-US" b="0" dirty="0">
                <a:latin typeface="宋体" panose="02010600030101010101" pitchFamily="2" charset="-122"/>
                <a:ea typeface="宋体" panose="02010600030101010101" pitchFamily="2" charset="-122"/>
              </a:rPr>
              <a:t>码减法十进制调整指令</a:t>
            </a:r>
            <a:r>
              <a:rPr lang="en-US" altLang="zh-CN" b="0" dirty="0">
                <a:latin typeface="宋体" panose="02010600030101010101" pitchFamily="2" charset="-122"/>
                <a:ea typeface="宋体" panose="02010600030101010101" pitchFamily="2" charset="-122"/>
              </a:rPr>
              <a:t>DAS</a:t>
            </a:r>
            <a:endParaRPr lang="en-US" altLang="zh-CN" b="0" dirty="0">
              <a:latin typeface="宋体" panose="02010600030101010101" pitchFamily="2" charset="-122"/>
              <a:ea typeface="宋体" panose="02010600030101010101" pitchFamily="2" charset="-122"/>
            </a:endParaRPr>
          </a:p>
          <a:p>
            <a:pPr marL="0" indent="0">
              <a:lnSpc>
                <a:spcPct val="150000"/>
              </a:lnSpc>
              <a:buNone/>
            </a:pPr>
            <a:r>
              <a:rPr lang="en-US" altLang="zh-CN" sz="2400" b="0" dirty="0">
                <a:latin typeface="宋体" panose="02010600030101010101" pitchFamily="2" charset="-122"/>
                <a:ea typeface="宋体" panose="02010600030101010101" pitchFamily="2" charset="-122"/>
              </a:rPr>
              <a:t>DAS</a:t>
            </a:r>
            <a:r>
              <a:rPr lang="zh-CN" altLang="en-US" sz="2400" b="0" dirty="0">
                <a:latin typeface="宋体" panose="02010600030101010101" pitchFamily="2" charset="-122"/>
                <a:ea typeface="宋体" panose="02010600030101010101" pitchFamily="2" charset="-122"/>
              </a:rPr>
              <a:t>用于对两个压缩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码相减后的结果（存入</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）进行调整，产生正确的压缩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码。对标志位的影响与</a:t>
            </a:r>
            <a:r>
              <a:rPr lang="en-US" altLang="zh-CN" sz="2400" b="0" dirty="0">
                <a:latin typeface="宋体" panose="02010600030101010101" pitchFamily="2" charset="-122"/>
                <a:ea typeface="宋体" panose="02010600030101010101" pitchFamily="2" charset="-122"/>
              </a:rPr>
              <a:t>DAA</a:t>
            </a:r>
            <a:r>
              <a:rPr lang="zh-CN" altLang="en-US" sz="2400" b="0" dirty="0">
                <a:latin typeface="宋体" panose="02010600030101010101" pitchFamily="2" charset="-122"/>
                <a:ea typeface="宋体" panose="02010600030101010101" pitchFamily="2" charset="-122"/>
              </a:rPr>
              <a:t>指令相同。调整方法如下：</a:t>
            </a:r>
            <a:endParaRPr lang="en-US" altLang="zh-CN" sz="2400" b="0" dirty="0">
              <a:latin typeface="宋体" panose="02010600030101010101" pitchFamily="2" charset="-122"/>
              <a:ea typeface="宋体" panose="02010600030101010101" pitchFamily="2" charset="-122"/>
            </a:endParaRPr>
          </a:p>
          <a:p>
            <a:pPr marL="0" indent="0">
              <a:lnSpc>
                <a:spcPct val="150000"/>
              </a:lnSpc>
              <a:buFont typeface="Wingdings" panose="05000000000000000000" pitchFamily="2" charset="2"/>
              <a:buChar char="l"/>
            </a:pPr>
            <a:r>
              <a:rPr lang="zh-CN" altLang="en-US" sz="2400" b="0" dirty="0">
                <a:latin typeface="宋体" panose="02010600030101010101" pitchFamily="2" charset="-122"/>
                <a:ea typeface="宋体" panose="02010600030101010101" pitchFamily="2" charset="-122"/>
              </a:rPr>
              <a:t>若（</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）中低</a:t>
            </a:r>
            <a:r>
              <a:rPr lang="en-US" altLang="zh-CN" sz="2400" b="0" dirty="0">
                <a:latin typeface="宋体" panose="02010600030101010101" pitchFamily="2" charset="-122"/>
                <a:ea typeface="宋体" panose="02010600030101010101" pitchFamily="2" charset="-122"/>
              </a:rPr>
              <a:t>4</a:t>
            </a:r>
            <a:r>
              <a:rPr lang="zh-CN" altLang="en-US" sz="2400" b="0" dirty="0">
                <a:latin typeface="宋体" panose="02010600030101010101" pitchFamily="2" charset="-122"/>
                <a:ea typeface="宋体" panose="02010600030101010101" pitchFamily="2" charset="-122"/>
              </a:rPr>
              <a:t>位</a:t>
            </a:r>
            <a:r>
              <a:rPr lang="en-US" altLang="zh-CN" sz="2400" b="0" dirty="0">
                <a:latin typeface="宋体" panose="02010600030101010101" pitchFamily="2" charset="-122"/>
                <a:ea typeface="宋体" panose="02010600030101010101" pitchFamily="2" charset="-122"/>
              </a:rPr>
              <a:t>&gt;9</a:t>
            </a:r>
            <a:r>
              <a:rPr lang="zh-CN" altLang="en-US" sz="2400" b="0" dirty="0">
                <a:latin typeface="宋体" panose="02010600030101010101" pitchFamily="2" charset="-122"/>
                <a:ea typeface="宋体" panose="02010600030101010101" pitchFamily="2" charset="-122"/>
              </a:rPr>
              <a:t>或</a:t>
            </a:r>
            <a:r>
              <a:rPr lang="en-US" altLang="zh-CN" sz="2400" b="0" dirty="0">
                <a:latin typeface="宋体" panose="02010600030101010101" pitchFamily="2" charset="-122"/>
                <a:ea typeface="宋体" panose="02010600030101010101" pitchFamily="2" charset="-122"/>
              </a:rPr>
              <a:t>AF=1</a:t>
            </a:r>
            <a:r>
              <a:rPr lang="zh-CN" altLang="en-US" sz="2400" b="0" dirty="0">
                <a:latin typeface="宋体" panose="02010600030101010101" pitchFamily="2" charset="-122"/>
                <a:ea typeface="宋体" panose="02010600030101010101" pitchFamily="2" charset="-122"/>
              </a:rPr>
              <a:t>，则（</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-06H</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AF=1</a:t>
            </a:r>
            <a:endParaRPr lang="en-US" altLang="zh-CN" sz="2400" b="0" dirty="0">
              <a:latin typeface="宋体" panose="02010600030101010101" pitchFamily="2" charset="-122"/>
              <a:ea typeface="宋体" panose="02010600030101010101" pitchFamily="2" charset="-122"/>
            </a:endParaRPr>
          </a:p>
          <a:p>
            <a:pPr marL="0" indent="0">
              <a:lnSpc>
                <a:spcPct val="150000"/>
              </a:lnSpc>
              <a:buFont typeface="Wingdings" panose="05000000000000000000" pitchFamily="2" charset="2"/>
              <a:buChar char="l"/>
            </a:pPr>
            <a:r>
              <a:rPr lang="zh-CN" altLang="en-US" sz="2400" b="0" dirty="0">
                <a:latin typeface="宋体" panose="02010600030101010101" pitchFamily="2" charset="-122"/>
                <a:ea typeface="宋体" panose="02010600030101010101" pitchFamily="2" charset="-122"/>
              </a:rPr>
              <a:t>若（</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）中高</a:t>
            </a:r>
            <a:r>
              <a:rPr lang="en-US" altLang="zh-CN" sz="2400" b="0" dirty="0">
                <a:latin typeface="宋体" panose="02010600030101010101" pitchFamily="2" charset="-122"/>
                <a:ea typeface="宋体" panose="02010600030101010101" pitchFamily="2" charset="-122"/>
              </a:rPr>
              <a:t>4</a:t>
            </a:r>
            <a:r>
              <a:rPr lang="zh-CN" altLang="en-US" sz="2400" b="0" dirty="0">
                <a:latin typeface="宋体" panose="02010600030101010101" pitchFamily="2" charset="-122"/>
                <a:ea typeface="宋体" panose="02010600030101010101" pitchFamily="2" charset="-122"/>
              </a:rPr>
              <a:t>位</a:t>
            </a:r>
            <a:r>
              <a:rPr lang="en-US" altLang="zh-CN" sz="2400" b="0" dirty="0">
                <a:latin typeface="宋体" panose="02010600030101010101" pitchFamily="2" charset="-122"/>
                <a:ea typeface="宋体" panose="02010600030101010101" pitchFamily="2" charset="-122"/>
              </a:rPr>
              <a:t>&gt;9</a:t>
            </a:r>
            <a:r>
              <a:rPr lang="zh-CN" altLang="en-US" sz="2400" b="0" dirty="0">
                <a:latin typeface="宋体" panose="02010600030101010101" pitchFamily="2" charset="-122"/>
                <a:ea typeface="宋体" panose="02010600030101010101" pitchFamily="2" charset="-122"/>
              </a:rPr>
              <a:t>或</a:t>
            </a:r>
            <a:r>
              <a:rPr lang="en-US" altLang="zh-CN" sz="2400" b="0" dirty="0">
                <a:latin typeface="宋体" panose="02010600030101010101" pitchFamily="2" charset="-122"/>
                <a:ea typeface="宋体" panose="02010600030101010101" pitchFamily="2" charset="-122"/>
              </a:rPr>
              <a:t>CF=1</a:t>
            </a:r>
            <a:r>
              <a:rPr lang="zh-CN" altLang="en-US" sz="2400" b="0" dirty="0">
                <a:latin typeface="宋体" panose="02010600030101010101" pitchFamily="2" charset="-122"/>
                <a:ea typeface="宋体" panose="02010600030101010101" pitchFamily="2" charset="-122"/>
              </a:rPr>
              <a:t>，则（</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-60H</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CF=1</a:t>
            </a:r>
            <a:endParaRPr lang="zh-CN" altLang="en-US" sz="2400" b="0" dirty="0">
              <a:latin typeface="宋体" panose="02010600030101010101" pitchFamily="2" charset="-122"/>
              <a:ea typeface="宋体" panose="02010600030101010101" pitchFamily="2"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28040" y="1196975"/>
            <a:ext cx="6847840" cy="3369945"/>
          </a:xfrm>
          <a:prstGeom prst="rect">
            <a:avLst/>
          </a:prstGeom>
          <a:noFill/>
        </p:spPr>
        <p:txBody>
          <a:bodyPr wrap="square" rtlCol="0" anchor="t">
            <a:noAutofit/>
          </a:bodyPr>
          <a:p>
            <a:r>
              <a:rPr lang="zh-CN" altLang="en-US" sz="2800">
                <a:latin typeface="宋体" panose="02010600030101010101" pitchFamily="2" charset="-122"/>
                <a:ea typeface="宋体" panose="02010600030101010101" pitchFamily="2" charset="-122"/>
                <a:cs typeface="宋体" panose="02010600030101010101" pitchFamily="2" charset="-122"/>
              </a:rPr>
              <a:t>例：压缩</a:t>
            </a:r>
            <a:r>
              <a:rPr lang="en-US" altLang="zh-CN" sz="2800">
                <a:latin typeface="宋体" panose="02010600030101010101" pitchFamily="2" charset="-122"/>
                <a:ea typeface="宋体" panose="02010600030101010101" pitchFamily="2" charset="-122"/>
                <a:cs typeface="宋体" panose="02010600030101010101" pitchFamily="2" charset="-122"/>
              </a:rPr>
              <a:t>BCD</a:t>
            </a:r>
            <a:r>
              <a:rPr lang="zh-CN" altLang="en-US" sz="2800">
                <a:latin typeface="宋体" panose="02010600030101010101" pitchFamily="2" charset="-122"/>
                <a:ea typeface="宋体" panose="02010600030101010101" pitchFamily="2" charset="-122"/>
                <a:cs typeface="宋体" panose="02010600030101010101" pitchFamily="2" charset="-122"/>
              </a:rPr>
              <a:t>码十进制减法调整</a:t>
            </a:r>
            <a:endParaRPr lang="zh-CN" altLang="en-US" sz="2800">
              <a:latin typeface="宋体" panose="02010600030101010101" pitchFamily="2" charset="-122"/>
              <a:ea typeface="宋体" panose="02010600030101010101" pitchFamily="2" charset="-122"/>
              <a:cs typeface="宋体" panose="02010600030101010101" pitchFamily="2" charset="-122"/>
            </a:endParaRPr>
          </a:p>
          <a:p>
            <a:r>
              <a:rPr lang="en-US" altLang="zh-CN" sz="2800">
                <a:latin typeface="宋体" panose="02010600030101010101" pitchFamily="2" charset="-122"/>
                <a:ea typeface="宋体" panose="02010600030101010101" pitchFamily="2" charset="-122"/>
                <a:cs typeface="宋体" panose="02010600030101010101" pitchFamily="2" charset="-122"/>
              </a:rPr>
              <a:t>mov al,85h</a:t>
            </a:r>
            <a:endParaRPr lang="en-US" altLang="zh-CN" sz="2800">
              <a:latin typeface="宋体" panose="02010600030101010101" pitchFamily="2" charset="-122"/>
              <a:ea typeface="宋体" panose="02010600030101010101" pitchFamily="2" charset="-122"/>
              <a:cs typeface="宋体" panose="02010600030101010101" pitchFamily="2" charset="-122"/>
            </a:endParaRPr>
          </a:p>
          <a:p>
            <a:r>
              <a:rPr lang="en-US" altLang="zh-CN" sz="2800">
                <a:latin typeface="宋体" panose="02010600030101010101" pitchFamily="2" charset="-122"/>
                <a:ea typeface="宋体" panose="02010600030101010101" pitchFamily="2" charset="-122"/>
                <a:cs typeface="宋体" panose="02010600030101010101" pitchFamily="2" charset="-122"/>
              </a:rPr>
              <a:t>sub al,48h    ;al=3Dh</a:t>
            </a:r>
            <a:endParaRPr lang="en-US" altLang="zh-CN" sz="2800">
              <a:latin typeface="宋体" panose="02010600030101010101" pitchFamily="2" charset="-122"/>
              <a:ea typeface="宋体" panose="02010600030101010101" pitchFamily="2" charset="-122"/>
              <a:cs typeface="宋体" panose="02010600030101010101" pitchFamily="2" charset="-122"/>
            </a:endParaRPr>
          </a:p>
          <a:p>
            <a:r>
              <a:rPr lang="en-US" altLang="zh-CN" sz="2800">
                <a:latin typeface="宋体" panose="02010600030101010101" pitchFamily="2" charset="-122"/>
                <a:ea typeface="宋体" panose="02010600030101010101" pitchFamily="2" charset="-122"/>
                <a:cs typeface="宋体" panose="02010600030101010101" pitchFamily="2" charset="-122"/>
              </a:rPr>
              <a:t>das           ;al=37h   </a:t>
            </a:r>
            <a:endParaRPr lang="en-US" altLang="zh-CN" sz="2800">
              <a:latin typeface="宋体" panose="02010600030101010101" pitchFamily="2" charset="-122"/>
              <a:ea typeface="宋体" panose="02010600030101010101" pitchFamily="2" charset="-122"/>
              <a:cs typeface="宋体" panose="02010600030101010101" pitchFamily="2" charset="-122"/>
            </a:endParaRPr>
          </a:p>
          <a:p>
            <a:r>
              <a:rPr lang="zh-CN" altLang="en-US" sz="2800">
                <a:latin typeface="宋体" panose="02010600030101010101" pitchFamily="2" charset="-122"/>
                <a:ea typeface="宋体" panose="02010600030101010101" pitchFamily="2" charset="-122"/>
                <a:cs typeface="宋体" panose="02010600030101010101" pitchFamily="2" charset="-122"/>
              </a:rPr>
              <a:t>将两个压缩</a:t>
            </a:r>
            <a:r>
              <a:rPr lang="en-US" altLang="zh-CN" sz="2800">
                <a:latin typeface="宋体" panose="02010600030101010101" pitchFamily="2" charset="-122"/>
                <a:ea typeface="宋体" panose="02010600030101010101" pitchFamily="2" charset="-122"/>
                <a:cs typeface="宋体" panose="02010600030101010101" pitchFamily="2" charset="-122"/>
              </a:rPr>
              <a:t>BCD</a:t>
            </a:r>
            <a:r>
              <a:rPr lang="zh-CN" altLang="en-US" sz="2800">
                <a:latin typeface="宋体" panose="02010600030101010101" pitchFamily="2" charset="-122"/>
                <a:ea typeface="宋体" panose="02010600030101010101" pitchFamily="2" charset="-122"/>
                <a:cs typeface="宋体" panose="02010600030101010101" pitchFamily="2" charset="-122"/>
              </a:rPr>
              <a:t>码相减后的结果调整为压缩</a:t>
            </a:r>
            <a:r>
              <a:rPr lang="en-US" altLang="zh-CN" sz="2800">
                <a:latin typeface="宋体" panose="02010600030101010101" pitchFamily="2" charset="-122"/>
                <a:ea typeface="宋体" panose="02010600030101010101" pitchFamily="2" charset="-122"/>
                <a:cs typeface="宋体" panose="02010600030101010101" pitchFamily="2" charset="-122"/>
              </a:rPr>
              <a:t>BCD</a:t>
            </a:r>
            <a:r>
              <a:rPr lang="zh-CN" altLang="en-US" sz="2800">
                <a:latin typeface="宋体" panose="02010600030101010101" pitchFamily="2" charset="-122"/>
                <a:ea typeface="宋体" panose="02010600030101010101" pitchFamily="2" charset="-122"/>
                <a:cs typeface="宋体" panose="02010600030101010101" pitchFamily="2" charset="-122"/>
              </a:rPr>
              <a:t>码</a:t>
            </a:r>
            <a:endParaRPr lang="zh-CN" altLang="en-US" sz="2800">
              <a:latin typeface="宋体" panose="02010600030101010101" pitchFamily="2" charset="-122"/>
              <a:ea typeface="宋体" panose="02010600030101010101" pitchFamily="2" charset="-122"/>
              <a:cs typeface="宋体" panose="02010600030101010101" pitchFamily="2" charset="-122"/>
            </a:endParaRPr>
          </a:p>
          <a:p>
            <a:endParaRPr lang="zh-CN" altLang="en-US" sz="2800">
              <a:latin typeface="宋体" panose="02010600030101010101" pitchFamily="2" charset="-122"/>
              <a:ea typeface="宋体" panose="02010600030101010101" pitchFamily="2" charset="-122"/>
              <a:cs typeface="宋体" panose="02010600030101010101" pitchFamily="2" charset="-122"/>
            </a:endParaRPr>
          </a:p>
          <a:p>
            <a:r>
              <a:rPr lang="zh-CN" altLang="en-US" sz="2800">
                <a:latin typeface="宋体" panose="02010600030101010101" pitchFamily="2" charset="-122"/>
                <a:ea typeface="宋体" panose="02010600030101010101" pitchFamily="2" charset="-122"/>
                <a:cs typeface="宋体" panose="02010600030101010101" pitchFamily="2" charset="-122"/>
              </a:rPr>
              <a:t>低</a:t>
            </a:r>
            <a:r>
              <a:rPr lang="en-US" altLang="zh-CN" sz="2800">
                <a:latin typeface="宋体" panose="02010600030101010101" pitchFamily="2" charset="-122"/>
                <a:ea typeface="宋体" panose="02010600030101010101" pitchFamily="2" charset="-122"/>
                <a:cs typeface="宋体" panose="02010600030101010101" pitchFamily="2" charset="-122"/>
              </a:rPr>
              <a:t>4</a:t>
            </a:r>
            <a:r>
              <a:rPr lang="zh-CN" altLang="en-US" sz="2800">
                <a:latin typeface="宋体" panose="02010600030101010101" pitchFamily="2" charset="-122"/>
                <a:ea typeface="宋体" panose="02010600030101010101" pitchFamily="2" charset="-122"/>
                <a:cs typeface="宋体" panose="02010600030101010101" pitchFamily="2" charset="-122"/>
              </a:rPr>
              <a:t>位大于</a:t>
            </a:r>
            <a:r>
              <a:rPr lang="en-US" altLang="zh-CN" sz="2800">
                <a:latin typeface="宋体" panose="02010600030101010101" pitchFamily="2" charset="-122"/>
                <a:ea typeface="宋体" panose="02010600030101010101" pitchFamily="2" charset="-122"/>
                <a:cs typeface="宋体" panose="02010600030101010101" pitchFamily="2" charset="-122"/>
              </a:rPr>
              <a:t>9</a:t>
            </a:r>
            <a:r>
              <a:rPr lang="zh-CN" altLang="en-US" sz="2800">
                <a:latin typeface="宋体" panose="02010600030101010101" pitchFamily="2" charset="-122"/>
                <a:ea typeface="宋体" panose="02010600030101010101" pitchFamily="2" charset="-122"/>
                <a:cs typeface="宋体" panose="02010600030101010101" pitchFamily="2" charset="-122"/>
              </a:rPr>
              <a:t>，则</a:t>
            </a:r>
            <a:r>
              <a:rPr lang="en-US" altLang="zh-CN" sz="2800">
                <a:latin typeface="宋体" panose="02010600030101010101" pitchFamily="2" charset="-122"/>
                <a:ea typeface="宋体" panose="02010600030101010101" pitchFamily="2" charset="-122"/>
                <a:cs typeface="宋体" panose="02010600030101010101" pitchFamily="2" charset="-122"/>
              </a:rPr>
              <a:t>AL-6</a:t>
            </a:r>
            <a:endParaRPr lang="zh-CN" altLang="en-US" sz="2800">
              <a:latin typeface="宋体" panose="02010600030101010101" pitchFamily="2" charset="-122"/>
              <a:ea typeface="宋体" panose="02010600030101010101" pitchFamily="2" charset="-122"/>
              <a:cs typeface="宋体" panose="02010600030101010101" pitchFamily="2" charset="-122"/>
            </a:endParaRPr>
          </a:p>
          <a:p>
            <a:endParaRPr lang="zh-CN" altLang="en-US" sz="28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内容占位符 2"/>
          <p:cNvSpPr>
            <a:spLocks noGrp="1"/>
          </p:cNvSpPr>
          <p:nvPr>
            <p:ph idx="4294967295"/>
          </p:nvPr>
        </p:nvSpPr>
        <p:spPr>
          <a:xfrm>
            <a:off x="323850" y="990600"/>
            <a:ext cx="8640763" cy="4094163"/>
          </a:xfrm>
        </p:spPr>
        <p:txBody>
          <a:bodyPr vert="horz" wrap="square" lIns="91440" tIns="45720" rIns="91440" bIns="45720" anchor="t" anchorCtr="0"/>
          <a:p>
            <a:pPr marL="0" indent="0">
              <a:buNone/>
            </a:pP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3</a:t>
            </a:r>
            <a:r>
              <a:rPr lang="zh-CN" altLang="en-US" b="0" dirty="0">
                <a:latin typeface="宋体" panose="02010600030101010101" pitchFamily="2" charset="-122"/>
                <a:ea typeface="宋体" panose="02010600030101010101" pitchFamily="2" charset="-122"/>
              </a:rPr>
              <a:t>）非压缩</a:t>
            </a:r>
            <a:r>
              <a:rPr lang="en-US" altLang="zh-CN" b="0" dirty="0">
                <a:latin typeface="宋体" panose="02010600030101010101" pitchFamily="2" charset="-122"/>
                <a:ea typeface="宋体" panose="02010600030101010101" pitchFamily="2" charset="-122"/>
              </a:rPr>
              <a:t>BCD</a:t>
            </a:r>
            <a:r>
              <a:rPr lang="zh-CN" altLang="en-US" b="0" dirty="0">
                <a:latin typeface="宋体" panose="02010600030101010101" pitchFamily="2" charset="-122"/>
                <a:ea typeface="宋体" panose="02010600030101010101" pitchFamily="2" charset="-122"/>
              </a:rPr>
              <a:t>码减法十进制调整</a:t>
            </a:r>
            <a:r>
              <a:rPr lang="en-US" altLang="zh-CN" b="0" dirty="0">
                <a:latin typeface="宋体" panose="02010600030101010101" pitchFamily="2" charset="-122"/>
                <a:ea typeface="宋体" panose="02010600030101010101" pitchFamily="2" charset="-122"/>
              </a:rPr>
              <a:t>AAS</a:t>
            </a:r>
            <a:endParaRPr lang="en-US" altLang="zh-CN" b="0" dirty="0">
              <a:latin typeface="宋体" panose="02010600030101010101" pitchFamily="2" charset="-122"/>
              <a:ea typeface="宋体" panose="02010600030101010101" pitchFamily="2" charset="-122"/>
            </a:endParaRPr>
          </a:p>
          <a:p>
            <a:pPr marL="0" indent="0">
              <a:lnSpc>
                <a:spcPct val="150000"/>
              </a:lnSpc>
              <a:buNone/>
            </a:pPr>
            <a:r>
              <a:rPr lang="en-US" altLang="zh-CN" sz="2400" b="0" dirty="0">
                <a:latin typeface="宋体" panose="02010600030101010101" pitchFamily="2" charset="-122"/>
                <a:ea typeface="宋体" panose="02010600030101010101" pitchFamily="2" charset="-122"/>
              </a:rPr>
              <a:t>AAS</a:t>
            </a:r>
            <a:r>
              <a:rPr lang="zh-CN" altLang="en-US" sz="2400" b="0" dirty="0">
                <a:latin typeface="宋体" panose="02010600030101010101" pitchFamily="2" charset="-122"/>
                <a:ea typeface="宋体" panose="02010600030101010101" pitchFamily="2" charset="-122"/>
              </a:rPr>
              <a:t>用于对两个非压缩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码相减后的结果（存入</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）进行调整，产生正确的非压缩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码，其低位存入</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，高位存入</a:t>
            </a:r>
            <a:r>
              <a:rPr lang="en-US" altLang="zh-CN" sz="2400" b="0" dirty="0">
                <a:latin typeface="宋体" panose="02010600030101010101" pitchFamily="2" charset="-122"/>
                <a:ea typeface="宋体" panose="02010600030101010101" pitchFamily="2" charset="-122"/>
              </a:rPr>
              <a:t>AH</a:t>
            </a:r>
            <a:r>
              <a:rPr lang="zh-CN" altLang="en-US" sz="2400" b="0" dirty="0">
                <a:latin typeface="宋体" panose="02010600030101010101" pitchFamily="2" charset="-122"/>
                <a:ea typeface="宋体" panose="02010600030101010101" pitchFamily="2" charset="-122"/>
              </a:rPr>
              <a:t>。对标志位的影响与</a:t>
            </a:r>
            <a:r>
              <a:rPr lang="en-US" altLang="zh-CN" sz="2400" b="0" dirty="0">
                <a:latin typeface="宋体" panose="02010600030101010101" pitchFamily="2" charset="-122"/>
                <a:ea typeface="宋体" panose="02010600030101010101" pitchFamily="2" charset="-122"/>
              </a:rPr>
              <a:t>AAA</a:t>
            </a:r>
            <a:r>
              <a:rPr lang="zh-CN" altLang="en-US" sz="2400" b="0" dirty="0">
                <a:latin typeface="宋体" panose="02010600030101010101" pitchFamily="2" charset="-122"/>
                <a:ea typeface="宋体" panose="02010600030101010101" pitchFamily="2" charset="-122"/>
              </a:rPr>
              <a:t>指令相同。调整方法如下：</a:t>
            </a:r>
            <a:endParaRPr lang="en-US" altLang="zh-CN" sz="2400" b="0" dirty="0">
              <a:latin typeface="宋体" panose="02010600030101010101" pitchFamily="2" charset="-122"/>
              <a:ea typeface="宋体" panose="02010600030101010101" pitchFamily="2" charset="-122"/>
            </a:endParaRPr>
          </a:p>
          <a:p>
            <a:pPr marL="0" indent="0">
              <a:lnSpc>
                <a:spcPct val="150000"/>
              </a:lnSpc>
              <a:buFont typeface="Wingdings" panose="05000000000000000000" pitchFamily="2" charset="2"/>
              <a:buChar char="l"/>
            </a:pPr>
            <a:r>
              <a:rPr lang="zh-CN" altLang="en-US" sz="2400" b="0" dirty="0">
                <a:latin typeface="宋体" panose="02010600030101010101" pitchFamily="2" charset="-122"/>
                <a:ea typeface="宋体" panose="02010600030101010101" pitchFamily="2" charset="-122"/>
              </a:rPr>
              <a:t>若（</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）中低</a:t>
            </a:r>
            <a:r>
              <a:rPr lang="en-US" altLang="zh-CN" sz="2400" b="0" dirty="0">
                <a:latin typeface="宋体" panose="02010600030101010101" pitchFamily="2" charset="-122"/>
                <a:ea typeface="宋体" panose="02010600030101010101" pitchFamily="2" charset="-122"/>
              </a:rPr>
              <a:t>4</a:t>
            </a:r>
            <a:r>
              <a:rPr lang="zh-CN" altLang="en-US" sz="2400" b="0" dirty="0">
                <a:latin typeface="宋体" panose="02010600030101010101" pitchFamily="2" charset="-122"/>
                <a:ea typeface="宋体" panose="02010600030101010101" pitchFamily="2" charset="-122"/>
              </a:rPr>
              <a:t>位</a:t>
            </a:r>
            <a:r>
              <a:rPr lang="en-US" altLang="zh-CN" sz="2400" b="0" dirty="0">
                <a:latin typeface="宋体" panose="02010600030101010101" pitchFamily="2" charset="-122"/>
                <a:ea typeface="宋体" panose="02010600030101010101" pitchFamily="2" charset="-122"/>
              </a:rPr>
              <a:t>&gt;9</a:t>
            </a:r>
            <a:r>
              <a:rPr lang="zh-CN" altLang="en-US" sz="2400" b="0" dirty="0">
                <a:latin typeface="宋体" panose="02010600030101010101" pitchFamily="2" charset="-122"/>
                <a:ea typeface="宋体" panose="02010600030101010101" pitchFamily="2" charset="-122"/>
              </a:rPr>
              <a:t>或</a:t>
            </a:r>
            <a:r>
              <a:rPr lang="en-US" altLang="zh-CN" sz="2400" b="0" dirty="0">
                <a:latin typeface="宋体" panose="02010600030101010101" pitchFamily="2" charset="-122"/>
                <a:ea typeface="宋体" panose="02010600030101010101" pitchFamily="2" charset="-122"/>
              </a:rPr>
              <a:t>AF=1</a:t>
            </a:r>
            <a:r>
              <a:rPr lang="zh-CN" altLang="en-US" sz="2400" b="0" dirty="0">
                <a:latin typeface="宋体" panose="02010600030101010101" pitchFamily="2" charset="-122"/>
                <a:ea typeface="宋体" panose="02010600030101010101" pitchFamily="2" charset="-122"/>
              </a:rPr>
              <a:t>，则（</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-06H</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AH</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-1</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AF=1</a:t>
            </a:r>
            <a:endParaRPr lang="en-US" altLang="zh-CN" sz="2400" b="0" dirty="0">
              <a:latin typeface="宋体" panose="02010600030101010101" pitchFamily="2" charset="-122"/>
              <a:ea typeface="宋体" panose="02010600030101010101" pitchFamily="2" charset="-122"/>
            </a:endParaRPr>
          </a:p>
          <a:p>
            <a:pPr marL="0" indent="0">
              <a:lnSpc>
                <a:spcPct val="150000"/>
              </a:lnSpc>
              <a:buFont typeface="Wingdings" panose="05000000000000000000" pitchFamily="2" charset="2"/>
              <a:buChar char="l"/>
            </a:pPr>
            <a:r>
              <a:rPr lang="zh-CN" altLang="en-US" sz="2400" b="0" dirty="0">
                <a:latin typeface="宋体" panose="02010600030101010101" pitchFamily="2" charset="-122"/>
                <a:ea typeface="宋体" panose="02010600030101010101" pitchFamily="2" charset="-122"/>
              </a:rPr>
              <a:t>屏蔽掉（</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）高</a:t>
            </a:r>
            <a:r>
              <a:rPr lang="en-US" altLang="zh-CN" sz="2400" b="0" dirty="0">
                <a:latin typeface="宋体" panose="02010600030101010101" pitchFamily="2" charset="-122"/>
                <a:ea typeface="宋体" panose="02010600030101010101" pitchFamily="2" charset="-122"/>
              </a:rPr>
              <a:t>4</a:t>
            </a:r>
            <a:r>
              <a:rPr lang="zh-CN" altLang="en-US" sz="2400" b="0" dirty="0">
                <a:latin typeface="宋体" panose="02010600030101010101" pitchFamily="2" charset="-122"/>
                <a:ea typeface="宋体" panose="02010600030101010101" pitchFamily="2" charset="-122"/>
              </a:rPr>
              <a:t>位，即（</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0FH</a:t>
            </a:r>
            <a:r>
              <a:rPr lang="zh-CN" altLang="en-US" sz="2400" b="0" dirty="0">
                <a:latin typeface="宋体" panose="02010600030101010101" pitchFamily="2" charset="-122"/>
                <a:ea typeface="宋体" panose="02010600030101010101" pitchFamily="2" charset="-122"/>
              </a:rPr>
              <a:t>；</a:t>
            </a:r>
            <a:endParaRPr lang="en-US" altLang="zh-CN" sz="2400" b="0" dirty="0">
              <a:latin typeface="宋体" panose="02010600030101010101" pitchFamily="2" charset="-122"/>
              <a:ea typeface="宋体" panose="02010600030101010101" pitchFamily="2" charset="-122"/>
            </a:endParaRPr>
          </a:p>
          <a:p>
            <a:pPr marL="0" indent="0">
              <a:lnSpc>
                <a:spcPct val="150000"/>
              </a:lnSpc>
              <a:buFont typeface="Wingdings" panose="05000000000000000000" pitchFamily="2" charset="2"/>
              <a:buChar char="l"/>
            </a:pPr>
            <a:r>
              <a:rPr lang="en-US" altLang="zh-CN" sz="2400" b="0" dirty="0">
                <a:latin typeface="宋体" panose="02010600030101010101" pitchFamily="2" charset="-122"/>
                <a:ea typeface="宋体" panose="02010600030101010101" pitchFamily="2" charset="-122"/>
              </a:rPr>
              <a:t>CF</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AF</a:t>
            </a:r>
            <a:endParaRPr lang="en-US" altLang="zh-CN" sz="2400" b="0" dirty="0">
              <a:latin typeface="宋体" panose="02010600030101010101" pitchFamily="2" charset="-122"/>
              <a:ea typeface="宋体" panose="02010600030101010101" pitchFamily="2"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内容占位符 2"/>
          <p:cNvSpPr>
            <a:spLocks noGrp="1"/>
          </p:cNvSpPr>
          <p:nvPr>
            <p:ph idx="4294967295"/>
          </p:nvPr>
        </p:nvSpPr>
        <p:spPr>
          <a:xfrm>
            <a:off x="323850" y="990600"/>
            <a:ext cx="8496300" cy="5410200"/>
          </a:xfrm>
        </p:spPr>
        <p:txBody>
          <a:bodyPr vert="horz" wrap="square" lIns="91440" tIns="45720" rIns="91440" bIns="45720" anchor="t" anchorCtr="0"/>
          <a:p>
            <a:pPr marL="0" indent="0">
              <a:buNone/>
            </a:pP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4</a:t>
            </a:r>
            <a:r>
              <a:rPr lang="zh-CN" altLang="en-US" b="0" dirty="0">
                <a:latin typeface="宋体" panose="02010600030101010101" pitchFamily="2" charset="-122"/>
                <a:ea typeface="宋体" panose="02010600030101010101" pitchFamily="2" charset="-122"/>
              </a:rPr>
              <a:t>）乘法的十进制调整指令</a:t>
            </a:r>
            <a:r>
              <a:rPr lang="en-US" altLang="zh-CN" b="0" dirty="0">
                <a:latin typeface="宋体" panose="02010600030101010101" pitchFamily="2" charset="-122"/>
                <a:ea typeface="宋体" panose="02010600030101010101" pitchFamily="2" charset="-122"/>
              </a:rPr>
              <a:t>AAM</a:t>
            </a:r>
            <a:endParaRPr lang="en-US" altLang="zh-CN" b="0" dirty="0">
              <a:latin typeface="宋体" panose="02010600030101010101" pitchFamily="2" charset="-122"/>
              <a:ea typeface="宋体" panose="02010600030101010101" pitchFamily="2" charset="-122"/>
            </a:endParaRPr>
          </a:p>
          <a:p>
            <a:pPr marL="0" indent="0">
              <a:lnSpc>
                <a:spcPct val="150000"/>
              </a:lnSpc>
              <a:buNone/>
            </a:pPr>
            <a:r>
              <a:rPr lang="en-US" altLang="zh-CN" sz="2400" b="0" dirty="0">
                <a:latin typeface="宋体" panose="02010600030101010101" pitchFamily="2" charset="-122"/>
                <a:ea typeface="宋体" panose="02010600030101010101" pitchFamily="2" charset="-122"/>
              </a:rPr>
              <a:t>  AAM</a:t>
            </a:r>
            <a:r>
              <a:rPr lang="zh-CN" altLang="en-US" sz="2400" b="0" dirty="0">
                <a:latin typeface="宋体" panose="02010600030101010101" pitchFamily="2" charset="-122"/>
                <a:ea typeface="宋体" panose="02010600030101010101" pitchFamily="2" charset="-122"/>
              </a:rPr>
              <a:t>是非压缩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码乘法的十进制调整指令。对两个非压缩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码数相乘的结果（存入</a:t>
            </a:r>
            <a:r>
              <a:rPr lang="en-US" altLang="zh-CN" sz="2400" b="0" dirty="0">
                <a:latin typeface="宋体" panose="02010600030101010101" pitchFamily="2" charset="-122"/>
                <a:ea typeface="宋体" panose="02010600030101010101" pitchFamily="2" charset="-122"/>
              </a:rPr>
              <a:t>AX</a:t>
            </a:r>
            <a:r>
              <a:rPr lang="zh-CN" altLang="en-US" sz="2400" b="0" dirty="0">
                <a:latin typeface="宋体" panose="02010600030101010101" pitchFamily="2" charset="-122"/>
                <a:ea typeface="宋体" panose="02010600030101010101" pitchFamily="2" charset="-122"/>
              </a:rPr>
              <a:t>）进行调整，以得到正确的结果。具体步骤：</a:t>
            </a:r>
            <a:endParaRPr lang="en-US" altLang="zh-CN" sz="2400" b="0" dirty="0">
              <a:latin typeface="宋体" panose="02010600030101010101" pitchFamily="2" charset="-122"/>
              <a:ea typeface="宋体" panose="02010600030101010101" pitchFamily="2" charset="-122"/>
            </a:endParaRPr>
          </a:p>
          <a:p>
            <a:pPr marL="0" indent="0">
              <a:lnSpc>
                <a:spcPct val="150000"/>
              </a:lnSpc>
              <a:buNone/>
            </a:pP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AH</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/0AH</a:t>
            </a:r>
            <a:endParaRPr lang="en-US" altLang="zh-CN" sz="2400" b="0" dirty="0">
              <a:latin typeface="宋体" panose="02010600030101010101" pitchFamily="2" charset="-122"/>
              <a:ea typeface="宋体" panose="02010600030101010101" pitchFamily="2" charset="-122"/>
            </a:endParaRPr>
          </a:p>
          <a:p>
            <a:pPr marL="0" indent="0">
              <a:lnSpc>
                <a:spcPct val="150000"/>
              </a:lnSpc>
              <a:buNone/>
            </a:pP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%0AH</a:t>
            </a:r>
            <a:endParaRPr lang="en-US" altLang="zh-CN" sz="2400" b="0" dirty="0">
              <a:latin typeface="宋体" panose="02010600030101010101" pitchFamily="2" charset="-122"/>
              <a:ea typeface="宋体" panose="02010600030101010101" pitchFamily="2" charset="-122"/>
            </a:endParaRPr>
          </a:p>
          <a:p>
            <a:pPr marL="0" indent="0">
              <a:lnSpc>
                <a:spcPct val="150000"/>
              </a:lnSpc>
              <a:buNone/>
            </a:pPr>
            <a:r>
              <a:rPr lang="zh-CN" altLang="en-US" sz="2400" b="0" dirty="0">
                <a:latin typeface="宋体" panose="02010600030101010101" pitchFamily="2" charset="-122"/>
                <a:ea typeface="宋体" panose="02010600030101010101" pitchFamily="2" charset="-122"/>
              </a:rPr>
              <a:t>即把</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寄存器的内容除以</a:t>
            </a:r>
            <a:r>
              <a:rPr lang="en-US" altLang="zh-CN" sz="2400" b="0" dirty="0">
                <a:latin typeface="宋体" panose="02010600030101010101" pitchFamily="2" charset="-122"/>
                <a:ea typeface="宋体" panose="02010600030101010101" pitchFamily="2" charset="-122"/>
              </a:rPr>
              <a:t>OAH</a:t>
            </a:r>
            <a:r>
              <a:rPr lang="zh-CN" altLang="en-US" sz="2400" b="0" dirty="0">
                <a:latin typeface="宋体" panose="02010600030101010101" pitchFamily="2" charset="-122"/>
                <a:ea typeface="宋体" panose="02010600030101010101" pitchFamily="2" charset="-122"/>
              </a:rPr>
              <a:t>，商存入</a:t>
            </a:r>
            <a:r>
              <a:rPr lang="en-US" altLang="zh-CN" sz="2400" b="0" dirty="0">
                <a:latin typeface="宋体" panose="02010600030101010101" pitchFamily="2" charset="-122"/>
                <a:ea typeface="宋体" panose="02010600030101010101" pitchFamily="2" charset="-122"/>
              </a:rPr>
              <a:t>AH</a:t>
            </a:r>
            <a:r>
              <a:rPr lang="zh-CN" altLang="en-US" sz="2400" b="0" dirty="0">
                <a:latin typeface="宋体" panose="02010600030101010101" pitchFamily="2" charset="-122"/>
                <a:ea typeface="宋体" panose="02010600030101010101" pitchFamily="2" charset="-122"/>
              </a:rPr>
              <a:t>，余数存入</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endParaRPr lang="zh-CN" altLang="en-US" sz="2400" b="0" dirty="0">
              <a:latin typeface="宋体" panose="02010600030101010101" pitchFamily="2" charset="-122"/>
              <a:ea typeface="宋体" panose="02010600030101010101" pitchFamily="2"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内容占位符 2"/>
          <p:cNvSpPr>
            <a:spLocks noGrp="1"/>
          </p:cNvSpPr>
          <p:nvPr>
            <p:ph idx="4294967295"/>
          </p:nvPr>
        </p:nvSpPr>
        <p:spPr/>
        <p:txBody>
          <a:bodyPr vert="horz" wrap="square" lIns="91440" tIns="45720" rIns="91440" bIns="45720" anchor="t" anchorCtr="0"/>
          <a:p>
            <a:pPr>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说明：</a:t>
            </a:r>
            <a:endParaRPr lang="en-US" altLang="zh-CN" dirty="0">
              <a:latin typeface="宋体" panose="02010600030101010101" pitchFamily="2" charset="-122"/>
              <a:ea typeface="宋体" panose="02010600030101010101" pitchFamily="2" charset="-122"/>
            </a:endParaRPr>
          </a:p>
          <a:p>
            <a:pPr>
              <a:lnSpc>
                <a:spcPct val="150000"/>
              </a:lnSpc>
              <a:buFont typeface="Wingdings" panose="05000000000000000000" pitchFamily="2" charset="2"/>
              <a:buChar char="l"/>
            </a:pPr>
            <a:r>
              <a:rPr lang="en-US" altLang="zh-CN" sz="2400" dirty="0">
                <a:latin typeface="宋体" panose="02010600030101010101" pitchFamily="2" charset="-122"/>
                <a:ea typeface="宋体" panose="02010600030101010101" pitchFamily="2" charset="-122"/>
              </a:rPr>
              <a:t>AAM</a:t>
            </a:r>
            <a:r>
              <a:rPr lang="zh-CN" altLang="en-US" sz="2400" dirty="0">
                <a:latin typeface="宋体" panose="02010600030101010101" pitchFamily="2" charset="-122"/>
                <a:ea typeface="宋体" panose="02010600030101010101" pitchFamily="2" charset="-122"/>
              </a:rPr>
              <a:t>的实质是把</a:t>
            </a:r>
            <a:r>
              <a:rPr lang="en-US" altLang="zh-CN" sz="2400" dirty="0">
                <a:latin typeface="宋体" panose="02010600030101010101" pitchFamily="2" charset="-122"/>
                <a:ea typeface="宋体" panose="02010600030101010101" pitchFamily="2" charset="-122"/>
              </a:rPr>
              <a:t>AL</a:t>
            </a:r>
            <a:r>
              <a:rPr lang="zh-CN" altLang="en-US" sz="2400" dirty="0">
                <a:latin typeface="宋体" panose="02010600030101010101" pitchFamily="2" charset="-122"/>
                <a:ea typeface="宋体" panose="02010600030101010101" pitchFamily="2" charset="-122"/>
              </a:rPr>
              <a:t>中的</a:t>
            </a:r>
            <a:r>
              <a:rPr lang="zh-CN" altLang="en-US" sz="2400" dirty="0">
                <a:solidFill>
                  <a:srgbClr val="FF0000"/>
                </a:solidFill>
                <a:latin typeface="宋体" panose="02010600030101010101" pitchFamily="2" charset="-122"/>
                <a:ea typeface="宋体" panose="02010600030101010101" pitchFamily="2" charset="-122"/>
              </a:rPr>
              <a:t>二进制数转换为十进制数</a:t>
            </a:r>
            <a:r>
              <a:rPr lang="zh-CN" altLang="en-US" sz="2400" dirty="0">
                <a:latin typeface="宋体" panose="02010600030101010101" pitchFamily="2" charset="-122"/>
                <a:ea typeface="宋体" panose="02010600030101010101" pitchFamily="2" charset="-122"/>
              </a:rPr>
              <a:t>，所以对于不超过</a:t>
            </a:r>
            <a:r>
              <a:rPr lang="en-US" altLang="zh-CN" sz="2400" dirty="0">
                <a:latin typeface="宋体" panose="02010600030101010101" pitchFamily="2" charset="-122"/>
                <a:ea typeface="宋体" panose="02010600030101010101" pitchFamily="2" charset="-122"/>
              </a:rPr>
              <a:t>99</a:t>
            </a:r>
            <a:r>
              <a:rPr lang="zh-CN" altLang="en-US" sz="2400" dirty="0">
                <a:latin typeface="宋体" panose="02010600030101010101" pitchFamily="2" charset="-122"/>
                <a:ea typeface="宋体" panose="02010600030101010101" pitchFamily="2" charset="-122"/>
              </a:rPr>
              <a:t>的二进制数，只用一条</a:t>
            </a:r>
            <a:r>
              <a:rPr lang="en-US" altLang="zh-CN" sz="2400" dirty="0">
                <a:latin typeface="宋体" panose="02010600030101010101" pitchFamily="2" charset="-122"/>
                <a:ea typeface="宋体" panose="02010600030101010101" pitchFamily="2" charset="-122"/>
              </a:rPr>
              <a:t>AAM</a:t>
            </a:r>
            <a:r>
              <a:rPr lang="zh-CN" altLang="en-US" sz="2400" dirty="0">
                <a:latin typeface="宋体" panose="02010600030101010101" pitchFamily="2" charset="-122"/>
                <a:ea typeface="宋体" panose="02010600030101010101" pitchFamily="2" charset="-122"/>
              </a:rPr>
              <a:t>指令即可实现二</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十进制转换</a:t>
            </a:r>
            <a:endParaRPr lang="en-US" altLang="zh-CN" sz="2400" dirty="0">
              <a:latin typeface="宋体" panose="02010600030101010101" pitchFamily="2" charset="-122"/>
              <a:ea typeface="宋体" panose="02010600030101010101" pitchFamily="2" charset="-122"/>
            </a:endParaRPr>
          </a:p>
          <a:p>
            <a:pPr>
              <a:lnSpc>
                <a:spcPct val="150000"/>
              </a:lnSpc>
              <a:buFont typeface="Wingdings" panose="05000000000000000000" pitchFamily="2" charset="2"/>
              <a:buChar char="l"/>
            </a:pPr>
            <a:r>
              <a:rPr lang="en-US" altLang="zh-CN" sz="2400" dirty="0">
                <a:latin typeface="宋体" panose="02010600030101010101" pitchFamily="2" charset="-122"/>
                <a:ea typeface="宋体" panose="02010600030101010101" pitchFamily="2" charset="-122"/>
              </a:rPr>
              <a:t>AAM</a:t>
            </a:r>
            <a:r>
              <a:rPr lang="zh-CN" altLang="en-US" sz="2400" dirty="0">
                <a:latin typeface="宋体" panose="02010600030101010101" pitchFamily="2" charset="-122"/>
                <a:ea typeface="宋体" panose="02010600030101010101" pitchFamily="2" charset="-122"/>
              </a:rPr>
              <a:t>指令影响</a:t>
            </a:r>
            <a:r>
              <a:rPr lang="en-US" altLang="zh-CN" sz="2400" dirty="0">
                <a:latin typeface="宋体" panose="02010600030101010101" pitchFamily="2" charset="-122"/>
                <a:ea typeface="宋体" panose="02010600030101010101" pitchFamily="2" charset="-122"/>
              </a:rPr>
              <a:t>PF</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SF</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ZF</a:t>
            </a:r>
            <a:r>
              <a:rPr lang="zh-CN" altLang="en-US" sz="2400" dirty="0">
                <a:latin typeface="宋体" panose="02010600030101010101" pitchFamily="2" charset="-122"/>
                <a:ea typeface="宋体" panose="02010600030101010101" pitchFamily="2" charset="-122"/>
              </a:rPr>
              <a:t>标志位</a:t>
            </a:r>
            <a:endParaRPr lang="en-US" altLang="zh-CN" sz="2400" dirty="0">
              <a:latin typeface="宋体" panose="02010600030101010101" pitchFamily="2" charset="-122"/>
              <a:ea typeface="宋体" panose="02010600030101010101" pitchFamily="2" charset="-122"/>
            </a:endParaRPr>
          </a:p>
          <a:p>
            <a:pPr>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执行</a:t>
            </a:r>
            <a:r>
              <a:rPr lang="en-US" altLang="zh-CN" sz="2400" dirty="0">
                <a:latin typeface="宋体" panose="02010600030101010101" pitchFamily="2" charset="-122"/>
                <a:ea typeface="宋体" panose="02010600030101010101" pitchFamily="2" charset="-122"/>
              </a:rPr>
              <a:t>AAM</a:t>
            </a:r>
            <a:r>
              <a:rPr lang="zh-CN" altLang="en-US" sz="2400" dirty="0">
                <a:latin typeface="宋体" panose="02010600030101010101" pitchFamily="2" charset="-122"/>
                <a:ea typeface="宋体" panose="02010600030101010101" pitchFamily="2" charset="-122"/>
              </a:rPr>
              <a:t>指令前须有一条</a:t>
            </a:r>
            <a:r>
              <a:rPr lang="en-US" altLang="zh-CN" sz="2400" dirty="0">
                <a:latin typeface="宋体" panose="02010600030101010101" pitchFamily="2" charset="-122"/>
                <a:ea typeface="宋体" panose="02010600030101010101" pitchFamily="2" charset="-122"/>
              </a:rPr>
              <a:t>MUL</a:t>
            </a:r>
            <a:r>
              <a:rPr lang="zh-CN" altLang="en-US" sz="2400" dirty="0">
                <a:latin typeface="宋体" panose="02010600030101010101" pitchFamily="2" charset="-122"/>
                <a:ea typeface="宋体" panose="02010600030101010101" pitchFamily="2" charset="-122"/>
              </a:rPr>
              <a:t>指令（</a:t>
            </a:r>
            <a:r>
              <a:rPr lang="en-US" altLang="zh-CN" sz="2400" dirty="0">
                <a:latin typeface="宋体" panose="02010600030101010101" pitchFamily="2" charset="-122"/>
                <a:ea typeface="宋体" panose="02010600030101010101" pitchFamily="2" charset="-122"/>
              </a:rPr>
              <a:t>BCD</a:t>
            </a:r>
            <a:r>
              <a:rPr lang="zh-CN" altLang="en-US" sz="2400" dirty="0">
                <a:latin typeface="宋体" panose="02010600030101010101" pitchFamily="2" charset="-122"/>
                <a:ea typeface="宋体" panose="02010600030101010101" pitchFamily="2" charset="-122"/>
              </a:rPr>
              <a:t>码总视为无符号数）将两个非压缩</a:t>
            </a:r>
            <a:r>
              <a:rPr lang="en-US" altLang="zh-CN" sz="2400" dirty="0">
                <a:latin typeface="宋体" panose="02010600030101010101" pitchFamily="2" charset="-122"/>
                <a:ea typeface="宋体" panose="02010600030101010101" pitchFamily="2" charset="-122"/>
              </a:rPr>
              <a:t>BCD</a:t>
            </a:r>
            <a:r>
              <a:rPr lang="zh-CN" altLang="en-US" sz="2400" dirty="0">
                <a:latin typeface="宋体" panose="02010600030101010101" pitchFamily="2" charset="-122"/>
                <a:ea typeface="宋体" panose="02010600030101010101" pitchFamily="2" charset="-122"/>
              </a:rPr>
              <a:t>码相乘，结果放入</a:t>
            </a:r>
            <a:r>
              <a:rPr lang="en-US" altLang="zh-CN" sz="2400" dirty="0">
                <a:latin typeface="宋体" panose="02010600030101010101" pitchFamily="2" charset="-122"/>
                <a:ea typeface="宋体" panose="02010600030101010101" pitchFamily="2" charset="-122"/>
              </a:rPr>
              <a:t>AL</a:t>
            </a:r>
            <a:r>
              <a:rPr lang="zh-CN" altLang="en-US" sz="2400" dirty="0">
                <a:latin typeface="宋体" panose="02010600030101010101" pitchFamily="2" charset="-122"/>
                <a:ea typeface="宋体" panose="02010600030101010101" pitchFamily="2" charset="-122"/>
              </a:rPr>
              <a:t>，然后用</a:t>
            </a:r>
            <a:r>
              <a:rPr lang="en-US" altLang="zh-CN" sz="2400" dirty="0">
                <a:latin typeface="宋体" panose="02010600030101010101" pitchFamily="2" charset="-122"/>
                <a:ea typeface="宋体" panose="02010600030101010101" pitchFamily="2" charset="-122"/>
              </a:rPr>
              <a:t>AAM</a:t>
            </a:r>
            <a:r>
              <a:rPr lang="zh-CN" altLang="en-US" sz="2400" dirty="0">
                <a:latin typeface="宋体" panose="02010600030101010101" pitchFamily="2" charset="-122"/>
                <a:ea typeface="宋体" panose="02010600030101010101" pitchFamily="2" charset="-122"/>
              </a:rPr>
              <a:t>指令进行调整。</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内容占位符 2"/>
          <p:cNvSpPr>
            <a:spLocks noGrp="1"/>
          </p:cNvSpPr>
          <p:nvPr>
            <p:ph idx="4294967295"/>
          </p:nvPr>
        </p:nvSpPr>
        <p:spPr/>
        <p:txBody>
          <a:bodyPr vert="horz" wrap="square" lIns="91440" tIns="45720" rIns="91440" bIns="45720" anchor="t" anchorCtr="0"/>
          <a:p>
            <a:pPr>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例：</a:t>
            </a:r>
            <a:endParaRPr lang="en-US" altLang="zh-CN" dirty="0">
              <a:latin typeface="宋体" panose="02010600030101010101" pitchFamily="2" charset="-122"/>
              <a:ea typeface="宋体" panose="02010600030101010101" pitchFamily="2" charset="-122"/>
            </a:endParaRPr>
          </a:p>
          <a:p>
            <a:pPr>
              <a:lnSpc>
                <a:spcPct val="150000"/>
              </a:lnSpc>
              <a:buNone/>
            </a:pPr>
            <a:r>
              <a:rPr lang="zh-CN" altLang="en-US" sz="2400" dirty="0">
                <a:latin typeface="宋体" panose="02010600030101010101" pitchFamily="2" charset="-122"/>
                <a:ea typeface="宋体" panose="02010600030101010101" pitchFamily="2" charset="-122"/>
              </a:rPr>
              <a:t>用非压缩</a:t>
            </a:r>
            <a:r>
              <a:rPr lang="en-US" altLang="zh-CN" sz="2400" dirty="0">
                <a:latin typeface="宋体" panose="02010600030101010101" pitchFamily="2" charset="-122"/>
                <a:ea typeface="宋体" panose="02010600030101010101" pitchFamily="2" charset="-122"/>
              </a:rPr>
              <a:t>BCD</a:t>
            </a:r>
            <a:r>
              <a:rPr lang="zh-CN" altLang="en-US" sz="2400" dirty="0">
                <a:latin typeface="宋体" panose="02010600030101010101" pitchFamily="2" charset="-122"/>
                <a:ea typeface="宋体" panose="02010600030101010101" pitchFamily="2" charset="-122"/>
              </a:rPr>
              <a:t>码计算</a:t>
            </a:r>
            <a:r>
              <a:rPr lang="en-US" altLang="zh-CN" sz="2400" dirty="0">
                <a:latin typeface="宋体" panose="02010600030101010101" pitchFamily="2" charset="-122"/>
                <a:ea typeface="宋体" panose="02010600030101010101" pitchFamily="2" charset="-122"/>
              </a:rPr>
              <a:t>7</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9=</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50000"/>
              </a:lnSpc>
              <a:buNone/>
            </a:pPr>
            <a:r>
              <a:rPr lang="en-US" altLang="zh-CN" sz="2400" dirty="0">
                <a:latin typeface="宋体" panose="02010600030101010101" pitchFamily="2" charset="-122"/>
                <a:ea typeface="宋体" panose="02010600030101010101" pitchFamily="2" charset="-122"/>
              </a:rPr>
              <a:t>MOV AL</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07H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AL</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=07H</a:t>
            </a:r>
            <a:r>
              <a:rPr lang="zh-CN" altLang="en-US" sz="2400" dirty="0">
                <a:latin typeface="宋体" panose="02010600030101010101" pitchFamily="2" charset="-122"/>
                <a:ea typeface="宋体" panose="02010600030101010101" pitchFamily="2" charset="-122"/>
              </a:rPr>
              <a:t>，即非压缩</a:t>
            </a:r>
            <a:r>
              <a:rPr lang="en-US" altLang="zh-CN" sz="2400" dirty="0">
                <a:latin typeface="宋体" panose="02010600030101010101" pitchFamily="2" charset="-122"/>
                <a:ea typeface="宋体" panose="02010600030101010101" pitchFamily="2" charset="-122"/>
              </a:rPr>
              <a:t>BCD</a:t>
            </a:r>
            <a:r>
              <a:rPr lang="zh-CN" altLang="en-US" sz="2400" dirty="0">
                <a:latin typeface="宋体" panose="02010600030101010101" pitchFamily="2" charset="-122"/>
                <a:ea typeface="宋体" panose="02010600030101010101" pitchFamily="2" charset="-122"/>
              </a:rPr>
              <a:t>数</a:t>
            </a:r>
            <a:r>
              <a:rPr lang="en-US" altLang="zh-CN" sz="2400" dirty="0">
                <a:latin typeface="宋体" panose="02010600030101010101" pitchFamily="2" charset="-122"/>
                <a:ea typeface="宋体" panose="02010600030101010101" pitchFamily="2" charset="-122"/>
              </a:rPr>
              <a:t>7</a:t>
            </a:r>
            <a:endParaRPr lang="en-US" altLang="zh-CN" sz="2400" dirty="0">
              <a:latin typeface="宋体" panose="02010600030101010101" pitchFamily="2" charset="-122"/>
              <a:ea typeface="宋体" panose="02010600030101010101" pitchFamily="2" charset="-122"/>
            </a:endParaRPr>
          </a:p>
          <a:p>
            <a:pPr>
              <a:lnSpc>
                <a:spcPct val="150000"/>
              </a:lnSpc>
              <a:buNone/>
            </a:pPr>
            <a:r>
              <a:rPr lang="en-US" altLang="zh-CN" sz="2400" dirty="0">
                <a:latin typeface="宋体" panose="02010600030101010101" pitchFamily="2" charset="-122"/>
                <a:ea typeface="宋体" panose="02010600030101010101" pitchFamily="2" charset="-122"/>
              </a:rPr>
              <a:t>MOV BL</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09H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AL</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=09H</a:t>
            </a:r>
            <a:r>
              <a:rPr lang="zh-CN" altLang="en-US" sz="2400" dirty="0">
                <a:latin typeface="宋体" panose="02010600030101010101" pitchFamily="2" charset="-122"/>
                <a:ea typeface="宋体" panose="02010600030101010101" pitchFamily="2" charset="-122"/>
              </a:rPr>
              <a:t>，即非压缩</a:t>
            </a:r>
            <a:r>
              <a:rPr lang="en-US" altLang="zh-CN" sz="2400" dirty="0">
                <a:latin typeface="宋体" panose="02010600030101010101" pitchFamily="2" charset="-122"/>
                <a:ea typeface="宋体" panose="02010600030101010101" pitchFamily="2" charset="-122"/>
              </a:rPr>
              <a:t>BCD</a:t>
            </a:r>
            <a:r>
              <a:rPr lang="zh-CN" altLang="en-US" sz="2400" dirty="0">
                <a:latin typeface="宋体" panose="02010600030101010101" pitchFamily="2" charset="-122"/>
                <a:ea typeface="宋体" panose="02010600030101010101" pitchFamily="2" charset="-122"/>
              </a:rPr>
              <a:t>数</a:t>
            </a:r>
            <a:r>
              <a:rPr lang="en-US" altLang="zh-CN" sz="2400" dirty="0">
                <a:latin typeface="宋体" panose="02010600030101010101" pitchFamily="2" charset="-122"/>
                <a:ea typeface="宋体" panose="02010600030101010101" pitchFamily="2" charset="-122"/>
              </a:rPr>
              <a:t>9</a:t>
            </a:r>
            <a:endParaRPr lang="en-US" altLang="zh-CN" sz="2400" dirty="0">
              <a:latin typeface="宋体" panose="02010600030101010101" pitchFamily="2" charset="-122"/>
              <a:ea typeface="宋体" panose="02010600030101010101" pitchFamily="2" charset="-122"/>
            </a:endParaRPr>
          </a:p>
          <a:p>
            <a:pPr>
              <a:lnSpc>
                <a:spcPct val="150000"/>
              </a:lnSpc>
              <a:buNone/>
            </a:pPr>
            <a:r>
              <a:rPr lang="en-US" altLang="zh-CN" sz="2400" dirty="0">
                <a:latin typeface="宋体" panose="02010600030101010101" pitchFamily="2" charset="-122"/>
                <a:ea typeface="宋体" panose="02010600030101010101" pitchFamily="2" charset="-122"/>
              </a:rPr>
              <a:t>MUL BL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=07H</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09H=0</a:t>
            </a:r>
            <a:r>
              <a:rPr lang="zh-CN" altLang="en-US" sz="2400" dirty="0">
                <a:latin typeface="宋体" panose="02010600030101010101" pitchFamily="2" charset="-122"/>
                <a:ea typeface="宋体" panose="02010600030101010101" pitchFamily="2" charset="-122"/>
              </a:rPr>
              <a:t>60</a:t>
            </a:r>
            <a:r>
              <a:rPr lang="en-US" altLang="zh-CN" sz="2400" dirty="0">
                <a:latin typeface="宋体" panose="02010600030101010101" pitchFamily="2" charset="-122"/>
                <a:ea typeface="宋体" panose="02010600030101010101" pitchFamily="2" charset="-122"/>
              </a:rPr>
              <a:t>3H</a:t>
            </a:r>
            <a:endParaRPr lang="en-US" altLang="zh-CN" sz="2400" dirty="0">
              <a:latin typeface="宋体" panose="02010600030101010101" pitchFamily="2" charset="-122"/>
              <a:ea typeface="宋体" panose="02010600030101010101" pitchFamily="2" charset="-122"/>
            </a:endParaRPr>
          </a:p>
          <a:p>
            <a:pPr>
              <a:lnSpc>
                <a:spcPct val="150000"/>
              </a:lnSpc>
              <a:buNone/>
            </a:pPr>
            <a:r>
              <a:rPr lang="en-US" altLang="zh-CN" sz="2400" dirty="0">
                <a:latin typeface="宋体" panose="02010600030101010101" pitchFamily="2" charset="-122"/>
                <a:ea typeface="宋体" panose="02010600030101010101" pitchFamily="2" charset="-122"/>
              </a:rPr>
              <a:t>AAM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=0603H</a:t>
            </a:r>
            <a:r>
              <a:rPr lang="zh-CN" altLang="en-US" sz="2400" dirty="0">
                <a:latin typeface="宋体" panose="02010600030101010101" pitchFamily="2" charset="-122"/>
                <a:ea typeface="宋体" panose="02010600030101010101" pitchFamily="2" charset="-122"/>
              </a:rPr>
              <a:t>，即非压缩</a:t>
            </a:r>
            <a:r>
              <a:rPr lang="en-US" altLang="zh-CN" sz="2400" dirty="0">
                <a:latin typeface="宋体" panose="02010600030101010101" pitchFamily="2" charset="-122"/>
                <a:ea typeface="宋体" panose="02010600030101010101" pitchFamily="2" charset="-122"/>
              </a:rPr>
              <a:t>BCD</a:t>
            </a:r>
            <a:r>
              <a:rPr lang="zh-CN" altLang="en-US" sz="2400" dirty="0">
                <a:latin typeface="宋体" panose="02010600030101010101" pitchFamily="2" charset="-122"/>
                <a:ea typeface="宋体" panose="02010600030101010101" pitchFamily="2" charset="-122"/>
              </a:rPr>
              <a:t>数</a:t>
            </a:r>
            <a:r>
              <a:rPr lang="en-US" altLang="zh-CN" sz="2400" dirty="0">
                <a:latin typeface="宋体" panose="02010600030101010101" pitchFamily="2" charset="-122"/>
                <a:ea typeface="宋体" panose="02010600030101010101" pitchFamily="2" charset="-122"/>
              </a:rPr>
              <a:t>63</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SF=0</a:t>
            </a:r>
            <a:r>
              <a:rPr lang="zh-CN" altLang="en-US"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a:p>
            <a:pPr>
              <a:lnSpc>
                <a:spcPct val="150000"/>
              </a:lnSpc>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ZF=0</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PF=1</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内容占位符 2"/>
          <p:cNvSpPr>
            <a:spLocks noGrp="1"/>
          </p:cNvSpPr>
          <p:nvPr>
            <p:ph idx="4294967295"/>
          </p:nvPr>
        </p:nvSpPr>
        <p:spPr/>
        <p:txBody>
          <a:bodyPr vert="horz" wrap="square" lIns="91440" tIns="45720" rIns="91440" bIns="45720" anchor="t" anchorCtr="0"/>
          <a:p>
            <a:pPr marL="0" indent="0">
              <a:buNone/>
            </a:pP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5</a:t>
            </a:r>
            <a:r>
              <a:rPr lang="zh-CN" altLang="en-US" b="0" dirty="0">
                <a:latin typeface="宋体" panose="02010600030101010101" pitchFamily="2" charset="-122"/>
                <a:ea typeface="宋体" panose="02010600030101010101" pitchFamily="2" charset="-122"/>
              </a:rPr>
              <a:t>）除法的十进制调整指令</a:t>
            </a:r>
            <a:r>
              <a:rPr lang="en-US" altLang="zh-CN" b="0" dirty="0">
                <a:latin typeface="宋体" panose="02010600030101010101" pitchFamily="2" charset="-122"/>
                <a:ea typeface="宋体" panose="02010600030101010101" pitchFamily="2" charset="-122"/>
              </a:rPr>
              <a:t>AAD</a:t>
            </a:r>
            <a:endParaRPr lang="en-US" altLang="zh-CN" b="0" dirty="0">
              <a:latin typeface="宋体" panose="02010600030101010101" pitchFamily="2" charset="-122"/>
              <a:ea typeface="宋体" panose="02010600030101010101" pitchFamily="2" charset="-122"/>
            </a:endParaRPr>
          </a:p>
          <a:p>
            <a:pPr marL="0" indent="0">
              <a:lnSpc>
                <a:spcPct val="130000"/>
              </a:lnSpc>
              <a:buNone/>
            </a:pPr>
            <a:r>
              <a:rPr lang="zh-CN" altLang="en-US" sz="2400" b="0" dirty="0">
                <a:latin typeface="宋体" panose="02010600030101010101" pitchFamily="2" charset="-122"/>
                <a:ea typeface="宋体" panose="02010600030101010101" pitchFamily="2" charset="-122"/>
              </a:rPr>
              <a:t>    在两个非压缩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码相除之前，</a:t>
            </a:r>
            <a:r>
              <a:rPr lang="zh-CN" altLang="en-US" sz="2400" b="0" dirty="0">
                <a:solidFill>
                  <a:srgbClr val="FF0000"/>
                </a:solidFill>
                <a:latin typeface="宋体" panose="02010600030101010101" pitchFamily="2" charset="-122"/>
                <a:ea typeface="宋体" panose="02010600030101010101" pitchFamily="2" charset="-122"/>
              </a:rPr>
              <a:t>先用一条</a:t>
            </a:r>
            <a:r>
              <a:rPr lang="en-US" altLang="zh-CN" sz="2400" b="0" dirty="0">
                <a:solidFill>
                  <a:srgbClr val="FF0000"/>
                </a:solidFill>
                <a:latin typeface="宋体" panose="02010600030101010101" pitchFamily="2" charset="-122"/>
                <a:ea typeface="宋体" panose="02010600030101010101" pitchFamily="2" charset="-122"/>
              </a:rPr>
              <a:t>AAD</a:t>
            </a:r>
            <a:r>
              <a:rPr lang="zh-CN" altLang="en-US" sz="2400" b="0" dirty="0">
                <a:solidFill>
                  <a:srgbClr val="FF0000"/>
                </a:solidFill>
                <a:latin typeface="宋体" panose="02010600030101010101" pitchFamily="2" charset="-122"/>
                <a:ea typeface="宋体" panose="02010600030101010101" pitchFamily="2" charset="-122"/>
              </a:rPr>
              <a:t>指令进行调整，</a:t>
            </a:r>
            <a:r>
              <a:rPr lang="zh-CN" altLang="en-US" sz="2400" b="0" dirty="0">
                <a:latin typeface="宋体" panose="02010600030101010101" pitchFamily="2" charset="-122"/>
                <a:ea typeface="宋体" panose="02010600030101010101" pitchFamily="2" charset="-122"/>
              </a:rPr>
              <a:t>然后再用</a:t>
            </a:r>
            <a:r>
              <a:rPr lang="en-US" altLang="zh-CN" sz="2400" b="0" dirty="0">
                <a:latin typeface="宋体" panose="02010600030101010101" pitchFamily="2" charset="-122"/>
                <a:ea typeface="宋体" panose="02010600030101010101" pitchFamily="2" charset="-122"/>
              </a:rPr>
              <a:t>DIV</a:t>
            </a:r>
            <a:r>
              <a:rPr lang="zh-CN" altLang="en-US" sz="2400" b="0" dirty="0">
                <a:latin typeface="宋体" panose="02010600030101010101" pitchFamily="2" charset="-122"/>
                <a:ea typeface="宋体" panose="02010600030101010101" pitchFamily="2" charset="-122"/>
              </a:rPr>
              <a:t>指令。具体步骤：</a:t>
            </a:r>
            <a:endParaRPr lang="en-US" altLang="zh-CN" sz="2400" b="0" dirty="0">
              <a:latin typeface="宋体" panose="02010600030101010101" pitchFamily="2" charset="-122"/>
              <a:ea typeface="宋体" panose="02010600030101010101" pitchFamily="2" charset="-122"/>
            </a:endParaRPr>
          </a:p>
          <a:p>
            <a:pPr marL="0" indent="0">
              <a:lnSpc>
                <a:spcPct val="130000"/>
              </a:lnSpc>
              <a:buNone/>
            </a:pP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AH</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endParaRPr lang="en-US" altLang="zh-CN" sz="2400" b="0" dirty="0">
              <a:latin typeface="宋体" panose="02010600030101010101" pitchFamily="2" charset="-122"/>
              <a:ea typeface="宋体" panose="02010600030101010101" pitchFamily="2" charset="-122"/>
            </a:endParaRPr>
          </a:p>
          <a:p>
            <a:pPr marL="0" indent="0">
              <a:lnSpc>
                <a:spcPct val="130000"/>
              </a:lnSpc>
              <a:buNone/>
            </a:pP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AH</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a:t>
            </a:r>
            <a:endParaRPr lang="en-US" altLang="zh-CN" sz="2400" b="0" dirty="0">
              <a:latin typeface="宋体" panose="02010600030101010101" pitchFamily="2" charset="-122"/>
              <a:ea typeface="宋体" panose="02010600030101010101" pitchFamily="2" charset="-122"/>
            </a:endParaRPr>
          </a:p>
          <a:p>
            <a:pPr marL="0" indent="0">
              <a:lnSpc>
                <a:spcPct val="130000"/>
              </a:lnSpc>
              <a:buNone/>
            </a:pPr>
            <a:r>
              <a:rPr lang="zh-CN" altLang="en-US" sz="2400" b="0" dirty="0">
                <a:latin typeface="宋体" panose="02010600030101010101" pitchFamily="2" charset="-122"/>
                <a:ea typeface="宋体" panose="02010600030101010101" pitchFamily="2" charset="-122"/>
              </a:rPr>
              <a:t>    即把</a:t>
            </a:r>
            <a:r>
              <a:rPr lang="en-US" altLang="zh-CN" sz="2400" b="0" dirty="0">
                <a:latin typeface="宋体" panose="02010600030101010101" pitchFamily="2" charset="-122"/>
                <a:ea typeface="宋体" panose="02010600030101010101" pitchFamily="2" charset="-122"/>
              </a:rPr>
              <a:t>AX</a:t>
            </a:r>
            <a:r>
              <a:rPr lang="zh-CN" altLang="en-US" sz="2400" b="0" dirty="0">
                <a:latin typeface="宋体" panose="02010600030101010101" pitchFamily="2" charset="-122"/>
                <a:ea typeface="宋体" panose="02010600030101010101" pitchFamily="2" charset="-122"/>
              </a:rPr>
              <a:t>中的非压缩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码（十位数放</a:t>
            </a:r>
            <a:r>
              <a:rPr lang="en-US" altLang="zh-CN" sz="2400" b="0" dirty="0">
                <a:latin typeface="宋体" panose="02010600030101010101" pitchFamily="2" charset="-122"/>
                <a:ea typeface="宋体" panose="02010600030101010101" pitchFamily="2" charset="-122"/>
              </a:rPr>
              <a:t>AH</a:t>
            </a:r>
            <a:r>
              <a:rPr lang="zh-CN" altLang="en-US" sz="2400" b="0" dirty="0">
                <a:latin typeface="宋体" panose="02010600030101010101" pitchFamily="2" charset="-122"/>
                <a:ea typeface="宋体" panose="02010600030101010101" pitchFamily="2" charset="-122"/>
              </a:rPr>
              <a:t>，个位数放</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）调整为二进制数，并将结果放入</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中。</a:t>
            </a:r>
            <a:r>
              <a:rPr lang="en-US" altLang="zh-CN" sz="2400" b="0" dirty="0">
                <a:solidFill>
                  <a:srgbClr val="FF0066"/>
                </a:solidFill>
                <a:latin typeface="宋体" panose="02010600030101010101" pitchFamily="2" charset="-122"/>
                <a:ea typeface="宋体" panose="02010600030101010101" pitchFamily="2" charset="-122"/>
              </a:rPr>
              <a:t>AAD</a:t>
            </a:r>
            <a:r>
              <a:rPr lang="zh-CN" altLang="en-US" sz="2400" b="0" dirty="0">
                <a:solidFill>
                  <a:srgbClr val="FF0066"/>
                </a:solidFill>
                <a:latin typeface="宋体" panose="02010600030101010101" pitchFamily="2" charset="-122"/>
                <a:ea typeface="宋体" panose="02010600030101010101" pitchFamily="2" charset="-122"/>
              </a:rPr>
              <a:t>的操作实质上是把</a:t>
            </a:r>
            <a:r>
              <a:rPr lang="en-US" altLang="zh-CN" sz="2400" b="0" dirty="0">
                <a:solidFill>
                  <a:srgbClr val="FF0066"/>
                </a:solidFill>
                <a:latin typeface="宋体" panose="02010600030101010101" pitchFamily="2" charset="-122"/>
                <a:ea typeface="宋体" panose="02010600030101010101" pitchFamily="2" charset="-122"/>
              </a:rPr>
              <a:t>AX</a:t>
            </a:r>
            <a:r>
              <a:rPr lang="zh-CN" altLang="en-US" sz="2400" b="0" dirty="0">
                <a:solidFill>
                  <a:srgbClr val="FF0066"/>
                </a:solidFill>
                <a:latin typeface="宋体" panose="02010600030101010101" pitchFamily="2" charset="-122"/>
                <a:ea typeface="宋体" panose="02010600030101010101" pitchFamily="2" charset="-122"/>
              </a:rPr>
              <a:t>中的两位十进制数转换为二进制数，所以对于不超过</a:t>
            </a:r>
            <a:r>
              <a:rPr lang="en-US" altLang="zh-CN" sz="2400" b="0" dirty="0">
                <a:solidFill>
                  <a:srgbClr val="FF0066"/>
                </a:solidFill>
                <a:latin typeface="宋体" panose="02010600030101010101" pitchFamily="2" charset="-122"/>
                <a:ea typeface="宋体" panose="02010600030101010101" pitchFamily="2" charset="-122"/>
              </a:rPr>
              <a:t>99</a:t>
            </a:r>
            <a:r>
              <a:rPr lang="zh-CN" altLang="en-US" sz="2400" b="0" dirty="0">
                <a:solidFill>
                  <a:srgbClr val="FF0066"/>
                </a:solidFill>
                <a:latin typeface="宋体" panose="02010600030101010101" pitchFamily="2" charset="-122"/>
                <a:ea typeface="宋体" panose="02010600030101010101" pitchFamily="2" charset="-122"/>
              </a:rPr>
              <a:t>的十进制数，只用一条</a:t>
            </a:r>
            <a:r>
              <a:rPr lang="en-US" altLang="zh-CN" sz="2400" b="0" dirty="0">
                <a:solidFill>
                  <a:srgbClr val="FF0066"/>
                </a:solidFill>
                <a:latin typeface="宋体" panose="02010600030101010101" pitchFamily="2" charset="-122"/>
                <a:ea typeface="宋体" panose="02010600030101010101" pitchFamily="2" charset="-122"/>
              </a:rPr>
              <a:t>AAD</a:t>
            </a:r>
            <a:r>
              <a:rPr lang="zh-CN" altLang="en-US" sz="2400" b="0" dirty="0">
                <a:solidFill>
                  <a:srgbClr val="FF0066"/>
                </a:solidFill>
                <a:latin typeface="宋体" panose="02010600030101010101" pitchFamily="2" charset="-122"/>
                <a:ea typeface="宋体" panose="02010600030101010101" pitchFamily="2" charset="-122"/>
              </a:rPr>
              <a:t>指令即可实现十</a:t>
            </a:r>
            <a:r>
              <a:rPr lang="en-US" altLang="zh-CN" sz="2400" b="0" dirty="0">
                <a:solidFill>
                  <a:srgbClr val="FF0066"/>
                </a:solidFill>
                <a:latin typeface="宋体" panose="02010600030101010101" pitchFamily="2" charset="-122"/>
                <a:ea typeface="宋体" panose="02010600030101010101" pitchFamily="2" charset="-122"/>
              </a:rPr>
              <a:t>-</a:t>
            </a:r>
            <a:r>
              <a:rPr lang="zh-CN" altLang="en-US" sz="2400" b="0" dirty="0">
                <a:solidFill>
                  <a:srgbClr val="FF0066"/>
                </a:solidFill>
                <a:latin typeface="宋体" panose="02010600030101010101" pitchFamily="2" charset="-122"/>
                <a:ea typeface="宋体" panose="02010600030101010101" pitchFamily="2" charset="-122"/>
              </a:rPr>
              <a:t>二进制转换。</a:t>
            </a:r>
            <a:endParaRPr lang="en-US" altLang="zh-CN" sz="2400" b="0" dirty="0">
              <a:solidFill>
                <a:srgbClr val="FF0066"/>
              </a:solidFill>
              <a:latin typeface="宋体" panose="02010600030101010101" pitchFamily="2" charset="-122"/>
              <a:ea typeface="宋体" panose="02010600030101010101" pitchFamily="2" charset="-122"/>
            </a:endParaRPr>
          </a:p>
          <a:p>
            <a:pPr marL="0" indent="0">
              <a:lnSpc>
                <a:spcPct val="130000"/>
              </a:lnSpc>
              <a:buNone/>
            </a:pPr>
            <a:r>
              <a:rPr lang="en-US" altLang="zh-CN" sz="2400" b="0" dirty="0">
                <a:latin typeface="宋体" panose="02010600030101010101" pitchFamily="2" charset="-122"/>
                <a:ea typeface="宋体" panose="02010600030101010101" pitchFamily="2" charset="-122"/>
              </a:rPr>
              <a:t>    AAD</a:t>
            </a:r>
            <a:r>
              <a:rPr lang="zh-CN" altLang="en-US" sz="2400" b="0" dirty="0">
                <a:latin typeface="宋体" panose="02010600030101010101" pitchFamily="2" charset="-122"/>
                <a:ea typeface="宋体" panose="02010600030101010101" pitchFamily="2" charset="-122"/>
              </a:rPr>
              <a:t>指令影响</a:t>
            </a:r>
            <a:r>
              <a:rPr lang="en-US" altLang="zh-CN" sz="2400" b="0" dirty="0">
                <a:latin typeface="宋体" panose="02010600030101010101" pitchFamily="2" charset="-122"/>
                <a:ea typeface="宋体" panose="02010600030101010101" pitchFamily="2" charset="-122"/>
              </a:rPr>
              <a:t>PF</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SF</a:t>
            </a:r>
            <a:r>
              <a:rPr lang="zh-CN" altLang="en-US" sz="2400" b="0" dirty="0">
                <a:latin typeface="宋体" panose="02010600030101010101" pitchFamily="2" charset="-122"/>
                <a:ea typeface="宋体" panose="02010600030101010101" pitchFamily="2" charset="-122"/>
              </a:rPr>
              <a:t>和</a:t>
            </a:r>
            <a:r>
              <a:rPr lang="en-US" altLang="zh-CN" sz="2400" b="0" dirty="0">
                <a:latin typeface="宋体" panose="02010600030101010101" pitchFamily="2" charset="-122"/>
                <a:ea typeface="宋体" panose="02010600030101010101" pitchFamily="2" charset="-122"/>
              </a:rPr>
              <a:t>ZF</a:t>
            </a:r>
            <a:r>
              <a:rPr lang="zh-CN" altLang="en-US" sz="2400" b="0" dirty="0">
                <a:latin typeface="宋体" panose="02010600030101010101" pitchFamily="2" charset="-122"/>
                <a:ea typeface="宋体" panose="02010600030101010101" pitchFamily="2" charset="-122"/>
              </a:rPr>
              <a:t>标志位。</a:t>
            </a:r>
            <a:endParaRPr lang="zh-CN" altLang="en-US" sz="2400" b="0" dirty="0">
              <a:latin typeface="宋体" panose="02010600030101010101" pitchFamily="2" charset="-122"/>
              <a:ea typeface="宋体" panose="02010600030101010101" pitchFamily="2"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内容占位符 2"/>
          <p:cNvSpPr>
            <a:spLocks noGrp="1"/>
          </p:cNvSpPr>
          <p:nvPr>
            <p:ph idx="4294967295"/>
          </p:nvPr>
        </p:nvSpPr>
        <p:spPr/>
        <p:txBody>
          <a:bodyPr vert="horz" wrap="square" lIns="91440" tIns="45720" rIns="91440" bIns="45720" anchor="t" anchorCtr="0"/>
          <a:p>
            <a:pPr>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例：</a:t>
            </a:r>
            <a:endParaRPr lang="en-US" altLang="zh-CN" dirty="0">
              <a:latin typeface="宋体" panose="02010600030101010101" pitchFamily="2" charset="-122"/>
              <a:ea typeface="宋体" panose="02010600030101010101" pitchFamily="2" charset="-122"/>
            </a:endParaRPr>
          </a:p>
          <a:p>
            <a:pPr>
              <a:lnSpc>
                <a:spcPct val="150000"/>
              </a:lnSpc>
              <a:buNone/>
            </a:pPr>
            <a:r>
              <a:rPr lang="zh-CN" altLang="en-US" sz="2400" dirty="0">
                <a:latin typeface="宋体" panose="02010600030101010101" pitchFamily="2" charset="-122"/>
                <a:ea typeface="宋体" panose="02010600030101010101" pitchFamily="2" charset="-122"/>
              </a:rPr>
              <a:t>计算</a:t>
            </a:r>
            <a:r>
              <a:rPr lang="en-US" altLang="zh-CN" sz="2400" dirty="0">
                <a:latin typeface="宋体" panose="02010600030101010101" pitchFamily="2" charset="-122"/>
                <a:ea typeface="宋体" panose="02010600030101010101" pitchFamily="2" charset="-122"/>
              </a:rPr>
              <a:t>23/4=</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a:lnSpc>
                <a:spcPct val="150000"/>
              </a:lnSpc>
              <a:buNone/>
            </a:pPr>
            <a:r>
              <a:rPr lang="en-US" altLang="zh-CN" sz="2400" b="0" dirty="0">
                <a:latin typeface="宋体" panose="02010600030101010101" pitchFamily="2" charset="-122"/>
                <a:ea typeface="宋体" panose="02010600030101010101" pitchFamily="2" charset="-122"/>
              </a:rPr>
              <a:t>MOV AX</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0203H </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AX</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=0203H</a:t>
            </a:r>
            <a:r>
              <a:rPr lang="zh-CN" altLang="en-US" sz="2400" b="0" dirty="0">
                <a:latin typeface="宋体" panose="02010600030101010101" pitchFamily="2" charset="-122"/>
                <a:ea typeface="宋体" panose="02010600030101010101" pitchFamily="2" charset="-122"/>
              </a:rPr>
              <a:t>，即非压缩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数</a:t>
            </a:r>
            <a:r>
              <a:rPr lang="en-US" altLang="zh-CN" sz="2400" b="0" dirty="0">
                <a:latin typeface="宋体" panose="02010600030101010101" pitchFamily="2" charset="-122"/>
                <a:ea typeface="宋体" panose="02010600030101010101" pitchFamily="2" charset="-122"/>
              </a:rPr>
              <a:t>23</a:t>
            </a:r>
            <a:endParaRPr lang="en-US" altLang="zh-CN" sz="2400" b="0" dirty="0">
              <a:latin typeface="宋体" panose="02010600030101010101" pitchFamily="2" charset="-122"/>
              <a:ea typeface="宋体" panose="02010600030101010101" pitchFamily="2" charset="-122"/>
            </a:endParaRPr>
          </a:p>
          <a:p>
            <a:pPr>
              <a:lnSpc>
                <a:spcPct val="150000"/>
              </a:lnSpc>
              <a:buNone/>
            </a:pPr>
            <a:r>
              <a:rPr lang="en-US" altLang="zh-CN" sz="2400" b="0" dirty="0">
                <a:latin typeface="宋体" panose="02010600030101010101" pitchFamily="2" charset="-122"/>
                <a:ea typeface="宋体" panose="02010600030101010101" pitchFamily="2" charset="-122"/>
              </a:rPr>
              <a:t>MOV BL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4     </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BL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=04H</a:t>
            </a:r>
            <a:r>
              <a:rPr lang="zh-CN" altLang="en-US" sz="2400" b="0" dirty="0">
                <a:latin typeface="宋体" panose="02010600030101010101" pitchFamily="2" charset="-122"/>
                <a:ea typeface="宋体" panose="02010600030101010101" pitchFamily="2" charset="-122"/>
              </a:rPr>
              <a:t>，即非压缩</a:t>
            </a:r>
            <a:r>
              <a:rPr lang="en-US" altLang="zh-CN" sz="2400" b="0" dirty="0">
                <a:latin typeface="宋体" panose="02010600030101010101" pitchFamily="2" charset="-122"/>
                <a:ea typeface="宋体" panose="02010600030101010101" pitchFamily="2" charset="-122"/>
              </a:rPr>
              <a:t>BCD</a:t>
            </a:r>
            <a:r>
              <a:rPr lang="zh-CN" altLang="en-US" sz="2400" b="0" dirty="0">
                <a:latin typeface="宋体" panose="02010600030101010101" pitchFamily="2" charset="-122"/>
                <a:ea typeface="宋体" panose="02010600030101010101" pitchFamily="2" charset="-122"/>
              </a:rPr>
              <a:t>数</a:t>
            </a:r>
            <a:r>
              <a:rPr lang="en-US" altLang="zh-CN" sz="2400" b="0" dirty="0">
                <a:latin typeface="宋体" panose="02010600030101010101" pitchFamily="2" charset="-122"/>
                <a:ea typeface="宋体" panose="02010600030101010101" pitchFamily="2" charset="-122"/>
              </a:rPr>
              <a:t>4</a:t>
            </a:r>
            <a:endParaRPr lang="en-US" altLang="zh-CN" sz="2400" b="0" dirty="0">
              <a:latin typeface="宋体" panose="02010600030101010101" pitchFamily="2" charset="-122"/>
              <a:ea typeface="宋体" panose="02010600030101010101" pitchFamily="2" charset="-122"/>
            </a:endParaRPr>
          </a:p>
          <a:p>
            <a:pPr>
              <a:lnSpc>
                <a:spcPct val="150000"/>
              </a:lnSpc>
              <a:buNone/>
            </a:pPr>
            <a:r>
              <a:rPr lang="en-US" altLang="zh-CN" sz="2400" b="0" dirty="0">
                <a:latin typeface="宋体" panose="02010600030101010101" pitchFamily="2" charset="-122"/>
                <a:ea typeface="宋体" panose="02010600030101010101" pitchFamily="2" charset="-122"/>
              </a:rPr>
              <a:t>AAD           </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AX</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=02H</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0AH+03H=0017H</a:t>
            </a:r>
            <a:endParaRPr lang="en-US" altLang="zh-CN" sz="2400" b="0" dirty="0">
              <a:latin typeface="宋体" panose="02010600030101010101" pitchFamily="2" charset="-122"/>
              <a:ea typeface="宋体" panose="02010600030101010101" pitchFamily="2" charset="-122"/>
            </a:endParaRPr>
          </a:p>
          <a:p>
            <a:pPr>
              <a:lnSpc>
                <a:spcPct val="150000"/>
              </a:lnSpc>
              <a:buNone/>
            </a:pPr>
            <a:r>
              <a:rPr lang="en-US" altLang="zh-CN" sz="2400" b="0" dirty="0">
                <a:latin typeface="宋体" panose="02010600030101010101" pitchFamily="2" charset="-122"/>
                <a:ea typeface="宋体" panose="02010600030101010101" pitchFamily="2" charset="-122"/>
              </a:rPr>
              <a:t>DIV BL        </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AH</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=03H</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=05H</a:t>
            </a:r>
            <a:r>
              <a:rPr lang="zh-CN" altLang="en-US" sz="2400" b="0" dirty="0">
                <a:latin typeface="宋体" panose="02010600030101010101" pitchFamily="2" charset="-122"/>
                <a:ea typeface="宋体" panose="02010600030101010101" pitchFamily="2" charset="-122"/>
              </a:rPr>
              <a:t>，即商</a:t>
            </a:r>
            <a:r>
              <a:rPr lang="en-US" altLang="zh-CN" sz="2400" b="0" dirty="0">
                <a:latin typeface="宋体" panose="02010600030101010101" pitchFamily="2" charset="-122"/>
                <a:ea typeface="宋体" panose="02010600030101010101" pitchFamily="2" charset="-122"/>
              </a:rPr>
              <a:t>5</a:t>
            </a:r>
            <a:r>
              <a:rPr lang="zh-CN" altLang="en-US" sz="2400" b="0" dirty="0">
                <a:latin typeface="宋体" panose="02010600030101010101" pitchFamily="2" charset="-122"/>
                <a:ea typeface="宋体" panose="02010600030101010101" pitchFamily="2" charset="-122"/>
              </a:rPr>
              <a:t>余</a:t>
            </a:r>
            <a:r>
              <a:rPr lang="en-US" altLang="zh-CN" sz="2400" b="0" dirty="0">
                <a:latin typeface="宋体" panose="02010600030101010101" pitchFamily="2" charset="-122"/>
                <a:ea typeface="宋体" panose="02010600030101010101" pitchFamily="2" charset="-122"/>
              </a:rPr>
              <a:t>3</a:t>
            </a:r>
            <a:endParaRPr lang="en-US" altLang="zh-CN" sz="2400" b="0" dirty="0">
              <a:latin typeface="宋体" panose="02010600030101010101" pitchFamily="2" charset="-122"/>
              <a:ea typeface="宋体" panose="02010600030101010101" pitchFamily="2" charset="-122"/>
            </a:endParaRPr>
          </a:p>
          <a:p>
            <a:pPr>
              <a:lnSpc>
                <a:spcPct val="150000"/>
              </a:lnSpc>
              <a:buNone/>
            </a:pPr>
            <a:r>
              <a:rPr lang="zh-CN" altLang="en-US" sz="2400" b="0" dirty="0">
                <a:latin typeface="宋体" panose="02010600030101010101" pitchFamily="2" charset="-122"/>
                <a:ea typeface="宋体" panose="02010600030101010101" pitchFamily="2" charset="-122"/>
              </a:rPr>
              <a:t>执行完</a:t>
            </a:r>
            <a:r>
              <a:rPr lang="en-US" altLang="zh-CN" sz="2400" b="0" dirty="0">
                <a:latin typeface="宋体" panose="02010600030101010101" pitchFamily="2" charset="-122"/>
                <a:ea typeface="宋体" panose="02010600030101010101" pitchFamily="2" charset="-122"/>
              </a:rPr>
              <a:t>AAD</a:t>
            </a:r>
            <a:r>
              <a:rPr lang="zh-CN" altLang="en-US" sz="2400" b="0" dirty="0">
                <a:latin typeface="宋体" panose="02010600030101010101" pitchFamily="2" charset="-122"/>
                <a:ea typeface="宋体" panose="02010600030101010101" pitchFamily="2" charset="-122"/>
              </a:rPr>
              <a:t>后，（</a:t>
            </a:r>
            <a:r>
              <a:rPr lang="en-US" altLang="zh-CN" sz="2400" b="0" dirty="0">
                <a:latin typeface="宋体" panose="02010600030101010101" pitchFamily="2" charset="-122"/>
                <a:ea typeface="宋体" panose="02010600030101010101" pitchFamily="2" charset="-122"/>
              </a:rPr>
              <a:t>AH</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=17</a:t>
            </a:r>
            <a:r>
              <a:rPr lang="zh-CN" altLang="en-US" sz="2400" b="0" dirty="0">
                <a:latin typeface="宋体" panose="02010600030101010101" pitchFamily="2" charset="-122"/>
                <a:ea typeface="宋体" panose="02010600030101010101" pitchFamily="2" charset="-122"/>
              </a:rPr>
              <a:t>；再执行</a:t>
            </a:r>
            <a:r>
              <a:rPr lang="en-US" altLang="zh-CN" sz="2400" b="0" dirty="0">
                <a:latin typeface="宋体" panose="02010600030101010101" pitchFamily="2" charset="-122"/>
                <a:ea typeface="宋体" panose="02010600030101010101" pitchFamily="2" charset="-122"/>
              </a:rPr>
              <a:t>DIV</a:t>
            </a:r>
            <a:r>
              <a:rPr lang="zh-CN" altLang="en-US" sz="2400" b="0" dirty="0">
                <a:latin typeface="宋体" panose="02010600030101010101" pitchFamily="2" charset="-122"/>
                <a:ea typeface="宋体" panose="02010600030101010101" pitchFamily="2" charset="-122"/>
              </a:rPr>
              <a:t>指令后，（</a:t>
            </a:r>
            <a:endParaRPr lang="en-US" altLang="zh-CN" sz="2400" b="0" dirty="0">
              <a:latin typeface="宋体" panose="02010600030101010101" pitchFamily="2" charset="-122"/>
              <a:ea typeface="宋体" panose="02010600030101010101" pitchFamily="2" charset="-122"/>
            </a:endParaRPr>
          </a:p>
          <a:p>
            <a:pPr>
              <a:lnSpc>
                <a:spcPct val="150000"/>
              </a:lnSpc>
              <a:buNone/>
            </a:pPr>
            <a:r>
              <a:rPr lang="en-US" altLang="zh-CN" sz="2400" b="0" dirty="0">
                <a:latin typeface="宋体" panose="02010600030101010101" pitchFamily="2" charset="-122"/>
                <a:ea typeface="宋体" panose="02010600030101010101" pitchFamily="2" charset="-122"/>
              </a:rPr>
              <a:t>AH</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=03H</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AL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=05H</a:t>
            </a:r>
            <a:endParaRPr lang="en-US" altLang="zh-CN" sz="2400" b="0" dirty="0">
              <a:latin typeface="宋体" panose="02010600030101010101" pitchFamily="2" charset="-122"/>
              <a:ea typeface="宋体" panose="02010600030101010101" pitchFamily="2"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内容占位符 2"/>
          <p:cNvSpPr>
            <a:spLocks noGrp="1"/>
          </p:cNvSpPr>
          <p:nvPr>
            <p:ph idx="4294967295"/>
          </p:nvPr>
        </p:nvSpPr>
        <p:spPr>
          <a:xfrm>
            <a:off x="457200" y="990600"/>
            <a:ext cx="8382000" cy="2870200"/>
          </a:xfrm>
        </p:spPr>
        <p:txBody>
          <a:bodyPr vert="horz" wrap="square" lIns="91440" tIns="45720" rIns="91440" bIns="45720" anchor="t" anchorCtr="0"/>
          <a:p>
            <a:pPr>
              <a:lnSpc>
                <a:spcPct val="150000"/>
              </a:lnSpc>
              <a:buFont typeface="Wingdings" panose="05000000000000000000" pitchFamily="2" charset="2"/>
              <a:buChar char="Ø"/>
            </a:pPr>
            <a:r>
              <a:rPr lang="zh-CN" altLang="en-US" sz="2400" b="0" dirty="0">
                <a:latin typeface="宋体" panose="02010600030101010101" pitchFamily="2" charset="-122"/>
                <a:ea typeface="宋体" panose="02010600030101010101" pitchFamily="2" charset="-122"/>
              </a:rPr>
              <a:t>逻辑运算</a:t>
            </a:r>
            <a:endParaRPr lang="en-US" altLang="zh-CN" sz="2400" b="0" dirty="0">
              <a:latin typeface="宋体" panose="02010600030101010101" pitchFamily="2" charset="-122"/>
              <a:ea typeface="宋体" panose="02010600030101010101" pitchFamily="2" charset="-122"/>
            </a:endParaRPr>
          </a:p>
          <a:p>
            <a:pPr>
              <a:lnSpc>
                <a:spcPct val="150000"/>
              </a:lnSpc>
              <a:buNone/>
            </a:pPr>
            <a:r>
              <a:rPr lang="zh-CN" altLang="en-US" sz="2400" b="0" dirty="0">
                <a:latin typeface="宋体" panose="02010600030101010101" pitchFamily="2" charset="-122"/>
                <a:ea typeface="宋体" panose="02010600030101010101" pitchFamily="2" charset="-122"/>
              </a:rPr>
              <a:t>  </a:t>
            </a:r>
            <a:r>
              <a:rPr lang="en-US" altLang="zh-CN" sz="2400" b="0" dirty="0">
                <a:latin typeface="宋体" panose="02010600030101010101" pitchFamily="2" charset="-122"/>
                <a:ea typeface="宋体" panose="02010600030101010101" pitchFamily="2" charset="-122"/>
              </a:rPr>
              <a:t>and</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or</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not</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xor</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test</a:t>
            </a:r>
            <a:endParaRPr lang="zh-CN" altLang="en-US" sz="2400" b="0" dirty="0">
              <a:latin typeface="宋体" panose="02010600030101010101" pitchFamily="2" charset="-122"/>
              <a:ea typeface="宋体" panose="02010600030101010101" pitchFamily="2" charset="-122"/>
            </a:endParaRPr>
          </a:p>
          <a:p>
            <a:pPr>
              <a:lnSpc>
                <a:spcPct val="150000"/>
              </a:lnSpc>
              <a:spcBef>
                <a:spcPct val="50000"/>
              </a:spcBef>
              <a:buFont typeface="Wingdings" panose="05000000000000000000" pitchFamily="2" charset="2"/>
              <a:buChar char="Ø"/>
            </a:pPr>
            <a:r>
              <a:rPr lang="zh-CN" altLang="en-US" sz="2400" b="0" dirty="0">
                <a:latin typeface="宋体" panose="02010600030101010101" pitchFamily="2" charset="-122"/>
                <a:ea typeface="宋体" panose="02010600030101010101" pitchFamily="2" charset="-122"/>
              </a:rPr>
              <a:t>移位操作</a:t>
            </a:r>
            <a:endParaRPr lang="en-US" altLang="zh-CN" sz="2400" b="0" dirty="0">
              <a:latin typeface="宋体" panose="02010600030101010101" pitchFamily="2" charset="-122"/>
              <a:ea typeface="宋体" panose="02010600030101010101" pitchFamily="2" charset="-122"/>
            </a:endParaRPr>
          </a:p>
          <a:p>
            <a:pPr>
              <a:lnSpc>
                <a:spcPct val="150000"/>
              </a:lnSpc>
              <a:spcBef>
                <a:spcPct val="50000"/>
              </a:spcBef>
              <a:buNone/>
            </a:pPr>
            <a:r>
              <a:rPr lang="zh-CN" altLang="en-US" sz="2400" b="0" dirty="0">
                <a:latin typeface="宋体" panose="02010600030101010101" pitchFamily="2" charset="-122"/>
                <a:ea typeface="宋体" panose="02010600030101010101" pitchFamily="2" charset="-122"/>
              </a:rPr>
              <a:t>  非循环移位，循环移位</a:t>
            </a:r>
            <a:endParaRPr lang="en-US" altLang="zh-CN" sz="2400" b="0" dirty="0">
              <a:latin typeface="宋体" panose="02010600030101010101" pitchFamily="2" charset="-122"/>
              <a:ea typeface="宋体" panose="02010600030101010101" pitchFamily="2" charset="-122"/>
            </a:endParaRPr>
          </a:p>
        </p:txBody>
      </p:sp>
      <p:sp>
        <p:nvSpPr>
          <p:cNvPr id="94211" name="Rectangle 2"/>
          <p:cNvSpPr>
            <a:spLocks noGrp="1"/>
          </p:cNvSpPr>
          <p:nvPr/>
        </p:nvSpPr>
        <p:spPr>
          <a:xfrm>
            <a:off x="1763713" y="119063"/>
            <a:ext cx="6553200"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3.4.3 </a:t>
            </a:r>
            <a:r>
              <a:rPr lang="zh-CN" altLang="en-US" sz="3600" b="1" dirty="0">
                <a:solidFill>
                  <a:schemeClr val="bg1"/>
                </a:solidFill>
                <a:latin typeface="宋体" panose="02010600030101010101" pitchFamily="2" charset="-122"/>
                <a:ea typeface="宋体" panose="02010600030101010101" pitchFamily="2" charset="-122"/>
              </a:rPr>
              <a:t>逻辑运算和移位指令</a:t>
            </a:r>
            <a:endParaRPr lang="zh-CN" altLang="en-US" sz="3600" b="1" dirty="0">
              <a:solidFill>
                <a:schemeClr val="bg1"/>
              </a:solidFill>
              <a:latin typeface="宋体" panose="02010600030101010101" pitchFamily="2" charset="-122"/>
              <a:ea typeface="宋体" panose="02010600030101010101" pitchFamily="2" charset="-122"/>
            </a:endParaRPr>
          </a:p>
        </p:txBody>
      </p:sp>
      <p:sp>
        <p:nvSpPr>
          <p:cNvPr id="94212" name="文本框 5"/>
          <p:cNvSpPr txBox="1"/>
          <p:nvPr/>
        </p:nvSpPr>
        <p:spPr>
          <a:xfrm>
            <a:off x="473075" y="4152900"/>
            <a:ext cx="8131175" cy="2308225"/>
          </a:xfrm>
          <a:prstGeom prst="rect">
            <a:avLst/>
          </a:prstGeom>
          <a:noFill/>
          <a:ln w="9525">
            <a:noFill/>
          </a:ln>
        </p:spPr>
        <p:txBody>
          <a:bodyPr>
            <a:spAutoFit/>
          </a:bodyPr>
          <a:p>
            <a:pPr marL="342900" indent="-342900" eaLnBrk="0" hangingPunct="0">
              <a:lnSpc>
                <a:spcPct val="150000"/>
              </a:lnSpc>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说明</a:t>
            </a:r>
            <a:endParaRPr lang="en-US" altLang="zh-CN" sz="2400" dirty="0">
              <a:latin typeface="宋体" panose="02010600030101010101" pitchFamily="2" charset="-122"/>
              <a:ea typeface="宋体" panose="02010600030101010101" pitchFamily="2" charset="-122"/>
            </a:endParaRPr>
          </a:p>
          <a:p>
            <a:pPr marL="342900" indent="-342900" eaLnBrk="0" hangingPunct="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逻辑运算指令对操作数的 要求大多与</a:t>
            </a:r>
            <a:r>
              <a:rPr lang="en-US" altLang="zh-CN" sz="2400" dirty="0">
                <a:latin typeface="宋体" panose="02010600030101010101" pitchFamily="2" charset="-122"/>
                <a:ea typeface="宋体" panose="02010600030101010101" pitchFamily="2" charset="-122"/>
              </a:rPr>
              <a:t>MOV</a:t>
            </a:r>
            <a:r>
              <a:rPr lang="zh-CN" altLang="en-US" sz="2400" dirty="0">
                <a:latin typeface="宋体" panose="02010600030101010101" pitchFamily="2" charset="-122"/>
                <a:ea typeface="宋体" panose="02010600030101010101" pitchFamily="2" charset="-122"/>
              </a:rPr>
              <a:t>指令相同。</a:t>
            </a:r>
            <a:endParaRPr lang="zh-CN" altLang="en-US" sz="2400" dirty="0">
              <a:latin typeface="宋体" panose="02010600030101010101" pitchFamily="2" charset="-122"/>
              <a:ea typeface="宋体" panose="02010600030101010101" pitchFamily="2" charset="-122"/>
            </a:endParaRPr>
          </a:p>
          <a:p>
            <a:pPr marL="342900" indent="-342900" eaLnBrk="0" hangingPunct="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除“非”运算指令 外，其余逻辑运算指令的执行都会使标志位</a:t>
            </a:r>
            <a:r>
              <a:rPr lang="en-US" altLang="zh-CN" sz="2400" dirty="0">
                <a:latin typeface="宋体" panose="02010600030101010101" pitchFamily="2" charset="-122"/>
                <a:ea typeface="宋体" panose="02010600030101010101" pitchFamily="2" charset="-122"/>
              </a:rPr>
              <a:t>OF=CF=0,AF</a:t>
            </a:r>
            <a:r>
              <a:rPr lang="zh-CN" altLang="en-US" sz="2400" dirty="0">
                <a:latin typeface="宋体" panose="02010600030101010101" pitchFamily="2" charset="-122"/>
                <a:ea typeface="宋体" panose="02010600030101010101" pitchFamily="2" charset="-122"/>
              </a:rPr>
              <a:t>值不定，并对</a:t>
            </a:r>
            <a:r>
              <a:rPr lang="en-US" altLang="zh-CN" sz="2400" dirty="0">
                <a:latin typeface="宋体" panose="02010600030101010101" pitchFamily="2" charset="-122"/>
                <a:ea typeface="宋体" panose="02010600030101010101" pitchFamily="2" charset="-122"/>
              </a:rPr>
              <a:t>SF</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PF</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ZF</a:t>
            </a:r>
            <a:r>
              <a:rPr lang="zh-CN" altLang="en-US" sz="2400" dirty="0">
                <a:latin typeface="宋体" panose="02010600030101010101" pitchFamily="2" charset="-122"/>
                <a:ea typeface="宋体" panose="02010600030101010101" pitchFamily="2" charset="-122"/>
              </a:rPr>
              <a:t>有影响。</a:t>
            </a:r>
            <a:endParaRPr lang="en-US" altLang="zh-CN" sz="2400" dirty="0">
              <a:latin typeface="宋体" panose="02010600030101010101" pitchFamily="2" charset="-122"/>
              <a:ea typeface="宋体" panose="0201060003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type="title" idx="4294967295"/>
          </p:nvPr>
        </p:nvSpPr>
        <p:spPr>
          <a:xfrm>
            <a:off x="755650" y="1065213"/>
            <a:ext cx="3600450" cy="563562"/>
          </a:xfrm>
        </p:spPr>
        <p:txBody>
          <a:bodyPr vert="horz" wrap="square" lIns="91440" tIns="45720" rIns="91440" bIns="45720" anchor="ctr" anchorCtr="0"/>
          <a:p>
            <a:pPr eaLnBrk="1" hangingPunct="1"/>
            <a:r>
              <a:rPr lang="zh-CN" altLang="en-US" dirty="0">
                <a:solidFill>
                  <a:srgbClr val="000033"/>
                </a:solidFill>
                <a:latin typeface="宋体" panose="02010600030101010101" pitchFamily="2" charset="-122"/>
                <a:ea typeface="宋体" panose="02010600030101010101" pitchFamily="2" charset="-122"/>
              </a:rPr>
              <a:t>（</a:t>
            </a:r>
            <a:r>
              <a:rPr lang="en-US" altLang="zh-CN" dirty="0">
                <a:solidFill>
                  <a:srgbClr val="000033"/>
                </a:solidFill>
                <a:latin typeface="宋体" panose="02010600030101010101" pitchFamily="2" charset="-122"/>
                <a:ea typeface="宋体" panose="02010600030101010101" pitchFamily="2" charset="-122"/>
              </a:rPr>
              <a:t>1</a:t>
            </a:r>
            <a:r>
              <a:rPr lang="zh-CN" altLang="en-US" dirty="0">
                <a:solidFill>
                  <a:srgbClr val="000033"/>
                </a:solidFill>
                <a:latin typeface="宋体" panose="02010600030101010101" pitchFamily="2" charset="-122"/>
                <a:ea typeface="宋体" panose="02010600030101010101" pitchFamily="2" charset="-122"/>
              </a:rPr>
              <a:t>）“与”指令</a:t>
            </a:r>
            <a:r>
              <a:rPr lang="en-US" altLang="zh-CN" dirty="0">
                <a:solidFill>
                  <a:srgbClr val="000033"/>
                </a:solidFill>
                <a:latin typeface="宋体" panose="02010600030101010101" pitchFamily="2" charset="-122"/>
                <a:ea typeface="宋体" panose="02010600030101010101" pitchFamily="2" charset="-122"/>
              </a:rPr>
              <a:t>AND</a:t>
            </a:r>
            <a:r>
              <a:rPr lang="zh-CN" altLang="en-US"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98307" name="Rectangle 3"/>
          <p:cNvSpPr>
            <a:spLocks noGrp="1"/>
          </p:cNvSpPr>
          <p:nvPr>
            <p:ph type="body" idx="4294967295"/>
          </p:nvPr>
        </p:nvSpPr>
        <p:spPr>
          <a:xfrm>
            <a:off x="755650" y="1628775"/>
            <a:ext cx="6192838" cy="2376488"/>
          </a:xfrm>
        </p:spPr>
        <p:txBody>
          <a:bodyPr vert="horz" wrap="square" lIns="91440" tIns="45720" rIns="91440" bIns="45720" anchor="t" anchorCtr="0"/>
          <a:p>
            <a:pPr>
              <a:spcBef>
                <a:spcPct val="10000"/>
              </a:spcBef>
              <a:spcAft>
                <a:spcPts val="1300"/>
              </a:spcAft>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格式：</a:t>
            </a:r>
            <a:r>
              <a:rPr lang="zh-CN" altLang="en-US" b="0" dirty="0">
                <a:latin typeface="宋体" panose="02010600030101010101" pitchFamily="2" charset="-122"/>
                <a:ea typeface="宋体" panose="02010600030101010101" pitchFamily="2" charset="-122"/>
              </a:rPr>
              <a:t> </a:t>
            </a:r>
            <a:endParaRPr lang="zh-CN" altLang="en-US" b="0" dirty="0">
              <a:latin typeface="宋体" panose="02010600030101010101" pitchFamily="2" charset="-122"/>
              <a:ea typeface="宋体" panose="02010600030101010101" pitchFamily="2" charset="-122"/>
            </a:endParaRPr>
          </a:p>
          <a:p>
            <a:pPr lvl="1">
              <a:spcBef>
                <a:spcPct val="10000"/>
              </a:spcBef>
              <a:spcAft>
                <a:spcPts val="1300"/>
              </a:spcAft>
              <a:buFont typeface="Wingdings" panose="05000000000000000000" pitchFamily="2" charset="2"/>
              <a:buChar char="•"/>
            </a:pPr>
            <a:r>
              <a:rPr lang="zh-CN" altLang="en-US" b="0" dirty="0">
                <a:solidFill>
                  <a:schemeClr val="tx2"/>
                </a:solidFill>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AND  OPRD1，OPRD2</a:t>
            </a:r>
            <a:endParaRPr lang="en-US" altLang="zh-CN" dirty="0">
              <a:latin typeface="宋体" panose="02010600030101010101" pitchFamily="2" charset="-122"/>
              <a:ea typeface="宋体" panose="02010600030101010101" pitchFamily="2" charset="-122"/>
            </a:endParaRPr>
          </a:p>
          <a:p>
            <a:pPr>
              <a:spcBef>
                <a:spcPct val="10000"/>
              </a:spcBef>
              <a:spcAft>
                <a:spcPts val="1300"/>
              </a:spcAft>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操作： </a:t>
            </a:r>
            <a:endParaRPr lang="zh-CN" altLang="en-US" dirty="0">
              <a:latin typeface="宋体" panose="02010600030101010101" pitchFamily="2" charset="-122"/>
              <a:ea typeface="宋体" panose="02010600030101010101" pitchFamily="2" charset="-122"/>
            </a:endParaRPr>
          </a:p>
          <a:p>
            <a:pPr lvl="1">
              <a:spcBef>
                <a:spcPct val="10000"/>
              </a:spcBef>
              <a:spcAft>
                <a:spcPts val="1300"/>
              </a:spcAft>
            </a:pPr>
            <a:r>
              <a:rPr lang="zh-CN" altLang="en-US" dirty="0">
                <a:latin typeface="宋体" panose="02010600030101010101" pitchFamily="2" charset="-122"/>
                <a:ea typeface="宋体" panose="02010600030101010101" pitchFamily="2" charset="-122"/>
              </a:rPr>
              <a:t>两操作数相“与”，结果送目标地址。</a:t>
            </a:r>
            <a:endParaRPr lang="zh-CN" altLang="en-US" dirty="0">
              <a:latin typeface="宋体" panose="02010600030101010101" pitchFamily="2" charset="-122"/>
              <a:ea typeface="宋体" panose="02010600030101010101" pitchFamily="2" charset="-122"/>
            </a:endParaRPr>
          </a:p>
        </p:txBody>
      </p:sp>
      <p:sp>
        <p:nvSpPr>
          <p:cNvPr id="95236" name="文本框 1"/>
          <p:cNvSpPr txBox="1"/>
          <p:nvPr/>
        </p:nvSpPr>
        <p:spPr>
          <a:xfrm>
            <a:off x="755650" y="4221163"/>
            <a:ext cx="7827963" cy="1846262"/>
          </a:xfrm>
          <a:prstGeom prst="rect">
            <a:avLst/>
          </a:prstGeom>
          <a:noFill/>
          <a:ln w="9525">
            <a:noFill/>
          </a:ln>
        </p:spPr>
        <p:txBody>
          <a:bodyPr>
            <a:spAutoFit/>
          </a:bodyPr>
          <a:p>
            <a:pPr marL="342900" indent="-342900" eaLnBrk="0" hangingPunct="0">
              <a:lnSpc>
                <a:spcPct val="150000"/>
              </a:lnSpc>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说明：</a:t>
            </a:r>
            <a:endParaRPr lang="en-US" altLang="zh-CN" sz="2800" dirty="0">
              <a:latin typeface="宋体" panose="02010600030101010101" pitchFamily="2" charset="-122"/>
              <a:ea typeface="宋体" panose="02010600030101010101" pitchFamily="2" charset="-122"/>
            </a:endParaRPr>
          </a:p>
          <a:p>
            <a:pPr marL="342900" indent="-342900" eaLnBrk="0" hangingPunct="0">
              <a:lnSpc>
                <a:spcPct val="150000"/>
              </a:lnSpc>
            </a:pPr>
            <a:r>
              <a:rPr lang="zh-CN" altLang="en-US" sz="2400" dirty="0">
                <a:latin typeface="宋体" panose="02010600030101010101" pitchFamily="2" charset="-122"/>
                <a:ea typeface="宋体" panose="02010600030101010101" pitchFamily="2" charset="-122"/>
              </a:rPr>
              <a:t>   源操作数</a:t>
            </a:r>
            <a:r>
              <a:rPr lang="en-US" altLang="zh-CN" sz="2400" dirty="0">
                <a:latin typeface="宋体" panose="02010600030101010101" pitchFamily="2" charset="-122"/>
                <a:ea typeface="宋体" panose="02010600030101010101" pitchFamily="2" charset="-122"/>
              </a:rPr>
              <a:t>OPRD2</a:t>
            </a:r>
            <a:r>
              <a:rPr lang="zh-CN" altLang="en-US" sz="2400" dirty="0">
                <a:latin typeface="宋体" panose="02010600030101010101" pitchFamily="2" charset="-122"/>
                <a:ea typeface="宋体" panose="02010600030101010101" pitchFamily="2" charset="-122"/>
              </a:rPr>
              <a:t>可以是</a:t>
            </a:r>
            <a:r>
              <a:rPr lang="zh-CN" altLang="en-US" sz="2400" dirty="0">
                <a:solidFill>
                  <a:srgbClr val="FF0000"/>
                </a:solidFill>
                <a:latin typeface="宋体" panose="02010600030101010101" pitchFamily="2" charset="-122"/>
                <a:ea typeface="宋体" panose="02010600030101010101" pitchFamily="2" charset="-122"/>
              </a:rPr>
              <a:t>寄存器、存储器或立即数</a:t>
            </a:r>
            <a:r>
              <a:rPr lang="zh-CN" altLang="en-US" sz="2400" dirty="0">
                <a:latin typeface="宋体" panose="02010600030101010101" pitchFamily="2" charset="-122"/>
                <a:ea typeface="宋体" panose="02010600030101010101" pitchFamily="2" charset="-122"/>
              </a:rPr>
              <a:t>，但目标操作数</a:t>
            </a:r>
            <a:r>
              <a:rPr lang="en-US" altLang="zh-CN" sz="2400" dirty="0">
                <a:latin typeface="宋体" panose="02010600030101010101" pitchFamily="2" charset="-122"/>
                <a:ea typeface="宋体" panose="02010600030101010101" pitchFamily="2" charset="-122"/>
              </a:rPr>
              <a:t>OPRD1</a:t>
            </a:r>
            <a:r>
              <a:rPr lang="zh-CN" altLang="en-US" sz="2400" dirty="0">
                <a:latin typeface="宋体" panose="02010600030101010101" pitchFamily="2" charset="-122"/>
                <a:ea typeface="宋体" panose="02010600030101010101" pitchFamily="2" charset="-122"/>
              </a:rPr>
              <a:t>只能是</a:t>
            </a:r>
            <a:r>
              <a:rPr lang="zh-CN" altLang="en-US" sz="2400" dirty="0">
                <a:solidFill>
                  <a:srgbClr val="FF0000"/>
                </a:solidFill>
                <a:latin typeface="宋体" panose="02010600030101010101" pitchFamily="2" charset="-122"/>
                <a:ea typeface="宋体" panose="02010600030101010101" pitchFamily="2" charset="-122"/>
              </a:rPr>
              <a:t>寄存器或存储器</a:t>
            </a:r>
            <a:endParaRPr lang="zh-CN" altLang="en-US" sz="2400" dirty="0">
              <a:solidFill>
                <a:srgbClr val="FF0000"/>
              </a:solidFill>
              <a:latin typeface="宋体" panose="02010600030101010101" pitchFamily="2" charset="-122"/>
              <a:ea typeface="宋体" panose="02010600030101010101" pitchFamily="2" charset="-122"/>
            </a:endParaRPr>
          </a:p>
        </p:txBody>
      </p:sp>
      <p:sp>
        <p:nvSpPr>
          <p:cNvPr id="95237" name="Rectangle 2"/>
          <p:cNvSpPr>
            <a:spLocks noGrp="1"/>
          </p:cNvSpPr>
          <p:nvPr/>
        </p:nvSpPr>
        <p:spPr>
          <a:xfrm>
            <a:off x="1763713" y="119063"/>
            <a:ext cx="4968875"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3.4.3.1 </a:t>
            </a:r>
            <a:r>
              <a:rPr lang="zh-CN" altLang="en-US" sz="3600" b="1" dirty="0">
                <a:solidFill>
                  <a:schemeClr val="bg1"/>
                </a:solidFill>
                <a:latin typeface="宋体" panose="02010600030101010101" pitchFamily="2" charset="-122"/>
                <a:ea typeface="宋体" panose="02010600030101010101" pitchFamily="2" charset="-122"/>
              </a:rPr>
              <a:t>逻辑运算指令</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8307">
                                            <p:txEl>
                                              <p:charRg st="0" end="5"/>
                                            </p:txEl>
                                          </p:spTgt>
                                        </p:tgtEl>
                                        <p:attrNameLst>
                                          <p:attrName>style.visibility</p:attrName>
                                        </p:attrNameLst>
                                      </p:cBhvr>
                                      <p:to>
                                        <p:strVal val="visible"/>
                                      </p:to>
                                    </p:set>
                                    <p:animEffect transition="in" filter="wipe(left)">
                                      <p:cBhvr>
                                        <p:cTn id="7" dur="500"/>
                                        <p:tgtEl>
                                          <p:spTgt spid="98307">
                                            <p:txEl>
                                              <p:charRg st="0" end="5"/>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8307">
                                            <p:txEl>
                                              <p:charRg st="5" end="23"/>
                                            </p:txEl>
                                          </p:spTgt>
                                        </p:tgtEl>
                                        <p:attrNameLst>
                                          <p:attrName>style.visibility</p:attrName>
                                        </p:attrNameLst>
                                      </p:cBhvr>
                                      <p:to>
                                        <p:strVal val="visible"/>
                                      </p:to>
                                    </p:set>
                                    <p:animEffect transition="in" filter="wipe(left)">
                                      <p:cBhvr>
                                        <p:cTn id="11" dur="500"/>
                                        <p:tgtEl>
                                          <p:spTgt spid="98307">
                                            <p:txEl>
                                              <p:charRg st="5" end="2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8307">
                                            <p:txEl>
                                              <p:charRg st="23" end="28"/>
                                            </p:txEl>
                                          </p:spTgt>
                                        </p:tgtEl>
                                        <p:attrNameLst>
                                          <p:attrName>style.visibility</p:attrName>
                                        </p:attrNameLst>
                                      </p:cBhvr>
                                      <p:to>
                                        <p:strVal val="visible"/>
                                      </p:to>
                                    </p:set>
                                    <p:animEffect transition="in" filter="wipe(left)">
                                      <p:cBhvr>
                                        <p:cTn id="16" dur="500"/>
                                        <p:tgtEl>
                                          <p:spTgt spid="98307">
                                            <p:txEl>
                                              <p:charRg st="23" end="28"/>
                                            </p:tx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98307">
                                            <p:txEl>
                                              <p:charRg st="28" end="46"/>
                                            </p:txEl>
                                          </p:spTgt>
                                        </p:tgtEl>
                                        <p:attrNameLst>
                                          <p:attrName>style.visibility</p:attrName>
                                        </p:attrNameLst>
                                      </p:cBhvr>
                                      <p:to>
                                        <p:strVal val="visible"/>
                                      </p:to>
                                    </p:set>
                                    <p:animEffect transition="in" filter="wipe(left)">
                                      <p:cBhvr>
                                        <p:cTn id="20" dur="500"/>
                                        <p:tgtEl>
                                          <p:spTgt spid="98307">
                                            <p:txEl>
                                              <p:charRg st="28" end="4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7"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p:cNvSpPr>
          <p:nvPr>
            <p:ph type="title" idx="4294967295"/>
          </p:nvPr>
        </p:nvSpPr>
        <p:spPr>
          <a:xfrm>
            <a:off x="950913" y="1111250"/>
            <a:ext cx="6553200" cy="563563"/>
          </a:xfrm>
        </p:spPr>
        <p:txBody>
          <a:bodyPr vert="horz" wrap="square" lIns="91440" tIns="45720" rIns="91440" bIns="45720" anchor="ctr" anchorCtr="0"/>
          <a:p>
            <a:pPr marL="457200" indent="-457200" eaLnBrk="1" hangingPunct="1">
              <a:buFont typeface="Wingdings" panose="05000000000000000000" pitchFamily="2" charset="2"/>
              <a:buChar char="Ø"/>
            </a:pPr>
            <a:r>
              <a:rPr lang="en-US" altLang="zh-CN" dirty="0">
                <a:solidFill>
                  <a:srgbClr val="000033"/>
                </a:solidFill>
                <a:ea typeface="宋体" panose="02010600030101010101" pitchFamily="2" charset="-122"/>
              </a:rPr>
              <a:t>“</a:t>
            </a:r>
            <a:r>
              <a:rPr lang="zh-CN" altLang="en-US" dirty="0">
                <a:solidFill>
                  <a:srgbClr val="000033"/>
                </a:solidFill>
                <a:ea typeface="宋体" panose="02010600030101010101" pitchFamily="2" charset="-122"/>
              </a:rPr>
              <a:t>与”指令的应用</a:t>
            </a:r>
            <a:endParaRPr lang="zh-CN" altLang="en-US" u="sng" dirty="0">
              <a:solidFill>
                <a:srgbClr val="000033"/>
              </a:solidFill>
              <a:ea typeface="宋体" panose="02010600030101010101" pitchFamily="2" charset="-122"/>
            </a:endParaRPr>
          </a:p>
        </p:txBody>
      </p:sp>
      <p:sp>
        <p:nvSpPr>
          <p:cNvPr id="99331" name="Rectangle 3"/>
          <p:cNvSpPr>
            <a:spLocks noGrp="1"/>
          </p:cNvSpPr>
          <p:nvPr>
            <p:ph type="body" idx="4294967295"/>
          </p:nvPr>
        </p:nvSpPr>
        <p:spPr>
          <a:xfrm>
            <a:off x="973138" y="2060575"/>
            <a:ext cx="6335712" cy="4176713"/>
          </a:xfrm>
        </p:spPr>
        <p:txBody>
          <a:bodyPr vert="horz" wrap="square" lIns="91440" tIns="45720" rIns="91440" bIns="45720" anchor="t" anchorCtr="0"/>
          <a:p>
            <a:pPr>
              <a:lnSpc>
                <a:spcPct val="150000"/>
              </a:lnSpc>
              <a:spcAft>
                <a:spcPts val="100"/>
              </a:spcAft>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实现两操作数按位相与的运算</a:t>
            </a:r>
            <a:endParaRPr lang="zh-CN" altLang="en-US" sz="2400" dirty="0">
              <a:latin typeface="宋体" panose="02010600030101010101" pitchFamily="2" charset="-122"/>
              <a:ea typeface="宋体" panose="02010600030101010101" pitchFamily="2" charset="-122"/>
            </a:endParaRPr>
          </a:p>
          <a:p>
            <a:pPr marL="457200" lvl="1" indent="0" eaLnBrk="1" hangingPunct="1">
              <a:lnSpc>
                <a:spcPct val="150000"/>
              </a:lnSpc>
              <a:spcAft>
                <a:spcPct val="40000"/>
              </a:spcAft>
              <a:buNone/>
            </a:pPr>
            <a:r>
              <a:rPr lang="en-US" altLang="zh-CN" dirty="0">
                <a:latin typeface="宋体" panose="02010600030101010101" pitchFamily="2" charset="-122"/>
                <a:ea typeface="宋体" panose="02010600030101010101" pitchFamily="2" charset="-122"/>
              </a:rPr>
              <a:t>AND  BL，[SI]</a:t>
            </a:r>
            <a:endParaRPr lang="zh-CN" altLang="en-US" dirty="0">
              <a:latin typeface="宋体" panose="02010600030101010101" pitchFamily="2" charset="-122"/>
              <a:ea typeface="宋体" panose="02010600030101010101" pitchFamily="2" charset="-122"/>
            </a:endParaRPr>
          </a:p>
          <a:p>
            <a:pPr>
              <a:lnSpc>
                <a:spcPct val="150000"/>
              </a:lnSpc>
              <a:spcAft>
                <a:spcPts val="100"/>
              </a:spcAft>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使目标操作数的某些位不变，某些位清零</a:t>
            </a:r>
            <a:endParaRPr lang="zh-CN" altLang="en-US" sz="2400" dirty="0">
              <a:latin typeface="宋体" panose="02010600030101010101" pitchFamily="2" charset="-122"/>
              <a:ea typeface="宋体" panose="02010600030101010101" pitchFamily="2" charset="-122"/>
            </a:endParaRPr>
          </a:p>
          <a:p>
            <a:pPr marL="457200" lvl="1" indent="0">
              <a:lnSpc>
                <a:spcPct val="150000"/>
              </a:lnSpc>
              <a:spcAft>
                <a:spcPts val="1300"/>
              </a:spcAft>
              <a:buNone/>
            </a:pPr>
            <a:r>
              <a:rPr lang="en-US" altLang="zh-CN" dirty="0">
                <a:latin typeface="宋体" panose="02010600030101010101" pitchFamily="2" charset="-122"/>
                <a:ea typeface="宋体" panose="02010600030101010101" pitchFamily="2" charset="-122"/>
              </a:rPr>
              <a:t>AND  AL，0FH</a:t>
            </a:r>
            <a:endParaRPr lang="zh-CN" altLang="en-US" dirty="0">
              <a:latin typeface="宋体" panose="02010600030101010101" pitchFamily="2" charset="-122"/>
              <a:ea typeface="宋体" panose="02010600030101010101" pitchFamily="2" charset="-122"/>
            </a:endParaRPr>
          </a:p>
          <a:p>
            <a:pPr>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在操作数不变的情况下使</a:t>
            </a:r>
            <a:r>
              <a:rPr lang="en-US" altLang="zh-CN" sz="2400" dirty="0">
                <a:latin typeface="宋体" panose="02010600030101010101" pitchFamily="2" charset="-122"/>
                <a:ea typeface="宋体" panose="02010600030101010101" pitchFamily="2" charset="-122"/>
              </a:rPr>
              <a:t>CF</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OF</a:t>
            </a:r>
            <a:r>
              <a:rPr lang="zh-CN" altLang="en-US" sz="2400" dirty="0">
                <a:latin typeface="宋体" panose="02010600030101010101" pitchFamily="2" charset="-122"/>
                <a:ea typeface="宋体" panose="02010600030101010101" pitchFamily="2" charset="-122"/>
              </a:rPr>
              <a:t>清零</a:t>
            </a:r>
            <a:endParaRPr lang="zh-CN" altLang="en-US" sz="2400" dirty="0">
              <a:latin typeface="宋体" panose="02010600030101010101" pitchFamily="2" charset="-122"/>
              <a:ea typeface="宋体" panose="02010600030101010101" pitchFamily="2" charset="-122"/>
            </a:endParaRPr>
          </a:p>
          <a:p>
            <a:pPr marL="457200" lvl="1" indent="0">
              <a:lnSpc>
                <a:spcPct val="150000"/>
              </a:lnSpc>
              <a:buNone/>
            </a:pPr>
            <a:r>
              <a:rPr lang="en-US" altLang="zh-CN" dirty="0">
                <a:latin typeface="宋体" panose="02010600030101010101" pitchFamily="2" charset="-122"/>
                <a:ea typeface="宋体" panose="02010600030101010101" pitchFamily="2" charset="-122"/>
              </a:rPr>
              <a:t>AND  AX，AX</a:t>
            </a:r>
            <a:endParaRPr lang="zh-CN" altLang="en-US"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9331">
                                            <p:txEl>
                                              <p:charRg st="0" end="14"/>
                                            </p:txEl>
                                          </p:spTgt>
                                        </p:tgtEl>
                                        <p:attrNameLst>
                                          <p:attrName>style.visibility</p:attrName>
                                        </p:attrNameLst>
                                      </p:cBhvr>
                                      <p:to>
                                        <p:strVal val="visible"/>
                                      </p:to>
                                    </p:set>
                                    <p:animEffect transition="in" filter="wipe(left)">
                                      <p:cBhvr>
                                        <p:cTn id="7" dur="500"/>
                                        <p:tgtEl>
                                          <p:spTgt spid="99331">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9331">
                                            <p:txEl>
                                              <p:charRg st="14" end="27"/>
                                            </p:txEl>
                                          </p:spTgt>
                                        </p:tgtEl>
                                        <p:attrNameLst>
                                          <p:attrName>style.visibility</p:attrName>
                                        </p:attrNameLst>
                                      </p:cBhvr>
                                      <p:to>
                                        <p:strVal val="visible"/>
                                      </p:to>
                                    </p:set>
                                    <p:animEffect transition="in" filter="wipe(left)">
                                      <p:cBhvr>
                                        <p:cTn id="12" dur="500"/>
                                        <p:tgtEl>
                                          <p:spTgt spid="99331">
                                            <p:txEl>
                                              <p:charRg st="14" end="2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9331">
                                            <p:txEl>
                                              <p:charRg st="27" end="46"/>
                                            </p:txEl>
                                          </p:spTgt>
                                        </p:tgtEl>
                                        <p:attrNameLst>
                                          <p:attrName>style.visibility</p:attrName>
                                        </p:attrNameLst>
                                      </p:cBhvr>
                                      <p:to>
                                        <p:strVal val="visible"/>
                                      </p:to>
                                    </p:set>
                                    <p:animEffect transition="in" filter="wipe(left)">
                                      <p:cBhvr>
                                        <p:cTn id="17" dur="500"/>
                                        <p:tgtEl>
                                          <p:spTgt spid="99331">
                                            <p:txEl>
                                              <p:charRg st="27" end="4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9331">
                                            <p:txEl>
                                              <p:charRg st="46" end="58"/>
                                            </p:txEl>
                                          </p:spTgt>
                                        </p:tgtEl>
                                        <p:attrNameLst>
                                          <p:attrName>style.visibility</p:attrName>
                                        </p:attrNameLst>
                                      </p:cBhvr>
                                      <p:to>
                                        <p:strVal val="visible"/>
                                      </p:to>
                                    </p:set>
                                    <p:animEffect transition="in" filter="wipe(left)">
                                      <p:cBhvr>
                                        <p:cTn id="22" dur="500"/>
                                        <p:tgtEl>
                                          <p:spTgt spid="99331">
                                            <p:txEl>
                                              <p:charRg st="46" end="5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9331">
                                            <p:txEl>
                                              <p:charRg st="58" end="77"/>
                                            </p:txEl>
                                          </p:spTgt>
                                        </p:tgtEl>
                                        <p:attrNameLst>
                                          <p:attrName>style.visibility</p:attrName>
                                        </p:attrNameLst>
                                      </p:cBhvr>
                                      <p:to>
                                        <p:strVal val="visible"/>
                                      </p:to>
                                    </p:set>
                                    <p:animEffect transition="in" filter="wipe(left)">
                                      <p:cBhvr>
                                        <p:cTn id="27" dur="500"/>
                                        <p:tgtEl>
                                          <p:spTgt spid="99331">
                                            <p:txEl>
                                              <p:charRg st="58" end="7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9331">
                                            <p:txEl>
                                              <p:charRg st="77" end="88"/>
                                            </p:txEl>
                                          </p:spTgt>
                                        </p:tgtEl>
                                        <p:attrNameLst>
                                          <p:attrName>style.visibility</p:attrName>
                                        </p:attrNameLst>
                                      </p:cBhvr>
                                      <p:to>
                                        <p:strVal val="visible"/>
                                      </p:to>
                                    </p:set>
                                    <p:animEffect transition="in" filter="wipe(left)">
                                      <p:cBhvr>
                                        <p:cTn id="32" dur="500"/>
                                        <p:tgtEl>
                                          <p:spTgt spid="99331">
                                            <p:txEl>
                                              <p:charRg st="77" end="8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3"/>
          <p:cNvSpPr>
            <a:spLocks noGrp="1"/>
          </p:cNvSpPr>
          <p:nvPr>
            <p:ph type="body" idx="4294967295"/>
          </p:nvPr>
        </p:nvSpPr>
        <p:spPr>
          <a:xfrm>
            <a:off x="468313" y="1268413"/>
            <a:ext cx="8064500" cy="4691062"/>
          </a:xfrm>
        </p:spPr>
        <p:txBody>
          <a:bodyPr vert="horz" wrap="square" lIns="91440" tIns="45720" rIns="91440" bIns="45720" anchor="t" anchorCtr="0"/>
          <a:p>
            <a:pPr eaLnBrk="1" hangingPunct="1">
              <a:lnSpc>
                <a:spcPct val="130000"/>
              </a:lnSpc>
              <a:spcBef>
                <a:spcPct val="40000"/>
              </a:spcBef>
              <a:spcAft>
                <a:spcPct val="25000"/>
              </a:spcAft>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例</a:t>
            </a:r>
            <a:endParaRPr lang="en-US" altLang="zh-CN" dirty="0">
              <a:latin typeface="宋体" panose="02010600030101010101" pitchFamily="2" charset="-122"/>
              <a:ea typeface="宋体" panose="02010600030101010101" pitchFamily="2" charset="-122"/>
            </a:endParaRPr>
          </a:p>
          <a:p>
            <a:pPr eaLnBrk="1" hangingPunct="1">
              <a:lnSpc>
                <a:spcPct val="150000"/>
              </a:lnSpc>
              <a:spcBef>
                <a:spcPct val="40000"/>
              </a:spcBef>
              <a:spcAft>
                <a:spcPct val="25000"/>
              </a:spcAft>
              <a:buNone/>
            </a:pPr>
            <a:r>
              <a:rPr lang="zh-CN" altLang="en-US"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从地址为</a:t>
            </a:r>
            <a:r>
              <a:rPr lang="en-US" altLang="zh-CN" sz="2400" dirty="0">
                <a:latin typeface="宋体" panose="02010600030101010101" pitchFamily="2" charset="-122"/>
                <a:ea typeface="宋体" panose="02010600030101010101" pitchFamily="2" charset="-122"/>
              </a:rPr>
              <a:t>3F8H</a:t>
            </a:r>
            <a:r>
              <a:rPr lang="zh-CN" altLang="en-US" sz="2400" dirty="0">
                <a:latin typeface="宋体" panose="02010600030101010101" pitchFamily="2" charset="-122"/>
                <a:ea typeface="宋体" panose="02010600030101010101" pitchFamily="2" charset="-122"/>
              </a:rPr>
              <a:t>端口中读入一个字节数，如果该数</a:t>
            </a:r>
            <a:r>
              <a:rPr lang="en-US" altLang="zh-CN" sz="2400" dirty="0">
                <a:latin typeface="宋体" panose="02010600030101010101" pitchFamily="2" charset="-122"/>
                <a:ea typeface="宋体" panose="02010600030101010101" pitchFamily="2" charset="-122"/>
              </a:rPr>
              <a:t>bit1</a:t>
            </a:r>
            <a:r>
              <a:rPr lang="zh-CN" altLang="en-US" sz="2400" dirty="0">
                <a:latin typeface="宋体" panose="02010600030101010101" pitchFamily="2" charset="-122"/>
                <a:ea typeface="宋体" panose="02010600030101010101" pitchFamily="2" charset="-122"/>
              </a:rPr>
              <a:t>位为1，则可从38</a:t>
            </a:r>
            <a:r>
              <a:rPr lang="en-US" altLang="zh-CN" sz="2400" dirty="0">
                <a:latin typeface="宋体" panose="02010600030101010101" pitchFamily="2" charset="-122"/>
                <a:ea typeface="宋体" panose="02010600030101010101" pitchFamily="2" charset="-122"/>
              </a:rPr>
              <a:t>FH</a:t>
            </a:r>
            <a:r>
              <a:rPr lang="zh-CN" altLang="en-US" sz="2400" dirty="0">
                <a:latin typeface="宋体" panose="02010600030101010101" pitchFamily="2" charset="-122"/>
                <a:ea typeface="宋体" panose="02010600030101010101" pitchFamily="2" charset="-122"/>
              </a:rPr>
              <a:t>端口将</a:t>
            </a:r>
            <a:r>
              <a:rPr lang="en-US" altLang="zh-CN" sz="2400" dirty="0">
                <a:latin typeface="宋体" panose="02010600030101010101" pitchFamily="2" charset="-122"/>
                <a:ea typeface="宋体" panose="02010600030101010101" pitchFamily="2" charset="-122"/>
              </a:rPr>
              <a:t>DATA</a:t>
            </a:r>
            <a:r>
              <a:rPr lang="zh-CN" altLang="en-US" sz="2400" dirty="0">
                <a:latin typeface="宋体" panose="02010600030101010101" pitchFamily="2" charset="-122"/>
                <a:ea typeface="宋体" panose="02010600030101010101" pitchFamily="2" charset="-122"/>
              </a:rPr>
              <a:t>为首地址的一个字输出，否则就不能进行数据传送。编写相应的程序段。</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AutoShape 3"/>
          <p:cNvSpPr/>
          <p:nvPr/>
        </p:nvSpPr>
        <p:spPr>
          <a:xfrm>
            <a:off x="1563688" y="1628775"/>
            <a:ext cx="1447800" cy="533400"/>
          </a:xfrm>
          <a:prstGeom prst="flowChartAlternateProcess">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01379" name="AutoShape 4"/>
          <p:cNvSpPr/>
          <p:nvPr/>
        </p:nvSpPr>
        <p:spPr>
          <a:xfrm>
            <a:off x="1192213" y="2709863"/>
            <a:ext cx="2209800" cy="838200"/>
          </a:xfrm>
          <a:prstGeom prst="flowChartProcess">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01380" name="Text Box 5"/>
          <p:cNvSpPr txBox="1"/>
          <p:nvPr/>
        </p:nvSpPr>
        <p:spPr>
          <a:xfrm>
            <a:off x="1835150" y="1700213"/>
            <a:ext cx="1066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开  始</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101381" name="Text Box 6"/>
          <p:cNvSpPr txBox="1"/>
          <p:nvPr/>
        </p:nvSpPr>
        <p:spPr>
          <a:xfrm>
            <a:off x="1263650" y="2709863"/>
            <a:ext cx="2057400" cy="82232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取待输出数的偏移地址</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101382" name="AutoShape 7"/>
          <p:cNvSpPr/>
          <p:nvPr/>
        </p:nvSpPr>
        <p:spPr>
          <a:xfrm>
            <a:off x="1182688" y="5224463"/>
            <a:ext cx="2209800" cy="609600"/>
          </a:xfrm>
          <a:prstGeom prst="flowChartProcess">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01383" name="AutoShape 8"/>
          <p:cNvSpPr/>
          <p:nvPr/>
        </p:nvSpPr>
        <p:spPr>
          <a:xfrm>
            <a:off x="5173663" y="2038350"/>
            <a:ext cx="2209800" cy="609600"/>
          </a:xfrm>
          <a:prstGeom prst="flowChartProcess">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01384" name="Text Box 9"/>
          <p:cNvSpPr txBox="1"/>
          <p:nvPr/>
        </p:nvSpPr>
        <p:spPr>
          <a:xfrm>
            <a:off x="1411288" y="5300663"/>
            <a:ext cx="1828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读入状态字</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101385" name="Text Box 10"/>
          <p:cNvSpPr txBox="1"/>
          <p:nvPr/>
        </p:nvSpPr>
        <p:spPr>
          <a:xfrm>
            <a:off x="5207000" y="2114550"/>
            <a:ext cx="22860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测试</a:t>
            </a:r>
            <a:r>
              <a:rPr lang="en-US" altLang="zh-CN" sz="2400" b="1" dirty="0">
                <a:solidFill>
                  <a:schemeClr val="bg1"/>
                </a:solidFill>
                <a:latin typeface="Times New Roman" panose="02020603050405020304" pitchFamily="18" charset="0"/>
                <a:ea typeface="宋体" panose="02010600030101010101" pitchFamily="2" charset="-122"/>
              </a:rPr>
              <a:t>bit1</a:t>
            </a:r>
            <a:r>
              <a:rPr lang="zh-CN" altLang="en-US" sz="2400" b="1" dirty="0">
                <a:solidFill>
                  <a:schemeClr val="bg1"/>
                </a:solidFill>
                <a:latin typeface="Times New Roman" panose="02020603050405020304" pitchFamily="18" charset="0"/>
                <a:ea typeface="宋体" panose="02010600030101010101" pitchFamily="2" charset="-122"/>
              </a:rPr>
              <a:t>位状态</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101386" name="AutoShape 11"/>
          <p:cNvSpPr/>
          <p:nvPr/>
        </p:nvSpPr>
        <p:spPr>
          <a:xfrm>
            <a:off x="5011738" y="3167063"/>
            <a:ext cx="2514600" cy="685800"/>
          </a:xfrm>
          <a:prstGeom prst="flowChartDecision">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01387" name="Text Box 12"/>
          <p:cNvSpPr txBox="1"/>
          <p:nvPr/>
        </p:nvSpPr>
        <p:spPr>
          <a:xfrm>
            <a:off x="5697538" y="3290888"/>
            <a:ext cx="16002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Bit1=1？</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01388" name="AutoShape 13"/>
          <p:cNvSpPr/>
          <p:nvPr/>
        </p:nvSpPr>
        <p:spPr>
          <a:xfrm>
            <a:off x="1182688" y="4081463"/>
            <a:ext cx="2209800" cy="609600"/>
          </a:xfrm>
          <a:prstGeom prst="flowChartProcess">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01389" name="Text Box 14"/>
          <p:cNvSpPr txBox="1"/>
          <p:nvPr/>
        </p:nvSpPr>
        <p:spPr>
          <a:xfrm>
            <a:off x="1254125" y="4157663"/>
            <a:ext cx="2057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取输入口地址</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101390" name="AutoShape 15"/>
          <p:cNvSpPr/>
          <p:nvPr/>
        </p:nvSpPr>
        <p:spPr>
          <a:xfrm>
            <a:off x="5164138" y="4400550"/>
            <a:ext cx="2209800" cy="609600"/>
          </a:xfrm>
          <a:prstGeom prst="flowChartProcess">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01391" name="Text Box 16"/>
          <p:cNvSpPr txBox="1"/>
          <p:nvPr/>
        </p:nvSpPr>
        <p:spPr>
          <a:xfrm>
            <a:off x="5235575" y="4476750"/>
            <a:ext cx="2057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取输出口地址</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101392" name="AutoShape 17"/>
          <p:cNvSpPr/>
          <p:nvPr/>
        </p:nvSpPr>
        <p:spPr>
          <a:xfrm>
            <a:off x="5173663" y="5495925"/>
            <a:ext cx="2209800" cy="609600"/>
          </a:xfrm>
          <a:prstGeom prst="flowChartProcess">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01393" name="Text Box 18"/>
          <p:cNvSpPr txBox="1"/>
          <p:nvPr/>
        </p:nvSpPr>
        <p:spPr>
          <a:xfrm>
            <a:off x="5245100" y="5572125"/>
            <a:ext cx="2057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2"/>
                </a:solidFill>
                <a:latin typeface="Times New Roman" panose="02020603050405020304" pitchFamily="18" charset="0"/>
                <a:ea typeface="宋体" panose="02010600030101010101" pitchFamily="2" charset="-122"/>
              </a:rPr>
              <a:t>  </a:t>
            </a:r>
            <a:r>
              <a:rPr lang="zh-CN" altLang="en-US" sz="2400" b="1" dirty="0">
                <a:solidFill>
                  <a:schemeClr val="bg1"/>
                </a:solidFill>
                <a:latin typeface="Times New Roman" panose="02020603050405020304" pitchFamily="18" charset="0"/>
                <a:ea typeface="宋体" panose="02010600030101010101" pitchFamily="2" charset="-122"/>
              </a:rPr>
              <a:t>输出一个字</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101394" name="Line 19"/>
          <p:cNvSpPr/>
          <p:nvPr/>
        </p:nvSpPr>
        <p:spPr>
          <a:xfrm>
            <a:off x="2292350" y="2176463"/>
            <a:ext cx="0" cy="533400"/>
          </a:xfrm>
          <a:prstGeom prst="line">
            <a:avLst/>
          </a:prstGeom>
          <a:ln w="25400" cap="sq" cmpd="sng">
            <a:solidFill>
              <a:srgbClr val="FF6600"/>
            </a:solidFill>
            <a:prstDash val="solid"/>
            <a:headEnd type="none" w="med" len="med"/>
            <a:tailEnd type="triangle" w="lg" len="lg"/>
          </a:ln>
        </p:spPr>
      </p:sp>
      <p:sp>
        <p:nvSpPr>
          <p:cNvPr id="101395" name="Line 20"/>
          <p:cNvSpPr/>
          <p:nvPr/>
        </p:nvSpPr>
        <p:spPr>
          <a:xfrm>
            <a:off x="2292350" y="3548063"/>
            <a:ext cx="0" cy="533400"/>
          </a:xfrm>
          <a:prstGeom prst="line">
            <a:avLst/>
          </a:prstGeom>
          <a:ln w="25400" cap="sq" cmpd="sng">
            <a:solidFill>
              <a:srgbClr val="FF6600"/>
            </a:solidFill>
            <a:prstDash val="solid"/>
            <a:headEnd type="none" w="med" len="med"/>
            <a:tailEnd type="triangle" w="lg" len="lg"/>
          </a:ln>
        </p:spPr>
      </p:sp>
      <p:sp>
        <p:nvSpPr>
          <p:cNvPr id="101396" name="Line 21"/>
          <p:cNvSpPr/>
          <p:nvPr/>
        </p:nvSpPr>
        <p:spPr>
          <a:xfrm>
            <a:off x="2292350" y="4691063"/>
            <a:ext cx="0" cy="533400"/>
          </a:xfrm>
          <a:prstGeom prst="line">
            <a:avLst/>
          </a:prstGeom>
          <a:ln w="25400" cap="sq" cmpd="sng">
            <a:solidFill>
              <a:srgbClr val="FF6600"/>
            </a:solidFill>
            <a:prstDash val="solid"/>
            <a:headEnd type="none" w="med" len="med"/>
            <a:tailEnd type="triangle" w="lg" len="lg"/>
          </a:ln>
        </p:spPr>
      </p:sp>
      <p:sp>
        <p:nvSpPr>
          <p:cNvPr id="101397" name="Line 22"/>
          <p:cNvSpPr/>
          <p:nvPr/>
        </p:nvSpPr>
        <p:spPr>
          <a:xfrm>
            <a:off x="2292350" y="5834063"/>
            <a:ext cx="0" cy="457200"/>
          </a:xfrm>
          <a:prstGeom prst="line">
            <a:avLst/>
          </a:prstGeom>
          <a:ln w="25400" cap="sq" cmpd="sng">
            <a:solidFill>
              <a:srgbClr val="FF6600"/>
            </a:solidFill>
            <a:prstDash val="solid"/>
            <a:headEnd type="none" w="med" len="med"/>
            <a:tailEnd type="none" w="med" len="med"/>
          </a:ln>
        </p:spPr>
      </p:sp>
      <p:sp>
        <p:nvSpPr>
          <p:cNvPr id="101398" name="Line 23"/>
          <p:cNvSpPr/>
          <p:nvPr/>
        </p:nvSpPr>
        <p:spPr>
          <a:xfrm>
            <a:off x="2292350" y="6291263"/>
            <a:ext cx="1828800" cy="0"/>
          </a:xfrm>
          <a:prstGeom prst="line">
            <a:avLst/>
          </a:prstGeom>
          <a:ln w="25400" cap="sq" cmpd="sng">
            <a:solidFill>
              <a:srgbClr val="FF6600"/>
            </a:solidFill>
            <a:prstDash val="solid"/>
            <a:headEnd type="none" w="med" len="med"/>
            <a:tailEnd type="none" w="med" len="med"/>
          </a:ln>
        </p:spPr>
      </p:sp>
      <p:sp>
        <p:nvSpPr>
          <p:cNvPr id="101399" name="Line 24"/>
          <p:cNvSpPr/>
          <p:nvPr/>
        </p:nvSpPr>
        <p:spPr>
          <a:xfrm flipV="1">
            <a:off x="4121150" y="1490663"/>
            <a:ext cx="0" cy="4800600"/>
          </a:xfrm>
          <a:prstGeom prst="line">
            <a:avLst/>
          </a:prstGeom>
          <a:ln w="25400" cap="sq" cmpd="sng">
            <a:solidFill>
              <a:srgbClr val="FF6600"/>
            </a:solidFill>
            <a:prstDash val="solid"/>
            <a:headEnd type="none" w="med" len="med"/>
            <a:tailEnd type="none" w="med" len="med"/>
          </a:ln>
        </p:spPr>
      </p:sp>
      <p:sp>
        <p:nvSpPr>
          <p:cNvPr id="101400" name="Line 25"/>
          <p:cNvSpPr/>
          <p:nvPr/>
        </p:nvSpPr>
        <p:spPr>
          <a:xfrm>
            <a:off x="4121150" y="1490663"/>
            <a:ext cx="2133600" cy="0"/>
          </a:xfrm>
          <a:prstGeom prst="line">
            <a:avLst/>
          </a:prstGeom>
          <a:ln w="25400" cap="sq" cmpd="sng">
            <a:solidFill>
              <a:srgbClr val="FF6600"/>
            </a:solidFill>
            <a:prstDash val="solid"/>
            <a:headEnd type="none" w="med" len="med"/>
            <a:tailEnd type="none" w="med" len="med"/>
          </a:ln>
        </p:spPr>
      </p:sp>
      <p:sp>
        <p:nvSpPr>
          <p:cNvPr id="101401" name="Line 26"/>
          <p:cNvSpPr/>
          <p:nvPr/>
        </p:nvSpPr>
        <p:spPr>
          <a:xfrm>
            <a:off x="6254750" y="1490663"/>
            <a:ext cx="0" cy="533400"/>
          </a:xfrm>
          <a:prstGeom prst="line">
            <a:avLst/>
          </a:prstGeom>
          <a:ln w="25400" cap="sq" cmpd="sng">
            <a:solidFill>
              <a:srgbClr val="FF6600"/>
            </a:solidFill>
            <a:prstDash val="solid"/>
            <a:headEnd type="none" w="med" len="med"/>
            <a:tailEnd type="triangle" w="lg" len="lg"/>
          </a:ln>
        </p:spPr>
      </p:sp>
      <p:sp>
        <p:nvSpPr>
          <p:cNvPr id="101402" name="Line 27"/>
          <p:cNvSpPr/>
          <p:nvPr/>
        </p:nvSpPr>
        <p:spPr>
          <a:xfrm flipV="1">
            <a:off x="4502150" y="3505200"/>
            <a:ext cx="533400" cy="14288"/>
          </a:xfrm>
          <a:prstGeom prst="line">
            <a:avLst/>
          </a:prstGeom>
          <a:ln w="25400" cap="sq" cmpd="sng">
            <a:solidFill>
              <a:schemeClr val="tx1"/>
            </a:solidFill>
            <a:prstDash val="solid"/>
            <a:headEnd type="none" w="med" len="med"/>
            <a:tailEnd type="none" w="med" len="med"/>
          </a:ln>
        </p:spPr>
      </p:sp>
      <p:sp>
        <p:nvSpPr>
          <p:cNvPr id="101403" name="Line 28"/>
          <p:cNvSpPr/>
          <p:nvPr/>
        </p:nvSpPr>
        <p:spPr>
          <a:xfrm flipV="1">
            <a:off x="4502150" y="3548063"/>
            <a:ext cx="0" cy="1292225"/>
          </a:xfrm>
          <a:prstGeom prst="line">
            <a:avLst/>
          </a:prstGeom>
          <a:ln w="25400" cap="sq" cmpd="sng">
            <a:solidFill>
              <a:schemeClr val="tx1"/>
            </a:solidFill>
            <a:prstDash val="solid"/>
            <a:headEnd type="none" w="med" len="med"/>
            <a:tailEnd type="none" w="med" len="med"/>
          </a:ln>
        </p:spPr>
      </p:sp>
      <p:sp>
        <p:nvSpPr>
          <p:cNvPr id="101404" name="Line 29"/>
          <p:cNvSpPr/>
          <p:nvPr/>
        </p:nvSpPr>
        <p:spPr>
          <a:xfrm flipH="1">
            <a:off x="2292350" y="4843463"/>
            <a:ext cx="2209800" cy="0"/>
          </a:xfrm>
          <a:prstGeom prst="line">
            <a:avLst/>
          </a:prstGeom>
          <a:ln w="25400" cap="sq" cmpd="sng">
            <a:solidFill>
              <a:schemeClr val="tx1"/>
            </a:solidFill>
            <a:prstDash val="solid"/>
            <a:headEnd type="none" w="med" len="med"/>
            <a:tailEnd type="triangle" w="lg" len="med"/>
          </a:ln>
        </p:spPr>
      </p:sp>
      <p:sp>
        <p:nvSpPr>
          <p:cNvPr id="101405" name="Text Box 30"/>
          <p:cNvSpPr txBox="1"/>
          <p:nvPr/>
        </p:nvSpPr>
        <p:spPr>
          <a:xfrm>
            <a:off x="4573588" y="3097213"/>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N</a:t>
            </a:r>
            <a:endParaRPr lang="en-US" altLang="zh-CN" sz="2400" b="1" dirty="0">
              <a:latin typeface="Times New Roman" panose="02020603050405020304" pitchFamily="18" charset="0"/>
              <a:ea typeface="宋体" panose="02010600030101010101" pitchFamily="2" charset="-122"/>
            </a:endParaRPr>
          </a:p>
        </p:txBody>
      </p:sp>
      <p:sp>
        <p:nvSpPr>
          <p:cNvPr id="101406" name="Line 31"/>
          <p:cNvSpPr/>
          <p:nvPr/>
        </p:nvSpPr>
        <p:spPr>
          <a:xfrm>
            <a:off x="6254750" y="2633663"/>
            <a:ext cx="0" cy="533400"/>
          </a:xfrm>
          <a:prstGeom prst="line">
            <a:avLst/>
          </a:prstGeom>
          <a:ln w="25400" cap="sq" cmpd="sng">
            <a:solidFill>
              <a:srgbClr val="FF6600"/>
            </a:solidFill>
            <a:prstDash val="solid"/>
            <a:headEnd type="none" w="med" len="med"/>
            <a:tailEnd type="triangle" w="lg" len="lg"/>
          </a:ln>
        </p:spPr>
      </p:sp>
      <p:sp>
        <p:nvSpPr>
          <p:cNvPr id="101407" name="Line 32"/>
          <p:cNvSpPr/>
          <p:nvPr/>
        </p:nvSpPr>
        <p:spPr>
          <a:xfrm>
            <a:off x="6254750" y="3852863"/>
            <a:ext cx="0" cy="533400"/>
          </a:xfrm>
          <a:prstGeom prst="line">
            <a:avLst/>
          </a:prstGeom>
          <a:ln w="25400" cap="sq" cmpd="sng">
            <a:solidFill>
              <a:srgbClr val="FF6600"/>
            </a:solidFill>
            <a:prstDash val="solid"/>
            <a:headEnd type="none" w="med" len="med"/>
            <a:tailEnd type="triangle" w="lg" len="lg"/>
          </a:ln>
        </p:spPr>
      </p:sp>
      <p:sp>
        <p:nvSpPr>
          <p:cNvPr id="101408" name="Line 33"/>
          <p:cNvSpPr/>
          <p:nvPr/>
        </p:nvSpPr>
        <p:spPr>
          <a:xfrm>
            <a:off x="6254750" y="5024438"/>
            <a:ext cx="0" cy="457200"/>
          </a:xfrm>
          <a:prstGeom prst="line">
            <a:avLst/>
          </a:prstGeom>
          <a:ln w="25400" cap="sq" cmpd="sng">
            <a:solidFill>
              <a:srgbClr val="FF6600"/>
            </a:solidFill>
            <a:prstDash val="solid"/>
            <a:headEnd type="none" w="med" len="med"/>
            <a:tailEnd type="triangle" w="lg" len="lg"/>
          </a:ln>
        </p:spPr>
      </p:sp>
      <p:sp>
        <p:nvSpPr>
          <p:cNvPr id="101409" name="Text Box 34"/>
          <p:cNvSpPr txBox="1"/>
          <p:nvPr/>
        </p:nvSpPr>
        <p:spPr>
          <a:xfrm>
            <a:off x="6335713" y="3852863"/>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Y</a:t>
            </a:r>
            <a:endParaRPr lang="en-US" altLang="zh-CN" sz="2400" b="1" dirty="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wipe(left)">
                                      <p:cBhvr>
                                        <p:cTn id="7" dur="500"/>
                                        <p:tgtEl>
                                          <p:spTgt spid="101378"/>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101380"/>
                                        </p:tgtEl>
                                        <p:attrNameLst>
                                          <p:attrName>style.visibility</p:attrName>
                                        </p:attrNameLst>
                                      </p:cBhvr>
                                      <p:to>
                                        <p:strVal val="visible"/>
                                      </p:to>
                                    </p:set>
                                    <p:animEffect transition="in" filter="strips(downRight)">
                                      <p:cBhvr>
                                        <p:cTn id="10" dur="500"/>
                                        <p:tgtEl>
                                          <p:spTgt spid="101380"/>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101394"/>
                                        </p:tgtEl>
                                        <p:attrNameLst>
                                          <p:attrName>style.visibility</p:attrName>
                                        </p:attrNameLst>
                                      </p:cBhvr>
                                      <p:to>
                                        <p:strVal val="visible"/>
                                      </p:to>
                                    </p:set>
                                    <p:animEffect transition="in" filter="wipe(up)">
                                      <p:cBhvr>
                                        <p:cTn id="14" dur="500"/>
                                        <p:tgtEl>
                                          <p:spTgt spid="10139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01379"/>
                                        </p:tgtEl>
                                        <p:attrNameLst>
                                          <p:attrName>style.visibility</p:attrName>
                                        </p:attrNameLst>
                                      </p:cBhvr>
                                      <p:to>
                                        <p:strVal val="visible"/>
                                      </p:to>
                                    </p:set>
                                    <p:animEffect transition="in" filter="wipe(left)">
                                      <p:cBhvr>
                                        <p:cTn id="19" dur="500"/>
                                        <p:tgtEl>
                                          <p:spTgt spid="101379"/>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01381"/>
                                        </p:tgtEl>
                                        <p:attrNameLst>
                                          <p:attrName>style.visibility</p:attrName>
                                        </p:attrNameLst>
                                      </p:cBhvr>
                                      <p:to>
                                        <p:strVal val="visible"/>
                                      </p:to>
                                    </p:set>
                                    <p:animEffect transition="in" filter="wipe(left)">
                                      <p:cBhvr>
                                        <p:cTn id="22" dur="500"/>
                                        <p:tgtEl>
                                          <p:spTgt spid="101381"/>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101395"/>
                                        </p:tgtEl>
                                        <p:attrNameLst>
                                          <p:attrName>style.visibility</p:attrName>
                                        </p:attrNameLst>
                                      </p:cBhvr>
                                      <p:to>
                                        <p:strVal val="visible"/>
                                      </p:to>
                                    </p:set>
                                    <p:animEffect transition="in" filter="wipe(up)">
                                      <p:cBhvr>
                                        <p:cTn id="26" dur="500"/>
                                        <p:tgtEl>
                                          <p:spTgt spid="10139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1388"/>
                                        </p:tgtEl>
                                        <p:attrNameLst>
                                          <p:attrName>style.visibility</p:attrName>
                                        </p:attrNameLst>
                                      </p:cBhvr>
                                      <p:to>
                                        <p:strVal val="visible"/>
                                      </p:to>
                                    </p:set>
                                    <p:animEffect transition="in" filter="wipe(left)">
                                      <p:cBhvr>
                                        <p:cTn id="31" dur="500"/>
                                        <p:tgtEl>
                                          <p:spTgt spid="101388"/>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01389"/>
                                        </p:tgtEl>
                                        <p:attrNameLst>
                                          <p:attrName>style.visibility</p:attrName>
                                        </p:attrNameLst>
                                      </p:cBhvr>
                                      <p:to>
                                        <p:strVal val="visible"/>
                                      </p:to>
                                    </p:set>
                                    <p:animEffect transition="in" filter="wipe(left)">
                                      <p:cBhvr>
                                        <p:cTn id="34" dur="500"/>
                                        <p:tgtEl>
                                          <p:spTgt spid="101389"/>
                                        </p:tgtEl>
                                      </p:cBhvr>
                                    </p:animEffect>
                                  </p:childTnLst>
                                </p:cTn>
                              </p:par>
                            </p:childTnLst>
                          </p:cTn>
                        </p:par>
                        <p:par>
                          <p:cTn id="35" fill="hold">
                            <p:stCondLst>
                              <p:cond delay="500"/>
                            </p:stCondLst>
                            <p:childTnLst>
                              <p:par>
                                <p:cTn id="36" presetID="22" presetClass="entr" presetSubtype="1" fill="hold" nodeType="afterEffect">
                                  <p:stCondLst>
                                    <p:cond delay="0"/>
                                  </p:stCondLst>
                                  <p:childTnLst>
                                    <p:set>
                                      <p:cBhvr>
                                        <p:cTn id="37" dur="1" fill="hold">
                                          <p:stCondLst>
                                            <p:cond delay="0"/>
                                          </p:stCondLst>
                                        </p:cTn>
                                        <p:tgtEl>
                                          <p:spTgt spid="101396"/>
                                        </p:tgtEl>
                                        <p:attrNameLst>
                                          <p:attrName>style.visibility</p:attrName>
                                        </p:attrNameLst>
                                      </p:cBhvr>
                                      <p:to>
                                        <p:strVal val="visible"/>
                                      </p:to>
                                    </p:set>
                                    <p:animEffect transition="in" filter="wipe(up)">
                                      <p:cBhvr>
                                        <p:cTn id="38" dur="500"/>
                                        <p:tgtEl>
                                          <p:spTgt spid="10139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01382"/>
                                        </p:tgtEl>
                                        <p:attrNameLst>
                                          <p:attrName>style.visibility</p:attrName>
                                        </p:attrNameLst>
                                      </p:cBhvr>
                                      <p:to>
                                        <p:strVal val="visible"/>
                                      </p:to>
                                    </p:set>
                                    <p:animEffect transition="in" filter="wipe(left)">
                                      <p:cBhvr>
                                        <p:cTn id="43" dur="500"/>
                                        <p:tgtEl>
                                          <p:spTgt spid="101382"/>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01384"/>
                                        </p:tgtEl>
                                        <p:attrNameLst>
                                          <p:attrName>style.visibility</p:attrName>
                                        </p:attrNameLst>
                                      </p:cBhvr>
                                      <p:to>
                                        <p:strVal val="visible"/>
                                      </p:to>
                                    </p:set>
                                    <p:animEffect transition="in" filter="wipe(left)">
                                      <p:cBhvr>
                                        <p:cTn id="46" dur="500"/>
                                        <p:tgtEl>
                                          <p:spTgt spid="101384"/>
                                        </p:tgtEl>
                                      </p:cBhvr>
                                    </p:animEffect>
                                  </p:childTnLst>
                                </p:cTn>
                              </p:par>
                            </p:childTnLst>
                          </p:cTn>
                        </p:par>
                        <p:par>
                          <p:cTn id="47" fill="hold">
                            <p:stCondLst>
                              <p:cond delay="500"/>
                            </p:stCondLst>
                            <p:childTnLst>
                              <p:par>
                                <p:cTn id="48" presetID="22" presetClass="entr" presetSubtype="1" fill="hold" nodeType="afterEffect">
                                  <p:stCondLst>
                                    <p:cond delay="0"/>
                                  </p:stCondLst>
                                  <p:childTnLst>
                                    <p:set>
                                      <p:cBhvr>
                                        <p:cTn id="49" dur="1" fill="hold">
                                          <p:stCondLst>
                                            <p:cond delay="0"/>
                                          </p:stCondLst>
                                        </p:cTn>
                                        <p:tgtEl>
                                          <p:spTgt spid="101397"/>
                                        </p:tgtEl>
                                        <p:attrNameLst>
                                          <p:attrName>style.visibility</p:attrName>
                                        </p:attrNameLst>
                                      </p:cBhvr>
                                      <p:to>
                                        <p:strVal val="visible"/>
                                      </p:to>
                                    </p:set>
                                    <p:animEffect transition="in" filter="wipe(up)">
                                      <p:cBhvr>
                                        <p:cTn id="50" dur="500"/>
                                        <p:tgtEl>
                                          <p:spTgt spid="101397"/>
                                        </p:tgtEl>
                                      </p:cBhvr>
                                    </p:animEffect>
                                  </p:childTnLst>
                                </p:cTn>
                              </p:par>
                            </p:childTnLst>
                          </p:cTn>
                        </p:par>
                        <p:par>
                          <p:cTn id="51" fill="hold">
                            <p:stCondLst>
                              <p:cond delay="1000"/>
                            </p:stCondLst>
                            <p:childTnLst>
                              <p:par>
                                <p:cTn id="52" presetID="22" presetClass="entr" presetSubtype="8" fill="hold" nodeType="afterEffect">
                                  <p:stCondLst>
                                    <p:cond delay="0"/>
                                  </p:stCondLst>
                                  <p:childTnLst>
                                    <p:set>
                                      <p:cBhvr>
                                        <p:cTn id="53" dur="1" fill="hold">
                                          <p:stCondLst>
                                            <p:cond delay="0"/>
                                          </p:stCondLst>
                                        </p:cTn>
                                        <p:tgtEl>
                                          <p:spTgt spid="101398"/>
                                        </p:tgtEl>
                                        <p:attrNameLst>
                                          <p:attrName>style.visibility</p:attrName>
                                        </p:attrNameLst>
                                      </p:cBhvr>
                                      <p:to>
                                        <p:strVal val="visible"/>
                                      </p:to>
                                    </p:set>
                                    <p:animEffect transition="in" filter="wipe(left)">
                                      <p:cBhvr>
                                        <p:cTn id="54" dur="500"/>
                                        <p:tgtEl>
                                          <p:spTgt spid="101398"/>
                                        </p:tgtEl>
                                      </p:cBhvr>
                                    </p:animEffect>
                                  </p:childTnLst>
                                </p:cTn>
                              </p:par>
                            </p:childTnLst>
                          </p:cTn>
                        </p:par>
                        <p:par>
                          <p:cTn id="55" fill="hold">
                            <p:stCondLst>
                              <p:cond delay="1500"/>
                            </p:stCondLst>
                            <p:childTnLst>
                              <p:par>
                                <p:cTn id="56" presetID="18" presetClass="entr" presetSubtype="3" fill="hold" nodeType="afterEffect">
                                  <p:stCondLst>
                                    <p:cond delay="0"/>
                                  </p:stCondLst>
                                  <p:childTnLst>
                                    <p:set>
                                      <p:cBhvr>
                                        <p:cTn id="57" dur="1" fill="hold">
                                          <p:stCondLst>
                                            <p:cond delay="0"/>
                                          </p:stCondLst>
                                        </p:cTn>
                                        <p:tgtEl>
                                          <p:spTgt spid="101399"/>
                                        </p:tgtEl>
                                        <p:attrNameLst>
                                          <p:attrName>style.visibility</p:attrName>
                                        </p:attrNameLst>
                                      </p:cBhvr>
                                      <p:to>
                                        <p:strVal val="visible"/>
                                      </p:to>
                                    </p:set>
                                    <p:animEffect transition="in" filter="strips(upRight)">
                                      <p:cBhvr>
                                        <p:cTn id="58" dur="1000"/>
                                        <p:tgtEl>
                                          <p:spTgt spid="101399"/>
                                        </p:tgtEl>
                                      </p:cBhvr>
                                    </p:animEffect>
                                  </p:childTnLst>
                                </p:cTn>
                              </p:par>
                            </p:childTnLst>
                          </p:cTn>
                        </p:par>
                        <p:par>
                          <p:cTn id="59" fill="hold">
                            <p:stCondLst>
                              <p:cond delay="2500"/>
                            </p:stCondLst>
                            <p:childTnLst>
                              <p:par>
                                <p:cTn id="60" presetID="22" presetClass="entr" presetSubtype="4" fill="hold" nodeType="afterEffect">
                                  <p:stCondLst>
                                    <p:cond delay="0"/>
                                  </p:stCondLst>
                                  <p:childTnLst>
                                    <p:set>
                                      <p:cBhvr>
                                        <p:cTn id="61" dur="1" fill="hold">
                                          <p:stCondLst>
                                            <p:cond delay="0"/>
                                          </p:stCondLst>
                                        </p:cTn>
                                        <p:tgtEl>
                                          <p:spTgt spid="101400"/>
                                        </p:tgtEl>
                                        <p:attrNameLst>
                                          <p:attrName>style.visibility</p:attrName>
                                        </p:attrNameLst>
                                      </p:cBhvr>
                                      <p:to>
                                        <p:strVal val="visible"/>
                                      </p:to>
                                    </p:set>
                                    <p:animEffect transition="in" filter="wipe(down)">
                                      <p:cBhvr>
                                        <p:cTn id="62" dur="500"/>
                                        <p:tgtEl>
                                          <p:spTgt spid="101400"/>
                                        </p:tgtEl>
                                      </p:cBhvr>
                                    </p:animEffect>
                                  </p:childTnLst>
                                </p:cTn>
                              </p:par>
                            </p:childTnLst>
                          </p:cTn>
                        </p:par>
                        <p:par>
                          <p:cTn id="63" fill="hold">
                            <p:stCondLst>
                              <p:cond delay="3000"/>
                            </p:stCondLst>
                            <p:childTnLst>
                              <p:par>
                                <p:cTn id="64" presetID="22" presetClass="entr" presetSubtype="1" fill="hold" nodeType="afterEffect">
                                  <p:stCondLst>
                                    <p:cond delay="0"/>
                                  </p:stCondLst>
                                  <p:childTnLst>
                                    <p:set>
                                      <p:cBhvr>
                                        <p:cTn id="65" dur="1" fill="hold">
                                          <p:stCondLst>
                                            <p:cond delay="0"/>
                                          </p:stCondLst>
                                        </p:cTn>
                                        <p:tgtEl>
                                          <p:spTgt spid="101401"/>
                                        </p:tgtEl>
                                        <p:attrNameLst>
                                          <p:attrName>style.visibility</p:attrName>
                                        </p:attrNameLst>
                                      </p:cBhvr>
                                      <p:to>
                                        <p:strVal val="visible"/>
                                      </p:to>
                                    </p:set>
                                    <p:animEffect transition="in" filter="wipe(up)">
                                      <p:cBhvr>
                                        <p:cTn id="66" dur="500"/>
                                        <p:tgtEl>
                                          <p:spTgt spid="101401"/>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01383"/>
                                        </p:tgtEl>
                                        <p:attrNameLst>
                                          <p:attrName>style.visibility</p:attrName>
                                        </p:attrNameLst>
                                      </p:cBhvr>
                                      <p:to>
                                        <p:strVal val="visible"/>
                                      </p:to>
                                    </p:set>
                                    <p:animEffect transition="in" filter="wipe(left)">
                                      <p:cBhvr>
                                        <p:cTn id="71" dur="500"/>
                                        <p:tgtEl>
                                          <p:spTgt spid="101383"/>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101385"/>
                                        </p:tgtEl>
                                        <p:attrNameLst>
                                          <p:attrName>style.visibility</p:attrName>
                                        </p:attrNameLst>
                                      </p:cBhvr>
                                      <p:to>
                                        <p:strVal val="visible"/>
                                      </p:to>
                                    </p:set>
                                    <p:animEffect transition="in" filter="wipe(left)">
                                      <p:cBhvr>
                                        <p:cTn id="74" dur="500"/>
                                        <p:tgtEl>
                                          <p:spTgt spid="101385"/>
                                        </p:tgtEl>
                                      </p:cBhvr>
                                    </p:animEffect>
                                  </p:childTnLst>
                                </p:cTn>
                              </p:par>
                            </p:childTnLst>
                          </p:cTn>
                        </p:par>
                        <p:par>
                          <p:cTn id="75" fill="hold">
                            <p:stCondLst>
                              <p:cond delay="500"/>
                            </p:stCondLst>
                            <p:childTnLst>
                              <p:par>
                                <p:cTn id="76" presetID="22" presetClass="entr" presetSubtype="1" fill="hold" nodeType="afterEffect">
                                  <p:stCondLst>
                                    <p:cond delay="0"/>
                                  </p:stCondLst>
                                  <p:childTnLst>
                                    <p:set>
                                      <p:cBhvr>
                                        <p:cTn id="77" dur="1" fill="hold">
                                          <p:stCondLst>
                                            <p:cond delay="0"/>
                                          </p:stCondLst>
                                        </p:cTn>
                                        <p:tgtEl>
                                          <p:spTgt spid="101406"/>
                                        </p:tgtEl>
                                        <p:attrNameLst>
                                          <p:attrName>style.visibility</p:attrName>
                                        </p:attrNameLst>
                                      </p:cBhvr>
                                      <p:to>
                                        <p:strVal val="visible"/>
                                      </p:to>
                                    </p:set>
                                    <p:animEffect transition="in" filter="wipe(up)">
                                      <p:cBhvr>
                                        <p:cTn id="78" dur="500"/>
                                        <p:tgtEl>
                                          <p:spTgt spid="101406"/>
                                        </p:tgtEl>
                                      </p:cBhvr>
                                    </p:animEffect>
                                  </p:childTnLst>
                                </p:cTn>
                              </p:par>
                            </p:childTnLst>
                          </p:cTn>
                        </p:par>
                      </p:childTnLst>
                    </p:cTn>
                  </p:par>
                  <p:par>
                    <p:cTn id="79" fill="hold">
                      <p:stCondLst>
                        <p:cond delay="indefinite"/>
                      </p:stCondLst>
                      <p:childTnLst>
                        <p:par>
                          <p:cTn id="80" fill="hold">
                            <p:stCondLst>
                              <p:cond delay="0"/>
                            </p:stCondLst>
                            <p:childTnLst>
                              <p:par>
                                <p:cTn id="81" presetID="18" presetClass="entr" presetSubtype="6" fill="hold" grpId="0" nodeType="clickEffect">
                                  <p:stCondLst>
                                    <p:cond delay="0"/>
                                  </p:stCondLst>
                                  <p:childTnLst>
                                    <p:set>
                                      <p:cBhvr>
                                        <p:cTn id="82" dur="1" fill="hold">
                                          <p:stCondLst>
                                            <p:cond delay="0"/>
                                          </p:stCondLst>
                                        </p:cTn>
                                        <p:tgtEl>
                                          <p:spTgt spid="101386"/>
                                        </p:tgtEl>
                                        <p:attrNameLst>
                                          <p:attrName>style.visibility</p:attrName>
                                        </p:attrNameLst>
                                      </p:cBhvr>
                                      <p:to>
                                        <p:strVal val="visible"/>
                                      </p:to>
                                    </p:set>
                                    <p:animEffect transition="in" filter="strips(downRight)">
                                      <p:cBhvr>
                                        <p:cTn id="83" dur="500"/>
                                        <p:tgtEl>
                                          <p:spTgt spid="101386"/>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101387"/>
                                        </p:tgtEl>
                                        <p:attrNameLst>
                                          <p:attrName>style.visibility</p:attrName>
                                        </p:attrNameLst>
                                      </p:cBhvr>
                                      <p:to>
                                        <p:strVal val="visible"/>
                                      </p:to>
                                    </p:set>
                                    <p:animEffect transition="in" filter="wipe(left)">
                                      <p:cBhvr>
                                        <p:cTn id="86" dur="500"/>
                                        <p:tgtEl>
                                          <p:spTgt spid="101387"/>
                                        </p:tgtEl>
                                      </p:cBhvr>
                                    </p:animEffect>
                                  </p:childTnLst>
                                </p:cTn>
                              </p:par>
                            </p:childTnLst>
                          </p:cTn>
                        </p:par>
                      </p:childTnLst>
                    </p:cTn>
                  </p:par>
                  <p:par>
                    <p:cTn id="87" fill="hold">
                      <p:stCondLst>
                        <p:cond delay="indefinite"/>
                      </p:stCondLst>
                      <p:childTnLst>
                        <p:par>
                          <p:cTn id="88" fill="hold">
                            <p:stCondLst>
                              <p:cond delay="0"/>
                            </p:stCondLst>
                            <p:childTnLst>
                              <p:par>
                                <p:cTn id="89" presetID="18" presetClass="entr" presetSubtype="6" fill="hold" grpId="0" nodeType="clickEffect">
                                  <p:stCondLst>
                                    <p:cond delay="0"/>
                                  </p:stCondLst>
                                  <p:childTnLst>
                                    <p:set>
                                      <p:cBhvr>
                                        <p:cTn id="90" dur="1" fill="hold">
                                          <p:stCondLst>
                                            <p:cond delay="0"/>
                                          </p:stCondLst>
                                        </p:cTn>
                                        <p:tgtEl>
                                          <p:spTgt spid="101405"/>
                                        </p:tgtEl>
                                        <p:attrNameLst>
                                          <p:attrName>style.visibility</p:attrName>
                                        </p:attrNameLst>
                                      </p:cBhvr>
                                      <p:to>
                                        <p:strVal val="visible"/>
                                      </p:to>
                                    </p:set>
                                    <p:animEffect transition="in" filter="strips(downRight)">
                                      <p:cBhvr>
                                        <p:cTn id="91" dur="500"/>
                                        <p:tgtEl>
                                          <p:spTgt spid="101405"/>
                                        </p:tgtEl>
                                      </p:cBhvr>
                                    </p:animEffect>
                                  </p:childTnLst>
                                </p:cTn>
                              </p:par>
                            </p:childTnLst>
                          </p:cTn>
                        </p:par>
                        <p:par>
                          <p:cTn id="92" fill="hold">
                            <p:stCondLst>
                              <p:cond delay="500"/>
                            </p:stCondLst>
                            <p:childTnLst>
                              <p:par>
                                <p:cTn id="93" presetID="18" presetClass="entr" presetSubtype="12" fill="hold" nodeType="afterEffect">
                                  <p:stCondLst>
                                    <p:cond delay="500"/>
                                  </p:stCondLst>
                                  <p:childTnLst>
                                    <p:set>
                                      <p:cBhvr>
                                        <p:cTn id="94" dur="1" fill="hold">
                                          <p:stCondLst>
                                            <p:cond delay="0"/>
                                          </p:stCondLst>
                                        </p:cTn>
                                        <p:tgtEl>
                                          <p:spTgt spid="101402"/>
                                        </p:tgtEl>
                                        <p:attrNameLst>
                                          <p:attrName>style.visibility</p:attrName>
                                        </p:attrNameLst>
                                      </p:cBhvr>
                                      <p:to>
                                        <p:strVal val="visible"/>
                                      </p:to>
                                    </p:set>
                                    <p:animEffect transition="in" filter="strips(downLeft)">
                                      <p:cBhvr>
                                        <p:cTn id="95" dur="500"/>
                                        <p:tgtEl>
                                          <p:spTgt spid="101402"/>
                                        </p:tgtEl>
                                      </p:cBhvr>
                                    </p:animEffect>
                                  </p:childTnLst>
                                </p:cTn>
                              </p:par>
                            </p:childTnLst>
                          </p:cTn>
                        </p:par>
                        <p:par>
                          <p:cTn id="96" fill="hold">
                            <p:stCondLst>
                              <p:cond delay="1500"/>
                            </p:stCondLst>
                            <p:childTnLst>
                              <p:par>
                                <p:cTn id="97" presetID="18" presetClass="entr" presetSubtype="12" fill="hold" nodeType="afterEffect">
                                  <p:stCondLst>
                                    <p:cond delay="0"/>
                                  </p:stCondLst>
                                  <p:childTnLst>
                                    <p:set>
                                      <p:cBhvr>
                                        <p:cTn id="98" dur="1" fill="hold">
                                          <p:stCondLst>
                                            <p:cond delay="0"/>
                                          </p:stCondLst>
                                        </p:cTn>
                                        <p:tgtEl>
                                          <p:spTgt spid="101403"/>
                                        </p:tgtEl>
                                        <p:attrNameLst>
                                          <p:attrName>style.visibility</p:attrName>
                                        </p:attrNameLst>
                                      </p:cBhvr>
                                      <p:to>
                                        <p:strVal val="visible"/>
                                      </p:to>
                                    </p:set>
                                    <p:animEffect transition="in" filter="strips(downLeft)">
                                      <p:cBhvr>
                                        <p:cTn id="99" dur="500"/>
                                        <p:tgtEl>
                                          <p:spTgt spid="101403"/>
                                        </p:tgtEl>
                                      </p:cBhvr>
                                    </p:animEffect>
                                  </p:childTnLst>
                                </p:cTn>
                              </p:par>
                            </p:childTnLst>
                          </p:cTn>
                        </p:par>
                        <p:par>
                          <p:cTn id="100" fill="hold">
                            <p:stCondLst>
                              <p:cond delay="2000"/>
                            </p:stCondLst>
                            <p:childTnLst>
                              <p:par>
                                <p:cTn id="101" presetID="18" presetClass="entr" presetSubtype="12" fill="hold" nodeType="afterEffect">
                                  <p:stCondLst>
                                    <p:cond delay="0"/>
                                  </p:stCondLst>
                                  <p:childTnLst>
                                    <p:set>
                                      <p:cBhvr>
                                        <p:cTn id="102" dur="1" fill="hold">
                                          <p:stCondLst>
                                            <p:cond delay="0"/>
                                          </p:stCondLst>
                                        </p:cTn>
                                        <p:tgtEl>
                                          <p:spTgt spid="101404"/>
                                        </p:tgtEl>
                                        <p:attrNameLst>
                                          <p:attrName>style.visibility</p:attrName>
                                        </p:attrNameLst>
                                      </p:cBhvr>
                                      <p:to>
                                        <p:strVal val="visible"/>
                                      </p:to>
                                    </p:set>
                                    <p:animEffect transition="in" filter="strips(downLeft)">
                                      <p:cBhvr>
                                        <p:cTn id="103" dur="500"/>
                                        <p:tgtEl>
                                          <p:spTgt spid="101404"/>
                                        </p:tgtEl>
                                      </p:cBhvr>
                                    </p:animEffect>
                                  </p:childTnLst>
                                </p:cTn>
                              </p:par>
                            </p:childTnLst>
                          </p:cTn>
                        </p:par>
                      </p:childTnLst>
                    </p:cTn>
                  </p:par>
                  <p:par>
                    <p:cTn id="104" fill="hold">
                      <p:stCondLst>
                        <p:cond delay="indefinite"/>
                      </p:stCondLst>
                      <p:childTnLst>
                        <p:par>
                          <p:cTn id="105" fill="hold">
                            <p:stCondLst>
                              <p:cond delay="0"/>
                            </p:stCondLst>
                            <p:childTnLst>
                              <p:par>
                                <p:cTn id="106" presetID="18" presetClass="entr" presetSubtype="12" fill="hold" nodeType="clickEffect">
                                  <p:stCondLst>
                                    <p:cond delay="0"/>
                                  </p:stCondLst>
                                  <p:childTnLst>
                                    <p:set>
                                      <p:cBhvr>
                                        <p:cTn id="107" dur="1" fill="hold">
                                          <p:stCondLst>
                                            <p:cond delay="0"/>
                                          </p:stCondLst>
                                        </p:cTn>
                                        <p:tgtEl>
                                          <p:spTgt spid="101407"/>
                                        </p:tgtEl>
                                        <p:attrNameLst>
                                          <p:attrName>style.visibility</p:attrName>
                                        </p:attrNameLst>
                                      </p:cBhvr>
                                      <p:to>
                                        <p:strVal val="visible"/>
                                      </p:to>
                                    </p:set>
                                    <p:animEffect transition="in" filter="strips(downLeft)">
                                      <p:cBhvr>
                                        <p:cTn id="108" dur="500"/>
                                        <p:tgtEl>
                                          <p:spTgt spid="101407"/>
                                        </p:tgtEl>
                                      </p:cBhvr>
                                    </p:animEffect>
                                  </p:childTnLst>
                                </p:cTn>
                              </p:par>
                            </p:childTnLst>
                          </p:cTn>
                        </p:par>
                        <p:par>
                          <p:cTn id="109" fill="hold">
                            <p:stCondLst>
                              <p:cond delay="500"/>
                            </p:stCondLst>
                            <p:childTnLst>
                              <p:par>
                                <p:cTn id="110" presetID="22" presetClass="entr" presetSubtype="1" fill="hold" grpId="0" nodeType="afterEffect">
                                  <p:stCondLst>
                                    <p:cond delay="0"/>
                                  </p:stCondLst>
                                  <p:childTnLst>
                                    <p:set>
                                      <p:cBhvr>
                                        <p:cTn id="111" dur="1" fill="hold">
                                          <p:stCondLst>
                                            <p:cond delay="0"/>
                                          </p:stCondLst>
                                        </p:cTn>
                                        <p:tgtEl>
                                          <p:spTgt spid="101409"/>
                                        </p:tgtEl>
                                        <p:attrNameLst>
                                          <p:attrName>style.visibility</p:attrName>
                                        </p:attrNameLst>
                                      </p:cBhvr>
                                      <p:to>
                                        <p:strVal val="visible"/>
                                      </p:to>
                                    </p:set>
                                    <p:animEffect transition="in" filter="wipe(up)">
                                      <p:cBhvr>
                                        <p:cTn id="112" dur="500"/>
                                        <p:tgtEl>
                                          <p:spTgt spid="101409"/>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01390"/>
                                        </p:tgtEl>
                                        <p:attrNameLst>
                                          <p:attrName>style.visibility</p:attrName>
                                        </p:attrNameLst>
                                      </p:cBhvr>
                                      <p:to>
                                        <p:strVal val="visible"/>
                                      </p:to>
                                    </p:set>
                                    <p:animEffect transition="in" filter="wipe(left)">
                                      <p:cBhvr>
                                        <p:cTn id="117" dur="500"/>
                                        <p:tgtEl>
                                          <p:spTgt spid="101390"/>
                                        </p:tgtEl>
                                      </p:cBhvr>
                                    </p:animEffect>
                                  </p:childTnLst>
                                </p:cTn>
                              </p:par>
                              <p:par>
                                <p:cTn id="118" presetID="22" presetClass="entr" presetSubtype="8" fill="hold" grpId="0" nodeType="withEffect">
                                  <p:stCondLst>
                                    <p:cond delay="0"/>
                                  </p:stCondLst>
                                  <p:childTnLst>
                                    <p:set>
                                      <p:cBhvr>
                                        <p:cTn id="119" dur="1" fill="hold">
                                          <p:stCondLst>
                                            <p:cond delay="0"/>
                                          </p:stCondLst>
                                        </p:cTn>
                                        <p:tgtEl>
                                          <p:spTgt spid="101391"/>
                                        </p:tgtEl>
                                        <p:attrNameLst>
                                          <p:attrName>style.visibility</p:attrName>
                                        </p:attrNameLst>
                                      </p:cBhvr>
                                      <p:to>
                                        <p:strVal val="visible"/>
                                      </p:to>
                                    </p:set>
                                    <p:animEffect transition="in" filter="wipe(left)">
                                      <p:cBhvr>
                                        <p:cTn id="120" dur="500"/>
                                        <p:tgtEl>
                                          <p:spTgt spid="101391"/>
                                        </p:tgtEl>
                                      </p:cBhvr>
                                    </p:animEffect>
                                  </p:childTnLst>
                                </p:cTn>
                              </p:par>
                            </p:childTnLst>
                          </p:cTn>
                        </p:par>
                        <p:par>
                          <p:cTn id="121" fill="hold">
                            <p:stCondLst>
                              <p:cond delay="500"/>
                            </p:stCondLst>
                            <p:childTnLst>
                              <p:par>
                                <p:cTn id="122" presetID="22" presetClass="entr" presetSubtype="1" fill="hold" nodeType="afterEffect">
                                  <p:stCondLst>
                                    <p:cond delay="0"/>
                                  </p:stCondLst>
                                  <p:childTnLst>
                                    <p:set>
                                      <p:cBhvr>
                                        <p:cTn id="123" dur="1" fill="hold">
                                          <p:stCondLst>
                                            <p:cond delay="0"/>
                                          </p:stCondLst>
                                        </p:cTn>
                                        <p:tgtEl>
                                          <p:spTgt spid="101408"/>
                                        </p:tgtEl>
                                        <p:attrNameLst>
                                          <p:attrName>style.visibility</p:attrName>
                                        </p:attrNameLst>
                                      </p:cBhvr>
                                      <p:to>
                                        <p:strVal val="visible"/>
                                      </p:to>
                                    </p:set>
                                    <p:animEffect transition="in" filter="wipe(up)">
                                      <p:cBhvr>
                                        <p:cTn id="124" dur="500"/>
                                        <p:tgtEl>
                                          <p:spTgt spid="101408"/>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101392"/>
                                        </p:tgtEl>
                                        <p:attrNameLst>
                                          <p:attrName>style.visibility</p:attrName>
                                        </p:attrNameLst>
                                      </p:cBhvr>
                                      <p:to>
                                        <p:strVal val="visible"/>
                                      </p:to>
                                    </p:set>
                                    <p:animEffect transition="in" filter="wipe(left)">
                                      <p:cBhvr>
                                        <p:cTn id="129" dur="500"/>
                                        <p:tgtEl>
                                          <p:spTgt spid="101392"/>
                                        </p:tgtEl>
                                      </p:cBhvr>
                                    </p:animEffect>
                                  </p:childTnLst>
                                </p:cTn>
                              </p:par>
                              <p:par>
                                <p:cTn id="130" presetID="22" presetClass="entr" presetSubtype="8" fill="hold" grpId="0" nodeType="withEffect">
                                  <p:stCondLst>
                                    <p:cond delay="0"/>
                                  </p:stCondLst>
                                  <p:childTnLst>
                                    <p:set>
                                      <p:cBhvr>
                                        <p:cTn id="131" dur="1" fill="hold">
                                          <p:stCondLst>
                                            <p:cond delay="0"/>
                                          </p:stCondLst>
                                        </p:cTn>
                                        <p:tgtEl>
                                          <p:spTgt spid="101393"/>
                                        </p:tgtEl>
                                        <p:attrNameLst>
                                          <p:attrName>style.visibility</p:attrName>
                                        </p:attrNameLst>
                                      </p:cBhvr>
                                      <p:to>
                                        <p:strVal val="visible"/>
                                      </p:to>
                                    </p:set>
                                    <p:animEffect transition="in" filter="wipe(left)">
                                      <p:cBhvr>
                                        <p:cTn id="132" dur="500"/>
                                        <p:tgtEl>
                                          <p:spTgt spid="101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animBg="1"/>
      <p:bldP spid="101379" grpId="0" animBg="1"/>
      <p:bldP spid="101380" grpId="0"/>
      <p:bldP spid="101381" grpId="0"/>
      <p:bldP spid="101382" grpId="0" animBg="1"/>
      <p:bldP spid="101383" grpId="0" animBg="1"/>
      <p:bldP spid="101384" grpId="0"/>
      <p:bldP spid="101385" grpId="0"/>
      <p:bldP spid="101386" grpId="0" animBg="1"/>
      <p:bldP spid="101387" grpId="0"/>
      <p:bldP spid="101388" grpId="0" animBg="1"/>
      <p:bldP spid="101389" grpId="0"/>
      <p:bldP spid="101390" grpId="0" animBg="1"/>
      <p:bldP spid="101391" grpId="0"/>
      <p:bldP spid="101392" grpId="0" animBg="1"/>
      <p:bldP spid="101393" grpId="0"/>
      <p:bldP spid="101405" grpId="0"/>
      <p:bldP spid="101409"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3"/>
          <p:cNvSpPr>
            <a:spLocks noGrp="1"/>
          </p:cNvSpPr>
          <p:nvPr>
            <p:ph type="body" idx="4294967295"/>
          </p:nvPr>
        </p:nvSpPr>
        <p:spPr>
          <a:xfrm>
            <a:off x="1116013" y="1700213"/>
            <a:ext cx="5759450" cy="4248150"/>
          </a:xfrm>
        </p:spPr>
        <p:txBody>
          <a:bodyPr vert="horz" wrap="square" lIns="91440" tIns="45720" rIns="91440" bIns="45720" anchor="t" anchorCtr="0"/>
          <a:p>
            <a:pPr eaLnBrk="1" hangingPunct="1">
              <a:lnSpc>
                <a:spcPct val="115000"/>
              </a:lnSpc>
              <a:buNone/>
            </a:pPr>
            <a:r>
              <a:rPr lang="en-US" altLang="zh-CN" b="0" dirty="0">
                <a:ea typeface="宋体" panose="02010600030101010101" pitchFamily="2" charset="-122"/>
              </a:rPr>
              <a:t>              </a:t>
            </a:r>
            <a:r>
              <a:rPr lang="en-US" altLang="zh-CN" sz="2400" dirty="0">
                <a:latin typeface="宋体" panose="02010600030101010101" pitchFamily="2" charset="-122"/>
                <a:ea typeface="宋体" panose="02010600030101010101" pitchFamily="2" charset="-122"/>
              </a:rPr>
              <a:t>LEA  SI，DATA</a:t>
            </a:r>
            <a:endParaRPr lang="en-US" altLang="zh-CN" sz="2400" dirty="0">
              <a:latin typeface="宋体" panose="02010600030101010101" pitchFamily="2" charset="-122"/>
              <a:ea typeface="宋体" panose="02010600030101010101" pitchFamily="2" charset="-122"/>
            </a:endParaRPr>
          </a:p>
          <a:p>
            <a:pPr eaLnBrk="1" hangingPunct="1">
              <a:lnSpc>
                <a:spcPct val="115000"/>
              </a:lnSpc>
              <a:buNone/>
            </a:pPr>
            <a:r>
              <a:rPr lang="en-US" altLang="zh-CN" sz="2400" dirty="0">
                <a:latin typeface="宋体" panose="02010600030101010101" pitchFamily="2" charset="-122"/>
                <a:ea typeface="宋体" panose="02010600030101010101" pitchFamily="2" charset="-122"/>
              </a:rPr>
              <a:t>           MOV  DX，3F8H</a:t>
            </a:r>
            <a:endParaRPr lang="en-US" altLang="zh-CN" sz="2400" dirty="0">
              <a:latin typeface="宋体" panose="02010600030101010101" pitchFamily="2" charset="-122"/>
              <a:ea typeface="宋体" panose="02010600030101010101" pitchFamily="2" charset="-122"/>
            </a:endParaRPr>
          </a:p>
          <a:p>
            <a:pPr eaLnBrk="1" hangingPunct="1">
              <a:lnSpc>
                <a:spcPct val="115000"/>
              </a:lnSpc>
              <a:buNone/>
            </a:pPr>
            <a:r>
              <a:rPr lang="en-US" altLang="zh-CN" sz="2400" dirty="0">
                <a:latin typeface="宋体" panose="02010600030101010101" pitchFamily="2" charset="-122"/>
                <a:ea typeface="宋体" panose="02010600030101010101" pitchFamily="2" charset="-122"/>
              </a:rPr>
              <a:t>     WATT：IN  AL，DX</a:t>
            </a:r>
            <a:endParaRPr lang="en-US" altLang="zh-CN" sz="2400" dirty="0">
              <a:latin typeface="宋体" panose="02010600030101010101" pitchFamily="2" charset="-122"/>
              <a:ea typeface="宋体" panose="02010600030101010101" pitchFamily="2" charset="-122"/>
            </a:endParaRPr>
          </a:p>
          <a:p>
            <a:pPr eaLnBrk="1" hangingPunct="1">
              <a:lnSpc>
                <a:spcPct val="115000"/>
              </a:lnSpc>
              <a:buNone/>
            </a:pPr>
            <a:r>
              <a:rPr lang="en-US" altLang="zh-CN" sz="2400" dirty="0">
                <a:latin typeface="宋体" panose="02010600030101010101" pitchFamily="2" charset="-122"/>
                <a:ea typeface="宋体" panose="02010600030101010101" pitchFamily="2" charset="-122"/>
              </a:rPr>
              <a:t>           AND  AL，02H</a:t>
            </a:r>
            <a:endParaRPr lang="en-US" altLang="zh-CN" sz="2400" dirty="0">
              <a:latin typeface="宋体" panose="02010600030101010101" pitchFamily="2" charset="-122"/>
              <a:ea typeface="宋体" panose="02010600030101010101" pitchFamily="2" charset="-122"/>
            </a:endParaRPr>
          </a:p>
          <a:p>
            <a:pPr eaLnBrk="1" hangingPunct="1">
              <a:lnSpc>
                <a:spcPct val="115000"/>
              </a:lnSpc>
              <a:buNone/>
            </a:pPr>
            <a:r>
              <a:rPr lang="en-US" altLang="zh-CN" sz="2400" dirty="0">
                <a:latin typeface="宋体" panose="02010600030101010101" pitchFamily="2" charset="-122"/>
                <a:ea typeface="宋体" panose="02010600030101010101" pitchFamily="2" charset="-122"/>
              </a:rPr>
              <a:t>           JZ   WATT     </a:t>
            </a:r>
            <a:r>
              <a:rPr lang="en-US" altLang="zh-CN" sz="2400" dirty="0">
                <a:solidFill>
                  <a:srgbClr val="990033"/>
                </a:solidFill>
                <a:latin typeface="宋体" panose="02010600030101010101" pitchFamily="2" charset="-122"/>
                <a:ea typeface="宋体" panose="02010600030101010101" pitchFamily="2" charset="-122"/>
              </a:rPr>
              <a:t>；ZF=1</a:t>
            </a:r>
            <a:r>
              <a:rPr lang="zh-CN" altLang="en-US" sz="2400" dirty="0">
                <a:solidFill>
                  <a:srgbClr val="990033"/>
                </a:solidFill>
                <a:latin typeface="宋体" panose="02010600030101010101" pitchFamily="2" charset="-122"/>
                <a:ea typeface="宋体" panose="02010600030101010101" pitchFamily="2" charset="-122"/>
              </a:rPr>
              <a:t>转移</a:t>
            </a:r>
            <a:endParaRPr lang="zh-CN" altLang="en-US" sz="2400" dirty="0">
              <a:solidFill>
                <a:srgbClr val="990033"/>
              </a:solidFill>
              <a:latin typeface="宋体" panose="02010600030101010101" pitchFamily="2" charset="-122"/>
              <a:ea typeface="宋体" panose="02010600030101010101" pitchFamily="2" charset="-122"/>
            </a:endParaRPr>
          </a:p>
          <a:p>
            <a:pPr eaLnBrk="1" hangingPunct="1">
              <a:lnSpc>
                <a:spcPct val="115000"/>
              </a:lnSpc>
              <a:buNone/>
            </a:pPr>
            <a:r>
              <a:rPr lang="en-US" altLang="zh-CN" sz="2400" dirty="0">
                <a:latin typeface="宋体" panose="02010600030101010101" pitchFamily="2" charset="-122"/>
                <a:ea typeface="宋体" panose="02010600030101010101" pitchFamily="2" charset="-122"/>
              </a:rPr>
              <a:t>           MOV  DX，38FH</a:t>
            </a:r>
            <a:endParaRPr lang="en-US" altLang="zh-CN" sz="2400" dirty="0">
              <a:latin typeface="宋体" panose="02010600030101010101" pitchFamily="2" charset="-122"/>
              <a:ea typeface="宋体" panose="02010600030101010101" pitchFamily="2" charset="-122"/>
            </a:endParaRPr>
          </a:p>
          <a:p>
            <a:pPr eaLnBrk="1" hangingPunct="1">
              <a:lnSpc>
                <a:spcPct val="115000"/>
              </a:lnSpc>
              <a:buNone/>
            </a:pPr>
            <a:r>
              <a:rPr lang="en-US" altLang="zh-CN" sz="2400" dirty="0">
                <a:latin typeface="宋体" panose="02010600030101010101" pitchFamily="2" charset="-122"/>
                <a:ea typeface="宋体" panose="02010600030101010101" pitchFamily="2" charset="-122"/>
              </a:rPr>
              <a:t>           MOV  AX，[SI]</a:t>
            </a:r>
            <a:endParaRPr lang="en-US" altLang="zh-CN" sz="2400" dirty="0">
              <a:latin typeface="宋体" panose="02010600030101010101" pitchFamily="2" charset="-122"/>
              <a:ea typeface="宋体" panose="02010600030101010101" pitchFamily="2" charset="-122"/>
            </a:endParaRPr>
          </a:p>
          <a:p>
            <a:pPr eaLnBrk="1" hangingPunct="1">
              <a:lnSpc>
                <a:spcPct val="115000"/>
              </a:lnSpc>
              <a:buNone/>
            </a:pPr>
            <a:r>
              <a:rPr lang="en-US" altLang="zh-CN" sz="2400" dirty="0">
                <a:latin typeface="宋体" panose="02010600030101010101" pitchFamily="2" charset="-122"/>
                <a:ea typeface="宋体" panose="02010600030101010101" pitchFamily="2" charset="-122"/>
              </a:rPr>
              <a:t>           OUT  DX，AX</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402">
                                            <p:txEl>
                                              <p:charRg st="0" end="27"/>
                                            </p:txEl>
                                          </p:spTgt>
                                        </p:tgtEl>
                                        <p:attrNameLst>
                                          <p:attrName>style.visibility</p:attrName>
                                        </p:attrNameLst>
                                      </p:cBhvr>
                                      <p:to>
                                        <p:strVal val="visible"/>
                                      </p:to>
                                    </p:set>
                                    <p:animEffect transition="in" filter="wipe(left)">
                                      <p:cBhvr>
                                        <p:cTn id="7" dur="500"/>
                                        <p:tgtEl>
                                          <p:spTgt spid="102402">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402">
                                            <p:txEl>
                                              <p:charRg st="27" end="51"/>
                                            </p:txEl>
                                          </p:spTgt>
                                        </p:tgtEl>
                                        <p:attrNameLst>
                                          <p:attrName>style.visibility</p:attrName>
                                        </p:attrNameLst>
                                      </p:cBhvr>
                                      <p:to>
                                        <p:strVal val="visible"/>
                                      </p:to>
                                    </p:set>
                                    <p:animEffect transition="in" filter="wipe(left)">
                                      <p:cBhvr>
                                        <p:cTn id="12" dur="500"/>
                                        <p:tgtEl>
                                          <p:spTgt spid="102402">
                                            <p:txEl>
                                              <p:charRg st="27" end="5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2402">
                                            <p:txEl>
                                              <p:charRg st="51" end="71"/>
                                            </p:txEl>
                                          </p:spTgt>
                                        </p:tgtEl>
                                        <p:attrNameLst>
                                          <p:attrName>style.visibility</p:attrName>
                                        </p:attrNameLst>
                                      </p:cBhvr>
                                      <p:to>
                                        <p:strVal val="visible"/>
                                      </p:to>
                                    </p:set>
                                    <p:animEffect transition="in" filter="wipe(left)">
                                      <p:cBhvr>
                                        <p:cTn id="17" dur="500"/>
                                        <p:tgtEl>
                                          <p:spTgt spid="102402">
                                            <p:txEl>
                                              <p:charRg st="51" end="7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2402">
                                            <p:txEl>
                                              <p:charRg st="71" end="94"/>
                                            </p:txEl>
                                          </p:spTgt>
                                        </p:tgtEl>
                                        <p:attrNameLst>
                                          <p:attrName>style.visibility</p:attrName>
                                        </p:attrNameLst>
                                      </p:cBhvr>
                                      <p:to>
                                        <p:strVal val="visible"/>
                                      </p:to>
                                    </p:set>
                                    <p:animEffect transition="in" filter="wipe(left)">
                                      <p:cBhvr>
                                        <p:cTn id="22" dur="500"/>
                                        <p:tgtEl>
                                          <p:spTgt spid="102402">
                                            <p:txEl>
                                              <p:charRg st="71" end="9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2402">
                                            <p:txEl>
                                              <p:charRg st="94" end="127"/>
                                            </p:txEl>
                                          </p:spTgt>
                                        </p:tgtEl>
                                        <p:attrNameLst>
                                          <p:attrName>style.visibility</p:attrName>
                                        </p:attrNameLst>
                                      </p:cBhvr>
                                      <p:to>
                                        <p:strVal val="visible"/>
                                      </p:to>
                                    </p:set>
                                    <p:animEffect transition="in" filter="wipe(left)">
                                      <p:cBhvr>
                                        <p:cTn id="27" dur="500"/>
                                        <p:tgtEl>
                                          <p:spTgt spid="102402">
                                            <p:txEl>
                                              <p:charRg st="94" end="12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2402">
                                            <p:txEl>
                                              <p:charRg st="127" end="151"/>
                                            </p:txEl>
                                          </p:spTgt>
                                        </p:tgtEl>
                                        <p:attrNameLst>
                                          <p:attrName>style.visibility</p:attrName>
                                        </p:attrNameLst>
                                      </p:cBhvr>
                                      <p:to>
                                        <p:strVal val="visible"/>
                                      </p:to>
                                    </p:set>
                                    <p:animEffect transition="in" filter="wipe(left)">
                                      <p:cBhvr>
                                        <p:cTn id="32" dur="500"/>
                                        <p:tgtEl>
                                          <p:spTgt spid="102402">
                                            <p:txEl>
                                              <p:charRg st="127" end="15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2402">
                                            <p:txEl>
                                              <p:charRg st="151" end="175"/>
                                            </p:txEl>
                                          </p:spTgt>
                                        </p:tgtEl>
                                        <p:attrNameLst>
                                          <p:attrName>style.visibility</p:attrName>
                                        </p:attrNameLst>
                                      </p:cBhvr>
                                      <p:to>
                                        <p:strVal val="visible"/>
                                      </p:to>
                                    </p:set>
                                    <p:animEffect transition="in" filter="wipe(left)">
                                      <p:cBhvr>
                                        <p:cTn id="37" dur="500"/>
                                        <p:tgtEl>
                                          <p:spTgt spid="102402">
                                            <p:txEl>
                                              <p:charRg st="151" end="17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2402">
                                            <p:txEl>
                                              <p:charRg st="175" end="197"/>
                                            </p:txEl>
                                          </p:spTgt>
                                        </p:tgtEl>
                                        <p:attrNameLst>
                                          <p:attrName>style.visibility</p:attrName>
                                        </p:attrNameLst>
                                      </p:cBhvr>
                                      <p:to>
                                        <p:strVal val="visible"/>
                                      </p:to>
                                    </p:set>
                                    <p:animEffect transition="in" filter="wipe(left)">
                                      <p:cBhvr>
                                        <p:cTn id="42" dur="500"/>
                                        <p:tgtEl>
                                          <p:spTgt spid="102402">
                                            <p:txEl>
                                              <p:charRg st="175" end="19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idx="4294967295"/>
          </p:nvPr>
        </p:nvSpPr>
        <p:spPr>
          <a:xfrm>
            <a:off x="395288" y="685800"/>
            <a:ext cx="5676900" cy="1462088"/>
          </a:xfrm>
        </p:spPr>
        <p:txBody>
          <a:bodyPr vert="horz" wrap="square" lIns="91440" tIns="45720" rIns="91440" bIns="45720" anchor="ctr" anchorCtr="0"/>
          <a:p>
            <a:pPr eaLnBrk="1" hangingPunct="1"/>
            <a:r>
              <a:rPr lang="zh-CN" altLang="en-US" dirty="0">
                <a:solidFill>
                  <a:srgbClr val="000033"/>
                </a:solidFill>
                <a:latin typeface="宋体" panose="02010600030101010101" pitchFamily="2" charset="-122"/>
                <a:ea typeface="宋体" panose="02010600030101010101" pitchFamily="2" charset="-122"/>
              </a:rPr>
              <a:t>（</a:t>
            </a:r>
            <a:r>
              <a:rPr lang="en-US" altLang="zh-CN" dirty="0">
                <a:solidFill>
                  <a:srgbClr val="000033"/>
                </a:solidFill>
                <a:latin typeface="宋体" panose="02010600030101010101" pitchFamily="2" charset="-122"/>
                <a:ea typeface="宋体" panose="02010600030101010101" pitchFamily="2" charset="-122"/>
              </a:rPr>
              <a:t>2</a:t>
            </a:r>
            <a:r>
              <a:rPr lang="zh-CN" altLang="en-US" dirty="0">
                <a:solidFill>
                  <a:srgbClr val="000033"/>
                </a:solidFill>
                <a:latin typeface="宋体" panose="02010600030101010101" pitchFamily="2" charset="-122"/>
                <a:ea typeface="宋体" panose="02010600030101010101" pitchFamily="2" charset="-122"/>
              </a:rPr>
              <a:t>）“或”运算指令</a:t>
            </a:r>
            <a:r>
              <a:rPr lang="en-US" altLang="zh-CN" dirty="0">
                <a:solidFill>
                  <a:srgbClr val="000033"/>
                </a:solidFill>
                <a:latin typeface="宋体" panose="02010600030101010101" pitchFamily="2" charset="-122"/>
                <a:ea typeface="宋体" panose="02010600030101010101" pitchFamily="2" charset="-122"/>
              </a:rPr>
              <a:t>OR</a:t>
            </a:r>
            <a:endParaRPr lang="zh-CN" altLang="en-US" dirty="0">
              <a:solidFill>
                <a:srgbClr val="000033"/>
              </a:solidFill>
              <a:latin typeface="宋体" panose="02010600030101010101" pitchFamily="2" charset="-122"/>
              <a:ea typeface="宋体" panose="02010600030101010101" pitchFamily="2" charset="-122"/>
            </a:endParaRPr>
          </a:p>
        </p:txBody>
      </p:sp>
      <p:sp>
        <p:nvSpPr>
          <p:cNvPr id="103427" name="Rectangle 3"/>
          <p:cNvSpPr>
            <a:spLocks noGrp="1"/>
          </p:cNvSpPr>
          <p:nvPr>
            <p:ph type="body" idx="4294967295"/>
          </p:nvPr>
        </p:nvSpPr>
        <p:spPr>
          <a:xfrm>
            <a:off x="684213" y="1844675"/>
            <a:ext cx="6264275" cy="2232025"/>
          </a:xfrm>
        </p:spPr>
        <p:txBody>
          <a:bodyPr vert="horz" wrap="square" lIns="91440" tIns="45720" rIns="91440" bIns="45720" anchor="t" anchorCtr="0"/>
          <a:p>
            <a:pPr>
              <a:spcBef>
                <a:spcPct val="10000"/>
              </a:spcBef>
              <a:spcAft>
                <a:spcPts val="1300"/>
              </a:spcAft>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格式：</a:t>
            </a:r>
            <a:r>
              <a:rPr lang="zh-CN" altLang="en-US" sz="2400" b="0" dirty="0">
                <a:latin typeface="宋体" panose="02010600030101010101" pitchFamily="2" charset="-122"/>
                <a:ea typeface="宋体" panose="02010600030101010101" pitchFamily="2" charset="-122"/>
              </a:rPr>
              <a:t>  </a:t>
            </a:r>
            <a:endParaRPr lang="zh-CN" altLang="en-US" sz="2400" b="0" dirty="0">
              <a:latin typeface="宋体" panose="02010600030101010101" pitchFamily="2" charset="-122"/>
              <a:ea typeface="宋体" panose="02010600030101010101" pitchFamily="2" charset="-122"/>
            </a:endParaRPr>
          </a:p>
          <a:p>
            <a:pPr lvl="1">
              <a:spcBef>
                <a:spcPct val="10000"/>
              </a:spcBef>
              <a:spcAft>
                <a:spcPts val="1300"/>
              </a:spcAft>
              <a:buFont typeface="Wingdings" panose="05000000000000000000" pitchFamily="2" charset="2"/>
              <a:buChar char="•"/>
            </a:pPr>
            <a:r>
              <a:rPr lang="en-US" altLang="zh-CN" dirty="0">
                <a:latin typeface="宋体" panose="02010600030101010101" pitchFamily="2" charset="-122"/>
                <a:ea typeface="宋体" panose="02010600030101010101" pitchFamily="2" charset="-122"/>
              </a:rPr>
              <a:t>OR  OPRD1，OPRD2</a:t>
            </a:r>
            <a:endParaRPr lang="en-US" altLang="zh-CN" dirty="0">
              <a:latin typeface="宋体" panose="02010600030101010101" pitchFamily="2" charset="-122"/>
              <a:ea typeface="宋体" panose="02010600030101010101" pitchFamily="2" charset="-122"/>
            </a:endParaRPr>
          </a:p>
          <a:p>
            <a:pPr>
              <a:spcBef>
                <a:spcPct val="10000"/>
              </a:spcBef>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操作：</a:t>
            </a:r>
            <a:r>
              <a:rPr lang="zh-CN" altLang="en-US" sz="2400" b="0" dirty="0">
                <a:latin typeface="宋体" panose="02010600030101010101" pitchFamily="2" charset="-122"/>
                <a:ea typeface="宋体" panose="02010600030101010101" pitchFamily="2" charset="-122"/>
              </a:rPr>
              <a:t>  </a:t>
            </a:r>
            <a:endParaRPr lang="zh-CN" altLang="en-US" sz="2400" b="0" dirty="0">
              <a:latin typeface="宋体" panose="02010600030101010101" pitchFamily="2" charset="-122"/>
              <a:ea typeface="宋体" panose="02010600030101010101" pitchFamily="2" charset="-122"/>
            </a:endParaRPr>
          </a:p>
          <a:p>
            <a:pPr lvl="1">
              <a:spcBef>
                <a:spcPct val="10000"/>
              </a:spcBef>
            </a:pPr>
            <a:r>
              <a:rPr lang="zh-CN" altLang="en-US" dirty="0">
                <a:latin typeface="宋体" panose="02010600030101010101" pitchFamily="2" charset="-122"/>
                <a:ea typeface="宋体" panose="02010600030101010101" pitchFamily="2" charset="-122"/>
              </a:rPr>
              <a:t>两操作数相“或”，结果送目标地址</a:t>
            </a:r>
            <a:endParaRPr lang="en-US" altLang="zh-CN" dirty="0">
              <a:latin typeface="宋体" panose="02010600030101010101" pitchFamily="2" charset="-122"/>
              <a:ea typeface="宋体" panose="02010600030101010101" pitchFamily="2" charset="-122"/>
            </a:endParaRPr>
          </a:p>
        </p:txBody>
      </p:sp>
      <p:sp>
        <p:nvSpPr>
          <p:cNvPr id="100356" name="文本框 1"/>
          <p:cNvSpPr txBox="1"/>
          <p:nvPr/>
        </p:nvSpPr>
        <p:spPr>
          <a:xfrm>
            <a:off x="684213" y="4313238"/>
            <a:ext cx="7827962" cy="1292225"/>
          </a:xfrm>
          <a:prstGeom prst="rect">
            <a:avLst/>
          </a:prstGeom>
          <a:noFill/>
          <a:ln w="9525">
            <a:noFill/>
          </a:ln>
        </p:spPr>
        <p:txBody>
          <a:bodyPr>
            <a:spAutoFit/>
          </a:bodyPr>
          <a:p>
            <a:pPr marL="342900" indent="-342900" eaLnBrk="0" hangingPunct="0">
              <a:lnSpc>
                <a:spcPct val="150000"/>
              </a:lnSpc>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rPr>
              <a:t>说明：</a:t>
            </a:r>
            <a:endParaRPr lang="en-US" altLang="zh-CN" sz="2800" dirty="0">
              <a:latin typeface="宋体" panose="02010600030101010101" pitchFamily="2" charset="-122"/>
              <a:ea typeface="宋体" panose="02010600030101010101" pitchFamily="2" charset="-122"/>
            </a:endParaRPr>
          </a:p>
          <a:p>
            <a:pPr marL="342900" indent="-342900" eaLnBrk="0" hangingPunct="0">
              <a:lnSpc>
                <a:spcPct val="150000"/>
              </a:lnSpc>
            </a:pPr>
            <a:r>
              <a:rPr lang="zh-CN" altLang="en-US" sz="2400" dirty="0">
                <a:latin typeface="宋体" panose="02010600030101010101" pitchFamily="2" charset="-122"/>
                <a:ea typeface="宋体" panose="02010600030101010101" pitchFamily="2" charset="-122"/>
              </a:rPr>
              <a:t>   对操作数的要求以及对标志位的影响和</a:t>
            </a:r>
            <a:r>
              <a:rPr lang="en-US" altLang="zh-CN" sz="2400" dirty="0">
                <a:latin typeface="宋体" panose="02010600030101010101" pitchFamily="2" charset="-122"/>
                <a:ea typeface="宋体" panose="02010600030101010101" pitchFamily="2" charset="-122"/>
              </a:rPr>
              <a:t>AND</a:t>
            </a:r>
            <a:r>
              <a:rPr lang="zh-CN" altLang="en-US" sz="2400" dirty="0">
                <a:latin typeface="宋体" panose="02010600030101010101" pitchFamily="2" charset="-122"/>
                <a:ea typeface="宋体" panose="02010600030101010101" pitchFamily="2" charset="-122"/>
              </a:rPr>
              <a:t>指令一样</a:t>
            </a:r>
            <a:endParaRPr lang="zh-CN" altLang="en-US" sz="2400" dirty="0">
              <a:solidFill>
                <a:srgbClr val="FF0000"/>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3427">
                                            <p:txEl>
                                              <p:charRg st="0" end="6"/>
                                            </p:txEl>
                                          </p:spTgt>
                                        </p:tgtEl>
                                        <p:attrNameLst>
                                          <p:attrName>style.visibility</p:attrName>
                                        </p:attrNameLst>
                                      </p:cBhvr>
                                      <p:to>
                                        <p:strVal val="visible"/>
                                      </p:to>
                                    </p:set>
                                    <p:animEffect transition="in" filter="wipe(left)">
                                      <p:cBhvr>
                                        <p:cTn id="7" dur="500"/>
                                        <p:tgtEl>
                                          <p:spTgt spid="103427">
                                            <p:txEl>
                                              <p:charRg st="0" end="6"/>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3427">
                                            <p:txEl>
                                              <p:charRg st="6" end="22"/>
                                            </p:txEl>
                                          </p:spTgt>
                                        </p:tgtEl>
                                        <p:attrNameLst>
                                          <p:attrName>style.visibility</p:attrName>
                                        </p:attrNameLst>
                                      </p:cBhvr>
                                      <p:to>
                                        <p:strVal val="visible"/>
                                      </p:to>
                                    </p:set>
                                    <p:animEffect transition="in" filter="wipe(left)">
                                      <p:cBhvr>
                                        <p:cTn id="11" dur="500"/>
                                        <p:tgtEl>
                                          <p:spTgt spid="103427">
                                            <p:txEl>
                                              <p:charRg st="6" end="2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03427">
                                            <p:txEl>
                                              <p:charRg st="22" end="28"/>
                                            </p:txEl>
                                          </p:spTgt>
                                        </p:tgtEl>
                                        <p:attrNameLst>
                                          <p:attrName>style.visibility</p:attrName>
                                        </p:attrNameLst>
                                      </p:cBhvr>
                                      <p:to>
                                        <p:strVal val="visible"/>
                                      </p:to>
                                    </p:set>
                                    <p:animEffect transition="in" filter="wipe(left)">
                                      <p:cBhvr>
                                        <p:cTn id="16" dur="500"/>
                                        <p:tgtEl>
                                          <p:spTgt spid="103427">
                                            <p:txEl>
                                              <p:charRg st="22" end="28"/>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3427">
                                            <p:txEl>
                                              <p:charRg st="28" end="45"/>
                                            </p:txEl>
                                          </p:spTgt>
                                        </p:tgtEl>
                                        <p:attrNameLst>
                                          <p:attrName>style.visibility</p:attrName>
                                        </p:attrNameLst>
                                      </p:cBhvr>
                                      <p:to>
                                        <p:strVal val="visible"/>
                                      </p:to>
                                    </p:set>
                                    <p:animEffect transition="in" filter="wipe(left)">
                                      <p:cBhvr>
                                        <p:cTn id="21" dur="500"/>
                                        <p:tgtEl>
                                          <p:spTgt spid="103427">
                                            <p:txEl>
                                              <p:charRg st="28" end="4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Grp="1"/>
          </p:cNvSpPr>
          <p:nvPr>
            <p:ph type="title" idx="4294967295"/>
          </p:nvPr>
        </p:nvSpPr>
        <p:spPr>
          <a:xfrm>
            <a:off x="684213" y="1050925"/>
            <a:ext cx="6553200" cy="563563"/>
          </a:xfrm>
        </p:spPr>
        <p:txBody>
          <a:bodyPr vert="horz" wrap="square" lIns="91440" tIns="45720" rIns="91440" bIns="45720" anchor="ctr" anchorCtr="0"/>
          <a:p>
            <a:pPr marL="457200" indent="-457200" eaLnBrk="1" hangingPunct="1">
              <a:buFont typeface="Wingdings" panose="05000000000000000000" pitchFamily="2" charset="2"/>
              <a:buChar char="Ø"/>
            </a:pPr>
            <a:r>
              <a:rPr lang="en-US" altLang="zh-CN" dirty="0">
                <a:solidFill>
                  <a:srgbClr val="000033"/>
                </a:solidFill>
                <a:ea typeface="宋体" panose="02010600030101010101" pitchFamily="2" charset="-122"/>
              </a:rPr>
              <a:t>“</a:t>
            </a:r>
            <a:r>
              <a:rPr lang="zh-CN" altLang="en-US" dirty="0">
                <a:solidFill>
                  <a:srgbClr val="000033"/>
                </a:solidFill>
                <a:ea typeface="宋体" panose="02010600030101010101" pitchFamily="2" charset="-122"/>
              </a:rPr>
              <a:t>或”指令的应用</a:t>
            </a:r>
            <a:endParaRPr lang="zh-CN" altLang="en-US" dirty="0">
              <a:solidFill>
                <a:srgbClr val="000033"/>
              </a:solidFill>
              <a:ea typeface="宋体" panose="02010600030101010101" pitchFamily="2" charset="-122"/>
            </a:endParaRPr>
          </a:p>
        </p:txBody>
      </p:sp>
      <p:sp>
        <p:nvSpPr>
          <p:cNvPr id="104451" name="Rectangle 3"/>
          <p:cNvSpPr>
            <a:spLocks noGrp="1"/>
          </p:cNvSpPr>
          <p:nvPr>
            <p:ph type="body" idx="4294967295"/>
          </p:nvPr>
        </p:nvSpPr>
        <p:spPr>
          <a:xfrm>
            <a:off x="684213" y="1787525"/>
            <a:ext cx="5759450" cy="3370263"/>
          </a:xfrm>
        </p:spPr>
        <p:txBody>
          <a:bodyPr vert="horz" wrap="square" lIns="91440" tIns="45720" rIns="91440" bIns="45720" anchor="t" anchorCtr="0"/>
          <a:p>
            <a:pPr eaLnBrk="1" hangingPunct="1">
              <a:lnSpc>
                <a:spcPct val="12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实现两操作数相“或”的运算</a:t>
            </a:r>
            <a:endParaRPr lang="zh-CN" altLang="en-US" sz="2400" dirty="0">
              <a:latin typeface="宋体" panose="02010600030101010101" pitchFamily="2" charset="-122"/>
              <a:ea typeface="宋体" panose="02010600030101010101" pitchFamily="2" charset="-122"/>
            </a:endParaRPr>
          </a:p>
          <a:p>
            <a:pPr lvl="1" eaLnBrk="1" hangingPunct="1">
              <a:spcBef>
                <a:spcPct val="30000"/>
              </a:spcBef>
              <a:spcAft>
                <a:spcPct val="30000"/>
              </a:spcAft>
              <a:buFont typeface="Wingdings" panose="05000000000000000000" pitchFamily="2" charset="2"/>
              <a:buChar char="•"/>
            </a:pPr>
            <a:r>
              <a:rPr lang="en-US" altLang="zh-CN" dirty="0">
                <a:latin typeface="宋体" panose="02010600030101010101" pitchFamily="2" charset="-122"/>
                <a:ea typeface="宋体" panose="02010600030101010101" pitchFamily="2" charset="-122"/>
              </a:rPr>
              <a:t>OR  AX，[DI]</a:t>
            </a:r>
            <a:endParaRPr lang="zh-CN" altLang="en-US" dirty="0">
              <a:solidFill>
                <a:schemeClr val="tx2"/>
              </a:solidFill>
              <a:latin typeface="宋体" panose="02010600030101010101" pitchFamily="2" charset="-122"/>
              <a:ea typeface="宋体" panose="02010600030101010101" pitchFamily="2" charset="-122"/>
            </a:endParaRPr>
          </a:p>
          <a:p>
            <a:pPr eaLnBrk="1" hangingPunct="1">
              <a:lnSpc>
                <a:spcPct val="12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使某些位不变，某些位置“1”</a:t>
            </a:r>
            <a:endParaRPr lang="zh-CN" altLang="en-US" sz="2400" dirty="0">
              <a:latin typeface="宋体" panose="02010600030101010101" pitchFamily="2" charset="-122"/>
              <a:ea typeface="宋体" panose="02010600030101010101" pitchFamily="2" charset="-122"/>
            </a:endParaRPr>
          </a:p>
          <a:p>
            <a:pPr lvl="1" eaLnBrk="1" hangingPunct="1">
              <a:lnSpc>
                <a:spcPct val="120000"/>
              </a:lnSpc>
              <a:spcAft>
                <a:spcPct val="30000"/>
              </a:spcAft>
              <a:buFont typeface="Wingdings" panose="05000000000000000000" pitchFamily="2" charset="2"/>
              <a:buChar char="•"/>
            </a:pPr>
            <a:r>
              <a:rPr lang="en-US" altLang="zh-CN" dirty="0">
                <a:latin typeface="宋体" panose="02010600030101010101" pitchFamily="2" charset="-122"/>
                <a:ea typeface="宋体" panose="02010600030101010101" pitchFamily="2" charset="-122"/>
              </a:rPr>
              <a:t>OR  CL，0FH</a:t>
            </a:r>
            <a:endParaRPr lang="zh-CN" altLang="en-US" dirty="0">
              <a:solidFill>
                <a:schemeClr val="tx2"/>
              </a:solidFill>
              <a:latin typeface="宋体" panose="02010600030101010101" pitchFamily="2" charset="-122"/>
              <a:ea typeface="宋体" panose="02010600030101010101" pitchFamily="2" charset="-122"/>
            </a:endParaRPr>
          </a:p>
          <a:p>
            <a:pPr eaLnBrk="1" hangingPunct="1">
              <a:lnSpc>
                <a:spcPct val="12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在不改变操作数的情况下使</a:t>
            </a:r>
            <a:r>
              <a:rPr lang="en-US" altLang="zh-CN" sz="2400" dirty="0">
                <a:latin typeface="宋体" panose="02010600030101010101" pitchFamily="2" charset="-122"/>
                <a:ea typeface="宋体" panose="02010600030101010101" pitchFamily="2" charset="-122"/>
              </a:rPr>
              <a:t>OF=CF=0</a:t>
            </a:r>
            <a:endParaRPr lang="en-US" altLang="zh-CN" sz="2400" dirty="0">
              <a:latin typeface="宋体" panose="02010600030101010101" pitchFamily="2" charset="-122"/>
              <a:ea typeface="宋体" panose="02010600030101010101" pitchFamily="2" charset="-122"/>
            </a:endParaRPr>
          </a:p>
          <a:p>
            <a:pPr lvl="1" eaLnBrk="1" hangingPunct="1">
              <a:lnSpc>
                <a:spcPct val="120000"/>
              </a:lnSpc>
            </a:pPr>
            <a:r>
              <a:rPr lang="en-US" altLang="zh-CN" dirty="0">
                <a:latin typeface="宋体" panose="02010600030101010101" pitchFamily="2" charset="-122"/>
                <a:ea typeface="宋体" panose="02010600030101010101" pitchFamily="2" charset="-122"/>
              </a:rPr>
              <a:t>OR  AX，AX</a:t>
            </a:r>
            <a:endParaRPr lang="en-US" altLang="zh-CN"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4451">
                                            <p:txEl>
                                              <p:charRg st="0" end="14"/>
                                            </p:txEl>
                                          </p:spTgt>
                                        </p:tgtEl>
                                        <p:attrNameLst>
                                          <p:attrName>style.visibility</p:attrName>
                                        </p:attrNameLst>
                                      </p:cBhvr>
                                      <p:to>
                                        <p:strVal val="visible"/>
                                      </p:to>
                                    </p:set>
                                    <p:animEffect transition="in" filter="wipe(left)">
                                      <p:cBhvr>
                                        <p:cTn id="7" dur="500"/>
                                        <p:tgtEl>
                                          <p:spTgt spid="104451">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4451">
                                            <p:txEl>
                                              <p:charRg st="14" end="26"/>
                                            </p:txEl>
                                          </p:spTgt>
                                        </p:tgtEl>
                                        <p:attrNameLst>
                                          <p:attrName>style.visibility</p:attrName>
                                        </p:attrNameLst>
                                      </p:cBhvr>
                                      <p:to>
                                        <p:strVal val="visible"/>
                                      </p:to>
                                    </p:set>
                                    <p:animEffect transition="in" filter="wipe(left)">
                                      <p:cBhvr>
                                        <p:cTn id="12" dur="500"/>
                                        <p:tgtEl>
                                          <p:spTgt spid="104451">
                                            <p:txEl>
                                              <p:charRg st="14" end="2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4451">
                                            <p:txEl>
                                              <p:charRg st="26" end="41"/>
                                            </p:txEl>
                                          </p:spTgt>
                                        </p:tgtEl>
                                        <p:attrNameLst>
                                          <p:attrName>style.visibility</p:attrName>
                                        </p:attrNameLst>
                                      </p:cBhvr>
                                      <p:to>
                                        <p:strVal val="visible"/>
                                      </p:to>
                                    </p:set>
                                    <p:animEffect transition="in" filter="wipe(left)">
                                      <p:cBhvr>
                                        <p:cTn id="17" dur="500"/>
                                        <p:tgtEl>
                                          <p:spTgt spid="104451">
                                            <p:txEl>
                                              <p:charRg st="26" end="4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4451">
                                            <p:txEl>
                                              <p:charRg st="41" end="52"/>
                                            </p:txEl>
                                          </p:spTgt>
                                        </p:tgtEl>
                                        <p:attrNameLst>
                                          <p:attrName>style.visibility</p:attrName>
                                        </p:attrNameLst>
                                      </p:cBhvr>
                                      <p:to>
                                        <p:strVal val="visible"/>
                                      </p:to>
                                    </p:set>
                                    <p:animEffect transition="in" filter="wipe(left)">
                                      <p:cBhvr>
                                        <p:cTn id="22" dur="500"/>
                                        <p:tgtEl>
                                          <p:spTgt spid="104451">
                                            <p:txEl>
                                              <p:charRg st="41" end="5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4451">
                                            <p:txEl>
                                              <p:charRg st="52" end="72"/>
                                            </p:txEl>
                                          </p:spTgt>
                                        </p:tgtEl>
                                        <p:attrNameLst>
                                          <p:attrName>style.visibility</p:attrName>
                                        </p:attrNameLst>
                                      </p:cBhvr>
                                      <p:to>
                                        <p:strVal val="visible"/>
                                      </p:to>
                                    </p:set>
                                    <p:animEffect transition="in" filter="wipe(left)">
                                      <p:cBhvr>
                                        <p:cTn id="27" dur="500"/>
                                        <p:tgtEl>
                                          <p:spTgt spid="104451">
                                            <p:txEl>
                                              <p:charRg st="52" end="7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4451">
                                            <p:txEl>
                                              <p:charRg st="72" end="82"/>
                                            </p:txEl>
                                          </p:spTgt>
                                        </p:tgtEl>
                                        <p:attrNameLst>
                                          <p:attrName>style.visibility</p:attrName>
                                        </p:attrNameLst>
                                      </p:cBhvr>
                                      <p:to>
                                        <p:strVal val="visible"/>
                                      </p:to>
                                    </p:set>
                                    <p:animEffect transition="in" filter="wipe(left)">
                                      <p:cBhvr>
                                        <p:cTn id="32" dur="500"/>
                                        <p:tgtEl>
                                          <p:spTgt spid="104451">
                                            <p:txEl>
                                              <p:charRg st="72" end="8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p:cNvSpPr>
          <p:nvPr>
            <p:ph type="title" idx="4294967295"/>
          </p:nvPr>
        </p:nvSpPr>
        <p:spPr>
          <a:xfrm>
            <a:off x="900113" y="1149350"/>
            <a:ext cx="7127875" cy="1127125"/>
          </a:xfrm>
        </p:spPr>
        <p:txBody>
          <a:bodyPr vert="horz" wrap="square" lIns="91440" tIns="45720" rIns="91440" bIns="45720" anchor="ctr" anchorCtr="0"/>
          <a:p>
            <a:pPr eaLnBrk="1" hangingPunct="1"/>
            <a:r>
              <a:rPr lang="en-US" altLang="zh-CN" dirty="0">
                <a:solidFill>
                  <a:srgbClr val="000033"/>
                </a:solidFill>
                <a:latin typeface="宋体" panose="02010600030101010101" pitchFamily="2" charset="-122"/>
                <a:ea typeface="宋体" panose="02010600030101010101" pitchFamily="2" charset="-122"/>
              </a:rPr>
              <a:t>【</a:t>
            </a:r>
            <a:r>
              <a:rPr lang="zh-CN" altLang="en-US" dirty="0">
                <a:solidFill>
                  <a:srgbClr val="000033"/>
                </a:solidFill>
                <a:latin typeface="宋体" panose="02010600030101010101" pitchFamily="2" charset="-122"/>
                <a:ea typeface="宋体" panose="02010600030101010101" pitchFamily="2" charset="-122"/>
              </a:rPr>
              <a:t>例</a:t>
            </a:r>
            <a:r>
              <a:rPr lang="en-US" altLang="zh-CN" dirty="0">
                <a:solidFill>
                  <a:srgbClr val="000033"/>
                </a:solidFill>
                <a:latin typeface="宋体" panose="02010600030101010101" pitchFamily="2" charset="-122"/>
                <a:ea typeface="宋体" panose="02010600030101010101" pitchFamily="2" charset="-122"/>
              </a:rPr>
              <a:t>】</a:t>
            </a:r>
            <a:r>
              <a:rPr lang="zh-CN" altLang="en-US" sz="2400" dirty="0">
                <a:solidFill>
                  <a:srgbClr val="000033"/>
                </a:solidFill>
                <a:latin typeface="宋体" panose="02010600030101010101" pitchFamily="2" charset="-122"/>
                <a:ea typeface="宋体" panose="02010600030101010101" pitchFamily="2" charset="-122"/>
              </a:rPr>
              <a:t>奇偶校验</a:t>
            </a:r>
            <a:endParaRPr lang="zh-CN" altLang="en-US" dirty="0">
              <a:ea typeface="宋体" panose="02010600030101010101" pitchFamily="2" charset="-122"/>
            </a:endParaRPr>
          </a:p>
        </p:txBody>
      </p:sp>
      <p:sp>
        <p:nvSpPr>
          <p:cNvPr id="102403" name="Text Box 4"/>
          <p:cNvSpPr txBox="1"/>
          <p:nvPr/>
        </p:nvSpPr>
        <p:spPr>
          <a:xfrm>
            <a:off x="1835150" y="2205038"/>
            <a:ext cx="4186238" cy="2503487"/>
          </a:xfrm>
          <a:prstGeom prst="rect">
            <a:avLst/>
          </a:prstGeom>
          <a:noFill/>
          <a:ln w="9525">
            <a:noFill/>
          </a:ln>
        </p:spPr>
        <p:txBody>
          <a:bodyPr>
            <a:spAutoFit/>
          </a:bodyPr>
          <a:p>
            <a:pPr algn="just" eaLnBrk="0" hangingPunct="0">
              <a:spcBef>
                <a:spcPct val="50000"/>
              </a:spcBef>
              <a:buFont typeface="Wingdings" panose="05000000000000000000" pitchFamily="2" charset="2"/>
            </a:pPr>
            <a:r>
              <a:rPr lang="en-US" altLang="zh-CN" sz="3200" b="1" dirty="0">
                <a:latin typeface="Times New Roman" panose="02020603050405020304" pitchFamily="18" charset="0"/>
                <a:ea typeface="宋体" panose="02010600030101010101" pitchFamily="2" charset="-122"/>
              </a:rPr>
              <a:t>         </a:t>
            </a:r>
            <a:r>
              <a:rPr lang="en-US" altLang="zh-CN" sz="2800" b="1" dirty="0">
                <a:latin typeface="宋体" panose="02010600030101010101" pitchFamily="2" charset="-122"/>
                <a:ea typeface="宋体" panose="02010600030101010101" pitchFamily="2" charset="-122"/>
              </a:rPr>
              <a:t>OR  AL，AL</a:t>
            </a:r>
            <a:endParaRPr lang="en-US" altLang="zh-CN" sz="2800" b="1" dirty="0">
              <a:latin typeface="宋体" panose="02010600030101010101" pitchFamily="2" charset="-122"/>
              <a:ea typeface="宋体" panose="02010600030101010101" pitchFamily="2" charset="-122"/>
            </a:endParaRPr>
          </a:p>
          <a:p>
            <a:pPr algn="just" eaLnBrk="0" hangingPunct="0">
              <a:spcBef>
                <a:spcPct val="50000"/>
              </a:spcBef>
              <a:buFont typeface="Wingdings" panose="05000000000000000000" pitchFamily="2" charset="2"/>
            </a:pPr>
            <a:r>
              <a:rPr lang="en-US" altLang="zh-CN" sz="2800" b="1" dirty="0">
                <a:latin typeface="宋体" panose="02010600030101010101" pitchFamily="2" charset="-122"/>
                <a:ea typeface="宋体" panose="02010600030101010101" pitchFamily="2" charset="-122"/>
              </a:rPr>
              <a:t>     JPE  GOON</a:t>
            </a:r>
            <a:endParaRPr lang="en-US" altLang="zh-CN" sz="2800" b="1" dirty="0">
              <a:latin typeface="宋体" panose="02010600030101010101" pitchFamily="2" charset="-122"/>
              <a:ea typeface="宋体" panose="02010600030101010101" pitchFamily="2" charset="-122"/>
            </a:endParaRPr>
          </a:p>
          <a:p>
            <a:pPr eaLnBrk="0" hangingPunct="0">
              <a:spcBef>
                <a:spcPct val="50000"/>
              </a:spcBef>
              <a:buFont typeface="Wingdings" panose="05000000000000000000" pitchFamily="2" charset="2"/>
            </a:pPr>
            <a:r>
              <a:rPr lang="en-GB" altLang="en-US" sz="2800" b="1" dirty="0">
                <a:latin typeface="宋体" panose="02010600030101010101" pitchFamily="2" charset="-122"/>
                <a:ea typeface="宋体" panose="02010600030101010101" pitchFamily="2" charset="-122"/>
              </a:rPr>
              <a:t>     OR  AL，80H</a:t>
            </a:r>
            <a:r>
              <a:rPr lang="en-US" altLang="zh-CN" sz="2800" dirty="0">
                <a:latin typeface="宋体" panose="02010600030101010101" pitchFamily="2" charset="-122"/>
                <a:ea typeface="宋体" panose="02010600030101010101" pitchFamily="2" charset="-122"/>
              </a:rPr>
              <a:t> </a:t>
            </a:r>
            <a:endParaRPr lang="en-US" altLang="zh-CN" sz="2800" dirty="0">
              <a:latin typeface="宋体" panose="02010600030101010101" pitchFamily="2" charset="-122"/>
              <a:ea typeface="宋体" panose="02010600030101010101" pitchFamily="2" charset="-122"/>
            </a:endParaRPr>
          </a:p>
          <a:p>
            <a:pPr eaLnBrk="0" hangingPunct="0">
              <a:spcBef>
                <a:spcPct val="50000"/>
              </a:spcBef>
              <a:buFont typeface="Wingdings" panose="05000000000000000000" pitchFamily="2" charset="2"/>
            </a:pPr>
            <a:r>
              <a:rPr lang="en-US" altLang="zh-CN" sz="2800" b="1" dirty="0">
                <a:latin typeface="宋体" panose="02010600030101010101" pitchFamily="2" charset="-122"/>
                <a:ea typeface="宋体" panose="02010600030101010101" pitchFamily="2" charset="-122"/>
              </a:rPr>
              <a:t>GOON：….</a:t>
            </a:r>
            <a:endParaRPr lang="zh-CN" altLang="en-US" sz="2800" b="1" dirty="0">
              <a:latin typeface="宋体" panose="02010600030101010101" pitchFamily="2" charset="-122"/>
              <a:ea typeface="宋体" panose="02010600030101010101" pitchFamily="2" charset="-122"/>
            </a:endParaRPr>
          </a:p>
        </p:txBody>
      </p:sp>
      <p:sp>
        <p:nvSpPr>
          <p:cNvPr id="2" name="文本框 1"/>
          <p:cNvSpPr txBox="1"/>
          <p:nvPr/>
        </p:nvSpPr>
        <p:spPr>
          <a:xfrm>
            <a:off x="1260475" y="4796790"/>
            <a:ext cx="6875780" cy="1337945"/>
          </a:xfrm>
          <a:prstGeom prst="rect">
            <a:avLst/>
          </a:prstGeom>
          <a:noFill/>
        </p:spPr>
        <p:txBody>
          <a:bodyPr wrap="square" rtlCol="0" anchor="t">
            <a:spAutoFit/>
          </a:bodyPr>
          <a:p>
            <a:pPr>
              <a:lnSpc>
                <a:spcPct val="150000"/>
              </a:lnSpc>
            </a:pPr>
            <a:r>
              <a:rPr lang="en-US" altLang="zh-CN"/>
              <a:t>OR </a:t>
            </a:r>
            <a:r>
              <a:rPr lang="zh-CN" altLang="en-US"/>
              <a:t>指令将</a:t>
            </a:r>
            <a:r>
              <a:rPr lang="en-US" altLang="zh-CN"/>
              <a:t> AL </a:t>
            </a:r>
            <a:r>
              <a:rPr lang="zh-CN" altLang="en-US"/>
              <a:t>与自身按位或，结果仍是</a:t>
            </a:r>
            <a:r>
              <a:rPr lang="en-US" altLang="zh-CN"/>
              <a:t> AL </a:t>
            </a:r>
            <a:r>
              <a:rPr lang="zh-CN" altLang="en-US"/>
              <a:t>的原始值。</a:t>
            </a:r>
            <a:endParaRPr lang="zh-CN" altLang="en-US"/>
          </a:p>
          <a:p>
            <a:pPr>
              <a:lnSpc>
                <a:spcPct val="150000"/>
              </a:lnSpc>
            </a:pPr>
            <a:r>
              <a:rPr lang="zh-CN" altLang="en-US"/>
              <a:t>关键作用：操作后，奇偶标志位</a:t>
            </a:r>
            <a:r>
              <a:rPr lang="en-US" altLang="zh-CN"/>
              <a:t> PF</a:t>
            </a:r>
            <a:r>
              <a:rPr lang="zh-CN" altLang="en-US"/>
              <a:t>（</a:t>
            </a:r>
            <a:r>
              <a:rPr lang="en-US" altLang="zh-CN"/>
              <a:t>Parity Flag</a:t>
            </a:r>
            <a:r>
              <a:rPr lang="zh-CN" altLang="en-US"/>
              <a:t>）会被设置。</a:t>
            </a:r>
            <a:endParaRPr lang="zh-CN" altLang="en-US"/>
          </a:p>
          <a:p>
            <a:pPr>
              <a:lnSpc>
                <a:spcPct val="150000"/>
              </a:lnSpc>
            </a:pPr>
            <a:r>
              <a:rPr lang="zh-CN" altLang="en-US"/>
              <a:t>若</a:t>
            </a:r>
            <a:r>
              <a:rPr lang="en-US" altLang="zh-CN"/>
              <a:t> AL </a:t>
            </a:r>
            <a:r>
              <a:rPr lang="zh-CN" altLang="en-US"/>
              <a:t>中</a:t>
            </a:r>
            <a:r>
              <a:rPr lang="en-US" altLang="zh-CN"/>
              <a:t> 1 </a:t>
            </a:r>
            <a:r>
              <a:rPr lang="zh-CN" altLang="en-US"/>
              <a:t>的个数为</a:t>
            </a:r>
            <a:r>
              <a:rPr lang="en-US" altLang="zh-CN"/>
              <a:t> </a:t>
            </a:r>
            <a:r>
              <a:rPr lang="zh-CN" altLang="en-US"/>
              <a:t>偶数，</a:t>
            </a:r>
            <a:r>
              <a:rPr lang="en-US" altLang="zh-CN"/>
              <a:t>PF = 1</a:t>
            </a:r>
            <a:r>
              <a:rPr lang="zh-CN" altLang="en-US"/>
              <a:t>；若为</a:t>
            </a:r>
            <a:r>
              <a:rPr lang="en-US" altLang="zh-CN"/>
              <a:t> </a:t>
            </a:r>
            <a:r>
              <a:rPr lang="zh-CN" altLang="en-US"/>
              <a:t>奇数，</a:t>
            </a:r>
            <a:r>
              <a:rPr lang="en-US" altLang="zh-CN"/>
              <a:t>PF = 0</a:t>
            </a:r>
            <a:r>
              <a:rPr lang="zh-CN" altLang="en-US"/>
              <a:t>。</a:t>
            </a:r>
            <a:endParaRPr lang="zh-CN" altLang="en-US"/>
          </a:p>
        </p:txBody>
      </p:sp>
      <p:sp>
        <p:nvSpPr>
          <p:cNvPr id="3" name="文本框 2"/>
          <p:cNvSpPr txBox="1"/>
          <p:nvPr/>
        </p:nvSpPr>
        <p:spPr>
          <a:xfrm>
            <a:off x="5076190" y="2922270"/>
            <a:ext cx="1549400" cy="368300"/>
          </a:xfrm>
          <a:prstGeom prst="rect">
            <a:avLst/>
          </a:prstGeom>
          <a:noFill/>
          <a:ln>
            <a:solidFill>
              <a:srgbClr val="FF0066"/>
            </a:solidFill>
          </a:ln>
        </p:spPr>
        <p:txBody>
          <a:bodyPr wrap="square" rtlCol="0">
            <a:spAutoFit/>
          </a:bodyPr>
          <a:p>
            <a:r>
              <a:rPr lang="en-US" altLang="zh-CN"/>
              <a:t>PF=1</a:t>
            </a:r>
            <a:r>
              <a:rPr lang="zh-CN" altLang="en-US">
                <a:ea typeface="宋体" panose="02010600030101010101" pitchFamily="2" charset="-122"/>
              </a:rPr>
              <a:t>则转移</a:t>
            </a:r>
            <a:endParaRPr lang="zh-CN" altLang="en-US">
              <a:ea typeface="宋体" panose="02010600030101010101" pitchFamily="2" charset="-122"/>
            </a:endParaRPr>
          </a:p>
        </p:txBody>
      </p:sp>
    </p:spTree>
  </p:cSld>
  <p:clrMapOvr>
    <a:masterClrMapping/>
  </p:clrMapOvr>
  <p:transition spd="slow"/>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p:cNvSpPr>
          <p:nvPr>
            <p:ph type="title" idx="4294967295"/>
          </p:nvPr>
        </p:nvSpPr>
        <p:spPr>
          <a:xfrm>
            <a:off x="468313" y="981075"/>
            <a:ext cx="3671887" cy="579438"/>
          </a:xfrm>
        </p:spPr>
        <p:txBody>
          <a:bodyPr vert="horz" wrap="square" lIns="91440" tIns="45720" rIns="91440" bIns="45720" anchor="ctr" anchorCtr="0"/>
          <a:p>
            <a:pPr eaLnBrk="1" hangingPunct="1"/>
            <a:r>
              <a:rPr lang="zh-CN" altLang="en-US" dirty="0">
                <a:solidFill>
                  <a:srgbClr val="000033"/>
                </a:solidFill>
                <a:ea typeface="宋体" panose="02010600030101010101" pitchFamily="2" charset="-122"/>
              </a:rPr>
              <a:t>（</a:t>
            </a:r>
            <a:r>
              <a:rPr lang="en-US" altLang="zh-CN" dirty="0">
                <a:solidFill>
                  <a:srgbClr val="000033"/>
                </a:solidFill>
                <a:ea typeface="宋体" panose="02010600030101010101" pitchFamily="2" charset="-122"/>
              </a:rPr>
              <a:t>3</a:t>
            </a:r>
            <a:r>
              <a:rPr lang="zh-CN" altLang="en-US" dirty="0">
                <a:solidFill>
                  <a:srgbClr val="000033"/>
                </a:solidFill>
                <a:ea typeface="宋体" panose="02010600030101010101" pitchFamily="2" charset="-122"/>
              </a:rPr>
              <a:t>）“非”运算指令</a:t>
            </a:r>
            <a:endParaRPr lang="zh-CN" altLang="en-US" dirty="0">
              <a:solidFill>
                <a:srgbClr val="000033"/>
              </a:solidFill>
              <a:ea typeface="宋体" panose="02010600030101010101" pitchFamily="2" charset="-122"/>
            </a:endParaRPr>
          </a:p>
        </p:txBody>
      </p:sp>
      <p:sp>
        <p:nvSpPr>
          <p:cNvPr id="106499" name="Rectangle 3"/>
          <p:cNvSpPr>
            <a:spLocks noGrp="1"/>
          </p:cNvSpPr>
          <p:nvPr>
            <p:ph type="body" idx="4294967295"/>
          </p:nvPr>
        </p:nvSpPr>
        <p:spPr>
          <a:xfrm>
            <a:off x="1187450" y="1844675"/>
            <a:ext cx="6913563" cy="4032250"/>
          </a:xfrm>
        </p:spPr>
        <p:txBody>
          <a:bodyPr vert="horz" wrap="square" lIns="91440" tIns="45720" rIns="91440" bIns="45720" anchor="t" anchorCtr="0"/>
          <a:p>
            <a:pPr eaLnBrk="1" hangingPunct="1">
              <a:spcBef>
                <a:spcPct val="10000"/>
              </a:spcBef>
              <a:spcAft>
                <a:spcPct val="10000"/>
              </a:spcAft>
              <a:buFont typeface="Wingdings" panose="05000000000000000000" pitchFamily="2" charset="2"/>
              <a:buChar char="Ø"/>
            </a:pPr>
            <a:r>
              <a:rPr lang="zh-CN" altLang="en-US" b="0" dirty="0">
                <a:latin typeface="宋体" panose="02010600030101010101" pitchFamily="2" charset="-122"/>
                <a:ea typeface="宋体" panose="02010600030101010101" pitchFamily="2" charset="-122"/>
              </a:rPr>
              <a:t>格式：</a:t>
            </a:r>
            <a:endParaRPr lang="zh-CN" altLang="en-US" b="0" dirty="0">
              <a:latin typeface="宋体" panose="02010600030101010101" pitchFamily="2" charset="-122"/>
              <a:ea typeface="宋体" panose="02010600030101010101" pitchFamily="2" charset="-122"/>
            </a:endParaRPr>
          </a:p>
          <a:p>
            <a:pPr lvl="1" eaLnBrk="1" hangingPunct="1">
              <a:spcBef>
                <a:spcPct val="10000"/>
              </a:spcBef>
              <a:spcAft>
                <a:spcPct val="10000"/>
              </a:spcAft>
              <a:buFont typeface="Wingdings" panose="05000000000000000000" pitchFamily="2" charset="2"/>
              <a:buChar char="•"/>
            </a:pPr>
            <a:r>
              <a:rPr lang="en-US" altLang="zh-CN" b="0" dirty="0">
                <a:latin typeface="宋体" panose="02010600030101010101" pitchFamily="2" charset="-122"/>
                <a:ea typeface="宋体" panose="02010600030101010101" pitchFamily="2" charset="-122"/>
              </a:rPr>
              <a:t>NOT  OPRD</a:t>
            </a:r>
            <a:endParaRPr lang="en-US" altLang="zh-CN" b="0" dirty="0">
              <a:latin typeface="宋体" panose="02010600030101010101" pitchFamily="2" charset="-122"/>
              <a:ea typeface="宋体" panose="02010600030101010101" pitchFamily="2" charset="-122"/>
            </a:endParaRPr>
          </a:p>
          <a:p>
            <a:pPr eaLnBrk="1" hangingPunct="1">
              <a:spcBef>
                <a:spcPct val="10000"/>
              </a:spcBef>
              <a:spcAft>
                <a:spcPct val="10000"/>
              </a:spcAft>
              <a:buFont typeface="Wingdings" panose="05000000000000000000" pitchFamily="2" charset="2"/>
              <a:buChar char="Ø"/>
            </a:pPr>
            <a:r>
              <a:rPr lang="zh-CN" altLang="en-US" b="0" dirty="0">
                <a:latin typeface="宋体" panose="02010600030101010101" pitchFamily="2" charset="-122"/>
                <a:ea typeface="宋体" panose="02010600030101010101" pitchFamily="2" charset="-122"/>
              </a:rPr>
              <a:t>操作：</a:t>
            </a:r>
            <a:endParaRPr lang="zh-CN" altLang="en-US" b="0" dirty="0">
              <a:latin typeface="宋体" panose="02010600030101010101" pitchFamily="2" charset="-122"/>
              <a:ea typeface="宋体" panose="02010600030101010101" pitchFamily="2" charset="-122"/>
            </a:endParaRPr>
          </a:p>
          <a:p>
            <a:pPr lvl="1" eaLnBrk="1" hangingPunct="1">
              <a:spcBef>
                <a:spcPct val="10000"/>
              </a:spcBef>
              <a:spcAft>
                <a:spcPct val="10000"/>
              </a:spcAft>
              <a:buFont typeface="Wingdings" panose="05000000000000000000" pitchFamily="2" charset="2"/>
              <a:buChar char="•"/>
            </a:pPr>
            <a:r>
              <a:rPr lang="zh-CN" altLang="en-US" b="0" dirty="0">
                <a:latin typeface="宋体" panose="02010600030101010101" pitchFamily="2" charset="-122"/>
                <a:ea typeface="宋体" panose="02010600030101010101" pitchFamily="2" charset="-122"/>
              </a:rPr>
              <a:t>操作数按位取反再送回原地址</a:t>
            </a:r>
            <a:endParaRPr lang="en-US" altLang="zh-CN" b="0" dirty="0">
              <a:latin typeface="宋体" panose="02010600030101010101" pitchFamily="2" charset="-122"/>
              <a:ea typeface="宋体" panose="02010600030101010101" pitchFamily="2" charset="-122"/>
            </a:endParaRPr>
          </a:p>
          <a:p>
            <a:pPr lvl="1" eaLnBrk="1" hangingPunct="1">
              <a:spcBef>
                <a:spcPct val="10000"/>
              </a:spcBef>
              <a:spcAft>
                <a:spcPct val="10000"/>
              </a:spcAft>
              <a:buFont typeface="Wingdings" panose="05000000000000000000" pitchFamily="2" charset="2"/>
              <a:buChar char="•"/>
            </a:pPr>
            <a:r>
              <a:rPr lang="zh-CN" altLang="en-US" b="0" dirty="0">
                <a:latin typeface="宋体" panose="02010600030101010101" pitchFamily="2" charset="-122"/>
                <a:ea typeface="宋体" panose="02010600030101010101" pitchFamily="2" charset="-122"/>
              </a:rPr>
              <a:t>操作数为</a:t>
            </a:r>
            <a:r>
              <a:rPr lang="en-US" altLang="zh-CN" b="0" dirty="0">
                <a:latin typeface="宋体" panose="02010600030101010101" pitchFamily="2" charset="-122"/>
                <a:ea typeface="宋体" panose="02010600030101010101" pitchFamily="2" charset="-122"/>
              </a:rPr>
              <a:t>8</a:t>
            </a:r>
            <a:r>
              <a:rPr lang="zh-CN" altLang="en-US" b="0" dirty="0">
                <a:latin typeface="宋体" panose="02010600030101010101" pitchFamily="2" charset="-122"/>
                <a:ea typeface="宋体" panose="02010600030101010101" pitchFamily="2" charset="-122"/>
              </a:rPr>
              <a:t>位或</a:t>
            </a:r>
            <a:r>
              <a:rPr lang="en-US" altLang="zh-CN" b="0" dirty="0">
                <a:latin typeface="宋体" panose="02010600030101010101" pitchFamily="2" charset="-122"/>
                <a:ea typeface="宋体" panose="02010600030101010101" pitchFamily="2" charset="-122"/>
              </a:rPr>
              <a:t>16</a:t>
            </a:r>
            <a:r>
              <a:rPr lang="zh-CN" altLang="en-US" b="0" dirty="0">
                <a:latin typeface="宋体" panose="02010600030101010101" pitchFamily="2" charset="-122"/>
                <a:ea typeface="宋体" panose="02010600030101010101" pitchFamily="2" charset="-122"/>
              </a:rPr>
              <a:t>位的寄存器或者存储器操作数，但不能是立即数</a:t>
            </a:r>
            <a:endParaRPr lang="zh-CN" altLang="en-US" b="0" dirty="0">
              <a:latin typeface="宋体" panose="02010600030101010101" pitchFamily="2" charset="-122"/>
              <a:ea typeface="宋体" panose="02010600030101010101" pitchFamily="2" charset="-122"/>
            </a:endParaRPr>
          </a:p>
          <a:p>
            <a:pPr eaLnBrk="1" hangingPunct="1">
              <a:spcBef>
                <a:spcPct val="10000"/>
              </a:spcBef>
              <a:spcAft>
                <a:spcPct val="10000"/>
              </a:spcAft>
              <a:buFont typeface="Wingdings" panose="05000000000000000000" pitchFamily="2" charset="2"/>
              <a:buChar char="Ø"/>
            </a:pPr>
            <a:r>
              <a:rPr lang="zh-CN" altLang="en-US" b="0" dirty="0">
                <a:latin typeface="宋体" panose="02010600030101010101" pitchFamily="2" charset="-122"/>
                <a:ea typeface="宋体" panose="02010600030101010101" pitchFamily="2" charset="-122"/>
              </a:rPr>
              <a:t>注：</a:t>
            </a:r>
            <a:endParaRPr lang="zh-CN" altLang="en-US" b="0" dirty="0">
              <a:latin typeface="宋体" panose="02010600030101010101" pitchFamily="2" charset="-122"/>
              <a:ea typeface="宋体" panose="02010600030101010101" pitchFamily="2" charset="-122"/>
            </a:endParaRPr>
          </a:p>
          <a:p>
            <a:pPr lvl="1" eaLnBrk="1" hangingPunct="1">
              <a:spcBef>
                <a:spcPct val="10000"/>
              </a:spcBef>
              <a:spcAft>
                <a:spcPct val="10000"/>
              </a:spcAft>
            </a:pPr>
            <a:r>
              <a:rPr lang="zh-CN" altLang="en-US" b="0" dirty="0">
                <a:solidFill>
                  <a:srgbClr val="FF0000"/>
                </a:solidFill>
                <a:latin typeface="宋体" panose="02010600030101010101" pitchFamily="2" charset="-122"/>
                <a:ea typeface="宋体" panose="02010600030101010101" pitchFamily="2" charset="-122"/>
              </a:rPr>
              <a:t>指令中的操作数不能是立即数</a:t>
            </a:r>
            <a:endParaRPr lang="zh-CN" altLang="en-US" b="0" dirty="0">
              <a:solidFill>
                <a:srgbClr val="FF0000"/>
              </a:solidFill>
              <a:latin typeface="宋体" panose="02010600030101010101" pitchFamily="2" charset="-122"/>
              <a:ea typeface="宋体" panose="02010600030101010101" pitchFamily="2" charset="-122"/>
            </a:endParaRPr>
          </a:p>
          <a:p>
            <a:pPr lvl="1" eaLnBrk="1" hangingPunct="1">
              <a:spcBef>
                <a:spcPct val="5000"/>
              </a:spcBef>
              <a:spcAft>
                <a:spcPct val="10000"/>
              </a:spcAft>
            </a:pPr>
            <a:r>
              <a:rPr lang="zh-CN" altLang="en-US" b="0" dirty="0">
                <a:solidFill>
                  <a:srgbClr val="FF0000"/>
                </a:solidFill>
                <a:latin typeface="宋体" panose="02010600030101010101" pitchFamily="2" charset="-122"/>
                <a:ea typeface="宋体" panose="02010600030101010101" pitchFamily="2" charset="-122"/>
              </a:rPr>
              <a:t>指令的执行对标志位无影响</a:t>
            </a:r>
            <a:endParaRPr lang="zh-CN" altLang="en-US" b="0" dirty="0">
              <a:solidFill>
                <a:srgbClr val="FF0000"/>
              </a:solidFill>
              <a:latin typeface="宋体" panose="02010600030101010101" pitchFamily="2" charset="-122"/>
              <a:ea typeface="宋体" panose="02010600030101010101" pitchFamily="2" charset="-122"/>
            </a:endParaRPr>
          </a:p>
          <a:p>
            <a:pPr eaLnBrk="1" hangingPunct="1">
              <a:spcBef>
                <a:spcPct val="10000"/>
              </a:spcBef>
              <a:spcAft>
                <a:spcPct val="10000"/>
              </a:spcAft>
              <a:buFont typeface="Wingdings" panose="05000000000000000000" pitchFamily="2" charset="2"/>
              <a:buChar char="Ø"/>
            </a:pPr>
            <a:r>
              <a:rPr lang="zh-CN" altLang="en-US" b="0" dirty="0">
                <a:latin typeface="宋体" panose="02010600030101010101" pitchFamily="2" charset="-122"/>
                <a:ea typeface="宋体" panose="02010600030101010101" pitchFamily="2" charset="-122"/>
              </a:rPr>
              <a:t>例：</a:t>
            </a:r>
            <a:r>
              <a:rPr lang="en-US" altLang="zh-CN" b="0" dirty="0">
                <a:latin typeface="宋体" panose="02010600030101010101" pitchFamily="2" charset="-122"/>
                <a:ea typeface="宋体" panose="02010600030101010101" pitchFamily="2" charset="-122"/>
              </a:rPr>
              <a:t>NOT BYTE PTR[BX]</a:t>
            </a:r>
            <a:endParaRPr lang="zh-CN" altLang="en-US" b="0" dirty="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6499">
                                            <p:txEl>
                                              <p:charRg st="0" end="4"/>
                                            </p:txEl>
                                          </p:spTgt>
                                        </p:tgtEl>
                                        <p:attrNameLst>
                                          <p:attrName>style.visibility</p:attrName>
                                        </p:attrNameLst>
                                      </p:cBhvr>
                                      <p:to>
                                        <p:strVal val="visible"/>
                                      </p:to>
                                    </p:set>
                                    <p:animEffect transition="in" filter="wipe(left)">
                                      <p:cBhvr>
                                        <p:cTn id="7" dur="500"/>
                                        <p:tgtEl>
                                          <p:spTgt spid="106499">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6499">
                                            <p:txEl>
                                              <p:charRg st="4" end="14"/>
                                            </p:txEl>
                                          </p:spTgt>
                                        </p:tgtEl>
                                        <p:attrNameLst>
                                          <p:attrName>style.visibility</p:attrName>
                                        </p:attrNameLst>
                                      </p:cBhvr>
                                      <p:to>
                                        <p:strVal val="visible"/>
                                      </p:to>
                                    </p:set>
                                    <p:animEffect transition="in" filter="wipe(left)">
                                      <p:cBhvr>
                                        <p:cTn id="11" dur="500"/>
                                        <p:tgtEl>
                                          <p:spTgt spid="106499">
                                            <p:txEl>
                                              <p:charRg st="4" end="1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06499">
                                            <p:txEl>
                                              <p:charRg st="14" end="18"/>
                                            </p:txEl>
                                          </p:spTgt>
                                        </p:tgtEl>
                                        <p:attrNameLst>
                                          <p:attrName>style.visibility</p:attrName>
                                        </p:attrNameLst>
                                      </p:cBhvr>
                                      <p:to>
                                        <p:strVal val="visible"/>
                                      </p:to>
                                    </p:set>
                                    <p:animEffect transition="in" filter="wipe(left)">
                                      <p:cBhvr>
                                        <p:cTn id="16" dur="500"/>
                                        <p:tgtEl>
                                          <p:spTgt spid="106499">
                                            <p:txEl>
                                              <p:charRg st="14" end="18"/>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06499">
                                            <p:txEl>
                                              <p:charRg st="18" end="32"/>
                                            </p:txEl>
                                          </p:spTgt>
                                        </p:tgtEl>
                                        <p:attrNameLst>
                                          <p:attrName>style.visibility</p:attrName>
                                        </p:attrNameLst>
                                      </p:cBhvr>
                                      <p:to>
                                        <p:strVal val="visible"/>
                                      </p:to>
                                    </p:set>
                                    <p:animEffect transition="in" filter="wipe(left)">
                                      <p:cBhvr>
                                        <p:cTn id="20" dur="500"/>
                                        <p:tgtEl>
                                          <p:spTgt spid="106499">
                                            <p:txEl>
                                              <p:charRg st="18" end="32"/>
                                            </p:txEl>
                                          </p:spTgt>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106499">
                                            <p:txEl>
                                              <p:charRg st="32" end="63"/>
                                            </p:txEl>
                                          </p:spTgt>
                                        </p:tgtEl>
                                        <p:attrNameLst>
                                          <p:attrName>style.visibility</p:attrName>
                                        </p:attrNameLst>
                                      </p:cBhvr>
                                      <p:to>
                                        <p:strVal val="visible"/>
                                      </p:to>
                                    </p:set>
                                    <p:animEffect transition="in" filter="wipe(left)">
                                      <p:cBhvr>
                                        <p:cTn id="24" dur="500"/>
                                        <p:tgtEl>
                                          <p:spTgt spid="106499">
                                            <p:txEl>
                                              <p:charRg st="32" end="6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06499">
                                            <p:txEl>
                                              <p:charRg st="63" end="66"/>
                                            </p:txEl>
                                          </p:spTgt>
                                        </p:tgtEl>
                                        <p:attrNameLst>
                                          <p:attrName>style.visibility</p:attrName>
                                        </p:attrNameLst>
                                      </p:cBhvr>
                                      <p:to>
                                        <p:strVal val="visible"/>
                                      </p:to>
                                    </p:set>
                                    <p:animEffect transition="in" filter="wipe(left)">
                                      <p:cBhvr>
                                        <p:cTn id="29" dur="500"/>
                                        <p:tgtEl>
                                          <p:spTgt spid="106499">
                                            <p:txEl>
                                              <p:charRg st="63" end="66"/>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106499">
                                            <p:txEl>
                                              <p:charRg st="66" end="80"/>
                                            </p:txEl>
                                          </p:spTgt>
                                        </p:tgtEl>
                                        <p:attrNameLst>
                                          <p:attrName>style.visibility</p:attrName>
                                        </p:attrNameLst>
                                      </p:cBhvr>
                                      <p:to>
                                        <p:strVal val="visible"/>
                                      </p:to>
                                    </p:set>
                                    <p:animEffect transition="in" filter="wipe(left)">
                                      <p:cBhvr>
                                        <p:cTn id="33" dur="500"/>
                                        <p:tgtEl>
                                          <p:spTgt spid="106499">
                                            <p:txEl>
                                              <p:charRg st="66" end="8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06499">
                                            <p:txEl>
                                              <p:charRg st="80" end="93"/>
                                            </p:txEl>
                                          </p:spTgt>
                                        </p:tgtEl>
                                        <p:attrNameLst>
                                          <p:attrName>style.visibility</p:attrName>
                                        </p:attrNameLst>
                                      </p:cBhvr>
                                      <p:to>
                                        <p:strVal val="visible"/>
                                      </p:to>
                                    </p:set>
                                    <p:animEffect transition="in" filter="wipe(left)">
                                      <p:cBhvr>
                                        <p:cTn id="38" dur="500"/>
                                        <p:tgtEl>
                                          <p:spTgt spid="106499">
                                            <p:txEl>
                                              <p:charRg st="80" end="9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06499">
                                            <p:txEl>
                                              <p:charRg st="93" end="112"/>
                                            </p:txEl>
                                          </p:spTgt>
                                        </p:tgtEl>
                                        <p:attrNameLst>
                                          <p:attrName>style.visibility</p:attrName>
                                        </p:attrNameLst>
                                      </p:cBhvr>
                                      <p:to>
                                        <p:strVal val="visible"/>
                                      </p:to>
                                    </p:set>
                                    <p:animEffect transition="in" filter="wipe(left)">
                                      <p:cBhvr>
                                        <p:cTn id="43" dur="500"/>
                                        <p:tgtEl>
                                          <p:spTgt spid="106499">
                                            <p:txEl>
                                              <p:charRg st="93" end="1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a:spLocks noGrp="1"/>
          </p:cNvSpPr>
          <p:nvPr>
            <p:ph type="title" idx="4294967295"/>
          </p:nvPr>
        </p:nvSpPr>
        <p:spPr>
          <a:xfrm>
            <a:off x="539750" y="908050"/>
            <a:ext cx="5437188" cy="642938"/>
          </a:xfrm>
        </p:spPr>
        <p:txBody>
          <a:bodyPr vert="horz" wrap="square" lIns="91440" tIns="45720" rIns="91440" bIns="45720" anchor="ctr" anchorCtr="0"/>
          <a:p>
            <a:pPr eaLnBrk="1" hangingPunct="1"/>
            <a:r>
              <a:rPr lang="zh-CN" altLang="en-US" dirty="0">
                <a:solidFill>
                  <a:srgbClr val="000033"/>
                </a:solidFill>
                <a:ea typeface="宋体" panose="02010600030101010101" pitchFamily="2" charset="-122"/>
              </a:rPr>
              <a:t>（</a:t>
            </a:r>
            <a:r>
              <a:rPr lang="en-US" altLang="zh-CN" dirty="0">
                <a:solidFill>
                  <a:srgbClr val="000033"/>
                </a:solidFill>
                <a:ea typeface="宋体" panose="02010600030101010101" pitchFamily="2" charset="-122"/>
              </a:rPr>
              <a:t>4</a:t>
            </a:r>
            <a:r>
              <a:rPr lang="zh-CN" altLang="en-US" dirty="0">
                <a:solidFill>
                  <a:srgbClr val="000033"/>
                </a:solidFill>
                <a:ea typeface="宋体" panose="02010600030101010101" pitchFamily="2" charset="-122"/>
              </a:rPr>
              <a:t>）“异或”运算指令</a:t>
            </a:r>
            <a:endParaRPr lang="zh-CN" altLang="en-US" dirty="0">
              <a:solidFill>
                <a:srgbClr val="000033"/>
              </a:solidFill>
              <a:ea typeface="宋体" panose="02010600030101010101" pitchFamily="2" charset="-122"/>
            </a:endParaRPr>
          </a:p>
        </p:txBody>
      </p:sp>
      <p:sp>
        <p:nvSpPr>
          <p:cNvPr id="107523" name="Rectangle 3"/>
          <p:cNvSpPr>
            <a:spLocks noGrp="1"/>
          </p:cNvSpPr>
          <p:nvPr>
            <p:ph type="body" idx="4294967295"/>
          </p:nvPr>
        </p:nvSpPr>
        <p:spPr>
          <a:xfrm>
            <a:off x="755650" y="1844675"/>
            <a:ext cx="6264275" cy="3384550"/>
          </a:xfrm>
        </p:spPr>
        <p:txBody>
          <a:bodyPr vert="horz" wrap="square" lIns="91440" tIns="45720" rIns="91440" bIns="45720" anchor="t" anchorCtr="0"/>
          <a:p>
            <a:pPr>
              <a:spcBef>
                <a:spcPct val="10000"/>
              </a:spcBef>
              <a:spcAft>
                <a:spcPts val="1300"/>
              </a:spcAft>
              <a:buFont typeface="Wingdings" panose="05000000000000000000" pitchFamily="2" charset="2"/>
              <a:buChar char="Ø"/>
            </a:pPr>
            <a:r>
              <a:rPr lang="zh-CN" altLang="en-US" sz="2400" b="0" dirty="0">
                <a:latin typeface="宋体" panose="02010600030101010101" pitchFamily="2" charset="-122"/>
                <a:ea typeface="宋体" panose="02010600030101010101" pitchFamily="2" charset="-122"/>
              </a:rPr>
              <a:t>格式：  </a:t>
            </a:r>
            <a:endParaRPr lang="zh-CN" altLang="en-US" sz="2400" b="0" dirty="0">
              <a:latin typeface="宋体" panose="02010600030101010101" pitchFamily="2" charset="-122"/>
              <a:ea typeface="宋体" panose="02010600030101010101" pitchFamily="2" charset="-122"/>
            </a:endParaRPr>
          </a:p>
          <a:p>
            <a:pPr lvl="1">
              <a:spcBef>
                <a:spcPct val="10000"/>
              </a:spcBef>
              <a:spcAft>
                <a:spcPts val="1300"/>
              </a:spcAft>
              <a:buFont typeface="Wingdings" panose="05000000000000000000" pitchFamily="2" charset="2"/>
              <a:buChar char="•"/>
            </a:pPr>
            <a:r>
              <a:rPr lang="en-US" altLang="zh-CN" b="0" dirty="0">
                <a:latin typeface="宋体" panose="02010600030101010101" pitchFamily="2" charset="-122"/>
                <a:ea typeface="宋体" panose="02010600030101010101" pitchFamily="2" charset="-122"/>
              </a:rPr>
              <a:t>XOR  OPRD1，OPRD2</a:t>
            </a:r>
            <a:endParaRPr lang="en-US" altLang="zh-CN" b="0" dirty="0">
              <a:latin typeface="宋体" panose="02010600030101010101" pitchFamily="2" charset="-122"/>
              <a:ea typeface="宋体" panose="02010600030101010101" pitchFamily="2" charset="-122"/>
            </a:endParaRPr>
          </a:p>
          <a:p>
            <a:pPr>
              <a:spcBef>
                <a:spcPct val="10000"/>
              </a:spcBef>
              <a:buFont typeface="Wingdings" panose="05000000000000000000" pitchFamily="2" charset="2"/>
              <a:buChar char="Ø"/>
            </a:pPr>
            <a:r>
              <a:rPr lang="zh-CN" altLang="en-US" sz="2400" b="0" dirty="0">
                <a:latin typeface="宋体" panose="02010600030101010101" pitchFamily="2" charset="-122"/>
                <a:ea typeface="宋体" panose="02010600030101010101" pitchFamily="2" charset="-122"/>
              </a:rPr>
              <a:t>操作：</a:t>
            </a:r>
            <a:endParaRPr lang="zh-CN" altLang="en-US" sz="2400" b="0" dirty="0">
              <a:latin typeface="宋体" panose="02010600030101010101" pitchFamily="2" charset="-122"/>
              <a:ea typeface="宋体" panose="02010600030101010101" pitchFamily="2" charset="-122"/>
            </a:endParaRPr>
          </a:p>
          <a:p>
            <a:pPr lvl="1">
              <a:spcBef>
                <a:spcPct val="10000"/>
              </a:spcBef>
              <a:buFont typeface="Wingdings" panose="05000000000000000000" pitchFamily="2" charset="2"/>
              <a:buChar char="•"/>
            </a:pPr>
            <a:r>
              <a:rPr lang="zh-CN" altLang="en-US" b="0" dirty="0">
                <a:latin typeface="宋体" panose="02010600030101010101" pitchFamily="2" charset="-122"/>
                <a:ea typeface="宋体" panose="02010600030101010101" pitchFamily="2" charset="-122"/>
              </a:rPr>
              <a:t>两操作数相“异或”，结果送目标地址</a:t>
            </a:r>
            <a:endParaRPr lang="zh-CN" altLang="en-US" b="0" dirty="0">
              <a:latin typeface="宋体" panose="02010600030101010101" pitchFamily="2" charset="-122"/>
              <a:ea typeface="宋体" panose="02010600030101010101" pitchFamily="2" charset="-122"/>
            </a:endParaRPr>
          </a:p>
          <a:p>
            <a:pPr>
              <a:spcBef>
                <a:spcPct val="10000"/>
              </a:spcBef>
              <a:buFont typeface="Wingdings" panose="05000000000000000000" pitchFamily="2" charset="2"/>
              <a:buChar char="Ø"/>
            </a:pPr>
            <a:r>
              <a:rPr lang="zh-CN" altLang="en-US" sz="2400" b="0" dirty="0">
                <a:latin typeface="宋体" panose="02010600030101010101" pitchFamily="2" charset="-122"/>
                <a:ea typeface="宋体" panose="02010600030101010101" pitchFamily="2" charset="-122"/>
              </a:rPr>
              <a:t>例：</a:t>
            </a:r>
            <a:endParaRPr lang="zh-CN" altLang="en-US" sz="2400" b="0" dirty="0">
              <a:latin typeface="宋体" panose="02010600030101010101" pitchFamily="2" charset="-122"/>
              <a:ea typeface="宋体" panose="02010600030101010101" pitchFamily="2" charset="-122"/>
            </a:endParaRPr>
          </a:p>
          <a:p>
            <a:pPr>
              <a:spcBef>
                <a:spcPct val="10000"/>
              </a:spcBef>
              <a:buNone/>
            </a:pPr>
            <a:r>
              <a:rPr lang="en-US" altLang="zh-CN" sz="2400" b="0" dirty="0">
                <a:latin typeface="宋体" panose="02010600030101010101" pitchFamily="2" charset="-122"/>
                <a:ea typeface="宋体" panose="02010600030101010101" pitchFamily="2" charset="-122"/>
              </a:rPr>
              <a:t>     XOR  BL</a:t>
            </a:r>
            <a:r>
              <a:rPr lang="zh-CN" altLang="en-US" sz="2400" b="0" dirty="0">
                <a:latin typeface="宋体" panose="02010600030101010101" pitchFamily="2" charset="-122"/>
                <a:ea typeface="宋体" panose="02010600030101010101" pitchFamily="2" charset="-122"/>
              </a:rPr>
              <a:t>，</a:t>
            </a:r>
            <a:r>
              <a:rPr lang="en-US" altLang="zh-CN" sz="2400" b="0" dirty="0">
                <a:latin typeface="宋体" panose="02010600030101010101" pitchFamily="2" charset="-122"/>
                <a:ea typeface="宋体" panose="02010600030101010101" pitchFamily="2" charset="-122"/>
              </a:rPr>
              <a:t>80H  </a:t>
            </a:r>
            <a:endParaRPr lang="en-US" altLang="zh-CN" sz="2400" b="0" dirty="0">
              <a:latin typeface="宋体" panose="02010600030101010101" pitchFamily="2" charset="-122"/>
              <a:ea typeface="宋体" panose="02010600030101010101" pitchFamily="2" charset="-122"/>
            </a:endParaRPr>
          </a:p>
          <a:p>
            <a:pPr>
              <a:spcBef>
                <a:spcPct val="10000"/>
              </a:spcBef>
              <a:buNone/>
            </a:pPr>
            <a:r>
              <a:rPr lang="en-US" altLang="zh-CN" sz="2400" b="0" dirty="0">
                <a:latin typeface="宋体" panose="02010600030101010101" pitchFamily="2" charset="-122"/>
                <a:ea typeface="宋体" panose="02010600030101010101" pitchFamily="2" charset="-122"/>
              </a:rPr>
              <a:t>     XOR  AX，AX</a:t>
            </a:r>
            <a:endParaRPr lang="zh-CN" altLang="en-US" sz="2400" b="0" dirty="0">
              <a:latin typeface="宋体" panose="02010600030101010101" pitchFamily="2" charset="-122"/>
              <a:ea typeface="宋体" panose="02010600030101010101" pitchFamily="2" charset="-122"/>
            </a:endParaRPr>
          </a:p>
        </p:txBody>
      </p:sp>
      <p:sp>
        <p:nvSpPr>
          <p:cNvPr id="104452" name="文本框 1"/>
          <p:cNvSpPr txBox="1"/>
          <p:nvPr/>
        </p:nvSpPr>
        <p:spPr>
          <a:xfrm>
            <a:off x="1187450" y="5229225"/>
            <a:ext cx="6769100" cy="858838"/>
          </a:xfrm>
          <a:prstGeom prst="rect">
            <a:avLst/>
          </a:prstGeom>
          <a:noFill/>
          <a:ln w="19050" cap="flat" cmpd="sng">
            <a:solidFill>
              <a:schemeClr val="tx1"/>
            </a:solidFill>
            <a:prstDash val="solid"/>
            <a:miter/>
            <a:headEnd type="none" w="med" len="med"/>
            <a:tailEnd type="none" w="med" len="med"/>
          </a:ln>
        </p:spPr>
        <p:txBody>
          <a:bodyPr>
            <a:spAutoFit/>
          </a:bodyPr>
          <a:p>
            <a:pPr eaLnBrk="0" hangingPunct="0">
              <a:lnSpc>
                <a:spcPct val="150000"/>
              </a:lnSpc>
            </a:pPr>
            <a:r>
              <a:rPr lang="zh-CN" altLang="en-US" dirty="0">
                <a:latin typeface="宋体" panose="02010600030101010101" pitchFamily="2" charset="-122"/>
                <a:ea typeface="宋体" panose="02010600030101010101" pitchFamily="2" charset="-122"/>
              </a:rPr>
              <a:t>某一操作数和自身相“异或”，结果为</a:t>
            </a:r>
            <a:r>
              <a:rPr lang="en-US" altLang="zh-CN" dirty="0">
                <a:latin typeface="宋体" panose="02010600030101010101" pitchFamily="2" charset="-122"/>
                <a:ea typeface="宋体" panose="02010600030101010101" pitchFamily="2" charset="-122"/>
              </a:rPr>
              <a:t>0</a:t>
            </a:r>
            <a:r>
              <a:rPr lang="zh-CN" altLang="en-US" dirty="0">
                <a:latin typeface="宋体" panose="02010600030101010101" pitchFamily="2" charset="-122"/>
                <a:ea typeface="宋体" panose="02010600030101010101" pitchFamily="2" charset="-122"/>
              </a:rPr>
              <a:t>，在程序中常利用这一特性，使某寄存器清零</a:t>
            </a:r>
            <a:endParaRPr lang="zh-CN" altLang="en-US"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7523">
                                            <p:txEl>
                                              <p:charRg st="0" end="6"/>
                                            </p:txEl>
                                          </p:spTgt>
                                        </p:tgtEl>
                                        <p:attrNameLst>
                                          <p:attrName>style.visibility</p:attrName>
                                        </p:attrNameLst>
                                      </p:cBhvr>
                                      <p:to>
                                        <p:strVal val="visible"/>
                                      </p:to>
                                    </p:set>
                                    <p:animEffect transition="in" filter="wipe(left)">
                                      <p:cBhvr>
                                        <p:cTn id="7" dur="500"/>
                                        <p:tgtEl>
                                          <p:spTgt spid="107523">
                                            <p:txEl>
                                              <p:charRg st="0" end="6"/>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7523">
                                            <p:txEl>
                                              <p:charRg st="6" end="23"/>
                                            </p:txEl>
                                          </p:spTgt>
                                        </p:tgtEl>
                                        <p:attrNameLst>
                                          <p:attrName>style.visibility</p:attrName>
                                        </p:attrNameLst>
                                      </p:cBhvr>
                                      <p:to>
                                        <p:strVal val="visible"/>
                                      </p:to>
                                    </p:set>
                                    <p:animEffect transition="in" filter="wipe(left)">
                                      <p:cBhvr>
                                        <p:cTn id="11" dur="500"/>
                                        <p:tgtEl>
                                          <p:spTgt spid="107523">
                                            <p:txEl>
                                              <p:charRg st="6" end="2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07523">
                                            <p:txEl>
                                              <p:charRg st="23" end="27"/>
                                            </p:txEl>
                                          </p:spTgt>
                                        </p:tgtEl>
                                        <p:attrNameLst>
                                          <p:attrName>style.visibility</p:attrName>
                                        </p:attrNameLst>
                                      </p:cBhvr>
                                      <p:to>
                                        <p:strVal val="visible"/>
                                      </p:to>
                                    </p:set>
                                    <p:animEffect transition="in" filter="wipe(left)">
                                      <p:cBhvr>
                                        <p:cTn id="16" dur="500"/>
                                        <p:tgtEl>
                                          <p:spTgt spid="107523">
                                            <p:txEl>
                                              <p:charRg st="23" end="27"/>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07523">
                                            <p:txEl>
                                              <p:charRg st="27" end="45"/>
                                            </p:txEl>
                                          </p:spTgt>
                                        </p:tgtEl>
                                        <p:attrNameLst>
                                          <p:attrName>style.visibility</p:attrName>
                                        </p:attrNameLst>
                                      </p:cBhvr>
                                      <p:to>
                                        <p:strVal val="visible"/>
                                      </p:to>
                                    </p:set>
                                    <p:animEffect transition="in" filter="wipe(left)">
                                      <p:cBhvr>
                                        <p:cTn id="20" dur="500"/>
                                        <p:tgtEl>
                                          <p:spTgt spid="107523">
                                            <p:txEl>
                                              <p:charRg st="27" end="4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07523">
                                            <p:txEl>
                                              <p:charRg st="45" end="48"/>
                                            </p:txEl>
                                          </p:spTgt>
                                        </p:tgtEl>
                                        <p:attrNameLst>
                                          <p:attrName>style.visibility</p:attrName>
                                        </p:attrNameLst>
                                      </p:cBhvr>
                                      <p:to>
                                        <p:strVal val="visible"/>
                                      </p:to>
                                    </p:set>
                                    <p:animEffect transition="in" filter="wipe(left)">
                                      <p:cBhvr>
                                        <p:cTn id="25" dur="500"/>
                                        <p:tgtEl>
                                          <p:spTgt spid="107523">
                                            <p:txEl>
                                              <p:charRg st="45" end="48"/>
                                            </p:txEl>
                                          </p:spTgt>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07523">
                                            <p:txEl>
                                              <p:charRg st="48" end="67"/>
                                            </p:txEl>
                                          </p:spTgt>
                                        </p:tgtEl>
                                        <p:attrNameLst>
                                          <p:attrName>style.visibility</p:attrName>
                                        </p:attrNameLst>
                                      </p:cBhvr>
                                      <p:to>
                                        <p:strVal val="visible"/>
                                      </p:to>
                                    </p:set>
                                    <p:animEffect transition="in" filter="wipe(left)">
                                      <p:cBhvr>
                                        <p:cTn id="29" dur="500"/>
                                        <p:tgtEl>
                                          <p:spTgt spid="107523">
                                            <p:txEl>
                                              <p:charRg st="48" end="6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07523">
                                            <p:txEl>
                                              <p:charRg st="67" end="83"/>
                                            </p:txEl>
                                          </p:spTgt>
                                        </p:tgtEl>
                                        <p:attrNameLst>
                                          <p:attrName>style.visibility</p:attrName>
                                        </p:attrNameLst>
                                      </p:cBhvr>
                                      <p:to>
                                        <p:strVal val="visible"/>
                                      </p:to>
                                    </p:set>
                                    <p:animEffect transition="in" filter="wipe(left)">
                                      <p:cBhvr>
                                        <p:cTn id="34" dur="500"/>
                                        <p:tgtEl>
                                          <p:spTgt spid="107523">
                                            <p:txEl>
                                              <p:charRg st="67" end="8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Grp="1"/>
          </p:cNvSpPr>
          <p:nvPr>
            <p:ph type="title" idx="4294967295"/>
          </p:nvPr>
        </p:nvSpPr>
        <p:spPr>
          <a:xfrm>
            <a:off x="468313" y="1125538"/>
            <a:ext cx="5437187" cy="552450"/>
          </a:xfrm>
        </p:spPr>
        <p:txBody>
          <a:bodyPr vert="horz" wrap="square" lIns="91440" tIns="45720" rIns="91440" bIns="45720" anchor="ctr" anchorCtr="0"/>
          <a:p>
            <a:pPr eaLnBrk="1" hangingPunct="1"/>
            <a:r>
              <a:rPr lang="zh-CN" altLang="en-US" dirty="0">
                <a:solidFill>
                  <a:srgbClr val="000033"/>
                </a:solidFill>
                <a:latin typeface="宋体" panose="02010600030101010101" pitchFamily="2" charset="-122"/>
                <a:ea typeface="宋体" panose="02010600030101010101" pitchFamily="2" charset="-122"/>
              </a:rPr>
              <a:t>（</a:t>
            </a:r>
            <a:r>
              <a:rPr lang="en-US" altLang="zh-CN" dirty="0">
                <a:solidFill>
                  <a:srgbClr val="000033"/>
                </a:solidFill>
                <a:latin typeface="宋体" panose="02010600030101010101" pitchFamily="2" charset="-122"/>
                <a:ea typeface="宋体" panose="02010600030101010101" pitchFamily="2" charset="-122"/>
              </a:rPr>
              <a:t>5</a:t>
            </a:r>
            <a:r>
              <a:rPr lang="zh-CN" altLang="en-US" dirty="0">
                <a:solidFill>
                  <a:srgbClr val="000033"/>
                </a:solidFill>
                <a:latin typeface="宋体" panose="02010600030101010101" pitchFamily="2" charset="-122"/>
                <a:ea typeface="宋体" panose="02010600030101010101" pitchFamily="2" charset="-122"/>
              </a:rPr>
              <a:t>）“测试”指令</a:t>
            </a:r>
            <a:r>
              <a:rPr lang="en-US" altLang="zh-CN" dirty="0">
                <a:solidFill>
                  <a:srgbClr val="000033"/>
                </a:solidFill>
                <a:latin typeface="宋体" panose="02010600030101010101" pitchFamily="2" charset="-122"/>
                <a:ea typeface="宋体" panose="02010600030101010101" pitchFamily="2" charset="-122"/>
              </a:rPr>
              <a:t>TEST</a:t>
            </a:r>
            <a:endParaRPr lang="zh-CN" altLang="en-US" dirty="0">
              <a:solidFill>
                <a:srgbClr val="000033"/>
              </a:solidFill>
              <a:latin typeface="宋体" panose="02010600030101010101" pitchFamily="2" charset="-122"/>
              <a:ea typeface="宋体" panose="02010600030101010101" pitchFamily="2" charset="-122"/>
            </a:endParaRPr>
          </a:p>
        </p:txBody>
      </p:sp>
      <p:sp>
        <p:nvSpPr>
          <p:cNvPr id="108547" name="Rectangle 3"/>
          <p:cNvSpPr>
            <a:spLocks noGrp="1"/>
          </p:cNvSpPr>
          <p:nvPr>
            <p:ph type="body" idx="4294967295"/>
          </p:nvPr>
        </p:nvSpPr>
        <p:spPr>
          <a:xfrm>
            <a:off x="704850" y="1773238"/>
            <a:ext cx="7705725" cy="5006975"/>
          </a:xfrm>
        </p:spPr>
        <p:txBody>
          <a:bodyPr vert="horz" wrap="square" lIns="91440" tIns="45720" rIns="91440" bIns="45720" anchor="t" anchorCtr="0"/>
          <a:p>
            <a:pPr eaLnBrk="1" hangingPunct="1">
              <a:lnSpc>
                <a:spcPct val="110000"/>
              </a:lnSpc>
              <a:spcAft>
                <a:spcPct val="15000"/>
              </a:spcAft>
              <a:buFont typeface="Wingdings" panose="05000000000000000000" pitchFamily="2" charset="2"/>
              <a:buChar char="Ø"/>
            </a:pPr>
            <a:r>
              <a:rPr lang="zh-CN" altLang="en-US" sz="2400" b="0" dirty="0">
                <a:latin typeface="宋体" panose="02010600030101010101" pitchFamily="2" charset="-122"/>
                <a:ea typeface="宋体" panose="02010600030101010101" pitchFamily="2" charset="-122"/>
              </a:rPr>
              <a:t>格式： </a:t>
            </a:r>
            <a:endParaRPr lang="zh-CN" altLang="en-US" sz="2400" b="0" dirty="0">
              <a:latin typeface="宋体" panose="02010600030101010101" pitchFamily="2" charset="-122"/>
              <a:ea typeface="宋体" panose="02010600030101010101" pitchFamily="2" charset="-122"/>
            </a:endParaRPr>
          </a:p>
          <a:p>
            <a:pPr lvl="1" eaLnBrk="1" hangingPunct="1">
              <a:lnSpc>
                <a:spcPct val="110000"/>
              </a:lnSpc>
              <a:spcAft>
                <a:spcPct val="40000"/>
              </a:spcAft>
              <a:buFont typeface="Wingdings" panose="05000000000000000000" pitchFamily="2" charset="2"/>
              <a:buChar char="•"/>
            </a:pPr>
            <a:r>
              <a:rPr lang="en-US" altLang="zh-CN" b="0" dirty="0">
                <a:latin typeface="宋体" panose="02010600030101010101" pitchFamily="2" charset="-122"/>
                <a:ea typeface="宋体" panose="02010600030101010101" pitchFamily="2" charset="-122"/>
              </a:rPr>
              <a:t>TEST  OPRD1，OPRD2</a:t>
            </a:r>
            <a:endParaRPr lang="en-US" altLang="zh-CN" b="0" dirty="0">
              <a:latin typeface="宋体" panose="02010600030101010101" pitchFamily="2" charset="-122"/>
              <a:ea typeface="宋体" panose="02010600030101010101" pitchFamily="2" charset="-122"/>
            </a:endParaRPr>
          </a:p>
          <a:p>
            <a:pPr eaLnBrk="1" hangingPunct="1">
              <a:lnSpc>
                <a:spcPct val="110000"/>
              </a:lnSpc>
              <a:buFont typeface="Wingdings" panose="05000000000000000000" pitchFamily="2" charset="2"/>
              <a:buChar char="Ø"/>
            </a:pPr>
            <a:r>
              <a:rPr lang="zh-CN" altLang="en-US" sz="2400" b="0" dirty="0">
                <a:latin typeface="宋体" panose="02010600030101010101" pitchFamily="2" charset="-122"/>
                <a:ea typeface="宋体" panose="02010600030101010101" pitchFamily="2" charset="-122"/>
              </a:rPr>
              <a:t>操作： </a:t>
            </a:r>
            <a:endParaRPr lang="zh-CN" altLang="en-US" sz="2400" b="0" dirty="0">
              <a:latin typeface="宋体" panose="02010600030101010101" pitchFamily="2" charset="-122"/>
              <a:ea typeface="宋体" panose="02010600030101010101" pitchFamily="2" charset="-122"/>
            </a:endParaRPr>
          </a:p>
          <a:p>
            <a:pPr lvl="1" eaLnBrk="1" hangingPunct="1">
              <a:lnSpc>
                <a:spcPct val="110000"/>
              </a:lnSpc>
              <a:spcAft>
                <a:spcPct val="45000"/>
              </a:spcAft>
              <a:buFont typeface="Wingdings" panose="05000000000000000000" pitchFamily="2" charset="2"/>
              <a:buChar char="•"/>
            </a:pPr>
            <a:r>
              <a:rPr lang="zh-CN" altLang="en-US" b="0" dirty="0">
                <a:latin typeface="宋体" panose="02010600030101010101" pitchFamily="2" charset="-122"/>
                <a:ea typeface="宋体" panose="02010600030101010101" pitchFamily="2" charset="-122"/>
              </a:rPr>
              <a:t>执行“与”运算，但运算的结果不送回目标地址，只是影响标志位。</a:t>
            </a:r>
            <a:endParaRPr lang="zh-CN" altLang="en-US" b="0" dirty="0">
              <a:latin typeface="宋体" panose="02010600030101010101" pitchFamily="2" charset="-122"/>
              <a:ea typeface="宋体" panose="02010600030101010101" pitchFamily="2" charset="-122"/>
            </a:endParaRPr>
          </a:p>
          <a:p>
            <a:pPr eaLnBrk="1" hangingPunct="1">
              <a:lnSpc>
                <a:spcPct val="110000"/>
              </a:lnSpc>
              <a:buFont typeface="Wingdings" panose="05000000000000000000" pitchFamily="2" charset="2"/>
              <a:buChar char="Ø"/>
            </a:pPr>
            <a:r>
              <a:rPr lang="zh-CN" altLang="en-US" sz="2400" b="0" dirty="0">
                <a:latin typeface="宋体" panose="02010600030101010101" pitchFamily="2" charset="-122"/>
                <a:ea typeface="宋体" panose="02010600030101010101" pitchFamily="2" charset="-122"/>
              </a:rPr>
              <a:t>应用</a:t>
            </a:r>
            <a:r>
              <a:rPr lang="zh-CN" altLang="en-US" sz="2400" b="0" dirty="0">
                <a:ea typeface="宋体" panose="02010600030101010101" pitchFamily="2" charset="-122"/>
              </a:rPr>
              <a:t>：</a:t>
            </a:r>
            <a:endParaRPr lang="zh-CN" altLang="en-US" sz="2400" b="0" dirty="0">
              <a:ea typeface="宋体" panose="02010600030101010101" pitchFamily="2" charset="-122"/>
            </a:endParaRPr>
          </a:p>
          <a:p>
            <a:pPr lvl="1" eaLnBrk="1" hangingPunct="1">
              <a:lnSpc>
                <a:spcPct val="110000"/>
              </a:lnSpc>
            </a:pPr>
            <a:r>
              <a:rPr lang="zh-CN" altLang="en-US" b="0" dirty="0">
                <a:ea typeface="宋体" panose="02010600030101010101" pitchFamily="2" charset="-122"/>
              </a:rPr>
              <a:t>常用于测试某些位的状态</a:t>
            </a:r>
            <a:endParaRPr lang="en-US" altLang="zh-CN" b="0" dirty="0">
              <a:ea typeface="宋体" panose="02010600030101010101" pitchFamily="2" charset="-122"/>
            </a:endParaRPr>
          </a:p>
        </p:txBody>
      </p:sp>
      <p:sp>
        <p:nvSpPr>
          <p:cNvPr id="105476" name="文本框 1"/>
          <p:cNvSpPr txBox="1"/>
          <p:nvPr/>
        </p:nvSpPr>
        <p:spPr>
          <a:xfrm>
            <a:off x="684213" y="5210175"/>
            <a:ext cx="8459787" cy="1570038"/>
          </a:xfrm>
          <a:prstGeom prst="rect">
            <a:avLst/>
          </a:prstGeom>
          <a:noFill/>
          <a:ln w="9525">
            <a:noFill/>
          </a:ln>
        </p:spPr>
        <p:txBody>
          <a:bodyPr>
            <a:spAutoFit/>
          </a:bodyPr>
          <a:p>
            <a:pPr marL="457200" indent="-457200" eaLnBrk="0" hangingPunct="0">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例：</a:t>
            </a:r>
            <a:endParaRPr lang="en-US" altLang="zh-CN" sz="2400" dirty="0">
              <a:latin typeface="宋体" panose="02010600030101010101" pitchFamily="2" charset="-122"/>
              <a:ea typeface="宋体" panose="02010600030101010101" pitchFamily="2" charset="-122"/>
            </a:endParaRPr>
          </a:p>
          <a:p>
            <a:pPr marL="457200" indent="-457200" eaLnBrk="0" hangingPunct="0">
              <a:lnSpc>
                <a:spcPct val="150000"/>
              </a:lnSpc>
            </a:pPr>
            <a:r>
              <a:rPr lang="en-US" altLang="zh-CN" sz="2400" dirty="0">
                <a:latin typeface="宋体" panose="02010600030101010101" pitchFamily="2" charset="-122"/>
                <a:ea typeface="宋体" panose="02010600030101010101" pitchFamily="2" charset="-122"/>
              </a:rPr>
              <a:t>   TEST AL</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02H</a:t>
            </a:r>
            <a:r>
              <a:rPr lang="zh-CN" altLang="en-US" sz="2400" dirty="0">
                <a:latin typeface="宋体" panose="02010600030101010101" pitchFamily="2" charset="-122"/>
                <a:ea typeface="宋体" panose="02010600030101010101" pitchFamily="2" charset="-122"/>
              </a:rPr>
              <a:t>；若</a:t>
            </a:r>
            <a:r>
              <a:rPr lang="en-US" altLang="zh-CN" sz="2400" dirty="0">
                <a:latin typeface="宋体" panose="02010600030101010101" pitchFamily="2" charset="-122"/>
                <a:ea typeface="宋体" panose="02010600030101010101" pitchFamily="2" charset="-122"/>
              </a:rPr>
              <a:t>AL</a:t>
            </a:r>
            <a:r>
              <a:rPr lang="zh-CN" altLang="en-US" sz="2400" dirty="0">
                <a:latin typeface="宋体" panose="02010600030101010101" pitchFamily="2" charset="-122"/>
                <a:ea typeface="宋体" panose="02010600030101010101" pitchFamily="2" charset="-122"/>
              </a:rPr>
              <a:t>中</a:t>
            </a:r>
            <a:r>
              <a:rPr lang="en-US" altLang="zh-CN" sz="2400" dirty="0">
                <a:latin typeface="宋体" panose="02010600030101010101" pitchFamily="2" charset="-122"/>
                <a:ea typeface="宋体" panose="02010600030101010101" pitchFamily="2" charset="-122"/>
              </a:rPr>
              <a:t>D1</a:t>
            </a:r>
            <a:r>
              <a:rPr lang="zh-CN" altLang="en-US" sz="2400" dirty="0">
                <a:latin typeface="宋体" panose="02010600030101010101" pitchFamily="2" charset="-122"/>
                <a:ea typeface="宋体" panose="02010600030101010101" pitchFamily="2" charset="-122"/>
              </a:rPr>
              <a:t>位为</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，则</a:t>
            </a:r>
            <a:r>
              <a:rPr lang="en-US" altLang="zh-CN" sz="2400" dirty="0">
                <a:latin typeface="宋体" panose="02010600030101010101" pitchFamily="2" charset="-122"/>
                <a:ea typeface="宋体" panose="02010600030101010101" pitchFamily="2" charset="-122"/>
              </a:rPr>
              <a:t>ZF=0</a:t>
            </a:r>
            <a:r>
              <a:rPr lang="zh-CN" altLang="en-US" sz="2400" dirty="0">
                <a:latin typeface="宋体" panose="02010600030101010101" pitchFamily="2" charset="-122"/>
                <a:ea typeface="宋体" panose="02010600030101010101" pitchFamily="2" charset="-122"/>
              </a:rPr>
              <a:t>，否则</a:t>
            </a:r>
            <a:r>
              <a:rPr lang="en-US" altLang="zh-CN" sz="2400" dirty="0">
                <a:latin typeface="宋体" panose="02010600030101010101" pitchFamily="2" charset="-122"/>
                <a:ea typeface="宋体" panose="02010600030101010101" pitchFamily="2" charset="-122"/>
              </a:rPr>
              <a:t>ZF=1</a:t>
            </a:r>
            <a:endParaRPr lang="en-US" altLang="zh-CN" sz="2400" dirty="0">
              <a:latin typeface="宋体" panose="02010600030101010101" pitchFamily="2" charset="-122"/>
              <a:ea typeface="宋体" panose="02010600030101010101" pitchFamily="2" charset="-122"/>
            </a:endParaRPr>
          </a:p>
          <a:p>
            <a:pPr marL="457200" indent="-457200" eaLnBrk="0" hangingPunct="0">
              <a:lnSpc>
                <a:spcPct val="150000"/>
              </a:lnSpc>
            </a:pPr>
            <a:r>
              <a:rPr lang="en-US" altLang="zh-CN" sz="2400" dirty="0">
                <a:latin typeface="宋体" panose="02010600030101010101" pitchFamily="2" charset="-122"/>
                <a:ea typeface="宋体" panose="02010600030101010101" pitchFamily="2" charset="-122"/>
              </a:rPr>
              <a:t>   TEST AX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8000H</a:t>
            </a:r>
            <a:r>
              <a:rPr lang="zh-CN" altLang="en-US" sz="2400" dirty="0">
                <a:latin typeface="宋体" panose="02010600030101010101" pitchFamily="2" charset="-122"/>
                <a:ea typeface="宋体" panose="02010600030101010101" pitchFamily="2" charset="-122"/>
              </a:rPr>
              <a:t>；若</a:t>
            </a:r>
            <a:r>
              <a:rPr lang="en-US" altLang="zh-CN" sz="2400" dirty="0">
                <a:latin typeface="宋体" panose="02010600030101010101" pitchFamily="2" charset="-122"/>
                <a:ea typeface="宋体" panose="02010600030101010101" pitchFamily="2" charset="-122"/>
              </a:rPr>
              <a:t>AX</a:t>
            </a:r>
            <a:r>
              <a:rPr lang="zh-CN" altLang="en-US" sz="2400" dirty="0">
                <a:latin typeface="宋体" panose="02010600030101010101" pitchFamily="2" charset="-122"/>
                <a:ea typeface="宋体" panose="02010600030101010101" pitchFamily="2" charset="-122"/>
              </a:rPr>
              <a:t>中最高位为</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，则</a:t>
            </a:r>
            <a:r>
              <a:rPr lang="en-US" altLang="zh-CN" sz="2400" dirty="0">
                <a:latin typeface="宋体" panose="02010600030101010101" pitchFamily="2" charset="-122"/>
                <a:ea typeface="宋体" panose="02010600030101010101" pitchFamily="2" charset="-122"/>
              </a:rPr>
              <a:t>ZF=0</a:t>
            </a:r>
            <a:r>
              <a:rPr lang="zh-CN" altLang="en-US" sz="2400" dirty="0">
                <a:latin typeface="宋体" panose="02010600030101010101" pitchFamily="2" charset="-122"/>
                <a:ea typeface="宋体" panose="02010600030101010101" pitchFamily="2" charset="-122"/>
              </a:rPr>
              <a:t>，否则</a:t>
            </a:r>
            <a:r>
              <a:rPr lang="en-US" altLang="zh-CN" sz="2400" dirty="0">
                <a:latin typeface="宋体" panose="02010600030101010101" pitchFamily="2" charset="-122"/>
                <a:ea typeface="宋体" panose="02010600030101010101" pitchFamily="2" charset="-122"/>
              </a:rPr>
              <a:t>ZF=1</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8547">
                                            <p:txEl>
                                              <p:charRg st="0" end="5"/>
                                            </p:txEl>
                                          </p:spTgt>
                                        </p:tgtEl>
                                        <p:attrNameLst>
                                          <p:attrName>style.visibility</p:attrName>
                                        </p:attrNameLst>
                                      </p:cBhvr>
                                      <p:to>
                                        <p:strVal val="visible"/>
                                      </p:to>
                                    </p:set>
                                    <p:animEffect transition="in" filter="wipe(left)">
                                      <p:cBhvr>
                                        <p:cTn id="7" dur="500"/>
                                        <p:tgtEl>
                                          <p:spTgt spid="108547">
                                            <p:txEl>
                                              <p:charRg st="0" end="5"/>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8547">
                                            <p:txEl>
                                              <p:charRg st="5" end="23"/>
                                            </p:txEl>
                                          </p:spTgt>
                                        </p:tgtEl>
                                        <p:attrNameLst>
                                          <p:attrName>style.visibility</p:attrName>
                                        </p:attrNameLst>
                                      </p:cBhvr>
                                      <p:to>
                                        <p:strVal val="visible"/>
                                      </p:to>
                                    </p:set>
                                    <p:animEffect transition="in" filter="wipe(left)">
                                      <p:cBhvr>
                                        <p:cTn id="11" dur="500"/>
                                        <p:tgtEl>
                                          <p:spTgt spid="108547">
                                            <p:txEl>
                                              <p:charRg st="5" end="2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08547">
                                            <p:txEl>
                                              <p:charRg st="23" end="28"/>
                                            </p:txEl>
                                          </p:spTgt>
                                        </p:tgtEl>
                                        <p:attrNameLst>
                                          <p:attrName>style.visibility</p:attrName>
                                        </p:attrNameLst>
                                      </p:cBhvr>
                                      <p:to>
                                        <p:strVal val="visible"/>
                                      </p:to>
                                    </p:set>
                                    <p:animEffect transition="in" filter="wipe(left)">
                                      <p:cBhvr>
                                        <p:cTn id="16" dur="500"/>
                                        <p:tgtEl>
                                          <p:spTgt spid="108547">
                                            <p:txEl>
                                              <p:charRg st="23" end="28"/>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08547">
                                            <p:txEl>
                                              <p:charRg st="28" end="59"/>
                                            </p:txEl>
                                          </p:spTgt>
                                        </p:tgtEl>
                                        <p:attrNameLst>
                                          <p:attrName>style.visibility</p:attrName>
                                        </p:attrNameLst>
                                      </p:cBhvr>
                                      <p:to>
                                        <p:strVal val="visible"/>
                                      </p:to>
                                    </p:set>
                                    <p:animEffect transition="in" filter="blinds(horizontal)">
                                      <p:cBhvr>
                                        <p:cTn id="21" dur="500"/>
                                        <p:tgtEl>
                                          <p:spTgt spid="108547">
                                            <p:txEl>
                                              <p:charRg st="28" end="59"/>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8547">
                                            <p:txEl>
                                              <p:charRg st="59" end="63"/>
                                            </p:txEl>
                                          </p:spTgt>
                                        </p:tgtEl>
                                        <p:attrNameLst>
                                          <p:attrName>style.visibility</p:attrName>
                                        </p:attrNameLst>
                                      </p:cBhvr>
                                      <p:to>
                                        <p:strVal val="visible"/>
                                      </p:to>
                                    </p:set>
                                    <p:animEffect transition="in" filter="wipe(left)">
                                      <p:cBhvr>
                                        <p:cTn id="26" dur="500"/>
                                        <p:tgtEl>
                                          <p:spTgt spid="108547">
                                            <p:txEl>
                                              <p:charRg st="59" end="63"/>
                                            </p:txEl>
                                          </p:spTgt>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108547">
                                            <p:txEl>
                                              <p:charRg st="63" end="75"/>
                                            </p:txEl>
                                          </p:spTgt>
                                        </p:tgtEl>
                                        <p:attrNameLst>
                                          <p:attrName>style.visibility</p:attrName>
                                        </p:attrNameLst>
                                      </p:cBhvr>
                                      <p:to>
                                        <p:strVal val="visible"/>
                                      </p:to>
                                    </p:set>
                                    <p:animEffect transition="in" filter="wipe(left)">
                                      <p:cBhvr>
                                        <p:cTn id="30" dur="500"/>
                                        <p:tgtEl>
                                          <p:spTgt spid="108547">
                                            <p:txEl>
                                              <p:charRg st="63" end="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539750" y="1268413"/>
            <a:ext cx="8032750" cy="1754188"/>
          </a:xfrm>
          <a:prstGeom prst="rect">
            <a:avLst/>
          </a:prstGeom>
          <a:ln>
            <a:solidFill>
              <a:schemeClr val="tx1">
                <a:lumMod val="50000"/>
              </a:schemeClr>
            </a:solidFill>
          </a:ln>
        </p:spPr>
        <p:txBody>
          <a:bodyPr wrap="none">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TEST AX</a:t>
            </a: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AX</a:t>
            </a: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；该条语句，影响</a:t>
            </a: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ZF</a:t>
            </a: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标志位</a:t>
            </a: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可判断</a:t>
            </a: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AX</a:t>
            </a: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是否为</a:t>
            </a: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0</a:t>
            </a:r>
            <a:endPar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如果</a:t>
            </a: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AX</a:t>
            </a: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的内容为空，那么执行该语句后</a:t>
            </a: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ZF</a:t>
            </a: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标志位为</a:t>
            </a: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1</a:t>
            </a:r>
            <a:endPar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l"/>
              <a:defRPr/>
            </a:pP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如果</a:t>
            </a: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AX</a:t>
            </a: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的内容不为空，那么执行该语句后</a:t>
            </a: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ZF</a:t>
            </a:r>
            <a:r>
              <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标志位为</a:t>
            </a:r>
            <a:r>
              <a:rPr kumimoji="0" lang="en-US" altLang="zh-CN"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0</a:t>
            </a:r>
            <a:endParaRPr kumimoji="0"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3"/>
          <p:cNvSpPr>
            <a:spLocks noGrp="1"/>
          </p:cNvSpPr>
          <p:nvPr>
            <p:ph type="body" idx="4294967295"/>
          </p:nvPr>
        </p:nvSpPr>
        <p:spPr>
          <a:xfrm>
            <a:off x="1908175" y="1844675"/>
            <a:ext cx="3024188" cy="1223963"/>
          </a:xfrm>
        </p:spPr>
        <p:txBody>
          <a:bodyPr vert="horz" wrap="square" lIns="91440" tIns="45720" rIns="91440" bIns="45720" anchor="t" anchorCtr="0"/>
          <a:p>
            <a:pPr eaLnBrk="1" hangingPunct="1">
              <a:spcAft>
                <a:spcPct val="30000"/>
              </a:spcAft>
              <a:buNone/>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非循环移位指令</a:t>
            </a:r>
            <a:endParaRPr lang="zh-CN" altLang="en-US" sz="2400" dirty="0">
              <a:latin typeface="宋体" panose="02010600030101010101" pitchFamily="2" charset="-122"/>
              <a:ea typeface="宋体" panose="02010600030101010101" pitchFamily="2" charset="-122"/>
            </a:endParaRPr>
          </a:p>
          <a:p>
            <a:pPr eaLnBrk="1" hangingPunct="1">
              <a:buNone/>
            </a:pPr>
            <a:r>
              <a:rPr lang="zh-CN" altLang="en-US" sz="2400" dirty="0">
                <a:latin typeface="宋体" panose="02010600030101010101" pitchFamily="2" charset="-122"/>
                <a:ea typeface="宋体" panose="02010600030101010101" pitchFamily="2" charset="-122"/>
              </a:rPr>
              <a:t>   循环移位指令</a:t>
            </a:r>
            <a:endParaRPr lang="zh-CN" altLang="en-US" sz="2400" dirty="0">
              <a:latin typeface="宋体" panose="02010600030101010101" pitchFamily="2" charset="-122"/>
              <a:ea typeface="宋体" panose="02010600030101010101" pitchFamily="2" charset="-122"/>
            </a:endParaRPr>
          </a:p>
        </p:txBody>
      </p:sp>
      <p:sp>
        <p:nvSpPr>
          <p:cNvPr id="109571" name="AutoShape 4"/>
          <p:cNvSpPr/>
          <p:nvPr/>
        </p:nvSpPr>
        <p:spPr>
          <a:xfrm>
            <a:off x="2051050" y="1989138"/>
            <a:ext cx="206375" cy="792162"/>
          </a:xfrm>
          <a:prstGeom prst="leftBrace">
            <a:avLst>
              <a:gd name="adj1" fmla="val 34634"/>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宋体" panose="02010600030101010101" pitchFamily="2" charset="-122"/>
              <a:ea typeface="宋体" panose="02010600030101010101" pitchFamily="2" charset="-122"/>
            </a:endParaRPr>
          </a:p>
        </p:txBody>
      </p:sp>
      <p:sp>
        <p:nvSpPr>
          <p:cNvPr id="109572" name="Text Box 5"/>
          <p:cNvSpPr txBox="1"/>
          <p:nvPr/>
        </p:nvSpPr>
        <p:spPr>
          <a:xfrm>
            <a:off x="1258888" y="3502025"/>
            <a:ext cx="6121400" cy="1512888"/>
          </a:xfrm>
          <a:prstGeom prst="rect">
            <a:avLst/>
          </a:prstGeom>
          <a:noFill/>
          <a:ln w="9525">
            <a:noFill/>
          </a:ln>
        </p:spPr>
        <p:txBody>
          <a:bodyPr>
            <a:spAutoFit/>
          </a:bodyPr>
          <a:p>
            <a:pPr eaLnBrk="0" hangingPunct="0">
              <a:lnSpc>
                <a:spcPct val="125000"/>
              </a:lnSpc>
              <a:spcBef>
                <a:spcPct val="20000"/>
              </a:spcBef>
              <a:buClr>
                <a:schemeClr val="folHlink"/>
              </a:buClr>
              <a:buSzPct val="60000"/>
              <a:buFont typeface="Wingdings" panose="05000000000000000000" pitchFamily="2" charset="2"/>
            </a:pPr>
            <a:r>
              <a:rPr lang="zh-CN" altLang="en-US" sz="2400" b="1" dirty="0">
                <a:latin typeface="宋体" panose="02010600030101010101" pitchFamily="2" charset="-122"/>
                <a:ea typeface="宋体" panose="02010600030101010101" pitchFamily="2" charset="-122"/>
              </a:rPr>
              <a:t>注：</a:t>
            </a:r>
            <a:endParaRPr lang="zh-CN" altLang="en-US" sz="2400" b="1" dirty="0">
              <a:latin typeface="宋体" panose="02010600030101010101" pitchFamily="2" charset="-122"/>
              <a:ea typeface="宋体" panose="02010600030101010101" pitchFamily="2" charset="-122"/>
            </a:endParaRPr>
          </a:p>
          <a:p>
            <a:pPr eaLnBrk="0" hangingPunct="0">
              <a:lnSpc>
                <a:spcPct val="110000"/>
              </a:lnSpc>
              <a:spcBef>
                <a:spcPct val="20000"/>
              </a:spcBef>
              <a:buClr>
                <a:schemeClr val="folHlink"/>
              </a:buClr>
              <a:buSzPct val="60000"/>
              <a:buFont typeface="Wingdings" panose="05000000000000000000" pitchFamily="2" charset="2"/>
              <a:buChar char="n"/>
            </a:pPr>
            <a:r>
              <a:rPr lang="zh-CN" altLang="en-US" sz="2400" b="1" dirty="0">
                <a:solidFill>
                  <a:srgbClr val="FF0000"/>
                </a:solidFill>
                <a:latin typeface="宋体" panose="02010600030101010101" pitchFamily="2" charset="-122"/>
                <a:ea typeface="宋体" panose="02010600030101010101" pitchFamily="2" charset="-122"/>
              </a:rPr>
              <a:t> 移动一位时由指令直接给出；</a:t>
            </a:r>
            <a:endParaRPr lang="zh-CN" altLang="en-US" sz="2400" b="1" dirty="0">
              <a:solidFill>
                <a:srgbClr val="FF0000"/>
              </a:solidFill>
              <a:latin typeface="宋体" panose="02010600030101010101" pitchFamily="2" charset="-122"/>
              <a:ea typeface="宋体" panose="02010600030101010101" pitchFamily="2" charset="-122"/>
            </a:endParaRPr>
          </a:p>
          <a:p>
            <a:pPr eaLnBrk="0" hangingPunct="0">
              <a:lnSpc>
                <a:spcPct val="110000"/>
              </a:lnSpc>
              <a:spcBef>
                <a:spcPct val="20000"/>
              </a:spcBef>
              <a:buClr>
                <a:schemeClr val="folHlink"/>
              </a:buClr>
              <a:buSzPct val="60000"/>
              <a:buFont typeface="Wingdings" panose="05000000000000000000" pitchFamily="2" charset="2"/>
              <a:buChar char="n"/>
            </a:pPr>
            <a:r>
              <a:rPr lang="zh-CN" altLang="en-US" sz="2400" b="1" dirty="0">
                <a:solidFill>
                  <a:srgbClr val="FF0000"/>
                </a:solidFill>
                <a:latin typeface="宋体" panose="02010600030101010101" pitchFamily="2" charset="-122"/>
                <a:ea typeface="宋体" panose="02010600030101010101" pitchFamily="2" charset="-122"/>
              </a:rPr>
              <a:t> 移动两位及以上，则移位次数由</a:t>
            </a:r>
            <a:r>
              <a:rPr lang="en-US" altLang="zh-CN" sz="2400" b="1" dirty="0">
                <a:solidFill>
                  <a:srgbClr val="FF0000"/>
                </a:solidFill>
                <a:latin typeface="宋体" panose="02010600030101010101" pitchFamily="2" charset="-122"/>
                <a:ea typeface="宋体" panose="02010600030101010101" pitchFamily="2" charset="-122"/>
              </a:rPr>
              <a:t>CL</a:t>
            </a:r>
            <a:r>
              <a:rPr lang="zh-CN" altLang="en-US" sz="2400" b="1" dirty="0">
                <a:solidFill>
                  <a:srgbClr val="FF0000"/>
                </a:solidFill>
                <a:latin typeface="宋体" panose="02010600030101010101" pitchFamily="2" charset="-122"/>
                <a:ea typeface="宋体" panose="02010600030101010101" pitchFamily="2" charset="-122"/>
              </a:rPr>
              <a:t>指定。</a:t>
            </a:r>
            <a:endParaRPr lang="zh-CN" altLang="en-US" sz="2400" dirty="0">
              <a:latin typeface="宋体" panose="02010600030101010101" pitchFamily="2" charset="-122"/>
              <a:ea typeface="宋体" panose="02010600030101010101" pitchFamily="2" charset="-122"/>
            </a:endParaRPr>
          </a:p>
        </p:txBody>
      </p:sp>
      <p:sp>
        <p:nvSpPr>
          <p:cNvPr id="107525" name="Rectangle 2"/>
          <p:cNvSpPr>
            <a:spLocks noGrp="1"/>
          </p:cNvSpPr>
          <p:nvPr/>
        </p:nvSpPr>
        <p:spPr>
          <a:xfrm>
            <a:off x="1763713" y="119063"/>
            <a:ext cx="4968875"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3.4.3.2 </a:t>
            </a:r>
            <a:r>
              <a:rPr lang="zh-CN" altLang="en-US" sz="3600" b="1" dirty="0">
                <a:solidFill>
                  <a:schemeClr val="bg1"/>
                </a:solidFill>
                <a:latin typeface="宋体" panose="02010600030101010101" pitchFamily="2" charset="-122"/>
                <a:ea typeface="宋体" panose="02010600030101010101" pitchFamily="2" charset="-122"/>
              </a:rPr>
              <a:t>移位指令</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9570">
                                            <p:txEl>
                                              <p:charRg st="0" end="11"/>
                                            </p:txEl>
                                          </p:spTgt>
                                        </p:tgtEl>
                                        <p:attrNameLst>
                                          <p:attrName>style.visibility</p:attrName>
                                        </p:attrNameLst>
                                      </p:cBhvr>
                                      <p:to>
                                        <p:strVal val="visible"/>
                                      </p:to>
                                    </p:set>
                                    <p:animEffect transition="in" filter="wipe(left)">
                                      <p:cBhvr>
                                        <p:cTn id="7" dur="500"/>
                                        <p:tgtEl>
                                          <p:spTgt spid="109570">
                                            <p:txEl>
                                              <p:charRg st="0" end="1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9570">
                                            <p:txEl>
                                              <p:charRg st="11" end="21"/>
                                            </p:txEl>
                                          </p:spTgt>
                                        </p:tgtEl>
                                        <p:attrNameLst>
                                          <p:attrName>style.visibility</p:attrName>
                                        </p:attrNameLst>
                                      </p:cBhvr>
                                      <p:to>
                                        <p:strVal val="visible"/>
                                      </p:to>
                                    </p:set>
                                    <p:animEffect transition="in" filter="wipe(left)">
                                      <p:cBhvr>
                                        <p:cTn id="12" dur="500"/>
                                        <p:tgtEl>
                                          <p:spTgt spid="109570">
                                            <p:txEl>
                                              <p:charRg st="11" end="21"/>
                                            </p:txEl>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109571"/>
                                        </p:tgtEl>
                                        <p:attrNameLst>
                                          <p:attrName>style.visibility</p:attrName>
                                        </p:attrNameLst>
                                      </p:cBhvr>
                                      <p:to>
                                        <p:strVal val="visible"/>
                                      </p:to>
                                    </p:set>
                                    <p:animEffect transition="in" filter="wipe(up)">
                                      <p:cBhvr>
                                        <p:cTn id="16" dur="500"/>
                                        <p:tgtEl>
                                          <p:spTgt spid="109571"/>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6" fill="hold" nodeType="clickEffect">
                                  <p:stCondLst>
                                    <p:cond delay="0"/>
                                  </p:stCondLst>
                                  <p:childTnLst>
                                    <p:set>
                                      <p:cBhvr>
                                        <p:cTn id="20" dur="1" fill="hold">
                                          <p:stCondLst>
                                            <p:cond delay="0"/>
                                          </p:stCondLst>
                                        </p:cTn>
                                        <p:tgtEl>
                                          <p:spTgt spid="109572">
                                            <p:txEl>
                                              <p:charRg st="0" end="3"/>
                                            </p:txEl>
                                          </p:spTgt>
                                        </p:tgtEl>
                                        <p:attrNameLst>
                                          <p:attrName>style.visibility</p:attrName>
                                        </p:attrNameLst>
                                      </p:cBhvr>
                                      <p:to>
                                        <p:strVal val="visible"/>
                                      </p:to>
                                    </p:set>
                                    <p:animEffect transition="in" filter="strips(downRight)">
                                      <p:cBhvr>
                                        <p:cTn id="21" dur="500"/>
                                        <p:tgtEl>
                                          <p:spTgt spid="109572">
                                            <p:txEl>
                                              <p:charRg st="0" end="3"/>
                                            </p:txEl>
                                          </p:spTgt>
                                        </p:tgtEl>
                                      </p:cBhvr>
                                    </p:animEffect>
                                  </p:childTnLst>
                                </p:cTn>
                              </p:par>
                            </p:childTnLst>
                          </p:cTn>
                        </p:par>
                        <p:par>
                          <p:cTn id="22" fill="hold">
                            <p:stCondLst>
                              <p:cond delay="500"/>
                            </p:stCondLst>
                            <p:childTnLst>
                              <p:par>
                                <p:cTn id="23" presetID="18" presetClass="entr" presetSubtype="6" fill="hold" nodeType="afterEffect">
                                  <p:stCondLst>
                                    <p:cond delay="0"/>
                                  </p:stCondLst>
                                  <p:childTnLst>
                                    <p:set>
                                      <p:cBhvr>
                                        <p:cTn id="24" dur="1" fill="hold">
                                          <p:stCondLst>
                                            <p:cond delay="0"/>
                                          </p:stCondLst>
                                        </p:cTn>
                                        <p:tgtEl>
                                          <p:spTgt spid="109572">
                                            <p:txEl>
                                              <p:charRg st="3" end="18"/>
                                            </p:txEl>
                                          </p:spTgt>
                                        </p:tgtEl>
                                        <p:attrNameLst>
                                          <p:attrName>style.visibility</p:attrName>
                                        </p:attrNameLst>
                                      </p:cBhvr>
                                      <p:to>
                                        <p:strVal val="visible"/>
                                      </p:to>
                                    </p:set>
                                    <p:animEffect transition="in" filter="strips(downRight)">
                                      <p:cBhvr>
                                        <p:cTn id="25" dur="500"/>
                                        <p:tgtEl>
                                          <p:spTgt spid="109572">
                                            <p:txEl>
                                              <p:charRg st="3" end="18"/>
                                            </p:txEl>
                                          </p:spTgt>
                                        </p:tgtEl>
                                      </p:cBhvr>
                                    </p:animEffect>
                                  </p:childTnLst>
                                </p:cTn>
                              </p:par>
                            </p:childTnLst>
                          </p:cTn>
                        </p:par>
                        <p:par>
                          <p:cTn id="26" fill="hold">
                            <p:stCondLst>
                              <p:cond delay="1000"/>
                            </p:stCondLst>
                            <p:childTnLst>
                              <p:par>
                                <p:cTn id="27" presetID="18" presetClass="entr" presetSubtype="6" fill="hold" nodeType="afterEffect">
                                  <p:stCondLst>
                                    <p:cond delay="0"/>
                                  </p:stCondLst>
                                  <p:childTnLst>
                                    <p:set>
                                      <p:cBhvr>
                                        <p:cTn id="28" dur="1" fill="hold">
                                          <p:stCondLst>
                                            <p:cond delay="0"/>
                                          </p:stCondLst>
                                        </p:cTn>
                                        <p:tgtEl>
                                          <p:spTgt spid="109572">
                                            <p:txEl>
                                              <p:charRg st="18" end="39"/>
                                            </p:txEl>
                                          </p:spTgt>
                                        </p:tgtEl>
                                        <p:attrNameLst>
                                          <p:attrName>style.visibility</p:attrName>
                                        </p:attrNameLst>
                                      </p:cBhvr>
                                      <p:to>
                                        <p:strVal val="visible"/>
                                      </p:to>
                                    </p:set>
                                    <p:animEffect transition="in" filter="strips(downRight)">
                                      <p:cBhvr>
                                        <p:cTn id="29" dur="500"/>
                                        <p:tgtEl>
                                          <p:spTgt spid="109572">
                                            <p:txEl>
                                              <p:charRg st="18" end="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1"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a:spLocks noGrp="1"/>
          </p:cNvSpPr>
          <p:nvPr>
            <p:ph type="title" idx="4294967295"/>
          </p:nvPr>
        </p:nvSpPr>
        <p:spPr>
          <a:xfrm>
            <a:off x="900113" y="1052513"/>
            <a:ext cx="6553200" cy="563562"/>
          </a:xfrm>
        </p:spPr>
        <p:txBody>
          <a:bodyPr vert="horz" wrap="square" lIns="91440" tIns="45720" rIns="91440" bIns="45720" anchor="ctr" anchorCtr="0"/>
          <a:p>
            <a:pPr eaLnBrk="1" hangingPunct="1"/>
            <a:r>
              <a:rPr lang="zh-CN" altLang="en-US" dirty="0">
                <a:solidFill>
                  <a:srgbClr val="000033"/>
                </a:solidFill>
                <a:latin typeface="宋体" panose="02010600030101010101" pitchFamily="2" charset="-122"/>
                <a:ea typeface="宋体" panose="02010600030101010101" pitchFamily="2" charset="-122"/>
              </a:rPr>
              <a:t>（</a:t>
            </a:r>
            <a:r>
              <a:rPr lang="en-US" altLang="zh-CN" dirty="0">
                <a:solidFill>
                  <a:srgbClr val="000033"/>
                </a:solidFill>
                <a:latin typeface="宋体" panose="02010600030101010101" pitchFamily="2" charset="-122"/>
                <a:ea typeface="宋体" panose="02010600030101010101" pitchFamily="2" charset="-122"/>
              </a:rPr>
              <a:t>1</a:t>
            </a:r>
            <a:r>
              <a:rPr lang="zh-CN" altLang="en-US" dirty="0">
                <a:solidFill>
                  <a:srgbClr val="000033"/>
                </a:solidFill>
                <a:latin typeface="宋体" panose="02010600030101010101" pitchFamily="2" charset="-122"/>
                <a:ea typeface="宋体" panose="02010600030101010101" pitchFamily="2" charset="-122"/>
              </a:rPr>
              <a:t>）非循环移位</a:t>
            </a:r>
            <a:r>
              <a:rPr lang="zh-CN" altLang="en-US" dirty="0">
                <a:ea typeface="宋体" panose="02010600030101010101" pitchFamily="2" charset="-122"/>
              </a:rPr>
              <a:t>指令</a:t>
            </a:r>
            <a:endParaRPr lang="zh-CN" altLang="en-US" dirty="0">
              <a:ea typeface="宋体" panose="02010600030101010101" pitchFamily="2" charset="-122"/>
            </a:endParaRPr>
          </a:p>
        </p:txBody>
      </p:sp>
      <p:sp>
        <p:nvSpPr>
          <p:cNvPr id="108547" name="Rectangle 3"/>
          <p:cNvSpPr>
            <a:spLocks noGrp="1"/>
          </p:cNvSpPr>
          <p:nvPr>
            <p:ph type="body" idx="4294967295"/>
          </p:nvPr>
        </p:nvSpPr>
        <p:spPr>
          <a:xfrm>
            <a:off x="1258888" y="2133600"/>
            <a:ext cx="2663825" cy="2374900"/>
          </a:xfrm>
        </p:spPr>
        <p:txBody>
          <a:bodyPr vert="horz" wrap="square" lIns="91440" tIns="45720" rIns="91440" bIns="45720" anchor="t" anchorCtr="0"/>
          <a:p>
            <a:pPr eaLnBrk="1" hangingPunct="1">
              <a:lnSpc>
                <a:spcPct val="115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逻辑左移</a:t>
            </a:r>
            <a:r>
              <a:rPr lang="en-US" altLang="zh-CN" dirty="0">
                <a:latin typeface="宋体" panose="02010600030101010101" pitchFamily="2" charset="-122"/>
                <a:ea typeface="宋体" panose="02010600030101010101" pitchFamily="2" charset="-122"/>
              </a:rPr>
              <a:t>SHL</a:t>
            </a:r>
            <a:endParaRPr lang="zh-CN" altLang="en-US" dirty="0">
              <a:latin typeface="宋体" panose="02010600030101010101" pitchFamily="2" charset="-122"/>
              <a:ea typeface="宋体" panose="02010600030101010101" pitchFamily="2" charset="-122"/>
            </a:endParaRPr>
          </a:p>
          <a:p>
            <a:pPr eaLnBrk="1" hangingPunct="1">
              <a:lnSpc>
                <a:spcPct val="115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算术左移</a:t>
            </a:r>
            <a:r>
              <a:rPr lang="en-US" altLang="zh-CN" dirty="0">
                <a:latin typeface="宋体" panose="02010600030101010101" pitchFamily="2" charset="-122"/>
                <a:ea typeface="宋体" panose="02010600030101010101" pitchFamily="2" charset="-122"/>
              </a:rPr>
              <a:t>SAL</a:t>
            </a:r>
            <a:endParaRPr lang="zh-CN" altLang="en-US" dirty="0">
              <a:latin typeface="宋体" panose="02010600030101010101" pitchFamily="2" charset="-122"/>
              <a:ea typeface="宋体" panose="02010600030101010101" pitchFamily="2" charset="-122"/>
            </a:endParaRPr>
          </a:p>
          <a:p>
            <a:pPr eaLnBrk="1" hangingPunct="1">
              <a:lnSpc>
                <a:spcPct val="115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逻辑右移</a:t>
            </a:r>
            <a:r>
              <a:rPr lang="en-US" altLang="zh-CN" dirty="0">
                <a:latin typeface="宋体" panose="02010600030101010101" pitchFamily="2" charset="-122"/>
                <a:ea typeface="宋体" panose="02010600030101010101" pitchFamily="2" charset="-122"/>
              </a:rPr>
              <a:t>SHR</a:t>
            </a:r>
            <a:endParaRPr lang="zh-CN" altLang="en-US" dirty="0">
              <a:latin typeface="宋体" panose="02010600030101010101" pitchFamily="2" charset="-122"/>
              <a:ea typeface="宋体" panose="02010600030101010101" pitchFamily="2" charset="-122"/>
            </a:endParaRPr>
          </a:p>
          <a:p>
            <a:pPr eaLnBrk="1" hangingPunct="1">
              <a:lnSpc>
                <a:spcPct val="115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算术右移</a:t>
            </a:r>
            <a:r>
              <a:rPr lang="en-US" altLang="zh-CN" dirty="0">
                <a:latin typeface="宋体" panose="02010600030101010101" pitchFamily="2" charset="-122"/>
                <a:ea typeface="宋体" panose="02010600030101010101" pitchFamily="2" charset="-122"/>
              </a:rPr>
              <a:t>SAR</a:t>
            </a:r>
            <a:endParaRPr lang="zh-CN" altLang="en-US" dirty="0">
              <a:latin typeface="宋体" panose="02010600030101010101" pitchFamily="2" charset="-122"/>
              <a:ea typeface="宋体" panose="02010600030101010101" pitchFamily="2" charset="-122"/>
            </a:endParaRPr>
          </a:p>
        </p:txBody>
      </p:sp>
      <p:sp>
        <p:nvSpPr>
          <p:cNvPr id="108548" name="矩形 1"/>
          <p:cNvSpPr/>
          <p:nvPr/>
        </p:nvSpPr>
        <p:spPr>
          <a:xfrm>
            <a:off x="1258888" y="5026025"/>
            <a:ext cx="4572000" cy="1082675"/>
          </a:xfrm>
          <a:prstGeom prst="rect">
            <a:avLst/>
          </a:prstGeom>
          <a:noFill/>
          <a:ln w="9525">
            <a:noFill/>
          </a:ln>
        </p:spPr>
        <p:txBody>
          <a:bodyPr>
            <a:spAutoFit/>
          </a:bodyPr>
          <a:p>
            <a:pPr marL="342900" indent="-342900">
              <a:lnSpc>
                <a:spcPct val="115000"/>
              </a:lnSpc>
              <a:buFont typeface="Wingdings" panose="05000000000000000000" pitchFamily="2" charset="2"/>
              <a:buChar char="l"/>
            </a:pPr>
            <a:r>
              <a:rPr lang="zh-CN" altLang="en-US" sz="2800" dirty="0">
                <a:latin typeface="Arial" panose="020B0604020202020204" pitchFamily="34" charset="0"/>
                <a:ea typeface="宋体" panose="02010600030101010101" pitchFamily="2" charset="-122"/>
              </a:rPr>
              <a:t>左移可实现乘法运算</a:t>
            </a:r>
            <a:endParaRPr lang="zh-CN" altLang="en-US" sz="2800" dirty="0">
              <a:latin typeface="Arial" panose="020B0604020202020204" pitchFamily="34" charset="0"/>
              <a:ea typeface="宋体" panose="02010600030101010101" pitchFamily="2" charset="-122"/>
            </a:endParaRPr>
          </a:p>
          <a:p>
            <a:pPr marL="342900" indent="-342900">
              <a:lnSpc>
                <a:spcPct val="115000"/>
              </a:lnSpc>
              <a:buFont typeface="Wingdings" panose="05000000000000000000" pitchFamily="2" charset="2"/>
              <a:buChar char="l"/>
            </a:pPr>
            <a:r>
              <a:rPr lang="zh-CN" altLang="en-US" sz="2800" dirty="0">
                <a:latin typeface="Arial" panose="020B0604020202020204" pitchFamily="34" charset="0"/>
                <a:ea typeface="宋体" panose="02010600030101010101" pitchFamily="2" charset="-122"/>
              </a:rPr>
              <a:t>右移可实现除法运算</a:t>
            </a:r>
            <a:endParaRPr lang="zh-CN" altLang="en-US" sz="2800" dirty="0">
              <a:latin typeface="Arial" panose="020B0604020202020204" pitchFamily="34" charset="0"/>
              <a:ea typeface="宋体" panose="02010600030101010101" pitchFamily="2" charset="-122"/>
            </a:endParaRPr>
          </a:p>
        </p:txBody>
      </p:sp>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p:cNvSpPr>
            <a:spLocks noGrp="1"/>
          </p:cNvSpPr>
          <p:nvPr>
            <p:ph type="title" idx="4294967295"/>
          </p:nvPr>
        </p:nvSpPr>
        <p:spPr>
          <a:xfrm>
            <a:off x="684213" y="1065213"/>
            <a:ext cx="6553200" cy="563562"/>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00033"/>
                </a:solidFill>
                <a:ea typeface="宋体" panose="02010600030101010101" pitchFamily="2" charset="-122"/>
              </a:rPr>
              <a:t>算术左移和逻辑左移</a:t>
            </a:r>
            <a:endParaRPr lang="zh-CN" altLang="en-US" dirty="0">
              <a:solidFill>
                <a:srgbClr val="000033"/>
              </a:solidFill>
              <a:ea typeface="宋体" panose="02010600030101010101" pitchFamily="2" charset="-122"/>
            </a:endParaRPr>
          </a:p>
        </p:txBody>
      </p:sp>
      <p:sp>
        <p:nvSpPr>
          <p:cNvPr id="111619" name="Rectangle 3"/>
          <p:cNvSpPr>
            <a:spLocks noGrp="1"/>
          </p:cNvSpPr>
          <p:nvPr>
            <p:ph type="body" idx="4294967295"/>
          </p:nvPr>
        </p:nvSpPr>
        <p:spPr>
          <a:xfrm>
            <a:off x="827088" y="1916113"/>
            <a:ext cx="5329237" cy="3384550"/>
          </a:xfrm>
        </p:spPr>
        <p:txBody>
          <a:bodyPr vert="horz" wrap="square" lIns="91440" tIns="45720" rIns="91440" bIns="45720" anchor="t" anchorCtr="0"/>
          <a:p>
            <a:pPr eaLnBrk="1" hangingPunct="1">
              <a:spcAft>
                <a:spcPct val="30000"/>
              </a:spcAft>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算术左移指 令：</a:t>
            </a:r>
            <a:endParaRPr lang="zh-CN" altLang="en-US" dirty="0">
              <a:latin typeface="宋体" panose="02010600030101010101" pitchFamily="2" charset="-122"/>
              <a:ea typeface="宋体" panose="02010600030101010101" pitchFamily="2" charset="-122"/>
            </a:endParaRPr>
          </a:p>
          <a:p>
            <a:pPr eaLnBrk="1" hangingPunct="1">
              <a:spcBef>
                <a:spcPct val="0"/>
              </a:spcBef>
              <a:buNone/>
            </a:pPr>
            <a:r>
              <a:rPr lang="en-US" altLang="zh-CN" dirty="0">
                <a:latin typeface="宋体" panose="02010600030101010101" pitchFamily="2" charset="-122"/>
                <a:ea typeface="宋体" panose="02010600030101010101" pitchFamily="2" charset="-122"/>
              </a:rPr>
              <a:t>  SAL  OPRD，1</a:t>
            </a: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rPr>
              <a:t>  SAL  OPRD，CL</a:t>
            </a:r>
            <a:endParaRPr lang="en-US" altLang="zh-CN" dirty="0">
              <a:latin typeface="宋体" panose="02010600030101010101" pitchFamily="2" charset="-122"/>
              <a:ea typeface="宋体" panose="02010600030101010101" pitchFamily="2" charset="-122"/>
            </a:endParaRPr>
          </a:p>
          <a:p>
            <a:pPr eaLnBrk="1" hangingPunct="1">
              <a:spcBef>
                <a:spcPct val="50000"/>
              </a:spcBef>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逻辑左移指 令：          </a:t>
            </a:r>
            <a:endParaRPr lang="zh-CN" altLang="en-US"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rPr>
              <a:t>  SHL  OPRD，1</a:t>
            </a: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rPr>
              <a:t>  SHL  OPRD，CL</a:t>
            </a:r>
            <a:endParaRPr lang="zh-CN" altLang="en-US" dirty="0">
              <a:latin typeface="宋体" panose="02010600030101010101" pitchFamily="2" charset="-122"/>
              <a:ea typeface="宋体" panose="02010600030101010101" pitchFamily="2" charset="-122"/>
            </a:endParaRPr>
          </a:p>
        </p:txBody>
      </p:sp>
      <p:sp>
        <p:nvSpPr>
          <p:cNvPr id="111620" name="AutoShape 6"/>
          <p:cNvSpPr/>
          <p:nvPr/>
        </p:nvSpPr>
        <p:spPr>
          <a:xfrm>
            <a:off x="3960813" y="2706688"/>
            <a:ext cx="144462" cy="649287"/>
          </a:xfrm>
          <a:prstGeom prst="rightBrace">
            <a:avLst>
              <a:gd name="adj1" fmla="val 37163"/>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11621" name="AutoShape 7"/>
          <p:cNvSpPr/>
          <p:nvPr/>
        </p:nvSpPr>
        <p:spPr>
          <a:xfrm>
            <a:off x="3924300" y="4267200"/>
            <a:ext cx="215900" cy="792163"/>
          </a:xfrm>
          <a:prstGeom prst="rightBrace">
            <a:avLst>
              <a:gd name="adj1" fmla="val 30338"/>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11622" name="Text Box 8"/>
          <p:cNvSpPr txBox="1"/>
          <p:nvPr/>
        </p:nvSpPr>
        <p:spPr>
          <a:xfrm>
            <a:off x="4284663" y="2773363"/>
            <a:ext cx="1676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有符号数</a:t>
            </a:r>
            <a:endParaRPr lang="zh-CN" altLang="en-US" sz="2400" b="1" dirty="0">
              <a:latin typeface="Times New Roman" panose="02020603050405020304" pitchFamily="18" charset="0"/>
              <a:ea typeface="宋体" panose="02010600030101010101" pitchFamily="2" charset="-122"/>
            </a:endParaRPr>
          </a:p>
        </p:txBody>
      </p:sp>
      <p:sp>
        <p:nvSpPr>
          <p:cNvPr id="111623" name="Text Box 9"/>
          <p:cNvSpPr txBox="1"/>
          <p:nvPr/>
        </p:nvSpPr>
        <p:spPr>
          <a:xfrm>
            <a:off x="4284663" y="4435475"/>
            <a:ext cx="1676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无符号数</a:t>
            </a:r>
            <a:endParaRPr lang="zh-CN" altLang="en-US" sz="2400" b="1" dirty="0">
              <a:latin typeface="Times New Roman" panose="02020603050405020304" pitchFamily="18" charset="0"/>
              <a:ea typeface="宋体" panose="02010600030101010101" pitchFamily="2" charset="-122"/>
            </a:endParaRPr>
          </a:p>
        </p:txBody>
      </p:sp>
      <p:sp>
        <p:nvSpPr>
          <p:cNvPr id="111624" name="Rectangle 4"/>
          <p:cNvSpPr/>
          <p:nvPr/>
        </p:nvSpPr>
        <p:spPr>
          <a:xfrm>
            <a:off x="2798763" y="5732463"/>
            <a:ext cx="3581400"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11625" name="Line 5"/>
          <p:cNvSpPr/>
          <p:nvPr/>
        </p:nvSpPr>
        <p:spPr>
          <a:xfrm>
            <a:off x="3635375" y="5994400"/>
            <a:ext cx="2058988" cy="0"/>
          </a:xfrm>
          <a:prstGeom prst="line">
            <a:avLst/>
          </a:prstGeom>
          <a:ln w="25400" cap="sq" cmpd="sng">
            <a:solidFill>
              <a:schemeClr val="bg1"/>
            </a:solidFill>
            <a:prstDash val="solid"/>
            <a:headEnd type="arrow" w="med" len="med"/>
            <a:tailEnd type="none" w="med" len="med"/>
          </a:ln>
        </p:spPr>
      </p:sp>
      <p:sp>
        <p:nvSpPr>
          <p:cNvPr id="111626" name="Line 6"/>
          <p:cNvSpPr/>
          <p:nvPr/>
        </p:nvSpPr>
        <p:spPr>
          <a:xfrm>
            <a:off x="6394450" y="5989638"/>
            <a:ext cx="914400" cy="0"/>
          </a:xfrm>
          <a:prstGeom prst="line">
            <a:avLst/>
          </a:prstGeom>
          <a:ln w="25400" cap="sq" cmpd="sng">
            <a:solidFill>
              <a:schemeClr val="tx1"/>
            </a:solidFill>
            <a:prstDash val="solid"/>
            <a:headEnd type="arrow" w="med" len="med"/>
            <a:tailEnd type="none" w="med" len="med"/>
          </a:ln>
        </p:spPr>
      </p:sp>
      <p:sp>
        <p:nvSpPr>
          <p:cNvPr id="111627" name="Line 7"/>
          <p:cNvSpPr/>
          <p:nvPr/>
        </p:nvSpPr>
        <p:spPr>
          <a:xfrm>
            <a:off x="1763713" y="6008688"/>
            <a:ext cx="914400" cy="0"/>
          </a:xfrm>
          <a:prstGeom prst="line">
            <a:avLst/>
          </a:prstGeom>
          <a:ln w="25400" cap="sq" cmpd="sng">
            <a:solidFill>
              <a:schemeClr val="tx1"/>
            </a:solidFill>
            <a:prstDash val="solid"/>
            <a:headEnd type="arrow" w="med" len="med"/>
            <a:tailEnd type="none" w="med" len="med"/>
          </a:ln>
        </p:spPr>
      </p:sp>
      <p:sp>
        <p:nvSpPr>
          <p:cNvPr id="111628" name="Text Box 8"/>
          <p:cNvSpPr txBox="1"/>
          <p:nvPr/>
        </p:nvSpPr>
        <p:spPr>
          <a:xfrm>
            <a:off x="7308850" y="5683250"/>
            <a:ext cx="533400" cy="579438"/>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3200" b="1" dirty="0">
                <a:latin typeface="Times New Roman" panose="02020603050405020304" pitchFamily="18" charset="0"/>
                <a:ea typeface="宋体" panose="02010600030101010101" pitchFamily="2" charset="-122"/>
              </a:rPr>
              <a:t>0</a:t>
            </a:r>
            <a:endParaRPr lang="en-US" altLang="zh-CN" sz="3200" b="1" dirty="0">
              <a:latin typeface="Times New Roman" panose="02020603050405020304" pitchFamily="18" charset="0"/>
              <a:ea typeface="宋体" panose="02010600030101010101" pitchFamily="2" charset="-122"/>
            </a:endParaRPr>
          </a:p>
        </p:txBody>
      </p:sp>
      <p:sp>
        <p:nvSpPr>
          <p:cNvPr id="111629" name="Text Box 9"/>
          <p:cNvSpPr txBox="1"/>
          <p:nvPr/>
        </p:nvSpPr>
        <p:spPr>
          <a:xfrm>
            <a:off x="1042988" y="5718175"/>
            <a:ext cx="685800" cy="544513"/>
          </a:xfrm>
          <a:prstGeom prst="rect">
            <a:avLst/>
          </a:prstGeom>
          <a:solidFill>
            <a:srgbClr val="339966"/>
          </a:solidFill>
          <a:ln w="25400" cap="sq" cmpd="sng">
            <a:solidFill>
              <a:srgbClr val="339966"/>
            </a:solidFill>
            <a:prstDash val="solid"/>
            <a:miter/>
            <a:headEnd type="none" w="med" len="med"/>
            <a:tailEnd type="none" w="med" len="med"/>
          </a:ln>
        </p:spPr>
        <p:txBody>
          <a:bodyPr>
            <a:spAutoFit/>
          </a:bodyPr>
          <a:p>
            <a:pPr eaLnBrk="0" hangingPunct="0">
              <a:spcBef>
                <a:spcPct val="50000"/>
              </a:spcBef>
              <a:buFont typeface="Wingdings" panose="05000000000000000000" pitchFamily="2" charset="2"/>
            </a:pPr>
            <a:r>
              <a:rPr lang="en-US" altLang="zh-CN" sz="2800" b="1" dirty="0">
                <a:solidFill>
                  <a:schemeClr val="bg1"/>
                </a:solidFill>
                <a:latin typeface="Times New Roman" panose="02020603050405020304" pitchFamily="18" charset="0"/>
                <a:ea typeface="宋体" panose="02010600030101010101" pitchFamily="2" charset="-122"/>
              </a:rPr>
              <a:t>CF</a:t>
            </a:r>
            <a:endParaRPr lang="en-US" altLang="zh-CN" sz="2800" b="1" dirty="0">
              <a:solidFill>
                <a:schemeClr val="bg1"/>
              </a:solidFill>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1619">
                                            <p:txEl>
                                              <p:charRg st="0" end="9"/>
                                            </p:txEl>
                                          </p:spTgt>
                                        </p:tgtEl>
                                        <p:attrNameLst>
                                          <p:attrName>style.visibility</p:attrName>
                                        </p:attrNameLst>
                                      </p:cBhvr>
                                      <p:to>
                                        <p:strVal val="visible"/>
                                      </p:to>
                                    </p:set>
                                    <p:animEffect transition="in" filter="wipe(left)">
                                      <p:cBhvr>
                                        <p:cTn id="7" dur="500"/>
                                        <p:tgtEl>
                                          <p:spTgt spid="111619">
                                            <p:txEl>
                                              <p:charRg st="0" end="9"/>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1619">
                                            <p:txEl>
                                              <p:charRg st="9" end="23"/>
                                            </p:txEl>
                                          </p:spTgt>
                                        </p:tgtEl>
                                        <p:attrNameLst>
                                          <p:attrName>style.visibility</p:attrName>
                                        </p:attrNameLst>
                                      </p:cBhvr>
                                      <p:to>
                                        <p:strVal val="visible"/>
                                      </p:to>
                                    </p:set>
                                    <p:animEffect transition="in" filter="wipe(left)">
                                      <p:cBhvr>
                                        <p:cTn id="11" dur="500"/>
                                        <p:tgtEl>
                                          <p:spTgt spid="111619">
                                            <p:txEl>
                                              <p:charRg st="9" end="23"/>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1619">
                                            <p:txEl>
                                              <p:charRg st="23" end="38"/>
                                            </p:txEl>
                                          </p:spTgt>
                                        </p:tgtEl>
                                        <p:attrNameLst>
                                          <p:attrName>style.visibility</p:attrName>
                                        </p:attrNameLst>
                                      </p:cBhvr>
                                      <p:to>
                                        <p:strVal val="visible"/>
                                      </p:to>
                                    </p:set>
                                    <p:animEffect transition="in" filter="wipe(left)">
                                      <p:cBhvr>
                                        <p:cTn id="15" dur="500"/>
                                        <p:tgtEl>
                                          <p:spTgt spid="111619">
                                            <p:txEl>
                                              <p:charRg st="23" end="3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11619">
                                            <p:txEl>
                                              <p:charRg st="38" end="57"/>
                                            </p:txEl>
                                          </p:spTgt>
                                        </p:tgtEl>
                                        <p:attrNameLst>
                                          <p:attrName>style.visibility</p:attrName>
                                        </p:attrNameLst>
                                      </p:cBhvr>
                                      <p:to>
                                        <p:strVal val="visible"/>
                                      </p:to>
                                    </p:set>
                                    <p:animEffect transition="in" filter="wipe(left)">
                                      <p:cBhvr>
                                        <p:cTn id="20" dur="500"/>
                                        <p:tgtEl>
                                          <p:spTgt spid="111619">
                                            <p:txEl>
                                              <p:charRg st="38" end="57"/>
                                            </p:txEl>
                                          </p:spTgt>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11619">
                                            <p:txEl>
                                              <p:charRg st="57" end="71"/>
                                            </p:txEl>
                                          </p:spTgt>
                                        </p:tgtEl>
                                        <p:attrNameLst>
                                          <p:attrName>style.visibility</p:attrName>
                                        </p:attrNameLst>
                                      </p:cBhvr>
                                      <p:to>
                                        <p:strVal val="visible"/>
                                      </p:to>
                                    </p:set>
                                    <p:animEffect transition="in" filter="wipe(left)">
                                      <p:cBhvr>
                                        <p:cTn id="24" dur="500"/>
                                        <p:tgtEl>
                                          <p:spTgt spid="111619">
                                            <p:txEl>
                                              <p:charRg st="57" end="71"/>
                                            </p:txEl>
                                          </p:spTgt>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111619">
                                            <p:txEl>
                                              <p:charRg st="71" end="86"/>
                                            </p:txEl>
                                          </p:spTgt>
                                        </p:tgtEl>
                                        <p:attrNameLst>
                                          <p:attrName>style.visibility</p:attrName>
                                        </p:attrNameLst>
                                      </p:cBhvr>
                                      <p:to>
                                        <p:strVal val="visible"/>
                                      </p:to>
                                    </p:set>
                                    <p:animEffect transition="in" filter="wipe(left)">
                                      <p:cBhvr>
                                        <p:cTn id="28" dur="500"/>
                                        <p:tgtEl>
                                          <p:spTgt spid="111619">
                                            <p:txEl>
                                              <p:charRg st="71" end="8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12" fill="hold" grpId="0" nodeType="clickEffect">
                                  <p:stCondLst>
                                    <p:cond delay="0"/>
                                  </p:stCondLst>
                                  <p:childTnLst>
                                    <p:set>
                                      <p:cBhvr>
                                        <p:cTn id="32" dur="1" fill="hold">
                                          <p:stCondLst>
                                            <p:cond delay="0"/>
                                          </p:stCondLst>
                                        </p:cTn>
                                        <p:tgtEl>
                                          <p:spTgt spid="111620"/>
                                        </p:tgtEl>
                                        <p:attrNameLst>
                                          <p:attrName>style.visibility</p:attrName>
                                        </p:attrNameLst>
                                      </p:cBhvr>
                                      <p:to>
                                        <p:strVal val="visible"/>
                                      </p:to>
                                    </p:set>
                                    <p:animEffect transition="in" filter="strips(downLeft)">
                                      <p:cBhvr>
                                        <p:cTn id="33" dur="500"/>
                                        <p:tgtEl>
                                          <p:spTgt spid="111620"/>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11622"/>
                                        </p:tgtEl>
                                        <p:attrNameLst>
                                          <p:attrName>style.visibility</p:attrName>
                                        </p:attrNameLst>
                                      </p:cBhvr>
                                      <p:to>
                                        <p:strVal val="visible"/>
                                      </p:to>
                                    </p:set>
                                    <p:animEffect transition="in" filter="wipe(left)">
                                      <p:cBhvr>
                                        <p:cTn id="37" dur="500"/>
                                        <p:tgtEl>
                                          <p:spTgt spid="111622"/>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111621"/>
                                        </p:tgtEl>
                                        <p:attrNameLst>
                                          <p:attrName>style.visibility</p:attrName>
                                        </p:attrNameLst>
                                      </p:cBhvr>
                                      <p:to>
                                        <p:strVal val="visible"/>
                                      </p:to>
                                    </p:set>
                                    <p:animEffect transition="in" filter="strips(downLeft)">
                                      <p:cBhvr>
                                        <p:cTn id="42" dur="500"/>
                                        <p:tgtEl>
                                          <p:spTgt spid="111621"/>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111623"/>
                                        </p:tgtEl>
                                        <p:attrNameLst>
                                          <p:attrName>style.visibility</p:attrName>
                                        </p:attrNameLst>
                                      </p:cBhvr>
                                      <p:to>
                                        <p:strVal val="visible"/>
                                      </p:to>
                                    </p:set>
                                    <p:animEffect transition="in" filter="wipe(left)">
                                      <p:cBhvr>
                                        <p:cTn id="46" dur="500"/>
                                        <p:tgtEl>
                                          <p:spTgt spid="11162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11624"/>
                                        </p:tgtEl>
                                        <p:attrNameLst>
                                          <p:attrName>style.visibility</p:attrName>
                                        </p:attrNameLst>
                                      </p:cBhvr>
                                      <p:to>
                                        <p:strVal val="visible"/>
                                      </p:to>
                                    </p:set>
                                    <p:animEffect transition="in" filter="wipe(left)">
                                      <p:cBhvr>
                                        <p:cTn id="51" dur="500"/>
                                        <p:tgtEl>
                                          <p:spTgt spid="111624"/>
                                        </p:tgtEl>
                                      </p:cBhvr>
                                    </p:animEffect>
                                  </p:childTnLst>
                                </p:cTn>
                              </p:par>
                              <p:par>
                                <p:cTn id="52" presetID="22" presetClass="entr" presetSubtype="8" fill="hold" nodeType="withEffect">
                                  <p:stCondLst>
                                    <p:cond delay="0"/>
                                  </p:stCondLst>
                                  <p:childTnLst>
                                    <p:set>
                                      <p:cBhvr>
                                        <p:cTn id="53" dur="1" fill="hold">
                                          <p:stCondLst>
                                            <p:cond delay="0"/>
                                          </p:stCondLst>
                                        </p:cTn>
                                        <p:tgtEl>
                                          <p:spTgt spid="111625"/>
                                        </p:tgtEl>
                                        <p:attrNameLst>
                                          <p:attrName>style.visibility</p:attrName>
                                        </p:attrNameLst>
                                      </p:cBhvr>
                                      <p:to>
                                        <p:strVal val="visible"/>
                                      </p:to>
                                    </p:set>
                                    <p:animEffect transition="in" filter="wipe(left)">
                                      <p:cBhvr>
                                        <p:cTn id="54" dur="500"/>
                                        <p:tgtEl>
                                          <p:spTgt spid="11162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11626"/>
                                        </p:tgtEl>
                                        <p:attrNameLst>
                                          <p:attrName>style.visibility</p:attrName>
                                        </p:attrNameLst>
                                      </p:cBhvr>
                                      <p:to>
                                        <p:strVal val="visible"/>
                                      </p:to>
                                    </p:set>
                                    <p:animEffect transition="in" filter="wipe(left)">
                                      <p:cBhvr>
                                        <p:cTn id="59" dur="500"/>
                                        <p:tgtEl>
                                          <p:spTgt spid="111626"/>
                                        </p:tgtEl>
                                      </p:cBhvr>
                                    </p:animEffect>
                                  </p:childTnLst>
                                </p:cTn>
                              </p:par>
                            </p:childTnLst>
                          </p:cTn>
                        </p:par>
                        <p:par>
                          <p:cTn id="60" fill="hold">
                            <p:stCondLst>
                              <p:cond delay="500"/>
                            </p:stCondLst>
                            <p:childTnLst>
                              <p:par>
                                <p:cTn id="61" presetID="22" presetClass="entr" presetSubtype="8" fill="hold" grpId="0" nodeType="afterEffect">
                                  <p:stCondLst>
                                    <p:cond delay="0"/>
                                  </p:stCondLst>
                                  <p:childTnLst>
                                    <p:set>
                                      <p:cBhvr>
                                        <p:cTn id="62" dur="1" fill="hold">
                                          <p:stCondLst>
                                            <p:cond delay="0"/>
                                          </p:stCondLst>
                                        </p:cTn>
                                        <p:tgtEl>
                                          <p:spTgt spid="111629"/>
                                        </p:tgtEl>
                                        <p:attrNameLst>
                                          <p:attrName>style.visibility</p:attrName>
                                        </p:attrNameLst>
                                      </p:cBhvr>
                                      <p:to>
                                        <p:strVal val="visible"/>
                                      </p:to>
                                    </p:set>
                                    <p:animEffect transition="in" filter="wipe(left)">
                                      <p:cBhvr>
                                        <p:cTn id="63" dur="500"/>
                                        <p:tgtEl>
                                          <p:spTgt spid="111629"/>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11628"/>
                                        </p:tgtEl>
                                        <p:attrNameLst>
                                          <p:attrName>style.visibility</p:attrName>
                                        </p:attrNameLst>
                                      </p:cBhvr>
                                      <p:to>
                                        <p:strVal val="visible"/>
                                      </p:to>
                                    </p:set>
                                    <p:animEffect transition="in" filter="wipe(left)">
                                      <p:cBhvr>
                                        <p:cTn id="68" dur="500"/>
                                        <p:tgtEl>
                                          <p:spTgt spid="111628"/>
                                        </p:tgtEl>
                                      </p:cBhvr>
                                    </p:animEffect>
                                  </p:childTnLst>
                                </p:cTn>
                              </p:par>
                            </p:childTnLst>
                          </p:cTn>
                        </p:par>
                        <p:par>
                          <p:cTn id="69" fill="hold">
                            <p:stCondLst>
                              <p:cond delay="500"/>
                            </p:stCondLst>
                            <p:childTnLst>
                              <p:par>
                                <p:cTn id="70" presetID="22" presetClass="entr" presetSubtype="8" fill="hold" nodeType="afterEffect">
                                  <p:stCondLst>
                                    <p:cond delay="0"/>
                                  </p:stCondLst>
                                  <p:childTnLst>
                                    <p:set>
                                      <p:cBhvr>
                                        <p:cTn id="71" dur="1" fill="hold">
                                          <p:stCondLst>
                                            <p:cond delay="0"/>
                                          </p:stCondLst>
                                        </p:cTn>
                                        <p:tgtEl>
                                          <p:spTgt spid="111627"/>
                                        </p:tgtEl>
                                        <p:attrNameLst>
                                          <p:attrName>style.visibility</p:attrName>
                                        </p:attrNameLst>
                                      </p:cBhvr>
                                      <p:to>
                                        <p:strVal val="visible"/>
                                      </p:to>
                                    </p:set>
                                    <p:animEffect transition="in" filter="wipe(left)">
                                      <p:cBhvr>
                                        <p:cTn id="72" dur="500"/>
                                        <p:tgtEl>
                                          <p:spTgt spid="111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animBg="1"/>
      <p:bldP spid="111621" grpId="0" animBg="1"/>
      <p:bldP spid="111622" grpId="0"/>
      <p:bldP spid="111623" grpId="0"/>
      <p:bldP spid="111624" grpId="0" animBg="1"/>
      <p:bldP spid="111628" grpId="0"/>
      <p:bldP spid="111629"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文本框 9"/>
          <p:cNvSpPr txBox="1"/>
          <p:nvPr/>
        </p:nvSpPr>
        <p:spPr>
          <a:xfrm>
            <a:off x="611188" y="1268413"/>
            <a:ext cx="7993062" cy="3970337"/>
          </a:xfrm>
          <a:prstGeom prst="rect">
            <a:avLst/>
          </a:prstGeom>
          <a:noFill/>
          <a:ln w="9525">
            <a:noFill/>
          </a:ln>
        </p:spPr>
        <p:txBody>
          <a:bodyPr>
            <a:spAutoFit/>
          </a:bodyPr>
          <a:p>
            <a:pPr marL="342900" indent="-342900" eaLnBrk="0" hangingPunct="0">
              <a:lnSpc>
                <a:spcPct val="150000"/>
              </a:lnSpc>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在移动次数为</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的情况下，若移位之后，操作数的最高位与</a:t>
            </a:r>
            <a:r>
              <a:rPr lang="en-US" altLang="zh-CN" sz="2400" dirty="0">
                <a:latin typeface="宋体" panose="02010600030101010101" pitchFamily="2" charset="-122"/>
                <a:ea typeface="宋体" panose="02010600030101010101" pitchFamily="2" charset="-122"/>
              </a:rPr>
              <a:t>CF</a:t>
            </a:r>
            <a:r>
              <a:rPr lang="zh-CN" altLang="en-US" sz="2400" dirty="0">
                <a:latin typeface="宋体" panose="02010600030101010101" pitchFamily="2" charset="-122"/>
                <a:ea typeface="宋体" panose="02010600030101010101" pitchFamily="2" charset="-122"/>
              </a:rPr>
              <a:t>标志位的值不相等，则溢出标志位</a:t>
            </a:r>
            <a:r>
              <a:rPr lang="en-US" altLang="zh-CN" sz="2400" dirty="0">
                <a:latin typeface="宋体" panose="02010600030101010101" pitchFamily="2" charset="-122"/>
                <a:ea typeface="宋体" panose="02010600030101010101" pitchFamily="2" charset="-122"/>
              </a:rPr>
              <a:t>OF=1</a:t>
            </a:r>
            <a:r>
              <a:rPr lang="zh-CN" altLang="en-US" sz="2400" dirty="0">
                <a:latin typeface="宋体" panose="02010600030101010101" pitchFamily="2" charset="-122"/>
                <a:ea typeface="宋体" panose="02010600030101010101" pitchFamily="2" charset="-122"/>
              </a:rPr>
              <a:t>，否则</a:t>
            </a:r>
            <a:r>
              <a:rPr lang="en-US" altLang="zh-CN" sz="2400" dirty="0">
                <a:latin typeface="宋体" panose="02010600030101010101" pitchFamily="2" charset="-122"/>
                <a:ea typeface="宋体" panose="02010600030101010101" pitchFamily="2" charset="-122"/>
              </a:rPr>
              <a:t>OF=0.</a:t>
            </a:r>
            <a:r>
              <a:rPr lang="zh-CN" altLang="en-US" sz="2400" dirty="0">
                <a:latin typeface="宋体" panose="02010600030101010101" pitchFamily="2" charset="-122"/>
                <a:ea typeface="宋体" panose="02010600030101010101" pitchFamily="2" charset="-122"/>
              </a:rPr>
              <a:t>此外，指令还影响标志位</a:t>
            </a:r>
            <a:r>
              <a:rPr lang="en-US" altLang="zh-CN" sz="2400" dirty="0">
                <a:latin typeface="宋体" panose="02010600030101010101" pitchFamily="2" charset="-122"/>
                <a:ea typeface="宋体" panose="02010600030101010101" pitchFamily="2" charset="-122"/>
              </a:rPr>
              <a:t>PF</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SF</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ZF</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marL="342900" indent="-342900" eaLnBrk="0" hangingPunct="0">
              <a:lnSpc>
                <a:spcPct val="150000"/>
              </a:lnSpc>
              <a:buFont typeface="Wingdings" panose="05000000000000000000" pitchFamily="2" charset="2"/>
              <a:buChar char="Ø"/>
            </a:pPr>
            <a:r>
              <a:rPr lang="en-US" altLang="zh-CN" sz="2400" dirty="0">
                <a:latin typeface="宋体" panose="02010600030101010101" pitchFamily="2" charset="-122"/>
                <a:ea typeface="宋体" panose="02010600030101010101" pitchFamily="2" charset="-122"/>
              </a:rPr>
              <a:t>SHL</a:t>
            </a:r>
            <a:r>
              <a:rPr lang="zh-CN" altLang="en-US" sz="2400" dirty="0">
                <a:latin typeface="宋体" panose="02010600030101010101" pitchFamily="2" charset="-122"/>
                <a:ea typeface="宋体" panose="02010600030101010101" pitchFamily="2" charset="-122"/>
              </a:rPr>
              <a:t>指令和</a:t>
            </a:r>
            <a:r>
              <a:rPr lang="en-US" altLang="zh-CN" sz="2400" dirty="0">
                <a:latin typeface="宋体" panose="02010600030101010101" pitchFamily="2" charset="-122"/>
                <a:ea typeface="宋体" panose="02010600030101010101" pitchFamily="2" charset="-122"/>
              </a:rPr>
              <a:t>SAL</a:t>
            </a:r>
            <a:r>
              <a:rPr lang="zh-CN" altLang="en-US" sz="2400" dirty="0">
                <a:latin typeface="宋体" panose="02010600030101010101" pitchFamily="2" charset="-122"/>
                <a:ea typeface="宋体" panose="02010600030101010101" pitchFamily="2" charset="-122"/>
              </a:rPr>
              <a:t>指令的区别是：逻辑左移指令</a:t>
            </a:r>
            <a:r>
              <a:rPr lang="en-US" altLang="zh-CN" sz="2400" dirty="0">
                <a:latin typeface="宋体" panose="02010600030101010101" pitchFamily="2" charset="-122"/>
                <a:ea typeface="宋体" panose="02010600030101010101" pitchFamily="2" charset="-122"/>
              </a:rPr>
              <a:t>SHL</a:t>
            </a:r>
            <a:r>
              <a:rPr lang="zh-CN" altLang="en-US" sz="2400" dirty="0">
                <a:latin typeface="宋体" panose="02010600030101010101" pitchFamily="2" charset="-122"/>
                <a:ea typeface="宋体" panose="02010600030101010101" pitchFamily="2" charset="-122"/>
              </a:rPr>
              <a:t>将操作数视为无符号数，而算术左移指令</a:t>
            </a:r>
            <a:r>
              <a:rPr lang="en-US" altLang="zh-CN" sz="2400" dirty="0">
                <a:latin typeface="宋体" panose="02010600030101010101" pitchFamily="2" charset="-122"/>
                <a:ea typeface="宋体" panose="02010600030101010101" pitchFamily="2" charset="-122"/>
              </a:rPr>
              <a:t>SAL</a:t>
            </a:r>
            <a:r>
              <a:rPr lang="zh-CN" altLang="en-US" sz="2400" dirty="0">
                <a:latin typeface="宋体" panose="02010600030101010101" pitchFamily="2" charset="-122"/>
                <a:ea typeface="宋体" panose="02010600030101010101" pitchFamily="2" charset="-122"/>
              </a:rPr>
              <a:t>将操作数视为有符号数。</a:t>
            </a:r>
            <a:r>
              <a:rPr lang="en-US" altLang="zh-CN" sz="2400" dirty="0">
                <a:solidFill>
                  <a:srgbClr val="FF0000"/>
                </a:solidFill>
                <a:latin typeface="宋体" panose="02010600030101010101" pitchFamily="2" charset="-122"/>
                <a:ea typeface="宋体" panose="02010600030101010101" pitchFamily="2" charset="-122"/>
              </a:rPr>
              <a:t>OF=1</a:t>
            </a:r>
            <a:r>
              <a:rPr lang="zh-CN" altLang="en-US" sz="2400" dirty="0">
                <a:solidFill>
                  <a:srgbClr val="FF0000"/>
                </a:solidFill>
                <a:latin typeface="宋体" panose="02010600030101010101" pitchFamily="2" charset="-122"/>
                <a:ea typeface="宋体" panose="02010600030101010101" pitchFamily="2" charset="-122"/>
              </a:rPr>
              <a:t>对</a:t>
            </a:r>
            <a:r>
              <a:rPr lang="en-US" altLang="zh-CN" sz="2400" dirty="0">
                <a:solidFill>
                  <a:srgbClr val="FF0000"/>
                </a:solidFill>
                <a:latin typeface="宋体" panose="02010600030101010101" pitchFamily="2" charset="-122"/>
                <a:ea typeface="宋体" panose="02010600030101010101" pitchFamily="2" charset="-122"/>
              </a:rPr>
              <a:t>SHL</a:t>
            </a:r>
            <a:r>
              <a:rPr lang="zh-CN" altLang="en-US" sz="2400" dirty="0">
                <a:solidFill>
                  <a:srgbClr val="FF0000"/>
                </a:solidFill>
                <a:latin typeface="宋体" panose="02010600030101010101" pitchFamily="2" charset="-122"/>
                <a:ea typeface="宋体" panose="02010600030101010101" pitchFamily="2" charset="-122"/>
              </a:rPr>
              <a:t>指令不表示左移后溢出</a:t>
            </a:r>
            <a:r>
              <a:rPr lang="zh-CN" altLang="en-US" sz="2400" dirty="0">
                <a:latin typeface="宋体" panose="02010600030101010101" pitchFamily="2" charset="-122"/>
                <a:ea typeface="宋体" panose="02010600030101010101" pitchFamily="2" charset="-122"/>
              </a:rPr>
              <a:t>，而对</a:t>
            </a:r>
            <a:r>
              <a:rPr lang="en-US" altLang="zh-CN" sz="2400" dirty="0">
                <a:latin typeface="宋体" panose="02010600030101010101" pitchFamily="2" charset="-122"/>
                <a:ea typeface="宋体" panose="02010600030101010101" pitchFamily="2" charset="-122"/>
              </a:rPr>
              <a:t>SAL</a:t>
            </a:r>
            <a:r>
              <a:rPr lang="zh-CN" altLang="en-US" sz="2400" dirty="0">
                <a:latin typeface="宋体" panose="02010600030101010101" pitchFamily="2" charset="-122"/>
                <a:ea typeface="宋体" panose="02010600030101010101" pitchFamily="2" charset="-122"/>
              </a:rPr>
              <a:t>指令表示移位后超出了符号数的表示范围。</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文本框 1"/>
          <p:cNvSpPr txBox="1"/>
          <p:nvPr/>
        </p:nvSpPr>
        <p:spPr>
          <a:xfrm>
            <a:off x="684213" y="1196975"/>
            <a:ext cx="7775575" cy="1754188"/>
          </a:xfrm>
          <a:prstGeom prst="rect">
            <a:avLst/>
          </a:prstGeom>
          <a:noFill/>
          <a:ln w="19050" cap="flat" cmpd="sng">
            <a:solidFill>
              <a:schemeClr val="tx1"/>
            </a:solidFill>
            <a:prstDash val="solid"/>
            <a:miter/>
            <a:headEnd type="none" w="med" len="med"/>
            <a:tailEnd type="none" w="med" len="med"/>
          </a:ln>
        </p:spPr>
        <p:txBody>
          <a:bodyPr>
            <a:spAutoFit/>
          </a:bodyPr>
          <a:p>
            <a:pPr eaLnBrk="0" hangingPunct="0">
              <a:lnSpc>
                <a:spcPct val="150000"/>
              </a:lnSpc>
              <a:buFont typeface="Wingdings" panose="05000000000000000000" pitchFamily="2" charset="2"/>
            </a:pPr>
            <a:r>
              <a:rPr lang="zh-CN" altLang="en-US" sz="2400" dirty="0">
                <a:latin typeface="宋体" panose="02010600030101010101" pitchFamily="2" charset="-122"/>
                <a:ea typeface="宋体" panose="02010600030101010101" pitchFamily="2" charset="-122"/>
              </a:rPr>
              <a:t>注意：</a:t>
            </a:r>
            <a:r>
              <a:rPr lang="en-US" altLang="zh-CN" sz="2400" dirty="0">
                <a:latin typeface="宋体" panose="02010600030101010101" pitchFamily="2" charset="-122"/>
                <a:ea typeface="宋体" panose="02010600030101010101" pitchFamily="2" charset="-122"/>
              </a:rPr>
              <a:t>SAL</a:t>
            </a:r>
            <a:r>
              <a:rPr lang="zh-CN" altLang="en-US" sz="2400" dirty="0">
                <a:latin typeface="宋体" panose="02010600030101010101" pitchFamily="2" charset="-122"/>
                <a:ea typeface="宋体" panose="02010600030101010101" pitchFamily="2" charset="-122"/>
              </a:rPr>
              <a:t>指令不能在</a:t>
            </a:r>
            <a:r>
              <a:rPr lang="en-US" altLang="zh-CN" sz="2400" dirty="0">
                <a:latin typeface="宋体" panose="02010600030101010101" pitchFamily="2" charset="-122"/>
                <a:ea typeface="宋体" panose="02010600030101010101" pitchFamily="2" charset="-122"/>
              </a:rPr>
              <a:t>Debug</a:t>
            </a:r>
            <a:r>
              <a:rPr lang="zh-CN" altLang="en-US" sz="2400" dirty="0">
                <a:latin typeface="宋体" panose="02010600030101010101" pitchFamily="2" charset="-122"/>
                <a:ea typeface="宋体" panose="02010600030101010101" pitchFamily="2" charset="-122"/>
              </a:rPr>
              <a:t>中测试，但可以在</a:t>
            </a:r>
            <a:r>
              <a:rPr lang="en-US" altLang="zh-CN" sz="2400" dirty="0">
                <a:latin typeface="宋体" panose="02010600030101010101" pitchFamily="2" charset="-122"/>
                <a:ea typeface="宋体" panose="02010600030101010101" pitchFamily="2" charset="-122"/>
              </a:rPr>
              <a:t>MASM</a:t>
            </a:r>
            <a:r>
              <a:rPr lang="zh-CN" altLang="en-US" sz="2400" dirty="0">
                <a:latin typeface="宋体" panose="02010600030101010101" pitchFamily="2" charset="-122"/>
                <a:ea typeface="宋体" panose="02010600030101010101" pitchFamily="2" charset="-122"/>
              </a:rPr>
              <a:t>中编译，因为汇编中将</a:t>
            </a:r>
            <a:r>
              <a:rPr lang="en-US" altLang="zh-CN" sz="2400" dirty="0">
                <a:latin typeface="宋体" panose="02010600030101010101" pitchFamily="2" charset="-122"/>
                <a:ea typeface="宋体" panose="02010600030101010101" pitchFamily="2" charset="-122"/>
              </a:rPr>
              <a:t>SAL</a:t>
            </a:r>
            <a:r>
              <a:rPr lang="zh-CN" altLang="en-US" sz="2400" dirty="0">
                <a:latin typeface="宋体" panose="02010600030101010101" pitchFamily="2" charset="-122"/>
                <a:ea typeface="宋体" panose="02010600030101010101" pitchFamily="2" charset="-122"/>
              </a:rPr>
              <a:t>自动转换为</a:t>
            </a:r>
            <a:r>
              <a:rPr lang="en-US" altLang="zh-CN" sz="2400" dirty="0">
                <a:latin typeface="宋体" panose="02010600030101010101" pitchFamily="2" charset="-122"/>
                <a:ea typeface="宋体" panose="02010600030101010101" pitchFamily="2" charset="-122"/>
              </a:rPr>
              <a:t>SHL</a:t>
            </a:r>
            <a:r>
              <a:rPr lang="zh-CN" altLang="en-US" sz="2400" dirty="0">
                <a:latin typeface="宋体" panose="02010600030101010101" pitchFamily="2" charset="-122"/>
                <a:ea typeface="宋体" panose="02010600030101010101" pitchFamily="2" charset="-122"/>
              </a:rPr>
              <a:t>执行的，这点可以通过对</a:t>
            </a:r>
            <a:r>
              <a:rPr lang="en-US" altLang="zh-CN" sz="2400" dirty="0">
                <a:latin typeface="宋体" panose="02010600030101010101" pitchFamily="2" charset="-122"/>
                <a:ea typeface="宋体" panose="02010600030101010101" pitchFamily="2" charset="-122"/>
              </a:rPr>
              <a:t>MASM</a:t>
            </a:r>
            <a:r>
              <a:rPr lang="zh-CN" altLang="en-US" sz="2400" dirty="0">
                <a:latin typeface="宋体" panose="02010600030101010101" pitchFamily="2" charset="-122"/>
                <a:ea typeface="宋体" panose="02010600030101010101" pitchFamily="2" charset="-122"/>
              </a:rPr>
              <a:t>生成的</a:t>
            </a:r>
            <a:r>
              <a:rPr lang="en-US" altLang="zh-CN" sz="2400" dirty="0">
                <a:latin typeface="宋体" panose="02010600030101010101" pitchFamily="2" charset="-122"/>
                <a:ea typeface="宋体" panose="02010600030101010101" pitchFamily="2" charset="-122"/>
              </a:rPr>
              <a:t>EXE</a:t>
            </a:r>
            <a:r>
              <a:rPr lang="zh-CN" altLang="en-US" sz="2400" dirty="0">
                <a:latin typeface="宋体" panose="02010600030101010101" pitchFamily="2" charset="-122"/>
                <a:ea typeface="宋体" panose="02010600030101010101" pitchFamily="2" charset="-122"/>
              </a:rPr>
              <a:t>文件反编译进行验证。</a:t>
            </a:r>
            <a:endParaRPr lang="zh-CN" altLang="en-US" sz="2400" dirty="0">
              <a:latin typeface="宋体" panose="02010600030101010101" pitchFamily="2" charset="-122"/>
              <a:ea typeface="宋体" panose="02010600030101010101" pitchFamily="2" charset="-122"/>
            </a:endParaRPr>
          </a:p>
        </p:txBody>
      </p:sp>
      <p:pic>
        <p:nvPicPr>
          <p:cNvPr id="111619" name="图片 2"/>
          <p:cNvPicPr>
            <a:picLocks noChangeAspect="1"/>
          </p:cNvPicPr>
          <p:nvPr/>
        </p:nvPicPr>
        <p:blipFill>
          <a:blip r:embed="rId1"/>
          <a:stretch>
            <a:fillRect/>
          </a:stretch>
        </p:blipFill>
        <p:spPr>
          <a:xfrm>
            <a:off x="1042988" y="3644900"/>
            <a:ext cx="2016125" cy="2160588"/>
          </a:xfrm>
          <a:prstGeom prst="rect">
            <a:avLst/>
          </a:prstGeom>
          <a:noFill/>
          <a:ln w="9525">
            <a:noFill/>
          </a:ln>
        </p:spPr>
      </p:pic>
      <p:pic>
        <p:nvPicPr>
          <p:cNvPr id="111620" name="图片 3"/>
          <p:cNvPicPr>
            <a:picLocks noChangeAspect="1"/>
          </p:cNvPicPr>
          <p:nvPr/>
        </p:nvPicPr>
        <p:blipFill>
          <a:blip r:embed="rId2"/>
          <a:stretch>
            <a:fillRect/>
          </a:stretch>
        </p:blipFill>
        <p:spPr>
          <a:xfrm>
            <a:off x="4067175" y="3789363"/>
            <a:ext cx="4392613" cy="1458912"/>
          </a:xfrm>
          <a:prstGeom prst="rect">
            <a:avLst/>
          </a:prstGeom>
          <a:noFill/>
          <a:ln w="9525">
            <a:noFill/>
          </a:ln>
        </p:spPr>
      </p:pic>
      <p:sp>
        <p:nvSpPr>
          <p:cNvPr id="111621" name="右箭头 4"/>
          <p:cNvSpPr/>
          <p:nvPr/>
        </p:nvSpPr>
        <p:spPr>
          <a:xfrm>
            <a:off x="3130550" y="4410075"/>
            <a:ext cx="865188" cy="215900"/>
          </a:xfrm>
          <a:prstGeom prst="rightArrow">
            <a:avLst>
              <a:gd name="adj1" fmla="val 50000"/>
              <a:gd name="adj2" fmla="val 49832"/>
            </a:avLst>
          </a:prstGeom>
          <a:solidFill>
            <a:schemeClr val="accent1"/>
          </a:solidFill>
          <a:ln w="9525" cap="flat" cmpd="sng">
            <a:solidFill>
              <a:schemeClr val="tx1"/>
            </a:solidFill>
            <a:prstDash val="solid"/>
            <a:round/>
            <a:headEnd type="none" w="med" len="med"/>
            <a:tailEnd type="none" w="med" len="med"/>
          </a:ln>
        </p:spPr>
        <p:txBody>
          <a:bodyPr/>
          <a:p>
            <a:pPr eaLnBrk="0" hangingPunct="0"/>
            <a:endParaRPr lang="zh-CN" altLang="en-US" dirty="0">
              <a:latin typeface="Arial" panose="020B0604020202020204" pitchFamily="34" charset="0"/>
              <a:ea typeface="宋体" panose="02010600030101010101" pitchFamily="2" charset="-122"/>
            </a:endParaRPr>
          </a:p>
        </p:txBody>
      </p:sp>
      <p:sp>
        <p:nvSpPr>
          <p:cNvPr id="111622" name="文本框 5"/>
          <p:cNvSpPr txBox="1"/>
          <p:nvPr/>
        </p:nvSpPr>
        <p:spPr>
          <a:xfrm>
            <a:off x="3095625" y="4149725"/>
            <a:ext cx="936625" cy="368300"/>
          </a:xfrm>
          <a:prstGeom prst="rect">
            <a:avLst/>
          </a:prstGeom>
          <a:noFill/>
          <a:ln w="9525">
            <a:noFill/>
          </a:ln>
        </p:spPr>
        <p:txBody>
          <a:bodyPr>
            <a:spAutoFit/>
          </a:bodyPr>
          <a:p>
            <a:pPr eaLnBrk="0" hangingPunct="0">
              <a:buFont typeface="Wingdings" panose="05000000000000000000" pitchFamily="2" charset="2"/>
            </a:pPr>
            <a:r>
              <a:rPr lang="zh-CN" altLang="en-US" dirty="0">
                <a:latin typeface="Arial" panose="020B0604020202020204" pitchFamily="34" charset="0"/>
                <a:ea typeface="宋体" panose="02010600030101010101" pitchFamily="2" charset="-122"/>
              </a:rPr>
              <a:t>反编译</a:t>
            </a:r>
            <a:endParaRPr lang="zh-CN" altLang="en-US" dirty="0">
              <a:latin typeface="Arial" panose="020B0604020202020204" pitchFamily="34" charset="0"/>
              <a:ea typeface="宋体" panose="02010600030101010101" pitchFamily="2" charset="-122"/>
            </a:endParaRPr>
          </a:p>
        </p:txBody>
      </p:sp>
      <p:sp>
        <p:nvSpPr>
          <p:cNvPr id="111623" name="矩形 7"/>
          <p:cNvSpPr/>
          <p:nvPr/>
        </p:nvSpPr>
        <p:spPr>
          <a:xfrm>
            <a:off x="1009650" y="6122988"/>
            <a:ext cx="6551613" cy="369887"/>
          </a:xfrm>
          <a:prstGeom prst="rect">
            <a:avLst/>
          </a:prstGeom>
          <a:noFill/>
          <a:ln w="9525">
            <a:noFill/>
          </a:ln>
        </p:spPr>
        <p:txBody>
          <a:bodyPr>
            <a:spAutoFit/>
          </a:bodyPr>
          <a:p>
            <a:pPr eaLnBrk="0" hangingPunct="0">
              <a:buFont typeface="Wingdings" panose="05000000000000000000" pitchFamily="2" charset="2"/>
            </a:pPr>
            <a:r>
              <a:rPr lang="zh-CN" altLang="en-US" dirty="0">
                <a:latin typeface="Arial" panose="020B0604020202020204" pitchFamily="34" charset="0"/>
                <a:ea typeface="宋体" panose="02010600030101010101" pitchFamily="2" charset="-122"/>
              </a:rPr>
              <a:t>参考资料：浅谈</a:t>
            </a:r>
            <a:r>
              <a:rPr lang="en-US" altLang="zh-CN" dirty="0">
                <a:latin typeface="Arial" panose="020B0604020202020204" pitchFamily="34" charset="0"/>
                <a:ea typeface="宋体" panose="02010600030101010101" pitchFamily="2" charset="-122"/>
              </a:rPr>
              <a:t>8086</a:t>
            </a:r>
            <a:r>
              <a:rPr lang="zh-CN" altLang="en-US" dirty="0">
                <a:latin typeface="Arial" panose="020B0604020202020204" pitchFamily="34" charset="0"/>
                <a:ea typeface="宋体" panose="02010600030101010101" pitchFamily="2" charset="-122"/>
              </a:rPr>
              <a:t>汇编语言中</a:t>
            </a:r>
            <a:r>
              <a:rPr lang="en-US" altLang="zh-CN" dirty="0">
                <a:latin typeface="Arial" panose="020B0604020202020204" pitchFamily="34" charset="0"/>
                <a:ea typeface="宋体" panose="02010600030101010101" pitchFamily="2" charset="-122"/>
              </a:rPr>
              <a:t>SAL</a:t>
            </a:r>
            <a:r>
              <a:rPr lang="zh-CN" altLang="en-US" dirty="0">
                <a:latin typeface="Arial" panose="020B0604020202020204" pitchFamily="34" charset="0"/>
                <a:ea typeface="宋体" panose="02010600030101010101" pitchFamily="2" charset="-122"/>
              </a:rPr>
              <a:t>指令的应用研究，冯文超</a:t>
            </a:r>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内容占位符 2"/>
          <p:cNvSpPr>
            <a:spLocks noGrp="1"/>
          </p:cNvSpPr>
          <p:nvPr>
            <p:ph idx="4294967295"/>
          </p:nvPr>
        </p:nvSpPr>
        <p:spPr>
          <a:xfrm>
            <a:off x="457200" y="990600"/>
            <a:ext cx="8382000" cy="3446463"/>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例</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MOV AL</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41H</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SHL AL</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1</a:t>
            </a:r>
            <a:endPar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0" fontAlgn="base" latinLnBrk="0" hangingPunct="0">
              <a:lnSpc>
                <a:spcPct val="150000"/>
              </a:lnSpc>
              <a:spcBef>
                <a:spcPct val="20000"/>
              </a:spcBef>
              <a:spcAft>
                <a:spcPct val="0"/>
              </a:spcAft>
              <a:buClr>
                <a:schemeClr val="hlink"/>
              </a:buClr>
              <a:buSzTx/>
              <a:buFont typeface="Wingdings" panose="05000000000000000000" pitchFamily="2" charset="2"/>
              <a:buNone/>
              <a:defRPr/>
            </a:pP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执行结果：</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AL</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=82H</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CF=0</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OF=1.</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若视</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82H</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位无符号数，则它没有溢出（</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82H&lt;FFH</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）；若视为有符号数，则溢出了（</a:t>
            </a:r>
            <a:r>
              <a:rPr kumimoji="0" lang="en-US" altLang="zh-CN"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82H&gt;7FH</a:t>
            </a:r>
            <a:r>
              <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sym typeface="Wingdings" panose="05000000000000000000" pitchFamily="2" charset="2"/>
              </a:rPr>
              <a:t>），因为移位后正数变成了负数。</a:t>
            </a:r>
            <a:endParaRPr kumimoji="0" lang="zh-CN" altLang="en-US" sz="2400" b="0"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a:spLocks noGrp="1"/>
          </p:cNvSpPr>
          <p:nvPr>
            <p:ph type="title" idx="4294967295"/>
          </p:nvPr>
        </p:nvSpPr>
        <p:spPr>
          <a:xfrm>
            <a:off x="755650" y="1001713"/>
            <a:ext cx="6553200" cy="563562"/>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00033"/>
                </a:solidFill>
                <a:ea typeface="宋体" panose="02010600030101010101" pitchFamily="2" charset="-122"/>
              </a:rPr>
              <a:t>逻辑右移</a:t>
            </a:r>
            <a:r>
              <a:rPr lang="en-US" altLang="zh-CN" dirty="0">
                <a:solidFill>
                  <a:srgbClr val="000033"/>
                </a:solidFill>
                <a:ea typeface="宋体" panose="02010600030101010101" pitchFamily="2" charset="-122"/>
              </a:rPr>
              <a:t>SHR</a:t>
            </a:r>
            <a:endParaRPr lang="zh-CN" altLang="en-US" dirty="0">
              <a:solidFill>
                <a:srgbClr val="000033"/>
              </a:solidFill>
              <a:ea typeface="宋体" panose="02010600030101010101" pitchFamily="2" charset="-122"/>
            </a:endParaRPr>
          </a:p>
        </p:txBody>
      </p:sp>
      <p:sp>
        <p:nvSpPr>
          <p:cNvPr id="114691" name="Rectangle 3"/>
          <p:cNvSpPr>
            <a:spLocks noGrp="1"/>
          </p:cNvSpPr>
          <p:nvPr>
            <p:ph type="body" idx="4294967295"/>
          </p:nvPr>
        </p:nvSpPr>
        <p:spPr>
          <a:xfrm>
            <a:off x="809625" y="1866900"/>
            <a:ext cx="3041650" cy="1633538"/>
          </a:xfrm>
        </p:spPr>
        <p:txBody>
          <a:bodyPr vert="horz" wrap="square" lIns="91440" tIns="45720" rIns="91440" bIns="45720" anchor="t" anchorCtr="0"/>
          <a:p>
            <a:pPr eaLnBrk="1" hangingPunct="1">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格式：</a:t>
            </a:r>
            <a:endParaRPr lang="zh-CN" altLang="en-US" dirty="0">
              <a:latin typeface="宋体" panose="02010600030101010101" pitchFamily="2" charset="-122"/>
              <a:ea typeface="宋体" panose="02010600030101010101" pitchFamily="2" charset="-122"/>
            </a:endParaRPr>
          </a:p>
          <a:p>
            <a:pPr eaLnBrk="1" hangingPunct="1">
              <a:buNone/>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SHR  OPRD，1</a:t>
            </a: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rPr>
              <a:t>  SHR  OPRD，CL</a:t>
            </a:r>
            <a:endParaRPr lang="en-US" altLang="zh-CN" dirty="0">
              <a:latin typeface="宋体" panose="02010600030101010101" pitchFamily="2" charset="-122"/>
              <a:ea typeface="宋体" panose="02010600030101010101" pitchFamily="2" charset="-122"/>
            </a:endParaRPr>
          </a:p>
        </p:txBody>
      </p:sp>
      <p:sp>
        <p:nvSpPr>
          <p:cNvPr id="114692" name="Rectangle 4"/>
          <p:cNvSpPr/>
          <p:nvPr/>
        </p:nvSpPr>
        <p:spPr>
          <a:xfrm>
            <a:off x="2627313" y="3657600"/>
            <a:ext cx="3581400"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14693" name="Line 5"/>
          <p:cNvSpPr/>
          <p:nvPr/>
        </p:nvSpPr>
        <p:spPr>
          <a:xfrm>
            <a:off x="3463925" y="3919538"/>
            <a:ext cx="2058988" cy="0"/>
          </a:xfrm>
          <a:prstGeom prst="line">
            <a:avLst/>
          </a:prstGeom>
          <a:ln w="25400" cap="sq" cmpd="sng">
            <a:solidFill>
              <a:schemeClr val="bg1"/>
            </a:solidFill>
            <a:prstDash val="solid"/>
            <a:headEnd type="none" w="med" len="med"/>
            <a:tailEnd type="triangle" w="lg" len="lg"/>
          </a:ln>
        </p:spPr>
      </p:sp>
      <p:sp>
        <p:nvSpPr>
          <p:cNvPr id="114694" name="Line 6"/>
          <p:cNvSpPr/>
          <p:nvPr/>
        </p:nvSpPr>
        <p:spPr>
          <a:xfrm>
            <a:off x="6223000" y="3914775"/>
            <a:ext cx="914400" cy="0"/>
          </a:xfrm>
          <a:prstGeom prst="line">
            <a:avLst/>
          </a:prstGeom>
          <a:ln w="25400" cap="sq" cmpd="sng">
            <a:solidFill>
              <a:schemeClr val="tx1"/>
            </a:solidFill>
            <a:prstDash val="solid"/>
            <a:headEnd type="none" w="med" len="med"/>
            <a:tailEnd type="triangle" w="lg" len="lg"/>
          </a:ln>
        </p:spPr>
      </p:sp>
      <p:sp>
        <p:nvSpPr>
          <p:cNvPr id="114695" name="Line 7"/>
          <p:cNvSpPr/>
          <p:nvPr/>
        </p:nvSpPr>
        <p:spPr>
          <a:xfrm>
            <a:off x="1698625" y="3933825"/>
            <a:ext cx="914400" cy="0"/>
          </a:xfrm>
          <a:prstGeom prst="line">
            <a:avLst/>
          </a:prstGeom>
          <a:ln w="25400" cap="sq" cmpd="sng">
            <a:solidFill>
              <a:schemeClr val="tx1"/>
            </a:solidFill>
            <a:prstDash val="solid"/>
            <a:headEnd type="none" w="med" len="med"/>
            <a:tailEnd type="triangle" w="lg" len="lg"/>
          </a:ln>
        </p:spPr>
      </p:sp>
      <p:sp>
        <p:nvSpPr>
          <p:cNvPr id="114696" name="Text Box 8"/>
          <p:cNvSpPr txBox="1"/>
          <p:nvPr/>
        </p:nvSpPr>
        <p:spPr>
          <a:xfrm>
            <a:off x="1255713" y="3611563"/>
            <a:ext cx="533400" cy="579437"/>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3200" b="1" dirty="0">
                <a:latin typeface="Times New Roman" panose="02020603050405020304" pitchFamily="18" charset="0"/>
                <a:ea typeface="宋体" panose="02010600030101010101" pitchFamily="2" charset="-122"/>
              </a:rPr>
              <a:t>0</a:t>
            </a:r>
            <a:endParaRPr lang="en-US" altLang="zh-CN" sz="3200" b="1" dirty="0">
              <a:latin typeface="Times New Roman" panose="02020603050405020304" pitchFamily="18" charset="0"/>
              <a:ea typeface="宋体" panose="02010600030101010101" pitchFamily="2" charset="-122"/>
            </a:endParaRPr>
          </a:p>
        </p:txBody>
      </p:sp>
      <p:sp>
        <p:nvSpPr>
          <p:cNvPr id="114697" name="Text Box 9"/>
          <p:cNvSpPr txBox="1"/>
          <p:nvPr/>
        </p:nvSpPr>
        <p:spPr>
          <a:xfrm>
            <a:off x="7199313" y="3657600"/>
            <a:ext cx="685800" cy="544513"/>
          </a:xfrm>
          <a:prstGeom prst="rect">
            <a:avLst/>
          </a:prstGeom>
          <a:solidFill>
            <a:srgbClr val="339966"/>
          </a:solidFill>
          <a:ln w="25400" cap="sq" cmpd="sng">
            <a:solidFill>
              <a:srgbClr val="339966"/>
            </a:solidFill>
            <a:prstDash val="solid"/>
            <a:miter/>
            <a:headEnd type="none" w="med" len="med"/>
            <a:tailEnd type="none" w="med" len="med"/>
          </a:ln>
        </p:spPr>
        <p:txBody>
          <a:bodyPr>
            <a:spAutoFit/>
          </a:bodyPr>
          <a:p>
            <a:pPr eaLnBrk="0" hangingPunct="0">
              <a:spcBef>
                <a:spcPct val="50000"/>
              </a:spcBef>
              <a:buFont typeface="Wingdings" panose="05000000000000000000" pitchFamily="2" charset="2"/>
            </a:pPr>
            <a:r>
              <a:rPr lang="en-US" altLang="zh-CN" sz="2800" b="1" dirty="0">
                <a:solidFill>
                  <a:schemeClr val="bg1"/>
                </a:solidFill>
                <a:latin typeface="Times New Roman" panose="02020603050405020304" pitchFamily="18" charset="0"/>
                <a:ea typeface="宋体" panose="02010600030101010101" pitchFamily="2" charset="-122"/>
              </a:rPr>
              <a:t>CF</a:t>
            </a:r>
            <a:endParaRPr lang="en-US" altLang="zh-CN" sz="2800" b="1" dirty="0">
              <a:solidFill>
                <a:schemeClr val="bg1"/>
              </a:solidFill>
              <a:latin typeface="Times New Roman" panose="02020603050405020304" pitchFamily="18" charset="0"/>
              <a:ea typeface="宋体" panose="02010600030101010101" pitchFamily="2" charset="-122"/>
            </a:endParaRPr>
          </a:p>
        </p:txBody>
      </p:sp>
      <p:sp>
        <p:nvSpPr>
          <p:cNvPr id="114698" name="AutoShape 10"/>
          <p:cNvSpPr/>
          <p:nvPr/>
        </p:nvSpPr>
        <p:spPr>
          <a:xfrm>
            <a:off x="3821113" y="2536825"/>
            <a:ext cx="150812" cy="838200"/>
          </a:xfrm>
          <a:prstGeom prst="rightBrace">
            <a:avLst>
              <a:gd name="adj1" fmla="val 45955"/>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14699" name="AutoShape 11"/>
          <p:cNvSpPr/>
          <p:nvPr/>
        </p:nvSpPr>
        <p:spPr>
          <a:xfrm>
            <a:off x="4743450" y="2351088"/>
            <a:ext cx="2419350" cy="512762"/>
          </a:xfrm>
          <a:prstGeom prst="borderCallout1">
            <a:avLst>
              <a:gd name="adj1" fmla="val 108333"/>
              <a:gd name="adj2" fmla="val 92815"/>
              <a:gd name="adj3" fmla="val 108333"/>
              <a:gd name="adj4" fmla="val -35028"/>
            </a:avLst>
          </a:prstGeom>
          <a:noFill/>
          <a:ln w="25400" cap="sq" cmpd="sng">
            <a:solidFill>
              <a:srgbClr val="339966"/>
            </a:solidFill>
            <a:prstDash val="solid"/>
            <a:miter/>
            <a:headEnd type="none" w="med" len="med"/>
            <a:tailEnd type="none" w="med" len="med"/>
          </a:ln>
        </p:spPr>
        <p:txBody>
          <a:bodyPr/>
          <a:p>
            <a:pPr eaLnBrk="0" hangingPunct="0">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无符号数的右移</a:t>
            </a:r>
            <a:endParaRPr lang="zh-CN" altLang="en-US" sz="2400" b="1" dirty="0">
              <a:latin typeface="Times New Roman" panose="02020603050405020304" pitchFamily="18" charset="0"/>
              <a:ea typeface="宋体" panose="02010600030101010101" pitchFamily="2" charset="-122"/>
            </a:endParaRPr>
          </a:p>
        </p:txBody>
      </p:sp>
      <p:sp>
        <p:nvSpPr>
          <p:cNvPr id="113676" name="文本框 1"/>
          <p:cNvSpPr txBox="1"/>
          <p:nvPr/>
        </p:nvSpPr>
        <p:spPr>
          <a:xfrm>
            <a:off x="611188" y="4367213"/>
            <a:ext cx="7921625" cy="2308225"/>
          </a:xfrm>
          <a:prstGeom prst="rect">
            <a:avLst/>
          </a:prstGeom>
          <a:noFill/>
          <a:ln w="9525">
            <a:noFill/>
          </a:ln>
        </p:spPr>
        <p:txBody>
          <a:bodyPr>
            <a:spAutoFit/>
          </a:bodyPr>
          <a:p>
            <a:pPr marL="342900" indent="-342900" eaLnBrk="0" hangingPunct="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它将目标操作数视为无符号数，其操作是将目的操作数顺序向右移</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位或</a:t>
            </a:r>
            <a:r>
              <a:rPr lang="en-US" altLang="zh-CN" sz="2400" dirty="0">
                <a:latin typeface="宋体" panose="02010600030101010101" pitchFamily="2" charset="-122"/>
                <a:ea typeface="宋体" panose="02010600030101010101" pitchFamily="2" charset="-122"/>
              </a:rPr>
              <a:t>CL</a:t>
            </a:r>
            <a:r>
              <a:rPr lang="zh-CN" altLang="en-US" sz="2400" dirty="0">
                <a:latin typeface="宋体" panose="02010600030101010101" pitchFamily="2" charset="-122"/>
                <a:ea typeface="宋体" panose="02010600030101010101" pitchFamily="2" charset="-122"/>
              </a:rPr>
              <a:t>指定的位数，每右移</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位，右边的最低位移入标志位</a:t>
            </a:r>
            <a:r>
              <a:rPr lang="en-US" altLang="zh-CN" sz="2400" dirty="0">
                <a:latin typeface="宋体" panose="02010600030101010101" pitchFamily="2" charset="-122"/>
                <a:ea typeface="宋体" panose="02010600030101010101" pitchFamily="2" charset="-122"/>
              </a:rPr>
              <a:t>CF</a:t>
            </a:r>
            <a:r>
              <a:rPr lang="zh-CN" altLang="en-US" sz="2400" dirty="0">
                <a:latin typeface="宋体" panose="02010600030101010101" pitchFamily="2" charset="-122"/>
                <a:ea typeface="宋体" panose="02010600030101010101" pitchFamily="2" charset="-122"/>
              </a:rPr>
              <a:t>，而在左边的最高位补</a:t>
            </a:r>
            <a:r>
              <a:rPr lang="en-US" altLang="zh-CN" sz="2400" dirty="0">
                <a:latin typeface="宋体" panose="02010600030101010101" pitchFamily="2" charset="-122"/>
                <a:ea typeface="宋体" panose="02010600030101010101" pitchFamily="2" charset="-122"/>
              </a:rPr>
              <a:t>0</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marL="342900" indent="-342900" eaLnBrk="0" hangingPunct="0">
              <a:buFont typeface="Wingdings" panose="05000000000000000000" pitchFamily="2" charset="2"/>
              <a:buChar char="l"/>
            </a:pPr>
            <a:r>
              <a:rPr lang="en-US" altLang="zh-CN" sz="2400" dirty="0">
                <a:latin typeface="宋体" panose="02010600030101010101" pitchFamily="2" charset="-122"/>
                <a:ea typeface="宋体" panose="02010600030101010101" pitchFamily="2" charset="-122"/>
              </a:rPr>
              <a:t>SHR</a:t>
            </a:r>
            <a:r>
              <a:rPr lang="zh-CN" altLang="en-US" sz="2400" dirty="0">
                <a:latin typeface="宋体" panose="02010600030101010101" pitchFamily="2" charset="-122"/>
                <a:ea typeface="宋体" panose="02010600030101010101" pitchFamily="2" charset="-122"/>
              </a:rPr>
              <a:t>指令也影响标志位</a:t>
            </a:r>
            <a:r>
              <a:rPr lang="en-US" altLang="zh-CN" sz="2400" dirty="0">
                <a:latin typeface="宋体" panose="02010600030101010101" pitchFamily="2" charset="-122"/>
                <a:ea typeface="宋体" panose="02010600030101010101" pitchFamily="2" charset="-122"/>
              </a:rPr>
              <a:t>CF</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OF</a:t>
            </a:r>
            <a:r>
              <a:rPr lang="zh-CN" altLang="en-US" sz="2400" dirty="0">
                <a:latin typeface="宋体" panose="02010600030101010101" pitchFamily="2" charset="-122"/>
                <a:ea typeface="宋体" panose="02010600030101010101" pitchFamily="2" charset="-122"/>
              </a:rPr>
              <a:t>。如果移动次数为</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，且移位之后新的最高位和次高位不相等，则标志位</a:t>
            </a:r>
            <a:r>
              <a:rPr lang="en-US" altLang="zh-CN" sz="2400" dirty="0">
                <a:latin typeface="宋体" panose="02010600030101010101" pitchFamily="2" charset="-122"/>
                <a:ea typeface="宋体" panose="02010600030101010101" pitchFamily="2" charset="-122"/>
              </a:rPr>
              <a:t>OF=1</a:t>
            </a:r>
            <a:r>
              <a:rPr lang="zh-CN" altLang="en-US" sz="2400" dirty="0">
                <a:latin typeface="宋体" panose="02010600030101010101" pitchFamily="2" charset="-122"/>
                <a:ea typeface="宋体" panose="02010600030101010101" pitchFamily="2" charset="-122"/>
              </a:rPr>
              <a:t>，否则</a:t>
            </a:r>
            <a:r>
              <a:rPr lang="en-US" altLang="zh-CN" sz="2400" dirty="0">
                <a:latin typeface="宋体" panose="02010600030101010101" pitchFamily="2" charset="-122"/>
                <a:ea typeface="宋体" panose="02010600030101010101" pitchFamily="2" charset="-122"/>
              </a:rPr>
              <a:t>OF=0</a:t>
            </a:r>
            <a:r>
              <a:rPr lang="zh-CN" altLang="en-US" sz="2400" dirty="0">
                <a:latin typeface="宋体" panose="02010600030101010101" pitchFamily="2" charset="-122"/>
                <a:ea typeface="宋体" panose="02010600030101010101" pitchFamily="2" charset="-122"/>
              </a:rPr>
              <a:t>。若移位次数不为</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，则</a:t>
            </a:r>
            <a:r>
              <a:rPr lang="en-US" altLang="zh-CN" sz="2400" dirty="0">
                <a:latin typeface="宋体" panose="02010600030101010101" pitchFamily="2" charset="-122"/>
                <a:ea typeface="宋体" panose="02010600030101010101" pitchFamily="2" charset="-122"/>
              </a:rPr>
              <a:t>OF</a:t>
            </a:r>
            <a:r>
              <a:rPr lang="zh-CN" altLang="en-US" sz="2400" dirty="0">
                <a:latin typeface="宋体" panose="02010600030101010101" pitchFamily="2" charset="-122"/>
                <a:ea typeface="宋体" panose="02010600030101010101" pitchFamily="2" charset="-122"/>
              </a:rPr>
              <a:t>状态不定。</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4691">
                                            <p:txEl>
                                              <p:charRg st="0" end="4"/>
                                            </p:txEl>
                                          </p:spTgt>
                                        </p:tgtEl>
                                        <p:attrNameLst>
                                          <p:attrName>style.visibility</p:attrName>
                                        </p:attrNameLst>
                                      </p:cBhvr>
                                      <p:to>
                                        <p:strVal val="visible"/>
                                      </p:to>
                                    </p:set>
                                    <p:animEffect transition="in" filter="wipe(left)">
                                      <p:cBhvr>
                                        <p:cTn id="7" dur="500"/>
                                        <p:tgtEl>
                                          <p:spTgt spid="114691">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4691">
                                            <p:txEl>
                                              <p:charRg st="4" end="18"/>
                                            </p:txEl>
                                          </p:spTgt>
                                        </p:tgtEl>
                                        <p:attrNameLst>
                                          <p:attrName>style.visibility</p:attrName>
                                        </p:attrNameLst>
                                      </p:cBhvr>
                                      <p:to>
                                        <p:strVal val="visible"/>
                                      </p:to>
                                    </p:set>
                                    <p:animEffect transition="in" filter="wipe(left)">
                                      <p:cBhvr>
                                        <p:cTn id="11" dur="500"/>
                                        <p:tgtEl>
                                          <p:spTgt spid="114691">
                                            <p:txEl>
                                              <p:charRg st="4" end="18"/>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4691">
                                            <p:txEl>
                                              <p:charRg st="18" end="33"/>
                                            </p:txEl>
                                          </p:spTgt>
                                        </p:tgtEl>
                                        <p:attrNameLst>
                                          <p:attrName>style.visibility</p:attrName>
                                        </p:attrNameLst>
                                      </p:cBhvr>
                                      <p:to>
                                        <p:strVal val="visible"/>
                                      </p:to>
                                    </p:set>
                                    <p:animEffect transition="in" filter="wipe(left)">
                                      <p:cBhvr>
                                        <p:cTn id="15" dur="500"/>
                                        <p:tgtEl>
                                          <p:spTgt spid="114691">
                                            <p:txEl>
                                              <p:charRg st="18" end="3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12" fill="hold" grpId="0" nodeType="clickEffect">
                                  <p:stCondLst>
                                    <p:cond delay="0"/>
                                  </p:stCondLst>
                                  <p:childTnLst>
                                    <p:set>
                                      <p:cBhvr>
                                        <p:cTn id="19" dur="1" fill="hold">
                                          <p:stCondLst>
                                            <p:cond delay="0"/>
                                          </p:stCondLst>
                                        </p:cTn>
                                        <p:tgtEl>
                                          <p:spTgt spid="114698"/>
                                        </p:tgtEl>
                                        <p:attrNameLst>
                                          <p:attrName>style.visibility</p:attrName>
                                        </p:attrNameLst>
                                      </p:cBhvr>
                                      <p:to>
                                        <p:strVal val="visible"/>
                                      </p:to>
                                    </p:set>
                                    <p:animEffect transition="in" filter="strips(downLeft)">
                                      <p:cBhvr>
                                        <p:cTn id="20" dur="500"/>
                                        <p:tgtEl>
                                          <p:spTgt spid="114698"/>
                                        </p:tgtEl>
                                      </p:cBhvr>
                                    </p:animEffect>
                                  </p:childTnLst>
                                </p:cTn>
                              </p:par>
                            </p:childTnLst>
                          </p:cTn>
                        </p:par>
                        <p:par>
                          <p:cTn id="21" fill="hold">
                            <p:stCondLst>
                              <p:cond delay="500"/>
                            </p:stCondLst>
                            <p:childTnLst>
                              <p:par>
                                <p:cTn id="22" presetID="2" presetClass="entr" presetSubtype="2" fill="hold" grpId="0" nodeType="afterEffect">
                                  <p:stCondLst>
                                    <p:cond delay="0"/>
                                  </p:stCondLst>
                                  <p:childTnLst>
                                    <p:set>
                                      <p:cBhvr>
                                        <p:cTn id="23" dur="1" fill="hold">
                                          <p:stCondLst>
                                            <p:cond delay="0"/>
                                          </p:stCondLst>
                                        </p:cTn>
                                        <p:tgtEl>
                                          <p:spTgt spid="114699"/>
                                        </p:tgtEl>
                                        <p:attrNameLst>
                                          <p:attrName>style.visibility</p:attrName>
                                        </p:attrNameLst>
                                      </p:cBhvr>
                                      <p:to>
                                        <p:strVal val="visible"/>
                                      </p:to>
                                    </p:set>
                                    <p:anim calcmode="lin" valueType="num">
                                      <p:cBhvr>
                                        <p:cTn id="24" dur="500" fill="hold"/>
                                        <p:tgtEl>
                                          <p:spTgt spid="114699"/>
                                        </p:tgtEl>
                                        <p:attrNameLst>
                                          <p:attrName>ppt_x</p:attrName>
                                        </p:attrNameLst>
                                      </p:cBhvr>
                                      <p:tavLst>
                                        <p:tav tm="0">
                                          <p:val>
                                            <p:strVal val="1+#ppt_w/2"/>
                                          </p:val>
                                        </p:tav>
                                        <p:tav tm="100000">
                                          <p:val>
                                            <p:strVal val="#ppt_x"/>
                                          </p:val>
                                        </p:tav>
                                      </p:tavLst>
                                    </p:anim>
                                    <p:anim calcmode="lin" valueType="num">
                                      <p:cBhvr>
                                        <p:cTn id="25" dur="500" fill="hold"/>
                                        <p:tgtEl>
                                          <p:spTgt spid="114699"/>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14692"/>
                                        </p:tgtEl>
                                        <p:attrNameLst>
                                          <p:attrName>style.visibility</p:attrName>
                                        </p:attrNameLst>
                                      </p:cBhvr>
                                      <p:to>
                                        <p:strVal val="visible"/>
                                      </p:to>
                                    </p:set>
                                    <p:animEffect transition="in" filter="wipe(left)">
                                      <p:cBhvr>
                                        <p:cTn id="30" dur="500"/>
                                        <p:tgtEl>
                                          <p:spTgt spid="114692"/>
                                        </p:tgtEl>
                                      </p:cBhvr>
                                    </p:animEffect>
                                  </p:childTnLst>
                                </p:cTn>
                              </p:par>
                              <p:par>
                                <p:cTn id="31" presetID="22" presetClass="entr" presetSubtype="8" fill="hold" nodeType="withEffect">
                                  <p:stCondLst>
                                    <p:cond delay="0"/>
                                  </p:stCondLst>
                                  <p:childTnLst>
                                    <p:set>
                                      <p:cBhvr>
                                        <p:cTn id="32" dur="1" fill="hold">
                                          <p:stCondLst>
                                            <p:cond delay="0"/>
                                          </p:stCondLst>
                                        </p:cTn>
                                        <p:tgtEl>
                                          <p:spTgt spid="114693"/>
                                        </p:tgtEl>
                                        <p:attrNameLst>
                                          <p:attrName>style.visibility</p:attrName>
                                        </p:attrNameLst>
                                      </p:cBhvr>
                                      <p:to>
                                        <p:strVal val="visible"/>
                                      </p:to>
                                    </p:set>
                                    <p:animEffect transition="in" filter="wipe(left)">
                                      <p:cBhvr>
                                        <p:cTn id="33" dur="500"/>
                                        <p:tgtEl>
                                          <p:spTgt spid="11469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14694"/>
                                        </p:tgtEl>
                                        <p:attrNameLst>
                                          <p:attrName>style.visibility</p:attrName>
                                        </p:attrNameLst>
                                      </p:cBhvr>
                                      <p:to>
                                        <p:strVal val="visible"/>
                                      </p:to>
                                    </p:set>
                                    <p:animEffect transition="in" filter="wipe(left)">
                                      <p:cBhvr>
                                        <p:cTn id="38" dur="500"/>
                                        <p:tgtEl>
                                          <p:spTgt spid="114694"/>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114697"/>
                                        </p:tgtEl>
                                        <p:attrNameLst>
                                          <p:attrName>style.visibility</p:attrName>
                                        </p:attrNameLst>
                                      </p:cBhvr>
                                      <p:to>
                                        <p:strVal val="visible"/>
                                      </p:to>
                                    </p:set>
                                    <p:animEffect transition="in" filter="wipe(left)">
                                      <p:cBhvr>
                                        <p:cTn id="42" dur="500"/>
                                        <p:tgtEl>
                                          <p:spTgt spid="11469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14696"/>
                                        </p:tgtEl>
                                        <p:attrNameLst>
                                          <p:attrName>style.visibility</p:attrName>
                                        </p:attrNameLst>
                                      </p:cBhvr>
                                      <p:to>
                                        <p:strVal val="visible"/>
                                      </p:to>
                                    </p:set>
                                    <p:animEffect transition="in" filter="wipe(left)">
                                      <p:cBhvr>
                                        <p:cTn id="47" dur="500"/>
                                        <p:tgtEl>
                                          <p:spTgt spid="114696"/>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114695"/>
                                        </p:tgtEl>
                                        <p:attrNameLst>
                                          <p:attrName>style.visibility</p:attrName>
                                        </p:attrNameLst>
                                      </p:cBhvr>
                                      <p:to>
                                        <p:strVal val="visible"/>
                                      </p:to>
                                    </p:set>
                                    <p:animEffect transition="in" filter="wipe(left)">
                                      <p:cBhvr>
                                        <p:cTn id="51" dur="500"/>
                                        <p:tgtEl>
                                          <p:spTgt spid="114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2" grpId="0" animBg="1"/>
      <p:bldP spid="114696" grpId="0"/>
      <p:bldP spid="114697" grpId="0" animBg="1"/>
      <p:bldP spid="114698" grpId="0" animBg="1"/>
      <p:bldP spid="114699"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灯片编号占位符 5"/>
          <p:cNvSpPr txBox="1">
            <a:spLocks noGrp="1"/>
          </p:cNvSpPr>
          <p:nvPr/>
        </p:nvSpPr>
        <p:spPr>
          <a:xfrm>
            <a:off x="7042150" y="6243638"/>
            <a:ext cx="1905000" cy="457200"/>
          </a:xfrm>
          <a:prstGeom prst="rect">
            <a:avLst/>
          </a:prstGeom>
          <a:noFill/>
          <a:ln w="9525">
            <a:noFill/>
          </a:ln>
        </p:spPr>
        <p:txBody>
          <a:bodyPr/>
          <a:p>
            <a:pPr algn="ctr"/>
            <a:fld id="{9A0DB2DC-4C9A-4742-B13C-FB6460FD3503}" type="slidenum">
              <a:rPr lang="zh-CN" altLang="en-US" sz="1400" dirty="0">
                <a:latin typeface="Tahoma" panose="020B0604030504040204" pitchFamily="34" charset="0"/>
                <a:ea typeface="宋体" panose="02010600030101010101" pitchFamily="2" charset="-122"/>
              </a:rPr>
            </a:fld>
            <a:endParaRPr lang="zh-CN" altLang="en-US" sz="1400" dirty="0">
              <a:latin typeface="Tahoma" panose="020B0604030504040204" pitchFamily="34" charset="0"/>
              <a:ea typeface="宋体" panose="02010600030101010101" pitchFamily="2" charset="-122"/>
            </a:endParaRPr>
          </a:p>
        </p:txBody>
      </p:sp>
      <p:sp>
        <p:nvSpPr>
          <p:cNvPr id="114691" name="Rectangle 2"/>
          <p:cNvSpPr>
            <a:spLocks noGrp="1"/>
          </p:cNvSpPr>
          <p:nvPr>
            <p:ph type="title" idx="4294967295"/>
          </p:nvPr>
        </p:nvSpPr>
        <p:spPr>
          <a:xfrm>
            <a:off x="692150" y="977900"/>
            <a:ext cx="6553200" cy="563563"/>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00033"/>
                </a:solidFill>
                <a:ea typeface="宋体" panose="02010600030101010101" pitchFamily="2" charset="-122"/>
              </a:rPr>
              <a:t>例</a:t>
            </a:r>
            <a:r>
              <a:rPr lang="en-US" altLang="zh-CN" dirty="0">
                <a:solidFill>
                  <a:srgbClr val="000033"/>
                </a:solidFill>
                <a:ea typeface="宋体" panose="02010600030101010101" pitchFamily="2" charset="-122"/>
              </a:rPr>
              <a:t>1</a:t>
            </a:r>
            <a:r>
              <a:rPr lang="zh-CN" altLang="en-US" dirty="0">
                <a:ea typeface="宋体" panose="02010600030101010101" pitchFamily="2" charset="-122"/>
              </a:rPr>
              <a:t>：</a:t>
            </a:r>
            <a:endParaRPr lang="en-US" altLang="zh-CN" dirty="0">
              <a:ea typeface="宋体" panose="02010600030101010101" pitchFamily="2" charset="-122"/>
            </a:endParaRPr>
          </a:p>
        </p:txBody>
      </p:sp>
      <p:sp>
        <p:nvSpPr>
          <p:cNvPr id="116740" name="Rectangle 3"/>
          <p:cNvSpPr>
            <a:spLocks noGrp="1"/>
          </p:cNvSpPr>
          <p:nvPr>
            <p:ph type="body" idx="4294967295"/>
          </p:nvPr>
        </p:nvSpPr>
        <p:spPr>
          <a:xfrm>
            <a:off x="1204913" y="1741488"/>
            <a:ext cx="2371725" cy="1635125"/>
          </a:xfrm>
        </p:spPr>
        <p:txBody>
          <a:bodyPr vert="horz" wrap="square" lIns="91440" tIns="45720" rIns="91440" bIns="45720" anchor="t" anchorCtr="0"/>
          <a:p>
            <a:pPr marL="0" indent="0" eaLnBrk="1" hangingPunct="1">
              <a:buNone/>
            </a:pPr>
            <a:r>
              <a:rPr lang="en-US" altLang="zh-CN" dirty="0">
                <a:latin typeface="宋体" panose="02010600030101010101" pitchFamily="2" charset="-122"/>
                <a:ea typeface="宋体" panose="02010600030101010101" pitchFamily="2" charset="-122"/>
              </a:rPr>
              <a:t>MOV AL</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68H</a:t>
            </a:r>
            <a:endParaRPr lang="en-US" altLang="zh-CN" dirty="0">
              <a:latin typeface="宋体" panose="02010600030101010101" pitchFamily="2" charset="-122"/>
              <a:ea typeface="宋体" panose="02010600030101010101" pitchFamily="2" charset="-122"/>
            </a:endParaRPr>
          </a:p>
          <a:p>
            <a:pPr marL="0" indent="0" eaLnBrk="1" hangingPunct="1">
              <a:buNone/>
            </a:pPr>
            <a:r>
              <a:rPr lang="en-US" altLang="zh-CN" dirty="0">
                <a:latin typeface="宋体" panose="02010600030101010101" pitchFamily="2" charset="-122"/>
                <a:ea typeface="宋体" panose="02010600030101010101" pitchFamily="2" charset="-122"/>
              </a:rPr>
              <a:t>MOV CL</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endParaRPr lang="en-US" altLang="zh-CN" dirty="0">
              <a:latin typeface="宋体" panose="02010600030101010101" pitchFamily="2" charset="-122"/>
              <a:ea typeface="宋体" panose="02010600030101010101" pitchFamily="2" charset="-122"/>
            </a:endParaRPr>
          </a:p>
          <a:p>
            <a:pPr marL="0" indent="0" eaLnBrk="1" hangingPunct="1">
              <a:buNone/>
            </a:pPr>
            <a:r>
              <a:rPr lang="en-US" altLang="zh-CN" dirty="0">
                <a:latin typeface="宋体" panose="02010600030101010101" pitchFamily="2" charset="-122"/>
                <a:ea typeface="宋体" panose="02010600030101010101" pitchFamily="2" charset="-122"/>
              </a:rPr>
              <a:t>SHR AL</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CL</a:t>
            </a:r>
            <a:endParaRPr lang="en-US" altLang="zh-CN" dirty="0">
              <a:latin typeface="宋体" panose="02010600030101010101" pitchFamily="2" charset="-122"/>
              <a:ea typeface="宋体" panose="02010600030101010101" pitchFamily="2" charset="-122"/>
            </a:endParaRPr>
          </a:p>
        </p:txBody>
      </p:sp>
      <p:sp>
        <p:nvSpPr>
          <p:cNvPr id="116741" name="Rectangle 4"/>
          <p:cNvSpPr/>
          <p:nvPr/>
        </p:nvSpPr>
        <p:spPr>
          <a:xfrm>
            <a:off x="3536950" y="3832225"/>
            <a:ext cx="3079750"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16742" name="Line 6"/>
          <p:cNvSpPr/>
          <p:nvPr/>
        </p:nvSpPr>
        <p:spPr>
          <a:xfrm>
            <a:off x="6630988" y="4092575"/>
            <a:ext cx="914400" cy="0"/>
          </a:xfrm>
          <a:prstGeom prst="line">
            <a:avLst/>
          </a:prstGeom>
          <a:ln w="25400" cap="sq" cmpd="sng">
            <a:solidFill>
              <a:schemeClr val="tx1"/>
            </a:solidFill>
            <a:prstDash val="solid"/>
            <a:headEnd type="none" w="med" len="med"/>
            <a:tailEnd type="triangle" w="lg" len="lg"/>
          </a:ln>
        </p:spPr>
      </p:sp>
      <p:sp>
        <p:nvSpPr>
          <p:cNvPr id="116743" name="Line 7"/>
          <p:cNvSpPr/>
          <p:nvPr/>
        </p:nvSpPr>
        <p:spPr>
          <a:xfrm>
            <a:off x="2557463" y="4076700"/>
            <a:ext cx="914400" cy="0"/>
          </a:xfrm>
          <a:prstGeom prst="line">
            <a:avLst/>
          </a:prstGeom>
          <a:ln w="25400" cap="sq" cmpd="sng">
            <a:solidFill>
              <a:schemeClr val="tx1"/>
            </a:solidFill>
            <a:prstDash val="solid"/>
            <a:headEnd type="none" w="med" len="med"/>
            <a:tailEnd type="triangle" w="lg" len="lg"/>
          </a:ln>
        </p:spPr>
      </p:sp>
      <p:sp>
        <p:nvSpPr>
          <p:cNvPr id="116744" name="Text Box 8"/>
          <p:cNvSpPr txBox="1"/>
          <p:nvPr/>
        </p:nvSpPr>
        <p:spPr>
          <a:xfrm>
            <a:off x="2168525" y="3835400"/>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0</a:t>
            </a:r>
            <a:endParaRPr lang="en-US" altLang="zh-CN" sz="2400" b="1" dirty="0">
              <a:latin typeface="Times New Roman" panose="02020603050405020304" pitchFamily="18" charset="0"/>
              <a:ea typeface="宋体" panose="02010600030101010101" pitchFamily="2" charset="-122"/>
            </a:endParaRPr>
          </a:p>
        </p:txBody>
      </p:sp>
      <p:sp>
        <p:nvSpPr>
          <p:cNvPr id="116745" name="Text Box 9"/>
          <p:cNvSpPr txBox="1"/>
          <p:nvPr/>
        </p:nvSpPr>
        <p:spPr>
          <a:xfrm>
            <a:off x="7607300" y="3392488"/>
            <a:ext cx="685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CF</a:t>
            </a:r>
            <a:endParaRPr lang="en-US" altLang="zh-CN" sz="2000" b="1" dirty="0">
              <a:latin typeface="Times New Roman" panose="02020603050405020304" pitchFamily="18" charset="0"/>
              <a:ea typeface="宋体" panose="02010600030101010101" pitchFamily="2" charset="-122"/>
            </a:endParaRPr>
          </a:p>
        </p:txBody>
      </p:sp>
      <p:sp>
        <p:nvSpPr>
          <p:cNvPr id="116746" name="Text Box 10"/>
          <p:cNvSpPr txBox="1"/>
          <p:nvPr/>
        </p:nvSpPr>
        <p:spPr>
          <a:xfrm>
            <a:off x="3968750" y="3860800"/>
            <a:ext cx="1971675" cy="461963"/>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0 1 1 0 1 0 0 0 </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16747" name="Rectangle 11"/>
          <p:cNvSpPr/>
          <p:nvPr/>
        </p:nvSpPr>
        <p:spPr>
          <a:xfrm>
            <a:off x="7612063" y="3803650"/>
            <a:ext cx="703262"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16748" name="Text Box 12"/>
          <p:cNvSpPr txBox="1"/>
          <p:nvPr/>
        </p:nvSpPr>
        <p:spPr>
          <a:xfrm>
            <a:off x="4832350" y="3392488"/>
            <a:ext cx="685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AL</a:t>
            </a:r>
            <a:endParaRPr lang="en-US" altLang="zh-CN" sz="2000" b="1" dirty="0">
              <a:latin typeface="Times New Roman" panose="02020603050405020304" pitchFamily="18" charset="0"/>
              <a:ea typeface="宋体" panose="02010600030101010101" pitchFamily="2" charset="-122"/>
            </a:endParaRPr>
          </a:p>
        </p:txBody>
      </p:sp>
      <p:sp>
        <p:nvSpPr>
          <p:cNvPr id="116749" name="Text Box 15"/>
          <p:cNvSpPr txBox="1"/>
          <p:nvPr/>
        </p:nvSpPr>
        <p:spPr>
          <a:xfrm>
            <a:off x="7770813" y="3860800"/>
            <a:ext cx="431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0 </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16750" name="Rectangle 18"/>
          <p:cNvSpPr/>
          <p:nvPr/>
        </p:nvSpPr>
        <p:spPr>
          <a:xfrm>
            <a:off x="3536950" y="4984750"/>
            <a:ext cx="3079750"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16751" name="Text Box 19"/>
          <p:cNvSpPr txBox="1"/>
          <p:nvPr/>
        </p:nvSpPr>
        <p:spPr>
          <a:xfrm>
            <a:off x="3968750" y="5013325"/>
            <a:ext cx="2303463"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0 0 1 1 0 1 0 0</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16752" name="Text Box 20"/>
          <p:cNvSpPr txBox="1"/>
          <p:nvPr/>
        </p:nvSpPr>
        <p:spPr>
          <a:xfrm>
            <a:off x="4832350" y="4581525"/>
            <a:ext cx="685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AL</a:t>
            </a:r>
            <a:endParaRPr lang="en-US" altLang="zh-CN" sz="2000" b="1" dirty="0">
              <a:latin typeface="Times New Roman" panose="02020603050405020304" pitchFamily="18" charset="0"/>
              <a:ea typeface="宋体" panose="02010600030101010101" pitchFamily="2" charset="-122"/>
            </a:endParaRPr>
          </a:p>
        </p:txBody>
      </p:sp>
      <p:sp>
        <p:nvSpPr>
          <p:cNvPr id="116753" name="Line 23"/>
          <p:cNvSpPr/>
          <p:nvPr/>
        </p:nvSpPr>
        <p:spPr>
          <a:xfrm>
            <a:off x="6632575" y="5229225"/>
            <a:ext cx="914400" cy="0"/>
          </a:xfrm>
          <a:prstGeom prst="line">
            <a:avLst/>
          </a:prstGeom>
          <a:ln w="25400" cap="sq" cmpd="sng">
            <a:solidFill>
              <a:schemeClr val="tx1"/>
            </a:solidFill>
            <a:prstDash val="solid"/>
            <a:headEnd type="none" w="med" len="med"/>
            <a:tailEnd type="triangle" w="lg" len="lg"/>
          </a:ln>
        </p:spPr>
      </p:sp>
      <p:sp>
        <p:nvSpPr>
          <p:cNvPr id="116754" name="Text Box 24"/>
          <p:cNvSpPr txBox="1"/>
          <p:nvPr/>
        </p:nvSpPr>
        <p:spPr>
          <a:xfrm>
            <a:off x="7608888" y="4529138"/>
            <a:ext cx="685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CF</a:t>
            </a:r>
            <a:endParaRPr lang="en-US" altLang="zh-CN" sz="2000" b="1" dirty="0">
              <a:latin typeface="Times New Roman" panose="02020603050405020304" pitchFamily="18" charset="0"/>
              <a:ea typeface="宋体" panose="02010600030101010101" pitchFamily="2" charset="-122"/>
            </a:endParaRPr>
          </a:p>
        </p:txBody>
      </p:sp>
      <p:sp>
        <p:nvSpPr>
          <p:cNvPr id="116755" name="Rectangle 25"/>
          <p:cNvSpPr/>
          <p:nvPr/>
        </p:nvSpPr>
        <p:spPr>
          <a:xfrm>
            <a:off x="7613650" y="4940300"/>
            <a:ext cx="703263"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16756" name="Text Box 26"/>
          <p:cNvSpPr txBox="1"/>
          <p:nvPr/>
        </p:nvSpPr>
        <p:spPr>
          <a:xfrm>
            <a:off x="7772400" y="4997450"/>
            <a:ext cx="431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0 </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16757" name="Line 27"/>
          <p:cNvSpPr/>
          <p:nvPr/>
        </p:nvSpPr>
        <p:spPr>
          <a:xfrm>
            <a:off x="2557463" y="5229225"/>
            <a:ext cx="914400" cy="0"/>
          </a:xfrm>
          <a:prstGeom prst="line">
            <a:avLst/>
          </a:prstGeom>
          <a:ln w="25400" cap="sq" cmpd="sng">
            <a:solidFill>
              <a:schemeClr val="tx1"/>
            </a:solidFill>
            <a:prstDash val="solid"/>
            <a:headEnd type="none" w="med" len="med"/>
            <a:tailEnd type="triangle" w="lg" len="lg"/>
          </a:ln>
        </p:spPr>
      </p:sp>
      <p:sp>
        <p:nvSpPr>
          <p:cNvPr id="116758" name="Text Box 28"/>
          <p:cNvSpPr txBox="1"/>
          <p:nvPr/>
        </p:nvSpPr>
        <p:spPr>
          <a:xfrm>
            <a:off x="2168525" y="4995863"/>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0</a:t>
            </a:r>
            <a:endParaRPr lang="en-US" altLang="zh-CN" sz="2400" b="1" dirty="0">
              <a:latin typeface="Times New Roman" panose="02020603050405020304" pitchFamily="18" charset="0"/>
              <a:ea typeface="宋体" panose="02010600030101010101" pitchFamily="2" charset="-122"/>
            </a:endParaRPr>
          </a:p>
        </p:txBody>
      </p:sp>
      <p:sp>
        <p:nvSpPr>
          <p:cNvPr id="116759" name="Rectangle 29"/>
          <p:cNvSpPr/>
          <p:nvPr/>
        </p:nvSpPr>
        <p:spPr>
          <a:xfrm>
            <a:off x="3492500" y="5991225"/>
            <a:ext cx="3079750"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16760" name="Text Box 30"/>
          <p:cNvSpPr txBox="1"/>
          <p:nvPr/>
        </p:nvSpPr>
        <p:spPr>
          <a:xfrm>
            <a:off x="3995738" y="6019800"/>
            <a:ext cx="2376487"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0 0 0 1 1 0 1 0 </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16761" name="Text Box 31"/>
          <p:cNvSpPr txBox="1"/>
          <p:nvPr/>
        </p:nvSpPr>
        <p:spPr>
          <a:xfrm>
            <a:off x="4787900" y="5588000"/>
            <a:ext cx="685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AL</a:t>
            </a:r>
            <a:endParaRPr lang="en-US" altLang="zh-CN" sz="2000" b="1" dirty="0">
              <a:latin typeface="Times New Roman" panose="02020603050405020304" pitchFamily="18" charset="0"/>
              <a:ea typeface="宋体" panose="02010600030101010101" pitchFamily="2" charset="-122"/>
            </a:endParaRPr>
          </a:p>
        </p:txBody>
      </p:sp>
      <p:sp>
        <p:nvSpPr>
          <p:cNvPr id="116762" name="Line 32"/>
          <p:cNvSpPr/>
          <p:nvPr/>
        </p:nvSpPr>
        <p:spPr>
          <a:xfrm>
            <a:off x="6588125" y="6235700"/>
            <a:ext cx="914400" cy="0"/>
          </a:xfrm>
          <a:prstGeom prst="line">
            <a:avLst/>
          </a:prstGeom>
          <a:ln w="25400" cap="sq" cmpd="sng">
            <a:solidFill>
              <a:schemeClr val="tx1"/>
            </a:solidFill>
            <a:prstDash val="solid"/>
            <a:headEnd type="none" w="med" len="med"/>
            <a:tailEnd type="triangle" w="lg" len="lg"/>
          </a:ln>
        </p:spPr>
      </p:sp>
      <p:sp>
        <p:nvSpPr>
          <p:cNvPr id="116763" name="Text Box 33"/>
          <p:cNvSpPr txBox="1"/>
          <p:nvPr/>
        </p:nvSpPr>
        <p:spPr>
          <a:xfrm>
            <a:off x="7564438" y="5535613"/>
            <a:ext cx="685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CF</a:t>
            </a:r>
            <a:endParaRPr lang="en-US" altLang="zh-CN" sz="2000" b="1" dirty="0">
              <a:latin typeface="Times New Roman" panose="02020603050405020304" pitchFamily="18" charset="0"/>
              <a:ea typeface="宋体" panose="02010600030101010101" pitchFamily="2" charset="-122"/>
            </a:endParaRPr>
          </a:p>
        </p:txBody>
      </p:sp>
      <p:sp>
        <p:nvSpPr>
          <p:cNvPr id="116764" name="Rectangle 34"/>
          <p:cNvSpPr/>
          <p:nvPr/>
        </p:nvSpPr>
        <p:spPr>
          <a:xfrm>
            <a:off x="7569200" y="5946775"/>
            <a:ext cx="703263"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16765" name="Text Box 35"/>
          <p:cNvSpPr txBox="1"/>
          <p:nvPr/>
        </p:nvSpPr>
        <p:spPr>
          <a:xfrm>
            <a:off x="7727950" y="6003925"/>
            <a:ext cx="431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0 </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16766" name="Line 36"/>
          <p:cNvSpPr/>
          <p:nvPr/>
        </p:nvSpPr>
        <p:spPr>
          <a:xfrm>
            <a:off x="2513013" y="6235700"/>
            <a:ext cx="914400" cy="0"/>
          </a:xfrm>
          <a:prstGeom prst="line">
            <a:avLst/>
          </a:prstGeom>
          <a:ln w="25400" cap="sq" cmpd="sng">
            <a:solidFill>
              <a:schemeClr val="tx1"/>
            </a:solidFill>
            <a:prstDash val="solid"/>
            <a:headEnd type="none" w="med" len="med"/>
            <a:tailEnd type="triangle" w="lg" len="lg"/>
          </a:ln>
        </p:spPr>
      </p:sp>
      <p:sp>
        <p:nvSpPr>
          <p:cNvPr id="116767" name="Text Box 37"/>
          <p:cNvSpPr txBox="1"/>
          <p:nvPr/>
        </p:nvSpPr>
        <p:spPr>
          <a:xfrm>
            <a:off x="2124075" y="6002338"/>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0</a:t>
            </a:r>
            <a:endParaRPr lang="en-US" altLang="zh-CN" sz="2400" b="1" dirty="0">
              <a:latin typeface="Times New Roman" panose="02020603050405020304" pitchFamily="18" charset="0"/>
              <a:ea typeface="宋体" panose="02010600030101010101" pitchFamily="2" charset="-122"/>
            </a:endParaRPr>
          </a:p>
        </p:txBody>
      </p:sp>
      <p:sp>
        <p:nvSpPr>
          <p:cNvPr id="116768" name="Text Box 38"/>
          <p:cNvSpPr txBox="1"/>
          <p:nvPr/>
        </p:nvSpPr>
        <p:spPr>
          <a:xfrm>
            <a:off x="466725" y="5013325"/>
            <a:ext cx="1296988"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移动</a:t>
            </a:r>
            <a:r>
              <a:rPr lang="en-US" altLang="zh-CN" sz="2000" b="1" dirty="0">
                <a:latin typeface="Times New Roman" panose="02020603050405020304" pitchFamily="18" charset="0"/>
                <a:ea typeface="宋体" panose="02010600030101010101" pitchFamily="2" charset="-122"/>
              </a:rPr>
              <a:t>1</a:t>
            </a:r>
            <a:r>
              <a:rPr lang="zh-CN" altLang="en-US" sz="2000" b="1" dirty="0">
                <a:latin typeface="Times New Roman" panose="02020603050405020304" pitchFamily="18" charset="0"/>
                <a:ea typeface="宋体" panose="02010600030101010101" pitchFamily="2" charset="-122"/>
              </a:rPr>
              <a:t>次</a:t>
            </a:r>
            <a:endParaRPr lang="zh-CN" altLang="en-US" sz="2000" b="1" dirty="0">
              <a:latin typeface="Times New Roman" panose="02020603050405020304" pitchFamily="18" charset="0"/>
              <a:ea typeface="宋体" panose="02010600030101010101" pitchFamily="2" charset="-122"/>
            </a:endParaRPr>
          </a:p>
        </p:txBody>
      </p:sp>
      <p:sp>
        <p:nvSpPr>
          <p:cNvPr id="116769" name="Text Box 39"/>
          <p:cNvSpPr txBox="1"/>
          <p:nvPr/>
        </p:nvSpPr>
        <p:spPr>
          <a:xfrm>
            <a:off x="395288" y="6021388"/>
            <a:ext cx="1296987"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移动</a:t>
            </a:r>
            <a:r>
              <a:rPr lang="en-US" altLang="zh-CN" sz="2000" b="1" dirty="0">
                <a:latin typeface="Times New Roman" panose="02020603050405020304" pitchFamily="18" charset="0"/>
                <a:ea typeface="宋体" panose="02010600030101010101" pitchFamily="2" charset="-122"/>
              </a:rPr>
              <a:t>2</a:t>
            </a:r>
            <a:r>
              <a:rPr lang="zh-CN" altLang="en-US" sz="2000" b="1" dirty="0">
                <a:latin typeface="Times New Roman" panose="02020603050405020304" pitchFamily="18" charset="0"/>
                <a:ea typeface="宋体" panose="02010600030101010101" pitchFamily="2" charset="-122"/>
              </a:rPr>
              <a:t>次</a:t>
            </a:r>
            <a:endParaRPr lang="zh-CN" altLang="en-US" sz="2000" b="1" dirty="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6740">
                                            <p:txEl>
                                              <p:charRg st="0" end="11"/>
                                            </p:txEl>
                                          </p:spTgt>
                                        </p:tgtEl>
                                        <p:attrNameLst>
                                          <p:attrName>style.visibility</p:attrName>
                                        </p:attrNameLst>
                                      </p:cBhvr>
                                      <p:to>
                                        <p:strVal val="visible"/>
                                      </p:to>
                                    </p:set>
                                    <p:animEffect transition="in" filter="wipe(left)">
                                      <p:cBhvr>
                                        <p:cTn id="7" dur="500"/>
                                        <p:tgtEl>
                                          <p:spTgt spid="116740">
                                            <p:txEl>
                                              <p:charRg st="0" end="1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16740">
                                            <p:txEl>
                                              <p:charRg st="11" end="20"/>
                                            </p:txEl>
                                          </p:spTgt>
                                        </p:tgtEl>
                                        <p:attrNameLst>
                                          <p:attrName>style.visibility</p:attrName>
                                        </p:attrNameLst>
                                      </p:cBhvr>
                                      <p:to>
                                        <p:strVal val="visible"/>
                                      </p:to>
                                    </p:set>
                                    <p:animEffect transition="in" filter="wipe(left)">
                                      <p:cBhvr>
                                        <p:cTn id="10" dur="500"/>
                                        <p:tgtEl>
                                          <p:spTgt spid="116740">
                                            <p:txEl>
                                              <p:charRg st="11" end="20"/>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116740">
                                            <p:txEl>
                                              <p:charRg st="20" end="30"/>
                                            </p:txEl>
                                          </p:spTgt>
                                        </p:tgtEl>
                                        <p:attrNameLst>
                                          <p:attrName>style.visibility</p:attrName>
                                        </p:attrNameLst>
                                      </p:cBhvr>
                                      <p:to>
                                        <p:strVal val="visible"/>
                                      </p:to>
                                    </p:set>
                                    <p:animEffect transition="in" filter="wipe(left)">
                                      <p:cBhvr>
                                        <p:cTn id="13" dur="500"/>
                                        <p:tgtEl>
                                          <p:spTgt spid="116740">
                                            <p:txEl>
                                              <p:charRg st="20" end="3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16741"/>
                                        </p:tgtEl>
                                        <p:attrNameLst>
                                          <p:attrName>style.visibility</p:attrName>
                                        </p:attrNameLst>
                                      </p:cBhvr>
                                      <p:to>
                                        <p:strVal val="visible"/>
                                      </p:to>
                                    </p:set>
                                    <p:anim calcmode="lin" valueType="num">
                                      <p:cBhvr>
                                        <p:cTn id="18" dur="500" fill="hold"/>
                                        <p:tgtEl>
                                          <p:spTgt spid="116741"/>
                                        </p:tgtEl>
                                        <p:attrNameLst>
                                          <p:attrName>ppt_x</p:attrName>
                                        </p:attrNameLst>
                                      </p:cBhvr>
                                      <p:tavLst>
                                        <p:tav tm="0">
                                          <p:val>
                                            <p:strVal val="#ppt_x"/>
                                          </p:val>
                                        </p:tav>
                                        <p:tav tm="100000">
                                          <p:val>
                                            <p:strVal val="#ppt_x"/>
                                          </p:val>
                                        </p:tav>
                                      </p:tavLst>
                                    </p:anim>
                                    <p:anim calcmode="lin" valueType="num">
                                      <p:cBhvr>
                                        <p:cTn id="19" dur="500" fill="hold"/>
                                        <p:tgtEl>
                                          <p:spTgt spid="116741"/>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116746"/>
                                        </p:tgtEl>
                                        <p:attrNameLst>
                                          <p:attrName>style.visibility</p:attrName>
                                        </p:attrNameLst>
                                      </p:cBhvr>
                                      <p:to>
                                        <p:strVal val="visible"/>
                                      </p:to>
                                    </p:set>
                                    <p:anim calcmode="lin" valueType="num">
                                      <p:cBhvr>
                                        <p:cTn id="22" dur="500" fill="hold"/>
                                        <p:tgtEl>
                                          <p:spTgt spid="116746"/>
                                        </p:tgtEl>
                                        <p:attrNameLst>
                                          <p:attrName>ppt_x</p:attrName>
                                        </p:attrNameLst>
                                      </p:cBhvr>
                                      <p:tavLst>
                                        <p:tav tm="0">
                                          <p:val>
                                            <p:strVal val="#ppt_x"/>
                                          </p:val>
                                        </p:tav>
                                        <p:tav tm="100000">
                                          <p:val>
                                            <p:strVal val="#ppt_x"/>
                                          </p:val>
                                        </p:tav>
                                      </p:tavLst>
                                    </p:anim>
                                    <p:anim calcmode="lin" valueType="num">
                                      <p:cBhvr>
                                        <p:cTn id="23" dur="500" fill="hold"/>
                                        <p:tgtEl>
                                          <p:spTgt spid="116746"/>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16748"/>
                                        </p:tgtEl>
                                        <p:attrNameLst>
                                          <p:attrName>style.visibility</p:attrName>
                                        </p:attrNameLst>
                                      </p:cBhvr>
                                      <p:to>
                                        <p:strVal val="visible"/>
                                      </p:to>
                                    </p:set>
                                    <p:anim calcmode="lin" valueType="num">
                                      <p:cBhvr>
                                        <p:cTn id="26" dur="500" fill="hold"/>
                                        <p:tgtEl>
                                          <p:spTgt spid="116748"/>
                                        </p:tgtEl>
                                        <p:attrNameLst>
                                          <p:attrName>ppt_x</p:attrName>
                                        </p:attrNameLst>
                                      </p:cBhvr>
                                      <p:tavLst>
                                        <p:tav tm="0">
                                          <p:val>
                                            <p:strVal val="#ppt_x"/>
                                          </p:val>
                                        </p:tav>
                                        <p:tav tm="100000">
                                          <p:val>
                                            <p:strVal val="#ppt_x"/>
                                          </p:val>
                                        </p:tav>
                                      </p:tavLst>
                                    </p:anim>
                                    <p:anim calcmode="lin" valueType="num">
                                      <p:cBhvr>
                                        <p:cTn id="27" dur="500" fill="hold"/>
                                        <p:tgtEl>
                                          <p:spTgt spid="116748"/>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6742"/>
                                        </p:tgtEl>
                                        <p:attrNameLst>
                                          <p:attrName>style.visibility</p:attrName>
                                        </p:attrNameLst>
                                      </p:cBhvr>
                                      <p:to>
                                        <p:strVal val="visible"/>
                                      </p:to>
                                    </p:set>
                                    <p:animEffect transition="in" filter="wipe(left)">
                                      <p:cBhvr>
                                        <p:cTn id="32" dur="500"/>
                                        <p:tgtEl>
                                          <p:spTgt spid="116742"/>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16745"/>
                                        </p:tgtEl>
                                        <p:attrNameLst>
                                          <p:attrName>style.visibility</p:attrName>
                                        </p:attrNameLst>
                                      </p:cBhvr>
                                      <p:to>
                                        <p:strVal val="visible"/>
                                      </p:to>
                                    </p:set>
                                    <p:animEffect transition="in" filter="wipe(left)">
                                      <p:cBhvr>
                                        <p:cTn id="36" dur="500"/>
                                        <p:tgtEl>
                                          <p:spTgt spid="116745"/>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116747"/>
                                        </p:tgtEl>
                                        <p:attrNameLst>
                                          <p:attrName>style.visibility</p:attrName>
                                        </p:attrNameLst>
                                      </p:cBhvr>
                                      <p:to>
                                        <p:strVal val="visible"/>
                                      </p:to>
                                    </p:set>
                                    <p:animEffect transition="in" filter="wipe(left)">
                                      <p:cBhvr>
                                        <p:cTn id="40" dur="500"/>
                                        <p:tgtEl>
                                          <p:spTgt spid="116747"/>
                                        </p:tgtEl>
                                      </p:cBhvr>
                                    </p:animEffect>
                                  </p:childTnLst>
                                </p:cTn>
                              </p:par>
                            </p:childTnLst>
                          </p:cTn>
                        </p:par>
                        <p:par>
                          <p:cTn id="41" fill="hold">
                            <p:stCondLst>
                              <p:cond delay="1500"/>
                            </p:stCondLst>
                            <p:childTnLst>
                              <p:par>
                                <p:cTn id="42" presetID="22" presetClass="entr" presetSubtype="8" fill="hold" grpId="0" nodeType="afterEffect">
                                  <p:stCondLst>
                                    <p:cond delay="0"/>
                                  </p:stCondLst>
                                  <p:childTnLst>
                                    <p:set>
                                      <p:cBhvr>
                                        <p:cTn id="43" dur="1" fill="hold">
                                          <p:stCondLst>
                                            <p:cond delay="0"/>
                                          </p:stCondLst>
                                        </p:cTn>
                                        <p:tgtEl>
                                          <p:spTgt spid="116749"/>
                                        </p:tgtEl>
                                        <p:attrNameLst>
                                          <p:attrName>style.visibility</p:attrName>
                                        </p:attrNameLst>
                                      </p:cBhvr>
                                      <p:to>
                                        <p:strVal val="visible"/>
                                      </p:to>
                                    </p:set>
                                    <p:animEffect transition="in" filter="wipe(left)">
                                      <p:cBhvr>
                                        <p:cTn id="44" dur="500"/>
                                        <p:tgtEl>
                                          <p:spTgt spid="116749"/>
                                        </p:tgtEl>
                                      </p:cBhvr>
                                    </p:animEffect>
                                  </p:childTnLst>
                                </p:cTn>
                              </p:par>
                            </p:childTnLst>
                          </p:cTn>
                        </p:par>
                        <p:par>
                          <p:cTn id="45" fill="hold">
                            <p:stCondLst>
                              <p:cond delay="2000"/>
                            </p:stCondLst>
                            <p:childTnLst>
                              <p:par>
                                <p:cTn id="46" presetID="22" presetClass="entr" presetSubtype="8" fill="hold" grpId="0" nodeType="afterEffect">
                                  <p:stCondLst>
                                    <p:cond delay="0"/>
                                  </p:stCondLst>
                                  <p:childTnLst>
                                    <p:set>
                                      <p:cBhvr>
                                        <p:cTn id="47" dur="1" fill="hold">
                                          <p:stCondLst>
                                            <p:cond delay="0"/>
                                          </p:stCondLst>
                                        </p:cTn>
                                        <p:tgtEl>
                                          <p:spTgt spid="116744"/>
                                        </p:tgtEl>
                                        <p:attrNameLst>
                                          <p:attrName>style.visibility</p:attrName>
                                        </p:attrNameLst>
                                      </p:cBhvr>
                                      <p:to>
                                        <p:strVal val="visible"/>
                                      </p:to>
                                    </p:set>
                                    <p:animEffect transition="in" filter="wipe(left)">
                                      <p:cBhvr>
                                        <p:cTn id="48" dur="500"/>
                                        <p:tgtEl>
                                          <p:spTgt spid="116744"/>
                                        </p:tgtEl>
                                      </p:cBhvr>
                                    </p:animEffect>
                                  </p:childTnLst>
                                </p:cTn>
                              </p:par>
                            </p:childTnLst>
                          </p:cTn>
                        </p:par>
                        <p:par>
                          <p:cTn id="49" fill="hold">
                            <p:stCondLst>
                              <p:cond delay="2500"/>
                            </p:stCondLst>
                            <p:childTnLst>
                              <p:par>
                                <p:cTn id="50" presetID="22" presetClass="entr" presetSubtype="8" fill="hold" nodeType="afterEffect">
                                  <p:stCondLst>
                                    <p:cond delay="0"/>
                                  </p:stCondLst>
                                  <p:childTnLst>
                                    <p:set>
                                      <p:cBhvr>
                                        <p:cTn id="51" dur="1" fill="hold">
                                          <p:stCondLst>
                                            <p:cond delay="0"/>
                                          </p:stCondLst>
                                        </p:cTn>
                                        <p:tgtEl>
                                          <p:spTgt spid="116743"/>
                                        </p:tgtEl>
                                        <p:attrNameLst>
                                          <p:attrName>style.visibility</p:attrName>
                                        </p:attrNameLst>
                                      </p:cBhvr>
                                      <p:to>
                                        <p:strVal val="visible"/>
                                      </p:to>
                                    </p:set>
                                    <p:animEffect transition="in" filter="wipe(left)">
                                      <p:cBhvr>
                                        <p:cTn id="52" dur="500"/>
                                        <p:tgtEl>
                                          <p:spTgt spid="116743"/>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116750"/>
                                        </p:tgtEl>
                                        <p:attrNameLst>
                                          <p:attrName>style.visibility</p:attrName>
                                        </p:attrNameLst>
                                      </p:cBhvr>
                                      <p:to>
                                        <p:strVal val="visible"/>
                                      </p:to>
                                    </p:set>
                                    <p:anim calcmode="lin" valueType="num">
                                      <p:cBhvr>
                                        <p:cTn id="57" dur="500" fill="hold"/>
                                        <p:tgtEl>
                                          <p:spTgt spid="116750"/>
                                        </p:tgtEl>
                                        <p:attrNameLst>
                                          <p:attrName>ppt_x</p:attrName>
                                        </p:attrNameLst>
                                      </p:cBhvr>
                                      <p:tavLst>
                                        <p:tav tm="0">
                                          <p:val>
                                            <p:strVal val="#ppt_x"/>
                                          </p:val>
                                        </p:tav>
                                        <p:tav tm="100000">
                                          <p:val>
                                            <p:strVal val="#ppt_x"/>
                                          </p:val>
                                        </p:tav>
                                      </p:tavLst>
                                    </p:anim>
                                    <p:anim calcmode="lin" valueType="num">
                                      <p:cBhvr>
                                        <p:cTn id="58" dur="500" fill="hold"/>
                                        <p:tgtEl>
                                          <p:spTgt spid="116750"/>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16751"/>
                                        </p:tgtEl>
                                        <p:attrNameLst>
                                          <p:attrName>style.visibility</p:attrName>
                                        </p:attrNameLst>
                                      </p:cBhvr>
                                      <p:to>
                                        <p:strVal val="visible"/>
                                      </p:to>
                                    </p:set>
                                    <p:anim calcmode="lin" valueType="num">
                                      <p:cBhvr>
                                        <p:cTn id="61" dur="500" fill="hold"/>
                                        <p:tgtEl>
                                          <p:spTgt spid="116751"/>
                                        </p:tgtEl>
                                        <p:attrNameLst>
                                          <p:attrName>ppt_x</p:attrName>
                                        </p:attrNameLst>
                                      </p:cBhvr>
                                      <p:tavLst>
                                        <p:tav tm="0">
                                          <p:val>
                                            <p:strVal val="#ppt_x"/>
                                          </p:val>
                                        </p:tav>
                                        <p:tav tm="100000">
                                          <p:val>
                                            <p:strVal val="#ppt_x"/>
                                          </p:val>
                                        </p:tav>
                                      </p:tavLst>
                                    </p:anim>
                                    <p:anim calcmode="lin" valueType="num">
                                      <p:cBhvr>
                                        <p:cTn id="62" dur="500" fill="hold"/>
                                        <p:tgtEl>
                                          <p:spTgt spid="116751"/>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16752"/>
                                        </p:tgtEl>
                                        <p:attrNameLst>
                                          <p:attrName>style.visibility</p:attrName>
                                        </p:attrNameLst>
                                      </p:cBhvr>
                                      <p:to>
                                        <p:strVal val="visible"/>
                                      </p:to>
                                    </p:set>
                                    <p:anim calcmode="lin" valueType="num">
                                      <p:cBhvr>
                                        <p:cTn id="65" dur="500" fill="hold"/>
                                        <p:tgtEl>
                                          <p:spTgt spid="116752"/>
                                        </p:tgtEl>
                                        <p:attrNameLst>
                                          <p:attrName>ppt_x</p:attrName>
                                        </p:attrNameLst>
                                      </p:cBhvr>
                                      <p:tavLst>
                                        <p:tav tm="0">
                                          <p:val>
                                            <p:strVal val="#ppt_x"/>
                                          </p:val>
                                        </p:tav>
                                        <p:tav tm="100000">
                                          <p:val>
                                            <p:strVal val="#ppt_x"/>
                                          </p:val>
                                        </p:tav>
                                      </p:tavLst>
                                    </p:anim>
                                    <p:anim calcmode="lin" valueType="num">
                                      <p:cBhvr>
                                        <p:cTn id="66" dur="500" fill="hold"/>
                                        <p:tgtEl>
                                          <p:spTgt spid="116752"/>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8" presetClass="entr" presetSubtype="6" fill="hold" nodeType="clickEffect">
                                  <p:stCondLst>
                                    <p:cond delay="0"/>
                                  </p:stCondLst>
                                  <p:childTnLst>
                                    <p:set>
                                      <p:cBhvr>
                                        <p:cTn id="70" dur="1" fill="hold">
                                          <p:stCondLst>
                                            <p:cond delay="0"/>
                                          </p:stCondLst>
                                        </p:cTn>
                                        <p:tgtEl>
                                          <p:spTgt spid="116753"/>
                                        </p:tgtEl>
                                        <p:attrNameLst>
                                          <p:attrName>style.visibility</p:attrName>
                                        </p:attrNameLst>
                                      </p:cBhvr>
                                      <p:to>
                                        <p:strVal val="visible"/>
                                      </p:to>
                                    </p:set>
                                    <p:animEffect transition="in" filter="strips(downRight)">
                                      <p:cBhvr>
                                        <p:cTn id="71" dur="500"/>
                                        <p:tgtEl>
                                          <p:spTgt spid="116753"/>
                                        </p:tgtEl>
                                      </p:cBhvr>
                                    </p:animEffect>
                                  </p:childTnLst>
                                </p:cTn>
                              </p:par>
                            </p:childTnLst>
                          </p:cTn>
                        </p:par>
                        <p:par>
                          <p:cTn id="72" fill="hold">
                            <p:stCondLst>
                              <p:cond delay="500"/>
                            </p:stCondLst>
                            <p:childTnLst>
                              <p:par>
                                <p:cTn id="73" presetID="22" presetClass="entr" presetSubtype="8" fill="hold" grpId="0" nodeType="afterEffect">
                                  <p:stCondLst>
                                    <p:cond delay="0"/>
                                  </p:stCondLst>
                                  <p:childTnLst>
                                    <p:set>
                                      <p:cBhvr>
                                        <p:cTn id="74" dur="1" fill="hold">
                                          <p:stCondLst>
                                            <p:cond delay="0"/>
                                          </p:stCondLst>
                                        </p:cTn>
                                        <p:tgtEl>
                                          <p:spTgt spid="116754"/>
                                        </p:tgtEl>
                                        <p:attrNameLst>
                                          <p:attrName>style.visibility</p:attrName>
                                        </p:attrNameLst>
                                      </p:cBhvr>
                                      <p:to>
                                        <p:strVal val="visible"/>
                                      </p:to>
                                    </p:set>
                                    <p:animEffect transition="in" filter="wipe(left)">
                                      <p:cBhvr>
                                        <p:cTn id="75" dur="500"/>
                                        <p:tgtEl>
                                          <p:spTgt spid="116754"/>
                                        </p:tgtEl>
                                      </p:cBhvr>
                                    </p:animEffect>
                                  </p:childTnLst>
                                </p:cTn>
                              </p:par>
                            </p:childTnLst>
                          </p:cTn>
                        </p:par>
                        <p:par>
                          <p:cTn id="76" fill="hold">
                            <p:stCondLst>
                              <p:cond delay="1000"/>
                            </p:stCondLst>
                            <p:childTnLst>
                              <p:par>
                                <p:cTn id="77" presetID="22" presetClass="entr" presetSubtype="8" fill="hold" grpId="0" nodeType="afterEffect">
                                  <p:stCondLst>
                                    <p:cond delay="0"/>
                                  </p:stCondLst>
                                  <p:childTnLst>
                                    <p:set>
                                      <p:cBhvr>
                                        <p:cTn id="78" dur="1" fill="hold">
                                          <p:stCondLst>
                                            <p:cond delay="0"/>
                                          </p:stCondLst>
                                        </p:cTn>
                                        <p:tgtEl>
                                          <p:spTgt spid="116755"/>
                                        </p:tgtEl>
                                        <p:attrNameLst>
                                          <p:attrName>style.visibility</p:attrName>
                                        </p:attrNameLst>
                                      </p:cBhvr>
                                      <p:to>
                                        <p:strVal val="visible"/>
                                      </p:to>
                                    </p:set>
                                    <p:animEffect transition="in" filter="wipe(left)">
                                      <p:cBhvr>
                                        <p:cTn id="79" dur="500"/>
                                        <p:tgtEl>
                                          <p:spTgt spid="116755"/>
                                        </p:tgtEl>
                                      </p:cBhvr>
                                    </p:animEffect>
                                  </p:childTnLst>
                                </p:cTn>
                              </p:par>
                            </p:childTnLst>
                          </p:cTn>
                        </p:par>
                        <p:par>
                          <p:cTn id="80" fill="hold">
                            <p:stCondLst>
                              <p:cond delay="1500"/>
                            </p:stCondLst>
                            <p:childTnLst>
                              <p:par>
                                <p:cTn id="81" presetID="22" presetClass="entr" presetSubtype="8" fill="hold" grpId="0" nodeType="afterEffect">
                                  <p:stCondLst>
                                    <p:cond delay="0"/>
                                  </p:stCondLst>
                                  <p:childTnLst>
                                    <p:set>
                                      <p:cBhvr>
                                        <p:cTn id="82" dur="1" fill="hold">
                                          <p:stCondLst>
                                            <p:cond delay="0"/>
                                          </p:stCondLst>
                                        </p:cTn>
                                        <p:tgtEl>
                                          <p:spTgt spid="116756"/>
                                        </p:tgtEl>
                                        <p:attrNameLst>
                                          <p:attrName>style.visibility</p:attrName>
                                        </p:attrNameLst>
                                      </p:cBhvr>
                                      <p:to>
                                        <p:strVal val="visible"/>
                                      </p:to>
                                    </p:set>
                                    <p:animEffect transition="in" filter="wipe(left)">
                                      <p:cBhvr>
                                        <p:cTn id="83" dur="500"/>
                                        <p:tgtEl>
                                          <p:spTgt spid="116756"/>
                                        </p:tgtEl>
                                      </p:cBhvr>
                                    </p:animEffect>
                                  </p:childTnLst>
                                </p:cTn>
                              </p:par>
                            </p:childTnLst>
                          </p:cTn>
                        </p:par>
                        <p:par>
                          <p:cTn id="84" fill="hold">
                            <p:stCondLst>
                              <p:cond delay="2000"/>
                            </p:stCondLst>
                            <p:childTnLst>
                              <p:par>
                                <p:cTn id="85" presetID="22" presetClass="entr" presetSubtype="8" fill="hold" grpId="0" nodeType="afterEffect">
                                  <p:stCondLst>
                                    <p:cond delay="0"/>
                                  </p:stCondLst>
                                  <p:childTnLst>
                                    <p:set>
                                      <p:cBhvr>
                                        <p:cTn id="86" dur="1" fill="hold">
                                          <p:stCondLst>
                                            <p:cond delay="0"/>
                                          </p:stCondLst>
                                        </p:cTn>
                                        <p:tgtEl>
                                          <p:spTgt spid="116758"/>
                                        </p:tgtEl>
                                        <p:attrNameLst>
                                          <p:attrName>style.visibility</p:attrName>
                                        </p:attrNameLst>
                                      </p:cBhvr>
                                      <p:to>
                                        <p:strVal val="visible"/>
                                      </p:to>
                                    </p:set>
                                    <p:animEffect transition="in" filter="wipe(left)">
                                      <p:cBhvr>
                                        <p:cTn id="87" dur="500"/>
                                        <p:tgtEl>
                                          <p:spTgt spid="116758"/>
                                        </p:tgtEl>
                                      </p:cBhvr>
                                    </p:animEffect>
                                  </p:childTnLst>
                                </p:cTn>
                              </p:par>
                            </p:childTnLst>
                          </p:cTn>
                        </p:par>
                        <p:par>
                          <p:cTn id="88" fill="hold">
                            <p:stCondLst>
                              <p:cond delay="2500"/>
                            </p:stCondLst>
                            <p:childTnLst>
                              <p:par>
                                <p:cTn id="89" presetID="22" presetClass="entr" presetSubtype="8" fill="hold" nodeType="afterEffect">
                                  <p:stCondLst>
                                    <p:cond delay="0"/>
                                  </p:stCondLst>
                                  <p:childTnLst>
                                    <p:set>
                                      <p:cBhvr>
                                        <p:cTn id="90" dur="1" fill="hold">
                                          <p:stCondLst>
                                            <p:cond delay="0"/>
                                          </p:stCondLst>
                                        </p:cTn>
                                        <p:tgtEl>
                                          <p:spTgt spid="116757"/>
                                        </p:tgtEl>
                                        <p:attrNameLst>
                                          <p:attrName>style.visibility</p:attrName>
                                        </p:attrNameLst>
                                      </p:cBhvr>
                                      <p:to>
                                        <p:strVal val="visible"/>
                                      </p:to>
                                    </p:set>
                                    <p:animEffect transition="in" filter="wipe(left)">
                                      <p:cBhvr>
                                        <p:cTn id="91" dur="500"/>
                                        <p:tgtEl>
                                          <p:spTgt spid="116757"/>
                                        </p:tgtEl>
                                      </p:cBhvr>
                                    </p:animEffect>
                                  </p:childTnLst>
                                </p:cTn>
                              </p:par>
                              <p:par>
                                <p:cTn id="92" presetID="2" presetClass="entr" presetSubtype="4" fill="hold" grpId="0" nodeType="withEffect">
                                  <p:stCondLst>
                                    <p:cond delay="0"/>
                                  </p:stCondLst>
                                  <p:childTnLst>
                                    <p:set>
                                      <p:cBhvr>
                                        <p:cTn id="93" dur="1" fill="hold">
                                          <p:stCondLst>
                                            <p:cond delay="0"/>
                                          </p:stCondLst>
                                        </p:cTn>
                                        <p:tgtEl>
                                          <p:spTgt spid="116768"/>
                                        </p:tgtEl>
                                        <p:attrNameLst>
                                          <p:attrName>style.visibility</p:attrName>
                                        </p:attrNameLst>
                                      </p:cBhvr>
                                      <p:to>
                                        <p:strVal val="visible"/>
                                      </p:to>
                                    </p:set>
                                    <p:anim calcmode="lin" valueType="num">
                                      <p:cBhvr>
                                        <p:cTn id="94" dur="500" fill="hold"/>
                                        <p:tgtEl>
                                          <p:spTgt spid="116768"/>
                                        </p:tgtEl>
                                        <p:attrNameLst>
                                          <p:attrName>ppt_x</p:attrName>
                                        </p:attrNameLst>
                                      </p:cBhvr>
                                      <p:tavLst>
                                        <p:tav tm="0">
                                          <p:val>
                                            <p:strVal val="#ppt_x"/>
                                          </p:val>
                                        </p:tav>
                                        <p:tav tm="100000">
                                          <p:val>
                                            <p:strVal val="#ppt_x"/>
                                          </p:val>
                                        </p:tav>
                                      </p:tavLst>
                                    </p:anim>
                                    <p:anim calcmode="lin" valueType="num">
                                      <p:cBhvr>
                                        <p:cTn id="95" dur="500" fill="hold"/>
                                        <p:tgtEl>
                                          <p:spTgt spid="116768"/>
                                        </p:tgtEl>
                                        <p:attrNameLst>
                                          <p:attrName>ppt_y</p:attrName>
                                        </p:attrNameLst>
                                      </p:cBhvr>
                                      <p:tavLst>
                                        <p:tav tm="0">
                                          <p:val>
                                            <p:strVal val="1+#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grpId="0" nodeType="clickEffect">
                                  <p:stCondLst>
                                    <p:cond delay="0"/>
                                  </p:stCondLst>
                                  <p:childTnLst>
                                    <p:set>
                                      <p:cBhvr>
                                        <p:cTn id="99" dur="1" fill="hold">
                                          <p:stCondLst>
                                            <p:cond delay="0"/>
                                          </p:stCondLst>
                                        </p:cTn>
                                        <p:tgtEl>
                                          <p:spTgt spid="116759"/>
                                        </p:tgtEl>
                                        <p:attrNameLst>
                                          <p:attrName>style.visibility</p:attrName>
                                        </p:attrNameLst>
                                      </p:cBhvr>
                                      <p:to>
                                        <p:strVal val="visible"/>
                                      </p:to>
                                    </p:set>
                                    <p:anim calcmode="lin" valueType="num">
                                      <p:cBhvr>
                                        <p:cTn id="100" dur="500" fill="hold"/>
                                        <p:tgtEl>
                                          <p:spTgt spid="116759"/>
                                        </p:tgtEl>
                                        <p:attrNameLst>
                                          <p:attrName>ppt_x</p:attrName>
                                        </p:attrNameLst>
                                      </p:cBhvr>
                                      <p:tavLst>
                                        <p:tav tm="0">
                                          <p:val>
                                            <p:strVal val="#ppt_x"/>
                                          </p:val>
                                        </p:tav>
                                        <p:tav tm="100000">
                                          <p:val>
                                            <p:strVal val="#ppt_x"/>
                                          </p:val>
                                        </p:tav>
                                      </p:tavLst>
                                    </p:anim>
                                    <p:anim calcmode="lin" valueType="num">
                                      <p:cBhvr>
                                        <p:cTn id="101" dur="500" fill="hold"/>
                                        <p:tgtEl>
                                          <p:spTgt spid="116759"/>
                                        </p:tgtEl>
                                        <p:attrNameLst>
                                          <p:attrName>ppt_y</p:attrName>
                                        </p:attrNameLst>
                                      </p:cBhvr>
                                      <p:tavLst>
                                        <p:tav tm="0">
                                          <p:val>
                                            <p:strVal val="1+#ppt_h/2"/>
                                          </p:val>
                                        </p:tav>
                                        <p:tav tm="100000">
                                          <p:val>
                                            <p:strVal val="#ppt_y"/>
                                          </p:val>
                                        </p:tav>
                                      </p:tavLst>
                                    </p:anim>
                                  </p:childTnLst>
                                </p:cTn>
                              </p:par>
                              <p:par>
                                <p:cTn id="102" presetID="2" presetClass="entr" presetSubtype="4" fill="hold" grpId="0" nodeType="withEffect">
                                  <p:stCondLst>
                                    <p:cond delay="0"/>
                                  </p:stCondLst>
                                  <p:childTnLst>
                                    <p:set>
                                      <p:cBhvr>
                                        <p:cTn id="103" dur="1" fill="hold">
                                          <p:stCondLst>
                                            <p:cond delay="0"/>
                                          </p:stCondLst>
                                        </p:cTn>
                                        <p:tgtEl>
                                          <p:spTgt spid="116760"/>
                                        </p:tgtEl>
                                        <p:attrNameLst>
                                          <p:attrName>style.visibility</p:attrName>
                                        </p:attrNameLst>
                                      </p:cBhvr>
                                      <p:to>
                                        <p:strVal val="visible"/>
                                      </p:to>
                                    </p:set>
                                    <p:anim calcmode="lin" valueType="num">
                                      <p:cBhvr>
                                        <p:cTn id="104" dur="500" fill="hold"/>
                                        <p:tgtEl>
                                          <p:spTgt spid="116760"/>
                                        </p:tgtEl>
                                        <p:attrNameLst>
                                          <p:attrName>ppt_x</p:attrName>
                                        </p:attrNameLst>
                                      </p:cBhvr>
                                      <p:tavLst>
                                        <p:tav tm="0">
                                          <p:val>
                                            <p:strVal val="#ppt_x"/>
                                          </p:val>
                                        </p:tav>
                                        <p:tav tm="100000">
                                          <p:val>
                                            <p:strVal val="#ppt_x"/>
                                          </p:val>
                                        </p:tav>
                                      </p:tavLst>
                                    </p:anim>
                                    <p:anim calcmode="lin" valueType="num">
                                      <p:cBhvr>
                                        <p:cTn id="105" dur="500" fill="hold"/>
                                        <p:tgtEl>
                                          <p:spTgt spid="116760"/>
                                        </p:tgtEl>
                                        <p:attrNameLst>
                                          <p:attrName>ppt_y</p:attrName>
                                        </p:attrNameLst>
                                      </p:cBhvr>
                                      <p:tavLst>
                                        <p:tav tm="0">
                                          <p:val>
                                            <p:strVal val="1+#ppt_h/2"/>
                                          </p:val>
                                        </p:tav>
                                        <p:tav tm="100000">
                                          <p:val>
                                            <p:strVal val="#ppt_y"/>
                                          </p:val>
                                        </p:tav>
                                      </p:tavLst>
                                    </p:anim>
                                  </p:childTnLst>
                                </p:cTn>
                              </p:par>
                              <p:par>
                                <p:cTn id="106" presetID="2" presetClass="entr" presetSubtype="4" fill="hold" grpId="0" nodeType="withEffect">
                                  <p:stCondLst>
                                    <p:cond delay="0"/>
                                  </p:stCondLst>
                                  <p:childTnLst>
                                    <p:set>
                                      <p:cBhvr>
                                        <p:cTn id="107" dur="1" fill="hold">
                                          <p:stCondLst>
                                            <p:cond delay="0"/>
                                          </p:stCondLst>
                                        </p:cTn>
                                        <p:tgtEl>
                                          <p:spTgt spid="116761"/>
                                        </p:tgtEl>
                                        <p:attrNameLst>
                                          <p:attrName>style.visibility</p:attrName>
                                        </p:attrNameLst>
                                      </p:cBhvr>
                                      <p:to>
                                        <p:strVal val="visible"/>
                                      </p:to>
                                    </p:set>
                                    <p:anim calcmode="lin" valueType="num">
                                      <p:cBhvr>
                                        <p:cTn id="108" dur="500" fill="hold"/>
                                        <p:tgtEl>
                                          <p:spTgt spid="116761"/>
                                        </p:tgtEl>
                                        <p:attrNameLst>
                                          <p:attrName>ppt_x</p:attrName>
                                        </p:attrNameLst>
                                      </p:cBhvr>
                                      <p:tavLst>
                                        <p:tav tm="0">
                                          <p:val>
                                            <p:strVal val="#ppt_x"/>
                                          </p:val>
                                        </p:tav>
                                        <p:tav tm="100000">
                                          <p:val>
                                            <p:strVal val="#ppt_x"/>
                                          </p:val>
                                        </p:tav>
                                      </p:tavLst>
                                    </p:anim>
                                    <p:anim calcmode="lin" valueType="num">
                                      <p:cBhvr>
                                        <p:cTn id="109" dur="500" fill="hold"/>
                                        <p:tgtEl>
                                          <p:spTgt spid="116761"/>
                                        </p:tgtEl>
                                        <p:attrNameLst>
                                          <p:attrName>ppt_y</p:attrName>
                                        </p:attrNameLst>
                                      </p:cBhvr>
                                      <p:tavLst>
                                        <p:tav tm="0">
                                          <p:val>
                                            <p:strVal val="1+#ppt_h/2"/>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116762"/>
                                        </p:tgtEl>
                                        <p:attrNameLst>
                                          <p:attrName>style.visibility</p:attrName>
                                        </p:attrNameLst>
                                      </p:cBhvr>
                                      <p:to>
                                        <p:strVal val="visible"/>
                                      </p:to>
                                    </p:set>
                                    <p:animEffect transition="in" filter="wipe(left)">
                                      <p:cBhvr>
                                        <p:cTn id="114" dur="500"/>
                                        <p:tgtEl>
                                          <p:spTgt spid="116762"/>
                                        </p:tgtEl>
                                      </p:cBhvr>
                                    </p:animEffect>
                                  </p:childTnLst>
                                </p:cTn>
                              </p:par>
                            </p:childTnLst>
                          </p:cTn>
                        </p:par>
                        <p:par>
                          <p:cTn id="115" fill="hold">
                            <p:stCondLst>
                              <p:cond delay="500"/>
                            </p:stCondLst>
                            <p:childTnLst>
                              <p:par>
                                <p:cTn id="116" presetID="18" presetClass="entr" presetSubtype="6" fill="hold" grpId="0" nodeType="afterEffect">
                                  <p:stCondLst>
                                    <p:cond delay="0"/>
                                  </p:stCondLst>
                                  <p:childTnLst>
                                    <p:set>
                                      <p:cBhvr>
                                        <p:cTn id="117" dur="1" fill="hold">
                                          <p:stCondLst>
                                            <p:cond delay="0"/>
                                          </p:stCondLst>
                                        </p:cTn>
                                        <p:tgtEl>
                                          <p:spTgt spid="116763"/>
                                        </p:tgtEl>
                                        <p:attrNameLst>
                                          <p:attrName>style.visibility</p:attrName>
                                        </p:attrNameLst>
                                      </p:cBhvr>
                                      <p:to>
                                        <p:strVal val="visible"/>
                                      </p:to>
                                    </p:set>
                                    <p:animEffect transition="in" filter="strips(downRight)">
                                      <p:cBhvr>
                                        <p:cTn id="118" dur="500"/>
                                        <p:tgtEl>
                                          <p:spTgt spid="116763"/>
                                        </p:tgtEl>
                                      </p:cBhvr>
                                    </p:animEffect>
                                  </p:childTnLst>
                                </p:cTn>
                              </p:par>
                            </p:childTnLst>
                          </p:cTn>
                        </p:par>
                        <p:par>
                          <p:cTn id="119" fill="hold">
                            <p:stCondLst>
                              <p:cond delay="1000"/>
                            </p:stCondLst>
                            <p:childTnLst>
                              <p:par>
                                <p:cTn id="120" presetID="22" presetClass="entr" presetSubtype="8" fill="hold" grpId="0" nodeType="afterEffect">
                                  <p:stCondLst>
                                    <p:cond delay="0"/>
                                  </p:stCondLst>
                                  <p:childTnLst>
                                    <p:set>
                                      <p:cBhvr>
                                        <p:cTn id="121" dur="1" fill="hold">
                                          <p:stCondLst>
                                            <p:cond delay="0"/>
                                          </p:stCondLst>
                                        </p:cTn>
                                        <p:tgtEl>
                                          <p:spTgt spid="116764"/>
                                        </p:tgtEl>
                                        <p:attrNameLst>
                                          <p:attrName>style.visibility</p:attrName>
                                        </p:attrNameLst>
                                      </p:cBhvr>
                                      <p:to>
                                        <p:strVal val="visible"/>
                                      </p:to>
                                    </p:set>
                                    <p:animEffect transition="in" filter="wipe(left)">
                                      <p:cBhvr>
                                        <p:cTn id="122" dur="500"/>
                                        <p:tgtEl>
                                          <p:spTgt spid="116764"/>
                                        </p:tgtEl>
                                      </p:cBhvr>
                                    </p:animEffect>
                                  </p:childTnLst>
                                </p:cTn>
                              </p:par>
                            </p:childTnLst>
                          </p:cTn>
                        </p:par>
                        <p:par>
                          <p:cTn id="123" fill="hold">
                            <p:stCondLst>
                              <p:cond delay="1500"/>
                            </p:stCondLst>
                            <p:childTnLst>
                              <p:par>
                                <p:cTn id="124" presetID="22" presetClass="entr" presetSubtype="8" fill="hold" grpId="0" nodeType="afterEffect">
                                  <p:stCondLst>
                                    <p:cond delay="0"/>
                                  </p:stCondLst>
                                  <p:childTnLst>
                                    <p:set>
                                      <p:cBhvr>
                                        <p:cTn id="125" dur="1" fill="hold">
                                          <p:stCondLst>
                                            <p:cond delay="0"/>
                                          </p:stCondLst>
                                        </p:cTn>
                                        <p:tgtEl>
                                          <p:spTgt spid="116765"/>
                                        </p:tgtEl>
                                        <p:attrNameLst>
                                          <p:attrName>style.visibility</p:attrName>
                                        </p:attrNameLst>
                                      </p:cBhvr>
                                      <p:to>
                                        <p:strVal val="visible"/>
                                      </p:to>
                                    </p:set>
                                    <p:animEffect transition="in" filter="wipe(left)">
                                      <p:cBhvr>
                                        <p:cTn id="126" dur="500"/>
                                        <p:tgtEl>
                                          <p:spTgt spid="116765"/>
                                        </p:tgtEl>
                                      </p:cBhvr>
                                    </p:animEffect>
                                  </p:childTnLst>
                                </p:cTn>
                              </p:par>
                            </p:childTnLst>
                          </p:cTn>
                        </p:par>
                        <p:par>
                          <p:cTn id="127" fill="hold">
                            <p:stCondLst>
                              <p:cond delay="2000"/>
                            </p:stCondLst>
                            <p:childTnLst>
                              <p:par>
                                <p:cTn id="128" presetID="22" presetClass="entr" presetSubtype="8" fill="hold" grpId="0" nodeType="afterEffect">
                                  <p:stCondLst>
                                    <p:cond delay="0"/>
                                  </p:stCondLst>
                                  <p:childTnLst>
                                    <p:set>
                                      <p:cBhvr>
                                        <p:cTn id="129" dur="1" fill="hold">
                                          <p:stCondLst>
                                            <p:cond delay="0"/>
                                          </p:stCondLst>
                                        </p:cTn>
                                        <p:tgtEl>
                                          <p:spTgt spid="116767"/>
                                        </p:tgtEl>
                                        <p:attrNameLst>
                                          <p:attrName>style.visibility</p:attrName>
                                        </p:attrNameLst>
                                      </p:cBhvr>
                                      <p:to>
                                        <p:strVal val="visible"/>
                                      </p:to>
                                    </p:set>
                                    <p:animEffect transition="in" filter="wipe(left)">
                                      <p:cBhvr>
                                        <p:cTn id="130" dur="500"/>
                                        <p:tgtEl>
                                          <p:spTgt spid="116767"/>
                                        </p:tgtEl>
                                      </p:cBhvr>
                                    </p:animEffect>
                                  </p:childTnLst>
                                </p:cTn>
                              </p:par>
                            </p:childTnLst>
                          </p:cTn>
                        </p:par>
                        <p:par>
                          <p:cTn id="131" fill="hold">
                            <p:stCondLst>
                              <p:cond delay="2500"/>
                            </p:stCondLst>
                            <p:childTnLst>
                              <p:par>
                                <p:cTn id="132" presetID="22" presetClass="entr" presetSubtype="8" fill="hold" nodeType="afterEffect">
                                  <p:stCondLst>
                                    <p:cond delay="0"/>
                                  </p:stCondLst>
                                  <p:childTnLst>
                                    <p:set>
                                      <p:cBhvr>
                                        <p:cTn id="133" dur="1" fill="hold">
                                          <p:stCondLst>
                                            <p:cond delay="0"/>
                                          </p:stCondLst>
                                        </p:cTn>
                                        <p:tgtEl>
                                          <p:spTgt spid="116766"/>
                                        </p:tgtEl>
                                        <p:attrNameLst>
                                          <p:attrName>style.visibility</p:attrName>
                                        </p:attrNameLst>
                                      </p:cBhvr>
                                      <p:to>
                                        <p:strVal val="visible"/>
                                      </p:to>
                                    </p:set>
                                    <p:animEffect transition="in" filter="wipe(left)">
                                      <p:cBhvr>
                                        <p:cTn id="134" dur="500"/>
                                        <p:tgtEl>
                                          <p:spTgt spid="116766"/>
                                        </p:tgtEl>
                                      </p:cBhvr>
                                    </p:animEffect>
                                  </p:childTnLst>
                                </p:cTn>
                              </p:par>
                              <p:par>
                                <p:cTn id="135" presetID="2" presetClass="entr" presetSubtype="4" fill="hold" grpId="0" nodeType="withEffect">
                                  <p:stCondLst>
                                    <p:cond delay="0"/>
                                  </p:stCondLst>
                                  <p:childTnLst>
                                    <p:set>
                                      <p:cBhvr>
                                        <p:cTn id="136" dur="1" fill="hold">
                                          <p:stCondLst>
                                            <p:cond delay="0"/>
                                          </p:stCondLst>
                                        </p:cTn>
                                        <p:tgtEl>
                                          <p:spTgt spid="116769"/>
                                        </p:tgtEl>
                                        <p:attrNameLst>
                                          <p:attrName>style.visibility</p:attrName>
                                        </p:attrNameLst>
                                      </p:cBhvr>
                                      <p:to>
                                        <p:strVal val="visible"/>
                                      </p:to>
                                    </p:set>
                                    <p:anim calcmode="lin" valueType="num">
                                      <p:cBhvr>
                                        <p:cTn id="137" dur="500" fill="hold"/>
                                        <p:tgtEl>
                                          <p:spTgt spid="116769"/>
                                        </p:tgtEl>
                                        <p:attrNameLst>
                                          <p:attrName>ppt_x</p:attrName>
                                        </p:attrNameLst>
                                      </p:cBhvr>
                                      <p:tavLst>
                                        <p:tav tm="0">
                                          <p:val>
                                            <p:strVal val="#ppt_x"/>
                                          </p:val>
                                        </p:tav>
                                        <p:tav tm="100000">
                                          <p:val>
                                            <p:strVal val="#ppt_x"/>
                                          </p:val>
                                        </p:tav>
                                      </p:tavLst>
                                    </p:anim>
                                    <p:anim calcmode="lin" valueType="num">
                                      <p:cBhvr>
                                        <p:cTn id="138" dur="500" fill="hold"/>
                                        <p:tgtEl>
                                          <p:spTgt spid="1167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1" grpId="0" animBg="1"/>
      <p:bldP spid="116744" grpId="0"/>
      <p:bldP spid="116745" grpId="0"/>
      <p:bldP spid="116746" grpId="0"/>
      <p:bldP spid="116747" grpId="0" animBg="1"/>
      <p:bldP spid="116748" grpId="0"/>
      <p:bldP spid="116749" grpId="0"/>
      <p:bldP spid="116750" grpId="0" animBg="1"/>
      <p:bldP spid="116751" grpId="0"/>
      <p:bldP spid="116752" grpId="0"/>
      <p:bldP spid="116754" grpId="0"/>
      <p:bldP spid="116755" grpId="0" animBg="1"/>
      <p:bldP spid="116756" grpId="0"/>
      <p:bldP spid="116758" grpId="0"/>
      <p:bldP spid="116759" grpId="0" animBg="1"/>
      <p:bldP spid="116760" grpId="0"/>
      <p:bldP spid="116761" grpId="0"/>
      <p:bldP spid="116763" grpId="0"/>
      <p:bldP spid="116764" grpId="0" animBg="1"/>
      <p:bldP spid="116765" grpId="0"/>
      <p:bldP spid="116767" grpId="0"/>
      <p:bldP spid="116768" grpId="0"/>
      <p:bldP spid="116769"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3"/>
          <p:cNvSpPr>
            <a:spLocks noGrp="1"/>
          </p:cNvSpPr>
          <p:nvPr>
            <p:ph type="body" idx="4294967295"/>
          </p:nvPr>
        </p:nvSpPr>
        <p:spPr>
          <a:xfrm>
            <a:off x="808038" y="1227138"/>
            <a:ext cx="4597400" cy="2773362"/>
          </a:xfrm>
        </p:spPr>
        <p:txBody>
          <a:bodyPr vert="horz" wrap="square" lIns="91440" tIns="45720" rIns="91440" bIns="45720" anchor="t" anchorCtr="0"/>
          <a:p>
            <a:pPr marL="0" indent="0" algn="just" eaLnBrk="1" hangingPunct="1">
              <a:lnSpc>
                <a:spcPct val="150000"/>
              </a:lnSpc>
              <a:spcAft>
                <a:spcPct val="20000"/>
              </a:spcAft>
              <a:buNone/>
            </a:pPr>
            <a:r>
              <a:rPr lang="en-US" altLang="zh-CN" b="0" dirty="0">
                <a:latin typeface="宋体" panose="02010600030101010101" pitchFamily="2" charset="-122"/>
                <a:ea typeface="宋体" panose="02010600030101010101" pitchFamily="2" charset="-122"/>
              </a:rPr>
              <a:t>【</a:t>
            </a:r>
            <a:r>
              <a:rPr lang="zh-CN" altLang="en-US" b="0" dirty="0">
                <a:latin typeface="宋体" panose="02010600030101010101" pitchFamily="2" charset="-122"/>
                <a:ea typeface="宋体" panose="02010600030101010101" pitchFamily="2" charset="-122"/>
              </a:rPr>
              <a:t>例</a:t>
            </a:r>
            <a:r>
              <a:rPr lang="en-US" altLang="zh-CN" b="0"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将1000</a:t>
            </a:r>
            <a:r>
              <a:rPr lang="en-US" altLang="zh-CN" dirty="0">
                <a:latin typeface="宋体" panose="02010600030101010101" pitchFamily="2" charset="-122"/>
                <a:ea typeface="宋体" panose="02010600030101010101" pitchFamily="2" charset="-122"/>
              </a:rPr>
              <a:t>H</a:t>
            </a:r>
            <a:r>
              <a:rPr lang="zh-CN" altLang="en-US" dirty="0">
                <a:latin typeface="宋体" panose="02010600030101010101" pitchFamily="2" charset="-122"/>
                <a:ea typeface="宋体" panose="02010600030101010101" pitchFamily="2" charset="-122"/>
              </a:rPr>
              <a:t>开始存放的</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个压缩</a:t>
            </a:r>
            <a:r>
              <a:rPr lang="en-US" altLang="zh-CN" dirty="0">
                <a:latin typeface="宋体" panose="02010600030101010101" pitchFamily="2" charset="-122"/>
                <a:ea typeface="宋体" panose="02010600030101010101" pitchFamily="2" charset="-122"/>
              </a:rPr>
              <a:t>BCD</a:t>
            </a:r>
            <a:r>
              <a:rPr lang="zh-CN" altLang="en-US" dirty="0">
                <a:latin typeface="宋体" panose="02010600030101010101" pitchFamily="2" charset="-122"/>
                <a:ea typeface="宋体" panose="02010600030101010101" pitchFamily="2" charset="-122"/>
              </a:rPr>
              <a:t>码转换为</a:t>
            </a:r>
            <a:r>
              <a:rPr lang="en-US" altLang="zh-CN" dirty="0">
                <a:latin typeface="宋体" panose="02010600030101010101" pitchFamily="2" charset="-122"/>
                <a:ea typeface="宋体" panose="02010600030101010101" pitchFamily="2" charset="-122"/>
              </a:rPr>
              <a:t>ASCII</a:t>
            </a:r>
            <a:r>
              <a:rPr lang="zh-CN" altLang="en-US" dirty="0">
                <a:latin typeface="宋体" panose="02010600030101010101" pitchFamily="2" charset="-122"/>
                <a:ea typeface="宋体" panose="02010600030101010101" pitchFamily="2" charset="-122"/>
              </a:rPr>
              <a:t>码存放在3000</a:t>
            </a:r>
            <a:r>
              <a:rPr lang="en-US" altLang="zh-CN" dirty="0">
                <a:latin typeface="宋体" panose="02010600030101010101" pitchFamily="2" charset="-122"/>
                <a:ea typeface="宋体" panose="02010600030101010101" pitchFamily="2" charset="-122"/>
              </a:rPr>
              <a:t>H</a:t>
            </a:r>
            <a:r>
              <a:rPr lang="zh-CN" altLang="en-US" dirty="0">
                <a:latin typeface="宋体" panose="02010600030101010101" pitchFamily="2" charset="-122"/>
                <a:ea typeface="宋体" panose="02010600030101010101" pitchFamily="2" charset="-122"/>
              </a:rPr>
              <a:t>开始的单元中去。</a:t>
            </a:r>
            <a:endParaRPr lang="zh-CN" altLang="en-US" dirty="0">
              <a:latin typeface="宋体" panose="02010600030101010101" pitchFamily="2" charset="-122"/>
              <a:ea typeface="宋体" panose="02010600030101010101" pitchFamily="2" charset="-122"/>
            </a:endParaRPr>
          </a:p>
        </p:txBody>
      </p:sp>
      <p:sp>
        <p:nvSpPr>
          <p:cNvPr id="117763" name="Rectangle 4"/>
          <p:cNvSpPr/>
          <p:nvPr/>
        </p:nvSpPr>
        <p:spPr>
          <a:xfrm>
            <a:off x="6457950" y="2433638"/>
            <a:ext cx="1371600" cy="27432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17764" name="Line 5"/>
          <p:cNvSpPr/>
          <p:nvPr/>
        </p:nvSpPr>
        <p:spPr>
          <a:xfrm>
            <a:off x="6457950" y="1747838"/>
            <a:ext cx="0" cy="838200"/>
          </a:xfrm>
          <a:prstGeom prst="line">
            <a:avLst/>
          </a:prstGeom>
          <a:ln w="25400" cap="sq" cmpd="sng">
            <a:solidFill>
              <a:srgbClr val="FF6600"/>
            </a:solidFill>
            <a:prstDash val="solid"/>
            <a:headEnd type="none" w="med" len="med"/>
            <a:tailEnd type="none" w="med" len="med"/>
          </a:ln>
        </p:spPr>
      </p:sp>
      <p:sp>
        <p:nvSpPr>
          <p:cNvPr id="117765" name="Line 6"/>
          <p:cNvSpPr/>
          <p:nvPr/>
        </p:nvSpPr>
        <p:spPr>
          <a:xfrm>
            <a:off x="7829550" y="1747838"/>
            <a:ext cx="0" cy="838200"/>
          </a:xfrm>
          <a:prstGeom prst="line">
            <a:avLst/>
          </a:prstGeom>
          <a:ln w="25400" cap="sq" cmpd="sng">
            <a:solidFill>
              <a:srgbClr val="FF6600"/>
            </a:solidFill>
            <a:prstDash val="solid"/>
            <a:headEnd type="none" w="med" len="med"/>
            <a:tailEnd type="none" w="med" len="med"/>
          </a:ln>
        </p:spPr>
      </p:sp>
      <p:sp>
        <p:nvSpPr>
          <p:cNvPr id="117766" name="Line 7"/>
          <p:cNvSpPr/>
          <p:nvPr/>
        </p:nvSpPr>
        <p:spPr>
          <a:xfrm>
            <a:off x="6457950" y="2509838"/>
            <a:ext cx="0" cy="3352800"/>
          </a:xfrm>
          <a:prstGeom prst="line">
            <a:avLst/>
          </a:prstGeom>
          <a:ln w="25400" cap="sq" cmpd="sng">
            <a:solidFill>
              <a:srgbClr val="FF6600"/>
            </a:solidFill>
            <a:prstDash val="solid"/>
            <a:headEnd type="none" w="med" len="med"/>
            <a:tailEnd type="none" w="med" len="med"/>
          </a:ln>
        </p:spPr>
      </p:sp>
      <p:sp>
        <p:nvSpPr>
          <p:cNvPr id="117767" name="Line 8"/>
          <p:cNvSpPr/>
          <p:nvPr/>
        </p:nvSpPr>
        <p:spPr>
          <a:xfrm>
            <a:off x="7829550" y="2433638"/>
            <a:ext cx="0" cy="3429000"/>
          </a:xfrm>
          <a:prstGeom prst="line">
            <a:avLst/>
          </a:prstGeom>
          <a:ln w="25400" cap="sq" cmpd="sng">
            <a:solidFill>
              <a:srgbClr val="FF6600"/>
            </a:solidFill>
            <a:prstDash val="solid"/>
            <a:headEnd type="none" w="med" len="med"/>
            <a:tailEnd type="none" w="med" len="med"/>
          </a:ln>
        </p:spPr>
      </p:sp>
      <p:sp>
        <p:nvSpPr>
          <p:cNvPr id="117768" name="Line 9"/>
          <p:cNvSpPr/>
          <p:nvPr/>
        </p:nvSpPr>
        <p:spPr>
          <a:xfrm>
            <a:off x="6457950" y="2433638"/>
            <a:ext cx="1371600" cy="0"/>
          </a:xfrm>
          <a:prstGeom prst="line">
            <a:avLst/>
          </a:prstGeom>
          <a:ln w="25400" cap="sq" cmpd="sng">
            <a:solidFill>
              <a:srgbClr val="FF6600"/>
            </a:solidFill>
            <a:prstDash val="solid"/>
            <a:headEnd type="none" w="med" len="med"/>
            <a:tailEnd type="none" w="med" len="med"/>
          </a:ln>
        </p:spPr>
      </p:sp>
      <p:sp>
        <p:nvSpPr>
          <p:cNvPr id="117769" name="Line 10"/>
          <p:cNvSpPr/>
          <p:nvPr/>
        </p:nvSpPr>
        <p:spPr>
          <a:xfrm>
            <a:off x="6457950" y="2814638"/>
            <a:ext cx="1371600" cy="0"/>
          </a:xfrm>
          <a:prstGeom prst="line">
            <a:avLst/>
          </a:prstGeom>
          <a:ln w="25400" cap="sq" cmpd="sng">
            <a:solidFill>
              <a:srgbClr val="FF6600"/>
            </a:solidFill>
            <a:prstDash val="solid"/>
            <a:headEnd type="none" w="med" len="med"/>
            <a:tailEnd type="none" w="med" len="med"/>
          </a:ln>
        </p:spPr>
      </p:sp>
      <p:sp>
        <p:nvSpPr>
          <p:cNvPr id="117770" name="Line 11"/>
          <p:cNvSpPr/>
          <p:nvPr/>
        </p:nvSpPr>
        <p:spPr>
          <a:xfrm>
            <a:off x="6457950" y="3195638"/>
            <a:ext cx="1371600" cy="0"/>
          </a:xfrm>
          <a:prstGeom prst="line">
            <a:avLst/>
          </a:prstGeom>
          <a:ln w="25400" cap="sq" cmpd="sng">
            <a:solidFill>
              <a:srgbClr val="FF6600"/>
            </a:solidFill>
            <a:prstDash val="solid"/>
            <a:headEnd type="none" w="med" len="med"/>
            <a:tailEnd type="none" w="med" len="med"/>
          </a:ln>
        </p:spPr>
      </p:sp>
      <p:sp>
        <p:nvSpPr>
          <p:cNvPr id="117771" name="Line 12"/>
          <p:cNvSpPr/>
          <p:nvPr/>
        </p:nvSpPr>
        <p:spPr>
          <a:xfrm>
            <a:off x="6457950" y="3576638"/>
            <a:ext cx="1371600" cy="0"/>
          </a:xfrm>
          <a:prstGeom prst="line">
            <a:avLst/>
          </a:prstGeom>
          <a:ln w="25400" cap="sq" cmpd="sng">
            <a:solidFill>
              <a:srgbClr val="FF6600"/>
            </a:solidFill>
            <a:prstDash val="solid"/>
            <a:headEnd type="none" w="med" len="med"/>
            <a:tailEnd type="none" w="med" len="med"/>
          </a:ln>
        </p:spPr>
      </p:sp>
      <p:sp>
        <p:nvSpPr>
          <p:cNvPr id="117772" name="Line 13"/>
          <p:cNvSpPr/>
          <p:nvPr/>
        </p:nvSpPr>
        <p:spPr>
          <a:xfrm>
            <a:off x="6457950" y="3957638"/>
            <a:ext cx="1371600" cy="0"/>
          </a:xfrm>
          <a:prstGeom prst="line">
            <a:avLst/>
          </a:prstGeom>
          <a:ln w="25400" cap="sq" cmpd="sng">
            <a:solidFill>
              <a:srgbClr val="FF6600"/>
            </a:solidFill>
            <a:prstDash val="solid"/>
            <a:headEnd type="none" w="med" len="med"/>
            <a:tailEnd type="none" w="med" len="med"/>
          </a:ln>
        </p:spPr>
      </p:sp>
      <p:sp>
        <p:nvSpPr>
          <p:cNvPr id="117773" name="Freeform 14"/>
          <p:cNvSpPr/>
          <p:nvPr/>
        </p:nvSpPr>
        <p:spPr>
          <a:xfrm>
            <a:off x="6443663" y="1628775"/>
            <a:ext cx="1357312" cy="315913"/>
          </a:xfrm>
          <a:custGeom>
            <a:avLst/>
            <a:gdLst>
              <a:gd name="txL" fmla="*/ 0 w 855"/>
              <a:gd name="txT" fmla="*/ 0 h 200"/>
              <a:gd name="txR" fmla="*/ 855 w 855"/>
              <a:gd name="txB" fmla="*/ 200 h 200"/>
            </a:gdLst>
            <a:ahLst/>
            <a:cxnLst>
              <a:cxn ang="0">
                <a:pos x="0" y="224552570"/>
              </a:cxn>
              <a:cxn ang="0">
                <a:pos x="45362795" y="157187253"/>
              </a:cxn>
              <a:cxn ang="0">
                <a:pos x="68043405" y="89820381"/>
              </a:cxn>
              <a:cxn ang="0">
                <a:pos x="476308624" y="0"/>
              </a:cxn>
              <a:cxn ang="0">
                <a:pos x="861893271" y="67365292"/>
              </a:cxn>
              <a:cxn ang="0">
                <a:pos x="975299434" y="157187253"/>
              </a:cxn>
              <a:cxn ang="0">
                <a:pos x="1111387783" y="247007659"/>
              </a:cxn>
              <a:cxn ang="0">
                <a:pos x="1156750565" y="314372927"/>
              </a:cxn>
              <a:cxn ang="0">
                <a:pos x="1224795533" y="336828016"/>
              </a:cxn>
              <a:cxn ang="0">
                <a:pos x="1247476131" y="404194863"/>
              </a:cxn>
              <a:cxn ang="0">
                <a:pos x="1451609448" y="494015319"/>
              </a:cxn>
              <a:cxn ang="0">
                <a:pos x="1859874890" y="471560230"/>
              </a:cxn>
              <a:cxn ang="0">
                <a:pos x="1995963239" y="381738194"/>
              </a:cxn>
              <a:cxn ang="0">
                <a:pos x="2147483647" y="291917838"/>
              </a:cxn>
            </a:cxnLst>
            <a:rect l="txL" t="txT" r="txR" b="txB"/>
            <a:pathLst>
              <a:path w="855" h="200">
                <a:moveTo>
                  <a:pt x="0" y="90"/>
                </a:moveTo>
                <a:cubicBezTo>
                  <a:pt x="6" y="81"/>
                  <a:pt x="13" y="73"/>
                  <a:pt x="18" y="63"/>
                </a:cubicBezTo>
                <a:cubicBezTo>
                  <a:pt x="22" y="55"/>
                  <a:pt x="19" y="42"/>
                  <a:pt x="27" y="36"/>
                </a:cubicBezTo>
                <a:cubicBezTo>
                  <a:pt x="65" y="9"/>
                  <a:pt x="148" y="5"/>
                  <a:pt x="189" y="0"/>
                </a:cubicBezTo>
                <a:cubicBezTo>
                  <a:pt x="247" y="6"/>
                  <a:pt x="289" y="9"/>
                  <a:pt x="342" y="27"/>
                </a:cubicBezTo>
                <a:cubicBezTo>
                  <a:pt x="375" y="77"/>
                  <a:pt x="341" y="37"/>
                  <a:pt x="387" y="63"/>
                </a:cubicBezTo>
                <a:cubicBezTo>
                  <a:pt x="406" y="74"/>
                  <a:pt x="441" y="99"/>
                  <a:pt x="441" y="99"/>
                </a:cubicBezTo>
                <a:cubicBezTo>
                  <a:pt x="447" y="108"/>
                  <a:pt x="451" y="119"/>
                  <a:pt x="459" y="126"/>
                </a:cubicBezTo>
                <a:cubicBezTo>
                  <a:pt x="466" y="132"/>
                  <a:pt x="479" y="128"/>
                  <a:pt x="486" y="135"/>
                </a:cubicBezTo>
                <a:cubicBezTo>
                  <a:pt x="493" y="142"/>
                  <a:pt x="487" y="156"/>
                  <a:pt x="495" y="162"/>
                </a:cubicBezTo>
                <a:cubicBezTo>
                  <a:pt x="519" y="179"/>
                  <a:pt x="551" y="182"/>
                  <a:pt x="576" y="198"/>
                </a:cubicBezTo>
                <a:cubicBezTo>
                  <a:pt x="630" y="195"/>
                  <a:pt x="685" y="200"/>
                  <a:pt x="738" y="189"/>
                </a:cubicBezTo>
                <a:cubicBezTo>
                  <a:pt x="759" y="185"/>
                  <a:pt x="771" y="160"/>
                  <a:pt x="792" y="153"/>
                </a:cubicBezTo>
                <a:cubicBezTo>
                  <a:pt x="852" y="133"/>
                  <a:pt x="838" y="152"/>
                  <a:pt x="855" y="117"/>
                </a:cubicBezTo>
              </a:path>
            </a:pathLst>
          </a:custGeom>
          <a:noFill/>
          <a:ln w="25400" cap="sq" cmpd="sng">
            <a:solidFill>
              <a:srgbClr val="FF6600">
                <a:alpha val="100000"/>
              </a:srgbClr>
            </a:solidFill>
            <a:prstDash val="solid"/>
            <a:miter lim="800000"/>
            <a:headEnd type="none" w="med" len="med"/>
            <a:tailEnd type="none" w="med" len="med"/>
          </a:ln>
        </p:spPr>
        <p:txBody>
          <a:bodyPr/>
          <a:p>
            <a:endParaRPr lang="zh-CN" altLang="en-US"/>
          </a:p>
        </p:txBody>
      </p:sp>
      <p:sp>
        <p:nvSpPr>
          <p:cNvPr id="117774" name="Freeform 15"/>
          <p:cNvSpPr/>
          <p:nvPr/>
        </p:nvSpPr>
        <p:spPr>
          <a:xfrm>
            <a:off x="6457950" y="5699125"/>
            <a:ext cx="1357313" cy="315913"/>
          </a:xfrm>
          <a:custGeom>
            <a:avLst/>
            <a:gdLst>
              <a:gd name="txL" fmla="*/ 0 w 855"/>
              <a:gd name="txT" fmla="*/ 0 h 200"/>
              <a:gd name="txR" fmla="*/ 855 w 855"/>
              <a:gd name="txB" fmla="*/ 200 h 200"/>
            </a:gdLst>
            <a:ahLst/>
            <a:cxnLst>
              <a:cxn ang="0">
                <a:pos x="0" y="224552570"/>
              </a:cxn>
              <a:cxn ang="0">
                <a:pos x="45362829" y="157187253"/>
              </a:cxn>
              <a:cxn ang="0">
                <a:pos x="68045043" y="89820381"/>
              </a:cxn>
              <a:cxn ang="0">
                <a:pos x="476310563" y="0"/>
              </a:cxn>
              <a:cxn ang="0">
                <a:pos x="861893906" y="67365292"/>
              </a:cxn>
              <a:cxn ang="0">
                <a:pos x="975301740" y="157187253"/>
              </a:cxn>
              <a:cxn ang="0">
                <a:pos x="1111390189" y="247007659"/>
              </a:cxn>
              <a:cxn ang="0">
                <a:pos x="1156753005" y="314372927"/>
              </a:cxn>
              <a:cxn ang="0">
                <a:pos x="1224796436" y="336828016"/>
              </a:cxn>
              <a:cxn ang="0">
                <a:pos x="1247478638" y="404194863"/>
              </a:cxn>
              <a:cxn ang="0">
                <a:pos x="1451610517" y="494015319"/>
              </a:cxn>
              <a:cxn ang="0">
                <a:pos x="1859876260" y="471560230"/>
              </a:cxn>
              <a:cxn ang="0">
                <a:pos x="1995964709" y="381738194"/>
              </a:cxn>
              <a:cxn ang="0">
                <a:pos x="2147483647" y="291917838"/>
              </a:cxn>
            </a:cxnLst>
            <a:rect l="txL" t="txT" r="txR" b="txB"/>
            <a:pathLst>
              <a:path w="855" h="200">
                <a:moveTo>
                  <a:pt x="0" y="90"/>
                </a:moveTo>
                <a:cubicBezTo>
                  <a:pt x="6" y="81"/>
                  <a:pt x="13" y="73"/>
                  <a:pt x="18" y="63"/>
                </a:cubicBezTo>
                <a:cubicBezTo>
                  <a:pt x="22" y="55"/>
                  <a:pt x="19" y="42"/>
                  <a:pt x="27" y="36"/>
                </a:cubicBezTo>
                <a:cubicBezTo>
                  <a:pt x="65" y="9"/>
                  <a:pt x="148" y="5"/>
                  <a:pt x="189" y="0"/>
                </a:cubicBezTo>
                <a:cubicBezTo>
                  <a:pt x="247" y="6"/>
                  <a:pt x="289" y="9"/>
                  <a:pt x="342" y="27"/>
                </a:cubicBezTo>
                <a:cubicBezTo>
                  <a:pt x="375" y="77"/>
                  <a:pt x="341" y="37"/>
                  <a:pt x="387" y="63"/>
                </a:cubicBezTo>
                <a:cubicBezTo>
                  <a:pt x="406" y="74"/>
                  <a:pt x="441" y="99"/>
                  <a:pt x="441" y="99"/>
                </a:cubicBezTo>
                <a:cubicBezTo>
                  <a:pt x="447" y="108"/>
                  <a:pt x="451" y="119"/>
                  <a:pt x="459" y="126"/>
                </a:cubicBezTo>
                <a:cubicBezTo>
                  <a:pt x="466" y="132"/>
                  <a:pt x="479" y="128"/>
                  <a:pt x="486" y="135"/>
                </a:cubicBezTo>
                <a:cubicBezTo>
                  <a:pt x="493" y="142"/>
                  <a:pt x="487" y="156"/>
                  <a:pt x="495" y="162"/>
                </a:cubicBezTo>
                <a:cubicBezTo>
                  <a:pt x="519" y="179"/>
                  <a:pt x="551" y="182"/>
                  <a:pt x="576" y="198"/>
                </a:cubicBezTo>
                <a:cubicBezTo>
                  <a:pt x="630" y="195"/>
                  <a:pt x="685" y="200"/>
                  <a:pt x="738" y="189"/>
                </a:cubicBezTo>
                <a:cubicBezTo>
                  <a:pt x="759" y="185"/>
                  <a:pt x="771" y="160"/>
                  <a:pt x="792" y="153"/>
                </a:cubicBezTo>
                <a:cubicBezTo>
                  <a:pt x="852" y="133"/>
                  <a:pt x="838" y="152"/>
                  <a:pt x="855" y="117"/>
                </a:cubicBezTo>
              </a:path>
            </a:pathLst>
          </a:custGeom>
          <a:noFill/>
          <a:ln w="25400" cap="sq" cmpd="sng">
            <a:solidFill>
              <a:srgbClr val="FF6600">
                <a:alpha val="100000"/>
              </a:srgbClr>
            </a:solidFill>
            <a:prstDash val="solid"/>
            <a:miter lim="800000"/>
            <a:headEnd type="none" w="med" len="med"/>
            <a:tailEnd type="none" w="med" len="med"/>
          </a:ln>
        </p:spPr>
        <p:txBody>
          <a:bodyPr/>
          <a:p>
            <a:endParaRPr lang="zh-CN" altLang="en-US"/>
          </a:p>
        </p:txBody>
      </p:sp>
      <p:sp>
        <p:nvSpPr>
          <p:cNvPr id="117775" name="Text Box 16"/>
          <p:cNvSpPr txBox="1"/>
          <p:nvPr/>
        </p:nvSpPr>
        <p:spPr>
          <a:xfrm>
            <a:off x="6838950" y="1900238"/>
            <a:ext cx="685800" cy="519112"/>
          </a:xfrm>
          <a:prstGeom prst="rect">
            <a:avLst/>
          </a:prstGeom>
          <a:noFill/>
          <a:ln w="9525">
            <a:noFill/>
          </a:ln>
        </p:spPr>
        <p:txBody>
          <a:bodyPr>
            <a:spAutoFit/>
          </a:bodyPr>
          <a:p>
            <a:pPr eaLnBrk="0" hangingPunct="0">
              <a:spcBef>
                <a:spcPct val="30000"/>
              </a:spcBef>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a:t>
            </a:r>
            <a:endParaRPr lang="en-US" altLang="zh-CN" sz="2800" dirty="0">
              <a:latin typeface="Times New Roman" panose="02020603050405020304" pitchFamily="18" charset="0"/>
              <a:ea typeface="宋体" panose="02010600030101010101" pitchFamily="2" charset="-122"/>
            </a:endParaRPr>
          </a:p>
        </p:txBody>
      </p:sp>
      <p:sp>
        <p:nvSpPr>
          <p:cNvPr id="117776" name="Text Box 17"/>
          <p:cNvSpPr txBox="1"/>
          <p:nvPr/>
        </p:nvSpPr>
        <p:spPr>
          <a:xfrm>
            <a:off x="6838950" y="3957638"/>
            <a:ext cx="685800" cy="519112"/>
          </a:xfrm>
          <a:prstGeom prst="rect">
            <a:avLst/>
          </a:prstGeom>
          <a:noFill/>
          <a:ln w="9525">
            <a:noFill/>
          </a:ln>
        </p:spPr>
        <p:txBody>
          <a:bodyPr>
            <a:spAutoFit/>
          </a:bodyPr>
          <a:p>
            <a:pPr eaLnBrk="0" hangingPunct="0">
              <a:spcBef>
                <a:spcPct val="30000"/>
              </a:spcBef>
              <a:buFont typeface="Wingdings" panose="05000000000000000000" pitchFamily="2" charset="2"/>
            </a:pPr>
            <a:r>
              <a:rPr lang="en-US" altLang="zh-CN" sz="2800" b="1" dirty="0">
                <a:solidFill>
                  <a:schemeClr val="bg1"/>
                </a:solidFill>
                <a:latin typeface="Times New Roman" panose="02020603050405020304" pitchFamily="18" charset="0"/>
                <a:ea typeface="宋体" panose="02010600030101010101" pitchFamily="2" charset="-122"/>
              </a:rPr>
              <a:t>┇</a:t>
            </a:r>
            <a:endParaRPr lang="en-US" altLang="zh-CN" sz="2800" dirty="0">
              <a:solidFill>
                <a:schemeClr val="bg1"/>
              </a:solidFill>
              <a:latin typeface="Times New Roman" panose="02020603050405020304" pitchFamily="18" charset="0"/>
              <a:ea typeface="宋体" panose="02010600030101010101" pitchFamily="2" charset="-122"/>
            </a:endParaRPr>
          </a:p>
        </p:txBody>
      </p:sp>
      <p:sp>
        <p:nvSpPr>
          <p:cNvPr id="117777" name="Text Box 18"/>
          <p:cNvSpPr txBox="1"/>
          <p:nvPr/>
        </p:nvSpPr>
        <p:spPr>
          <a:xfrm>
            <a:off x="6838950" y="2357438"/>
            <a:ext cx="7620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12</a:t>
            </a:r>
            <a:r>
              <a:rPr lang="en-US" altLang="zh-CN" sz="2400" b="1" dirty="0">
                <a:solidFill>
                  <a:schemeClr val="bg1"/>
                </a:solidFill>
                <a:latin typeface="Times New Roman" panose="02020603050405020304" pitchFamily="18" charset="0"/>
                <a:ea typeface="宋体" panose="02010600030101010101" pitchFamily="2" charset="-122"/>
              </a:rPr>
              <a:t>H</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17778" name="Text Box 19"/>
          <p:cNvSpPr txBox="1"/>
          <p:nvPr/>
        </p:nvSpPr>
        <p:spPr>
          <a:xfrm>
            <a:off x="6838950" y="2786063"/>
            <a:ext cx="7620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34</a:t>
            </a:r>
            <a:r>
              <a:rPr lang="en-US" altLang="zh-CN" sz="2400" b="1" dirty="0">
                <a:solidFill>
                  <a:schemeClr val="bg1"/>
                </a:solidFill>
                <a:latin typeface="Times New Roman" panose="02020603050405020304" pitchFamily="18" charset="0"/>
                <a:ea typeface="宋体" panose="02010600030101010101" pitchFamily="2" charset="-122"/>
              </a:rPr>
              <a:t>H</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17779" name="Text Box 20"/>
          <p:cNvSpPr txBox="1"/>
          <p:nvPr/>
        </p:nvSpPr>
        <p:spPr>
          <a:xfrm>
            <a:off x="6853238" y="3181350"/>
            <a:ext cx="7620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56</a:t>
            </a:r>
            <a:r>
              <a:rPr lang="en-US" altLang="zh-CN" sz="2400" b="1" dirty="0">
                <a:solidFill>
                  <a:schemeClr val="bg1"/>
                </a:solidFill>
                <a:latin typeface="Times New Roman" panose="02020603050405020304" pitchFamily="18" charset="0"/>
                <a:ea typeface="宋体" panose="02010600030101010101" pitchFamily="2" charset="-122"/>
              </a:rPr>
              <a:t>H</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17780" name="Text Box 21"/>
          <p:cNvSpPr txBox="1"/>
          <p:nvPr/>
        </p:nvSpPr>
        <p:spPr>
          <a:xfrm>
            <a:off x="6838950" y="3543300"/>
            <a:ext cx="7620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78</a:t>
            </a:r>
            <a:r>
              <a:rPr lang="en-US" altLang="zh-CN" sz="2400" b="1" dirty="0">
                <a:solidFill>
                  <a:schemeClr val="bg1"/>
                </a:solidFill>
                <a:latin typeface="Times New Roman" panose="02020603050405020304" pitchFamily="18" charset="0"/>
                <a:ea typeface="宋体" panose="02010600030101010101" pitchFamily="2" charset="-122"/>
              </a:rPr>
              <a:t>H</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17781" name="Line 22"/>
          <p:cNvSpPr/>
          <p:nvPr/>
        </p:nvSpPr>
        <p:spPr>
          <a:xfrm>
            <a:off x="6457950" y="4491038"/>
            <a:ext cx="1371600" cy="0"/>
          </a:xfrm>
          <a:prstGeom prst="line">
            <a:avLst/>
          </a:prstGeom>
          <a:ln w="25400" cap="sq" cmpd="sng">
            <a:solidFill>
              <a:srgbClr val="FF6600"/>
            </a:solidFill>
            <a:prstDash val="solid"/>
            <a:headEnd type="none" w="med" len="med"/>
            <a:tailEnd type="none" w="med" len="med"/>
          </a:ln>
        </p:spPr>
      </p:sp>
      <p:sp>
        <p:nvSpPr>
          <p:cNvPr id="117782" name="Line 23"/>
          <p:cNvSpPr/>
          <p:nvPr/>
        </p:nvSpPr>
        <p:spPr>
          <a:xfrm>
            <a:off x="6457950" y="4872038"/>
            <a:ext cx="1371600" cy="0"/>
          </a:xfrm>
          <a:prstGeom prst="line">
            <a:avLst/>
          </a:prstGeom>
          <a:ln w="25400" cap="sq" cmpd="sng">
            <a:solidFill>
              <a:srgbClr val="FF6600"/>
            </a:solidFill>
            <a:prstDash val="solid"/>
            <a:headEnd type="none" w="med" len="med"/>
            <a:tailEnd type="none" w="med" len="med"/>
          </a:ln>
        </p:spPr>
      </p:sp>
      <p:sp>
        <p:nvSpPr>
          <p:cNvPr id="117783" name="Text Box 24"/>
          <p:cNvSpPr txBox="1"/>
          <p:nvPr/>
        </p:nvSpPr>
        <p:spPr>
          <a:xfrm>
            <a:off x="6838950" y="5267325"/>
            <a:ext cx="685800" cy="519113"/>
          </a:xfrm>
          <a:prstGeom prst="rect">
            <a:avLst/>
          </a:prstGeom>
          <a:noFill/>
          <a:ln w="9525">
            <a:noFill/>
          </a:ln>
        </p:spPr>
        <p:txBody>
          <a:bodyPr>
            <a:spAutoFit/>
          </a:bodyPr>
          <a:p>
            <a:pPr eaLnBrk="0" hangingPunct="0">
              <a:spcBef>
                <a:spcPct val="30000"/>
              </a:spcBef>
              <a:buFont typeface="Wingdings" panose="05000000000000000000" pitchFamily="2" charset="2"/>
            </a:pPr>
            <a:r>
              <a:rPr lang="en-US" altLang="zh-CN" sz="2800" b="1" dirty="0">
                <a:latin typeface="Times New Roman" panose="02020603050405020304" pitchFamily="18" charset="0"/>
                <a:ea typeface="宋体" panose="02010600030101010101" pitchFamily="2" charset="-122"/>
              </a:rPr>
              <a:t>┇</a:t>
            </a:r>
            <a:endParaRPr lang="en-US" altLang="zh-CN" sz="2800" dirty="0">
              <a:latin typeface="Times New Roman" panose="02020603050405020304" pitchFamily="18" charset="0"/>
              <a:ea typeface="宋体" panose="02010600030101010101" pitchFamily="2" charset="-122"/>
            </a:endParaRPr>
          </a:p>
        </p:txBody>
      </p:sp>
      <p:sp>
        <p:nvSpPr>
          <p:cNvPr id="117784" name="Text Box 25"/>
          <p:cNvSpPr txBox="1"/>
          <p:nvPr/>
        </p:nvSpPr>
        <p:spPr>
          <a:xfrm>
            <a:off x="5405438" y="2405063"/>
            <a:ext cx="12192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1000</a:t>
            </a:r>
            <a:r>
              <a:rPr lang="en-US" altLang="zh-CN" sz="2400" b="1" dirty="0">
                <a:latin typeface="Times New Roman" panose="02020603050405020304" pitchFamily="18" charset="0"/>
                <a:ea typeface="宋体" panose="02010600030101010101" pitchFamily="2" charset="-122"/>
              </a:rPr>
              <a:t>H</a:t>
            </a:r>
            <a:endParaRPr lang="en-US" altLang="zh-CN" sz="2400" b="1" dirty="0">
              <a:latin typeface="Times New Roman" panose="02020603050405020304" pitchFamily="18" charset="0"/>
              <a:ea typeface="宋体" panose="02010600030101010101" pitchFamily="2" charset="-122"/>
            </a:endParaRPr>
          </a:p>
        </p:txBody>
      </p:sp>
      <p:sp>
        <p:nvSpPr>
          <p:cNvPr id="117785" name="Text Box 26"/>
          <p:cNvSpPr txBox="1"/>
          <p:nvPr/>
        </p:nvSpPr>
        <p:spPr>
          <a:xfrm>
            <a:off x="5391150" y="4414838"/>
            <a:ext cx="12192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3000</a:t>
            </a:r>
            <a:r>
              <a:rPr lang="en-US" altLang="zh-CN" sz="2400" b="1" dirty="0">
                <a:latin typeface="Times New Roman" panose="02020603050405020304" pitchFamily="18" charset="0"/>
                <a:ea typeface="宋体" panose="02010600030101010101" pitchFamily="2" charset="-122"/>
              </a:rPr>
              <a:t>H</a:t>
            </a:r>
            <a:endParaRPr lang="en-US" altLang="zh-CN" sz="2400" b="1" dirty="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7763"/>
                                        </p:tgtEl>
                                        <p:attrNameLst>
                                          <p:attrName>style.visibility</p:attrName>
                                        </p:attrNameLst>
                                      </p:cBhvr>
                                      <p:to>
                                        <p:strVal val="visible"/>
                                      </p:to>
                                    </p:set>
                                    <p:anim calcmode="lin" valueType="num">
                                      <p:cBhvr>
                                        <p:cTn id="7" dur="500" fill="hold"/>
                                        <p:tgtEl>
                                          <p:spTgt spid="117763"/>
                                        </p:tgtEl>
                                        <p:attrNameLst>
                                          <p:attrName>ppt_x</p:attrName>
                                        </p:attrNameLst>
                                      </p:cBhvr>
                                      <p:tavLst>
                                        <p:tav tm="0">
                                          <p:val>
                                            <p:strVal val="#ppt_x"/>
                                          </p:val>
                                        </p:tav>
                                        <p:tav tm="100000">
                                          <p:val>
                                            <p:strVal val="#ppt_x"/>
                                          </p:val>
                                        </p:tav>
                                      </p:tavLst>
                                    </p:anim>
                                    <p:anim calcmode="lin" valueType="num">
                                      <p:cBhvr>
                                        <p:cTn id="8" dur="500" fill="hold"/>
                                        <p:tgtEl>
                                          <p:spTgt spid="11776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7764"/>
                                        </p:tgtEl>
                                        <p:attrNameLst>
                                          <p:attrName>style.visibility</p:attrName>
                                        </p:attrNameLst>
                                      </p:cBhvr>
                                      <p:to>
                                        <p:strVal val="visible"/>
                                      </p:to>
                                    </p:set>
                                    <p:anim calcmode="lin" valueType="num">
                                      <p:cBhvr>
                                        <p:cTn id="11" dur="500" fill="hold"/>
                                        <p:tgtEl>
                                          <p:spTgt spid="117764"/>
                                        </p:tgtEl>
                                        <p:attrNameLst>
                                          <p:attrName>ppt_x</p:attrName>
                                        </p:attrNameLst>
                                      </p:cBhvr>
                                      <p:tavLst>
                                        <p:tav tm="0">
                                          <p:val>
                                            <p:strVal val="#ppt_x"/>
                                          </p:val>
                                        </p:tav>
                                        <p:tav tm="100000">
                                          <p:val>
                                            <p:strVal val="#ppt_x"/>
                                          </p:val>
                                        </p:tav>
                                      </p:tavLst>
                                    </p:anim>
                                    <p:anim calcmode="lin" valueType="num">
                                      <p:cBhvr>
                                        <p:cTn id="12" dur="500" fill="hold"/>
                                        <p:tgtEl>
                                          <p:spTgt spid="11776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7765"/>
                                        </p:tgtEl>
                                        <p:attrNameLst>
                                          <p:attrName>style.visibility</p:attrName>
                                        </p:attrNameLst>
                                      </p:cBhvr>
                                      <p:to>
                                        <p:strVal val="visible"/>
                                      </p:to>
                                    </p:set>
                                    <p:anim calcmode="lin" valueType="num">
                                      <p:cBhvr>
                                        <p:cTn id="15" dur="500" fill="hold"/>
                                        <p:tgtEl>
                                          <p:spTgt spid="117765"/>
                                        </p:tgtEl>
                                        <p:attrNameLst>
                                          <p:attrName>ppt_x</p:attrName>
                                        </p:attrNameLst>
                                      </p:cBhvr>
                                      <p:tavLst>
                                        <p:tav tm="0">
                                          <p:val>
                                            <p:strVal val="#ppt_x"/>
                                          </p:val>
                                        </p:tav>
                                        <p:tav tm="100000">
                                          <p:val>
                                            <p:strVal val="#ppt_x"/>
                                          </p:val>
                                        </p:tav>
                                      </p:tavLst>
                                    </p:anim>
                                    <p:anim calcmode="lin" valueType="num">
                                      <p:cBhvr>
                                        <p:cTn id="16" dur="500" fill="hold"/>
                                        <p:tgtEl>
                                          <p:spTgt spid="11776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17766"/>
                                        </p:tgtEl>
                                        <p:attrNameLst>
                                          <p:attrName>style.visibility</p:attrName>
                                        </p:attrNameLst>
                                      </p:cBhvr>
                                      <p:to>
                                        <p:strVal val="visible"/>
                                      </p:to>
                                    </p:set>
                                    <p:anim calcmode="lin" valueType="num">
                                      <p:cBhvr>
                                        <p:cTn id="19" dur="500" fill="hold"/>
                                        <p:tgtEl>
                                          <p:spTgt spid="117766"/>
                                        </p:tgtEl>
                                        <p:attrNameLst>
                                          <p:attrName>ppt_x</p:attrName>
                                        </p:attrNameLst>
                                      </p:cBhvr>
                                      <p:tavLst>
                                        <p:tav tm="0">
                                          <p:val>
                                            <p:strVal val="#ppt_x"/>
                                          </p:val>
                                        </p:tav>
                                        <p:tav tm="100000">
                                          <p:val>
                                            <p:strVal val="#ppt_x"/>
                                          </p:val>
                                        </p:tav>
                                      </p:tavLst>
                                    </p:anim>
                                    <p:anim calcmode="lin" valueType="num">
                                      <p:cBhvr>
                                        <p:cTn id="20" dur="500" fill="hold"/>
                                        <p:tgtEl>
                                          <p:spTgt spid="11776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17767"/>
                                        </p:tgtEl>
                                        <p:attrNameLst>
                                          <p:attrName>style.visibility</p:attrName>
                                        </p:attrNameLst>
                                      </p:cBhvr>
                                      <p:to>
                                        <p:strVal val="visible"/>
                                      </p:to>
                                    </p:set>
                                    <p:anim calcmode="lin" valueType="num">
                                      <p:cBhvr>
                                        <p:cTn id="23" dur="500" fill="hold"/>
                                        <p:tgtEl>
                                          <p:spTgt spid="117767"/>
                                        </p:tgtEl>
                                        <p:attrNameLst>
                                          <p:attrName>ppt_x</p:attrName>
                                        </p:attrNameLst>
                                      </p:cBhvr>
                                      <p:tavLst>
                                        <p:tav tm="0">
                                          <p:val>
                                            <p:strVal val="#ppt_x"/>
                                          </p:val>
                                        </p:tav>
                                        <p:tav tm="100000">
                                          <p:val>
                                            <p:strVal val="#ppt_x"/>
                                          </p:val>
                                        </p:tav>
                                      </p:tavLst>
                                    </p:anim>
                                    <p:anim calcmode="lin" valueType="num">
                                      <p:cBhvr>
                                        <p:cTn id="24" dur="500" fill="hold"/>
                                        <p:tgtEl>
                                          <p:spTgt spid="117767"/>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17768"/>
                                        </p:tgtEl>
                                        <p:attrNameLst>
                                          <p:attrName>style.visibility</p:attrName>
                                        </p:attrNameLst>
                                      </p:cBhvr>
                                      <p:to>
                                        <p:strVal val="visible"/>
                                      </p:to>
                                    </p:set>
                                    <p:anim calcmode="lin" valueType="num">
                                      <p:cBhvr>
                                        <p:cTn id="27" dur="500" fill="hold"/>
                                        <p:tgtEl>
                                          <p:spTgt spid="117768"/>
                                        </p:tgtEl>
                                        <p:attrNameLst>
                                          <p:attrName>ppt_x</p:attrName>
                                        </p:attrNameLst>
                                      </p:cBhvr>
                                      <p:tavLst>
                                        <p:tav tm="0">
                                          <p:val>
                                            <p:strVal val="#ppt_x"/>
                                          </p:val>
                                        </p:tav>
                                        <p:tav tm="100000">
                                          <p:val>
                                            <p:strVal val="#ppt_x"/>
                                          </p:val>
                                        </p:tav>
                                      </p:tavLst>
                                    </p:anim>
                                    <p:anim calcmode="lin" valueType="num">
                                      <p:cBhvr>
                                        <p:cTn id="28" dur="500" fill="hold"/>
                                        <p:tgtEl>
                                          <p:spTgt spid="117768"/>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17769"/>
                                        </p:tgtEl>
                                        <p:attrNameLst>
                                          <p:attrName>style.visibility</p:attrName>
                                        </p:attrNameLst>
                                      </p:cBhvr>
                                      <p:to>
                                        <p:strVal val="visible"/>
                                      </p:to>
                                    </p:set>
                                    <p:anim calcmode="lin" valueType="num">
                                      <p:cBhvr>
                                        <p:cTn id="31" dur="500" fill="hold"/>
                                        <p:tgtEl>
                                          <p:spTgt spid="117769"/>
                                        </p:tgtEl>
                                        <p:attrNameLst>
                                          <p:attrName>ppt_x</p:attrName>
                                        </p:attrNameLst>
                                      </p:cBhvr>
                                      <p:tavLst>
                                        <p:tav tm="0">
                                          <p:val>
                                            <p:strVal val="#ppt_x"/>
                                          </p:val>
                                        </p:tav>
                                        <p:tav tm="100000">
                                          <p:val>
                                            <p:strVal val="#ppt_x"/>
                                          </p:val>
                                        </p:tav>
                                      </p:tavLst>
                                    </p:anim>
                                    <p:anim calcmode="lin" valueType="num">
                                      <p:cBhvr>
                                        <p:cTn id="32" dur="500" fill="hold"/>
                                        <p:tgtEl>
                                          <p:spTgt spid="11776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17770"/>
                                        </p:tgtEl>
                                        <p:attrNameLst>
                                          <p:attrName>style.visibility</p:attrName>
                                        </p:attrNameLst>
                                      </p:cBhvr>
                                      <p:to>
                                        <p:strVal val="visible"/>
                                      </p:to>
                                    </p:set>
                                    <p:anim calcmode="lin" valueType="num">
                                      <p:cBhvr>
                                        <p:cTn id="35" dur="500" fill="hold"/>
                                        <p:tgtEl>
                                          <p:spTgt spid="117770"/>
                                        </p:tgtEl>
                                        <p:attrNameLst>
                                          <p:attrName>ppt_x</p:attrName>
                                        </p:attrNameLst>
                                      </p:cBhvr>
                                      <p:tavLst>
                                        <p:tav tm="0">
                                          <p:val>
                                            <p:strVal val="#ppt_x"/>
                                          </p:val>
                                        </p:tav>
                                        <p:tav tm="100000">
                                          <p:val>
                                            <p:strVal val="#ppt_x"/>
                                          </p:val>
                                        </p:tav>
                                      </p:tavLst>
                                    </p:anim>
                                    <p:anim calcmode="lin" valueType="num">
                                      <p:cBhvr>
                                        <p:cTn id="36" dur="500" fill="hold"/>
                                        <p:tgtEl>
                                          <p:spTgt spid="11777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17771"/>
                                        </p:tgtEl>
                                        <p:attrNameLst>
                                          <p:attrName>style.visibility</p:attrName>
                                        </p:attrNameLst>
                                      </p:cBhvr>
                                      <p:to>
                                        <p:strVal val="visible"/>
                                      </p:to>
                                    </p:set>
                                    <p:anim calcmode="lin" valueType="num">
                                      <p:cBhvr>
                                        <p:cTn id="39" dur="500" fill="hold"/>
                                        <p:tgtEl>
                                          <p:spTgt spid="117771"/>
                                        </p:tgtEl>
                                        <p:attrNameLst>
                                          <p:attrName>ppt_x</p:attrName>
                                        </p:attrNameLst>
                                      </p:cBhvr>
                                      <p:tavLst>
                                        <p:tav tm="0">
                                          <p:val>
                                            <p:strVal val="#ppt_x"/>
                                          </p:val>
                                        </p:tav>
                                        <p:tav tm="100000">
                                          <p:val>
                                            <p:strVal val="#ppt_x"/>
                                          </p:val>
                                        </p:tav>
                                      </p:tavLst>
                                    </p:anim>
                                    <p:anim calcmode="lin" valueType="num">
                                      <p:cBhvr>
                                        <p:cTn id="40" dur="500" fill="hold"/>
                                        <p:tgtEl>
                                          <p:spTgt spid="117771"/>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17772"/>
                                        </p:tgtEl>
                                        <p:attrNameLst>
                                          <p:attrName>style.visibility</p:attrName>
                                        </p:attrNameLst>
                                      </p:cBhvr>
                                      <p:to>
                                        <p:strVal val="visible"/>
                                      </p:to>
                                    </p:set>
                                    <p:anim calcmode="lin" valueType="num">
                                      <p:cBhvr>
                                        <p:cTn id="43" dur="500" fill="hold"/>
                                        <p:tgtEl>
                                          <p:spTgt spid="117772"/>
                                        </p:tgtEl>
                                        <p:attrNameLst>
                                          <p:attrName>ppt_x</p:attrName>
                                        </p:attrNameLst>
                                      </p:cBhvr>
                                      <p:tavLst>
                                        <p:tav tm="0">
                                          <p:val>
                                            <p:strVal val="#ppt_x"/>
                                          </p:val>
                                        </p:tav>
                                        <p:tav tm="100000">
                                          <p:val>
                                            <p:strVal val="#ppt_x"/>
                                          </p:val>
                                        </p:tav>
                                      </p:tavLst>
                                    </p:anim>
                                    <p:anim calcmode="lin" valueType="num">
                                      <p:cBhvr>
                                        <p:cTn id="44" dur="500" fill="hold"/>
                                        <p:tgtEl>
                                          <p:spTgt spid="117772"/>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17773"/>
                                        </p:tgtEl>
                                        <p:attrNameLst>
                                          <p:attrName>style.visibility</p:attrName>
                                        </p:attrNameLst>
                                      </p:cBhvr>
                                      <p:to>
                                        <p:strVal val="visible"/>
                                      </p:to>
                                    </p:set>
                                    <p:anim calcmode="lin" valueType="num">
                                      <p:cBhvr>
                                        <p:cTn id="47" dur="500" fill="hold"/>
                                        <p:tgtEl>
                                          <p:spTgt spid="117773"/>
                                        </p:tgtEl>
                                        <p:attrNameLst>
                                          <p:attrName>ppt_x</p:attrName>
                                        </p:attrNameLst>
                                      </p:cBhvr>
                                      <p:tavLst>
                                        <p:tav tm="0">
                                          <p:val>
                                            <p:strVal val="#ppt_x"/>
                                          </p:val>
                                        </p:tav>
                                        <p:tav tm="100000">
                                          <p:val>
                                            <p:strVal val="#ppt_x"/>
                                          </p:val>
                                        </p:tav>
                                      </p:tavLst>
                                    </p:anim>
                                    <p:anim calcmode="lin" valueType="num">
                                      <p:cBhvr>
                                        <p:cTn id="48" dur="500" fill="hold"/>
                                        <p:tgtEl>
                                          <p:spTgt spid="117773"/>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17774"/>
                                        </p:tgtEl>
                                        <p:attrNameLst>
                                          <p:attrName>style.visibility</p:attrName>
                                        </p:attrNameLst>
                                      </p:cBhvr>
                                      <p:to>
                                        <p:strVal val="visible"/>
                                      </p:to>
                                    </p:set>
                                    <p:anim calcmode="lin" valueType="num">
                                      <p:cBhvr>
                                        <p:cTn id="51" dur="500" fill="hold"/>
                                        <p:tgtEl>
                                          <p:spTgt spid="117774"/>
                                        </p:tgtEl>
                                        <p:attrNameLst>
                                          <p:attrName>ppt_x</p:attrName>
                                        </p:attrNameLst>
                                      </p:cBhvr>
                                      <p:tavLst>
                                        <p:tav tm="0">
                                          <p:val>
                                            <p:strVal val="#ppt_x"/>
                                          </p:val>
                                        </p:tav>
                                        <p:tav tm="100000">
                                          <p:val>
                                            <p:strVal val="#ppt_x"/>
                                          </p:val>
                                        </p:tav>
                                      </p:tavLst>
                                    </p:anim>
                                    <p:anim calcmode="lin" valueType="num">
                                      <p:cBhvr>
                                        <p:cTn id="52" dur="500" fill="hold"/>
                                        <p:tgtEl>
                                          <p:spTgt spid="11777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17775"/>
                                        </p:tgtEl>
                                        <p:attrNameLst>
                                          <p:attrName>style.visibility</p:attrName>
                                        </p:attrNameLst>
                                      </p:cBhvr>
                                      <p:to>
                                        <p:strVal val="visible"/>
                                      </p:to>
                                    </p:set>
                                    <p:anim calcmode="lin" valueType="num">
                                      <p:cBhvr>
                                        <p:cTn id="55" dur="500" fill="hold"/>
                                        <p:tgtEl>
                                          <p:spTgt spid="117775"/>
                                        </p:tgtEl>
                                        <p:attrNameLst>
                                          <p:attrName>ppt_x</p:attrName>
                                        </p:attrNameLst>
                                      </p:cBhvr>
                                      <p:tavLst>
                                        <p:tav tm="0">
                                          <p:val>
                                            <p:strVal val="#ppt_x"/>
                                          </p:val>
                                        </p:tav>
                                        <p:tav tm="100000">
                                          <p:val>
                                            <p:strVal val="#ppt_x"/>
                                          </p:val>
                                        </p:tav>
                                      </p:tavLst>
                                    </p:anim>
                                    <p:anim calcmode="lin" valueType="num">
                                      <p:cBhvr>
                                        <p:cTn id="56" dur="500" fill="hold"/>
                                        <p:tgtEl>
                                          <p:spTgt spid="11777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17776"/>
                                        </p:tgtEl>
                                        <p:attrNameLst>
                                          <p:attrName>style.visibility</p:attrName>
                                        </p:attrNameLst>
                                      </p:cBhvr>
                                      <p:to>
                                        <p:strVal val="visible"/>
                                      </p:to>
                                    </p:set>
                                    <p:anim calcmode="lin" valueType="num">
                                      <p:cBhvr>
                                        <p:cTn id="59" dur="500" fill="hold"/>
                                        <p:tgtEl>
                                          <p:spTgt spid="117776"/>
                                        </p:tgtEl>
                                        <p:attrNameLst>
                                          <p:attrName>ppt_x</p:attrName>
                                        </p:attrNameLst>
                                      </p:cBhvr>
                                      <p:tavLst>
                                        <p:tav tm="0">
                                          <p:val>
                                            <p:strVal val="#ppt_x"/>
                                          </p:val>
                                        </p:tav>
                                        <p:tav tm="100000">
                                          <p:val>
                                            <p:strVal val="#ppt_x"/>
                                          </p:val>
                                        </p:tav>
                                      </p:tavLst>
                                    </p:anim>
                                    <p:anim calcmode="lin" valueType="num">
                                      <p:cBhvr>
                                        <p:cTn id="60" dur="500" fill="hold"/>
                                        <p:tgtEl>
                                          <p:spTgt spid="117776"/>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17777"/>
                                        </p:tgtEl>
                                        <p:attrNameLst>
                                          <p:attrName>style.visibility</p:attrName>
                                        </p:attrNameLst>
                                      </p:cBhvr>
                                      <p:to>
                                        <p:strVal val="visible"/>
                                      </p:to>
                                    </p:set>
                                    <p:anim calcmode="lin" valueType="num">
                                      <p:cBhvr>
                                        <p:cTn id="63" dur="500" fill="hold"/>
                                        <p:tgtEl>
                                          <p:spTgt spid="117777"/>
                                        </p:tgtEl>
                                        <p:attrNameLst>
                                          <p:attrName>ppt_x</p:attrName>
                                        </p:attrNameLst>
                                      </p:cBhvr>
                                      <p:tavLst>
                                        <p:tav tm="0">
                                          <p:val>
                                            <p:strVal val="#ppt_x"/>
                                          </p:val>
                                        </p:tav>
                                        <p:tav tm="100000">
                                          <p:val>
                                            <p:strVal val="#ppt_x"/>
                                          </p:val>
                                        </p:tav>
                                      </p:tavLst>
                                    </p:anim>
                                    <p:anim calcmode="lin" valueType="num">
                                      <p:cBhvr>
                                        <p:cTn id="64" dur="500" fill="hold"/>
                                        <p:tgtEl>
                                          <p:spTgt spid="11777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17778"/>
                                        </p:tgtEl>
                                        <p:attrNameLst>
                                          <p:attrName>style.visibility</p:attrName>
                                        </p:attrNameLst>
                                      </p:cBhvr>
                                      <p:to>
                                        <p:strVal val="visible"/>
                                      </p:to>
                                    </p:set>
                                    <p:anim calcmode="lin" valueType="num">
                                      <p:cBhvr>
                                        <p:cTn id="67" dur="500" fill="hold"/>
                                        <p:tgtEl>
                                          <p:spTgt spid="117778"/>
                                        </p:tgtEl>
                                        <p:attrNameLst>
                                          <p:attrName>ppt_x</p:attrName>
                                        </p:attrNameLst>
                                      </p:cBhvr>
                                      <p:tavLst>
                                        <p:tav tm="0">
                                          <p:val>
                                            <p:strVal val="#ppt_x"/>
                                          </p:val>
                                        </p:tav>
                                        <p:tav tm="100000">
                                          <p:val>
                                            <p:strVal val="#ppt_x"/>
                                          </p:val>
                                        </p:tav>
                                      </p:tavLst>
                                    </p:anim>
                                    <p:anim calcmode="lin" valueType="num">
                                      <p:cBhvr>
                                        <p:cTn id="68" dur="500" fill="hold"/>
                                        <p:tgtEl>
                                          <p:spTgt spid="117778"/>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17779"/>
                                        </p:tgtEl>
                                        <p:attrNameLst>
                                          <p:attrName>style.visibility</p:attrName>
                                        </p:attrNameLst>
                                      </p:cBhvr>
                                      <p:to>
                                        <p:strVal val="visible"/>
                                      </p:to>
                                    </p:set>
                                    <p:anim calcmode="lin" valueType="num">
                                      <p:cBhvr>
                                        <p:cTn id="71" dur="500" fill="hold"/>
                                        <p:tgtEl>
                                          <p:spTgt spid="117779"/>
                                        </p:tgtEl>
                                        <p:attrNameLst>
                                          <p:attrName>ppt_x</p:attrName>
                                        </p:attrNameLst>
                                      </p:cBhvr>
                                      <p:tavLst>
                                        <p:tav tm="0">
                                          <p:val>
                                            <p:strVal val="#ppt_x"/>
                                          </p:val>
                                        </p:tav>
                                        <p:tav tm="100000">
                                          <p:val>
                                            <p:strVal val="#ppt_x"/>
                                          </p:val>
                                        </p:tav>
                                      </p:tavLst>
                                    </p:anim>
                                    <p:anim calcmode="lin" valueType="num">
                                      <p:cBhvr>
                                        <p:cTn id="72" dur="500" fill="hold"/>
                                        <p:tgtEl>
                                          <p:spTgt spid="117779"/>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17780"/>
                                        </p:tgtEl>
                                        <p:attrNameLst>
                                          <p:attrName>style.visibility</p:attrName>
                                        </p:attrNameLst>
                                      </p:cBhvr>
                                      <p:to>
                                        <p:strVal val="visible"/>
                                      </p:to>
                                    </p:set>
                                    <p:anim calcmode="lin" valueType="num">
                                      <p:cBhvr>
                                        <p:cTn id="75" dur="500" fill="hold"/>
                                        <p:tgtEl>
                                          <p:spTgt spid="117780"/>
                                        </p:tgtEl>
                                        <p:attrNameLst>
                                          <p:attrName>ppt_x</p:attrName>
                                        </p:attrNameLst>
                                      </p:cBhvr>
                                      <p:tavLst>
                                        <p:tav tm="0">
                                          <p:val>
                                            <p:strVal val="#ppt_x"/>
                                          </p:val>
                                        </p:tav>
                                        <p:tav tm="100000">
                                          <p:val>
                                            <p:strVal val="#ppt_x"/>
                                          </p:val>
                                        </p:tav>
                                      </p:tavLst>
                                    </p:anim>
                                    <p:anim calcmode="lin" valueType="num">
                                      <p:cBhvr>
                                        <p:cTn id="76" dur="500" fill="hold"/>
                                        <p:tgtEl>
                                          <p:spTgt spid="117780"/>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117781"/>
                                        </p:tgtEl>
                                        <p:attrNameLst>
                                          <p:attrName>style.visibility</p:attrName>
                                        </p:attrNameLst>
                                      </p:cBhvr>
                                      <p:to>
                                        <p:strVal val="visible"/>
                                      </p:to>
                                    </p:set>
                                    <p:anim calcmode="lin" valueType="num">
                                      <p:cBhvr>
                                        <p:cTn id="79" dur="500" fill="hold"/>
                                        <p:tgtEl>
                                          <p:spTgt spid="117781"/>
                                        </p:tgtEl>
                                        <p:attrNameLst>
                                          <p:attrName>ppt_x</p:attrName>
                                        </p:attrNameLst>
                                      </p:cBhvr>
                                      <p:tavLst>
                                        <p:tav tm="0">
                                          <p:val>
                                            <p:strVal val="#ppt_x"/>
                                          </p:val>
                                        </p:tav>
                                        <p:tav tm="100000">
                                          <p:val>
                                            <p:strVal val="#ppt_x"/>
                                          </p:val>
                                        </p:tav>
                                      </p:tavLst>
                                    </p:anim>
                                    <p:anim calcmode="lin" valueType="num">
                                      <p:cBhvr>
                                        <p:cTn id="80" dur="500" fill="hold"/>
                                        <p:tgtEl>
                                          <p:spTgt spid="117781"/>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117782"/>
                                        </p:tgtEl>
                                        <p:attrNameLst>
                                          <p:attrName>style.visibility</p:attrName>
                                        </p:attrNameLst>
                                      </p:cBhvr>
                                      <p:to>
                                        <p:strVal val="visible"/>
                                      </p:to>
                                    </p:set>
                                    <p:anim calcmode="lin" valueType="num">
                                      <p:cBhvr>
                                        <p:cTn id="83" dur="500" fill="hold"/>
                                        <p:tgtEl>
                                          <p:spTgt spid="117782"/>
                                        </p:tgtEl>
                                        <p:attrNameLst>
                                          <p:attrName>ppt_x</p:attrName>
                                        </p:attrNameLst>
                                      </p:cBhvr>
                                      <p:tavLst>
                                        <p:tav tm="0">
                                          <p:val>
                                            <p:strVal val="#ppt_x"/>
                                          </p:val>
                                        </p:tav>
                                        <p:tav tm="100000">
                                          <p:val>
                                            <p:strVal val="#ppt_x"/>
                                          </p:val>
                                        </p:tav>
                                      </p:tavLst>
                                    </p:anim>
                                    <p:anim calcmode="lin" valueType="num">
                                      <p:cBhvr>
                                        <p:cTn id="84" dur="500" fill="hold"/>
                                        <p:tgtEl>
                                          <p:spTgt spid="117782"/>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117783"/>
                                        </p:tgtEl>
                                        <p:attrNameLst>
                                          <p:attrName>style.visibility</p:attrName>
                                        </p:attrNameLst>
                                      </p:cBhvr>
                                      <p:to>
                                        <p:strVal val="visible"/>
                                      </p:to>
                                    </p:set>
                                    <p:anim calcmode="lin" valueType="num">
                                      <p:cBhvr>
                                        <p:cTn id="87" dur="500" fill="hold"/>
                                        <p:tgtEl>
                                          <p:spTgt spid="117783"/>
                                        </p:tgtEl>
                                        <p:attrNameLst>
                                          <p:attrName>ppt_x</p:attrName>
                                        </p:attrNameLst>
                                      </p:cBhvr>
                                      <p:tavLst>
                                        <p:tav tm="0">
                                          <p:val>
                                            <p:strVal val="#ppt_x"/>
                                          </p:val>
                                        </p:tav>
                                        <p:tav tm="100000">
                                          <p:val>
                                            <p:strVal val="#ppt_x"/>
                                          </p:val>
                                        </p:tav>
                                      </p:tavLst>
                                    </p:anim>
                                    <p:anim calcmode="lin" valueType="num">
                                      <p:cBhvr>
                                        <p:cTn id="88" dur="500" fill="hold"/>
                                        <p:tgtEl>
                                          <p:spTgt spid="117783"/>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117784"/>
                                        </p:tgtEl>
                                        <p:attrNameLst>
                                          <p:attrName>style.visibility</p:attrName>
                                        </p:attrNameLst>
                                      </p:cBhvr>
                                      <p:to>
                                        <p:strVal val="visible"/>
                                      </p:to>
                                    </p:set>
                                    <p:anim calcmode="lin" valueType="num">
                                      <p:cBhvr>
                                        <p:cTn id="91" dur="500" fill="hold"/>
                                        <p:tgtEl>
                                          <p:spTgt spid="117784"/>
                                        </p:tgtEl>
                                        <p:attrNameLst>
                                          <p:attrName>ppt_x</p:attrName>
                                        </p:attrNameLst>
                                      </p:cBhvr>
                                      <p:tavLst>
                                        <p:tav tm="0">
                                          <p:val>
                                            <p:strVal val="#ppt_x"/>
                                          </p:val>
                                        </p:tav>
                                        <p:tav tm="100000">
                                          <p:val>
                                            <p:strVal val="#ppt_x"/>
                                          </p:val>
                                        </p:tav>
                                      </p:tavLst>
                                    </p:anim>
                                    <p:anim calcmode="lin" valueType="num">
                                      <p:cBhvr>
                                        <p:cTn id="92" dur="500" fill="hold"/>
                                        <p:tgtEl>
                                          <p:spTgt spid="117784"/>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117785"/>
                                        </p:tgtEl>
                                        <p:attrNameLst>
                                          <p:attrName>style.visibility</p:attrName>
                                        </p:attrNameLst>
                                      </p:cBhvr>
                                      <p:to>
                                        <p:strVal val="visible"/>
                                      </p:to>
                                    </p:set>
                                    <p:anim calcmode="lin" valueType="num">
                                      <p:cBhvr>
                                        <p:cTn id="95" dur="500" fill="hold"/>
                                        <p:tgtEl>
                                          <p:spTgt spid="117785"/>
                                        </p:tgtEl>
                                        <p:attrNameLst>
                                          <p:attrName>ppt_x</p:attrName>
                                        </p:attrNameLst>
                                      </p:cBhvr>
                                      <p:tavLst>
                                        <p:tav tm="0">
                                          <p:val>
                                            <p:strVal val="#ppt_x"/>
                                          </p:val>
                                        </p:tav>
                                        <p:tav tm="100000">
                                          <p:val>
                                            <p:strVal val="#ppt_x"/>
                                          </p:val>
                                        </p:tav>
                                      </p:tavLst>
                                    </p:anim>
                                    <p:anim calcmode="lin" valueType="num">
                                      <p:cBhvr>
                                        <p:cTn id="96" dur="500" fill="hold"/>
                                        <p:tgtEl>
                                          <p:spTgt spid="1177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animBg="1"/>
      <p:bldP spid="117775" grpId="0"/>
      <p:bldP spid="117776" grpId="0"/>
      <p:bldP spid="117777" grpId="0"/>
      <p:bldP spid="117778" grpId="0"/>
      <p:bldP spid="117779" grpId="0"/>
      <p:bldP spid="117780" grpId="0"/>
      <p:bldP spid="117783" grpId="0"/>
      <p:bldP spid="117784" grpId="0"/>
      <p:bldP spid="117785"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3"/>
          <p:cNvSpPr>
            <a:spLocks noGrp="1"/>
          </p:cNvSpPr>
          <p:nvPr>
            <p:ph type="body" idx="4294967295"/>
          </p:nvPr>
        </p:nvSpPr>
        <p:spPr>
          <a:xfrm>
            <a:off x="415925" y="1490663"/>
            <a:ext cx="3760788" cy="4386262"/>
          </a:xfrm>
        </p:spPr>
        <p:txBody>
          <a:bodyPr vert="horz" wrap="square" lIns="91440" tIns="45720" rIns="91440" bIns="45720" anchor="t" anchorCtr="0"/>
          <a:p>
            <a:pPr eaLnBrk="1" hangingPunct="1">
              <a:spcBef>
                <a:spcPct val="0"/>
              </a:spcBef>
              <a:buNone/>
            </a:pPr>
            <a:r>
              <a:rPr lang="en-US" altLang="zh-CN" sz="3200" b="0" dirty="0">
                <a:latin typeface="Times New Roman" panose="02020603050405020304" pitchFamily="18" charset="0"/>
                <a:ea typeface="宋体" panose="02010600030101010101" pitchFamily="2" charset="-122"/>
              </a:rPr>
              <a:t>         </a:t>
            </a:r>
            <a:r>
              <a:rPr lang="en-US" altLang="zh-CN" sz="2400" dirty="0">
                <a:latin typeface="宋体" panose="02010600030101010101" pitchFamily="2" charset="-122"/>
                <a:ea typeface="宋体" panose="02010600030101010101" pitchFamily="2" charset="-122"/>
              </a:rPr>
              <a:t>MOV SI,1000H</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MOV DI,3000H</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MOV CX,4	</a:t>
            </a:r>
            <a:endParaRPr lang="zh-CN" altLang="en-US" sz="2400" dirty="0">
              <a:latin typeface="宋体" panose="02010600030101010101" pitchFamily="2" charset="-122"/>
              <a:ea typeface="宋体" panose="02010600030101010101" pitchFamily="2" charset="-122"/>
            </a:endParaRPr>
          </a:p>
          <a:p>
            <a:pPr eaLnBrk="1" hangingPunct="1">
              <a:spcBef>
                <a:spcPct val="10000"/>
              </a:spcBef>
              <a:buNone/>
            </a:pPr>
            <a:r>
              <a:rPr lang="en-US" altLang="zh-CN" sz="2400" dirty="0">
                <a:latin typeface="宋体" panose="02010600030101010101" pitchFamily="2" charset="-122"/>
                <a:ea typeface="宋体" panose="02010600030101010101" pitchFamily="2" charset="-122"/>
              </a:rPr>
              <a:t>Next：MOV AL,[SI]</a:t>
            </a:r>
            <a:endParaRPr lang="en-US" altLang="zh-CN" sz="2400" dirty="0">
              <a:latin typeface="宋体" panose="02010600030101010101" pitchFamily="2" charset="-122"/>
              <a:ea typeface="宋体" panose="02010600030101010101" pitchFamily="2" charset="-122"/>
            </a:endParaRPr>
          </a:p>
          <a:p>
            <a:pPr eaLnBrk="1" hangingPunct="1">
              <a:spcBef>
                <a:spcPct val="10000"/>
              </a:spcBef>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MOV BL,AL	</a:t>
            </a:r>
            <a:r>
              <a:rPr lang="zh-CN" altLang="en-US" sz="2400" dirty="0">
                <a:latin typeface="宋体" panose="02010600030101010101" pitchFamily="2" charset="-122"/>
                <a:ea typeface="宋体" panose="02010600030101010101" pitchFamily="2" charset="-122"/>
              </a:rPr>
              <a:t>    </a:t>
            </a:r>
            <a:endParaRPr lang="zh-CN" altLang="en-US" sz="2400" dirty="0">
              <a:latin typeface="宋体" panose="02010600030101010101" pitchFamily="2" charset="-122"/>
              <a:ea typeface="宋体" panose="02010600030101010101" pitchFamily="2" charset="-122"/>
            </a:endParaRPr>
          </a:p>
          <a:p>
            <a:pPr eaLnBrk="1" hangingPunct="1">
              <a:spcBef>
                <a:spcPct val="10000"/>
              </a:spcBef>
              <a:buNone/>
            </a:pPr>
            <a:r>
              <a:rPr lang="en-US" altLang="zh-CN" sz="2400" dirty="0">
                <a:latin typeface="宋体" panose="02010600030101010101" pitchFamily="2" charset="-122"/>
                <a:ea typeface="宋体" panose="02010600030101010101" pitchFamily="2" charset="-122"/>
              </a:rPr>
              <a:t>      AND AL,0FH	</a:t>
            </a:r>
            <a:endParaRPr lang="en-US" altLang="zh-CN" sz="2400" dirty="0">
              <a:latin typeface="宋体" panose="02010600030101010101" pitchFamily="2" charset="-122"/>
              <a:ea typeface="宋体" panose="02010600030101010101" pitchFamily="2" charset="-122"/>
            </a:endParaRPr>
          </a:p>
          <a:p>
            <a:pPr eaLnBrk="1" hangingPunct="1">
              <a:spcBef>
                <a:spcPct val="10000"/>
              </a:spcBef>
              <a:buNone/>
            </a:pPr>
            <a:r>
              <a:rPr lang="en-US" altLang="zh-CN" sz="2400" dirty="0">
                <a:latin typeface="宋体" panose="02010600030101010101" pitchFamily="2" charset="-122"/>
                <a:ea typeface="宋体" panose="02010600030101010101" pitchFamily="2" charset="-122"/>
              </a:rPr>
              <a:t>      </a:t>
            </a:r>
            <a:r>
              <a:rPr lang="en-US" altLang="zh-CN" sz="2400" dirty="0">
                <a:solidFill>
                  <a:srgbClr val="FF0000"/>
                </a:solidFill>
                <a:latin typeface="宋体" panose="02010600030101010101" pitchFamily="2" charset="-122"/>
                <a:ea typeface="宋体" panose="02010600030101010101" pitchFamily="2" charset="-122"/>
              </a:rPr>
              <a:t>OR AL,30H</a:t>
            </a:r>
            <a:endParaRPr lang="en-US" altLang="zh-CN" sz="2400" dirty="0">
              <a:solidFill>
                <a:srgbClr val="FF0000"/>
              </a:solidFill>
              <a:latin typeface="宋体" panose="02010600030101010101" pitchFamily="2" charset="-122"/>
              <a:ea typeface="宋体" panose="02010600030101010101" pitchFamily="2" charset="-122"/>
            </a:endParaRPr>
          </a:p>
          <a:p>
            <a:pPr eaLnBrk="1" hangingPunct="1">
              <a:spcBef>
                <a:spcPct val="10000"/>
              </a:spcBef>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MOV [DI],AL</a:t>
            </a:r>
            <a:endParaRPr lang="en-US" altLang="zh-CN" sz="2400" dirty="0">
              <a:latin typeface="宋体" panose="02010600030101010101" pitchFamily="2" charset="-122"/>
              <a:ea typeface="宋体" panose="02010600030101010101" pitchFamily="2" charset="-122"/>
            </a:endParaRPr>
          </a:p>
          <a:p>
            <a:pPr eaLnBrk="1" hangingPunct="1">
              <a:spcBef>
                <a:spcPct val="10000"/>
              </a:spcBef>
              <a:buNone/>
            </a:pPr>
            <a:r>
              <a:rPr lang="en-US" altLang="zh-CN" sz="2400" dirty="0">
                <a:latin typeface="宋体" panose="02010600030101010101" pitchFamily="2" charset="-122"/>
                <a:ea typeface="宋体" panose="02010600030101010101" pitchFamily="2" charset="-122"/>
              </a:rPr>
              <a:t>      INC DI</a:t>
            </a:r>
            <a:endParaRPr lang="en-US" altLang="zh-CN" sz="2400" dirty="0">
              <a:latin typeface="宋体" panose="02010600030101010101" pitchFamily="2" charset="-122"/>
              <a:ea typeface="宋体" panose="02010600030101010101" pitchFamily="2" charset="-122"/>
            </a:endParaRPr>
          </a:p>
          <a:p>
            <a:pPr eaLnBrk="1" hangingPunct="1">
              <a:spcBef>
                <a:spcPct val="10000"/>
              </a:spcBef>
              <a:buNone/>
            </a:pPr>
            <a:r>
              <a:rPr lang="en-US" altLang="zh-CN" sz="2400" dirty="0">
                <a:latin typeface="宋体" panose="02010600030101010101" pitchFamily="2" charset="-122"/>
                <a:ea typeface="宋体" panose="02010600030101010101" pitchFamily="2" charset="-122"/>
              </a:rPr>
              <a:t>      MOV AL,BL</a:t>
            </a:r>
            <a:endParaRPr lang="zh-CN" altLang="en-US" sz="2400" dirty="0">
              <a:latin typeface="宋体" panose="02010600030101010101" pitchFamily="2" charset="-122"/>
              <a:ea typeface="宋体" panose="02010600030101010101" pitchFamily="2" charset="-122"/>
            </a:endParaRPr>
          </a:p>
        </p:txBody>
      </p:sp>
      <p:sp>
        <p:nvSpPr>
          <p:cNvPr id="118787" name="Text Box 4"/>
          <p:cNvSpPr txBox="1">
            <a:spLocks noChangeArrowheads="1"/>
          </p:cNvSpPr>
          <p:nvPr/>
        </p:nvSpPr>
        <p:spPr bwMode="auto">
          <a:xfrm>
            <a:off x="4716463" y="1619250"/>
            <a:ext cx="2895600" cy="4683125"/>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0" fontAlgn="base" latinLnBrk="0" hangingPunct="0">
              <a:lnSpc>
                <a:spcPct val="105000"/>
              </a:lnSpc>
              <a:spcBef>
                <a:spcPct val="10000"/>
              </a:spcBef>
              <a:spcAft>
                <a:spcPct val="0"/>
              </a:spcAft>
              <a:buClr>
                <a:schemeClr val="accent2"/>
              </a:buClr>
              <a:buSzPct val="80000"/>
              <a:buFont typeface="Wingdings" panose="05000000000000000000" pitchFamily="2" charset="2"/>
              <a:buNone/>
              <a:defRPr/>
            </a:pPr>
            <a:r>
              <a:rPr kumimoji="0" lang="en-US" altLang="zh-CN"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PUSH CX</a:t>
            </a:r>
            <a:endParaRPr kumimoji="0" lang="en-US" altLang="zh-CN"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5000"/>
              </a:lnSpc>
              <a:spcBef>
                <a:spcPct val="10000"/>
              </a:spcBef>
              <a:spcAft>
                <a:spcPct val="0"/>
              </a:spcAft>
              <a:buClr>
                <a:schemeClr val="accent2"/>
              </a:buClr>
              <a:buSzPct val="80000"/>
              <a:buFont typeface="Wingdings" panose="05000000000000000000" pitchFamily="2" charset="2"/>
              <a:buNone/>
              <a:defRPr/>
            </a:pPr>
            <a:r>
              <a:rPr kumimoji="0" lang="en-US" altLang="zh-CN" sz="2400" b="1"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MOV CL,4</a:t>
            </a:r>
            <a:endParaRPr kumimoji="0" lang="en-US" altLang="zh-CN" sz="2400" b="1"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5000"/>
              </a:lnSpc>
              <a:spcBef>
                <a:spcPct val="1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SHR  AL,CL</a:t>
            </a:r>
            <a:endParaRPr kumimoji="0" lang="en-US" altLang="zh-CN" sz="2400" b="1"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5000"/>
              </a:lnSpc>
              <a:spcBef>
                <a:spcPct val="1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OR   AL,30H</a:t>
            </a:r>
            <a:endParaRPr kumimoji="0" lang="en-US" altLang="zh-CN" sz="2400" b="1"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5000"/>
              </a:lnSpc>
              <a:spcBef>
                <a:spcPct val="1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MOV  [DI],AL</a:t>
            </a:r>
            <a:endParaRPr kumimoji="0" lang="en-US" altLang="zh-CN" sz="2400" b="1"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5000"/>
              </a:lnSpc>
              <a:spcBef>
                <a:spcPct val="1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INC  DI</a:t>
            </a:r>
            <a:endParaRPr kumimoji="0" lang="en-US" altLang="zh-CN"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5000"/>
              </a:lnSpc>
              <a:spcBef>
                <a:spcPct val="1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INC SI</a:t>
            </a:r>
            <a:endParaRPr kumimoji="0" lang="en-US" altLang="zh-CN"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5000"/>
              </a:lnSpc>
              <a:spcBef>
                <a:spcPct val="1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POP CX</a:t>
            </a:r>
            <a:endParaRPr kumimoji="0" lang="en-US" altLang="zh-CN" sz="2400" b="1" i="0" u="none" strike="noStrike" kern="1200" cap="none" spc="0" normalizeH="0" baseline="0" noProof="0" dirty="0" smtClean="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5000"/>
              </a:lnSpc>
              <a:spcBef>
                <a:spcPct val="1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DEC CX</a:t>
            </a:r>
            <a:endParaRPr kumimoji="0" lang="en-US" altLang="zh-CN"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5000"/>
              </a:lnSpc>
              <a:spcBef>
                <a:spcPct val="1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JNZ  Next</a:t>
            </a:r>
            <a:endParaRPr kumimoji="0" lang="en-US" altLang="zh-CN"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05000"/>
              </a:lnSpc>
              <a:spcBef>
                <a:spcPct val="1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HLT</a:t>
            </a:r>
            <a:endParaRPr kumimoji="0" lang="en-US" altLang="zh-CN" sz="2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
        <p:nvSpPr>
          <p:cNvPr id="118788" name="Line 5"/>
          <p:cNvSpPr/>
          <p:nvPr/>
        </p:nvSpPr>
        <p:spPr>
          <a:xfrm>
            <a:off x="4356100" y="1828800"/>
            <a:ext cx="0" cy="5029200"/>
          </a:xfrm>
          <a:prstGeom prst="line">
            <a:avLst/>
          </a:prstGeom>
          <a:ln w="25400" cap="flat" cmpd="sng">
            <a:solidFill>
              <a:srgbClr val="FF6600"/>
            </a:solidFill>
            <a:prstDash val="dash"/>
            <a:headEnd type="none" w="med" len="med"/>
            <a:tailEnd type="none" w="med" len="med"/>
          </a:ln>
        </p:spPr>
      </p:sp>
      <p:sp>
        <p:nvSpPr>
          <p:cNvPr id="116741" name="线形标注 2 1"/>
          <p:cNvSpPr/>
          <p:nvPr/>
        </p:nvSpPr>
        <p:spPr>
          <a:xfrm>
            <a:off x="3492500" y="3960813"/>
            <a:ext cx="1223963" cy="647700"/>
          </a:xfrm>
          <a:prstGeom prst="borderCallout2">
            <a:avLst>
              <a:gd name="adj1" fmla="val 18750"/>
              <a:gd name="adj2" fmla="val -8333"/>
              <a:gd name="adj3" fmla="val 18750"/>
              <a:gd name="adj4" fmla="val -16667"/>
              <a:gd name="adj5" fmla="val 47250"/>
              <a:gd name="adj6" fmla="val -52241"/>
            </a:avLst>
          </a:prstGeom>
          <a:solidFill>
            <a:schemeClr val="accent1"/>
          </a:solidFill>
          <a:ln w="9525" cap="flat" cmpd="sng">
            <a:solidFill>
              <a:schemeClr val="tx1"/>
            </a:solidFill>
            <a:prstDash val="solid"/>
            <a:round/>
            <a:headEnd type="none" w="med" len="med"/>
            <a:tailEnd type="none" w="med" len="med"/>
          </a:ln>
        </p:spPr>
        <p:txBody>
          <a:bodyPr/>
          <a:p>
            <a:pPr eaLnBrk="0" hangingPunct="0"/>
            <a:r>
              <a:rPr lang="zh-CN" altLang="en-US" dirty="0">
                <a:latin typeface="Arial" panose="020B0604020202020204" pitchFamily="34" charset="0"/>
                <a:ea typeface="宋体" panose="02010600030101010101" pitchFamily="2" charset="-122"/>
              </a:rPr>
              <a:t>为什么要或</a:t>
            </a:r>
            <a:r>
              <a:rPr lang="en-US" altLang="zh-CN" dirty="0">
                <a:latin typeface="Arial" panose="020B0604020202020204" pitchFamily="34" charset="0"/>
                <a:ea typeface="宋体" panose="02010600030101010101" pitchFamily="2" charset="-122"/>
              </a:rPr>
              <a:t>30H</a:t>
            </a:r>
            <a:endParaRPr lang="zh-CN" altLang="en-US" dirty="0">
              <a:latin typeface="Arial" panose="020B0604020202020204" pitchFamily="34"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8786">
                                            <p:txEl>
                                              <p:charRg st="0" end="22"/>
                                            </p:txEl>
                                          </p:spTgt>
                                        </p:tgtEl>
                                        <p:attrNameLst>
                                          <p:attrName>style.visibility</p:attrName>
                                        </p:attrNameLst>
                                      </p:cBhvr>
                                      <p:to>
                                        <p:strVal val="visible"/>
                                      </p:to>
                                    </p:set>
                                    <p:animEffect transition="in" filter="blinds(horizontal)">
                                      <p:cBhvr>
                                        <p:cTn id="7" dur="500"/>
                                        <p:tgtEl>
                                          <p:spTgt spid="118786">
                                            <p:txEl>
                                              <p:charRg st="0" end="2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18786">
                                            <p:txEl>
                                              <p:charRg st="22" end="41"/>
                                            </p:txEl>
                                          </p:spTgt>
                                        </p:tgtEl>
                                        <p:attrNameLst>
                                          <p:attrName>style.visibility</p:attrName>
                                        </p:attrNameLst>
                                      </p:cBhvr>
                                      <p:to>
                                        <p:strVal val="visible"/>
                                      </p:to>
                                    </p:set>
                                    <p:animEffect transition="in" filter="blinds(horizontal)">
                                      <p:cBhvr>
                                        <p:cTn id="10" dur="500"/>
                                        <p:tgtEl>
                                          <p:spTgt spid="118786">
                                            <p:txEl>
                                              <p:charRg st="22" end="4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18786">
                                            <p:txEl>
                                              <p:charRg st="41" end="57"/>
                                            </p:txEl>
                                          </p:spTgt>
                                        </p:tgtEl>
                                        <p:attrNameLst>
                                          <p:attrName>style.visibility</p:attrName>
                                        </p:attrNameLst>
                                      </p:cBhvr>
                                      <p:to>
                                        <p:strVal val="visible"/>
                                      </p:to>
                                    </p:set>
                                    <p:animEffect transition="in" filter="blinds(horizontal)">
                                      <p:cBhvr>
                                        <p:cTn id="13" dur="500"/>
                                        <p:tgtEl>
                                          <p:spTgt spid="118786">
                                            <p:txEl>
                                              <p:charRg st="41" end="57"/>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18786">
                                            <p:txEl>
                                              <p:charRg st="57" end="74"/>
                                            </p:txEl>
                                          </p:spTgt>
                                        </p:tgtEl>
                                        <p:attrNameLst>
                                          <p:attrName>style.visibility</p:attrName>
                                        </p:attrNameLst>
                                      </p:cBhvr>
                                      <p:to>
                                        <p:strVal val="visible"/>
                                      </p:to>
                                    </p:set>
                                    <p:animEffect transition="in" filter="blinds(horizontal)">
                                      <p:cBhvr>
                                        <p:cTn id="18" dur="500"/>
                                        <p:tgtEl>
                                          <p:spTgt spid="118786">
                                            <p:txEl>
                                              <p:charRg st="57" end="74"/>
                                            </p:txEl>
                                          </p:spTgt>
                                        </p:tgtEl>
                                      </p:cBhvr>
                                    </p:animEffect>
                                  </p:childTnLst>
                                </p:cTn>
                              </p:par>
                            </p:childTnLst>
                          </p:cTn>
                        </p:par>
                        <p:par>
                          <p:cTn id="19" fill="hold">
                            <p:stCondLst>
                              <p:cond delay="500"/>
                            </p:stCondLst>
                            <p:childTnLst>
                              <p:par>
                                <p:cTn id="20" presetID="3" presetClass="entr" presetSubtype="10" fill="hold" nodeType="afterEffect">
                                  <p:stCondLst>
                                    <p:cond delay="0"/>
                                  </p:stCondLst>
                                  <p:childTnLst>
                                    <p:set>
                                      <p:cBhvr>
                                        <p:cTn id="21" dur="1" fill="hold">
                                          <p:stCondLst>
                                            <p:cond delay="0"/>
                                          </p:stCondLst>
                                        </p:cTn>
                                        <p:tgtEl>
                                          <p:spTgt spid="118786">
                                            <p:txEl>
                                              <p:charRg st="74" end="95"/>
                                            </p:txEl>
                                          </p:spTgt>
                                        </p:tgtEl>
                                        <p:attrNameLst>
                                          <p:attrName>style.visibility</p:attrName>
                                        </p:attrNameLst>
                                      </p:cBhvr>
                                      <p:to>
                                        <p:strVal val="visible"/>
                                      </p:to>
                                    </p:set>
                                    <p:animEffect transition="in" filter="blinds(horizontal)">
                                      <p:cBhvr>
                                        <p:cTn id="22" dur="500"/>
                                        <p:tgtEl>
                                          <p:spTgt spid="118786">
                                            <p:txEl>
                                              <p:charRg st="74" end="9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8786">
                                            <p:txEl>
                                              <p:charRg st="95" end="113"/>
                                            </p:txEl>
                                          </p:spTgt>
                                        </p:tgtEl>
                                        <p:attrNameLst>
                                          <p:attrName>style.visibility</p:attrName>
                                        </p:attrNameLst>
                                      </p:cBhvr>
                                      <p:to>
                                        <p:strVal val="visible"/>
                                      </p:to>
                                    </p:set>
                                    <p:animEffect transition="in" filter="wipe(left)">
                                      <p:cBhvr>
                                        <p:cTn id="27" dur="500"/>
                                        <p:tgtEl>
                                          <p:spTgt spid="118786">
                                            <p:txEl>
                                              <p:charRg st="95" end="11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8786">
                                            <p:txEl>
                                              <p:charRg st="113" end="129"/>
                                            </p:txEl>
                                          </p:spTgt>
                                        </p:tgtEl>
                                        <p:attrNameLst>
                                          <p:attrName>style.visibility</p:attrName>
                                        </p:attrNameLst>
                                      </p:cBhvr>
                                      <p:to>
                                        <p:strVal val="visible"/>
                                      </p:to>
                                    </p:set>
                                    <p:animEffect transition="in" filter="wipe(left)">
                                      <p:cBhvr>
                                        <p:cTn id="32" dur="500"/>
                                        <p:tgtEl>
                                          <p:spTgt spid="118786">
                                            <p:txEl>
                                              <p:charRg st="113" end="12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18786">
                                            <p:txEl>
                                              <p:charRg st="129" end="147"/>
                                            </p:txEl>
                                          </p:spTgt>
                                        </p:tgtEl>
                                        <p:attrNameLst>
                                          <p:attrName>style.visibility</p:attrName>
                                        </p:attrNameLst>
                                      </p:cBhvr>
                                      <p:to>
                                        <p:strVal val="visible"/>
                                      </p:to>
                                    </p:set>
                                    <p:animEffect transition="in" filter="wipe(left)">
                                      <p:cBhvr>
                                        <p:cTn id="37" dur="500"/>
                                        <p:tgtEl>
                                          <p:spTgt spid="118786">
                                            <p:txEl>
                                              <p:charRg st="129" end="14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18786">
                                            <p:txEl>
                                              <p:charRg st="147" end="160"/>
                                            </p:txEl>
                                          </p:spTgt>
                                        </p:tgtEl>
                                        <p:attrNameLst>
                                          <p:attrName>style.visibility</p:attrName>
                                        </p:attrNameLst>
                                      </p:cBhvr>
                                      <p:to>
                                        <p:strVal val="visible"/>
                                      </p:to>
                                    </p:set>
                                    <p:animEffect transition="in" filter="blinds(horizontal)">
                                      <p:cBhvr>
                                        <p:cTn id="42" dur="500"/>
                                        <p:tgtEl>
                                          <p:spTgt spid="118786">
                                            <p:txEl>
                                              <p:charRg st="147" end="160"/>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118786">
                                            <p:txEl>
                                              <p:charRg st="160" end="176"/>
                                            </p:txEl>
                                          </p:spTgt>
                                        </p:tgtEl>
                                        <p:attrNameLst>
                                          <p:attrName>style.visibility</p:attrName>
                                        </p:attrNameLst>
                                      </p:cBhvr>
                                      <p:to>
                                        <p:strVal val="visible"/>
                                      </p:to>
                                    </p:set>
                                    <p:animEffect transition="in" filter="blinds(horizontal)">
                                      <p:cBhvr>
                                        <p:cTn id="45" dur="500"/>
                                        <p:tgtEl>
                                          <p:spTgt spid="118786">
                                            <p:txEl>
                                              <p:charRg st="160" end="176"/>
                                            </p:txEl>
                                          </p:spTgt>
                                        </p:tgtEl>
                                      </p:cBhvr>
                                    </p:animEffect>
                                  </p:childTnLst>
                                </p:cTn>
                              </p:par>
                            </p:childTnLst>
                          </p:cTn>
                        </p:par>
                        <p:par>
                          <p:cTn id="46" fill="hold">
                            <p:stCondLst>
                              <p:cond delay="500"/>
                            </p:stCondLst>
                            <p:childTnLst>
                              <p:par>
                                <p:cTn id="47" presetID="22" presetClass="entr" presetSubtype="1" fill="hold" nodeType="afterEffect">
                                  <p:stCondLst>
                                    <p:cond delay="0"/>
                                  </p:stCondLst>
                                  <p:childTnLst>
                                    <p:set>
                                      <p:cBhvr>
                                        <p:cTn id="48" dur="1" fill="hold">
                                          <p:stCondLst>
                                            <p:cond delay="0"/>
                                          </p:stCondLst>
                                        </p:cTn>
                                        <p:tgtEl>
                                          <p:spTgt spid="118788"/>
                                        </p:tgtEl>
                                        <p:attrNameLst>
                                          <p:attrName>style.visibility</p:attrName>
                                        </p:attrNameLst>
                                      </p:cBhvr>
                                      <p:to>
                                        <p:strVal val="visible"/>
                                      </p:to>
                                    </p:set>
                                    <p:animEffect transition="in" filter="wipe(up)">
                                      <p:cBhvr>
                                        <p:cTn id="49" dur="500"/>
                                        <p:tgtEl>
                                          <p:spTgt spid="118788"/>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118787">
                                            <p:txEl>
                                              <p:charRg st="8" end="17"/>
                                            </p:txEl>
                                          </p:spTgt>
                                        </p:tgtEl>
                                        <p:attrNameLst>
                                          <p:attrName>style.visibility</p:attrName>
                                        </p:attrNameLst>
                                      </p:cBhvr>
                                      <p:to>
                                        <p:strVal val="visible"/>
                                      </p:to>
                                    </p:set>
                                    <p:animEffect transition="in" filter="blinds(horizontal)">
                                      <p:cBhvr>
                                        <p:cTn id="54" dur="500"/>
                                        <p:tgtEl>
                                          <p:spTgt spid="118787">
                                            <p:txEl>
                                              <p:charRg st="8" end="17"/>
                                            </p:txEl>
                                          </p:spTgt>
                                        </p:tgtEl>
                                      </p:cBhvr>
                                    </p:animEffect>
                                  </p:childTnLst>
                                </p:cTn>
                              </p:par>
                              <p:par>
                                <p:cTn id="55" presetID="3" presetClass="entr" presetSubtype="10" fill="hold" nodeType="withEffect">
                                  <p:stCondLst>
                                    <p:cond delay="0"/>
                                  </p:stCondLst>
                                  <p:childTnLst>
                                    <p:set>
                                      <p:cBhvr>
                                        <p:cTn id="56" dur="1" fill="hold">
                                          <p:stCondLst>
                                            <p:cond delay="0"/>
                                          </p:stCondLst>
                                        </p:cTn>
                                        <p:tgtEl>
                                          <p:spTgt spid="118787">
                                            <p:txEl>
                                              <p:charRg st="17" end="28"/>
                                            </p:txEl>
                                          </p:spTgt>
                                        </p:tgtEl>
                                        <p:attrNameLst>
                                          <p:attrName>style.visibility</p:attrName>
                                        </p:attrNameLst>
                                      </p:cBhvr>
                                      <p:to>
                                        <p:strVal val="visible"/>
                                      </p:to>
                                    </p:set>
                                    <p:animEffect transition="in" filter="blinds(horizontal)">
                                      <p:cBhvr>
                                        <p:cTn id="57" dur="500"/>
                                        <p:tgtEl>
                                          <p:spTgt spid="118787">
                                            <p:txEl>
                                              <p:charRg st="17" end="28"/>
                                            </p:txEl>
                                          </p:spTgt>
                                        </p:tgtEl>
                                      </p:cBhvr>
                                    </p:animEffect>
                                  </p:childTnLst>
                                </p:cTn>
                              </p:par>
                              <p:par>
                                <p:cTn id="58" presetID="3" presetClass="entr" presetSubtype="10" fill="hold" nodeType="withEffect">
                                  <p:stCondLst>
                                    <p:cond delay="0"/>
                                  </p:stCondLst>
                                  <p:childTnLst>
                                    <p:set>
                                      <p:cBhvr>
                                        <p:cTn id="59" dur="1" fill="hold">
                                          <p:stCondLst>
                                            <p:cond delay="0"/>
                                          </p:stCondLst>
                                        </p:cTn>
                                        <p:tgtEl>
                                          <p:spTgt spid="118787">
                                            <p:txEl>
                                              <p:charRg st="28" end="40"/>
                                            </p:txEl>
                                          </p:spTgt>
                                        </p:tgtEl>
                                        <p:attrNameLst>
                                          <p:attrName>style.visibility</p:attrName>
                                        </p:attrNameLst>
                                      </p:cBhvr>
                                      <p:to>
                                        <p:strVal val="visible"/>
                                      </p:to>
                                    </p:set>
                                    <p:animEffect transition="in" filter="blinds(horizontal)">
                                      <p:cBhvr>
                                        <p:cTn id="60" dur="500"/>
                                        <p:tgtEl>
                                          <p:spTgt spid="118787">
                                            <p:txEl>
                                              <p:charRg st="28" end="40"/>
                                            </p:txEl>
                                          </p:spTgt>
                                        </p:tgtEl>
                                      </p:cBhvr>
                                    </p:animEffect>
                                  </p:childTnLst>
                                </p:cTn>
                              </p:par>
                              <p:par>
                                <p:cTn id="61" presetID="3" presetClass="entr" presetSubtype="10" fill="hold" nodeType="withEffect">
                                  <p:stCondLst>
                                    <p:cond delay="0"/>
                                  </p:stCondLst>
                                  <p:childTnLst>
                                    <p:set>
                                      <p:cBhvr>
                                        <p:cTn id="62" dur="1" fill="hold">
                                          <p:stCondLst>
                                            <p:cond delay="0"/>
                                          </p:stCondLst>
                                        </p:cTn>
                                        <p:tgtEl>
                                          <p:spTgt spid="118787">
                                            <p:txEl>
                                              <p:charRg st="40" end="53"/>
                                            </p:txEl>
                                          </p:spTgt>
                                        </p:tgtEl>
                                        <p:attrNameLst>
                                          <p:attrName>style.visibility</p:attrName>
                                        </p:attrNameLst>
                                      </p:cBhvr>
                                      <p:to>
                                        <p:strVal val="visible"/>
                                      </p:to>
                                    </p:set>
                                    <p:animEffect transition="in" filter="blinds(horizontal)">
                                      <p:cBhvr>
                                        <p:cTn id="63" dur="500"/>
                                        <p:tgtEl>
                                          <p:spTgt spid="118787">
                                            <p:txEl>
                                              <p:charRg st="40" end="53"/>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18787">
                                            <p:txEl>
                                              <p:charRg st="53" end="61"/>
                                            </p:txEl>
                                          </p:spTgt>
                                        </p:tgtEl>
                                        <p:attrNameLst>
                                          <p:attrName>style.visibility</p:attrName>
                                        </p:attrNameLst>
                                      </p:cBhvr>
                                      <p:to>
                                        <p:strVal val="visible"/>
                                      </p:to>
                                    </p:set>
                                    <p:animEffect transition="in" filter="blinds(horizontal)">
                                      <p:cBhvr>
                                        <p:cTn id="68" dur="500"/>
                                        <p:tgtEl>
                                          <p:spTgt spid="118787">
                                            <p:txEl>
                                              <p:charRg st="53" end="61"/>
                                            </p:txEl>
                                          </p:spTgt>
                                        </p:tgtEl>
                                      </p:cBhvr>
                                    </p:animEffect>
                                  </p:childTnLst>
                                </p:cTn>
                              </p:par>
                              <p:par>
                                <p:cTn id="69" presetID="3" presetClass="entr" presetSubtype="10" fill="hold" nodeType="withEffect">
                                  <p:stCondLst>
                                    <p:cond delay="0"/>
                                  </p:stCondLst>
                                  <p:childTnLst>
                                    <p:set>
                                      <p:cBhvr>
                                        <p:cTn id="70" dur="1" fill="hold">
                                          <p:stCondLst>
                                            <p:cond delay="0"/>
                                          </p:stCondLst>
                                        </p:cTn>
                                        <p:tgtEl>
                                          <p:spTgt spid="118787">
                                            <p:txEl>
                                              <p:charRg st="61" end="68"/>
                                            </p:txEl>
                                          </p:spTgt>
                                        </p:tgtEl>
                                        <p:attrNameLst>
                                          <p:attrName>style.visibility</p:attrName>
                                        </p:attrNameLst>
                                      </p:cBhvr>
                                      <p:to>
                                        <p:strVal val="visible"/>
                                      </p:to>
                                    </p:set>
                                    <p:animEffect transition="in" filter="blinds(horizontal)">
                                      <p:cBhvr>
                                        <p:cTn id="71" dur="500"/>
                                        <p:tgtEl>
                                          <p:spTgt spid="118787">
                                            <p:txEl>
                                              <p:charRg st="61" end="68"/>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118787">
                                            <p:txEl>
                                              <p:charRg st="75" end="82"/>
                                            </p:txEl>
                                          </p:spTgt>
                                        </p:tgtEl>
                                        <p:attrNameLst>
                                          <p:attrName>style.visibility</p:attrName>
                                        </p:attrNameLst>
                                      </p:cBhvr>
                                      <p:to>
                                        <p:strVal val="visible"/>
                                      </p:to>
                                    </p:set>
                                    <p:animEffect transition="in" filter="blinds(horizontal)">
                                      <p:cBhvr>
                                        <p:cTn id="76" dur="500"/>
                                        <p:tgtEl>
                                          <p:spTgt spid="118787">
                                            <p:txEl>
                                              <p:charRg st="75" end="82"/>
                                            </p:txEl>
                                          </p:spTgt>
                                        </p:tgtEl>
                                      </p:cBhvr>
                                    </p:animEffect>
                                  </p:childTnLst>
                                </p:cTn>
                              </p:par>
                              <p:par>
                                <p:cTn id="77" presetID="3" presetClass="entr" presetSubtype="10" fill="hold" nodeType="withEffect">
                                  <p:stCondLst>
                                    <p:cond delay="0"/>
                                  </p:stCondLst>
                                  <p:childTnLst>
                                    <p:set>
                                      <p:cBhvr>
                                        <p:cTn id="78" dur="1" fill="hold">
                                          <p:stCondLst>
                                            <p:cond delay="0"/>
                                          </p:stCondLst>
                                        </p:cTn>
                                        <p:tgtEl>
                                          <p:spTgt spid="118787">
                                            <p:txEl>
                                              <p:charRg st="82" end="92"/>
                                            </p:txEl>
                                          </p:spTgt>
                                        </p:tgtEl>
                                        <p:attrNameLst>
                                          <p:attrName>style.visibility</p:attrName>
                                        </p:attrNameLst>
                                      </p:cBhvr>
                                      <p:to>
                                        <p:strVal val="visible"/>
                                      </p:to>
                                    </p:set>
                                    <p:animEffect transition="in" filter="blinds(horizontal)">
                                      <p:cBhvr>
                                        <p:cTn id="79" dur="500"/>
                                        <p:tgtEl>
                                          <p:spTgt spid="118787">
                                            <p:txEl>
                                              <p:charRg st="82" end="92"/>
                                            </p:txEl>
                                          </p:spTgt>
                                        </p:tgtEl>
                                      </p:cBhvr>
                                    </p:animEffect>
                                  </p:childTnLst>
                                </p:cTn>
                              </p:par>
                              <p:par>
                                <p:cTn id="80" presetID="3" presetClass="entr" presetSubtype="10" fill="hold" nodeType="withEffect">
                                  <p:stCondLst>
                                    <p:cond delay="0"/>
                                  </p:stCondLst>
                                  <p:childTnLst>
                                    <p:set>
                                      <p:cBhvr>
                                        <p:cTn id="81" dur="1" fill="hold">
                                          <p:stCondLst>
                                            <p:cond delay="0"/>
                                          </p:stCondLst>
                                        </p:cTn>
                                        <p:tgtEl>
                                          <p:spTgt spid="118787">
                                            <p:txEl>
                                              <p:charRg st="92" end="96"/>
                                            </p:txEl>
                                          </p:spTgt>
                                        </p:tgtEl>
                                        <p:attrNameLst>
                                          <p:attrName>style.visibility</p:attrName>
                                        </p:attrNameLst>
                                      </p:cBhvr>
                                      <p:to>
                                        <p:strVal val="visible"/>
                                      </p:to>
                                    </p:set>
                                    <p:animEffect transition="in" filter="blinds(horizontal)">
                                      <p:cBhvr>
                                        <p:cTn id="82" dur="500"/>
                                        <p:tgtEl>
                                          <p:spTgt spid="118787">
                                            <p:txEl>
                                              <p:charRg st="92" end="9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18787">
                                            <p:txEl>
                                              <p:charRg st="0" end="8"/>
                                            </p:txEl>
                                          </p:spTgt>
                                        </p:tgtEl>
                                        <p:attrNameLst>
                                          <p:attrName>style.visibility</p:attrName>
                                        </p:attrNameLst>
                                      </p:cBhvr>
                                      <p:to>
                                        <p:strVal val="visible"/>
                                      </p:to>
                                    </p:set>
                                    <p:animEffect transition="in" filter="wipe(left)">
                                      <p:cBhvr>
                                        <p:cTn id="87" dur="500"/>
                                        <p:tgtEl>
                                          <p:spTgt spid="118787">
                                            <p:txEl>
                                              <p:charRg st="0" end="8"/>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118787">
                                            <p:txEl>
                                              <p:charRg st="68" end="75"/>
                                            </p:txEl>
                                          </p:spTgt>
                                        </p:tgtEl>
                                        <p:attrNameLst>
                                          <p:attrName>style.visibility</p:attrName>
                                        </p:attrNameLst>
                                      </p:cBhvr>
                                      <p:to>
                                        <p:strVal val="visible"/>
                                      </p:to>
                                    </p:set>
                                    <p:animEffect transition="in" filter="wipe(left)">
                                      <p:cBhvr>
                                        <p:cTn id="92" dur="500"/>
                                        <p:tgtEl>
                                          <p:spTgt spid="118787">
                                            <p:txEl>
                                              <p:charRg st="68" end="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p:cNvSpPr>
          <p:nvPr>
            <p:ph type="title" idx="4294967295"/>
          </p:nvPr>
        </p:nvSpPr>
        <p:spPr>
          <a:xfrm>
            <a:off x="684213" y="992188"/>
            <a:ext cx="6553200" cy="563562"/>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00033"/>
                </a:solidFill>
                <a:ea typeface="宋体" panose="02010600030101010101" pitchFamily="2" charset="-122"/>
              </a:rPr>
              <a:t>算术右移</a:t>
            </a:r>
            <a:endParaRPr lang="zh-CN" altLang="en-US" dirty="0">
              <a:solidFill>
                <a:srgbClr val="000033"/>
              </a:solidFill>
              <a:ea typeface="宋体" panose="02010600030101010101" pitchFamily="2" charset="-122"/>
            </a:endParaRPr>
          </a:p>
        </p:txBody>
      </p:sp>
      <p:sp>
        <p:nvSpPr>
          <p:cNvPr id="119811" name="Rectangle 3"/>
          <p:cNvSpPr>
            <a:spLocks noGrp="1"/>
          </p:cNvSpPr>
          <p:nvPr>
            <p:ph type="body" idx="4294967295"/>
          </p:nvPr>
        </p:nvSpPr>
        <p:spPr>
          <a:xfrm>
            <a:off x="788988" y="1584325"/>
            <a:ext cx="6343650" cy="1604963"/>
          </a:xfrm>
        </p:spPr>
        <p:txBody>
          <a:bodyPr vert="horz" wrap="square" lIns="91440" tIns="45720" rIns="91440" bIns="45720" anchor="t" anchorCtr="0"/>
          <a:p>
            <a:pPr eaLnBrk="1" hangingPunct="1">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格式：</a:t>
            </a:r>
            <a:endParaRPr lang="zh-CN" altLang="en-US" dirty="0">
              <a:latin typeface="宋体" panose="02010600030101010101" pitchFamily="2" charset="-122"/>
              <a:ea typeface="宋体" panose="02010600030101010101" pitchFamily="2" charset="-122"/>
            </a:endParaRPr>
          </a:p>
          <a:p>
            <a:pPr eaLnBrk="1" hangingPunct="1">
              <a:buNone/>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SAR  OPRD，1</a:t>
            </a:r>
            <a:endParaRPr lang="en-US" altLang="zh-CN" dirty="0">
              <a:latin typeface="宋体" panose="02010600030101010101" pitchFamily="2" charset="-122"/>
              <a:ea typeface="宋体" panose="02010600030101010101" pitchFamily="2" charset="-122"/>
            </a:endParaRPr>
          </a:p>
          <a:p>
            <a:pPr eaLnBrk="1" hangingPunct="1">
              <a:buNone/>
            </a:pPr>
            <a:r>
              <a:rPr lang="en-US" altLang="zh-CN" dirty="0">
                <a:latin typeface="宋体" panose="02010600030101010101" pitchFamily="2" charset="-122"/>
                <a:ea typeface="宋体" panose="02010600030101010101" pitchFamily="2" charset="-122"/>
              </a:rPr>
              <a:t>  SAR  OPRD，CL</a:t>
            </a:r>
            <a:endParaRPr lang="en-US" altLang="zh-CN" dirty="0">
              <a:latin typeface="宋体" panose="02010600030101010101" pitchFamily="2" charset="-122"/>
              <a:ea typeface="宋体" panose="02010600030101010101" pitchFamily="2" charset="-122"/>
            </a:endParaRPr>
          </a:p>
          <a:p>
            <a:pPr eaLnBrk="1" hangingPunct="1">
              <a:buNone/>
            </a:pPr>
            <a:endParaRPr lang="zh-CN" altLang="en-US" dirty="0">
              <a:ea typeface="宋体" panose="02010600030101010101" pitchFamily="2" charset="-122"/>
            </a:endParaRPr>
          </a:p>
        </p:txBody>
      </p:sp>
      <p:sp>
        <p:nvSpPr>
          <p:cNvPr id="119812" name="AutoShape 4"/>
          <p:cNvSpPr/>
          <p:nvPr/>
        </p:nvSpPr>
        <p:spPr>
          <a:xfrm>
            <a:off x="3611563" y="2189163"/>
            <a:ext cx="150812" cy="793750"/>
          </a:xfrm>
          <a:prstGeom prst="rightBrace">
            <a:avLst>
              <a:gd name="adj1" fmla="val 43518"/>
              <a:gd name="adj2" fmla="val 50000"/>
            </a:avLst>
          </a:prstGeom>
          <a:noFill/>
          <a:ln w="25400" cap="sq" cmpd="sng">
            <a:solidFill>
              <a:srgbClr val="339966"/>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19813" name="AutoShape 5"/>
          <p:cNvSpPr/>
          <p:nvPr/>
        </p:nvSpPr>
        <p:spPr>
          <a:xfrm>
            <a:off x="4572000" y="1566863"/>
            <a:ext cx="1590675" cy="914400"/>
          </a:xfrm>
          <a:prstGeom prst="borderCallout1">
            <a:avLst>
              <a:gd name="adj1" fmla="val 108333"/>
              <a:gd name="adj2" fmla="val 92815"/>
              <a:gd name="adj3" fmla="val 108333"/>
              <a:gd name="adj4" fmla="val -35028"/>
            </a:avLst>
          </a:prstGeom>
          <a:noFill/>
          <a:ln w="25400" cap="sq" cmpd="sng">
            <a:solidFill>
              <a:srgbClr val="339966"/>
            </a:solidFill>
            <a:prstDash val="solid"/>
            <a:miter/>
            <a:headEnd type="none" w="med" len="med"/>
            <a:tailEnd type="none" w="med" len="med"/>
          </a:ln>
        </p:spPr>
        <p:txBody>
          <a:bodyPr/>
          <a:p>
            <a:pPr eaLnBrk="0" hangingPunct="0">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有符号数的右移</a:t>
            </a:r>
            <a:endParaRPr lang="zh-CN" altLang="en-US" sz="2400" b="1" dirty="0">
              <a:latin typeface="Times New Roman" panose="02020603050405020304" pitchFamily="18" charset="0"/>
              <a:ea typeface="宋体" panose="02010600030101010101" pitchFamily="2" charset="-122"/>
            </a:endParaRPr>
          </a:p>
        </p:txBody>
      </p:sp>
      <p:sp>
        <p:nvSpPr>
          <p:cNvPr id="119814" name="Rectangle 6"/>
          <p:cNvSpPr/>
          <p:nvPr/>
        </p:nvSpPr>
        <p:spPr>
          <a:xfrm>
            <a:off x="2170113" y="3206750"/>
            <a:ext cx="3581400"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19815" name="Line 7"/>
          <p:cNvSpPr/>
          <p:nvPr/>
        </p:nvSpPr>
        <p:spPr>
          <a:xfrm>
            <a:off x="3006725" y="3468688"/>
            <a:ext cx="2058988" cy="0"/>
          </a:xfrm>
          <a:prstGeom prst="line">
            <a:avLst/>
          </a:prstGeom>
          <a:ln w="25400" cap="sq" cmpd="sng">
            <a:solidFill>
              <a:schemeClr val="bg1"/>
            </a:solidFill>
            <a:prstDash val="solid"/>
            <a:headEnd type="none" w="med" len="med"/>
            <a:tailEnd type="triangle" w="lg" len="lg"/>
          </a:ln>
        </p:spPr>
      </p:sp>
      <p:sp>
        <p:nvSpPr>
          <p:cNvPr id="119816" name="Line 8"/>
          <p:cNvSpPr/>
          <p:nvPr/>
        </p:nvSpPr>
        <p:spPr>
          <a:xfrm>
            <a:off x="5751513" y="3463925"/>
            <a:ext cx="914400" cy="0"/>
          </a:xfrm>
          <a:prstGeom prst="line">
            <a:avLst/>
          </a:prstGeom>
          <a:ln w="25400" cap="sq" cmpd="sng">
            <a:solidFill>
              <a:srgbClr val="FF6600"/>
            </a:solidFill>
            <a:prstDash val="solid"/>
            <a:headEnd type="none" w="med" len="med"/>
            <a:tailEnd type="triangle" w="lg" len="lg"/>
          </a:ln>
        </p:spPr>
      </p:sp>
      <p:sp>
        <p:nvSpPr>
          <p:cNvPr id="119817" name="Line 9"/>
          <p:cNvSpPr/>
          <p:nvPr/>
        </p:nvSpPr>
        <p:spPr>
          <a:xfrm>
            <a:off x="1255713" y="3482975"/>
            <a:ext cx="914400" cy="0"/>
          </a:xfrm>
          <a:prstGeom prst="line">
            <a:avLst/>
          </a:prstGeom>
          <a:ln w="25400" cap="sq" cmpd="sng">
            <a:solidFill>
              <a:srgbClr val="FF6600"/>
            </a:solidFill>
            <a:prstDash val="solid"/>
            <a:headEnd type="none" w="med" len="med"/>
            <a:tailEnd type="triangle" w="lg" len="lg"/>
          </a:ln>
        </p:spPr>
      </p:sp>
      <p:sp>
        <p:nvSpPr>
          <p:cNvPr id="119818" name="Text Box 11"/>
          <p:cNvSpPr txBox="1"/>
          <p:nvPr/>
        </p:nvSpPr>
        <p:spPr>
          <a:xfrm>
            <a:off x="6684963" y="3192463"/>
            <a:ext cx="685800" cy="544512"/>
          </a:xfrm>
          <a:prstGeom prst="rect">
            <a:avLst/>
          </a:prstGeom>
          <a:solidFill>
            <a:srgbClr val="339966"/>
          </a:solidFill>
          <a:ln w="25400" cap="sq" cmpd="sng">
            <a:solidFill>
              <a:srgbClr val="339966"/>
            </a:solidFill>
            <a:prstDash val="solid"/>
            <a:miter/>
            <a:headEnd type="none" w="med" len="med"/>
            <a:tailEnd type="none" w="med" len="med"/>
          </a:ln>
        </p:spPr>
        <p:txBody>
          <a:bodyPr>
            <a:spAutoFit/>
          </a:bodyPr>
          <a:p>
            <a:pPr eaLnBrk="0" hangingPunct="0">
              <a:spcBef>
                <a:spcPct val="50000"/>
              </a:spcBef>
              <a:buFont typeface="Wingdings" panose="05000000000000000000" pitchFamily="2" charset="2"/>
            </a:pPr>
            <a:r>
              <a:rPr lang="en-US" altLang="zh-CN" sz="2800" b="1" dirty="0">
                <a:solidFill>
                  <a:schemeClr val="bg1"/>
                </a:solidFill>
                <a:latin typeface="Times New Roman" panose="02020603050405020304" pitchFamily="18" charset="0"/>
                <a:ea typeface="宋体" panose="02010600030101010101" pitchFamily="2" charset="-122"/>
              </a:rPr>
              <a:t>CF</a:t>
            </a:r>
            <a:endParaRPr lang="en-US" altLang="zh-CN" sz="2800" b="1" dirty="0">
              <a:solidFill>
                <a:schemeClr val="bg1"/>
              </a:solidFill>
              <a:latin typeface="Times New Roman" panose="02020603050405020304" pitchFamily="18" charset="0"/>
              <a:ea typeface="宋体" panose="02010600030101010101" pitchFamily="2" charset="-122"/>
            </a:endParaRPr>
          </a:p>
        </p:txBody>
      </p:sp>
      <p:sp>
        <p:nvSpPr>
          <p:cNvPr id="119819" name="Line 12"/>
          <p:cNvSpPr/>
          <p:nvPr/>
        </p:nvSpPr>
        <p:spPr>
          <a:xfrm>
            <a:off x="1255713" y="3511550"/>
            <a:ext cx="0" cy="914400"/>
          </a:xfrm>
          <a:prstGeom prst="line">
            <a:avLst/>
          </a:prstGeom>
          <a:ln w="25400" cap="sq" cmpd="sng">
            <a:solidFill>
              <a:srgbClr val="FF6600"/>
            </a:solidFill>
            <a:prstDash val="solid"/>
            <a:headEnd type="none" w="med" len="med"/>
            <a:tailEnd type="none" w="med" len="med"/>
          </a:ln>
        </p:spPr>
      </p:sp>
      <p:sp>
        <p:nvSpPr>
          <p:cNvPr id="119820" name="Line 13"/>
          <p:cNvSpPr/>
          <p:nvPr/>
        </p:nvSpPr>
        <p:spPr>
          <a:xfrm>
            <a:off x="1255713" y="4425950"/>
            <a:ext cx="1219200" cy="0"/>
          </a:xfrm>
          <a:prstGeom prst="line">
            <a:avLst/>
          </a:prstGeom>
          <a:ln w="25400" cap="sq" cmpd="sng">
            <a:solidFill>
              <a:srgbClr val="FF6600"/>
            </a:solidFill>
            <a:prstDash val="solid"/>
            <a:headEnd type="none" w="med" len="med"/>
            <a:tailEnd type="none" w="med" len="med"/>
          </a:ln>
        </p:spPr>
      </p:sp>
      <p:sp>
        <p:nvSpPr>
          <p:cNvPr id="119821" name="Line 14"/>
          <p:cNvSpPr/>
          <p:nvPr/>
        </p:nvSpPr>
        <p:spPr>
          <a:xfrm>
            <a:off x="2474913" y="3740150"/>
            <a:ext cx="0" cy="685800"/>
          </a:xfrm>
          <a:prstGeom prst="line">
            <a:avLst/>
          </a:prstGeom>
          <a:ln w="25400" cap="sq" cmpd="sng">
            <a:solidFill>
              <a:srgbClr val="FF6600"/>
            </a:solidFill>
            <a:prstDash val="solid"/>
            <a:headEnd type="none" w="med" len="med"/>
            <a:tailEnd type="none" w="med" len="med"/>
          </a:ln>
        </p:spPr>
      </p:sp>
      <p:sp>
        <p:nvSpPr>
          <p:cNvPr id="117774" name="内容占位符 2"/>
          <p:cNvSpPr txBox="1"/>
          <p:nvPr/>
        </p:nvSpPr>
        <p:spPr>
          <a:xfrm>
            <a:off x="381000" y="4424363"/>
            <a:ext cx="8382000" cy="2509837"/>
          </a:xfrm>
          <a:prstGeom prst="rect">
            <a:avLst/>
          </a:prstGeom>
          <a:noFill/>
          <a:ln w="9525">
            <a:noFill/>
          </a:ln>
        </p:spPr>
        <p:txBody>
          <a:bodyPr/>
          <a:p>
            <a:pPr marL="342900" indent="-342900" eaLnBrk="0" hangingPunct="0">
              <a:spcBef>
                <a:spcPct val="20000"/>
              </a:spcBef>
              <a:buClr>
                <a:schemeClr val="hlink"/>
              </a:buClr>
              <a:buFont typeface="Wingdings" panose="05000000000000000000" pitchFamily="2" charset="2"/>
              <a:buChar char="Ø"/>
            </a:pPr>
            <a:r>
              <a:rPr lang="en-US" altLang="zh-CN" sz="2400" dirty="0">
                <a:latin typeface="宋体" panose="02010600030101010101" pitchFamily="2" charset="-122"/>
                <a:ea typeface="宋体" panose="02010600030101010101" pitchFamily="2" charset="-122"/>
              </a:rPr>
              <a:t>SAR</a:t>
            </a:r>
            <a:r>
              <a:rPr lang="zh-CN" altLang="en-US" sz="2400" dirty="0">
                <a:latin typeface="宋体" panose="02010600030101010101" pitchFamily="2" charset="-122"/>
                <a:ea typeface="宋体" panose="02010600030101010101" pitchFamily="2" charset="-122"/>
              </a:rPr>
              <a:t>指令将目标操作数视为有符号数，格式与</a:t>
            </a:r>
            <a:r>
              <a:rPr lang="en-US" altLang="zh-CN" sz="2400" dirty="0">
                <a:latin typeface="宋体" panose="02010600030101010101" pitchFamily="2" charset="-122"/>
                <a:ea typeface="宋体" panose="02010600030101010101" pitchFamily="2" charset="-122"/>
              </a:rPr>
              <a:t>SHR</a:t>
            </a:r>
            <a:r>
              <a:rPr lang="zh-CN" altLang="en-US" sz="2400" dirty="0">
                <a:latin typeface="宋体" panose="02010600030101010101" pitchFamily="2" charset="-122"/>
                <a:ea typeface="宋体" panose="02010600030101010101" pitchFamily="2" charset="-122"/>
              </a:rPr>
              <a:t>相同。指令的操作是将目标操作数顺序向右移</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位或</a:t>
            </a:r>
            <a:r>
              <a:rPr lang="en-US" altLang="zh-CN" sz="2400" dirty="0">
                <a:latin typeface="宋体" panose="02010600030101010101" pitchFamily="2" charset="-122"/>
                <a:ea typeface="宋体" panose="02010600030101010101" pitchFamily="2" charset="-122"/>
              </a:rPr>
              <a:t>CL</a:t>
            </a:r>
            <a:r>
              <a:rPr lang="zh-CN" altLang="en-US" sz="2400" dirty="0">
                <a:latin typeface="宋体" panose="02010600030101010101" pitchFamily="2" charset="-122"/>
                <a:ea typeface="宋体" panose="02010600030101010101" pitchFamily="2" charset="-122"/>
              </a:rPr>
              <a:t>指定的位数，操作数最低位移入标志位</a:t>
            </a:r>
            <a:r>
              <a:rPr lang="en-US" altLang="zh-CN" sz="2400" dirty="0">
                <a:latin typeface="宋体" panose="02010600030101010101" pitchFamily="2" charset="-122"/>
                <a:ea typeface="宋体" panose="02010600030101010101" pitchFamily="2" charset="-122"/>
              </a:rPr>
              <a:t>CF</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与</a:t>
            </a:r>
            <a:r>
              <a:rPr lang="en-US" altLang="zh-CN" sz="2400" dirty="0">
                <a:latin typeface="宋体" panose="02010600030101010101" pitchFamily="2" charset="-122"/>
                <a:ea typeface="宋体" panose="02010600030101010101" pitchFamily="2" charset="-122"/>
              </a:rPr>
              <a:t>SHR</a:t>
            </a:r>
            <a:r>
              <a:rPr lang="zh-CN" altLang="en-US" sz="2400" dirty="0">
                <a:latin typeface="宋体" panose="02010600030101010101" pitchFamily="2" charset="-122"/>
                <a:ea typeface="宋体" panose="02010600030101010101" pitchFamily="2" charset="-122"/>
              </a:rPr>
              <a:t>指令的区别是：</a:t>
            </a:r>
            <a:r>
              <a:rPr lang="zh-CN" altLang="en-US" sz="2400" dirty="0">
                <a:solidFill>
                  <a:srgbClr val="FF0000"/>
                </a:solidFill>
                <a:latin typeface="宋体" panose="02010600030101010101" pitchFamily="2" charset="-122"/>
                <a:ea typeface="宋体" panose="02010600030101010101" pitchFamily="2" charset="-122"/>
              </a:rPr>
              <a:t>算术右移时最高位不是补零，而是保持不变。</a:t>
            </a:r>
            <a:endParaRPr lang="en-US" altLang="zh-CN" sz="2400" dirty="0">
              <a:solidFill>
                <a:srgbClr val="FF0000"/>
              </a:solidFill>
              <a:latin typeface="宋体" panose="02010600030101010101" pitchFamily="2" charset="-122"/>
              <a:ea typeface="宋体" panose="02010600030101010101" pitchFamily="2" charset="-122"/>
            </a:endParaRPr>
          </a:p>
          <a:p>
            <a:pPr marL="342900" indent="-342900" eaLnBrk="0" hangingPunct="0">
              <a:spcBef>
                <a:spcPct val="20000"/>
              </a:spcBef>
              <a:buClr>
                <a:schemeClr val="hlink"/>
              </a:buClr>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对标志位</a:t>
            </a:r>
            <a:r>
              <a:rPr lang="en-US" altLang="zh-CN" sz="2400" dirty="0">
                <a:latin typeface="宋体" panose="02010600030101010101" pitchFamily="2" charset="-122"/>
                <a:ea typeface="宋体" panose="02010600030101010101" pitchFamily="2" charset="-122"/>
              </a:rPr>
              <a:t>CF</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OF</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PF</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SF</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ZF</a:t>
            </a:r>
            <a:r>
              <a:rPr lang="zh-CN" altLang="en-US" sz="2400" dirty="0">
                <a:latin typeface="宋体" panose="02010600030101010101" pitchFamily="2" charset="-122"/>
                <a:ea typeface="宋体" panose="02010600030101010101" pitchFamily="2" charset="-122"/>
              </a:rPr>
              <a:t>有影响，但使</a:t>
            </a:r>
            <a:r>
              <a:rPr lang="en-US" altLang="zh-CN" sz="2400" dirty="0">
                <a:latin typeface="宋体" panose="02010600030101010101" pitchFamily="2" charset="-122"/>
                <a:ea typeface="宋体" panose="02010600030101010101" pitchFamily="2" charset="-122"/>
              </a:rPr>
              <a:t>AF</a:t>
            </a:r>
            <a:r>
              <a:rPr lang="zh-CN" altLang="en-US" sz="2400" dirty="0">
                <a:latin typeface="宋体" panose="02010600030101010101" pitchFamily="2" charset="-122"/>
                <a:ea typeface="宋体" panose="02010600030101010101" pitchFamily="2" charset="-122"/>
              </a:rPr>
              <a:t>值不定。</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9811">
                                            <p:txEl>
                                              <p:charRg st="0" end="4"/>
                                            </p:txEl>
                                          </p:spTgt>
                                        </p:tgtEl>
                                        <p:attrNameLst>
                                          <p:attrName>style.visibility</p:attrName>
                                        </p:attrNameLst>
                                      </p:cBhvr>
                                      <p:to>
                                        <p:strVal val="visible"/>
                                      </p:to>
                                    </p:set>
                                    <p:animEffect transition="in" filter="wipe(left)">
                                      <p:cBhvr>
                                        <p:cTn id="7" dur="500"/>
                                        <p:tgtEl>
                                          <p:spTgt spid="119811">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9811">
                                            <p:txEl>
                                              <p:charRg st="4" end="18"/>
                                            </p:txEl>
                                          </p:spTgt>
                                        </p:tgtEl>
                                        <p:attrNameLst>
                                          <p:attrName>style.visibility</p:attrName>
                                        </p:attrNameLst>
                                      </p:cBhvr>
                                      <p:to>
                                        <p:strVal val="visible"/>
                                      </p:to>
                                    </p:set>
                                    <p:animEffect transition="in" filter="wipe(left)">
                                      <p:cBhvr>
                                        <p:cTn id="11" dur="500"/>
                                        <p:tgtEl>
                                          <p:spTgt spid="119811">
                                            <p:txEl>
                                              <p:charRg st="4" end="18"/>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19811">
                                            <p:txEl>
                                              <p:charRg st="18" end="33"/>
                                            </p:txEl>
                                          </p:spTgt>
                                        </p:tgtEl>
                                        <p:attrNameLst>
                                          <p:attrName>style.visibility</p:attrName>
                                        </p:attrNameLst>
                                      </p:cBhvr>
                                      <p:to>
                                        <p:strVal val="visible"/>
                                      </p:to>
                                    </p:set>
                                    <p:animEffect transition="in" filter="wipe(left)">
                                      <p:cBhvr>
                                        <p:cTn id="15" dur="500"/>
                                        <p:tgtEl>
                                          <p:spTgt spid="119811">
                                            <p:txEl>
                                              <p:charRg st="18" end="33"/>
                                            </p:txEl>
                                          </p:spTgt>
                                        </p:tgtEl>
                                      </p:cBhvr>
                                    </p:animEffect>
                                  </p:childTnLst>
                                </p:cTn>
                              </p:par>
                            </p:childTnLst>
                          </p:cTn>
                        </p:par>
                        <p:par>
                          <p:cTn id="16" fill="hold">
                            <p:stCondLst>
                              <p:cond delay="1500"/>
                            </p:stCondLst>
                            <p:childTnLst>
                              <p:par>
                                <p:cTn id="17" presetID="18" presetClass="entr" presetSubtype="12" fill="hold" grpId="0" nodeType="afterEffect">
                                  <p:stCondLst>
                                    <p:cond delay="0"/>
                                  </p:stCondLst>
                                  <p:childTnLst>
                                    <p:set>
                                      <p:cBhvr>
                                        <p:cTn id="18" dur="1" fill="hold">
                                          <p:stCondLst>
                                            <p:cond delay="0"/>
                                          </p:stCondLst>
                                        </p:cTn>
                                        <p:tgtEl>
                                          <p:spTgt spid="119812"/>
                                        </p:tgtEl>
                                        <p:attrNameLst>
                                          <p:attrName>style.visibility</p:attrName>
                                        </p:attrNameLst>
                                      </p:cBhvr>
                                      <p:to>
                                        <p:strVal val="visible"/>
                                      </p:to>
                                    </p:set>
                                    <p:animEffect transition="in" filter="strips(downLeft)">
                                      <p:cBhvr>
                                        <p:cTn id="19" dur="500"/>
                                        <p:tgtEl>
                                          <p:spTgt spid="11981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1" fill="hold" grpId="0" nodeType="clickEffect">
                                  <p:stCondLst>
                                    <p:cond delay="0"/>
                                  </p:stCondLst>
                                  <p:childTnLst>
                                    <p:set>
                                      <p:cBhvr>
                                        <p:cTn id="23" dur="1" fill="hold">
                                          <p:stCondLst>
                                            <p:cond delay="0"/>
                                          </p:stCondLst>
                                        </p:cTn>
                                        <p:tgtEl>
                                          <p:spTgt spid="119813"/>
                                        </p:tgtEl>
                                        <p:attrNameLst>
                                          <p:attrName>style.visibility</p:attrName>
                                        </p:attrNameLst>
                                      </p:cBhvr>
                                      <p:to>
                                        <p:strVal val="visible"/>
                                      </p:to>
                                    </p:set>
                                    <p:anim calcmode="lin" valueType="num">
                                      <p:cBhvr>
                                        <p:cTn id="24" dur="500" fill="hold"/>
                                        <p:tgtEl>
                                          <p:spTgt spid="119813"/>
                                        </p:tgtEl>
                                        <p:attrNameLst>
                                          <p:attrName>ppt_x</p:attrName>
                                        </p:attrNameLst>
                                      </p:cBhvr>
                                      <p:tavLst>
                                        <p:tav tm="0">
                                          <p:val>
                                            <p:strVal val="#ppt_x"/>
                                          </p:val>
                                        </p:tav>
                                        <p:tav tm="100000">
                                          <p:val>
                                            <p:strVal val="#ppt_x"/>
                                          </p:val>
                                        </p:tav>
                                      </p:tavLst>
                                    </p:anim>
                                    <p:anim calcmode="lin" valueType="num">
                                      <p:cBhvr>
                                        <p:cTn id="25" dur="500" fill="hold"/>
                                        <p:tgtEl>
                                          <p:spTgt spid="119813"/>
                                        </p:tgtEl>
                                        <p:attrNameLst>
                                          <p:attrName>ppt_y</p:attrName>
                                        </p:attrNameLst>
                                      </p:cBhvr>
                                      <p:tavLst>
                                        <p:tav tm="0">
                                          <p:val>
                                            <p:strVal val="0-#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19814"/>
                                        </p:tgtEl>
                                        <p:attrNameLst>
                                          <p:attrName>style.visibility</p:attrName>
                                        </p:attrNameLst>
                                      </p:cBhvr>
                                      <p:to>
                                        <p:strVal val="visible"/>
                                      </p:to>
                                    </p:set>
                                    <p:anim calcmode="lin" valueType="num">
                                      <p:cBhvr>
                                        <p:cTn id="30" dur="500" fill="hold"/>
                                        <p:tgtEl>
                                          <p:spTgt spid="119814"/>
                                        </p:tgtEl>
                                        <p:attrNameLst>
                                          <p:attrName>ppt_x</p:attrName>
                                        </p:attrNameLst>
                                      </p:cBhvr>
                                      <p:tavLst>
                                        <p:tav tm="0">
                                          <p:val>
                                            <p:strVal val="#ppt_x"/>
                                          </p:val>
                                        </p:tav>
                                        <p:tav tm="100000">
                                          <p:val>
                                            <p:strVal val="#ppt_x"/>
                                          </p:val>
                                        </p:tav>
                                      </p:tavLst>
                                    </p:anim>
                                    <p:anim calcmode="lin" valueType="num">
                                      <p:cBhvr>
                                        <p:cTn id="31" dur="500" fill="hold"/>
                                        <p:tgtEl>
                                          <p:spTgt spid="119814"/>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119815"/>
                                        </p:tgtEl>
                                        <p:attrNameLst>
                                          <p:attrName>style.visibility</p:attrName>
                                        </p:attrNameLst>
                                      </p:cBhvr>
                                      <p:to>
                                        <p:strVal val="visible"/>
                                      </p:to>
                                    </p:set>
                                    <p:anim calcmode="lin" valueType="num">
                                      <p:cBhvr>
                                        <p:cTn id="34" dur="500" fill="hold"/>
                                        <p:tgtEl>
                                          <p:spTgt spid="119815"/>
                                        </p:tgtEl>
                                        <p:attrNameLst>
                                          <p:attrName>ppt_x</p:attrName>
                                        </p:attrNameLst>
                                      </p:cBhvr>
                                      <p:tavLst>
                                        <p:tav tm="0">
                                          <p:val>
                                            <p:strVal val="#ppt_x"/>
                                          </p:val>
                                        </p:tav>
                                        <p:tav tm="100000">
                                          <p:val>
                                            <p:strVal val="#ppt_x"/>
                                          </p:val>
                                        </p:tav>
                                      </p:tavLst>
                                    </p:anim>
                                    <p:anim calcmode="lin" valueType="num">
                                      <p:cBhvr>
                                        <p:cTn id="35" dur="500" fill="hold"/>
                                        <p:tgtEl>
                                          <p:spTgt spid="119815"/>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8" presetClass="entr" presetSubtype="6" fill="hold" nodeType="clickEffect">
                                  <p:stCondLst>
                                    <p:cond delay="0"/>
                                  </p:stCondLst>
                                  <p:childTnLst>
                                    <p:set>
                                      <p:cBhvr>
                                        <p:cTn id="39" dur="1" fill="hold">
                                          <p:stCondLst>
                                            <p:cond delay="0"/>
                                          </p:stCondLst>
                                        </p:cTn>
                                        <p:tgtEl>
                                          <p:spTgt spid="119816"/>
                                        </p:tgtEl>
                                        <p:attrNameLst>
                                          <p:attrName>style.visibility</p:attrName>
                                        </p:attrNameLst>
                                      </p:cBhvr>
                                      <p:to>
                                        <p:strVal val="visible"/>
                                      </p:to>
                                    </p:set>
                                    <p:animEffect transition="in" filter="strips(downRight)">
                                      <p:cBhvr>
                                        <p:cTn id="40" dur="500"/>
                                        <p:tgtEl>
                                          <p:spTgt spid="119816"/>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19818"/>
                                        </p:tgtEl>
                                        <p:attrNameLst>
                                          <p:attrName>style.visibility</p:attrName>
                                        </p:attrNameLst>
                                      </p:cBhvr>
                                      <p:to>
                                        <p:strVal val="visible"/>
                                      </p:to>
                                    </p:set>
                                    <p:animEffect transition="in" filter="wipe(left)">
                                      <p:cBhvr>
                                        <p:cTn id="44" dur="500"/>
                                        <p:tgtEl>
                                          <p:spTgt spid="119818"/>
                                        </p:tgtEl>
                                      </p:cBhvr>
                                    </p:animEffect>
                                  </p:childTnLst>
                                </p:cTn>
                              </p:par>
                            </p:childTnLst>
                          </p:cTn>
                        </p:par>
                        <p:par>
                          <p:cTn id="45" fill="hold">
                            <p:stCondLst>
                              <p:cond delay="1000"/>
                            </p:stCondLst>
                            <p:childTnLst>
                              <p:par>
                                <p:cTn id="46" presetID="18" presetClass="entr" presetSubtype="12" fill="hold" nodeType="afterEffect">
                                  <p:stCondLst>
                                    <p:cond delay="0"/>
                                  </p:stCondLst>
                                  <p:childTnLst>
                                    <p:set>
                                      <p:cBhvr>
                                        <p:cTn id="47" dur="1" fill="hold">
                                          <p:stCondLst>
                                            <p:cond delay="0"/>
                                          </p:stCondLst>
                                        </p:cTn>
                                        <p:tgtEl>
                                          <p:spTgt spid="119821"/>
                                        </p:tgtEl>
                                        <p:attrNameLst>
                                          <p:attrName>style.visibility</p:attrName>
                                        </p:attrNameLst>
                                      </p:cBhvr>
                                      <p:to>
                                        <p:strVal val="visible"/>
                                      </p:to>
                                    </p:set>
                                    <p:animEffect transition="in" filter="strips(downLeft)">
                                      <p:cBhvr>
                                        <p:cTn id="48" dur="500"/>
                                        <p:tgtEl>
                                          <p:spTgt spid="119821"/>
                                        </p:tgtEl>
                                      </p:cBhvr>
                                    </p:animEffect>
                                  </p:childTnLst>
                                </p:cTn>
                              </p:par>
                            </p:childTnLst>
                          </p:cTn>
                        </p:par>
                        <p:par>
                          <p:cTn id="49" fill="hold">
                            <p:stCondLst>
                              <p:cond delay="1500"/>
                            </p:stCondLst>
                            <p:childTnLst>
                              <p:par>
                                <p:cTn id="50" presetID="18" presetClass="entr" presetSubtype="12" fill="hold" nodeType="afterEffect">
                                  <p:stCondLst>
                                    <p:cond delay="0"/>
                                  </p:stCondLst>
                                  <p:childTnLst>
                                    <p:set>
                                      <p:cBhvr>
                                        <p:cTn id="51" dur="1" fill="hold">
                                          <p:stCondLst>
                                            <p:cond delay="0"/>
                                          </p:stCondLst>
                                        </p:cTn>
                                        <p:tgtEl>
                                          <p:spTgt spid="119820"/>
                                        </p:tgtEl>
                                        <p:attrNameLst>
                                          <p:attrName>style.visibility</p:attrName>
                                        </p:attrNameLst>
                                      </p:cBhvr>
                                      <p:to>
                                        <p:strVal val="visible"/>
                                      </p:to>
                                    </p:set>
                                    <p:animEffect transition="in" filter="strips(downLeft)">
                                      <p:cBhvr>
                                        <p:cTn id="52" dur="500"/>
                                        <p:tgtEl>
                                          <p:spTgt spid="119820"/>
                                        </p:tgtEl>
                                      </p:cBhvr>
                                    </p:animEffect>
                                  </p:childTnLst>
                                </p:cTn>
                              </p:par>
                            </p:childTnLst>
                          </p:cTn>
                        </p:par>
                        <p:par>
                          <p:cTn id="53" fill="hold">
                            <p:stCondLst>
                              <p:cond delay="2000"/>
                            </p:stCondLst>
                            <p:childTnLst>
                              <p:par>
                                <p:cTn id="54" presetID="18" presetClass="entr" presetSubtype="3" fill="hold" nodeType="afterEffect">
                                  <p:stCondLst>
                                    <p:cond delay="0"/>
                                  </p:stCondLst>
                                  <p:childTnLst>
                                    <p:set>
                                      <p:cBhvr>
                                        <p:cTn id="55" dur="1" fill="hold">
                                          <p:stCondLst>
                                            <p:cond delay="0"/>
                                          </p:stCondLst>
                                        </p:cTn>
                                        <p:tgtEl>
                                          <p:spTgt spid="119819"/>
                                        </p:tgtEl>
                                        <p:attrNameLst>
                                          <p:attrName>style.visibility</p:attrName>
                                        </p:attrNameLst>
                                      </p:cBhvr>
                                      <p:to>
                                        <p:strVal val="visible"/>
                                      </p:to>
                                    </p:set>
                                    <p:animEffect transition="in" filter="strips(upRight)">
                                      <p:cBhvr>
                                        <p:cTn id="56" dur="500"/>
                                        <p:tgtEl>
                                          <p:spTgt spid="119819"/>
                                        </p:tgtEl>
                                      </p:cBhvr>
                                    </p:animEffect>
                                  </p:childTnLst>
                                </p:cTn>
                              </p:par>
                            </p:childTnLst>
                          </p:cTn>
                        </p:par>
                        <p:par>
                          <p:cTn id="57" fill="hold">
                            <p:stCondLst>
                              <p:cond delay="2500"/>
                            </p:stCondLst>
                            <p:childTnLst>
                              <p:par>
                                <p:cTn id="58" presetID="18" presetClass="entr" presetSubtype="6" fill="hold" nodeType="afterEffect">
                                  <p:stCondLst>
                                    <p:cond delay="0"/>
                                  </p:stCondLst>
                                  <p:childTnLst>
                                    <p:set>
                                      <p:cBhvr>
                                        <p:cTn id="59" dur="1" fill="hold">
                                          <p:stCondLst>
                                            <p:cond delay="0"/>
                                          </p:stCondLst>
                                        </p:cTn>
                                        <p:tgtEl>
                                          <p:spTgt spid="119817"/>
                                        </p:tgtEl>
                                        <p:attrNameLst>
                                          <p:attrName>style.visibility</p:attrName>
                                        </p:attrNameLst>
                                      </p:cBhvr>
                                      <p:to>
                                        <p:strVal val="visible"/>
                                      </p:to>
                                    </p:set>
                                    <p:animEffect transition="in" filter="strips(downRight)">
                                      <p:cBhvr>
                                        <p:cTn id="60" dur="500"/>
                                        <p:tgtEl>
                                          <p:spTgt spid="1198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2" grpId="0" animBg="1"/>
      <p:bldP spid="119813" grpId="0" animBg="1"/>
      <p:bldP spid="119814" grpId="0" animBg="1"/>
      <p:bldP spid="119818"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矩形 1"/>
          <p:cNvSpPr/>
          <p:nvPr/>
        </p:nvSpPr>
        <p:spPr>
          <a:xfrm>
            <a:off x="323850" y="1052513"/>
            <a:ext cx="8280400" cy="4615815"/>
          </a:xfrm>
          <a:prstGeom prst="rect">
            <a:avLst/>
          </a:prstGeom>
          <a:noFill/>
          <a:ln w="9525">
            <a:noFill/>
          </a:ln>
        </p:spPr>
        <p:txBody>
          <a:bodyPr>
            <a:spAutoFit/>
          </a:bodyPr>
          <a:p>
            <a:pPr eaLnBrk="0" hangingPunct="0">
              <a:lnSpc>
                <a:spcPct val="150000"/>
              </a:lnSpc>
              <a:buFont typeface="Wingdings" panose="05000000000000000000" pitchFamily="2" charset="2"/>
            </a:pPr>
            <a:r>
              <a:rPr lang="en-US" altLang="zh-CN" sz="2800" dirty="0">
                <a:solidFill>
                  <a:srgbClr val="FF0000"/>
                </a:solidFill>
                <a:latin typeface="宋体" panose="02010600030101010101" pitchFamily="2" charset="-122"/>
                <a:ea typeface="宋体" panose="02010600030101010101" pitchFamily="2" charset="-122"/>
              </a:rPr>
              <a:t>SAR</a:t>
            </a:r>
            <a:r>
              <a:rPr lang="zh-CN" altLang="en-US" sz="2800" dirty="0">
                <a:solidFill>
                  <a:srgbClr val="FF0000"/>
                </a:solidFill>
                <a:latin typeface="宋体" panose="02010600030101010101" pitchFamily="2" charset="-122"/>
                <a:ea typeface="宋体" panose="02010600030101010101" pitchFamily="2" charset="-122"/>
              </a:rPr>
              <a:t>和</a:t>
            </a:r>
            <a:r>
              <a:rPr lang="en-US" altLang="zh-CN" sz="2800" dirty="0">
                <a:solidFill>
                  <a:srgbClr val="FF0000"/>
                </a:solidFill>
                <a:latin typeface="宋体" panose="02010600030101010101" pitchFamily="2" charset="-122"/>
                <a:ea typeface="宋体" panose="02010600030101010101" pitchFamily="2" charset="-122"/>
              </a:rPr>
              <a:t>SHR</a:t>
            </a:r>
            <a:r>
              <a:rPr lang="zh-CN" altLang="en-US" sz="2800" dirty="0">
                <a:solidFill>
                  <a:srgbClr val="FF0000"/>
                </a:solidFill>
                <a:latin typeface="宋体" panose="02010600030101010101" pitchFamily="2" charset="-122"/>
                <a:ea typeface="宋体" panose="02010600030101010101" pitchFamily="2" charset="-122"/>
              </a:rPr>
              <a:t>的区别</a:t>
            </a:r>
            <a:endParaRPr lang="en-US" altLang="zh-CN" sz="2800" dirty="0">
              <a:solidFill>
                <a:srgbClr val="FF0000"/>
              </a:solidFill>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zh-CN" altLang="en-US" sz="2400" dirty="0">
                <a:latin typeface="宋体" panose="02010600030101010101" pitchFamily="2" charset="-122"/>
                <a:ea typeface="宋体" panose="02010600030101010101" pitchFamily="2" charset="-122"/>
              </a:rPr>
              <a:t>   汇编语言中</a:t>
            </a:r>
            <a:r>
              <a:rPr lang="en-US" altLang="zh-CN" sz="2400" dirty="0">
                <a:latin typeface="宋体" panose="02010600030101010101" pitchFamily="2" charset="-122"/>
                <a:ea typeface="宋体" panose="02010600030101010101" pitchFamily="2" charset="-122"/>
              </a:rPr>
              <a:t>SAR</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SHR</a:t>
            </a:r>
            <a:r>
              <a:rPr lang="zh-CN" altLang="en-US" sz="2400" dirty="0">
                <a:latin typeface="宋体" panose="02010600030101010101" pitchFamily="2" charset="-122"/>
                <a:ea typeface="宋体" panose="02010600030101010101" pitchFamily="2" charset="-122"/>
              </a:rPr>
              <a:t>指令都是右移指令，</a:t>
            </a:r>
            <a:r>
              <a:rPr lang="en-US" altLang="zh-CN" sz="2400" dirty="0">
                <a:latin typeface="宋体" panose="02010600030101010101" pitchFamily="2" charset="-122"/>
                <a:ea typeface="宋体" panose="02010600030101010101" pitchFamily="2" charset="-122"/>
              </a:rPr>
              <a:t>SAR</a:t>
            </a:r>
            <a:r>
              <a:rPr lang="zh-CN" altLang="en-US" sz="2400" dirty="0">
                <a:latin typeface="宋体" panose="02010600030101010101" pitchFamily="2" charset="-122"/>
                <a:ea typeface="宋体" panose="02010600030101010101" pitchFamily="2" charset="-122"/>
              </a:rPr>
              <a:t>是算数右移指令（</a:t>
            </a:r>
            <a:r>
              <a:rPr lang="en-US" altLang="zh-CN" sz="2400" dirty="0">
                <a:latin typeface="宋体" panose="02010600030101010101" pitchFamily="2" charset="-122"/>
                <a:ea typeface="宋体" panose="02010600030101010101" pitchFamily="2" charset="-122"/>
              </a:rPr>
              <a:t>shift arithmetic right</a:t>
            </a:r>
            <a:r>
              <a:rPr lang="zh-CN" altLang="en-US" sz="2400" dirty="0">
                <a:latin typeface="宋体" panose="02010600030101010101" pitchFamily="2" charset="-122"/>
                <a:ea typeface="宋体" panose="02010600030101010101" pitchFamily="2" charset="-122"/>
              </a:rPr>
              <a:t>），而</a:t>
            </a:r>
            <a:r>
              <a:rPr lang="en-US" altLang="zh-CN" sz="2400" dirty="0">
                <a:latin typeface="宋体" panose="02010600030101010101" pitchFamily="2" charset="-122"/>
                <a:ea typeface="宋体" panose="02010600030101010101" pitchFamily="2" charset="-122"/>
              </a:rPr>
              <a:t>SHR</a:t>
            </a:r>
            <a:r>
              <a:rPr lang="zh-CN" altLang="en-US" sz="2400" dirty="0">
                <a:latin typeface="宋体" panose="02010600030101010101" pitchFamily="2" charset="-122"/>
                <a:ea typeface="宋体" panose="02010600030101010101" pitchFamily="2" charset="-122"/>
              </a:rPr>
              <a:t>是逻辑右移指令（</a:t>
            </a:r>
            <a:r>
              <a:rPr lang="en-US" altLang="zh-CN" sz="2400" dirty="0">
                <a:latin typeface="宋体" panose="02010600030101010101" pitchFamily="2" charset="-122"/>
                <a:ea typeface="宋体" panose="02010600030101010101" pitchFamily="2" charset="-122"/>
              </a:rPr>
              <a:t>shift logical right</a:t>
            </a:r>
            <a:r>
              <a:rPr lang="zh-CN" altLang="en-US"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zh-CN" altLang="en-US" sz="2400" dirty="0">
                <a:latin typeface="宋体" panose="02010600030101010101" pitchFamily="2" charset="-122"/>
                <a:ea typeface="宋体" panose="02010600030101010101" pitchFamily="2" charset="-122"/>
              </a:rPr>
              <a:t>   两者的区别在于</a:t>
            </a:r>
            <a:r>
              <a:rPr lang="en-US" altLang="zh-CN" sz="2400" dirty="0">
                <a:latin typeface="宋体" panose="02010600030101010101" pitchFamily="2" charset="-122"/>
                <a:ea typeface="宋体" panose="02010600030101010101" pitchFamily="2" charset="-122"/>
              </a:rPr>
              <a:t>SAR</a:t>
            </a:r>
            <a:r>
              <a:rPr lang="zh-CN" altLang="en-US" sz="2400" dirty="0">
                <a:latin typeface="宋体" panose="02010600030101010101" pitchFamily="2" charset="-122"/>
                <a:ea typeface="宋体" panose="02010600030101010101" pitchFamily="2" charset="-122"/>
              </a:rPr>
              <a:t>右移时保留操作数的符号，即用符号位来补足，而</a:t>
            </a:r>
            <a:r>
              <a:rPr lang="en-US" altLang="zh-CN" sz="2400" dirty="0">
                <a:latin typeface="宋体" panose="02010600030101010101" pitchFamily="2" charset="-122"/>
                <a:ea typeface="宋体" panose="02010600030101010101" pitchFamily="2" charset="-122"/>
              </a:rPr>
              <a:t>SHR</a:t>
            </a:r>
            <a:r>
              <a:rPr lang="zh-CN" altLang="en-US" sz="2400" dirty="0">
                <a:latin typeface="宋体" panose="02010600030101010101" pitchFamily="2" charset="-122"/>
                <a:ea typeface="宋体" panose="02010600030101010101" pitchFamily="2" charset="-122"/>
              </a:rPr>
              <a:t>右移时总是用</a:t>
            </a:r>
            <a:r>
              <a:rPr lang="en-US" altLang="zh-CN" sz="2400" dirty="0">
                <a:latin typeface="宋体" panose="02010600030101010101" pitchFamily="2" charset="-122"/>
                <a:ea typeface="宋体" panose="02010600030101010101" pitchFamily="2" charset="-122"/>
              </a:rPr>
              <a:t>0</a:t>
            </a:r>
            <a:r>
              <a:rPr lang="zh-CN" altLang="en-US" sz="2400" dirty="0">
                <a:latin typeface="宋体" panose="02010600030101010101" pitchFamily="2" charset="-122"/>
                <a:ea typeface="宋体" panose="02010600030101010101" pitchFamily="2" charset="-122"/>
              </a:rPr>
              <a:t>来补足。</a:t>
            </a:r>
            <a:endParaRPr lang="zh-CN" altLang="en-US" sz="2400"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zh-CN" altLang="en-US" sz="2400" dirty="0">
                <a:latin typeface="宋体" panose="02010600030101010101" pitchFamily="2" charset="-122"/>
                <a:ea typeface="宋体" panose="02010600030101010101" pitchFamily="2" charset="-122"/>
              </a:rPr>
              <a:t>例：</a:t>
            </a:r>
            <a:r>
              <a:rPr lang="en-US" altLang="zh-CN" sz="2400" dirty="0">
                <a:latin typeface="宋体" panose="02010600030101010101" pitchFamily="2" charset="-122"/>
                <a:ea typeface="宋体" panose="02010600030101010101" pitchFamily="2" charset="-122"/>
              </a:rPr>
              <a:t>10000000</a:t>
            </a:r>
            <a:r>
              <a:rPr lang="zh-CN" altLang="en-US" sz="2400" dirty="0">
                <a:latin typeface="宋体" panose="02010600030101010101" pitchFamily="2" charset="-122"/>
                <a:ea typeface="宋体" panose="02010600030101010101" pitchFamily="2" charset="-122"/>
              </a:rPr>
              <a:t>算数右移</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位是</a:t>
            </a:r>
            <a:r>
              <a:rPr lang="en-US" altLang="zh-CN" sz="2400" dirty="0">
                <a:latin typeface="宋体" panose="02010600030101010101" pitchFamily="2" charset="-122"/>
                <a:ea typeface="宋体" panose="02010600030101010101" pitchFamily="2" charset="-122"/>
              </a:rPr>
              <a:t>11000000</a:t>
            </a:r>
            <a:r>
              <a:rPr lang="zh-CN" altLang="en-US" sz="2400" dirty="0">
                <a:latin typeface="宋体" panose="02010600030101010101" pitchFamily="2" charset="-122"/>
                <a:ea typeface="宋体" panose="02010600030101010101" pitchFamily="2" charset="-122"/>
              </a:rPr>
              <a:t>，而逻辑右移</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位是</a:t>
            </a:r>
            <a:r>
              <a:rPr lang="en-US" altLang="zh-CN" sz="2400" dirty="0">
                <a:latin typeface="宋体" panose="02010600030101010101" pitchFamily="2" charset="-122"/>
                <a:ea typeface="宋体" panose="02010600030101010101" pitchFamily="2" charset="-122"/>
              </a:rPr>
              <a:t>01000000</a:t>
            </a:r>
            <a:r>
              <a:rPr lang="zh-CN" altLang="en-US"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Grp="1"/>
          </p:cNvSpPr>
          <p:nvPr>
            <p:ph type="title" idx="4294967295"/>
          </p:nvPr>
        </p:nvSpPr>
        <p:spPr>
          <a:xfrm>
            <a:off x="684213" y="1123950"/>
            <a:ext cx="3311525" cy="563563"/>
          </a:xfrm>
        </p:spPr>
        <p:txBody>
          <a:bodyPr vert="horz" wrap="square" lIns="91440" tIns="45720" rIns="91440" bIns="45720" anchor="ctr" anchorCtr="0"/>
          <a:p>
            <a:pPr eaLnBrk="1" hangingPunct="1"/>
            <a:r>
              <a:rPr lang="zh-CN" altLang="en-US" dirty="0">
                <a:solidFill>
                  <a:srgbClr val="000033"/>
                </a:solidFill>
                <a:ea typeface="宋体" panose="02010600030101010101" pitchFamily="2" charset="-122"/>
              </a:rPr>
              <a:t>（</a:t>
            </a:r>
            <a:r>
              <a:rPr lang="en-US" altLang="zh-CN" dirty="0">
                <a:solidFill>
                  <a:srgbClr val="000033"/>
                </a:solidFill>
                <a:ea typeface="宋体" panose="02010600030101010101" pitchFamily="2" charset="-122"/>
              </a:rPr>
              <a:t>2</a:t>
            </a:r>
            <a:r>
              <a:rPr lang="zh-CN" altLang="en-US" dirty="0">
                <a:solidFill>
                  <a:srgbClr val="000033"/>
                </a:solidFill>
                <a:ea typeface="宋体" panose="02010600030101010101" pitchFamily="2" charset="-122"/>
              </a:rPr>
              <a:t>）循环移位指令</a:t>
            </a:r>
            <a:endParaRPr lang="zh-CN" altLang="en-US" dirty="0">
              <a:solidFill>
                <a:srgbClr val="000033"/>
              </a:solidFill>
              <a:ea typeface="宋体" panose="02010600030101010101" pitchFamily="2" charset="-122"/>
            </a:endParaRPr>
          </a:p>
        </p:txBody>
      </p:sp>
      <p:sp>
        <p:nvSpPr>
          <p:cNvPr id="121859" name="Rectangle 3"/>
          <p:cNvSpPr>
            <a:spLocks noGrp="1"/>
          </p:cNvSpPr>
          <p:nvPr>
            <p:ph type="body" idx="4294967295"/>
          </p:nvPr>
        </p:nvSpPr>
        <p:spPr>
          <a:xfrm>
            <a:off x="900113" y="1979613"/>
            <a:ext cx="4392612" cy="2881312"/>
          </a:xfrm>
        </p:spPr>
        <p:txBody>
          <a:bodyPr vert="horz" wrap="square" lIns="91440" tIns="45720" rIns="91440" bIns="45720" anchor="t" anchorCtr="0"/>
          <a:p>
            <a:pPr eaLnBrk="1" hangingPunct="1"/>
            <a:endParaRPr lang="en-US" altLang="zh-CN" dirty="0">
              <a:ea typeface="宋体" panose="02010600030101010101" pitchFamily="2" charset="-122"/>
            </a:endParaRPr>
          </a:p>
          <a:p>
            <a:pPr eaLnBrk="1" hangingPunct="1">
              <a:buNone/>
            </a:pPr>
            <a:r>
              <a:rPr lang="zh-CN" altLang="en-US" dirty="0">
                <a:ea typeface="宋体" panose="02010600030101010101" pitchFamily="2" charset="-122"/>
              </a:rPr>
              <a:t>不带进位的循环移位</a:t>
            </a:r>
            <a:endParaRPr lang="zh-CN" altLang="en-US" dirty="0">
              <a:ea typeface="宋体" panose="02010600030101010101" pitchFamily="2" charset="-122"/>
            </a:endParaRPr>
          </a:p>
          <a:p>
            <a:pPr eaLnBrk="1" hangingPunct="1"/>
            <a:endParaRPr lang="zh-CN" altLang="en-US" dirty="0">
              <a:ea typeface="宋体" panose="02010600030101010101" pitchFamily="2" charset="-122"/>
            </a:endParaRPr>
          </a:p>
          <a:p>
            <a:pPr eaLnBrk="1" hangingPunct="1"/>
            <a:endParaRPr lang="zh-CN" altLang="en-US" dirty="0">
              <a:ea typeface="宋体" panose="02010600030101010101" pitchFamily="2" charset="-122"/>
            </a:endParaRPr>
          </a:p>
          <a:p>
            <a:pPr eaLnBrk="1" hangingPunct="1">
              <a:buNone/>
            </a:pPr>
            <a:r>
              <a:rPr lang="zh-CN" altLang="en-US" dirty="0">
                <a:ea typeface="宋体" panose="02010600030101010101" pitchFamily="2" charset="-122"/>
              </a:rPr>
              <a:t>带进位的循环移位</a:t>
            </a:r>
            <a:endParaRPr lang="zh-CN" altLang="en-US" sz="2000" dirty="0">
              <a:solidFill>
                <a:srgbClr val="FF0000"/>
              </a:solidFill>
              <a:ea typeface="宋体" panose="02010600030101010101" pitchFamily="2" charset="-122"/>
            </a:endParaRPr>
          </a:p>
        </p:txBody>
      </p:sp>
      <p:sp>
        <p:nvSpPr>
          <p:cNvPr id="121860" name="Text Box 4"/>
          <p:cNvSpPr txBox="1"/>
          <p:nvPr/>
        </p:nvSpPr>
        <p:spPr>
          <a:xfrm>
            <a:off x="5081588" y="2187575"/>
            <a:ext cx="2133600" cy="10160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宋体" panose="02010600030101010101" pitchFamily="2" charset="-122"/>
                <a:ea typeface="宋体" panose="02010600030101010101" pitchFamily="2" charset="-122"/>
              </a:rPr>
              <a:t>左移 </a:t>
            </a:r>
            <a:r>
              <a:rPr lang="en-US" altLang="zh-CN" sz="2400" b="1" dirty="0">
                <a:latin typeface="宋体" panose="02010600030101010101" pitchFamily="2" charset="-122"/>
                <a:ea typeface="宋体" panose="02010600030101010101" pitchFamily="2" charset="-122"/>
              </a:rPr>
              <a:t>ROL</a:t>
            </a:r>
            <a:endParaRPr lang="en-US" altLang="zh-CN" sz="2400" b="1" dirty="0">
              <a:latin typeface="宋体" panose="02010600030101010101" pitchFamily="2" charset="-122"/>
              <a:ea typeface="宋体" panose="02010600030101010101" pitchFamily="2" charset="-122"/>
            </a:endParaRPr>
          </a:p>
          <a:p>
            <a:pPr eaLnBrk="0" hangingPunct="0">
              <a:spcBef>
                <a:spcPct val="50000"/>
              </a:spcBef>
              <a:buFont typeface="Wingdings" panose="05000000000000000000" pitchFamily="2" charset="2"/>
            </a:pPr>
            <a:r>
              <a:rPr lang="zh-CN" altLang="en-US" sz="2400" b="1" dirty="0">
                <a:latin typeface="宋体" panose="02010600030101010101" pitchFamily="2" charset="-122"/>
                <a:ea typeface="宋体" panose="02010600030101010101" pitchFamily="2" charset="-122"/>
              </a:rPr>
              <a:t>右移 </a:t>
            </a:r>
            <a:r>
              <a:rPr lang="en-US" altLang="zh-CN" sz="2400" b="1" dirty="0">
                <a:latin typeface="宋体" panose="02010600030101010101" pitchFamily="2" charset="-122"/>
                <a:ea typeface="宋体" panose="02010600030101010101" pitchFamily="2" charset="-122"/>
              </a:rPr>
              <a:t>ROR</a:t>
            </a:r>
            <a:endParaRPr lang="en-US" altLang="zh-CN" sz="2400" b="1" dirty="0">
              <a:latin typeface="宋体" panose="02010600030101010101" pitchFamily="2" charset="-122"/>
              <a:ea typeface="宋体" panose="02010600030101010101" pitchFamily="2" charset="-122"/>
            </a:endParaRPr>
          </a:p>
        </p:txBody>
      </p:sp>
      <p:sp>
        <p:nvSpPr>
          <p:cNvPr id="121861" name="Text Box 5"/>
          <p:cNvSpPr txBox="1"/>
          <p:nvPr/>
        </p:nvSpPr>
        <p:spPr>
          <a:xfrm>
            <a:off x="4946650" y="3852863"/>
            <a:ext cx="2057400" cy="10160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宋体" panose="02010600030101010101" pitchFamily="2" charset="-122"/>
                <a:ea typeface="宋体" panose="02010600030101010101" pitchFamily="2" charset="-122"/>
              </a:rPr>
              <a:t>左移  </a:t>
            </a:r>
            <a:r>
              <a:rPr lang="en-US" altLang="zh-CN" sz="2400" b="1" dirty="0">
                <a:latin typeface="宋体" panose="02010600030101010101" pitchFamily="2" charset="-122"/>
                <a:ea typeface="宋体" panose="02010600030101010101" pitchFamily="2" charset="-122"/>
              </a:rPr>
              <a:t>RCL</a:t>
            </a:r>
            <a:endParaRPr lang="en-US" altLang="zh-CN" sz="2400" b="1" dirty="0">
              <a:latin typeface="宋体" panose="02010600030101010101" pitchFamily="2" charset="-122"/>
              <a:ea typeface="宋体" panose="02010600030101010101" pitchFamily="2" charset="-122"/>
            </a:endParaRPr>
          </a:p>
          <a:p>
            <a:pPr eaLnBrk="0" hangingPunct="0">
              <a:spcBef>
                <a:spcPct val="50000"/>
              </a:spcBef>
              <a:buFont typeface="Wingdings" panose="05000000000000000000" pitchFamily="2" charset="2"/>
            </a:pPr>
            <a:r>
              <a:rPr lang="zh-CN" altLang="en-US" sz="2400" b="1" dirty="0">
                <a:latin typeface="宋体" panose="02010600030101010101" pitchFamily="2" charset="-122"/>
                <a:ea typeface="宋体" panose="02010600030101010101" pitchFamily="2" charset="-122"/>
              </a:rPr>
              <a:t>右移  </a:t>
            </a:r>
            <a:r>
              <a:rPr lang="en-US" altLang="zh-CN" sz="2400" b="1" dirty="0">
                <a:latin typeface="宋体" panose="02010600030101010101" pitchFamily="2" charset="-122"/>
                <a:ea typeface="宋体" panose="02010600030101010101" pitchFamily="2" charset="-122"/>
              </a:rPr>
              <a:t>RCR</a:t>
            </a:r>
            <a:endParaRPr lang="en-US" altLang="zh-CN" sz="2400" b="1" dirty="0">
              <a:latin typeface="宋体" panose="02010600030101010101" pitchFamily="2" charset="-122"/>
              <a:ea typeface="宋体" panose="02010600030101010101" pitchFamily="2" charset="-122"/>
            </a:endParaRPr>
          </a:p>
        </p:txBody>
      </p:sp>
      <p:sp>
        <p:nvSpPr>
          <p:cNvPr id="121862" name="AutoShape 6"/>
          <p:cNvSpPr/>
          <p:nvPr/>
        </p:nvSpPr>
        <p:spPr>
          <a:xfrm>
            <a:off x="4725988" y="2354263"/>
            <a:ext cx="215900" cy="838200"/>
          </a:xfrm>
          <a:prstGeom prst="leftBrace">
            <a:avLst>
              <a:gd name="adj1" fmla="val 32101"/>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宋体" panose="02010600030101010101" pitchFamily="2" charset="-122"/>
              <a:ea typeface="宋体" panose="02010600030101010101" pitchFamily="2" charset="-122"/>
            </a:endParaRPr>
          </a:p>
        </p:txBody>
      </p:sp>
      <p:sp>
        <p:nvSpPr>
          <p:cNvPr id="121863" name="AutoShape 7"/>
          <p:cNvSpPr/>
          <p:nvPr/>
        </p:nvSpPr>
        <p:spPr>
          <a:xfrm>
            <a:off x="4716463" y="3983038"/>
            <a:ext cx="225425" cy="838200"/>
          </a:xfrm>
          <a:prstGeom prst="leftBrace">
            <a:avLst>
              <a:gd name="adj1" fmla="val 30744"/>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宋体" panose="02010600030101010101" pitchFamily="2" charset="-122"/>
              <a:ea typeface="宋体" panose="02010600030101010101" pitchFamily="2" charset="-122"/>
            </a:endParaRPr>
          </a:p>
        </p:txBody>
      </p:sp>
      <p:sp>
        <p:nvSpPr>
          <p:cNvPr id="121864" name="Text Box 8"/>
          <p:cNvSpPr txBox="1"/>
          <p:nvPr/>
        </p:nvSpPr>
        <p:spPr>
          <a:xfrm>
            <a:off x="539750" y="5516563"/>
            <a:ext cx="8135938" cy="519112"/>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800" b="1" dirty="0">
                <a:solidFill>
                  <a:srgbClr val="FF0000"/>
                </a:solidFill>
                <a:latin typeface="Times New Roman" panose="02020603050405020304" pitchFamily="18" charset="0"/>
                <a:ea typeface="宋体" panose="02010600030101010101" pitchFamily="2" charset="-122"/>
              </a:rPr>
              <a:t>指令格式、对操作数的要求与非循环移位指令相同</a:t>
            </a:r>
            <a:endParaRPr lang="zh-CN" altLang="en-US" sz="28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1859">
                                            <p:txEl>
                                              <p:charRg st="1" end="11"/>
                                            </p:txEl>
                                          </p:spTgt>
                                        </p:tgtEl>
                                        <p:attrNameLst>
                                          <p:attrName>style.visibility</p:attrName>
                                        </p:attrNameLst>
                                      </p:cBhvr>
                                      <p:to>
                                        <p:strVal val="visible"/>
                                      </p:to>
                                    </p:set>
                                    <p:animEffect transition="in" filter="wipe(left)">
                                      <p:cBhvr>
                                        <p:cTn id="7" dur="500"/>
                                        <p:tgtEl>
                                          <p:spTgt spid="121859">
                                            <p:txEl>
                                              <p:charRg st="1" end="11"/>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21859">
                                            <p:txEl>
                                              <p:charRg st="13" end="22"/>
                                            </p:txEl>
                                          </p:spTgt>
                                        </p:tgtEl>
                                        <p:attrNameLst>
                                          <p:attrName>style.visibility</p:attrName>
                                        </p:attrNameLst>
                                      </p:cBhvr>
                                      <p:to>
                                        <p:strVal val="visible"/>
                                      </p:to>
                                    </p:set>
                                    <p:animEffect transition="in" filter="wipe(left)">
                                      <p:cBhvr>
                                        <p:cTn id="11" dur="500"/>
                                        <p:tgtEl>
                                          <p:spTgt spid="121859">
                                            <p:txEl>
                                              <p:charRg st="13" end="2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12" fill="hold" grpId="0" nodeType="clickEffect">
                                  <p:stCondLst>
                                    <p:cond delay="0"/>
                                  </p:stCondLst>
                                  <p:childTnLst>
                                    <p:set>
                                      <p:cBhvr>
                                        <p:cTn id="15" dur="1" fill="hold">
                                          <p:stCondLst>
                                            <p:cond delay="0"/>
                                          </p:stCondLst>
                                        </p:cTn>
                                        <p:tgtEl>
                                          <p:spTgt spid="121862"/>
                                        </p:tgtEl>
                                        <p:attrNameLst>
                                          <p:attrName>style.visibility</p:attrName>
                                        </p:attrNameLst>
                                      </p:cBhvr>
                                      <p:to>
                                        <p:strVal val="visible"/>
                                      </p:to>
                                    </p:set>
                                    <p:animEffect transition="in" filter="strips(downLeft)">
                                      <p:cBhvr>
                                        <p:cTn id="16" dur="500"/>
                                        <p:tgtEl>
                                          <p:spTgt spid="121862"/>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21860">
                                            <p:txEl>
                                              <p:charRg st="0" end="7"/>
                                            </p:txEl>
                                          </p:spTgt>
                                        </p:tgtEl>
                                        <p:attrNameLst>
                                          <p:attrName>style.visibility</p:attrName>
                                        </p:attrNameLst>
                                      </p:cBhvr>
                                      <p:to>
                                        <p:strVal val="visible"/>
                                      </p:to>
                                    </p:set>
                                    <p:animEffect transition="in" filter="wipe(left)">
                                      <p:cBhvr>
                                        <p:cTn id="20" dur="500"/>
                                        <p:tgtEl>
                                          <p:spTgt spid="121860">
                                            <p:txEl>
                                              <p:charRg st="0" end="7"/>
                                            </p:txEl>
                                          </p:spTgt>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121860">
                                            <p:txEl>
                                              <p:charRg st="7" end="14"/>
                                            </p:txEl>
                                          </p:spTgt>
                                        </p:tgtEl>
                                        <p:attrNameLst>
                                          <p:attrName>style.visibility</p:attrName>
                                        </p:attrNameLst>
                                      </p:cBhvr>
                                      <p:to>
                                        <p:strVal val="visible"/>
                                      </p:to>
                                    </p:set>
                                    <p:animEffect transition="in" filter="wipe(left)">
                                      <p:cBhvr>
                                        <p:cTn id="24" dur="500"/>
                                        <p:tgtEl>
                                          <p:spTgt spid="121860">
                                            <p:txEl>
                                              <p:charRg st="7" end="1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12" fill="hold" grpId="0" nodeType="clickEffect">
                                  <p:stCondLst>
                                    <p:cond delay="0"/>
                                  </p:stCondLst>
                                  <p:childTnLst>
                                    <p:set>
                                      <p:cBhvr>
                                        <p:cTn id="28" dur="1" fill="hold">
                                          <p:stCondLst>
                                            <p:cond delay="0"/>
                                          </p:stCondLst>
                                        </p:cTn>
                                        <p:tgtEl>
                                          <p:spTgt spid="121863"/>
                                        </p:tgtEl>
                                        <p:attrNameLst>
                                          <p:attrName>style.visibility</p:attrName>
                                        </p:attrNameLst>
                                      </p:cBhvr>
                                      <p:to>
                                        <p:strVal val="visible"/>
                                      </p:to>
                                    </p:set>
                                    <p:animEffect transition="in" filter="strips(downLeft)">
                                      <p:cBhvr>
                                        <p:cTn id="29" dur="500"/>
                                        <p:tgtEl>
                                          <p:spTgt spid="121863"/>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121861">
                                            <p:txEl>
                                              <p:charRg st="0" end="8"/>
                                            </p:txEl>
                                          </p:spTgt>
                                        </p:tgtEl>
                                        <p:attrNameLst>
                                          <p:attrName>style.visibility</p:attrName>
                                        </p:attrNameLst>
                                      </p:cBhvr>
                                      <p:to>
                                        <p:strVal val="visible"/>
                                      </p:to>
                                    </p:set>
                                    <p:animEffect transition="in" filter="wipe(left)">
                                      <p:cBhvr>
                                        <p:cTn id="33" dur="500"/>
                                        <p:tgtEl>
                                          <p:spTgt spid="121861">
                                            <p:txEl>
                                              <p:charRg st="0" end="8"/>
                                            </p:txEl>
                                          </p:spTgt>
                                        </p:tgtEl>
                                      </p:cBhvr>
                                    </p:animEffect>
                                  </p:childTnLst>
                                </p:cTn>
                              </p:par>
                            </p:childTnLst>
                          </p:cTn>
                        </p:par>
                        <p:par>
                          <p:cTn id="34" fill="hold">
                            <p:stCondLst>
                              <p:cond delay="1000"/>
                            </p:stCondLst>
                            <p:childTnLst>
                              <p:par>
                                <p:cTn id="35" presetID="22" presetClass="entr" presetSubtype="8" fill="hold" nodeType="afterEffect">
                                  <p:stCondLst>
                                    <p:cond delay="0"/>
                                  </p:stCondLst>
                                  <p:childTnLst>
                                    <p:set>
                                      <p:cBhvr>
                                        <p:cTn id="36" dur="1" fill="hold">
                                          <p:stCondLst>
                                            <p:cond delay="0"/>
                                          </p:stCondLst>
                                        </p:cTn>
                                        <p:tgtEl>
                                          <p:spTgt spid="121861">
                                            <p:txEl>
                                              <p:charRg st="8" end="16"/>
                                            </p:txEl>
                                          </p:spTgt>
                                        </p:tgtEl>
                                        <p:attrNameLst>
                                          <p:attrName>style.visibility</p:attrName>
                                        </p:attrNameLst>
                                      </p:cBhvr>
                                      <p:to>
                                        <p:strVal val="visible"/>
                                      </p:to>
                                    </p:set>
                                    <p:animEffect transition="in" filter="wipe(left)">
                                      <p:cBhvr>
                                        <p:cTn id="37" dur="500"/>
                                        <p:tgtEl>
                                          <p:spTgt spid="121861">
                                            <p:txEl>
                                              <p:charRg st="8" end="1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121864"/>
                                        </p:tgtEl>
                                        <p:attrNameLst>
                                          <p:attrName>style.visibility</p:attrName>
                                        </p:attrNameLst>
                                      </p:cBhvr>
                                      <p:to>
                                        <p:strVal val="visible"/>
                                      </p:to>
                                    </p:set>
                                    <p:anim calcmode="lin" valueType="num">
                                      <p:cBhvr>
                                        <p:cTn id="42" dur="500" fill="hold"/>
                                        <p:tgtEl>
                                          <p:spTgt spid="121864"/>
                                        </p:tgtEl>
                                        <p:attrNameLst>
                                          <p:attrName>ppt_x</p:attrName>
                                        </p:attrNameLst>
                                      </p:cBhvr>
                                      <p:tavLst>
                                        <p:tav tm="0">
                                          <p:val>
                                            <p:strVal val="0-#ppt_w/2"/>
                                          </p:val>
                                        </p:tav>
                                        <p:tav tm="100000">
                                          <p:val>
                                            <p:strVal val="#ppt_x"/>
                                          </p:val>
                                        </p:tav>
                                      </p:tavLst>
                                    </p:anim>
                                    <p:anim calcmode="lin" valueType="num">
                                      <p:cBhvr>
                                        <p:cTn id="43" dur="500" fill="hold"/>
                                        <p:tgtEl>
                                          <p:spTgt spid="1218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2" grpId="0" animBg="1"/>
      <p:bldP spid="121863" grpId="0" animBg="1"/>
      <p:bldP spid="121864"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2"/>
          <p:cNvSpPr>
            <a:spLocks noGrp="1"/>
          </p:cNvSpPr>
          <p:nvPr>
            <p:ph type="title" idx="4294967295"/>
          </p:nvPr>
        </p:nvSpPr>
        <p:spPr>
          <a:xfrm>
            <a:off x="755650" y="1019175"/>
            <a:ext cx="3600450" cy="563563"/>
          </a:xfrm>
        </p:spPr>
        <p:txBody>
          <a:bodyPr vert="horz" wrap="square" lIns="91440" tIns="45720" rIns="91440" bIns="45720" anchor="ctr" anchorCtr="0"/>
          <a:p>
            <a:pPr eaLnBrk="1" hangingPunct="1"/>
            <a:r>
              <a:rPr lang="zh-CN" altLang="en-US" dirty="0">
                <a:solidFill>
                  <a:srgbClr val="000033"/>
                </a:solidFill>
                <a:ea typeface="宋体" panose="02010600030101010101" pitchFamily="2" charset="-122"/>
              </a:rPr>
              <a:t>不带进位的循环移位</a:t>
            </a:r>
            <a:endParaRPr lang="zh-CN" altLang="en-US" dirty="0">
              <a:solidFill>
                <a:srgbClr val="000033"/>
              </a:solidFill>
              <a:ea typeface="宋体" panose="02010600030101010101" pitchFamily="2" charset="-122"/>
            </a:endParaRPr>
          </a:p>
        </p:txBody>
      </p:sp>
      <p:sp>
        <p:nvSpPr>
          <p:cNvPr id="122883" name="Rectangle 5"/>
          <p:cNvSpPr/>
          <p:nvPr>
            <p:custDataLst>
              <p:tags r:id="rId1"/>
            </p:custDataLst>
          </p:nvPr>
        </p:nvSpPr>
        <p:spPr>
          <a:xfrm>
            <a:off x="2417763" y="4157663"/>
            <a:ext cx="3581400"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22884" name="Line 6"/>
          <p:cNvSpPr/>
          <p:nvPr>
            <p:custDataLst>
              <p:tags r:id="rId2"/>
            </p:custDataLst>
          </p:nvPr>
        </p:nvSpPr>
        <p:spPr>
          <a:xfrm>
            <a:off x="3255963" y="4419600"/>
            <a:ext cx="2057400" cy="0"/>
          </a:xfrm>
          <a:prstGeom prst="line">
            <a:avLst/>
          </a:prstGeom>
          <a:ln w="25400" cap="sq" cmpd="sng">
            <a:solidFill>
              <a:schemeClr val="bg1"/>
            </a:solidFill>
            <a:prstDash val="solid"/>
            <a:headEnd type="none" w="med" len="med"/>
            <a:tailEnd type="triangle" w="lg" len="lg"/>
          </a:ln>
        </p:spPr>
      </p:sp>
      <p:sp>
        <p:nvSpPr>
          <p:cNvPr id="122885" name="Line 7"/>
          <p:cNvSpPr/>
          <p:nvPr>
            <p:custDataLst>
              <p:tags r:id="rId3"/>
            </p:custDataLst>
          </p:nvPr>
        </p:nvSpPr>
        <p:spPr>
          <a:xfrm>
            <a:off x="6015038" y="4414838"/>
            <a:ext cx="984250" cy="0"/>
          </a:xfrm>
          <a:prstGeom prst="line">
            <a:avLst/>
          </a:prstGeom>
          <a:ln w="25400" cap="sq" cmpd="sng">
            <a:solidFill>
              <a:srgbClr val="FF6600"/>
            </a:solidFill>
            <a:prstDash val="solid"/>
            <a:headEnd type="none" w="med" len="med"/>
            <a:tailEnd type="triangle" w="lg" len="lg"/>
          </a:ln>
        </p:spPr>
      </p:sp>
      <p:sp>
        <p:nvSpPr>
          <p:cNvPr id="122886" name="Line 8"/>
          <p:cNvSpPr/>
          <p:nvPr>
            <p:custDataLst>
              <p:tags r:id="rId4"/>
            </p:custDataLst>
          </p:nvPr>
        </p:nvSpPr>
        <p:spPr>
          <a:xfrm>
            <a:off x="1503363" y="4433888"/>
            <a:ext cx="914400" cy="0"/>
          </a:xfrm>
          <a:prstGeom prst="line">
            <a:avLst/>
          </a:prstGeom>
          <a:ln w="25400" cap="sq" cmpd="sng">
            <a:solidFill>
              <a:srgbClr val="FF6600"/>
            </a:solidFill>
            <a:prstDash val="solid"/>
            <a:headEnd type="none" w="med" len="med"/>
            <a:tailEnd type="triangle" w="lg" len="lg"/>
          </a:ln>
        </p:spPr>
      </p:sp>
      <p:sp>
        <p:nvSpPr>
          <p:cNvPr id="122887" name="Text Box 9"/>
          <p:cNvSpPr txBox="1"/>
          <p:nvPr>
            <p:custDataLst>
              <p:tags r:id="rId5"/>
            </p:custDataLst>
          </p:nvPr>
        </p:nvSpPr>
        <p:spPr>
          <a:xfrm>
            <a:off x="7008813" y="4157663"/>
            <a:ext cx="685800" cy="544512"/>
          </a:xfrm>
          <a:prstGeom prst="rect">
            <a:avLst/>
          </a:prstGeom>
          <a:solidFill>
            <a:srgbClr val="339966"/>
          </a:solidFill>
          <a:ln w="25400" cap="sq" cmpd="sng">
            <a:solidFill>
              <a:srgbClr val="339966"/>
            </a:solidFill>
            <a:prstDash val="solid"/>
            <a:miter/>
            <a:headEnd type="none" w="med" len="med"/>
            <a:tailEnd type="none" w="med" len="med"/>
          </a:ln>
        </p:spPr>
        <p:txBody>
          <a:bodyPr>
            <a:spAutoFit/>
          </a:bodyPr>
          <a:p>
            <a:pPr eaLnBrk="0" hangingPunct="0">
              <a:spcBef>
                <a:spcPct val="50000"/>
              </a:spcBef>
              <a:buFont typeface="Wingdings" panose="05000000000000000000" pitchFamily="2" charset="2"/>
            </a:pPr>
            <a:r>
              <a:rPr lang="en-US" altLang="zh-CN" sz="2800" b="1" dirty="0">
                <a:solidFill>
                  <a:schemeClr val="bg1"/>
                </a:solidFill>
                <a:latin typeface="Times New Roman" panose="02020603050405020304" pitchFamily="18" charset="0"/>
                <a:ea typeface="宋体" panose="02010600030101010101" pitchFamily="2" charset="-122"/>
              </a:rPr>
              <a:t>CF</a:t>
            </a:r>
            <a:endParaRPr lang="en-US" altLang="zh-CN" sz="2800" b="1" dirty="0">
              <a:solidFill>
                <a:schemeClr val="bg1"/>
              </a:solidFill>
              <a:latin typeface="Times New Roman" panose="02020603050405020304" pitchFamily="18" charset="0"/>
              <a:ea typeface="宋体" panose="02010600030101010101" pitchFamily="2" charset="-122"/>
            </a:endParaRPr>
          </a:p>
        </p:txBody>
      </p:sp>
      <p:sp>
        <p:nvSpPr>
          <p:cNvPr id="122888" name="Line 10"/>
          <p:cNvSpPr/>
          <p:nvPr>
            <p:custDataLst>
              <p:tags r:id="rId6"/>
            </p:custDataLst>
          </p:nvPr>
        </p:nvSpPr>
        <p:spPr>
          <a:xfrm>
            <a:off x="1503363" y="4462463"/>
            <a:ext cx="0" cy="685800"/>
          </a:xfrm>
          <a:prstGeom prst="line">
            <a:avLst/>
          </a:prstGeom>
          <a:ln w="25400" cap="sq" cmpd="sng">
            <a:solidFill>
              <a:srgbClr val="FF6600"/>
            </a:solidFill>
            <a:prstDash val="solid"/>
            <a:headEnd type="none" w="med" len="med"/>
            <a:tailEnd type="none" w="med" len="med"/>
          </a:ln>
        </p:spPr>
      </p:sp>
      <p:sp>
        <p:nvSpPr>
          <p:cNvPr id="122889" name="Line 11"/>
          <p:cNvSpPr/>
          <p:nvPr>
            <p:custDataLst>
              <p:tags r:id="rId7"/>
            </p:custDataLst>
          </p:nvPr>
        </p:nvSpPr>
        <p:spPr>
          <a:xfrm>
            <a:off x="1531938" y="5167313"/>
            <a:ext cx="4876800" cy="0"/>
          </a:xfrm>
          <a:prstGeom prst="line">
            <a:avLst/>
          </a:prstGeom>
          <a:ln w="25400" cap="sq" cmpd="sng">
            <a:solidFill>
              <a:srgbClr val="FF6600"/>
            </a:solidFill>
            <a:prstDash val="solid"/>
            <a:headEnd type="none" w="med" len="med"/>
            <a:tailEnd type="none" w="med" len="med"/>
          </a:ln>
        </p:spPr>
      </p:sp>
      <p:sp>
        <p:nvSpPr>
          <p:cNvPr id="122890" name="Line 12"/>
          <p:cNvSpPr/>
          <p:nvPr>
            <p:custDataLst>
              <p:tags r:id="rId8"/>
            </p:custDataLst>
          </p:nvPr>
        </p:nvSpPr>
        <p:spPr>
          <a:xfrm>
            <a:off x="6427788" y="4414838"/>
            <a:ext cx="0" cy="758825"/>
          </a:xfrm>
          <a:prstGeom prst="line">
            <a:avLst/>
          </a:prstGeom>
          <a:ln w="25400" cap="sq" cmpd="sng">
            <a:solidFill>
              <a:srgbClr val="FF6600"/>
            </a:solidFill>
            <a:prstDash val="solid"/>
            <a:headEnd type="none" w="med" len="med"/>
            <a:tailEnd type="none" w="med" len="med"/>
          </a:ln>
        </p:spPr>
      </p:sp>
      <p:sp>
        <p:nvSpPr>
          <p:cNvPr id="122891" name="Rectangle 13"/>
          <p:cNvSpPr/>
          <p:nvPr>
            <p:custDataLst>
              <p:tags r:id="rId9"/>
            </p:custDataLst>
          </p:nvPr>
        </p:nvSpPr>
        <p:spPr>
          <a:xfrm>
            <a:off x="3303588" y="2020888"/>
            <a:ext cx="3581400"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22892" name="Text Box 17"/>
          <p:cNvSpPr txBox="1"/>
          <p:nvPr>
            <p:custDataLst>
              <p:tags r:id="rId10"/>
            </p:custDataLst>
          </p:nvPr>
        </p:nvSpPr>
        <p:spPr>
          <a:xfrm>
            <a:off x="1627188" y="2020888"/>
            <a:ext cx="685800" cy="544512"/>
          </a:xfrm>
          <a:prstGeom prst="rect">
            <a:avLst/>
          </a:prstGeom>
          <a:solidFill>
            <a:srgbClr val="339966"/>
          </a:solidFill>
          <a:ln w="25400" cap="sq" cmpd="sng">
            <a:solidFill>
              <a:srgbClr val="339966"/>
            </a:solidFill>
            <a:prstDash val="solid"/>
            <a:miter/>
            <a:headEnd type="none" w="med" len="med"/>
            <a:tailEnd type="none" w="med" len="med"/>
          </a:ln>
        </p:spPr>
        <p:txBody>
          <a:bodyPr>
            <a:spAutoFit/>
          </a:bodyPr>
          <a:p>
            <a:pPr eaLnBrk="0" hangingPunct="0">
              <a:spcBef>
                <a:spcPct val="50000"/>
              </a:spcBef>
              <a:buFont typeface="Wingdings" panose="05000000000000000000" pitchFamily="2" charset="2"/>
            </a:pPr>
            <a:r>
              <a:rPr lang="en-US" altLang="zh-CN" sz="2800" b="1" dirty="0">
                <a:solidFill>
                  <a:schemeClr val="bg1"/>
                </a:solidFill>
                <a:latin typeface="Times New Roman" panose="02020603050405020304" pitchFamily="18" charset="0"/>
                <a:ea typeface="宋体" panose="02010600030101010101" pitchFamily="2" charset="-122"/>
              </a:rPr>
              <a:t>CF</a:t>
            </a:r>
            <a:endParaRPr lang="en-US" altLang="zh-CN" sz="2800" b="1" dirty="0">
              <a:solidFill>
                <a:schemeClr val="bg1"/>
              </a:solidFill>
              <a:latin typeface="Times New Roman" panose="02020603050405020304" pitchFamily="18" charset="0"/>
              <a:ea typeface="宋体" panose="02010600030101010101" pitchFamily="2" charset="-122"/>
            </a:endParaRPr>
          </a:p>
        </p:txBody>
      </p:sp>
      <p:sp>
        <p:nvSpPr>
          <p:cNvPr id="122893" name="Line 18"/>
          <p:cNvSpPr/>
          <p:nvPr>
            <p:custDataLst>
              <p:tags r:id="rId11"/>
            </p:custDataLst>
          </p:nvPr>
        </p:nvSpPr>
        <p:spPr>
          <a:xfrm>
            <a:off x="7737475" y="2249488"/>
            <a:ext cx="14288" cy="762000"/>
          </a:xfrm>
          <a:prstGeom prst="line">
            <a:avLst/>
          </a:prstGeom>
          <a:ln w="25400" cap="sq" cmpd="sng">
            <a:solidFill>
              <a:srgbClr val="FF6600"/>
            </a:solidFill>
            <a:prstDash val="solid"/>
            <a:headEnd type="none" w="med" len="med"/>
            <a:tailEnd type="none" w="med" len="med"/>
          </a:ln>
        </p:spPr>
      </p:sp>
      <p:sp>
        <p:nvSpPr>
          <p:cNvPr id="122894" name="Line 19"/>
          <p:cNvSpPr/>
          <p:nvPr>
            <p:custDataLst>
              <p:tags r:id="rId12"/>
            </p:custDataLst>
          </p:nvPr>
        </p:nvSpPr>
        <p:spPr>
          <a:xfrm>
            <a:off x="2874963" y="3011488"/>
            <a:ext cx="4876800" cy="0"/>
          </a:xfrm>
          <a:prstGeom prst="line">
            <a:avLst/>
          </a:prstGeom>
          <a:ln w="25400" cap="sq" cmpd="sng">
            <a:solidFill>
              <a:srgbClr val="FF6600"/>
            </a:solidFill>
            <a:prstDash val="solid"/>
            <a:headEnd type="none" w="med" len="med"/>
            <a:tailEnd type="none" w="med" len="med"/>
          </a:ln>
        </p:spPr>
      </p:sp>
      <p:sp>
        <p:nvSpPr>
          <p:cNvPr id="122895" name="Line 20"/>
          <p:cNvSpPr/>
          <p:nvPr>
            <p:custDataLst>
              <p:tags r:id="rId13"/>
            </p:custDataLst>
          </p:nvPr>
        </p:nvSpPr>
        <p:spPr>
          <a:xfrm>
            <a:off x="2874963" y="2325688"/>
            <a:ext cx="0" cy="685800"/>
          </a:xfrm>
          <a:prstGeom prst="line">
            <a:avLst/>
          </a:prstGeom>
          <a:ln w="25400" cap="sq" cmpd="sng">
            <a:solidFill>
              <a:srgbClr val="FF6600"/>
            </a:solidFill>
            <a:prstDash val="solid"/>
            <a:headEnd type="none" w="med" len="med"/>
            <a:tailEnd type="none" w="med" len="med"/>
          </a:ln>
        </p:spPr>
      </p:sp>
      <p:sp>
        <p:nvSpPr>
          <p:cNvPr id="122896" name="Line 21"/>
          <p:cNvSpPr/>
          <p:nvPr>
            <p:custDataLst>
              <p:tags r:id="rId14"/>
            </p:custDataLst>
          </p:nvPr>
        </p:nvSpPr>
        <p:spPr>
          <a:xfrm flipH="1">
            <a:off x="4065588" y="2276475"/>
            <a:ext cx="1903412" cy="0"/>
          </a:xfrm>
          <a:prstGeom prst="line">
            <a:avLst/>
          </a:prstGeom>
          <a:ln w="25400" cap="sq" cmpd="sng">
            <a:solidFill>
              <a:schemeClr val="bg1"/>
            </a:solidFill>
            <a:prstDash val="solid"/>
            <a:headEnd type="none" w="med" len="med"/>
            <a:tailEnd type="triangle" w="lg" len="lg"/>
          </a:ln>
        </p:spPr>
      </p:sp>
      <p:sp>
        <p:nvSpPr>
          <p:cNvPr id="122897" name="Line 22"/>
          <p:cNvSpPr/>
          <p:nvPr>
            <p:custDataLst>
              <p:tags r:id="rId15"/>
            </p:custDataLst>
          </p:nvPr>
        </p:nvSpPr>
        <p:spPr>
          <a:xfrm flipH="1">
            <a:off x="6884988" y="2249488"/>
            <a:ext cx="838200" cy="0"/>
          </a:xfrm>
          <a:prstGeom prst="line">
            <a:avLst/>
          </a:prstGeom>
          <a:ln w="25400" cap="sq" cmpd="sng">
            <a:solidFill>
              <a:srgbClr val="FF6600"/>
            </a:solidFill>
            <a:prstDash val="solid"/>
            <a:headEnd type="none" w="med" len="med"/>
            <a:tailEnd type="triangle" w="lg" len="lg"/>
          </a:ln>
        </p:spPr>
      </p:sp>
      <p:sp>
        <p:nvSpPr>
          <p:cNvPr id="122898" name="Line 23"/>
          <p:cNvSpPr/>
          <p:nvPr>
            <p:custDataLst>
              <p:tags r:id="rId16"/>
            </p:custDataLst>
          </p:nvPr>
        </p:nvSpPr>
        <p:spPr>
          <a:xfrm flipH="1">
            <a:off x="2312988" y="2292350"/>
            <a:ext cx="979487" cy="0"/>
          </a:xfrm>
          <a:prstGeom prst="line">
            <a:avLst/>
          </a:prstGeom>
          <a:ln w="25400" cap="sq" cmpd="sng">
            <a:solidFill>
              <a:srgbClr val="FF6600"/>
            </a:solidFill>
            <a:prstDash val="solid"/>
            <a:headEnd type="none" w="med" len="med"/>
            <a:tailEnd type="triangle" w="lg" len="lg"/>
          </a:ln>
        </p:spPr>
      </p:sp>
      <p:sp>
        <p:nvSpPr>
          <p:cNvPr id="120851" name="矩形 1"/>
          <p:cNvSpPr/>
          <p:nvPr/>
        </p:nvSpPr>
        <p:spPr>
          <a:xfrm>
            <a:off x="4311650" y="849313"/>
            <a:ext cx="1412875" cy="830262"/>
          </a:xfrm>
          <a:prstGeom prst="rect">
            <a:avLst/>
          </a:prstGeom>
          <a:noFill/>
          <a:ln w="9525">
            <a:noFill/>
          </a:ln>
        </p:spPr>
        <p:txBody>
          <a:bodyPr>
            <a:spAutoFit/>
          </a:bodyPr>
          <a:p>
            <a:pPr eaLnBrk="0" hangingPunct="0">
              <a:buFont typeface="Wingdings" panose="05000000000000000000" pitchFamily="2" charset="2"/>
            </a:pPr>
            <a:r>
              <a:rPr lang="zh-CN" altLang="en-US" sz="2400" dirty="0">
                <a:latin typeface="宋体" panose="02010600030101010101" pitchFamily="2" charset="-122"/>
                <a:ea typeface="宋体" panose="02010600030101010101" pitchFamily="2" charset="-122"/>
              </a:rPr>
              <a:t>左移 </a:t>
            </a:r>
            <a:r>
              <a:rPr lang="en-US" altLang="zh-CN" sz="2400" dirty="0">
                <a:latin typeface="宋体" panose="02010600030101010101" pitchFamily="2" charset="-122"/>
                <a:ea typeface="宋体" panose="02010600030101010101" pitchFamily="2" charset="-122"/>
              </a:rPr>
              <a:t>ROL</a:t>
            </a:r>
            <a:endParaRPr lang="en-US" altLang="zh-CN" sz="2400" dirty="0">
              <a:latin typeface="宋体" panose="02010600030101010101" pitchFamily="2" charset="-122"/>
              <a:ea typeface="宋体" panose="02010600030101010101" pitchFamily="2" charset="-122"/>
            </a:endParaRPr>
          </a:p>
          <a:p>
            <a:pPr eaLnBrk="0" hangingPunct="0">
              <a:buFont typeface="Wingdings" panose="05000000000000000000" pitchFamily="2" charset="2"/>
            </a:pPr>
            <a:r>
              <a:rPr lang="zh-CN" altLang="en-US" sz="2400" dirty="0">
                <a:latin typeface="宋体" panose="02010600030101010101" pitchFamily="2" charset="-122"/>
                <a:ea typeface="宋体" panose="02010600030101010101" pitchFamily="2" charset="-122"/>
              </a:rPr>
              <a:t>右移 </a:t>
            </a:r>
            <a:r>
              <a:rPr lang="en-US" altLang="zh-CN" sz="2400" dirty="0">
                <a:latin typeface="宋体" panose="02010600030101010101" pitchFamily="2" charset="-122"/>
                <a:ea typeface="宋体" panose="02010600030101010101" pitchFamily="2" charset="-122"/>
              </a:rPr>
              <a:t>ROR</a:t>
            </a:r>
            <a:endParaRPr lang="en-US" altLang="zh-CN" sz="2400" dirty="0">
              <a:latin typeface="宋体" panose="02010600030101010101" pitchFamily="2" charset="-122"/>
              <a:ea typeface="宋体" panose="02010600030101010101" pitchFamily="2" charset="-122"/>
            </a:endParaRPr>
          </a:p>
        </p:txBody>
      </p:sp>
      <p:sp>
        <p:nvSpPr>
          <p:cNvPr id="120852" name="文本框 2"/>
          <p:cNvSpPr txBox="1"/>
          <p:nvPr/>
        </p:nvSpPr>
        <p:spPr>
          <a:xfrm>
            <a:off x="1954213" y="6294438"/>
            <a:ext cx="4481512" cy="461962"/>
          </a:xfrm>
          <a:prstGeom prst="rect">
            <a:avLst/>
          </a:prstGeom>
          <a:noFill/>
          <a:ln w="9525">
            <a:noFill/>
          </a:ln>
        </p:spPr>
        <p:txBody>
          <a:bodyPr>
            <a:spAutoFit/>
          </a:bodyPr>
          <a:p>
            <a:pPr eaLnBrk="0" hangingPunct="0"/>
            <a:r>
              <a:rPr lang="en-US" altLang="zh-CN" sz="2400" dirty="0">
                <a:latin typeface="宋体" panose="02010600030101010101" pitchFamily="2" charset="-122"/>
                <a:ea typeface="宋体" panose="02010600030101010101" pitchFamily="2" charset="-122"/>
              </a:rPr>
              <a:t>ROL</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ROR</a:t>
            </a:r>
            <a:r>
              <a:rPr lang="zh-CN" altLang="en-US" sz="2400" dirty="0">
                <a:latin typeface="宋体" panose="02010600030101010101" pitchFamily="2" charset="-122"/>
                <a:ea typeface="宋体" panose="02010600030101010101" pitchFamily="2" charset="-122"/>
              </a:rPr>
              <a:t>指令影响</a:t>
            </a:r>
            <a:r>
              <a:rPr lang="en-US" altLang="zh-CN" sz="2400" dirty="0">
                <a:latin typeface="宋体" panose="02010600030101010101" pitchFamily="2" charset="-122"/>
                <a:ea typeface="宋体" panose="02010600030101010101" pitchFamily="2" charset="-122"/>
              </a:rPr>
              <a:t>CF</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OF</a:t>
            </a:r>
            <a:r>
              <a:rPr lang="zh-CN" altLang="en-US" sz="2400" dirty="0">
                <a:latin typeface="宋体" panose="02010600030101010101" pitchFamily="2" charset="-122"/>
                <a:ea typeface="宋体" panose="02010600030101010101" pitchFamily="2" charset="-122"/>
              </a:rPr>
              <a:t>标志位</a:t>
            </a:r>
            <a:endParaRPr lang="zh-CN" altLang="en-US" sz="2400" dirty="0">
              <a:latin typeface="宋体" panose="02010600030101010101" pitchFamily="2" charset="-122"/>
              <a:ea typeface="宋体" panose="02010600030101010101" pitchFamily="2" charset="-122"/>
            </a:endParaRPr>
          </a:p>
        </p:txBody>
      </p:sp>
      <p:sp>
        <p:nvSpPr>
          <p:cNvPr id="120853" name="矩形 1"/>
          <p:cNvSpPr/>
          <p:nvPr>
            <p:custDataLst>
              <p:tags r:id="rId17"/>
            </p:custDataLst>
          </p:nvPr>
        </p:nvSpPr>
        <p:spPr>
          <a:xfrm>
            <a:off x="828675" y="3124200"/>
            <a:ext cx="6967538" cy="922020"/>
          </a:xfrm>
          <a:prstGeom prst="rect">
            <a:avLst/>
          </a:prstGeom>
          <a:noFill/>
          <a:ln w="19050" cap="flat" cmpd="sng">
            <a:solidFill>
              <a:schemeClr val="tx1"/>
            </a:solidFill>
            <a:prstDash val="solid"/>
            <a:miter/>
            <a:headEnd type="none" w="med" len="med"/>
            <a:tailEnd type="none" w="med" len="med"/>
          </a:ln>
        </p:spPr>
        <p:txBody>
          <a:bodyPr>
            <a:spAutoFit/>
          </a:bodyPr>
          <a:p>
            <a:pPr eaLnBrk="0" hangingPunct="0">
              <a:buFont typeface="Wingdings" panose="05000000000000000000" pitchFamily="2" charset="2"/>
            </a:pPr>
            <a:r>
              <a:rPr lang="zh-CN" altLang="en-US" dirty="0">
                <a:latin typeface="宋体" panose="02010600030101010101" pitchFamily="2" charset="-122"/>
                <a:ea typeface="宋体" panose="02010600030101010101" pitchFamily="2" charset="-122"/>
              </a:rPr>
              <a:t>把目的地址中的数据循环左移</a:t>
            </a:r>
            <a:r>
              <a:rPr lang="en-US" altLang="zh-CN" dirty="0">
                <a:latin typeface="宋体" panose="02010600030101010101" pitchFamily="2" charset="-122"/>
                <a:ea typeface="宋体" panose="02010600030101010101" pitchFamily="2" charset="-122"/>
              </a:rPr>
              <a:t>CL</a:t>
            </a:r>
            <a:r>
              <a:rPr lang="zh-CN" altLang="en-US" dirty="0">
                <a:latin typeface="宋体" panose="02010600030101010101" pitchFamily="2" charset="-122"/>
                <a:ea typeface="宋体" panose="02010600030101010101" pitchFamily="2" charset="-122"/>
              </a:rPr>
              <a:t>次，每次从最高位（最左）移出的数据位都补充到最低位（同时也送往</a:t>
            </a:r>
            <a:r>
              <a:rPr lang="en-US" altLang="zh-CN" dirty="0">
                <a:latin typeface="宋体" panose="02010600030101010101" pitchFamily="2" charset="-122"/>
                <a:ea typeface="宋体" panose="02010600030101010101" pitchFamily="2" charset="-122"/>
              </a:rPr>
              <a:t>CF</a:t>
            </a:r>
            <a:r>
              <a:rPr lang="zh-CN" altLang="en-US" dirty="0">
                <a:latin typeface="宋体" panose="02010600030101010101" pitchFamily="2" charset="-122"/>
                <a:ea typeface="宋体" panose="02010600030101010101" pitchFamily="2" charset="-122"/>
              </a:rPr>
              <a:t>），最后从最高位（最左）移出的数据位保存到</a:t>
            </a:r>
            <a:r>
              <a:rPr lang="en-US" altLang="zh-CN" dirty="0">
                <a:latin typeface="宋体" panose="02010600030101010101" pitchFamily="2" charset="-122"/>
                <a:ea typeface="宋体" panose="02010600030101010101" pitchFamily="2" charset="-122"/>
              </a:rPr>
              <a:t>CF</a:t>
            </a:r>
            <a:r>
              <a:rPr lang="zh-CN" altLang="en-US" dirty="0">
                <a:latin typeface="宋体" panose="02010600030101010101" pitchFamily="2" charset="-122"/>
                <a:ea typeface="宋体" panose="02010600030101010101" pitchFamily="2" charset="-122"/>
              </a:rPr>
              <a:t>标志位。</a:t>
            </a:r>
            <a:endParaRPr lang="zh-CN" altLang="en-US" dirty="0">
              <a:latin typeface="宋体" panose="02010600030101010101" pitchFamily="2" charset="-122"/>
              <a:ea typeface="宋体" panose="02010600030101010101" pitchFamily="2" charset="-122"/>
            </a:endParaRPr>
          </a:p>
        </p:txBody>
      </p:sp>
      <p:sp>
        <p:nvSpPr>
          <p:cNvPr id="120854" name="矩形 21"/>
          <p:cNvSpPr/>
          <p:nvPr>
            <p:custDataLst>
              <p:tags r:id="rId18"/>
            </p:custDataLst>
          </p:nvPr>
        </p:nvSpPr>
        <p:spPr>
          <a:xfrm>
            <a:off x="873125" y="5268913"/>
            <a:ext cx="6965950" cy="922020"/>
          </a:xfrm>
          <a:prstGeom prst="rect">
            <a:avLst/>
          </a:prstGeom>
          <a:noFill/>
          <a:ln w="19050" cap="flat" cmpd="sng">
            <a:solidFill>
              <a:schemeClr val="tx1"/>
            </a:solidFill>
            <a:prstDash val="solid"/>
            <a:miter/>
            <a:headEnd type="none" w="med" len="med"/>
            <a:tailEnd type="none" w="med" len="med"/>
          </a:ln>
        </p:spPr>
        <p:txBody>
          <a:bodyPr>
            <a:spAutoFit/>
          </a:bodyPr>
          <a:p>
            <a:pPr eaLnBrk="0" hangingPunct="0">
              <a:buFont typeface="Wingdings" panose="05000000000000000000" pitchFamily="2" charset="2"/>
            </a:pPr>
            <a:r>
              <a:rPr lang="zh-CN" altLang="en-US" dirty="0">
                <a:latin typeface="宋体" panose="02010600030101010101" pitchFamily="2" charset="-122"/>
                <a:ea typeface="宋体" panose="02010600030101010101" pitchFamily="2" charset="-122"/>
              </a:rPr>
              <a:t>把目的地址中的数据循右移</a:t>
            </a:r>
            <a:r>
              <a:rPr lang="en-US" altLang="zh-CN" dirty="0">
                <a:latin typeface="宋体" panose="02010600030101010101" pitchFamily="2" charset="-122"/>
                <a:ea typeface="宋体" panose="02010600030101010101" pitchFamily="2" charset="-122"/>
              </a:rPr>
              <a:t>CL</a:t>
            </a:r>
            <a:r>
              <a:rPr lang="zh-CN" altLang="en-US" dirty="0">
                <a:latin typeface="宋体" panose="02010600030101010101" pitchFamily="2" charset="-122"/>
                <a:ea typeface="宋体" panose="02010600030101010101" pitchFamily="2" charset="-122"/>
              </a:rPr>
              <a:t>次，每次从最低位（最右）移出的数据位都补充到最高位（同时也送往</a:t>
            </a:r>
            <a:r>
              <a:rPr lang="en-US" altLang="zh-CN" dirty="0">
                <a:latin typeface="宋体" panose="02010600030101010101" pitchFamily="2" charset="-122"/>
                <a:ea typeface="宋体" panose="02010600030101010101" pitchFamily="2" charset="-122"/>
              </a:rPr>
              <a:t>CF</a:t>
            </a:r>
            <a:r>
              <a:rPr lang="zh-CN" altLang="en-US" dirty="0">
                <a:latin typeface="宋体" panose="02010600030101010101" pitchFamily="2" charset="-122"/>
                <a:ea typeface="宋体" panose="02010600030101010101" pitchFamily="2" charset="-122"/>
              </a:rPr>
              <a:t>），最后从最低位（最右）移出的数据位保存到</a:t>
            </a:r>
            <a:r>
              <a:rPr lang="en-US" altLang="zh-CN" dirty="0">
                <a:latin typeface="宋体" panose="02010600030101010101" pitchFamily="2" charset="-122"/>
                <a:ea typeface="宋体" panose="02010600030101010101" pitchFamily="2" charset="-122"/>
              </a:rPr>
              <a:t>CF</a:t>
            </a:r>
            <a:r>
              <a:rPr lang="zh-CN" altLang="en-US" dirty="0">
                <a:latin typeface="宋体" panose="02010600030101010101" pitchFamily="2" charset="-122"/>
                <a:ea typeface="宋体" panose="02010600030101010101" pitchFamily="2" charset="-122"/>
              </a:rPr>
              <a:t>标志位。</a:t>
            </a:r>
            <a:endParaRPr lang="zh-CN" altLang="en-US"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891"/>
                                        </p:tgtEl>
                                        <p:attrNameLst>
                                          <p:attrName>style.visibility</p:attrName>
                                        </p:attrNameLst>
                                      </p:cBhvr>
                                      <p:to>
                                        <p:strVal val="visible"/>
                                      </p:to>
                                    </p:set>
                                    <p:anim calcmode="lin" valueType="num">
                                      <p:cBhvr>
                                        <p:cTn id="7" dur="500" fill="hold"/>
                                        <p:tgtEl>
                                          <p:spTgt spid="122891"/>
                                        </p:tgtEl>
                                        <p:attrNameLst>
                                          <p:attrName>ppt_x</p:attrName>
                                        </p:attrNameLst>
                                      </p:cBhvr>
                                      <p:tavLst>
                                        <p:tav tm="0">
                                          <p:val>
                                            <p:strVal val="#ppt_x"/>
                                          </p:val>
                                        </p:tav>
                                        <p:tav tm="100000">
                                          <p:val>
                                            <p:strVal val="#ppt_x"/>
                                          </p:val>
                                        </p:tav>
                                      </p:tavLst>
                                    </p:anim>
                                    <p:anim calcmode="lin" valueType="num">
                                      <p:cBhvr>
                                        <p:cTn id="8" dur="500" fill="hold"/>
                                        <p:tgtEl>
                                          <p:spTgt spid="12289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2896"/>
                                        </p:tgtEl>
                                        <p:attrNameLst>
                                          <p:attrName>style.visibility</p:attrName>
                                        </p:attrNameLst>
                                      </p:cBhvr>
                                      <p:to>
                                        <p:strVal val="visible"/>
                                      </p:to>
                                    </p:set>
                                    <p:anim calcmode="lin" valueType="num">
                                      <p:cBhvr>
                                        <p:cTn id="11" dur="500" fill="hold"/>
                                        <p:tgtEl>
                                          <p:spTgt spid="122896"/>
                                        </p:tgtEl>
                                        <p:attrNameLst>
                                          <p:attrName>ppt_x</p:attrName>
                                        </p:attrNameLst>
                                      </p:cBhvr>
                                      <p:tavLst>
                                        <p:tav tm="0">
                                          <p:val>
                                            <p:strVal val="#ppt_x"/>
                                          </p:val>
                                        </p:tav>
                                        <p:tav tm="100000">
                                          <p:val>
                                            <p:strVal val="#ppt_x"/>
                                          </p:val>
                                        </p:tav>
                                      </p:tavLst>
                                    </p:anim>
                                    <p:anim calcmode="lin" valueType="num">
                                      <p:cBhvr>
                                        <p:cTn id="12" dur="500" fill="hold"/>
                                        <p:tgtEl>
                                          <p:spTgt spid="12289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22898"/>
                                        </p:tgtEl>
                                        <p:attrNameLst>
                                          <p:attrName>style.visibility</p:attrName>
                                        </p:attrNameLst>
                                      </p:cBhvr>
                                      <p:to>
                                        <p:strVal val="visible"/>
                                      </p:to>
                                    </p:set>
                                    <p:animEffect transition="in" filter="wipe(right)">
                                      <p:cBhvr>
                                        <p:cTn id="17" dur="500"/>
                                        <p:tgtEl>
                                          <p:spTgt spid="122898"/>
                                        </p:tgtEl>
                                      </p:cBhvr>
                                    </p:animEffect>
                                  </p:childTnLst>
                                </p:cTn>
                              </p:par>
                            </p:childTnLst>
                          </p:cTn>
                        </p:par>
                        <p:par>
                          <p:cTn id="18" fill="hold">
                            <p:stCondLst>
                              <p:cond delay="500"/>
                            </p:stCondLst>
                            <p:childTnLst>
                              <p:par>
                                <p:cTn id="19" presetID="22" presetClass="entr" presetSubtype="2" fill="hold" grpId="0" nodeType="afterEffect">
                                  <p:stCondLst>
                                    <p:cond delay="0"/>
                                  </p:stCondLst>
                                  <p:childTnLst>
                                    <p:set>
                                      <p:cBhvr>
                                        <p:cTn id="20" dur="1" fill="hold">
                                          <p:stCondLst>
                                            <p:cond delay="0"/>
                                          </p:stCondLst>
                                        </p:cTn>
                                        <p:tgtEl>
                                          <p:spTgt spid="122892"/>
                                        </p:tgtEl>
                                        <p:attrNameLst>
                                          <p:attrName>style.visibility</p:attrName>
                                        </p:attrNameLst>
                                      </p:cBhvr>
                                      <p:to>
                                        <p:strVal val="visible"/>
                                      </p:to>
                                    </p:set>
                                    <p:animEffect transition="in" filter="wipe(right)">
                                      <p:cBhvr>
                                        <p:cTn id="21" dur="500"/>
                                        <p:tgtEl>
                                          <p:spTgt spid="122892"/>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122895"/>
                                        </p:tgtEl>
                                        <p:attrNameLst>
                                          <p:attrName>style.visibility</p:attrName>
                                        </p:attrNameLst>
                                      </p:cBhvr>
                                      <p:to>
                                        <p:strVal val="visible"/>
                                      </p:to>
                                    </p:set>
                                    <p:animEffect transition="in" filter="strips(downRight)">
                                      <p:cBhvr>
                                        <p:cTn id="26" dur="1000"/>
                                        <p:tgtEl>
                                          <p:spTgt spid="122895"/>
                                        </p:tgtEl>
                                      </p:cBhvr>
                                    </p:animEffect>
                                  </p:childTnLst>
                                </p:cTn>
                              </p:par>
                            </p:childTnLst>
                          </p:cTn>
                        </p:par>
                        <p:par>
                          <p:cTn id="27" fill="hold">
                            <p:stCondLst>
                              <p:cond delay="1000"/>
                            </p:stCondLst>
                            <p:childTnLst>
                              <p:par>
                                <p:cTn id="28" presetID="18" presetClass="entr" presetSubtype="6" fill="hold" nodeType="afterEffect">
                                  <p:stCondLst>
                                    <p:cond delay="0"/>
                                  </p:stCondLst>
                                  <p:childTnLst>
                                    <p:set>
                                      <p:cBhvr>
                                        <p:cTn id="29" dur="1" fill="hold">
                                          <p:stCondLst>
                                            <p:cond delay="0"/>
                                          </p:stCondLst>
                                        </p:cTn>
                                        <p:tgtEl>
                                          <p:spTgt spid="122894"/>
                                        </p:tgtEl>
                                        <p:attrNameLst>
                                          <p:attrName>style.visibility</p:attrName>
                                        </p:attrNameLst>
                                      </p:cBhvr>
                                      <p:to>
                                        <p:strVal val="visible"/>
                                      </p:to>
                                    </p:set>
                                    <p:animEffect transition="in" filter="strips(downRight)">
                                      <p:cBhvr>
                                        <p:cTn id="30" dur="2000"/>
                                        <p:tgtEl>
                                          <p:spTgt spid="122894"/>
                                        </p:tgtEl>
                                      </p:cBhvr>
                                    </p:animEffect>
                                  </p:childTnLst>
                                </p:cTn>
                              </p:par>
                            </p:childTnLst>
                          </p:cTn>
                        </p:par>
                        <p:par>
                          <p:cTn id="31" fill="hold">
                            <p:stCondLst>
                              <p:cond delay="3000"/>
                            </p:stCondLst>
                            <p:childTnLst>
                              <p:par>
                                <p:cTn id="32" presetID="18" presetClass="entr" presetSubtype="3" fill="hold" nodeType="afterEffect">
                                  <p:stCondLst>
                                    <p:cond delay="0"/>
                                  </p:stCondLst>
                                  <p:childTnLst>
                                    <p:set>
                                      <p:cBhvr>
                                        <p:cTn id="33" dur="1" fill="hold">
                                          <p:stCondLst>
                                            <p:cond delay="0"/>
                                          </p:stCondLst>
                                        </p:cTn>
                                        <p:tgtEl>
                                          <p:spTgt spid="122893"/>
                                        </p:tgtEl>
                                        <p:attrNameLst>
                                          <p:attrName>style.visibility</p:attrName>
                                        </p:attrNameLst>
                                      </p:cBhvr>
                                      <p:to>
                                        <p:strVal val="visible"/>
                                      </p:to>
                                    </p:set>
                                    <p:animEffect transition="in" filter="strips(upRight)">
                                      <p:cBhvr>
                                        <p:cTn id="34" dur="1000"/>
                                        <p:tgtEl>
                                          <p:spTgt spid="122893"/>
                                        </p:tgtEl>
                                      </p:cBhvr>
                                    </p:animEffect>
                                  </p:childTnLst>
                                </p:cTn>
                              </p:par>
                            </p:childTnLst>
                          </p:cTn>
                        </p:par>
                        <p:par>
                          <p:cTn id="35" fill="hold">
                            <p:stCondLst>
                              <p:cond delay="4000"/>
                            </p:stCondLst>
                            <p:childTnLst>
                              <p:par>
                                <p:cTn id="36" presetID="18" presetClass="entr" presetSubtype="12" fill="hold" nodeType="afterEffect">
                                  <p:stCondLst>
                                    <p:cond delay="0"/>
                                  </p:stCondLst>
                                  <p:childTnLst>
                                    <p:set>
                                      <p:cBhvr>
                                        <p:cTn id="37" dur="1" fill="hold">
                                          <p:stCondLst>
                                            <p:cond delay="0"/>
                                          </p:stCondLst>
                                        </p:cTn>
                                        <p:tgtEl>
                                          <p:spTgt spid="122897"/>
                                        </p:tgtEl>
                                        <p:attrNameLst>
                                          <p:attrName>style.visibility</p:attrName>
                                        </p:attrNameLst>
                                      </p:cBhvr>
                                      <p:to>
                                        <p:strVal val="visible"/>
                                      </p:to>
                                    </p:set>
                                    <p:animEffect transition="in" filter="strips(downLeft)">
                                      <p:cBhvr>
                                        <p:cTn id="38" dur="1000"/>
                                        <p:tgtEl>
                                          <p:spTgt spid="122897"/>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22883"/>
                                        </p:tgtEl>
                                        <p:attrNameLst>
                                          <p:attrName>style.visibility</p:attrName>
                                        </p:attrNameLst>
                                      </p:cBhvr>
                                      <p:to>
                                        <p:strVal val="visible"/>
                                      </p:to>
                                    </p:set>
                                    <p:anim calcmode="lin" valueType="num">
                                      <p:cBhvr>
                                        <p:cTn id="43" dur="500" fill="hold"/>
                                        <p:tgtEl>
                                          <p:spTgt spid="122883"/>
                                        </p:tgtEl>
                                        <p:attrNameLst>
                                          <p:attrName>ppt_x</p:attrName>
                                        </p:attrNameLst>
                                      </p:cBhvr>
                                      <p:tavLst>
                                        <p:tav tm="0">
                                          <p:val>
                                            <p:strVal val="#ppt_x"/>
                                          </p:val>
                                        </p:tav>
                                        <p:tav tm="100000">
                                          <p:val>
                                            <p:strVal val="#ppt_x"/>
                                          </p:val>
                                        </p:tav>
                                      </p:tavLst>
                                    </p:anim>
                                    <p:anim calcmode="lin" valueType="num">
                                      <p:cBhvr>
                                        <p:cTn id="44" dur="500" fill="hold"/>
                                        <p:tgtEl>
                                          <p:spTgt spid="122883"/>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22884"/>
                                        </p:tgtEl>
                                        <p:attrNameLst>
                                          <p:attrName>style.visibility</p:attrName>
                                        </p:attrNameLst>
                                      </p:cBhvr>
                                      <p:to>
                                        <p:strVal val="visible"/>
                                      </p:to>
                                    </p:set>
                                    <p:anim calcmode="lin" valueType="num">
                                      <p:cBhvr>
                                        <p:cTn id="47" dur="500" fill="hold"/>
                                        <p:tgtEl>
                                          <p:spTgt spid="122884"/>
                                        </p:tgtEl>
                                        <p:attrNameLst>
                                          <p:attrName>ppt_x</p:attrName>
                                        </p:attrNameLst>
                                      </p:cBhvr>
                                      <p:tavLst>
                                        <p:tav tm="0">
                                          <p:val>
                                            <p:strVal val="#ppt_x"/>
                                          </p:val>
                                        </p:tav>
                                        <p:tav tm="100000">
                                          <p:val>
                                            <p:strVal val="#ppt_x"/>
                                          </p:val>
                                        </p:tav>
                                      </p:tavLst>
                                    </p:anim>
                                    <p:anim calcmode="lin" valueType="num">
                                      <p:cBhvr>
                                        <p:cTn id="48" dur="500" fill="hold"/>
                                        <p:tgtEl>
                                          <p:spTgt spid="122884"/>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8" presetClass="entr" presetSubtype="6" fill="hold" nodeType="clickEffect">
                                  <p:stCondLst>
                                    <p:cond delay="0"/>
                                  </p:stCondLst>
                                  <p:childTnLst>
                                    <p:set>
                                      <p:cBhvr>
                                        <p:cTn id="52" dur="1" fill="hold">
                                          <p:stCondLst>
                                            <p:cond delay="0"/>
                                          </p:stCondLst>
                                        </p:cTn>
                                        <p:tgtEl>
                                          <p:spTgt spid="122885"/>
                                        </p:tgtEl>
                                        <p:attrNameLst>
                                          <p:attrName>style.visibility</p:attrName>
                                        </p:attrNameLst>
                                      </p:cBhvr>
                                      <p:to>
                                        <p:strVal val="visible"/>
                                      </p:to>
                                    </p:set>
                                    <p:animEffect transition="in" filter="strips(downRight)">
                                      <p:cBhvr>
                                        <p:cTn id="53" dur="500"/>
                                        <p:tgtEl>
                                          <p:spTgt spid="122885"/>
                                        </p:tgtEl>
                                      </p:cBhvr>
                                    </p:animEffect>
                                  </p:childTnLst>
                                </p:cTn>
                              </p:par>
                            </p:childTnLst>
                          </p:cTn>
                        </p:par>
                        <p:par>
                          <p:cTn id="54" fill="hold">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122887"/>
                                        </p:tgtEl>
                                        <p:attrNameLst>
                                          <p:attrName>style.visibility</p:attrName>
                                        </p:attrNameLst>
                                      </p:cBhvr>
                                      <p:to>
                                        <p:strVal val="visible"/>
                                      </p:to>
                                    </p:set>
                                    <p:animEffect transition="in" filter="wipe(left)">
                                      <p:cBhvr>
                                        <p:cTn id="57" dur="500"/>
                                        <p:tgtEl>
                                          <p:spTgt spid="122887"/>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12" fill="hold" nodeType="clickEffect">
                                  <p:stCondLst>
                                    <p:cond delay="0"/>
                                  </p:stCondLst>
                                  <p:childTnLst>
                                    <p:set>
                                      <p:cBhvr>
                                        <p:cTn id="61" dur="1" fill="hold">
                                          <p:stCondLst>
                                            <p:cond delay="0"/>
                                          </p:stCondLst>
                                        </p:cTn>
                                        <p:tgtEl>
                                          <p:spTgt spid="122890"/>
                                        </p:tgtEl>
                                        <p:attrNameLst>
                                          <p:attrName>style.visibility</p:attrName>
                                        </p:attrNameLst>
                                      </p:cBhvr>
                                      <p:to>
                                        <p:strVal val="visible"/>
                                      </p:to>
                                    </p:set>
                                    <p:animEffect transition="in" filter="strips(downLeft)">
                                      <p:cBhvr>
                                        <p:cTn id="62" dur="1000"/>
                                        <p:tgtEl>
                                          <p:spTgt spid="122890"/>
                                        </p:tgtEl>
                                      </p:cBhvr>
                                    </p:animEffect>
                                  </p:childTnLst>
                                </p:cTn>
                              </p:par>
                            </p:childTnLst>
                          </p:cTn>
                        </p:par>
                        <p:par>
                          <p:cTn id="63" fill="hold">
                            <p:stCondLst>
                              <p:cond delay="1000"/>
                            </p:stCondLst>
                            <p:childTnLst>
                              <p:par>
                                <p:cTn id="64" presetID="18" presetClass="entr" presetSubtype="12" fill="hold" nodeType="afterEffect">
                                  <p:stCondLst>
                                    <p:cond delay="0"/>
                                  </p:stCondLst>
                                  <p:childTnLst>
                                    <p:set>
                                      <p:cBhvr>
                                        <p:cTn id="65" dur="1" fill="hold">
                                          <p:stCondLst>
                                            <p:cond delay="0"/>
                                          </p:stCondLst>
                                        </p:cTn>
                                        <p:tgtEl>
                                          <p:spTgt spid="122889"/>
                                        </p:tgtEl>
                                        <p:attrNameLst>
                                          <p:attrName>style.visibility</p:attrName>
                                        </p:attrNameLst>
                                      </p:cBhvr>
                                      <p:to>
                                        <p:strVal val="visible"/>
                                      </p:to>
                                    </p:set>
                                    <p:animEffect transition="in" filter="strips(downLeft)">
                                      <p:cBhvr>
                                        <p:cTn id="66" dur="2000"/>
                                        <p:tgtEl>
                                          <p:spTgt spid="122889"/>
                                        </p:tgtEl>
                                      </p:cBhvr>
                                    </p:animEffect>
                                  </p:childTnLst>
                                </p:cTn>
                              </p:par>
                            </p:childTnLst>
                          </p:cTn>
                        </p:par>
                        <p:par>
                          <p:cTn id="67" fill="hold">
                            <p:stCondLst>
                              <p:cond delay="3000"/>
                            </p:stCondLst>
                            <p:childTnLst>
                              <p:par>
                                <p:cTn id="68" presetID="18" presetClass="entr" presetSubtype="3" fill="hold" nodeType="afterEffect">
                                  <p:stCondLst>
                                    <p:cond delay="0"/>
                                  </p:stCondLst>
                                  <p:childTnLst>
                                    <p:set>
                                      <p:cBhvr>
                                        <p:cTn id="69" dur="1" fill="hold">
                                          <p:stCondLst>
                                            <p:cond delay="0"/>
                                          </p:stCondLst>
                                        </p:cTn>
                                        <p:tgtEl>
                                          <p:spTgt spid="122888"/>
                                        </p:tgtEl>
                                        <p:attrNameLst>
                                          <p:attrName>style.visibility</p:attrName>
                                        </p:attrNameLst>
                                      </p:cBhvr>
                                      <p:to>
                                        <p:strVal val="visible"/>
                                      </p:to>
                                    </p:set>
                                    <p:animEffect transition="in" filter="strips(upRight)">
                                      <p:cBhvr>
                                        <p:cTn id="70" dur="1000"/>
                                        <p:tgtEl>
                                          <p:spTgt spid="122888"/>
                                        </p:tgtEl>
                                      </p:cBhvr>
                                    </p:animEffect>
                                  </p:childTnLst>
                                </p:cTn>
                              </p:par>
                            </p:childTnLst>
                          </p:cTn>
                        </p:par>
                        <p:par>
                          <p:cTn id="71" fill="hold">
                            <p:stCondLst>
                              <p:cond delay="4000"/>
                            </p:stCondLst>
                            <p:childTnLst>
                              <p:par>
                                <p:cTn id="72" presetID="18" presetClass="entr" presetSubtype="6" fill="hold" nodeType="afterEffect">
                                  <p:stCondLst>
                                    <p:cond delay="0"/>
                                  </p:stCondLst>
                                  <p:childTnLst>
                                    <p:set>
                                      <p:cBhvr>
                                        <p:cTn id="73" dur="1" fill="hold">
                                          <p:stCondLst>
                                            <p:cond delay="0"/>
                                          </p:stCondLst>
                                        </p:cTn>
                                        <p:tgtEl>
                                          <p:spTgt spid="122886"/>
                                        </p:tgtEl>
                                        <p:attrNameLst>
                                          <p:attrName>style.visibility</p:attrName>
                                        </p:attrNameLst>
                                      </p:cBhvr>
                                      <p:to>
                                        <p:strVal val="visible"/>
                                      </p:to>
                                    </p:set>
                                    <p:animEffect transition="in" filter="strips(downRight)">
                                      <p:cBhvr>
                                        <p:cTn id="74" dur="1000"/>
                                        <p:tgtEl>
                                          <p:spTgt spid="122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animBg="1"/>
      <p:bldP spid="122887" grpId="0" animBg="1"/>
      <p:bldP spid="122891" grpId="0" animBg="1"/>
      <p:bldP spid="122892"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2"/>
          <p:cNvSpPr>
            <a:spLocks noGrp="1"/>
          </p:cNvSpPr>
          <p:nvPr>
            <p:ph type="title" idx="4294967295"/>
          </p:nvPr>
        </p:nvSpPr>
        <p:spPr>
          <a:xfrm>
            <a:off x="1033463" y="1019175"/>
            <a:ext cx="3178175" cy="563563"/>
          </a:xfrm>
        </p:spPr>
        <p:txBody>
          <a:bodyPr vert="horz" wrap="square" lIns="91440" tIns="45720" rIns="91440" bIns="45720" anchor="ctr" anchorCtr="0"/>
          <a:p>
            <a:pPr eaLnBrk="1" hangingPunct="1"/>
            <a:r>
              <a:rPr lang="zh-CN" altLang="en-US" dirty="0">
                <a:solidFill>
                  <a:srgbClr val="000033"/>
                </a:solidFill>
                <a:ea typeface="宋体" panose="02010600030101010101" pitchFamily="2" charset="-122"/>
              </a:rPr>
              <a:t>带进位的循环移位</a:t>
            </a:r>
            <a:endParaRPr lang="zh-CN" altLang="en-US" dirty="0">
              <a:solidFill>
                <a:srgbClr val="000033"/>
              </a:solidFill>
              <a:ea typeface="宋体" panose="02010600030101010101" pitchFamily="2" charset="-122"/>
            </a:endParaRPr>
          </a:p>
        </p:txBody>
      </p:sp>
      <p:sp>
        <p:nvSpPr>
          <p:cNvPr id="123907" name="Rectangle 4"/>
          <p:cNvSpPr/>
          <p:nvPr/>
        </p:nvSpPr>
        <p:spPr>
          <a:xfrm>
            <a:off x="1905000" y="4267200"/>
            <a:ext cx="3581400"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23908" name="Line 5"/>
          <p:cNvSpPr/>
          <p:nvPr/>
        </p:nvSpPr>
        <p:spPr>
          <a:xfrm>
            <a:off x="2741613" y="4529138"/>
            <a:ext cx="2058987" cy="0"/>
          </a:xfrm>
          <a:prstGeom prst="line">
            <a:avLst/>
          </a:prstGeom>
          <a:ln w="25400" cap="sq" cmpd="sng">
            <a:solidFill>
              <a:schemeClr val="bg1"/>
            </a:solidFill>
            <a:prstDash val="solid"/>
            <a:headEnd type="none" w="med" len="med"/>
            <a:tailEnd type="triangle" w="lg" len="lg"/>
          </a:ln>
        </p:spPr>
      </p:sp>
      <p:sp>
        <p:nvSpPr>
          <p:cNvPr id="123909" name="Line 6"/>
          <p:cNvSpPr/>
          <p:nvPr/>
        </p:nvSpPr>
        <p:spPr>
          <a:xfrm>
            <a:off x="5500688" y="4524375"/>
            <a:ext cx="835025" cy="0"/>
          </a:xfrm>
          <a:prstGeom prst="line">
            <a:avLst/>
          </a:prstGeom>
          <a:ln w="25400" cap="sq" cmpd="sng">
            <a:solidFill>
              <a:srgbClr val="FF6600"/>
            </a:solidFill>
            <a:prstDash val="solid"/>
            <a:headEnd type="none" w="med" len="med"/>
            <a:tailEnd type="triangle" w="lg" len="lg"/>
          </a:ln>
        </p:spPr>
      </p:sp>
      <p:sp>
        <p:nvSpPr>
          <p:cNvPr id="123910" name="Line 7"/>
          <p:cNvSpPr/>
          <p:nvPr/>
        </p:nvSpPr>
        <p:spPr>
          <a:xfrm>
            <a:off x="1066800" y="4543425"/>
            <a:ext cx="838200" cy="0"/>
          </a:xfrm>
          <a:prstGeom prst="line">
            <a:avLst/>
          </a:prstGeom>
          <a:ln w="25400" cap="sq" cmpd="sng">
            <a:solidFill>
              <a:srgbClr val="FF6600"/>
            </a:solidFill>
            <a:prstDash val="solid"/>
            <a:headEnd type="none" w="med" len="med"/>
            <a:tailEnd type="triangle" w="lg" len="lg"/>
          </a:ln>
        </p:spPr>
      </p:sp>
      <p:sp>
        <p:nvSpPr>
          <p:cNvPr id="123911" name="Text Box 8"/>
          <p:cNvSpPr txBox="1"/>
          <p:nvPr/>
        </p:nvSpPr>
        <p:spPr>
          <a:xfrm>
            <a:off x="6386513" y="4267200"/>
            <a:ext cx="685800" cy="544513"/>
          </a:xfrm>
          <a:prstGeom prst="rect">
            <a:avLst/>
          </a:prstGeom>
          <a:solidFill>
            <a:srgbClr val="339966"/>
          </a:solidFill>
          <a:ln w="25400" cap="sq" cmpd="sng">
            <a:solidFill>
              <a:srgbClr val="339966"/>
            </a:solidFill>
            <a:prstDash val="solid"/>
            <a:miter/>
            <a:headEnd type="none" w="med" len="med"/>
            <a:tailEnd type="none" w="med" len="med"/>
          </a:ln>
        </p:spPr>
        <p:txBody>
          <a:bodyPr>
            <a:spAutoFit/>
          </a:bodyPr>
          <a:p>
            <a:pPr eaLnBrk="0" hangingPunct="0">
              <a:spcBef>
                <a:spcPct val="50000"/>
              </a:spcBef>
              <a:buFont typeface="Wingdings" panose="05000000000000000000" pitchFamily="2" charset="2"/>
            </a:pPr>
            <a:r>
              <a:rPr lang="en-US" altLang="zh-CN" sz="2800" b="1" dirty="0">
                <a:solidFill>
                  <a:schemeClr val="bg1"/>
                </a:solidFill>
                <a:latin typeface="Times New Roman" panose="02020603050405020304" pitchFamily="18" charset="0"/>
                <a:ea typeface="宋体" panose="02010600030101010101" pitchFamily="2" charset="-122"/>
              </a:rPr>
              <a:t>CF</a:t>
            </a:r>
            <a:endParaRPr lang="en-US" altLang="zh-CN" sz="2800" b="1" dirty="0">
              <a:solidFill>
                <a:schemeClr val="bg1"/>
              </a:solidFill>
              <a:latin typeface="Times New Roman" panose="02020603050405020304" pitchFamily="18" charset="0"/>
              <a:ea typeface="宋体" panose="02010600030101010101" pitchFamily="2" charset="-122"/>
            </a:endParaRPr>
          </a:p>
        </p:txBody>
      </p:sp>
      <p:sp>
        <p:nvSpPr>
          <p:cNvPr id="123912" name="Line 9"/>
          <p:cNvSpPr/>
          <p:nvPr/>
        </p:nvSpPr>
        <p:spPr>
          <a:xfrm>
            <a:off x="1066800" y="4543425"/>
            <a:ext cx="0" cy="723900"/>
          </a:xfrm>
          <a:prstGeom prst="line">
            <a:avLst/>
          </a:prstGeom>
          <a:ln w="25400" cap="sq" cmpd="sng">
            <a:solidFill>
              <a:srgbClr val="FF6600"/>
            </a:solidFill>
            <a:prstDash val="solid"/>
            <a:headEnd type="none" w="med" len="med"/>
            <a:tailEnd type="none" w="med" len="med"/>
          </a:ln>
        </p:spPr>
      </p:sp>
      <p:sp>
        <p:nvSpPr>
          <p:cNvPr id="123913" name="Line 10"/>
          <p:cNvSpPr/>
          <p:nvPr/>
        </p:nvSpPr>
        <p:spPr>
          <a:xfrm flipV="1">
            <a:off x="1081088" y="5272088"/>
            <a:ext cx="6753225" cy="19050"/>
          </a:xfrm>
          <a:prstGeom prst="line">
            <a:avLst/>
          </a:prstGeom>
          <a:ln w="25400" cap="sq" cmpd="sng">
            <a:solidFill>
              <a:srgbClr val="FF6600"/>
            </a:solidFill>
            <a:prstDash val="solid"/>
            <a:headEnd type="none" w="med" len="med"/>
            <a:tailEnd type="none" w="med" len="med"/>
          </a:ln>
        </p:spPr>
      </p:sp>
      <p:sp>
        <p:nvSpPr>
          <p:cNvPr id="123914" name="Line 11"/>
          <p:cNvSpPr/>
          <p:nvPr/>
        </p:nvSpPr>
        <p:spPr>
          <a:xfrm>
            <a:off x="7848600" y="4524375"/>
            <a:ext cx="0" cy="758825"/>
          </a:xfrm>
          <a:prstGeom prst="line">
            <a:avLst/>
          </a:prstGeom>
          <a:ln w="25400" cap="sq" cmpd="sng">
            <a:solidFill>
              <a:srgbClr val="FF6600"/>
            </a:solidFill>
            <a:prstDash val="solid"/>
            <a:headEnd type="none" w="med" len="med"/>
            <a:tailEnd type="none" w="med" len="med"/>
          </a:ln>
        </p:spPr>
      </p:sp>
      <p:sp>
        <p:nvSpPr>
          <p:cNvPr id="123915" name="Rectangle 12"/>
          <p:cNvSpPr/>
          <p:nvPr/>
        </p:nvSpPr>
        <p:spPr>
          <a:xfrm>
            <a:off x="3352800" y="2514600"/>
            <a:ext cx="3581400"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23916" name="Text Box 13"/>
          <p:cNvSpPr txBox="1"/>
          <p:nvPr/>
        </p:nvSpPr>
        <p:spPr>
          <a:xfrm>
            <a:off x="1795463" y="2514600"/>
            <a:ext cx="685800" cy="544513"/>
          </a:xfrm>
          <a:prstGeom prst="rect">
            <a:avLst/>
          </a:prstGeom>
          <a:solidFill>
            <a:srgbClr val="339966"/>
          </a:solidFill>
          <a:ln w="25400" cap="sq" cmpd="sng">
            <a:solidFill>
              <a:srgbClr val="339966"/>
            </a:solidFill>
            <a:prstDash val="solid"/>
            <a:miter/>
            <a:headEnd type="none" w="med" len="med"/>
            <a:tailEnd type="none" w="med" len="med"/>
          </a:ln>
        </p:spPr>
        <p:txBody>
          <a:bodyPr>
            <a:spAutoFit/>
          </a:bodyPr>
          <a:p>
            <a:pPr eaLnBrk="0" hangingPunct="0">
              <a:spcBef>
                <a:spcPct val="50000"/>
              </a:spcBef>
              <a:buFont typeface="Wingdings" panose="05000000000000000000" pitchFamily="2" charset="2"/>
            </a:pPr>
            <a:r>
              <a:rPr lang="en-US" altLang="zh-CN" sz="2800" b="1" dirty="0">
                <a:solidFill>
                  <a:schemeClr val="bg1"/>
                </a:solidFill>
                <a:latin typeface="Times New Roman" panose="02020603050405020304" pitchFamily="18" charset="0"/>
                <a:ea typeface="宋体" panose="02010600030101010101" pitchFamily="2" charset="-122"/>
              </a:rPr>
              <a:t>CF</a:t>
            </a:r>
            <a:endParaRPr lang="en-US" altLang="zh-CN" sz="2800" b="1" dirty="0">
              <a:solidFill>
                <a:schemeClr val="bg1"/>
              </a:solidFill>
              <a:latin typeface="Times New Roman" panose="02020603050405020304" pitchFamily="18" charset="0"/>
              <a:ea typeface="宋体" panose="02010600030101010101" pitchFamily="2" charset="-122"/>
            </a:endParaRPr>
          </a:p>
        </p:txBody>
      </p:sp>
      <p:sp>
        <p:nvSpPr>
          <p:cNvPr id="123917" name="Line 14"/>
          <p:cNvSpPr/>
          <p:nvPr/>
        </p:nvSpPr>
        <p:spPr>
          <a:xfrm>
            <a:off x="7786688" y="2743200"/>
            <a:ext cx="14287" cy="762000"/>
          </a:xfrm>
          <a:prstGeom prst="line">
            <a:avLst/>
          </a:prstGeom>
          <a:ln w="25400" cap="sq" cmpd="sng">
            <a:solidFill>
              <a:srgbClr val="FF6600"/>
            </a:solidFill>
            <a:prstDash val="solid"/>
            <a:headEnd type="none" w="med" len="med"/>
            <a:tailEnd type="none" w="med" len="med"/>
          </a:ln>
        </p:spPr>
      </p:sp>
      <p:sp>
        <p:nvSpPr>
          <p:cNvPr id="123918" name="Line 15"/>
          <p:cNvSpPr/>
          <p:nvPr/>
        </p:nvSpPr>
        <p:spPr>
          <a:xfrm>
            <a:off x="1023938" y="3505200"/>
            <a:ext cx="6780212" cy="0"/>
          </a:xfrm>
          <a:prstGeom prst="line">
            <a:avLst/>
          </a:prstGeom>
          <a:ln w="25400" cap="sq" cmpd="sng">
            <a:solidFill>
              <a:srgbClr val="FF6600"/>
            </a:solidFill>
            <a:prstDash val="solid"/>
            <a:headEnd type="none" w="med" len="med"/>
            <a:tailEnd type="none" w="med" len="med"/>
          </a:ln>
        </p:spPr>
      </p:sp>
      <p:sp>
        <p:nvSpPr>
          <p:cNvPr id="123919" name="Line 16"/>
          <p:cNvSpPr/>
          <p:nvPr/>
        </p:nvSpPr>
        <p:spPr>
          <a:xfrm>
            <a:off x="1033463" y="2790825"/>
            <a:ext cx="0" cy="685800"/>
          </a:xfrm>
          <a:prstGeom prst="line">
            <a:avLst/>
          </a:prstGeom>
          <a:ln w="25400" cap="sq" cmpd="sng">
            <a:solidFill>
              <a:srgbClr val="FF6600"/>
            </a:solidFill>
            <a:prstDash val="solid"/>
            <a:headEnd type="none" w="med" len="med"/>
            <a:tailEnd type="none" w="med" len="med"/>
          </a:ln>
        </p:spPr>
      </p:sp>
      <p:sp>
        <p:nvSpPr>
          <p:cNvPr id="123920" name="Line 17"/>
          <p:cNvSpPr/>
          <p:nvPr/>
        </p:nvSpPr>
        <p:spPr>
          <a:xfrm flipH="1">
            <a:off x="4114800" y="2770188"/>
            <a:ext cx="1903413" cy="0"/>
          </a:xfrm>
          <a:prstGeom prst="line">
            <a:avLst/>
          </a:prstGeom>
          <a:ln w="25400" cap="sq" cmpd="sng">
            <a:solidFill>
              <a:schemeClr val="bg1"/>
            </a:solidFill>
            <a:prstDash val="solid"/>
            <a:headEnd type="none" w="med" len="med"/>
            <a:tailEnd type="triangle" w="lg" len="lg"/>
          </a:ln>
        </p:spPr>
      </p:sp>
      <p:sp>
        <p:nvSpPr>
          <p:cNvPr id="123921" name="Line 18"/>
          <p:cNvSpPr/>
          <p:nvPr/>
        </p:nvSpPr>
        <p:spPr>
          <a:xfrm flipH="1">
            <a:off x="6934200" y="2743200"/>
            <a:ext cx="838200" cy="0"/>
          </a:xfrm>
          <a:prstGeom prst="line">
            <a:avLst/>
          </a:prstGeom>
          <a:ln w="25400" cap="sq" cmpd="sng">
            <a:solidFill>
              <a:srgbClr val="FF6600"/>
            </a:solidFill>
            <a:prstDash val="solid"/>
            <a:headEnd type="none" w="med" len="med"/>
            <a:tailEnd type="triangle" w="lg" len="lg"/>
          </a:ln>
        </p:spPr>
      </p:sp>
      <p:sp>
        <p:nvSpPr>
          <p:cNvPr id="123922" name="Line 19"/>
          <p:cNvSpPr/>
          <p:nvPr/>
        </p:nvSpPr>
        <p:spPr>
          <a:xfrm flipH="1">
            <a:off x="2503488" y="2786063"/>
            <a:ext cx="835025" cy="0"/>
          </a:xfrm>
          <a:prstGeom prst="line">
            <a:avLst/>
          </a:prstGeom>
          <a:ln w="25400" cap="sq" cmpd="sng">
            <a:solidFill>
              <a:srgbClr val="FF6600"/>
            </a:solidFill>
            <a:prstDash val="solid"/>
            <a:headEnd type="none" w="med" len="med"/>
            <a:tailEnd type="triangle" w="lg" len="lg"/>
          </a:ln>
        </p:spPr>
      </p:sp>
      <p:sp>
        <p:nvSpPr>
          <p:cNvPr id="123923" name="Line 21"/>
          <p:cNvSpPr/>
          <p:nvPr/>
        </p:nvSpPr>
        <p:spPr>
          <a:xfrm>
            <a:off x="1023938" y="2790825"/>
            <a:ext cx="758825" cy="0"/>
          </a:xfrm>
          <a:prstGeom prst="line">
            <a:avLst/>
          </a:prstGeom>
          <a:ln w="25400" cap="sq" cmpd="sng">
            <a:solidFill>
              <a:srgbClr val="FF6600"/>
            </a:solidFill>
            <a:prstDash val="solid"/>
            <a:headEnd type="none" w="med" len="med"/>
            <a:tailEnd type="none" w="med" len="med"/>
          </a:ln>
        </p:spPr>
      </p:sp>
      <p:sp>
        <p:nvSpPr>
          <p:cNvPr id="123924" name="Line 22"/>
          <p:cNvSpPr/>
          <p:nvPr/>
        </p:nvSpPr>
        <p:spPr>
          <a:xfrm>
            <a:off x="7089775" y="4524375"/>
            <a:ext cx="758825" cy="0"/>
          </a:xfrm>
          <a:prstGeom prst="line">
            <a:avLst/>
          </a:prstGeom>
          <a:ln w="25400" cap="sq" cmpd="sng">
            <a:solidFill>
              <a:srgbClr val="FF6600"/>
            </a:solidFill>
            <a:prstDash val="solid"/>
            <a:headEnd type="none" w="med" len="med"/>
            <a:tailEnd type="none" w="med" len="med"/>
          </a:ln>
        </p:spPr>
      </p:sp>
      <p:sp>
        <p:nvSpPr>
          <p:cNvPr id="121877" name="矩形 20"/>
          <p:cNvSpPr/>
          <p:nvPr/>
        </p:nvSpPr>
        <p:spPr>
          <a:xfrm>
            <a:off x="4184650" y="815975"/>
            <a:ext cx="1412875" cy="831850"/>
          </a:xfrm>
          <a:prstGeom prst="rect">
            <a:avLst/>
          </a:prstGeom>
          <a:noFill/>
          <a:ln w="9525">
            <a:noFill/>
          </a:ln>
        </p:spPr>
        <p:txBody>
          <a:bodyPr>
            <a:spAutoFit/>
          </a:bodyPr>
          <a:p>
            <a:pPr eaLnBrk="0" hangingPunct="0">
              <a:buFont typeface="Wingdings" panose="05000000000000000000" pitchFamily="2" charset="2"/>
            </a:pPr>
            <a:r>
              <a:rPr lang="zh-CN" altLang="en-US" sz="2400" dirty="0">
                <a:latin typeface="宋体" panose="02010600030101010101" pitchFamily="2" charset="-122"/>
                <a:ea typeface="宋体" panose="02010600030101010101" pitchFamily="2" charset="-122"/>
              </a:rPr>
              <a:t>左移 </a:t>
            </a:r>
            <a:r>
              <a:rPr lang="en-US" altLang="zh-CN" sz="2400" dirty="0">
                <a:latin typeface="宋体" panose="02010600030101010101" pitchFamily="2" charset="-122"/>
                <a:ea typeface="宋体" panose="02010600030101010101" pitchFamily="2" charset="-122"/>
              </a:rPr>
              <a:t>RCL</a:t>
            </a:r>
            <a:endParaRPr lang="en-US" altLang="zh-CN" sz="2400" dirty="0">
              <a:latin typeface="宋体" panose="02010600030101010101" pitchFamily="2" charset="-122"/>
              <a:ea typeface="宋体" panose="02010600030101010101" pitchFamily="2" charset="-122"/>
            </a:endParaRPr>
          </a:p>
          <a:p>
            <a:pPr eaLnBrk="0" hangingPunct="0">
              <a:buFont typeface="Wingdings" panose="05000000000000000000" pitchFamily="2" charset="2"/>
            </a:pPr>
            <a:r>
              <a:rPr lang="zh-CN" altLang="en-US" sz="2400" dirty="0">
                <a:latin typeface="宋体" panose="02010600030101010101" pitchFamily="2" charset="-122"/>
                <a:ea typeface="宋体" panose="02010600030101010101" pitchFamily="2" charset="-122"/>
              </a:rPr>
              <a:t>右移 </a:t>
            </a:r>
            <a:r>
              <a:rPr lang="en-US" altLang="zh-CN" sz="2400" dirty="0">
                <a:latin typeface="宋体" panose="02010600030101010101" pitchFamily="2" charset="-122"/>
                <a:ea typeface="宋体" panose="02010600030101010101" pitchFamily="2" charset="-122"/>
              </a:rPr>
              <a:t>RCR</a:t>
            </a:r>
            <a:endParaRPr lang="en-US" altLang="zh-CN" sz="2400" dirty="0">
              <a:latin typeface="宋体" panose="02010600030101010101" pitchFamily="2" charset="-122"/>
              <a:ea typeface="宋体" panose="02010600030101010101" pitchFamily="2" charset="-122"/>
            </a:endParaRPr>
          </a:p>
        </p:txBody>
      </p:sp>
      <p:sp>
        <p:nvSpPr>
          <p:cNvPr id="121878" name="文本框 21"/>
          <p:cNvSpPr txBox="1"/>
          <p:nvPr/>
        </p:nvSpPr>
        <p:spPr>
          <a:xfrm>
            <a:off x="2114550" y="5575300"/>
            <a:ext cx="4481513" cy="461963"/>
          </a:xfrm>
          <a:prstGeom prst="rect">
            <a:avLst/>
          </a:prstGeom>
          <a:noFill/>
          <a:ln w="9525">
            <a:noFill/>
          </a:ln>
        </p:spPr>
        <p:txBody>
          <a:bodyPr>
            <a:spAutoFit/>
          </a:bodyPr>
          <a:p>
            <a:pPr eaLnBrk="0" hangingPunct="0"/>
            <a:r>
              <a:rPr lang="en-US" altLang="zh-CN" sz="2400" dirty="0">
                <a:latin typeface="宋体" panose="02010600030101010101" pitchFamily="2" charset="-122"/>
                <a:ea typeface="宋体" panose="02010600030101010101" pitchFamily="2" charset="-122"/>
              </a:rPr>
              <a:t>RCL</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RCR</a:t>
            </a:r>
            <a:r>
              <a:rPr lang="zh-CN" altLang="en-US" sz="2400" dirty="0">
                <a:latin typeface="宋体" panose="02010600030101010101" pitchFamily="2" charset="-122"/>
                <a:ea typeface="宋体" panose="02010600030101010101" pitchFamily="2" charset="-122"/>
              </a:rPr>
              <a:t>指令影响</a:t>
            </a:r>
            <a:r>
              <a:rPr lang="en-US" altLang="zh-CN" sz="2400" dirty="0">
                <a:latin typeface="宋体" panose="02010600030101010101" pitchFamily="2" charset="-122"/>
                <a:ea typeface="宋体" panose="02010600030101010101" pitchFamily="2" charset="-122"/>
              </a:rPr>
              <a:t>CF</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OF</a:t>
            </a:r>
            <a:r>
              <a:rPr lang="zh-CN" altLang="en-US" sz="2400" dirty="0">
                <a:latin typeface="宋体" panose="02010600030101010101" pitchFamily="2" charset="-122"/>
                <a:ea typeface="宋体" panose="02010600030101010101" pitchFamily="2" charset="-122"/>
              </a:rPr>
              <a:t>标志位</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3915"/>
                                        </p:tgtEl>
                                        <p:attrNameLst>
                                          <p:attrName>style.visibility</p:attrName>
                                        </p:attrNameLst>
                                      </p:cBhvr>
                                      <p:to>
                                        <p:strVal val="visible"/>
                                      </p:to>
                                    </p:set>
                                    <p:anim calcmode="lin" valueType="num">
                                      <p:cBhvr>
                                        <p:cTn id="7" dur="500" fill="hold"/>
                                        <p:tgtEl>
                                          <p:spTgt spid="123915"/>
                                        </p:tgtEl>
                                        <p:attrNameLst>
                                          <p:attrName>ppt_x</p:attrName>
                                        </p:attrNameLst>
                                      </p:cBhvr>
                                      <p:tavLst>
                                        <p:tav tm="0">
                                          <p:val>
                                            <p:strVal val="#ppt_x"/>
                                          </p:val>
                                        </p:tav>
                                        <p:tav tm="100000">
                                          <p:val>
                                            <p:strVal val="#ppt_x"/>
                                          </p:val>
                                        </p:tav>
                                      </p:tavLst>
                                    </p:anim>
                                    <p:anim calcmode="lin" valueType="num">
                                      <p:cBhvr>
                                        <p:cTn id="8" dur="500" fill="hold"/>
                                        <p:tgtEl>
                                          <p:spTgt spid="1239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3920"/>
                                        </p:tgtEl>
                                        <p:attrNameLst>
                                          <p:attrName>style.visibility</p:attrName>
                                        </p:attrNameLst>
                                      </p:cBhvr>
                                      <p:to>
                                        <p:strVal val="visible"/>
                                      </p:to>
                                    </p:set>
                                    <p:anim calcmode="lin" valueType="num">
                                      <p:cBhvr>
                                        <p:cTn id="11" dur="500" fill="hold"/>
                                        <p:tgtEl>
                                          <p:spTgt spid="123920"/>
                                        </p:tgtEl>
                                        <p:attrNameLst>
                                          <p:attrName>ppt_x</p:attrName>
                                        </p:attrNameLst>
                                      </p:cBhvr>
                                      <p:tavLst>
                                        <p:tav tm="0">
                                          <p:val>
                                            <p:strVal val="#ppt_x"/>
                                          </p:val>
                                        </p:tav>
                                        <p:tav tm="100000">
                                          <p:val>
                                            <p:strVal val="#ppt_x"/>
                                          </p:val>
                                        </p:tav>
                                      </p:tavLst>
                                    </p:anim>
                                    <p:anim calcmode="lin" valueType="num">
                                      <p:cBhvr>
                                        <p:cTn id="12" dur="500" fill="hold"/>
                                        <p:tgtEl>
                                          <p:spTgt spid="12392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23922"/>
                                        </p:tgtEl>
                                        <p:attrNameLst>
                                          <p:attrName>style.visibility</p:attrName>
                                        </p:attrNameLst>
                                      </p:cBhvr>
                                      <p:to>
                                        <p:strVal val="visible"/>
                                      </p:to>
                                    </p:set>
                                    <p:animEffect transition="in" filter="wipe(right)">
                                      <p:cBhvr>
                                        <p:cTn id="17" dur="500"/>
                                        <p:tgtEl>
                                          <p:spTgt spid="123922"/>
                                        </p:tgtEl>
                                      </p:cBhvr>
                                    </p:animEffect>
                                  </p:childTnLst>
                                </p:cTn>
                              </p:par>
                            </p:childTnLst>
                          </p:cTn>
                        </p:par>
                        <p:par>
                          <p:cTn id="18" fill="hold">
                            <p:stCondLst>
                              <p:cond delay="500"/>
                            </p:stCondLst>
                            <p:childTnLst>
                              <p:par>
                                <p:cTn id="19" presetID="22" presetClass="entr" presetSubtype="2" fill="hold" grpId="0" nodeType="afterEffect">
                                  <p:stCondLst>
                                    <p:cond delay="0"/>
                                  </p:stCondLst>
                                  <p:childTnLst>
                                    <p:set>
                                      <p:cBhvr>
                                        <p:cTn id="20" dur="1" fill="hold">
                                          <p:stCondLst>
                                            <p:cond delay="0"/>
                                          </p:stCondLst>
                                        </p:cTn>
                                        <p:tgtEl>
                                          <p:spTgt spid="123916"/>
                                        </p:tgtEl>
                                        <p:attrNameLst>
                                          <p:attrName>style.visibility</p:attrName>
                                        </p:attrNameLst>
                                      </p:cBhvr>
                                      <p:to>
                                        <p:strVal val="visible"/>
                                      </p:to>
                                    </p:set>
                                    <p:animEffect transition="in" filter="wipe(right)">
                                      <p:cBhvr>
                                        <p:cTn id="21" dur="500"/>
                                        <p:tgtEl>
                                          <p:spTgt spid="123916"/>
                                        </p:tgtEl>
                                      </p:cBhvr>
                                    </p:animEffect>
                                  </p:childTnLst>
                                </p:cTn>
                              </p:par>
                            </p:childTnLst>
                          </p:cTn>
                        </p:par>
                        <p:par>
                          <p:cTn id="22" fill="hold">
                            <p:stCondLst>
                              <p:cond delay="1000"/>
                            </p:stCondLst>
                            <p:childTnLst>
                              <p:par>
                                <p:cTn id="23" presetID="18" presetClass="entr" presetSubtype="12" fill="hold" nodeType="afterEffect">
                                  <p:stCondLst>
                                    <p:cond delay="0"/>
                                  </p:stCondLst>
                                  <p:childTnLst>
                                    <p:set>
                                      <p:cBhvr>
                                        <p:cTn id="24" dur="1" fill="hold">
                                          <p:stCondLst>
                                            <p:cond delay="0"/>
                                          </p:stCondLst>
                                        </p:cTn>
                                        <p:tgtEl>
                                          <p:spTgt spid="123923"/>
                                        </p:tgtEl>
                                        <p:attrNameLst>
                                          <p:attrName>style.visibility</p:attrName>
                                        </p:attrNameLst>
                                      </p:cBhvr>
                                      <p:to>
                                        <p:strVal val="visible"/>
                                      </p:to>
                                    </p:set>
                                    <p:animEffect transition="in" filter="strips(downLeft)">
                                      <p:cBhvr>
                                        <p:cTn id="25" dur="500"/>
                                        <p:tgtEl>
                                          <p:spTgt spid="123923"/>
                                        </p:tgtEl>
                                      </p:cBhvr>
                                    </p:animEffect>
                                  </p:childTnLst>
                                </p:cTn>
                              </p:par>
                            </p:childTnLst>
                          </p:cTn>
                        </p:par>
                        <p:par>
                          <p:cTn id="26" fill="hold">
                            <p:stCondLst>
                              <p:cond delay="1500"/>
                            </p:stCondLst>
                            <p:childTnLst>
                              <p:par>
                                <p:cTn id="27" presetID="22" presetClass="entr" presetSubtype="1" fill="hold" nodeType="afterEffect">
                                  <p:stCondLst>
                                    <p:cond delay="0"/>
                                  </p:stCondLst>
                                  <p:childTnLst>
                                    <p:set>
                                      <p:cBhvr>
                                        <p:cTn id="28" dur="1" fill="hold">
                                          <p:stCondLst>
                                            <p:cond delay="0"/>
                                          </p:stCondLst>
                                        </p:cTn>
                                        <p:tgtEl>
                                          <p:spTgt spid="123919"/>
                                        </p:tgtEl>
                                        <p:attrNameLst>
                                          <p:attrName>style.visibility</p:attrName>
                                        </p:attrNameLst>
                                      </p:cBhvr>
                                      <p:to>
                                        <p:strVal val="visible"/>
                                      </p:to>
                                    </p:set>
                                    <p:animEffect transition="in" filter="wipe(up)">
                                      <p:cBhvr>
                                        <p:cTn id="29" dur="500"/>
                                        <p:tgtEl>
                                          <p:spTgt spid="123919"/>
                                        </p:tgtEl>
                                      </p:cBhvr>
                                    </p:animEffect>
                                  </p:childTnLst>
                                </p:cTn>
                              </p:par>
                            </p:childTnLst>
                          </p:cTn>
                        </p:par>
                        <p:par>
                          <p:cTn id="30" fill="hold">
                            <p:stCondLst>
                              <p:cond delay="2000"/>
                            </p:stCondLst>
                            <p:childTnLst>
                              <p:par>
                                <p:cTn id="31" presetID="22" presetClass="entr" presetSubtype="8" fill="hold" nodeType="afterEffect">
                                  <p:stCondLst>
                                    <p:cond delay="0"/>
                                  </p:stCondLst>
                                  <p:childTnLst>
                                    <p:set>
                                      <p:cBhvr>
                                        <p:cTn id="32" dur="1" fill="hold">
                                          <p:stCondLst>
                                            <p:cond delay="0"/>
                                          </p:stCondLst>
                                        </p:cTn>
                                        <p:tgtEl>
                                          <p:spTgt spid="123918"/>
                                        </p:tgtEl>
                                        <p:attrNameLst>
                                          <p:attrName>style.visibility</p:attrName>
                                        </p:attrNameLst>
                                      </p:cBhvr>
                                      <p:to>
                                        <p:strVal val="visible"/>
                                      </p:to>
                                    </p:set>
                                    <p:animEffect transition="in" filter="wipe(left)">
                                      <p:cBhvr>
                                        <p:cTn id="33" dur="500"/>
                                        <p:tgtEl>
                                          <p:spTgt spid="123918"/>
                                        </p:tgtEl>
                                      </p:cBhvr>
                                    </p:animEffect>
                                  </p:childTnLst>
                                </p:cTn>
                              </p:par>
                            </p:childTnLst>
                          </p:cTn>
                        </p:par>
                        <p:par>
                          <p:cTn id="34" fill="hold">
                            <p:stCondLst>
                              <p:cond delay="2500"/>
                            </p:stCondLst>
                            <p:childTnLst>
                              <p:par>
                                <p:cTn id="35" presetID="22" presetClass="entr" presetSubtype="4" fill="hold" nodeType="afterEffect">
                                  <p:stCondLst>
                                    <p:cond delay="0"/>
                                  </p:stCondLst>
                                  <p:childTnLst>
                                    <p:set>
                                      <p:cBhvr>
                                        <p:cTn id="36" dur="1" fill="hold">
                                          <p:stCondLst>
                                            <p:cond delay="0"/>
                                          </p:stCondLst>
                                        </p:cTn>
                                        <p:tgtEl>
                                          <p:spTgt spid="123917"/>
                                        </p:tgtEl>
                                        <p:attrNameLst>
                                          <p:attrName>style.visibility</p:attrName>
                                        </p:attrNameLst>
                                      </p:cBhvr>
                                      <p:to>
                                        <p:strVal val="visible"/>
                                      </p:to>
                                    </p:set>
                                    <p:animEffect transition="in" filter="wipe(down)">
                                      <p:cBhvr>
                                        <p:cTn id="37" dur="500"/>
                                        <p:tgtEl>
                                          <p:spTgt spid="123917"/>
                                        </p:tgtEl>
                                      </p:cBhvr>
                                    </p:animEffect>
                                  </p:childTnLst>
                                </p:cTn>
                              </p:par>
                            </p:childTnLst>
                          </p:cTn>
                        </p:par>
                        <p:par>
                          <p:cTn id="38" fill="hold">
                            <p:stCondLst>
                              <p:cond delay="3000"/>
                            </p:stCondLst>
                            <p:childTnLst>
                              <p:par>
                                <p:cTn id="39" presetID="22" presetClass="entr" presetSubtype="2" fill="hold" nodeType="afterEffect">
                                  <p:stCondLst>
                                    <p:cond delay="0"/>
                                  </p:stCondLst>
                                  <p:childTnLst>
                                    <p:set>
                                      <p:cBhvr>
                                        <p:cTn id="40" dur="1" fill="hold">
                                          <p:stCondLst>
                                            <p:cond delay="0"/>
                                          </p:stCondLst>
                                        </p:cTn>
                                        <p:tgtEl>
                                          <p:spTgt spid="123921"/>
                                        </p:tgtEl>
                                        <p:attrNameLst>
                                          <p:attrName>style.visibility</p:attrName>
                                        </p:attrNameLst>
                                      </p:cBhvr>
                                      <p:to>
                                        <p:strVal val="visible"/>
                                      </p:to>
                                    </p:set>
                                    <p:animEffect transition="in" filter="wipe(right)">
                                      <p:cBhvr>
                                        <p:cTn id="41" dur="500"/>
                                        <p:tgtEl>
                                          <p:spTgt spid="123921"/>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23907"/>
                                        </p:tgtEl>
                                        <p:attrNameLst>
                                          <p:attrName>style.visibility</p:attrName>
                                        </p:attrNameLst>
                                      </p:cBhvr>
                                      <p:to>
                                        <p:strVal val="visible"/>
                                      </p:to>
                                    </p:set>
                                    <p:anim calcmode="lin" valueType="num">
                                      <p:cBhvr>
                                        <p:cTn id="46" dur="500" fill="hold"/>
                                        <p:tgtEl>
                                          <p:spTgt spid="123907"/>
                                        </p:tgtEl>
                                        <p:attrNameLst>
                                          <p:attrName>ppt_x</p:attrName>
                                        </p:attrNameLst>
                                      </p:cBhvr>
                                      <p:tavLst>
                                        <p:tav tm="0">
                                          <p:val>
                                            <p:strVal val="#ppt_x"/>
                                          </p:val>
                                        </p:tav>
                                        <p:tav tm="100000">
                                          <p:val>
                                            <p:strVal val="#ppt_x"/>
                                          </p:val>
                                        </p:tav>
                                      </p:tavLst>
                                    </p:anim>
                                    <p:anim calcmode="lin" valueType="num">
                                      <p:cBhvr>
                                        <p:cTn id="47" dur="500" fill="hold"/>
                                        <p:tgtEl>
                                          <p:spTgt spid="123907"/>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123908"/>
                                        </p:tgtEl>
                                        <p:attrNameLst>
                                          <p:attrName>style.visibility</p:attrName>
                                        </p:attrNameLst>
                                      </p:cBhvr>
                                      <p:to>
                                        <p:strVal val="visible"/>
                                      </p:to>
                                    </p:set>
                                    <p:anim calcmode="lin" valueType="num">
                                      <p:cBhvr>
                                        <p:cTn id="50" dur="500" fill="hold"/>
                                        <p:tgtEl>
                                          <p:spTgt spid="123908"/>
                                        </p:tgtEl>
                                        <p:attrNameLst>
                                          <p:attrName>ppt_x</p:attrName>
                                        </p:attrNameLst>
                                      </p:cBhvr>
                                      <p:tavLst>
                                        <p:tav tm="0">
                                          <p:val>
                                            <p:strVal val="#ppt_x"/>
                                          </p:val>
                                        </p:tav>
                                        <p:tav tm="100000">
                                          <p:val>
                                            <p:strVal val="#ppt_x"/>
                                          </p:val>
                                        </p:tav>
                                      </p:tavLst>
                                    </p:anim>
                                    <p:anim calcmode="lin" valueType="num">
                                      <p:cBhvr>
                                        <p:cTn id="51" dur="500" fill="hold"/>
                                        <p:tgtEl>
                                          <p:spTgt spid="123908"/>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23909"/>
                                        </p:tgtEl>
                                        <p:attrNameLst>
                                          <p:attrName>style.visibility</p:attrName>
                                        </p:attrNameLst>
                                      </p:cBhvr>
                                      <p:to>
                                        <p:strVal val="visible"/>
                                      </p:to>
                                    </p:set>
                                    <p:animEffect transition="in" filter="wipe(left)">
                                      <p:cBhvr>
                                        <p:cTn id="56" dur="500"/>
                                        <p:tgtEl>
                                          <p:spTgt spid="123909"/>
                                        </p:tgtEl>
                                      </p:cBhvr>
                                    </p:animEffect>
                                  </p:childTnLst>
                                </p:cTn>
                              </p:par>
                            </p:childTnLst>
                          </p:cTn>
                        </p:par>
                        <p:par>
                          <p:cTn id="57" fill="hold">
                            <p:stCondLst>
                              <p:cond delay="500"/>
                            </p:stCondLst>
                            <p:childTnLst>
                              <p:par>
                                <p:cTn id="58" presetID="22" presetClass="entr" presetSubtype="8" fill="hold" grpId="0" nodeType="afterEffect">
                                  <p:stCondLst>
                                    <p:cond delay="0"/>
                                  </p:stCondLst>
                                  <p:childTnLst>
                                    <p:set>
                                      <p:cBhvr>
                                        <p:cTn id="59" dur="1" fill="hold">
                                          <p:stCondLst>
                                            <p:cond delay="0"/>
                                          </p:stCondLst>
                                        </p:cTn>
                                        <p:tgtEl>
                                          <p:spTgt spid="123911"/>
                                        </p:tgtEl>
                                        <p:attrNameLst>
                                          <p:attrName>style.visibility</p:attrName>
                                        </p:attrNameLst>
                                      </p:cBhvr>
                                      <p:to>
                                        <p:strVal val="visible"/>
                                      </p:to>
                                    </p:set>
                                    <p:animEffect transition="in" filter="wipe(left)">
                                      <p:cBhvr>
                                        <p:cTn id="60" dur="500"/>
                                        <p:tgtEl>
                                          <p:spTgt spid="123911"/>
                                        </p:tgtEl>
                                      </p:cBhvr>
                                    </p:animEffect>
                                  </p:childTnLst>
                                </p:cTn>
                              </p:par>
                            </p:childTnLst>
                          </p:cTn>
                        </p:par>
                        <p:par>
                          <p:cTn id="61" fill="hold">
                            <p:stCondLst>
                              <p:cond delay="1000"/>
                            </p:stCondLst>
                            <p:childTnLst>
                              <p:par>
                                <p:cTn id="62" presetID="22" presetClass="entr" presetSubtype="8" fill="hold" nodeType="afterEffect">
                                  <p:stCondLst>
                                    <p:cond delay="0"/>
                                  </p:stCondLst>
                                  <p:childTnLst>
                                    <p:set>
                                      <p:cBhvr>
                                        <p:cTn id="63" dur="1" fill="hold">
                                          <p:stCondLst>
                                            <p:cond delay="0"/>
                                          </p:stCondLst>
                                        </p:cTn>
                                        <p:tgtEl>
                                          <p:spTgt spid="123924"/>
                                        </p:tgtEl>
                                        <p:attrNameLst>
                                          <p:attrName>style.visibility</p:attrName>
                                        </p:attrNameLst>
                                      </p:cBhvr>
                                      <p:to>
                                        <p:strVal val="visible"/>
                                      </p:to>
                                    </p:set>
                                    <p:animEffect transition="in" filter="wipe(left)">
                                      <p:cBhvr>
                                        <p:cTn id="64" dur="500"/>
                                        <p:tgtEl>
                                          <p:spTgt spid="123924"/>
                                        </p:tgtEl>
                                      </p:cBhvr>
                                    </p:animEffect>
                                  </p:childTnLst>
                                </p:cTn>
                              </p:par>
                            </p:childTnLst>
                          </p:cTn>
                        </p:par>
                        <p:par>
                          <p:cTn id="65" fill="hold">
                            <p:stCondLst>
                              <p:cond delay="1500"/>
                            </p:stCondLst>
                            <p:childTnLst>
                              <p:par>
                                <p:cTn id="66" presetID="22" presetClass="entr" presetSubtype="1" fill="hold" nodeType="afterEffect">
                                  <p:stCondLst>
                                    <p:cond delay="0"/>
                                  </p:stCondLst>
                                  <p:childTnLst>
                                    <p:set>
                                      <p:cBhvr>
                                        <p:cTn id="67" dur="1" fill="hold">
                                          <p:stCondLst>
                                            <p:cond delay="0"/>
                                          </p:stCondLst>
                                        </p:cTn>
                                        <p:tgtEl>
                                          <p:spTgt spid="123914"/>
                                        </p:tgtEl>
                                        <p:attrNameLst>
                                          <p:attrName>style.visibility</p:attrName>
                                        </p:attrNameLst>
                                      </p:cBhvr>
                                      <p:to>
                                        <p:strVal val="visible"/>
                                      </p:to>
                                    </p:set>
                                    <p:animEffect transition="in" filter="wipe(up)">
                                      <p:cBhvr>
                                        <p:cTn id="68" dur="500"/>
                                        <p:tgtEl>
                                          <p:spTgt spid="123914"/>
                                        </p:tgtEl>
                                      </p:cBhvr>
                                    </p:animEffect>
                                  </p:childTnLst>
                                </p:cTn>
                              </p:par>
                            </p:childTnLst>
                          </p:cTn>
                        </p:par>
                        <p:par>
                          <p:cTn id="69" fill="hold">
                            <p:stCondLst>
                              <p:cond delay="2000"/>
                            </p:stCondLst>
                            <p:childTnLst>
                              <p:par>
                                <p:cTn id="70" presetID="22" presetClass="entr" presetSubtype="2" fill="hold" nodeType="afterEffect">
                                  <p:stCondLst>
                                    <p:cond delay="0"/>
                                  </p:stCondLst>
                                  <p:childTnLst>
                                    <p:set>
                                      <p:cBhvr>
                                        <p:cTn id="71" dur="1" fill="hold">
                                          <p:stCondLst>
                                            <p:cond delay="0"/>
                                          </p:stCondLst>
                                        </p:cTn>
                                        <p:tgtEl>
                                          <p:spTgt spid="123913"/>
                                        </p:tgtEl>
                                        <p:attrNameLst>
                                          <p:attrName>style.visibility</p:attrName>
                                        </p:attrNameLst>
                                      </p:cBhvr>
                                      <p:to>
                                        <p:strVal val="visible"/>
                                      </p:to>
                                    </p:set>
                                    <p:animEffect transition="in" filter="wipe(right)">
                                      <p:cBhvr>
                                        <p:cTn id="72" dur="500"/>
                                        <p:tgtEl>
                                          <p:spTgt spid="123913"/>
                                        </p:tgtEl>
                                      </p:cBhvr>
                                    </p:animEffect>
                                  </p:childTnLst>
                                </p:cTn>
                              </p:par>
                            </p:childTnLst>
                          </p:cTn>
                        </p:par>
                        <p:par>
                          <p:cTn id="73" fill="hold">
                            <p:stCondLst>
                              <p:cond delay="2500"/>
                            </p:stCondLst>
                            <p:childTnLst>
                              <p:par>
                                <p:cTn id="74" presetID="22" presetClass="entr" presetSubtype="4" fill="hold" nodeType="afterEffect">
                                  <p:stCondLst>
                                    <p:cond delay="0"/>
                                  </p:stCondLst>
                                  <p:childTnLst>
                                    <p:set>
                                      <p:cBhvr>
                                        <p:cTn id="75" dur="1" fill="hold">
                                          <p:stCondLst>
                                            <p:cond delay="0"/>
                                          </p:stCondLst>
                                        </p:cTn>
                                        <p:tgtEl>
                                          <p:spTgt spid="123912"/>
                                        </p:tgtEl>
                                        <p:attrNameLst>
                                          <p:attrName>style.visibility</p:attrName>
                                        </p:attrNameLst>
                                      </p:cBhvr>
                                      <p:to>
                                        <p:strVal val="visible"/>
                                      </p:to>
                                    </p:set>
                                    <p:animEffect transition="in" filter="wipe(down)">
                                      <p:cBhvr>
                                        <p:cTn id="76" dur="500"/>
                                        <p:tgtEl>
                                          <p:spTgt spid="123912"/>
                                        </p:tgtEl>
                                      </p:cBhvr>
                                    </p:animEffect>
                                  </p:childTnLst>
                                </p:cTn>
                              </p:par>
                            </p:childTnLst>
                          </p:cTn>
                        </p:par>
                        <p:par>
                          <p:cTn id="77" fill="hold">
                            <p:stCondLst>
                              <p:cond delay="3000"/>
                            </p:stCondLst>
                            <p:childTnLst>
                              <p:par>
                                <p:cTn id="78" presetID="22" presetClass="entr" presetSubtype="8" fill="hold" nodeType="afterEffect">
                                  <p:stCondLst>
                                    <p:cond delay="0"/>
                                  </p:stCondLst>
                                  <p:childTnLst>
                                    <p:set>
                                      <p:cBhvr>
                                        <p:cTn id="79" dur="1" fill="hold">
                                          <p:stCondLst>
                                            <p:cond delay="0"/>
                                          </p:stCondLst>
                                        </p:cTn>
                                        <p:tgtEl>
                                          <p:spTgt spid="123910"/>
                                        </p:tgtEl>
                                        <p:attrNameLst>
                                          <p:attrName>style.visibility</p:attrName>
                                        </p:attrNameLst>
                                      </p:cBhvr>
                                      <p:to>
                                        <p:strVal val="visible"/>
                                      </p:to>
                                    </p:set>
                                    <p:animEffect transition="in" filter="wipe(left)">
                                      <p:cBhvr>
                                        <p:cTn id="80" dur="500"/>
                                        <p:tgtEl>
                                          <p:spTgt spid="123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animBg="1"/>
      <p:bldP spid="123911" grpId="0" animBg="1"/>
      <p:bldP spid="123915" grpId="0" animBg="1"/>
      <p:bldP spid="123916"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390650" y="1198245"/>
            <a:ext cx="6572250" cy="4866640"/>
          </a:xfrm>
          <a:prstGeom prst="rect">
            <a:avLst/>
          </a:prstGeom>
          <a:noFill/>
        </p:spPr>
        <p:txBody>
          <a:bodyPr wrap="square" rtlCol="0" anchor="t">
            <a:noAutofit/>
          </a:bodyPr>
          <a:p>
            <a:pPr>
              <a:lnSpc>
                <a:spcPct val="150000"/>
              </a:lnSpc>
            </a:pPr>
            <a:r>
              <a:rPr lang="zh-CN" altLang="en-US" sz="2400">
                <a:sym typeface="+mn-ea"/>
              </a:rPr>
              <a:t>例如：</a:t>
            </a:r>
            <a:r>
              <a:rPr lang="en-US" altLang="zh-CN" sz="2400">
                <a:sym typeface="+mn-ea"/>
              </a:rPr>
              <a:t>mov al, 10011010B   ; AL = 10011010</a:t>
            </a:r>
            <a:endParaRPr lang="en-US" altLang="zh-CN" sz="2400"/>
          </a:p>
          <a:p>
            <a:pPr marL="457200" lvl="1" indent="457200">
              <a:lnSpc>
                <a:spcPct val="150000"/>
              </a:lnSpc>
            </a:pPr>
            <a:r>
              <a:rPr lang="en-US" altLang="zh-CN" sz="2400">
                <a:sym typeface="+mn-ea"/>
              </a:rPr>
              <a:t>clc                 ; CF = 0</a:t>
            </a:r>
            <a:endParaRPr lang="en-US" altLang="zh-CN" sz="2400"/>
          </a:p>
          <a:p>
            <a:pPr marL="457200" lvl="1" indent="457200">
              <a:lnSpc>
                <a:spcPct val="150000"/>
              </a:lnSpc>
            </a:pPr>
            <a:r>
              <a:rPr lang="en-US" altLang="zh-CN" sz="2400">
                <a:sym typeface="+mn-ea"/>
              </a:rPr>
              <a:t>rcl al, 1           ; </a:t>
            </a:r>
            <a:r>
              <a:rPr lang="zh-CN" altLang="en-US" sz="2400">
                <a:sym typeface="+mn-ea"/>
              </a:rPr>
              <a:t>带进位循环左移</a:t>
            </a:r>
            <a:r>
              <a:rPr lang="en-US" altLang="zh-CN" sz="2400">
                <a:sym typeface="+mn-ea"/>
              </a:rPr>
              <a:t>1</a:t>
            </a:r>
            <a:r>
              <a:rPr lang="zh-CN" altLang="en-US" sz="2400">
                <a:sym typeface="+mn-ea"/>
              </a:rPr>
              <a:t>位</a:t>
            </a:r>
            <a:endParaRPr lang="en-US" altLang="zh-CN" sz="2400"/>
          </a:p>
          <a:p>
            <a:pPr>
              <a:lnSpc>
                <a:spcPct val="150000"/>
              </a:lnSpc>
            </a:pPr>
            <a:r>
              <a:rPr lang="en-US" altLang="zh-CN" sz="2400">
                <a:sym typeface="+mn-ea"/>
              </a:rPr>
              <a:t>; </a:t>
            </a:r>
            <a:r>
              <a:rPr lang="zh-CN" altLang="en-US" sz="2400">
                <a:sym typeface="+mn-ea"/>
              </a:rPr>
              <a:t>操作过程：</a:t>
            </a:r>
            <a:endParaRPr lang="zh-CN" altLang="en-US" sz="2400"/>
          </a:p>
          <a:p>
            <a:pPr>
              <a:lnSpc>
                <a:spcPct val="150000"/>
              </a:lnSpc>
            </a:pPr>
            <a:r>
              <a:rPr lang="en-US" altLang="zh-CN" sz="2400">
                <a:sym typeface="+mn-ea"/>
              </a:rPr>
              <a:t>; </a:t>
            </a:r>
            <a:r>
              <a:rPr lang="zh-CN" altLang="en-US" sz="2400">
                <a:sym typeface="+mn-ea"/>
              </a:rPr>
              <a:t>原数：</a:t>
            </a:r>
            <a:r>
              <a:rPr lang="en-US" altLang="zh-CN" sz="2400">
                <a:sym typeface="+mn-ea"/>
              </a:rPr>
              <a:t>CF=0, AL=1 0 0 1 1 0 1 0</a:t>
            </a:r>
            <a:endParaRPr lang="en-US" altLang="zh-CN" sz="2400"/>
          </a:p>
          <a:p>
            <a:pPr>
              <a:lnSpc>
                <a:spcPct val="150000"/>
              </a:lnSpc>
            </a:pPr>
            <a:r>
              <a:rPr lang="en-US" altLang="zh-CN" sz="2400">
                <a:sym typeface="+mn-ea"/>
              </a:rPr>
              <a:t>;           CF = 1 (</a:t>
            </a:r>
            <a:r>
              <a:rPr lang="zh-CN" altLang="en-US" sz="2400">
                <a:sym typeface="+mn-ea"/>
              </a:rPr>
              <a:t>原最高位</a:t>
            </a:r>
            <a:r>
              <a:rPr lang="en-US" altLang="zh-CN" sz="2400">
                <a:sym typeface="+mn-ea"/>
              </a:rPr>
              <a:t>)</a:t>
            </a:r>
            <a:endParaRPr lang="en-US" altLang="zh-CN" sz="2400"/>
          </a:p>
          <a:p>
            <a:pPr>
              <a:lnSpc>
                <a:spcPct val="150000"/>
              </a:lnSpc>
            </a:pPr>
            <a:r>
              <a:rPr lang="en-US" altLang="zh-CN" sz="2400">
                <a:sym typeface="+mn-ea"/>
              </a:rPr>
              <a:t>; </a:t>
            </a:r>
            <a:r>
              <a:rPr lang="zh-CN" altLang="en-US" sz="2400">
                <a:sym typeface="+mn-ea"/>
              </a:rPr>
              <a:t>结果：</a:t>
            </a:r>
            <a:r>
              <a:rPr lang="en-US" altLang="zh-CN" sz="2400">
                <a:sym typeface="+mn-ea"/>
              </a:rPr>
              <a:t>CF=1, AL=00110100B</a:t>
            </a:r>
            <a:endParaRPr lang="en-US" altLang="zh-CN" sz="2400">
              <a:sym typeface="+mn-ea"/>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2"/>
          <p:cNvSpPr>
            <a:spLocks noGrp="1"/>
          </p:cNvSpPr>
          <p:nvPr/>
        </p:nvSpPr>
        <p:spPr>
          <a:xfrm>
            <a:off x="1763713" y="119063"/>
            <a:ext cx="3960812"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3.4.4 </a:t>
            </a:r>
            <a:r>
              <a:rPr lang="zh-CN" altLang="en-US" sz="3600" b="1" dirty="0">
                <a:solidFill>
                  <a:schemeClr val="bg1"/>
                </a:solidFill>
                <a:latin typeface="宋体" panose="02010600030101010101" pitchFamily="2" charset="-122"/>
                <a:ea typeface="宋体" panose="02010600030101010101" pitchFamily="2" charset="-122"/>
              </a:rPr>
              <a:t>串操作指令</a:t>
            </a:r>
            <a:endParaRPr lang="zh-CN" altLang="en-US" sz="3600" b="1" dirty="0">
              <a:solidFill>
                <a:schemeClr val="bg1"/>
              </a:solidFill>
              <a:latin typeface="宋体" panose="02010600030101010101" pitchFamily="2" charset="-122"/>
              <a:ea typeface="宋体" panose="02010600030101010101" pitchFamily="2" charset="-122"/>
            </a:endParaRPr>
          </a:p>
        </p:txBody>
      </p:sp>
      <p:sp>
        <p:nvSpPr>
          <p:cNvPr id="122883" name="矩形 2"/>
          <p:cNvSpPr/>
          <p:nvPr/>
        </p:nvSpPr>
        <p:spPr>
          <a:xfrm>
            <a:off x="395288" y="1196975"/>
            <a:ext cx="8497887" cy="4948238"/>
          </a:xfrm>
          <a:prstGeom prst="rect">
            <a:avLst/>
          </a:prstGeom>
          <a:noFill/>
          <a:ln w="9525">
            <a:noFill/>
          </a:ln>
        </p:spPr>
        <p:txBody>
          <a:bodyPr>
            <a:spAutoFit/>
          </a:bodyPr>
          <a:p>
            <a:pPr eaLnBrk="0" hangingPunct="0">
              <a:lnSpc>
                <a:spcPct val="90000"/>
              </a:lnSpc>
              <a:spcBef>
                <a:spcPct val="30000"/>
              </a:spcBef>
              <a:spcAft>
                <a:spcPct val="30000"/>
              </a:spcAft>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针对数据块或字符串的操作；</a:t>
            </a:r>
            <a:endParaRPr lang="zh-CN" altLang="en-US" sz="2400" dirty="0">
              <a:latin typeface="宋体" panose="02010600030101010101" pitchFamily="2" charset="-122"/>
              <a:ea typeface="宋体" panose="02010600030101010101" pitchFamily="2" charset="-122"/>
            </a:endParaRPr>
          </a:p>
          <a:p>
            <a:pPr eaLnBrk="0" hangingPunct="0">
              <a:lnSpc>
                <a:spcPct val="90000"/>
              </a:lnSpc>
              <a:spcBef>
                <a:spcPct val="30000"/>
              </a:spcBef>
              <a:spcAft>
                <a:spcPct val="30000"/>
              </a:spcAft>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可实现存储器到存储器的数据传送；</a:t>
            </a:r>
            <a:endParaRPr lang="zh-CN" altLang="en-US" sz="2400" dirty="0">
              <a:latin typeface="宋体" panose="02010600030101010101" pitchFamily="2" charset="-122"/>
              <a:ea typeface="宋体" panose="02010600030101010101" pitchFamily="2" charset="-122"/>
            </a:endParaRPr>
          </a:p>
          <a:p>
            <a:pPr eaLnBrk="0" hangingPunct="0">
              <a:lnSpc>
                <a:spcPct val="90000"/>
              </a:lnSpc>
              <a:spcBef>
                <a:spcPct val="30000"/>
              </a:spcBef>
              <a:spcAft>
                <a:spcPct val="30000"/>
              </a:spcAft>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待操作的数据串称为源串，目标地址称为目标串。</a:t>
            </a:r>
            <a:endParaRPr lang="en-US" altLang="zh-CN" sz="2400" dirty="0">
              <a:latin typeface="宋体" panose="02010600030101010101" pitchFamily="2" charset="-122"/>
              <a:ea typeface="宋体" panose="02010600030101010101" pitchFamily="2" charset="-122"/>
            </a:endParaRPr>
          </a:p>
          <a:p>
            <a:pPr eaLnBrk="0" hangingPunct="0">
              <a:lnSpc>
                <a:spcPct val="90000"/>
              </a:lnSpc>
              <a:spcAft>
                <a:spcPct val="20000"/>
              </a:spcAft>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源串一般存放在</a:t>
            </a:r>
            <a:r>
              <a:rPr lang="en-US" altLang="zh-CN" sz="2400" dirty="0">
                <a:latin typeface="宋体" panose="02010600030101010101" pitchFamily="2" charset="-122"/>
                <a:ea typeface="宋体" panose="02010600030101010101" pitchFamily="2" charset="-122"/>
              </a:rPr>
              <a:t>DS</a:t>
            </a:r>
            <a:r>
              <a:rPr lang="zh-CN" altLang="en-US" sz="2400" dirty="0">
                <a:latin typeface="宋体" panose="02010600030101010101" pitchFamily="2" charset="-122"/>
                <a:ea typeface="宋体" panose="02010600030101010101" pitchFamily="2" charset="-122"/>
              </a:rPr>
              <a:t>段，偏移地址由</a:t>
            </a:r>
            <a:r>
              <a:rPr lang="en-US" altLang="zh-CN" sz="2400" dirty="0">
                <a:latin typeface="宋体" panose="02010600030101010101" pitchFamily="2" charset="-122"/>
                <a:ea typeface="宋体" panose="02010600030101010101" pitchFamily="2" charset="-122"/>
              </a:rPr>
              <a:t>SI</a:t>
            </a:r>
            <a:r>
              <a:rPr lang="zh-CN" altLang="en-US" sz="2400" dirty="0">
                <a:latin typeface="宋体" panose="02010600030101010101" pitchFamily="2" charset="-122"/>
                <a:ea typeface="宋体" panose="02010600030101010101" pitchFamily="2" charset="-122"/>
              </a:rPr>
              <a:t>指定，允许段重设；</a:t>
            </a:r>
            <a:endParaRPr lang="zh-CN" altLang="en-US" sz="2400" dirty="0">
              <a:latin typeface="宋体" panose="02010600030101010101" pitchFamily="2" charset="-122"/>
              <a:ea typeface="宋体" panose="02010600030101010101" pitchFamily="2" charset="-122"/>
            </a:endParaRPr>
          </a:p>
          <a:p>
            <a:pPr eaLnBrk="0" hangingPunct="0">
              <a:lnSpc>
                <a:spcPct val="90000"/>
              </a:lnSpc>
              <a:spcAft>
                <a:spcPct val="20000"/>
              </a:spcAft>
              <a:buFont typeface="Wingdings" panose="05000000000000000000" pitchFamily="2" charset="2"/>
            </a:pPr>
            <a:r>
              <a:rPr lang="zh-CN" altLang="en-US" sz="2400" dirty="0">
                <a:latin typeface="宋体" panose="02010600030101010101" pitchFamily="2" charset="-122"/>
                <a:ea typeface="宋体" panose="02010600030101010101" pitchFamily="2" charset="-122"/>
              </a:rPr>
              <a:t>目标串必须在</a:t>
            </a:r>
            <a:r>
              <a:rPr lang="en-US" altLang="zh-CN" sz="2400" dirty="0">
                <a:latin typeface="宋体" panose="02010600030101010101" pitchFamily="2" charset="-122"/>
                <a:ea typeface="宋体" panose="02010600030101010101" pitchFamily="2" charset="-122"/>
              </a:rPr>
              <a:t>ES</a:t>
            </a:r>
            <a:r>
              <a:rPr lang="zh-CN" altLang="en-US" sz="2400" dirty="0">
                <a:latin typeface="宋体" panose="02010600030101010101" pitchFamily="2" charset="-122"/>
                <a:ea typeface="宋体" panose="02010600030101010101" pitchFamily="2" charset="-122"/>
              </a:rPr>
              <a:t>段，偏移地址由</a:t>
            </a:r>
            <a:r>
              <a:rPr lang="en-US" altLang="zh-CN" sz="2400" dirty="0">
                <a:latin typeface="宋体" panose="02010600030101010101" pitchFamily="2" charset="-122"/>
                <a:ea typeface="宋体" panose="02010600030101010101" pitchFamily="2" charset="-122"/>
              </a:rPr>
              <a:t>DI</a:t>
            </a:r>
            <a:r>
              <a:rPr lang="zh-CN" altLang="en-US" sz="2400" dirty="0">
                <a:latin typeface="宋体" panose="02010600030101010101" pitchFamily="2" charset="-122"/>
                <a:ea typeface="宋体" panose="02010600030101010101" pitchFamily="2" charset="-122"/>
              </a:rPr>
              <a:t>指定；指令自动修改地址指针，修改方向由</a:t>
            </a:r>
            <a:r>
              <a:rPr lang="en-US" altLang="zh-CN" sz="2400" dirty="0">
                <a:latin typeface="宋体" panose="02010600030101010101" pitchFamily="2" charset="-122"/>
                <a:ea typeface="宋体" panose="02010600030101010101" pitchFamily="2" charset="-122"/>
              </a:rPr>
              <a:t>DF</a:t>
            </a:r>
            <a:r>
              <a:rPr lang="zh-CN" altLang="en-US" sz="2400" dirty="0">
                <a:latin typeface="宋体" panose="02010600030101010101" pitchFamily="2" charset="-122"/>
                <a:ea typeface="宋体" panose="02010600030101010101" pitchFamily="2" charset="-122"/>
              </a:rPr>
              <a:t>决定。</a:t>
            </a:r>
            <a:endParaRPr lang="zh-CN" altLang="en-US" sz="2400" dirty="0">
              <a:latin typeface="宋体" panose="02010600030101010101" pitchFamily="2" charset="-122"/>
              <a:ea typeface="宋体" panose="02010600030101010101" pitchFamily="2" charset="-122"/>
            </a:endParaRPr>
          </a:p>
          <a:p>
            <a:pPr eaLnBrk="0" hangingPunct="0">
              <a:lnSpc>
                <a:spcPct val="90000"/>
              </a:lnSpc>
              <a:spcAft>
                <a:spcPct val="20000"/>
              </a:spcAft>
              <a:buFont typeface="Wingdings" panose="05000000000000000000" pitchFamily="2" charset="2"/>
            </a:pPr>
            <a:r>
              <a:rPr lang="en-US" altLang="zh-CN" sz="2400" dirty="0">
                <a:latin typeface="宋体" panose="02010600030101010101" pitchFamily="2" charset="-122"/>
                <a:ea typeface="宋体" panose="02010600030101010101" pitchFamily="2" charset="-122"/>
              </a:rPr>
              <a:t>          DF=0</a:t>
            </a:r>
            <a:endParaRPr lang="zh-CN" altLang="en-US" sz="2400" dirty="0">
              <a:latin typeface="宋体" panose="02010600030101010101" pitchFamily="2" charset="-122"/>
              <a:ea typeface="宋体" panose="02010600030101010101" pitchFamily="2" charset="-122"/>
            </a:endParaRPr>
          </a:p>
          <a:p>
            <a:pPr eaLnBrk="0" hangingPunct="0">
              <a:lnSpc>
                <a:spcPct val="90000"/>
              </a:lnSpc>
              <a:spcAft>
                <a:spcPct val="20000"/>
              </a:spcAft>
              <a:buFont typeface="Wingdings" panose="05000000000000000000" pitchFamily="2" charset="2"/>
            </a:pPr>
            <a:r>
              <a:rPr lang="en-US" altLang="zh-CN" sz="2400" dirty="0">
                <a:latin typeface="宋体" panose="02010600030101010101" pitchFamily="2" charset="-122"/>
                <a:ea typeface="宋体" panose="02010600030101010101" pitchFamily="2" charset="-122"/>
              </a:rPr>
              <a:t>          DF=1</a:t>
            </a:r>
            <a:endParaRPr lang="zh-CN" altLang="en-US" sz="2400" dirty="0">
              <a:latin typeface="宋体" panose="02010600030101010101" pitchFamily="2" charset="-122"/>
              <a:ea typeface="宋体" panose="02010600030101010101" pitchFamily="2" charset="-122"/>
            </a:endParaRPr>
          </a:p>
          <a:p>
            <a:pPr eaLnBrk="0" hangingPunct="0">
              <a:lnSpc>
                <a:spcPct val="90000"/>
              </a:lnSpc>
              <a:spcBef>
                <a:spcPct val="35000"/>
              </a:spcBef>
              <a:spcAft>
                <a:spcPct val="20000"/>
              </a:spcAft>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数据块长度值由</a:t>
            </a:r>
            <a:r>
              <a:rPr lang="en-US" altLang="zh-CN" sz="2400" dirty="0">
                <a:latin typeface="宋体" panose="02010600030101010101" pitchFamily="2" charset="-122"/>
                <a:ea typeface="宋体" panose="02010600030101010101" pitchFamily="2" charset="-122"/>
              </a:rPr>
              <a:t>CX</a:t>
            </a:r>
            <a:r>
              <a:rPr lang="zh-CN" altLang="en-US" sz="2400" dirty="0">
                <a:latin typeface="宋体" panose="02010600030101010101" pitchFamily="2" charset="-122"/>
                <a:ea typeface="宋体" panose="02010600030101010101" pitchFamily="2" charset="-122"/>
              </a:rPr>
              <a:t>指定</a:t>
            </a:r>
            <a:endParaRPr lang="zh-CN" altLang="en-US" sz="2400" dirty="0">
              <a:latin typeface="宋体" panose="02010600030101010101" pitchFamily="2" charset="-122"/>
              <a:ea typeface="宋体" panose="02010600030101010101" pitchFamily="2" charset="-122"/>
            </a:endParaRPr>
          </a:p>
          <a:p>
            <a:pPr eaLnBrk="0" hangingPunct="0">
              <a:lnSpc>
                <a:spcPct val="90000"/>
              </a:lnSpc>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可增加自动重复前缀以实现自动修改</a:t>
            </a:r>
            <a:r>
              <a:rPr lang="en-US" altLang="zh-CN" sz="2400" dirty="0">
                <a:latin typeface="宋体" panose="02010600030101010101" pitchFamily="2" charset="-122"/>
                <a:ea typeface="宋体" panose="02010600030101010101" pitchFamily="2" charset="-122"/>
              </a:rPr>
              <a:t>CX</a:t>
            </a:r>
            <a:r>
              <a:rPr lang="zh-CN" altLang="en-US" sz="2400" dirty="0">
                <a:latin typeface="宋体" panose="02010600030101010101" pitchFamily="2" charset="-122"/>
                <a:ea typeface="宋体" panose="02010600030101010101" pitchFamily="2" charset="-122"/>
              </a:rPr>
              <a:t>内容。</a:t>
            </a:r>
            <a:endParaRPr lang="zh-CN" altLang="en-US" sz="2400" dirty="0">
              <a:latin typeface="宋体" panose="02010600030101010101" pitchFamily="2" charset="-122"/>
              <a:ea typeface="宋体" panose="02010600030101010101" pitchFamily="2" charset="-122"/>
            </a:endParaRPr>
          </a:p>
          <a:p>
            <a:pPr eaLnBrk="0" hangingPunct="0">
              <a:spcBef>
                <a:spcPct val="30000"/>
              </a:spcBef>
              <a:spcAft>
                <a:spcPct val="30000"/>
              </a:spcAft>
              <a:buFont typeface="Wingdings" panose="05000000000000000000" pitchFamily="2" charset="2"/>
              <a:buChar char="Ø"/>
            </a:pPr>
            <a:endParaRPr lang="zh-CN" altLang="en-US" sz="2400" dirty="0">
              <a:latin typeface="Arial" panose="020B0604020202020204" pitchFamily="34" charset="0"/>
              <a:ea typeface="宋体" panose="02010600030101010101" pitchFamily="2" charset="-122"/>
            </a:endParaRPr>
          </a:p>
        </p:txBody>
      </p:sp>
      <p:sp>
        <p:nvSpPr>
          <p:cNvPr id="124932" name="Text Box 6"/>
          <p:cNvSpPr txBox="1"/>
          <p:nvPr/>
        </p:nvSpPr>
        <p:spPr>
          <a:xfrm>
            <a:off x="3527425" y="3835400"/>
            <a:ext cx="2232025"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dirty="0">
                <a:solidFill>
                  <a:schemeClr val="tx2"/>
                </a:solidFill>
                <a:latin typeface="Times New Roman" panose="02020603050405020304" pitchFamily="18" charset="0"/>
                <a:ea typeface="宋体" panose="02010600030101010101" pitchFamily="2" charset="-122"/>
              </a:rPr>
              <a:t>增地址方向</a:t>
            </a:r>
            <a:endParaRPr lang="zh-CN" altLang="en-US" sz="2400" dirty="0">
              <a:solidFill>
                <a:schemeClr val="tx2"/>
              </a:solidFill>
              <a:latin typeface="Times New Roman" panose="02020603050405020304" pitchFamily="18" charset="0"/>
              <a:ea typeface="宋体" panose="02010600030101010101" pitchFamily="2" charset="-122"/>
            </a:endParaRPr>
          </a:p>
        </p:txBody>
      </p:sp>
      <p:sp>
        <p:nvSpPr>
          <p:cNvPr id="124933" name="Text Box 7"/>
          <p:cNvSpPr txBox="1"/>
          <p:nvPr/>
        </p:nvSpPr>
        <p:spPr>
          <a:xfrm>
            <a:off x="3492500" y="4313238"/>
            <a:ext cx="2232025"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dirty="0">
                <a:solidFill>
                  <a:schemeClr val="tx2"/>
                </a:solidFill>
                <a:latin typeface="Times New Roman" panose="02020603050405020304" pitchFamily="18" charset="0"/>
                <a:ea typeface="宋体" panose="02010600030101010101" pitchFamily="2" charset="-122"/>
              </a:rPr>
              <a:t>减地址方向</a:t>
            </a:r>
            <a:endParaRPr lang="zh-CN" altLang="en-US" sz="2400" dirty="0">
              <a:solidFill>
                <a:schemeClr val="tx2"/>
              </a:solidFill>
              <a:latin typeface="Times New Roman" panose="02020603050405020304" pitchFamily="18" charset="0"/>
              <a:ea typeface="宋体" panose="02010600030101010101" pitchFamily="2" charset="-122"/>
            </a:endParaRPr>
          </a:p>
        </p:txBody>
      </p:sp>
      <p:sp>
        <p:nvSpPr>
          <p:cNvPr id="124934" name="Line 4"/>
          <p:cNvSpPr/>
          <p:nvPr/>
        </p:nvSpPr>
        <p:spPr>
          <a:xfrm>
            <a:off x="2843213" y="4076700"/>
            <a:ext cx="533400" cy="0"/>
          </a:xfrm>
          <a:prstGeom prst="line">
            <a:avLst/>
          </a:prstGeom>
          <a:ln w="25400" cap="sq" cmpd="sng">
            <a:solidFill>
              <a:srgbClr val="FF6600"/>
            </a:solidFill>
            <a:prstDash val="solid"/>
            <a:headEnd type="none" w="med" len="med"/>
            <a:tailEnd type="triangle" w="lg" len="lg"/>
          </a:ln>
        </p:spPr>
      </p:sp>
      <p:sp>
        <p:nvSpPr>
          <p:cNvPr id="124935" name="Line 5"/>
          <p:cNvSpPr/>
          <p:nvPr/>
        </p:nvSpPr>
        <p:spPr>
          <a:xfrm>
            <a:off x="2843213" y="4508500"/>
            <a:ext cx="533400" cy="0"/>
          </a:xfrm>
          <a:prstGeom prst="line">
            <a:avLst/>
          </a:prstGeom>
          <a:ln w="25400" cap="sq" cmpd="sng">
            <a:solidFill>
              <a:srgbClr val="FF6600"/>
            </a:solidFill>
            <a:prstDash val="solid"/>
            <a:headEnd type="none" w="med" len="med"/>
            <a:tailEnd type="triangle" w="lg" len="lg"/>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500"/>
                                  </p:stCondLst>
                                  <p:childTnLst>
                                    <p:set>
                                      <p:cBhvr>
                                        <p:cTn id="6" dur="1" fill="hold">
                                          <p:stCondLst>
                                            <p:cond delay="0"/>
                                          </p:stCondLst>
                                        </p:cTn>
                                        <p:tgtEl>
                                          <p:spTgt spid="124932"/>
                                        </p:tgtEl>
                                        <p:attrNameLst>
                                          <p:attrName>style.visibility</p:attrName>
                                        </p:attrNameLst>
                                      </p:cBhvr>
                                      <p:to>
                                        <p:strVal val="visible"/>
                                      </p:to>
                                    </p:set>
                                    <p:animEffect transition="in" filter="strips(downRight)">
                                      <p:cBhvr>
                                        <p:cTn id="7" dur="500"/>
                                        <p:tgtEl>
                                          <p:spTgt spid="124932"/>
                                        </p:tgtEl>
                                      </p:cBhvr>
                                    </p:animEffect>
                                  </p:childTnLst>
                                </p:cTn>
                              </p:par>
                            </p:childTnLst>
                          </p:cTn>
                        </p:par>
                        <p:par>
                          <p:cTn id="8" fill="hold">
                            <p:stCondLst>
                              <p:cond delay="1000"/>
                            </p:stCondLst>
                            <p:childTnLst>
                              <p:par>
                                <p:cTn id="9" presetID="18" presetClass="entr" presetSubtype="6" fill="hold" grpId="0" nodeType="afterEffect">
                                  <p:stCondLst>
                                    <p:cond delay="500"/>
                                  </p:stCondLst>
                                  <p:childTnLst>
                                    <p:set>
                                      <p:cBhvr>
                                        <p:cTn id="10" dur="1" fill="hold">
                                          <p:stCondLst>
                                            <p:cond delay="0"/>
                                          </p:stCondLst>
                                        </p:cTn>
                                        <p:tgtEl>
                                          <p:spTgt spid="124933"/>
                                        </p:tgtEl>
                                        <p:attrNameLst>
                                          <p:attrName>style.visibility</p:attrName>
                                        </p:attrNameLst>
                                      </p:cBhvr>
                                      <p:to>
                                        <p:strVal val="visible"/>
                                      </p:to>
                                    </p:set>
                                    <p:animEffect transition="in" filter="strips(downRight)">
                                      <p:cBhvr>
                                        <p:cTn id="11" dur="500"/>
                                        <p:tgtEl>
                                          <p:spTgt spid="124933"/>
                                        </p:tgtEl>
                                      </p:cBhvr>
                                    </p:animEffect>
                                  </p:childTnLst>
                                </p:cTn>
                              </p:par>
                            </p:childTnLst>
                          </p:cTn>
                        </p:par>
                        <p:par>
                          <p:cTn id="12" fill="hold">
                            <p:stCondLst>
                              <p:cond delay="2000"/>
                            </p:stCondLst>
                            <p:childTnLst>
                              <p:par>
                                <p:cTn id="13" presetID="18" presetClass="entr" presetSubtype="6" fill="hold" nodeType="afterEffect">
                                  <p:stCondLst>
                                    <p:cond delay="0"/>
                                  </p:stCondLst>
                                  <p:childTnLst>
                                    <p:set>
                                      <p:cBhvr>
                                        <p:cTn id="14" dur="1" fill="hold">
                                          <p:stCondLst>
                                            <p:cond delay="0"/>
                                          </p:stCondLst>
                                        </p:cTn>
                                        <p:tgtEl>
                                          <p:spTgt spid="124934"/>
                                        </p:tgtEl>
                                        <p:attrNameLst>
                                          <p:attrName>style.visibility</p:attrName>
                                        </p:attrNameLst>
                                      </p:cBhvr>
                                      <p:to>
                                        <p:strVal val="visible"/>
                                      </p:to>
                                    </p:set>
                                    <p:animEffect transition="in" filter="strips(downRight)">
                                      <p:cBhvr>
                                        <p:cTn id="15" dur="500"/>
                                        <p:tgtEl>
                                          <p:spTgt spid="124934"/>
                                        </p:tgtEl>
                                      </p:cBhvr>
                                    </p:animEffect>
                                  </p:childTnLst>
                                </p:cTn>
                              </p:par>
                            </p:childTnLst>
                          </p:cTn>
                        </p:par>
                        <p:par>
                          <p:cTn id="16" fill="hold">
                            <p:stCondLst>
                              <p:cond delay="2500"/>
                            </p:stCondLst>
                            <p:childTnLst>
                              <p:par>
                                <p:cTn id="17" presetID="18" presetClass="entr" presetSubtype="6" fill="hold" nodeType="afterEffect">
                                  <p:stCondLst>
                                    <p:cond delay="0"/>
                                  </p:stCondLst>
                                  <p:childTnLst>
                                    <p:set>
                                      <p:cBhvr>
                                        <p:cTn id="18" dur="1" fill="hold">
                                          <p:stCondLst>
                                            <p:cond delay="0"/>
                                          </p:stCondLst>
                                        </p:cTn>
                                        <p:tgtEl>
                                          <p:spTgt spid="124935"/>
                                        </p:tgtEl>
                                        <p:attrNameLst>
                                          <p:attrName>style.visibility</p:attrName>
                                        </p:attrNameLst>
                                      </p:cBhvr>
                                      <p:to>
                                        <p:strVal val="visible"/>
                                      </p:to>
                                    </p:set>
                                    <p:animEffect transition="in" filter="strips(downRight)">
                                      <p:cBhvr>
                                        <p:cTn id="19" dur="500"/>
                                        <p:tgtEl>
                                          <p:spTgt spid="124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2" grpId="0"/>
      <p:bldP spid="124933"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1026"/>
          <p:cNvSpPr>
            <a:spLocks noGrp="1"/>
          </p:cNvSpPr>
          <p:nvPr>
            <p:ph type="title" idx="4294967295"/>
          </p:nvPr>
        </p:nvSpPr>
        <p:spPr>
          <a:xfrm>
            <a:off x="827088" y="1077913"/>
            <a:ext cx="2232025" cy="563562"/>
          </a:xfrm>
        </p:spPr>
        <p:txBody>
          <a:bodyPr vert="horz" wrap="square" lIns="91440" tIns="45720" rIns="91440" bIns="45720" anchor="ctr" anchorCtr="0"/>
          <a:p>
            <a:pPr marL="457200" indent="-457200">
              <a:buFont typeface="Wingdings" panose="05000000000000000000" pitchFamily="2" charset="2"/>
              <a:buChar char="Ø"/>
            </a:pPr>
            <a:r>
              <a:rPr lang="zh-CN" altLang="en-US" dirty="0">
                <a:solidFill>
                  <a:srgbClr val="000033"/>
                </a:solidFill>
                <a:ea typeface="宋体" panose="02010600030101010101" pitchFamily="2" charset="-122"/>
              </a:rPr>
              <a:t>重复前缀</a:t>
            </a:r>
            <a:endParaRPr lang="zh-CN" altLang="en-US" dirty="0">
              <a:solidFill>
                <a:srgbClr val="000033"/>
              </a:solidFill>
              <a:ea typeface="宋体" panose="02010600030101010101" pitchFamily="2" charset="-122"/>
            </a:endParaRPr>
          </a:p>
        </p:txBody>
      </p:sp>
      <p:sp>
        <p:nvSpPr>
          <p:cNvPr id="125955" name="Rectangle 1027"/>
          <p:cNvSpPr>
            <a:spLocks noGrp="1"/>
          </p:cNvSpPr>
          <p:nvPr>
            <p:ph type="body" idx="4294967295"/>
          </p:nvPr>
        </p:nvSpPr>
        <p:spPr>
          <a:xfrm>
            <a:off x="827088" y="1985963"/>
            <a:ext cx="5976937" cy="4351337"/>
          </a:xfrm>
        </p:spPr>
        <p:txBody>
          <a:bodyPr vert="horz" wrap="square" lIns="91440" tIns="45720" rIns="91440" bIns="45720" anchor="t" anchorCtr="0"/>
          <a:p>
            <a:pPr>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无条件重复</a:t>
            </a:r>
            <a:endParaRPr lang="en-US" altLang="zh-CN" sz="2400" dirty="0">
              <a:latin typeface="宋体" panose="02010600030101010101" pitchFamily="2" charset="-122"/>
              <a:ea typeface="宋体" panose="02010600030101010101" pitchFamily="2" charset="-122"/>
            </a:endParaRPr>
          </a:p>
          <a:p>
            <a:pPr lvl="1">
              <a:spcAft>
                <a:spcPct val="20000"/>
              </a:spcAft>
              <a:buFont typeface="Wingdings" panose="05000000000000000000" pitchFamily="2" charset="2"/>
              <a:buChar char="•"/>
            </a:pPr>
            <a:r>
              <a:rPr lang="en-US" altLang="zh-CN" dirty="0">
                <a:latin typeface="宋体" panose="02010600030101010101" pitchFamily="2" charset="-122"/>
                <a:ea typeface="宋体" panose="02010600030101010101" pitchFamily="2" charset="-122"/>
              </a:rPr>
              <a:t>REP</a:t>
            </a:r>
            <a:endParaRPr lang="zh-CN" altLang="en-US" dirty="0">
              <a:latin typeface="宋体" panose="02010600030101010101" pitchFamily="2" charset="-122"/>
              <a:ea typeface="宋体" panose="02010600030101010101" pitchFamily="2" charset="-122"/>
            </a:endParaRPr>
          </a:p>
          <a:p>
            <a:pPr>
              <a:lnSpc>
                <a:spcPct val="115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条件重复</a:t>
            </a:r>
            <a:endParaRPr lang="en-US" altLang="zh-CN" sz="2400" dirty="0">
              <a:latin typeface="宋体" panose="02010600030101010101" pitchFamily="2" charset="-122"/>
              <a:ea typeface="宋体" panose="02010600030101010101" pitchFamily="2" charset="-122"/>
            </a:endParaRPr>
          </a:p>
          <a:p>
            <a:pPr lvl="1">
              <a:lnSpc>
                <a:spcPct val="115000"/>
              </a:lnSpc>
            </a:pPr>
            <a:r>
              <a:rPr lang="en-US" altLang="zh-CN" dirty="0">
                <a:latin typeface="宋体" panose="02010600030101010101" pitchFamily="2" charset="-122"/>
                <a:ea typeface="宋体" panose="02010600030101010101" pitchFamily="2" charset="-122"/>
              </a:rPr>
              <a:t>REPE     </a:t>
            </a:r>
            <a:r>
              <a:rPr lang="zh-CN" altLang="en-US" dirty="0">
                <a:latin typeface="宋体" panose="02010600030101010101" pitchFamily="2" charset="-122"/>
                <a:ea typeface="宋体" panose="02010600030101010101" pitchFamily="2" charset="-122"/>
              </a:rPr>
              <a:t>相等重复</a:t>
            </a:r>
            <a:endParaRPr lang="en-US" altLang="zh-CN" dirty="0">
              <a:latin typeface="宋体" panose="02010600030101010101" pitchFamily="2" charset="-122"/>
              <a:ea typeface="宋体" panose="02010600030101010101" pitchFamily="2" charset="-122"/>
            </a:endParaRPr>
          </a:p>
          <a:p>
            <a:pPr lvl="1">
              <a:lnSpc>
                <a:spcPct val="115000"/>
              </a:lnSpc>
            </a:pPr>
            <a:r>
              <a:rPr lang="en-US" altLang="zh-CN" dirty="0">
                <a:latin typeface="宋体" panose="02010600030101010101" pitchFamily="2" charset="-122"/>
                <a:ea typeface="宋体" panose="02010600030101010101" pitchFamily="2" charset="-122"/>
              </a:rPr>
              <a:t>REPZ     </a:t>
            </a:r>
            <a:r>
              <a:rPr lang="zh-CN" altLang="en-US" dirty="0">
                <a:latin typeface="宋体" panose="02010600030101010101" pitchFamily="2" charset="-122"/>
                <a:ea typeface="宋体" panose="02010600030101010101" pitchFamily="2" charset="-122"/>
              </a:rPr>
              <a:t>为零重复</a:t>
            </a:r>
            <a:endParaRPr lang="zh-CN" altLang="en-US" dirty="0">
              <a:latin typeface="宋体" panose="02010600030101010101" pitchFamily="2" charset="-122"/>
              <a:ea typeface="宋体" panose="02010600030101010101" pitchFamily="2" charset="-122"/>
            </a:endParaRPr>
          </a:p>
          <a:p>
            <a:pPr lvl="1">
              <a:lnSpc>
                <a:spcPct val="115000"/>
              </a:lnSpc>
              <a:spcBef>
                <a:spcPct val="35000"/>
              </a:spcBef>
            </a:pPr>
            <a:r>
              <a:rPr lang="en-US" altLang="zh-CN" dirty="0">
                <a:latin typeface="宋体" panose="02010600030101010101" pitchFamily="2" charset="-122"/>
                <a:ea typeface="宋体" panose="02010600030101010101" pitchFamily="2" charset="-122"/>
              </a:rPr>
              <a:t>REPNE  </a:t>
            </a:r>
            <a:r>
              <a:rPr lang="zh-CN" altLang="en-US" dirty="0">
                <a:latin typeface="宋体" panose="02010600030101010101" pitchFamily="2" charset="-122"/>
                <a:ea typeface="宋体" panose="02010600030101010101" pitchFamily="2" charset="-122"/>
              </a:rPr>
              <a:t>不相等重复</a:t>
            </a:r>
            <a:endParaRPr lang="zh-CN" altLang="en-US" dirty="0">
              <a:latin typeface="宋体" panose="02010600030101010101" pitchFamily="2" charset="-122"/>
              <a:ea typeface="宋体" panose="02010600030101010101" pitchFamily="2" charset="-122"/>
            </a:endParaRPr>
          </a:p>
          <a:p>
            <a:pPr lvl="1">
              <a:lnSpc>
                <a:spcPct val="115000"/>
              </a:lnSpc>
            </a:pPr>
            <a:r>
              <a:rPr lang="en-US" altLang="zh-CN" dirty="0">
                <a:latin typeface="宋体" panose="02010600030101010101" pitchFamily="2" charset="-122"/>
                <a:ea typeface="宋体" panose="02010600030101010101" pitchFamily="2" charset="-122"/>
              </a:rPr>
              <a:t>REPNZ  </a:t>
            </a:r>
            <a:r>
              <a:rPr lang="zh-CN" altLang="en-US" dirty="0">
                <a:latin typeface="宋体" panose="02010600030101010101" pitchFamily="2" charset="-122"/>
                <a:ea typeface="宋体" panose="02010600030101010101" pitchFamily="2" charset="-122"/>
              </a:rPr>
              <a:t>不为零重复</a:t>
            </a:r>
            <a:endParaRPr lang="zh-CN" altLang="en-US" dirty="0">
              <a:latin typeface="宋体" panose="02010600030101010101" pitchFamily="2" charset="-122"/>
              <a:ea typeface="宋体" panose="02010600030101010101" pitchFamily="2" charset="-122"/>
            </a:endParaRPr>
          </a:p>
        </p:txBody>
      </p:sp>
      <p:sp>
        <p:nvSpPr>
          <p:cNvPr id="125956" name="AutoShape 1028"/>
          <p:cNvSpPr/>
          <p:nvPr/>
        </p:nvSpPr>
        <p:spPr>
          <a:xfrm>
            <a:off x="4684713" y="3529013"/>
            <a:ext cx="150812" cy="809625"/>
          </a:xfrm>
          <a:prstGeom prst="rightBrace">
            <a:avLst>
              <a:gd name="adj1" fmla="val 44389"/>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25957" name="AutoShape 1029"/>
          <p:cNvSpPr/>
          <p:nvPr/>
        </p:nvSpPr>
        <p:spPr>
          <a:xfrm>
            <a:off x="4727575" y="4691063"/>
            <a:ext cx="215900" cy="646112"/>
          </a:xfrm>
          <a:prstGeom prst="rightBrace">
            <a:avLst>
              <a:gd name="adj1" fmla="val 24744"/>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25958" name="Text Box 1032"/>
          <p:cNvSpPr txBox="1"/>
          <p:nvPr/>
        </p:nvSpPr>
        <p:spPr>
          <a:xfrm>
            <a:off x="5076825" y="3670300"/>
            <a:ext cx="2620963"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宋体" panose="02010600030101010101" pitchFamily="2" charset="-122"/>
                <a:ea typeface="宋体" panose="02010600030101010101" pitchFamily="2" charset="-122"/>
              </a:rPr>
              <a:t>CX≠0 </a:t>
            </a:r>
            <a:r>
              <a:rPr lang="zh-CN" altLang="en-US" sz="2400" b="1" dirty="0">
                <a:latin typeface="宋体" panose="02010600030101010101" pitchFamily="2" charset="-122"/>
                <a:ea typeface="宋体" panose="02010600030101010101" pitchFamily="2" charset="-122"/>
              </a:rPr>
              <a:t>且</a:t>
            </a:r>
            <a:r>
              <a:rPr lang="en-US" altLang="zh-CN" sz="2400" b="1" dirty="0">
                <a:latin typeface="宋体" panose="02010600030101010101" pitchFamily="2" charset="-122"/>
                <a:ea typeface="宋体" panose="02010600030101010101" pitchFamily="2" charset="-122"/>
              </a:rPr>
              <a:t> ZF=1</a:t>
            </a:r>
            <a:endParaRPr lang="en-US" altLang="zh-CN" sz="2400" b="1" dirty="0">
              <a:latin typeface="宋体" panose="02010600030101010101" pitchFamily="2" charset="-122"/>
              <a:ea typeface="宋体" panose="02010600030101010101" pitchFamily="2" charset="-122"/>
            </a:endParaRPr>
          </a:p>
        </p:txBody>
      </p:sp>
      <p:sp>
        <p:nvSpPr>
          <p:cNvPr id="125959" name="Text Box 1033"/>
          <p:cNvSpPr txBox="1"/>
          <p:nvPr/>
        </p:nvSpPr>
        <p:spPr>
          <a:xfrm>
            <a:off x="5059363" y="4724400"/>
            <a:ext cx="26543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宋体" panose="02010600030101010101" pitchFamily="2" charset="-122"/>
                <a:ea typeface="宋体" panose="02010600030101010101" pitchFamily="2" charset="-122"/>
              </a:rPr>
              <a:t>CX≠0 </a:t>
            </a:r>
            <a:r>
              <a:rPr lang="zh-CN" altLang="en-US" sz="2400" b="1" dirty="0">
                <a:latin typeface="宋体" panose="02010600030101010101" pitchFamily="2" charset="-122"/>
                <a:ea typeface="宋体" panose="02010600030101010101" pitchFamily="2" charset="-122"/>
              </a:rPr>
              <a:t>且</a:t>
            </a:r>
            <a:r>
              <a:rPr lang="en-US" altLang="zh-CN" sz="2400" b="1" dirty="0">
                <a:latin typeface="宋体" panose="02010600030101010101" pitchFamily="2" charset="-122"/>
                <a:ea typeface="宋体" panose="02010600030101010101" pitchFamily="2" charset="-122"/>
              </a:rPr>
              <a:t> ZF=0</a:t>
            </a:r>
            <a:endParaRPr lang="en-US" altLang="zh-CN" sz="2400" b="1" dirty="0">
              <a:latin typeface="宋体" panose="02010600030101010101" pitchFamily="2" charset="-122"/>
              <a:ea typeface="宋体" panose="02010600030101010101" pitchFamily="2" charset="-122"/>
            </a:endParaRPr>
          </a:p>
        </p:txBody>
      </p:sp>
      <p:sp>
        <p:nvSpPr>
          <p:cNvPr id="125960" name="Text Box 1034"/>
          <p:cNvSpPr txBox="1"/>
          <p:nvPr/>
        </p:nvSpPr>
        <p:spPr>
          <a:xfrm>
            <a:off x="3692525" y="2474913"/>
            <a:ext cx="22860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CX≠0  </a:t>
            </a:r>
            <a:r>
              <a:rPr lang="zh-CN" altLang="en-US" sz="2400" b="1" dirty="0">
                <a:latin typeface="Times New Roman" panose="02020603050405020304" pitchFamily="18" charset="0"/>
                <a:ea typeface="宋体" panose="02010600030101010101" pitchFamily="2" charset="-122"/>
              </a:rPr>
              <a:t>重复</a:t>
            </a:r>
            <a:endParaRPr lang="zh-CN" altLang="en-US" sz="2400" b="1" dirty="0">
              <a:latin typeface="Times New Roman" panose="02020603050405020304" pitchFamily="18" charset="0"/>
              <a:ea typeface="宋体" panose="02010600030101010101" pitchFamily="2" charset="-122"/>
            </a:endParaRPr>
          </a:p>
        </p:txBody>
      </p:sp>
      <p:sp>
        <p:nvSpPr>
          <p:cNvPr id="125961" name="Line 1035"/>
          <p:cNvSpPr/>
          <p:nvPr/>
        </p:nvSpPr>
        <p:spPr>
          <a:xfrm>
            <a:off x="2771775" y="2708275"/>
            <a:ext cx="762000" cy="0"/>
          </a:xfrm>
          <a:prstGeom prst="line">
            <a:avLst/>
          </a:prstGeom>
          <a:ln w="25400" cap="sq" cmpd="sng">
            <a:solidFill>
              <a:srgbClr val="FF6600"/>
            </a:solidFill>
            <a:prstDash val="solid"/>
            <a:headEnd type="none" w="med" len="med"/>
            <a:tailEnd type="triangle" w="lg" len="lg"/>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25955">
                                            <p:txEl>
                                              <p:charRg st="0" end="6"/>
                                            </p:txEl>
                                          </p:spTgt>
                                        </p:tgtEl>
                                        <p:attrNameLst>
                                          <p:attrName>style.visibility</p:attrName>
                                        </p:attrNameLst>
                                      </p:cBhvr>
                                      <p:to>
                                        <p:strVal val="visible"/>
                                      </p:to>
                                    </p:set>
                                    <p:animEffect transition="in" filter="strips(downRight)">
                                      <p:cBhvr>
                                        <p:cTn id="7" dur="500"/>
                                        <p:tgtEl>
                                          <p:spTgt spid="125955">
                                            <p:txEl>
                                              <p:charRg st="0" end="6"/>
                                            </p:txEl>
                                          </p:spTgt>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125955">
                                            <p:txEl>
                                              <p:charRg st="6" end="10"/>
                                            </p:txEl>
                                          </p:spTgt>
                                        </p:tgtEl>
                                        <p:attrNameLst>
                                          <p:attrName>style.visibility</p:attrName>
                                        </p:attrNameLst>
                                      </p:cBhvr>
                                      <p:to>
                                        <p:strVal val="visible"/>
                                      </p:to>
                                    </p:set>
                                    <p:animEffect transition="in" filter="strips(downRight)">
                                      <p:cBhvr>
                                        <p:cTn id="11" dur="500"/>
                                        <p:tgtEl>
                                          <p:spTgt spid="125955">
                                            <p:txEl>
                                              <p:charRg st="6" end="1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6" fill="hold" nodeType="clickEffect">
                                  <p:stCondLst>
                                    <p:cond delay="0"/>
                                  </p:stCondLst>
                                  <p:childTnLst>
                                    <p:set>
                                      <p:cBhvr>
                                        <p:cTn id="15" dur="1" fill="hold">
                                          <p:stCondLst>
                                            <p:cond delay="0"/>
                                          </p:stCondLst>
                                        </p:cTn>
                                        <p:tgtEl>
                                          <p:spTgt spid="125961"/>
                                        </p:tgtEl>
                                        <p:attrNameLst>
                                          <p:attrName>style.visibility</p:attrName>
                                        </p:attrNameLst>
                                      </p:cBhvr>
                                      <p:to>
                                        <p:strVal val="visible"/>
                                      </p:to>
                                    </p:set>
                                    <p:animEffect transition="in" filter="strips(downRight)">
                                      <p:cBhvr>
                                        <p:cTn id="16" dur="500"/>
                                        <p:tgtEl>
                                          <p:spTgt spid="125961"/>
                                        </p:tgtEl>
                                      </p:cBhvr>
                                    </p:animEffect>
                                  </p:childTnLst>
                                </p:cTn>
                              </p:par>
                            </p:childTnLst>
                          </p:cTn>
                        </p:par>
                        <p:par>
                          <p:cTn id="17" fill="hold">
                            <p:stCondLst>
                              <p:cond delay="500"/>
                            </p:stCondLst>
                            <p:childTnLst>
                              <p:par>
                                <p:cTn id="18" presetID="18" presetClass="entr" presetSubtype="6" fill="hold" grpId="0" nodeType="afterEffect">
                                  <p:stCondLst>
                                    <p:cond delay="0"/>
                                  </p:stCondLst>
                                  <p:childTnLst>
                                    <p:set>
                                      <p:cBhvr>
                                        <p:cTn id="19" dur="1" fill="hold">
                                          <p:stCondLst>
                                            <p:cond delay="0"/>
                                          </p:stCondLst>
                                        </p:cTn>
                                        <p:tgtEl>
                                          <p:spTgt spid="125960"/>
                                        </p:tgtEl>
                                        <p:attrNameLst>
                                          <p:attrName>style.visibility</p:attrName>
                                        </p:attrNameLst>
                                      </p:cBhvr>
                                      <p:to>
                                        <p:strVal val="visible"/>
                                      </p:to>
                                    </p:set>
                                    <p:animEffect transition="in" filter="strips(downRight)">
                                      <p:cBhvr>
                                        <p:cTn id="20" dur="500"/>
                                        <p:tgtEl>
                                          <p:spTgt spid="125960"/>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6" fill="hold" nodeType="clickEffect">
                                  <p:stCondLst>
                                    <p:cond delay="0"/>
                                  </p:stCondLst>
                                  <p:childTnLst>
                                    <p:set>
                                      <p:cBhvr>
                                        <p:cTn id="24" dur="1" fill="hold">
                                          <p:stCondLst>
                                            <p:cond delay="0"/>
                                          </p:stCondLst>
                                        </p:cTn>
                                        <p:tgtEl>
                                          <p:spTgt spid="125955">
                                            <p:txEl>
                                              <p:charRg st="10" end="15"/>
                                            </p:txEl>
                                          </p:spTgt>
                                        </p:tgtEl>
                                        <p:attrNameLst>
                                          <p:attrName>style.visibility</p:attrName>
                                        </p:attrNameLst>
                                      </p:cBhvr>
                                      <p:to>
                                        <p:strVal val="visible"/>
                                      </p:to>
                                    </p:set>
                                    <p:animEffect transition="in" filter="strips(downRight)">
                                      <p:cBhvr>
                                        <p:cTn id="25" dur="500"/>
                                        <p:tgtEl>
                                          <p:spTgt spid="125955">
                                            <p:txEl>
                                              <p:charRg st="10" end="1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nodeType="clickEffect">
                                  <p:stCondLst>
                                    <p:cond delay="0"/>
                                  </p:stCondLst>
                                  <p:childTnLst>
                                    <p:set>
                                      <p:cBhvr>
                                        <p:cTn id="29" dur="1" fill="hold">
                                          <p:stCondLst>
                                            <p:cond delay="0"/>
                                          </p:stCondLst>
                                        </p:cTn>
                                        <p:tgtEl>
                                          <p:spTgt spid="125955">
                                            <p:txEl>
                                              <p:charRg st="15" end="29"/>
                                            </p:txEl>
                                          </p:spTgt>
                                        </p:tgtEl>
                                        <p:attrNameLst>
                                          <p:attrName>style.visibility</p:attrName>
                                        </p:attrNameLst>
                                      </p:cBhvr>
                                      <p:to>
                                        <p:strVal val="visible"/>
                                      </p:to>
                                    </p:set>
                                    <p:animEffect transition="in" filter="strips(downRight)">
                                      <p:cBhvr>
                                        <p:cTn id="30" dur="500"/>
                                        <p:tgtEl>
                                          <p:spTgt spid="125955">
                                            <p:txEl>
                                              <p:charRg st="15" end="29"/>
                                            </p:txEl>
                                          </p:spTgt>
                                        </p:tgtEl>
                                      </p:cBhvr>
                                    </p:animEffect>
                                  </p:childTnLst>
                                </p:cTn>
                              </p:par>
                              <p:par>
                                <p:cTn id="31" presetID="18" presetClass="entr" presetSubtype="6" fill="hold" nodeType="withEffect">
                                  <p:stCondLst>
                                    <p:cond delay="0"/>
                                  </p:stCondLst>
                                  <p:childTnLst>
                                    <p:set>
                                      <p:cBhvr>
                                        <p:cTn id="32" dur="1" fill="hold">
                                          <p:stCondLst>
                                            <p:cond delay="0"/>
                                          </p:stCondLst>
                                        </p:cTn>
                                        <p:tgtEl>
                                          <p:spTgt spid="125955">
                                            <p:txEl>
                                              <p:charRg st="29" end="43"/>
                                            </p:txEl>
                                          </p:spTgt>
                                        </p:tgtEl>
                                        <p:attrNameLst>
                                          <p:attrName>style.visibility</p:attrName>
                                        </p:attrNameLst>
                                      </p:cBhvr>
                                      <p:to>
                                        <p:strVal val="visible"/>
                                      </p:to>
                                    </p:set>
                                    <p:animEffect transition="in" filter="strips(downRight)">
                                      <p:cBhvr>
                                        <p:cTn id="33" dur="500"/>
                                        <p:tgtEl>
                                          <p:spTgt spid="125955">
                                            <p:txEl>
                                              <p:charRg st="29" end="4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12" fill="hold" grpId="0" nodeType="clickEffect">
                                  <p:stCondLst>
                                    <p:cond delay="0"/>
                                  </p:stCondLst>
                                  <p:childTnLst>
                                    <p:set>
                                      <p:cBhvr>
                                        <p:cTn id="37" dur="1" fill="hold">
                                          <p:stCondLst>
                                            <p:cond delay="0"/>
                                          </p:stCondLst>
                                        </p:cTn>
                                        <p:tgtEl>
                                          <p:spTgt spid="125956"/>
                                        </p:tgtEl>
                                        <p:attrNameLst>
                                          <p:attrName>style.visibility</p:attrName>
                                        </p:attrNameLst>
                                      </p:cBhvr>
                                      <p:to>
                                        <p:strVal val="visible"/>
                                      </p:to>
                                    </p:set>
                                    <p:animEffect transition="in" filter="strips(downLeft)">
                                      <p:cBhvr>
                                        <p:cTn id="38" dur="500"/>
                                        <p:tgtEl>
                                          <p:spTgt spid="125956"/>
                                        </p:tgtEl>
                                      </p:cBhvr>
                                    </p:animEffect>
                                  </p:childTnLst>
                                </p:cTn>
                              </p:par>
                            </p:childTnLst>
                          </p:cTn>
                        </p:par>
                        <p:par>
                          <p:cTn id="39" fill="hold">
                            <p:stCondLst>
                              <p:cond delay="500"/>
                            </p:stCondLst>
                            <p:childTnLst>
                              <p:par>
                                <p:cTn id="40" presetID="18" presetClass="entr" presetSubtype="6" fill="hold" grpId="0" nodeType="afterEffect">
                                  <p:stCondLst>
                                    <p:cond delay="0"/>
                                  </p:stCondLst>
                                  <p:childTnLst>
                                    <p:set>
                                      <p:cBhvr>
                                        <p:cTn id="41" dur="1" fill="hold">
                                          <p:stCondLst>
                                            <p:cond delay="0"/>
                                          </p:stCondLst>
                                        </p:cTn>
                                        <p:tgtEl>
                                          <p:spTgt spid="125958"/>
                                        </p:tgtEl>
                                        <p:attrNameLst>
                                          <p:attrName>style.visibility</p:attrName>
                                        </p:attrNameLst>
                                      </p:cBhvr>
                                      <p:to>
                                        <p:strVal val="visible"/>
                                      </p:to>
                                    </p:set>
                                    <p:animEffect transition="in" filter="strips(downRight)">
                                      <p:cBhvr>
                                        <p:cTn id="42" dur="500"/>
                                        <p:tgtEl>
                                          <p:spTgt spid="125958"/>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6" fill="hold" nodeType="clickEffect">
                                  <p:stCondLst>
                                    <p:cond delay="0"/>
                                  </p:stCondLst>
                                  <p:childTnLst>
                                    <p:set>
                                      <p:cBhvr>
                                        <p:cTn id="46" dur="1" fill="hold">
                                          <p:stCondLst>
                                            <p:cond delay="0"/>
                                          </p:stCondLst>
                                        </p:cTn>
                                        <p:tgtEl>
                                          <p:spTgt spid="125955">
                                            <p:txEl>
                                              <p:charRg st="43" end="56"/>
                                            </p:txEl>
                                          </p:spTgt>
                                        </p:tgtEl>
                                        <p:attrNameLst>
                                          <p:attrName>style.visibility</p:attrName>
                                        </p:attrNameLst>
                                      </p:cBhvr>
                                      <p:to>
                                        <p:strVal val="visible"/>
                                      </p:to>
                                    </p:set>
                                    <p:animEffect transition="in" filter="strips(downRight)">
                                      <p:cBhvr>
                                        <p:cTn id="47" dur="500"/>
                                        <p:tgtEl>
                                          <p:spTgt spid="125955">
                                            <p:txEl>
                                              <p:charRg st="43" end="56"/>
                                            </p:txEl>
                                          </p:spTgt>
                                        </p:tgtEl>
                                      </p:cBhvr>
                                    </p:animEffect>
                                  </p:childTnLst>
                                </p:cTn>
                              </p:par>
                              <p:par>
                                <p:cTn id="48" presetID="18" presetClass="entr" presetSubtype="6" fill="hold" nodeType="withEffect">
                                  <p:stCondLst>
                                    <p:cond delay="0"/>
                                  </p:stCondLst>
                                  <p:childTnLst>
                                    <p:set>
                                      <p:cBhvr>
                                        <p:cTn id="49" dur="1" fill="hold">
                                          <p:stCondLst>
                                            <p:cond delay="0"/>
                                          </p:stCondLst>
                                        </p:cTn>
                                        <p:tgtEl>
                                          <p:spTgt spid="125955">
                                            <p:txEl>
                                              <p:charRg st="56" end="69"/>
                                            </p:txEl>
                                          </p:spTgt>
                                        </p:tgtEl>
                                        <p:attrNameLst>
                                          <p:attrName>style.visibility</p:attrName>
                                        </p:attrNameLst>
                                      </p:cBhvr>
                                      <p:to>
                                        <p:strVal val="visible"/>
                                      </p:to>
                                    </p:set>
                                    <p:animEffect transition="in" filter="strips(downRight)">
                                      <p:cBhvr>
                                        <p:cTn id="50" dur="500"/>
                                        <p:tgtEl>
                                          <p:spTgt spid="125955">
                                            <p:txEl>
                                              <p:charRg st="56" end="6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8" presetClass="entr" presetSubtype="12" fill="hold" grpId="0" nodeType="clickEffect">
                                  <p:stCondLst>
                                    <p:cond delay="0"/>
                                  </p:stCondLst>
                                  <p:childTnLst>
                                    <p:set>
                                      <p:cBhvr>
                                        <p:cTn id="54" dur="1" fill="hold">
                                          <p:stCondLst>
                                            <p:cond delay="0"/>
                                          </p:stCondLst>
                                        </p:cTn>
                                        <p:tgtEl>
                                          <p:spTgt spid="125957"/>
                                        </p:tgtEl>
                                        <p:attrNameLst>
                                          <p:attrName>style.visibility</p:attrName>
                                        </p:attrNameLst>
                                      </p:cBhvr>
                                      <p:to>
                                        <p:strVal val="visible"/>
                                      </p:to>
                                    </p:set>
                                    <p:animEffect transition="in" filter="strips(downLeft)">
                                      <p:cBhvr>
                                        <p:cTn id="55" dur="500"/>
                                        <p:tgtEl>
                                          <p:spTgt spid="125957"/>
                                        </p:tgtEl>
                                      </p:cBhvr>
                                    </p:animEffect>
                                  </p:childTnLst>
                                </p:cTn>
                              </p:par>
                            </p:childTnLst>
                          </p:cTn>
                        </p:par>
                        <p:par>
                          <p:cTn id="56" fill="hold">
                            <p:stCondLst>
                              <p:cond delay="500"/>
                            </p:stCondLst>
                            <p:childTnLst>
                              <p:par>
                                <p:cTn id="57" presetID="18" presetClass="entr" presetSubtype="6" fill="hold" grpId="0" nodeType="afterEffect">
                                  <p:stCondLst>
                                    <p:cond delay="0"/>
                                  </p:stCondLst>
                                  <p:childTnLst>
                                    <p:set>
                                      <p:cBhvr>
                                        <p:cTn id="58" dur="1" fill="hold">
                                          <p:stCondLst>
                                            <p:cond delay="0"/>
                                          </p:stCondLst>
                                        </p:cTn>
                                        <p:tgtEl>
                                          <p:spTgt spid="125959"/>
                                        </p:tgtEl>
                                        <p:attrNameLst>
                                          <p:attrName>style.visibility</p:attrName>
                                        </p:attrNameLst>
                                      </p:cBhvr>
                                      <p:to>
                                        <p:strVal val="visible"/>
                                      </p:to>
                                    </p:set>
                                    <p:animEffect transition="in" filter="strips(downRight)">
                                      <p:cBhvr>
                                        <p:cTn id="59" dur="500"/>
                                        <p:tgtEl>
                                          <p:spTgt spid="125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6" grpId="0" animBg="1"/>
      <p:bldP spid="125957" grpId="0" animBg="1"/>
      <p:bldP spid="125958" grpId="0"/>
      <p:bldP spid="125959" grpId="0"/>
      <p:bldP spid="125960"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AutoShape 2"/>
          <p:cNvSpPr/>
          <p:nvPr/>
        </p:nvSpPr>
        <p:spPr>
          <a:xfrm>
            <a:off x="4419600" y="5589588"/>
            <a:ext cx="3124200" cy="838200"/>
          </a:xfrm>
          <a:prstGeom prst="flowChartDecision">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24931" name="Rectangle 3"/>
          <p:cNvSpPr>
            <a:spLocks noGrp="1"/>
          </p:cNvSpPr>
          <p:nvPr>
            <p:ph type="title" idx="4294967295"/>
          </p:nvPr>
        </p:nvSpPr>
        <p:spPr>
          <a:xfrm>
            <a:off x="590550" y="1006475"/>
            <a:ext cx="6553200" cy="563563"/>
          </a:xfrm>
        </p:spPr>
        <p:txBody>
          <a:bodyPr vert="horz" wrap="square" lIns="91440" tIns="45720" rIns="91440" bIns="45720" anchor="ctr" anchorCtr="0"/>
          <a:p>
            <a:pPr marL="457200" indent="-457200">
              <a:buFont typeface="Wingdings" panose="05000000000000000000" pitchFamily="2" charset="2"/>
              <a:buChar char="Ø"/>
            </a:pPr>
            <a:r>
              <a:rPr lang="zh-CN" altLang="en-US" dirty="0">
                <a:solidFill>
                  <a:srgbClr val="000033"/>
                </a:solidFill>
                <a:latin typeface="宋体" panose="02010600030101010101" pitchFamily="2" charset="-122"/>
                <a:ea typeface="宋体" panose="02010600030101010101" pitchFamily="2" charset="-122"/>
              </a:rPr>
              <a:t>串操作指令流程</a:t>
            </a:r>
            <a:r>
              <a:rPr lang="en-US" altLang="zh-CN" dirty="0">
                <a:solidFill>
                  <a:srgbClr val="000033"/>
                </a:solidFill>
                <a:latin typeface="宋体" panose="02010600030101010101" pitchFamily="2" charset="-122"/>
                <a:ea typeface="宋体" panose="02010600030101010101" pitchFamily="2" charset="-122"/>
              </a:rPr>
              <a:t>(</a:t>
            </a:r>
            <a:r>
              <a:rPr lang="zh-CN" altLang="en-US" dirty="0">
                <a:solidFill>
                  <a:srgbClr val="000033"/>
                </a:solidFill>
                <a:latin typeface="宋体" panose="02010600030101010101" pitchFamily="2" charset="-122"/>
                <a:ea typeface="宋体" panose="02010600030101010101" pitchFamily="2" charset="-122"/>
              </a:rPr>
              <a:t>以传送操作为例</a:t>
            </a:r>
            <a:r>
              <a:rPr lang="en-US" altLang="zh-CN" dirty="0">
                <a:solidFill>
                  <a:srgbClr val="000033"/>
                </a:solidFill>
                <a:latin typeface="宋体" panose="02010600030101010101" pitchFamily="2" charset="-122"/>
                <a:ea typeface="宋体" panose="02010600030101010101" pitchFamily="2" charset="-122"/>
              </a:rPr>
              <a:t>)</a:t>
            </a:r>
            <a:endParaRPr lang="en-US" altLang="zh-CN" dirty="0">
              <a:solidFill>
                <a:srgbClr val="000033"/>
              </a:solidFill>
              <a:latin typeface="宋体" panose="02010600030101010101" pitchFamily="2" charset="-122"/>
              <a:ea typeface="宋体" panose="02010600030101010101" pitchFamily="2" charset="-122"/>
            </a:endParaRPr>
          </a:p>
        </p:txBody>
      </p:sp>
      <p:sp>
        <p:nvSpPr>
          <p:cNvPr id="126980" name="Rectangle 4"/>
          <p:cNvSpPr/>
          <p:nvPr/>
        </p:nvSpPr>
        <p:spPr>
          <a:xfrm>
            <a:off x="1066800" y="2173288"/>
            <a:ext cx="2209800" cy="609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26981" name="Rectangle 5"/>
          <p:cNvSpPr/>
          <p:nvPr/>
        </p:nvSpPr>
        <p:spPr>
          <a:xfrm>
            <a:off x="1066800" y="3316288"/>
            <a:ext cx="2209800" cy="609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26982" name="Text Box 6"/>
          <p:cNvSpPr txBox="1"/>
          <p:nvPr/>
        </p:nvSpPr>
        <p:spPr>
          <a:xfrm>
            <a:off x="1295400" y="2249488"/>
            <a:ext cx="19050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solidFill>
                  <a:schemeClr val="bg1"/>
                </a:solidFill>
                <a:latin typeface="Times New Roman" panose="02020603050405020304" pitchFamily="18" charset="0"/>
                <a:ea typeface="宋体" panose="02010600030101010101" pitchFamily="2" charset="-122"/>
              </a:rPr>
              <a:t>取源串地址</a:t>
            </a:r>
            <a:endParaRPr lang="zh-CN" altLang="en-US" sz="2000" b="1" dirty="0">
              <a:solidFill>
                <a:schemeClr val="bg1"/>
              </a:solidFill>
              <a:latin typeface="Times New Roman" panose="02020603050405020304" pitchFamily="18" charset="0"/>
              <a:ea typeface="宋体" panose="02010600030101010101" pitchFamily="2" charset="-122"/>
            </a:endParaRPr>
          </a:p>
        </p:txBody>
      </p:sp>
      <p:sp>
        <p:nvSpPr>
          <p:cNvPr id="126983" name="Text Box 7"/>
          <p:cNvSpPr txBox="1"/>
          <p:nvPr/>
        </p:nvSpPr>
        <p:spPr>
          <a:xfrm>
            <a:off x="1219200" y="3392488"/>
            <a:ext cx="2209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solidFill>
                  <a:schemeClr val="bg1"/>
                </a:solidFill>
                <a:latin typeface="Times New Roman" panose="02020603050405020304" pitchFamily="18" charset="0"/>
                <a:ea typeface="宋体" panose="02010600030101010101" pitchFamily="2" charset="-122"/>
              </a:rPr>
              <a:t>取目标串地址</a:t>
            </a:r>
            <a:endParaRPr lang="zh-CN" altLang="en-US" sz="2000" b="1" dirty="0">
              <a:solidFill>
                <a:schemeClr val="bg1"/>
              </a:solidFill>
              <a:latin typeface="Times New Roman" panose="02020603050405020304" pitchFamily="18" charset="0"/>
              <a:ea typeface="宋体" panose="02010600030101010101" pitchFamily="2" charset="-122"/>
            </a:endParaRPr>
          </a:p>
        </p:txBody>
      </p:sp>
      <p:sp>
        <p:nvSpPr>
          <p:cNvPr id="126984" name="Rectangle 8"/>
          <p:cNvSpPr/>
          <p:nvPr/>
        </p:nvSpPr>
        <p:spPr>
          <a:xfrm>
            <a:off x="1066800" y="4459288"/>
            <a:ext cx="2209800" cy="609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26985" name="Text Box 9"/>
          <p:cNvSpPr txBox="1"/>
          <p:nvPr/>
        </p:nvSpPr>
        <p:spPr>
          <a:xfrm>
            <a:off x="1371600" y="4535488"/>
            <a:ext cx="19050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solidFill>
                  <a:schemeClr val="bg1"/>
                </a:solidFill>
                <a:latin typeface="Times New Roman" panose="02020603050405020304" pitchFamily="18" charset="0"/>
                <a:ea typeface="宋体" panose="02010600030101010101" pitchFamily="2" charset="-122"/>
              </a:rPr>
              <a:t>设串长度</a:t>
            </a:r>
            <a:endParaRPr lang="zh-CN" altLang="en-US" sz="2000" b="1" dirty="0">
              <a:solidFill>
                <a:schemeClr val="bg1"/>
              </a:solidFill>
              <a:latin typeface="Times New Roman" panose="02020603050405020304" pitchFamily="18" charset="0"/>
              <a:ea typeface="宋体" panose="02010600030101010101" pitchFamily="2" charset="-122"/>
            </a:endParaRPr>
          </a:p>
        </p:txBody>
      </p:sp>
      <p:sp>
        <p:nvSpPr>
          <p:cNvPr id="126986" name="Rectangle 10"/>
          <p:cNvSpPr/>
          <p:nvPr/>
        </p:nvSpPr>
        <p:spPr>
          <a:xfrm>
            <a:off x="4648200" y="2389188"/>
            <a:ext cx="2743200" cy="609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26987" name="Text Box 11"/>
          <p:cNvSpPr txBox="1"/>
          <p:nvPr/>
        </p:nvSpPr>
        <p:spPr>
          <a:xfrm>
            <a:off x="4724400" y="2465388"/>
            <a:ext cx="26670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solidFill>
                  <a:schemeClr val="bg1"/>
                </a:solidFill>
                <a:latin typeface="Times New Roman" panose="02020603050405020304" pitchFamily="18" charset="0"/>
                <a:ea typeface="宋体" panose="02010600030101010101" pitchFamily="2" charset="-122"/>
              </a:rPr>
              <a:t>传送一个字节或字</a:t>
            </a:r>
            <a:endParaRPr lang="zh-CN" altLang="en-US" sz="2000" b="1" dirty="0">
              <a:solidFill>
                <a:schemeClr val="bg1"/>
              </a:solidFill>
              <a:latin typeface="Times New Roman" panose="02020603050405020304" pitchFamily="18" charset="0"/>
              <a:ea typeface="宋体" panose="02010600030101010101" pitchFamily="2" charset="-122"/>
            </a:endParaRPr>
          </a:p>
        </p:txBody>
      </p:sp>
      <p:sp>
        <p:nvSpPr>
          <p:cNvPr id="126988" name="Rectangle 12"/>
          <p:cNvSpPr/>
          <p:nvPr/>
        </p:nvSpPr>
        <p:spPr>
          <a:xfrm>
            <a:off x="4648200" y="3455988"/>
            <a:ext cx="2743200" cy="609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26989" name="Text Box 13"/>
          <p:cNvSpPr txBox="1"/>
          <p:nvPr/>
        </p:nvSpPr>
        <p:spPr>
          <a:xfrm>
            <a:off x="4953000" y="3532188"/>
            <a:ext cx="21336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solidFill>
                  <a:schemeClr val="bg1"/>
                </a:solidFill>
                <a:latin typeface="Times New Roman" panose="02020603050405020304" pitchFamily="18" charset="0"/>
                <a:ea typeface="宋体" panose="02010600030101010101" pitchFamily="2" charset="-122"/>
              </a:rPr>
              <a:t>修改地址指针</a:t>
            </a:r>
            <a:endParaRPr lang="zh-CN" altLang="en-US" sz="2000" b="1" dirty="0">
              <a:solidFill>
                <a:schemeClr val="bg1"/>
              </a:solidFill>
              <a:latin typeface="Times New Roman" panose="02020603050405020304" pitchFamily="18" charset="0"/>
              <a:ea typeface="宋体" panose="02010600030101010101" pitchFamily="2" charset="-122"/>
            </a:endParaRPr>
          </a:p>
        </p:txBody>
      </p:sp>
      <p:sp>
        <p:nvSpPr>
          <p:cNvPr id="126990" name="Rectangle 14"/>
          <p:cNvSpPr/>
          <p:nvPr/>
        </p:nvSpPr>
        <p:spPr>
          <a:xfrm>
            <a:off x="4648200" y="4522788"/>
            <a:ext cx="2743200" cy="609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26991" name="Text Box 15"/>
          <p:cNvSpPr txBox="1"/>
          <p:nvPr/>
        </p:nvSpPr>
        <p:spPr>
          <a:xfrm>
            <a:off x="4953000" y="4598988"/>
            <a:ext cx="21336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solidFill>
                  <a:schemeClr val="bg1"/>
                </a:solidFill>
                <a:latin typeface="Times New Roman" panose="02020603050405020304" pitchFamily="18" charset="0"/>
                <a:ea typeface="宋体" panose="02010600030101010101" pitchFamily="2" charset="-122"/>
              </a:rPr>
              <a:t>修改串长度值</a:t>
            </a:r>
            <a:endParaRPr lang="zh-CN" altLang="en-US" sz="2000" b="1" dirty="0">
              <a:solidFill>
                <a:schemeClr val="bg1"/>
              </a:solidFill>
              <a:latin typeface="Times New Roman" panose="02020603050405020304" pitchFamily="18" charset="0"/>
              <a:ea typeface="宋体" panose="02010600030101010101" pitchFamily="2" charset="-122"/>
            </a:endParaRPr>
          </a:p>
        </p:txBody>
      </p:sp>
      <p:sp>
        <p:nvSpPr>
          <p:cNvPr id="126992" name="Text Box 16"/>
          <p:cNvSpPr txBox="1"/>
          <p:nvPr/>
        </p:nvSpPr>
        <p:spPr>
          <a:xfrm>
            <a:off x="5214938" y="5789613"/>
            <a:ext cx="19050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solidFill>
                  <a:schemeClr val="bg1"/>
                </a:solidFill>
                <a:latin typeface="Times New Roman" panose="02020603050405020304" pitchFamily="18" charset="0"/>
                <a:ea typeface="宋体" panose="02010600030101010101" pitchFamily="2" charset="-122"/>
              </a:rPr>
              <a:t>传送完否？</a:t>
            </a:r>
            <a:endParaRPr lang="zh-CN" altLang="en-US" sz="2000" b="1" dirty="0">
              <a:solidFill>
                <a:schemeClr val="bg1"/>
              </a:solidFill>
              <a:latin typeface="Times New Roman" panose="02020603050405020304" pitchFamily="18" charset="0"/>
              <a:ea typeface="宋体" panose="02010600030101010101" pitchFamily="2" charset="-122"/>
            </a:endParaRPr>
          </a:p>
        </p:txBody>
      </p:sp>
      <p:sp>
        <p:nvSpPr>
          <p:cNvPr id="126993" name="Line 17"/>
          <p:cNvSpPr/>
          <p:nvPr/>
        </p:nvSpPr>
        <p:spPr>
          <a:xfrm>
            <a:off x="5943600" y="1931988"/>
            <a:ext cx="0" cy="457200"/>
          </a:xfrm>
          <a:prstGeom prst="line">
            <a:avLst/>
          </a:prstGeom>
          <a:ln w="25400" cap="sq" cmpd="sng">
            <a:solidFill>
              <a:srgbClr val="FF6600"/>
            </a:solidFill>
            <a:prstDash val="solid"/>
            <a:headEnd type="none" w="med" len="med"/>
            <a:tailEnd type="triangle" w="lg" len="lg"/>
          </a:ln>
        </p:spPr>
      </p:sp>
      <p:sp>
        <p:nvSpPr>
          <p:cNvPr id="126994" name="Line 18"/>
          <p:cNvSpPr/>
          <p:nvPr/>
        </p:nvSpPr>
        <p:spPr>
          <a:xfrm>
            <a:off x="5943600" y="2998788"/>
            <a:ext cx="0" cy="457200"/>
          </a:xfrm>
          <a:prstGeom prst="line">
            <a:avLst/>
          </a:prstGeom>
          <a:ln w="25400" cap="sq" cmpd="sng">
            <a:solidFill>
              <a:srgbClr val="FF6600"/>
            </a:solidFill>
            <a:prstDash val="solid"/>
            <a:headEnd type="none" w="med" len="med"/>
            <a:tailEnd type="triangle" w="lg" len="lg"/>
          </a:ln>
        </p:spPr>
      </p:sp>
      <p:sp>
        <p:nvSpPr>
          <p:cNvPr id="126995" name="Line 19"/>
          <p:cNvSpPr/>
          <p:nvPr/>
        </p:nvSpPr>
        <p:spPr>
          <a:xfrm>
            <a:off x="5943600" y="4065588"/>
            <a:ext cx="0" cy="457200"/>
          </a:xfrm>
          <a:prstGeom prst="line">
            <a:avLst/>
          </a:prstGeom>
          <a:ln w="25400" cap="sq" cmpd="sng">
            <a:solidFill>
              <a:srgbClr val="FF6600"/>
            </a:solidFill>
            <a:prstDash val="solid"/>
            <a:headEnd type="none" w="med" len="med"/>
            <a:tailEnd type="triangle" w="lg" len="lg"/>
          </a:ln>
        </p:spPr>
      </p:sp>
      <p:sp>
        <p:nvSpPr>
          <p:cNvPr id="126996" name="Line 20"/>
          <p:cNvSpPr/>
          <p:nvPr/>
        </p:nvSpPr>
        <p:spPr>
          <a:xfrm>
            <a:off x="5943600" y="5132388"/>
            <a:ext cx="0" cy="457200"/>
          </a:xfrm>
          <a:prstGeom prst="line">
            <a:avLst/>
          </a:prstGeom>
          <a:ln w="25400" cap="sq" cmpd="sng">
            <a:solidFill>
              <a:srgbClr val="FF6600"/>
            </a:solidFill>
            <a:prstDash val="solid"/>
            <a:headEnd type="none" w="med" len="med"/>
            <a:tailEnd type="triangle" w="lg" len="lg"/>
          </a:ln>
        </p:spPr>
      </p:sp>
      <p:sp>
        <p:nvSpPr>
          <p:cNvPr id="126997" name="Line 21"/>
          <p:cNvSpPr/>
          <p:nvPr/>
        </p:nvSpPr>
        <p:spPr>
          <a:xfrm flipH="1">
            <a:off x="5940425" y="6427788"/>
            <a:ext cx="17463" cy="395287"/>
          </a:xfrm>
          <a:prstGeom prst="line">
            <a:avLst/>
          </a:prstGeom>
          <a:ln w="25400" cap="sq" cmpd="sng">
            <a:solidFill>
              <a:srgbClr val="FF6600"/>
            </a:solidFill>
            <a:prstDash val="solid"/>
            <a:headEnd type="none" w="med" len="med"/>
            <a:tailEnd type="triangle" w="lg" len="lg"/>
          </a:ln>
        </p:spPr>
      </p:sp>
      <p:sp>
        <p:nvSpPr>
          <p:cNvPr id="126998" name="Line 22"/>
          <p:cNvSpPr/>
          <p:nvPr/>
        </p:nvSpPr>
        <p:spPr>
          <a:xfrm>
            <a:off x="7543800" y="6018213"/>
            <a:ext cx="730250" cy="0"/>
          </a:xfrm>
          <a:prstGeom prst="line">
            <a:avLst/>
          </a:prstGeom>
          <a:ln w="25400" cap="sq" cmpd="sng">
            <a:solidFill>
              <a:srgbClr val="FF6600"/>
            </a:solidFill>
            <a:prstDash val="solid"/>
            <a:headEnd type="none" w="med" len="med"/>
            <a:tailEnd type="none" w="med" len="med"/>
          </a:ln>
        </p:spPr>
      </p:sp>
      <p:sp>
        <p:nvSpPr>
          <p:cNvPr id="126999" name="Line 23"/>
          <p:cNvSpPr/>
          <p:nvPr/>
        </p:nvSpPr>
        <p:spPr>
          <a:xfrm flipV="1">
            <a:off x="8305800" y="1931988"/>
            <a:ext cx="0" cy="4073525"/>
          </a:xfrm>
          <a:prstGeom prst="line">
            <a:avLst/>
          </a:prstGeom>
          <a:ln w="25400" cap="sq" cmpd="sng">
            <a:solidFill>
              <a:srgbClr val="FF6600"/>
            </a:solidFill>
            <a:prstDash val="solid"/>
            <a:headEnd type="none" w="med" len="med"/>
            <a:tailEnd type="none" w="med" len="med"/>
          </a:ln>
        </p:spPr>
      </p:sp>
      <p:sp>
        <p:nvSpPr>
          <p:cNvPr id="127000" name="Line 24"/>
          <p:cNvSpPr/>
          <p:nvPr/>
        </p:nvSpPr>
        <p:spPr>
          <a:xfrm flipH="1">
            <a:off x="5943600" y="1931988"/>
            <a:ext cx="2368550" cy="0"/>
          </a:xfrm>
          <a:prstGeom prst="line">
            <a:avLst/>
          </a:prstGeom>
          <a:ln w="25400" cap="sq" cmpd="sng">
            <a:solidFill>
              <a:srgbClr val="FF6600"/>
            </a:solidFill>
            <a:prstDash val="solid"/>
            <a:headEnd type="none" w="med" len="med"/>
            <a:tailEnd type="none" w="med" len="med"/>
          </a:ln>
        </p:spPr>
      </p:sp>
      <p:sp>
        <p:nvSpPr>
          <p:cNvPr id="127001" name="Line 25"/>
          <p:cNvSpPr/>
          <p:nvPr/>
        </p:nvSpPr>
        <p:spPr>
          <a:xfrm>
            <a:off x="2133600" y="2782888"/>
            <a:ext cx="0" cy="533400"/>
          </a:xfrm>
          <a:prstGeom prst="line">
            <a:avLst/>
          </a:prstGeom>
          <a:ln w="25400" cap="sq" cmpd="sng">
            <a:solidFill>
              <a:srgbClr val="FF6600"/>
            </a:solidFill>
            <a:prstDash val="solid"/>
            <a:headEnd type="none" w="med" len="med"/>
            <a:tailEnd type="triangle" w="lg" len="lg"/>
          </a:ln>
        </p:spPr>
      </p:sp>
      <p:sp>
        <p:nvSpPr>
          <p:cNvPr id="127002" name="Line 26"/>
          <p:cNvSpPr/>
          <p:nvPr/>
        </p:nvSpPr>
        <p:spPr>
          <a:xfrm>
            <a:off x="2133600" y="3925888"/>
            <a:ext cx="0" cy="533400"/>
          </a:xfrm>
          <a:prstGeom prst="line">
            <a:avLst/>
          </a:prstGeom>
          <a:ln w="25400" cap="sq" cmpd="sng">
            <a:solidFill>
              <a:srgbClr val="FF6600"/>
            </a:solidFill>
            <a:prstDash val="solid"/>
            <a:headEnd type="none" w="med" len="med"/>
            <a:tailEnd type="triangle" w="lg" len="lg"/>
          </a:ln>
        </p:spPr>
      </p:sp>
      <p:sp>
        <p:nvSpPr>
          <p:cNvPr id="127003" name="Line 27"/>
          <p:cNvSpPr/>
          <p:nvPr/>
        </p:nvSpPr>
        <p:spPr>
          <a:xfrm>
            <a:off x="2124075" y="6237288"/>
            <a:ext cx="0" cy="215900"/>
          </a:xfrm>
          <a:prstGeom prst="line">
            <a:avLst/>
          </a:prstGeom>
          <a:ln w="25400" cap="sq" cmpd="sng">
            <a:solidFill>
              <a:srgbClr val="FF6600"/>
            </a:solidFill>
            <a:prstDash val="solid"/>
            <a:headEnd type="none" w="med" len="med"/>
            <a:tailEnd type="none" w="med" len="med"/>
          </a:ln>
        </p:spPr>
      </p:sp>
      <p:sp>
        <p:nvSpPr>
          <p:cNvPr id="127004" name="Line 28"/>
          <p:cNvSpPr/>
          <p:nvPr/>
        </p:nvSpPr>
        <p:spPr>
          <a:xfrm>
            <a:off x="2133600" y="6453188"/>
            <a:ext cx="1600200" cy="0"/>
          </a:xfrm>
          <a:prstGeom prst="line">
            <a:avLst/>
          </a:prstGeom>
          <a:ln w="25400" cap="sq" cmpd="sng">
            <a:solidFill>
              <a:srgbClr val="FF6600"/>
            </a:solidFill>
            <a:prstDash val="solid"/>
            <a:headEnd type="none" w="med" len="med"/>
            <a:tailEnd type="none" w="med" len="med"/>
          </a:ln>
        </p:spPr>
      </p:sp>
      <p:sp>
        <p:nvSpPr>
          <p:cNvPr id="127005" name="Line 29"/>
          <p:cNvSpPr/>
          <p:nvPr/>
        </p:nvSpPr>
        <p:spPr>
          <a:xfrm flipV="1">
            <a:off x="3730625" y="1944688"/>
            <a:ext cx="0" cy="4508500"/>
          </a:xfrm>
          <a:prstGeom prst="line">
            <a:avLst/>
          </a:prstGeom>
          <a:ln w="25400" cap="sq" cmpd="sng">
            <a:solidFill>
              <a:srgbClr val="FF6600"/>
            </a:solidFill>
            <a:prstDash val="solid"/>
            <a:headEnd type="none" w="med" len="med"/>
            <a:tailEnd type="none" w="med" len="med"/>
          </a:ln>
        </p:spPr>
      </p:sp>
      <p:sp>
        <p:nvSpPr>
          <p:cNvPr id="127006" name="Line 30"/>
          <p:cNvSpPr/>
          <p:nvPr/>
        </p:nvSpPr>
        <p:spPr>
          <a:xfrm>
            <a:off x="3733800" y="1944688"/>
            <a:ext cx="2209800" cy="0"/>
          </a:xfrm>
          <a:prstGeom prst="line">
            <a:avLst/>
          </a:prstGeom>
          <a:ln w="25400" cap="sq" cmpd="sng">
            <a:solidFill>
              <a:srgbClr val="FF6600"/>
            </a:solidFill>
            <a:prstDash val="solid"/>
            <a:headEnd type="none" w="med" len="med"/>
            <a:tailEnd type="triangle" w="lg" len="lg"/>
          </a:ln>
        </p:spPr>
      </p:sp>
      <p:sp>
        <p:nvSpPr>
          <p:cNvPr id="127007" name="Rectangle 31"/>
          <p:cNvSpPr/>
          <p:nvPr/>
        </p:nvSpPr>
        <p:spPr>
          <a:xfrm>
            <a:off x="4267200" y="1855788"/>
            <a:ext cx="4267200" cy="4668837"/>
          </a:xfrm>
          <a:prstGeom prst="rect">
            <a:avLst/>
          </a:prstGeom>
          <a:noFill/>
          <a:ln w="19050" cap="flat" cmpd="sng">
            <a:solidFill>
              <a:schemeClr val="tx1"/>
            </a:solidFill>
            <a:prstDash val="dash"/>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27008" name="Text Box 32"/>
          <p:cNvSpPr txBox="1"/>
          <p:nvPr/>
        </p:nvSpPr>
        <p:spPr>
          <a:xfrm>
            <a:off x="7667625" y="5589588"/>
            <a:ext cx="431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N</a:t>
            </a:r>
            <a:endParaRPr lang="en-US" altLang="zh-CN" sz="2000" b="1" dirty="0">
              <a:latin typeface="Times New Roman" panose="02020603050405020304" pitchFamily="18" charset="0"/>
              <a:ea typeface="宋体" panose="02010600030101010101" pitchFamily="2" charset="-122"/>
            </a:endParaRPr>
          </a:p>
        </p:txBody>
      </p:sp>
      <p:sp>
        <p:nvSpPr>
          <p:cNvPr id="127009" name="Text Box 33"/>
          <p:cNvSpPr txBox="1"/>
          <p:nvPr/>
        </p:nvSpPr>
        <p:spPr>
          <a:xfrm>
            <a:off x="5508625" y="6337300"/>
            <a:ext cx="431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Y</a:t>
            </a:r>
            <a:endParaRPr lang="en-US" altLang="zh-CN" sz="2000" b="1" dirty="0">
              <a:latin typeface="Times New Roman" panose="02020603050405020304" pitchFamily="18" charset="0"/>
              <a:ea typeface="宋体" panose="02010600030101010101" pitchFamily="2" charset="-122"/>
            </a:endParaRPr>
          </a:p>
        </p:txBody>
      </p:sp>
      <p:sp>
        <p:nvSpPr>
          <p:cNvPr id="127010" name="Rectangle 34"/>
          <p:cNvSpPr/>
          <p:nvPr/>
        </p:nvSpPr>
        <p:spPr>
          <a:xfrm>
            <a:off x="1116013" y="5627688"/>
            <a:ext cx="2209800" cy="609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27011" name="Text Box 35"/>
          <p:cNvSpPr txBox="1"/>
          <p:nvPr/>
        </p:nvSpPr>
        <p:spPr>
          <a:xfrm>
            <a:off x="1420813" y="5703888"/>
            <a:ext cx="16383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solidFill>
                  <a:schemeClr val="bg1"/>
                </a:solidFill>
                <a:latin typeface="Times New Roman" panose="02020603050405020304" pitchFamily="18" charset="0"/>
                <a:ea typeface="宋体" panose="02010600030101010101" pitchFamily="2" charset="-122"/>
              </a:rPr>
              <a:t>设操作方向</a:t>
            </a:r>
            <a:endParaRPr lang="zh-CN" altLang="en-US" sz="2000" b="1" dirty="0">
              <a:solidFill>
                <a:schemeClr val="bg1"/>
              </a:solidFill>
              <a:latin typeface="Times New Roman" panose="02020603050405020304" pitchFamily="18" charset="0"/>
              <a:ea typeface="宋体" panose="02010600030101010101" pitchFamily="2" charset="-122"/>
            </a:endParaRPr>
          </a:p>
        </p:txBody>
      </p:sp>
      <p:sp>
        <p:nvSpPr>
          <p:cNvPr id="127012" name="Line 36"/>
          <p:cNvSpPr/>
          <p:nvPr/>
        </p:nvSpPr>
        <p:spPr>
          <a:xfrm>
            <a:off x="2124075" y="5084763"/>
            <a:ext cx="0" cy="533400"/>
          </a:xfrm>
          <a:prstGeom prst="line">
            <a:avLst/>
          </a:prstGeom>
          <a:ln w="25400" cap="sq" cmpd="sng">
            <a:solidFill>
              <a:srgbClr val="FF6600"/>
            </a:solidFill>
            <a:prstDash val="solid"/>
            <a:headEnd type="none" w="med" len="med"/>
            <a:tailEnd type="triangle" w="lg" len="lg"/>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26980"/>
                                        </p:tgtEl>
                                        <p:attrNameLst>
                                          <p:attrName>style.visibility</p:attrName>
                                        </p:attrNameLst>
                                      </p:cBhvr>
                                      <p:to>
                                        <p:strVal val="visible"/>
                                      </p:to>
                                    </p:set>
                                    <p:animEffect transition="in" filter="strips(downRight)">
                                      <p:cBhvr>
                                        <p:cTn id="7" dur="500"/>
                                        <p:tgtEl>
                                          <p:spTgt spid="126980"/>
                                        </p:tgtEl>
                                      </p:cBhvr>
                                    </p:animEffect>
                                  </p:childTnLst>
                                </p:cTn>
                              </p:par>
                              <p:par>
                                <p:cTn id="8" presetID="18" presetClass="entr" presetSubtype="6" fill="hold" grpId="0" nodeType="withEffect">
                                  <p:stCondLst>
                                    <p:cond delay="0"/>
                                  </p:stCondLst>
                                  <p:childTnLst>
                                    <p:set>
                                      <p:cBhvr>
                                        <p:cTn id="9" dur="1" fill="hold">
                                          <p:stCondLst>
                                            <p:cond delay="0"/>
                                          </p:stCondLst>
                                        </p:cTn>
                                        <p:tgtEl>
                                          <p:spTgt spid="126982"/>
                                        </p:tgtEl>
                                        <p:attrNameLst>
                                          <p:attrName>style.visibility</p:attrName>
                                        </p:attrNameLst>
                                      </p:cBhvr>
                                      <p:to>
                                        <p:strVal val="visible"/>
                                      </p:to>
                                    </p:set>
                                    <p:animEffect transition="in" filter="strips(downRight)">
                                      <p:cBhvr>
                                        <p:cTn id="10" dur="500"/>
                                        <p:tgtEl>
                                          <p:spTgt spid="126982"/>
                                        </p:tgtEl>
                                      </p:cBhvr>
                                    </p:animEffect>
                                  </p:childTnLst>
                                </p:cTn>
                              </p:par>
                            </p:childTnLst>
                          </p:cTn>
                        </p:par>
                        <p:par>
                          <p:cTn id="11" fill="hold">
                            <p:stCondLst>
                              <p:cond delay="500"/>
                            </p:stCondLst>
                            <p:childTnLst>
                              <p:par>
                                <p:cTn id="12" presetID="18" presetClass="entr" presetSubtype="6" fill="hold" nodeType="afterEffect">
                                  <p:stCondLst>
                                    <p:cond delay="500"/>
                                  </p:stCondLst>
                                  <p:childTnLst>
                                    <p:set>
                                      <p:cBhvr>
                                        <p:cTn id="13" dur="1" fill="hold">
                                          <p:stCondLst>
                                            <p:cond delay="0"/>
                                          </p:stCondLst>
                                        </p:cTn>
                                        <p:tgtEl>
                                          <p:spTgt spid="127001"/>
                                        </p:tgtEl>
                                        <p:attrNameLst>
                                          <p:attrName>style.visibility</p:attrName>
                                        </p:attrNameLst>
                                      </p:cBhvr>
                                      <p:to>
                                        <p:strVal val="visible"/>
                                      </p:to>
                                    </p:set>
                                    <p:animEffect transition="in" filter="strips(downRight)">
                                      <p:cBhvr>
                                        <p:cTn id="14" dur="500"/>
                                        <p:tgtEl>
                                          <p:spTgt spid="127001"/>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ntr" presetSubtype="6" fill="hold" grpId="0" nodeType="clickEffect">
                                  <p:stCondLst>
                                    <p:cond delay="0"/>
                                  </p:stCondLst>
                                  <p:childTnLst>
                                    <p:set>
                                      <p:cBhvr>
                                        <p:cTn id="18" dur="1" fill="hold">
                                          <p:stCondLst>
                                            <p:cond delay="0"/>
                                          </p:stCondLst>
                                        </p:cTn>
                                        <p:tgtEl>
                                          <p:spTgt spid="126981"/>
                                        </p:tgtEl>
                                        <p:attrNameLst>
                                          <p:attrName>style.visibility</p:attrName>
                                        </p:attrNameLst>
                                      </p:cBhvr>
                                      <p:to>
                                        <p:strVal val="visible"/>
                                      </p:to>
                                    </p:set>
                                    <p:animEffect transition="in" filter="strips(downRight)">
                                      <p:cBhvr>
                                        <p:cTn id="19" dur="500"/>
                                        <p:tgtEl>
                                          <p:spTgt spid="126981"/>
                                        </p:tgtEl>
                                      </p:cBhvr>
                                    </p:animEffect>
                                  </p:childTnLst>
                                </p:cTn>
                              </p:par>
                              <p:par>
                                <p:cTn id="20" presetID="18" presetClass="entr" presetSubtype="6" fill="hold" grpId="0" nodeType="withEffect">
                                  <p:stCondLst>
                                    <p:cond delay="0"/>
                                  </p:stCondLst>
                                  <p:childTnLst>
                                    <p:set>
                                      <p:cBhvr>
                                        <p:cTn id="21" dur="1" fill="hold">
                                          <p:stCondLst>
                                            <p:cond delay="0"/>
                                          </p:stCondLst>
                                        </p:cTn>
                                        <p:tgtEl>
                                          <p:spTgt spid="126983"/>
                                        </p:tgtEl>
                                        <p:attrNameLst>
                                          <p:attrName>style.visibility</p:attrName>
                                        </p:attrNameLst>
                                      </p:cBhvr>
                                      <p:to>
                                        <p:strVal val="visible"/>
                                      </p:to>
                                    </p:set>
                                    <p:animEffect transition="in" filter="strips(downRight)">
                                      <p:cBhvr>
                                        <p:cTn id="22" dur="500"/>
                                        <p:tgtEl>
                                          <p:spTgt spid="126983"/>
                                        </p:tgtEl>
                                      </p:cBhvr>
                                    </p:animEffect>
                                  </p:childTnLst>
                                </p:cTn>
                              </p:par>
                            </p:childTnLst>
                          </p:cTn>
                        </p:par>
                        <p:par>
                          <p:cTn id="23" fill="hold">
                            <p:stCondLst>
                              <p:cond delay="500"/>
                            </p:stCondLst>
                            <p:childTnLst>
                              <p:par>
                                <p:cTn id="24" presetID="18" presetClass="entr" presetSubtype="6" fill="hold" nodeType="afterEffect">
                                  <p:stCondLst>
                                    <p:cond delay="0"/>
                                  </p:stCondLst>
                                  <p:childTnLst>
                                    <p:set>
                                      <p:cBhvr>
                                        <p:cTn id="25" dur="1" fill="hold">
                                          <p:stCondLst>
                                            <p:cond delay="0"/>
                                          </p:stCondLst>
                                        </p:cTn>
                                        <p:tgtEl>
                                          <p:spTgt spid="127002"/>
                                        </p:tgtEl>
                                        <p:attrNameLst>
                                          <p:attrName>style.visibility</p:attrName>
                                        </p:attrNameLst>
                                      </p:cBhvr>
                                      <p:to>
                                        <p:strVal val="visible"/>
                                      </p:to>
                                    </p:set>
                                    <p:animEffect transition="in" filter="strips(downRight)">
                                      <p:cBhvr>
                                        <p:cTn id="26" dur="500"/>
                                        <p:tgtEl>
                                          <p:spTgt spid="127002"/>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126984"/>
                                        </p:tgtEl>
                                        <p:attrNameLst>
                                          <p:attrName>style.visibility</p:attrName>
                                        </p:attrNameLst>
                                      </p:cBhvr>
                                      <p:to>
                                        <p:strVal val="visible"/>
                                      </p:to>
                                    </p:set>
                                    <p:animEffect transition="in" filter="strips(downRight)">
                                      <p:cBhvr>
                                        <p:cTn id="31" dur="500"/>
                                        <p:tgtEl>
                                          <p:spTgt spid="126984"/>
                                        </p:tgtEl>
                                      </p:cBhvr>
                                    </p:animEffect>
                                  </p:childTnLst>
                                </p:cTn>
                              </p:par>
                              <p:par>
                                <p:cTn id="32" presetID="18" presetClass="entr" presetSubtype="6" fill="hold" grpId="0" nodeType="withEffect">
                                  <p:stCondLst>
                                    <p:cond delay="0"/>
                                  </p:stCondLst>
                                  <p:childTnLst>
                                    <p:set>
                                      <p:cBhvr>
                                        <p:cTn id="33" dur="1" fill="hold">
                                          <p:stCondLst>
                                            <p:cond delay="0"/>
                                          </p:stCondLst>
                                        </p:cTn>
                                        <p:tgtEl>
                                          <p:spTgt spid="126985"/>
                                        </p:tgtEl>
                                        <p:attrNameLst>
                                          <p:attrName>style.visibility</p:attrName>
                                        </p:attrNameLst>
                                      </p:cBhvr>
                                      <p:to>
                                        <p:strVal val="visible"/>
                                      </p:to>
                                    </p:set>
                                    <p:animEffect transition="in" filter="strips(downRight)">
                                      <p:cBhvr>
                                        <p:cTn id="34" dur="500"/>
                                        <p:tgtEl>
                                          <p:spTgt spid="126985"/>
                                        </p:tgtEl>
                                      </p:cBhvr>
                                    </p:animEffect>
                                  </p:childTnLst>
                                </p:cTn>
                              </p:par>
                            </p:childTnLst>
                          </p:cTn>
                        </p:par>
                        <p:par>
                          <p:cTn id="35" fill="hold">
                            <p:stCondLst>
                              <p:cond delay="500"/>
                            </p:stCondLst>
                            <p:childTnLst>
                              <p:par>
                                <p:cTn id="36" presetID="18" presetClass="entr" presetSubtype="6" fill="hold" nodeType="afterEffect">
                                  <p:stCondLst>
                                    <p:cond delay="0"/>
                                  </p:stCondLst>
                                  <p:childTnLst>
                                    <p:set>
                                      <p:cBhvr>
                                        <p:cTn id="37" dur="1" fill="hold">
                                          <p:stCondLst>
                                            <p:cond delay="0"/>
                                          </p:stCondLst>
                                        </p:cTn>
                                        <p:tgtEl>
                                          <p:spTgt spid="127012"/>
                                        </p:tgtEl>
                                        <p:attrNameLst>
                                          <p:attrName>style.visibility</p:attrName>
                                        </p:attrNameLst>
                                      </p:cBhvr>
                                      <p:to>
                                        <p:strVal val="visible"/>
                                      </p:to>
                                    </p:set>
                                    <p:animEffect transition="in" filter="strips(downRight)">
                                      <p:cBhvr>
                                        <p:cTn id="38" dur="500"/>
                                        <p:tgtEl>
                                          <p:spTgt spid="127012"/>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6" fill="hold" grpId="0" nodeType="clickEffect">
                                  <p:stCondLst>
                                    <p:cond delay="0"/>
                                  </p:stCondLst>
                                  <p:childTnLst>
                                    <p:set>
                                      <p:cBhvr>
                                        <p:cTn id="42" dur="1" fill="hold">
                                          <p:stCondLst>
                                            <p:cond delay="0"/>
                                          </p:stCondLst>
                                        </p:cTn>
                                        <p:tgtEl>
                                          <p:spTgt spid="127010"/>
                                        </p:tgtEl>
                                        <p:attrNameLst>
                                          <p:attrName>style.visibility</p:attrName>
                                        </p:attrNameLst>
                                      </p:cBhvr>
                                      <p:to>
                                        <p:strVal val="visible"/>
                                      </p:to>
                                    </p:set>
                                    <p:animEffect transition="in" filter="strips(downRight)">
                                      <p:cBhvr>
                                        <p:cTn id="43" dur="500"/>
                                        <p:tgtEl>
                                          <p:spTgt spid="127010"/>
                                        </p:tgtEl>
                                      </p:cBhvr>
                                    </p:animEffect>
                                  </p:childTnLst>
                                </p:cTn>
                              </p:par>
                              <p:par>
                                <p:cTn id="44" presetID="18" presetClass="entr" presetSubtype="6" fill="hold" grpId="0" nodeType="withEffect">
                                  <p:stCondLst>
                                    <p:cond delay="0"/>
                                  </p:stCondLst>
                                  <p:childTnLst>
                                    <p:set>
                                      <p:cBhvr>
                                        <p:cTn id="45" dur="1" fill="hold">
                                          <p:stCondLst>
                                            <p:cond delay="0"/>
                                          </p:stCondLst>
                                        </p:cTn>
                                        <p:tgtEl>
                                          <p:spTgt spid="127011"/>
                                        </p:tgtEl>
                                        <p:attrNameLst>
                                          <p:attrName>style.visibility</p:attrName>
                                        </p:attrNameLst>
                                      </p:cBhvr>
                                      <p:to>
                                        <p:strVal val="visible"/>
                                      </p:to>
                                    </p:set>
                                    <p:animEffect transition="in" filter="strips(downRight)">
                                      <p:cBhvr>
                                        <p:cTn id="46" dur="500"/>
                                        <p:tgtEl>
                                          <p:spTgt spid="127011"/>
                                        </p:tgtEl>
                                      </p:cBhvr>
                                    </p:animEffect>
                                  </p:childTnLst>
                                </p:cTn>
                              </p:par>
                            </p:childTnLst>
                          </p:cTn>
                        </p:par>
                      </p:childTnLst>
                    </p:cTn>
                  </p:par>
                  <p:par>
                    <p:cTn id="47" fill="hold">
                      <p:stCondLst>
                        <p:cond delay="indefinite"/>
                      </p:stCondLst>
                      <p:childTnLst>
                        <p:par>
                          <p:cTn id="48" fill="hold">
                            <p:stCondLst>
                              <p:cond delay="0"/>
                            </p:stCondLst>
                            <p:childTnLst>
                              <p:par>
                                <p:cTn id="49" presetID="18" presetClass="entr" presetSubtype="12" fill="hold" nodeType="clickEffect">
                                  <p:stCondLst>
                                    <p:cond delay="0"/>
                                  </p:stCondLst>
                                  <p:childTnLst>
                                    <p:set>
                                      <p:cBhvr>
                                        <p:cTn id="50" dur="1" fill="hold">
                                          <p:stCondLst>
                                            <p:cond delay="0"/>
                                          </p:stCondLst>
                                        </p:cTn>
                                        <p:tgtEl>
                                          <p:spTgt spid="127003"/>
                                        </p:tgtEl>
                                        <p:attrNameLst>
                                          <p:attrName>style.visibility</p:attrName>
                                        </p:attrNameLst>
                                      </p:cBhvr>
                                      <p:to>
                                        <p:strVal val="visible"/>
                                      </p:to>
                                    </p:set>
                                    <p:animEffect transition="in" filter="strips(downLeft)">
                                      <p:cBhvr>
                                        <p:cTn id="51" dur="500"/>
                                        <p:tgtEl>
                                          <p:spTgt spid="127003"/>
                                        </p:tgtEl>
                                      </p:cBhvr>
                                    </p:animEffect>
                                  </p:childTnLst>
                                </p:cTn>
                              </p:par>
                            </p:childTnLst>
                          </p:cTn>
                        </p:par>
                        <p:par>
                          <p:cTn id="52" fill="hold">
                            <p:stCondLst>
                              <p:cond delay="500"/>
                            </p:stCondLst>
                            <p:childTnLst>
                              <p:par>
                                <p:cTn id="53" presetID="18" presetClass="entr" presetSubtype="6" fill="hold" nodeType="afterEffect">
                                  <p:stCondLst>
                                    <p:cond delay="0"/>
                                  </p:stCondLst>
                                  <p:childTnLst>
                                    <p:set>
                                      <p:cBhvr>
                                        <p:cTn id="54" dur="1" fill="hold">
                                          <p:stCondLst>
                                            <p:cond delay="0"/>
                                          </p:stCondLst>
                                        </p:cTn>
                                        <p:tgtEl>
                                          <p:spTgt spid="127004"/>
                                        </p:tgtEl>
                                        <p:attrNameLst>
                                          <p:attrName>style.visibility</p:attrName>
                                        </p:attrNameLst>
                                      </p:cBhvr>
                                      <p:to>
                                        <p:strVal val="visible"/>
                                      </p:to>
                                    </p:set>
                                    <p:animEffect transition="in" filter="strips(downRight)">
                                      <p:cBhvr>
                                        <p:cTn id="55" dur="1000"/>
                                        <p:tgtEl>
                                          <p:spTgt spid="127004"/>
                                        </p:tgtEl>
                                      </p:cBhvr>
                                    </p:animEffect>
                                  </p:childTnLst>
                                </p:cTn>
                              </p:par>
                            </p:childTnLst>
                          </p:cTn>
                        </p:par>
                        <p:par>
                          <p:cTn id="56" fill="hold">
                            <p:stCondLst>
                              <p:cond delay="1500"/>
                            </p:stCondLst>
                            <p:childTnLst>
                              <p:par>
                                <p:cTn id="57" presetID="18" presetClass="entr" presetSubtype="3" fill="hold" nodeType="afterEffect">
                                  <p:stCondLst>
                                    <p:cond delay="0"/>
                                  </p:stCondLst>
                                  <p:childTnLst>
                                    <p:set>
                                      <p:cBhvr>
                                        <p:cTn id="58" dur="1" fill="hold">
                                          <p:stCondLst>
                                            <p:cond delay="0"/>
                                          </p:stCondLst>
                                        </p:cTn>
                                        <p:tgtEl>
                                          <p:spTgt spid="127005"/>
                                        </p:tgtEl>
                                        <p:attrNameLst>
                                          <p:attrName>style.visibility</p:attrName>
                                        </p:attrNameLst>
                                      </p:cBhvr>
                                      <p:to>
                                        <p:strVal val="visible"/>
                                      </p:to>
                                    </p:set>
                                    <p:animEffect transition="in" filter="strips(upRight)">
                                      <p:cBhvr>
                                        <p:cTn id="59" dur="1000"/>
                                        <p:tgtEl>
                                          <p:spTgt spid="127005"/>
                                        </p:tgtEl>
                                      </p:cBhvr>
                                    </p:animEffect>
                                  </p:childTnLst>
                                </p:cTn>
                              </p:par>
                            </p:childTnLst>
                          </p:cTn>
                        </p:par>
                        <p:par>
                          <p:cTn id="60" fill="hold">
                            <p:stCondLst>
                              <p:cond delay="2500"/>
                            </p:stCondLst>
                            <p:childTnLst>
                              <p:par>
                                <p:cTn id="61" presetID="18" presetClass="entr" presetSubtype="6" fill="hold" nodeType="afterEffect">
                                  <p:stCondLst>
                                    <p:cond delay="0"/>
                                  </p:stCondLst>
                                  <p:childTnLst>
                                    <p:set>
                                      <p:cBhvr>
                                        <p:cTn id="62" dur="1" fill="hold">
                                          <p:stCondLst>
                                            <p:cond delay="0"/>
                                          </p:stCondLst>
                                        </p:cTn>
                                        <p:tgtEl>
                                          <p:spTgt spid="127006"/>
                                        </p:tgtEl>
                                        <p:attrNameLst>
                                          <p:attrName>style.visibility</p:attrName>
                                        </p:attrNameLst>
                                      </p:cBhvr>
                                      <p:to>
                                        <p:strVal val="visible"/>
                                      </p:to>
                                    </p:set>
                                    <p:animEffect transition="in" filter="strips(downRight)">
                                      <p:cBhvr>
                                        <p:cTn id="63" dur="1000"/>
                                        <p:tgtEl>
                                          <p:spTgt spid="127006"/>
                                        </p:tgtEl>
                                      </p:cBhvr>
                                    </p:animEffect>
                                  </p:childTnLst>
                                </p:cTn>
                              </p:par>
                            </p:childTnLst>
                          </p:cTn>
                        </p:par>
                        <p:par>
                          <p:cTn id="64" fill="hold">
                            <p:stCondLst>
                              <p:cond delay="3500"/>
                            </p:stCondLst>
                            <p:childTnLst>
                              <p:par>
                                <p:cTn id="65" presetID="18" presetClass="entr" presetSubtype="12" fill="hold" nodeType="afterEffect">
                                  <p:stCondLst>
                                    <p:cond delay="0"/>
                                  </p:stCondLst>
                                  <p:childTnLst>
                                    <p:set>
                                      <p:cBhvr>
                                        <p:cTn id="66" dur="1" fill="hold">
                                          <p:stCondLst>
                                            <p:cond delay="0"/>
                                          </p:stCondLst>
                                        </p:cTn>
                                        <p:tgtEl>
                                          <p:spTgt spid="126993"/>
                                        </p:tgtEl>
                                        <p:attrNameLst>
                                          <p:attrName>style.visibility</p:attrName>
                                        </p:attrNameLst>
                                      </p:cBhvr>
                                      <p:to>
                                        <p:strVal val="visible"/>
                                      </p:to>
                                    </p:set>
                                    <p:animEffect transition="in" filter="strips(downLeft)">
                                      <p:cBhvr>
                                        <p:cTn id="67" dur="500"/>
                                        <p:tgtEl>
                                          <p:spTgt spid="126993"/>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6" fill="hold" grpId="0" nodeType="clickEffect">
                                  <p:stCondLst>
                                    <p:cond delay="0"/>
                                  </p:stCondLst>
                                  <p:childTnLst>
                                    <p:set>
                                      <p:cBhvr>
                                        <p:cTn id="71" dur="1" fill="hold">
                                          <p:stCondLst>
                                            <p:cond delay="0"/>
                                          </p:stCondLst>
                                        </p:cTn>
                                        <p:tgtEl>
                                          <p:spTgt spid="126986"/>
                                        </p:tgtEl>
                                        <p:attrNameLst>
                                          <p:attrName>style.visibility</p:attrName>
                                        </p:attrNameLst>
                                      </p:cBhvr>
                                      <p:to>
                                        <p:strVal val="visible"/>
                                      </p:to>
                                    </p:set>
                                    <p:animEffect transition="in" filter="strips(downRight)">
                                      <p:cBhvr>
                                        <p:cTn id="72" dur="500"/>
                                        <p:tgtEl>
                                          <p:spTgt spid="126986"/>
                                        </p:tgtEl>
                                      </p:cBhvr>
                                    </p:animEffect>
                                  </p:childTnLst>
                                </p:cTn>
                              </p:par>
                              <p:par>
                                <p:cTn id="73" presetID="18" presetClass="entr" presetSubtype="6" fill="hold" grpId="0" nodeType="withEffect">
                                  <p:stCondLst>
                                    <p:cond delay="0"/>
                                  </p:stCondLst>
                                  <p:childTnLst>
                                    <p:set>
                                      <p:cBhvr>
                                        <p:cTn id="74" dur="1" fill="hold">
                                          <p:stCondLst>
                                            <p:cond delay="0"/>
                                          </p:stCondLst>
                                        </p:cTn>
                                        <p:tgtEl>
                                          <p:spTgt spid="126987"/>
                                        </p:tgtEl>
                                        <p:attrNameLst>
                                          <p:attrName>style.visibility</p:attrName>
                                        </p:attrNameLst>
                                      </p:cBhvr>
                                      <p:to>
                                        <p:strVal val="visible"/>
                                      </p:to>
                                    </p:set>
                                    <p:animEffect transition="in" filter="strips(downRight)">
                                      <p:cBhvr>
                                        <p:cTn id="75" dur="500"/>
                                        <p:tgtEl>
                                          <p:spTgt spid="126987"/>
                                        </p:tgtEl>
                                      </p:cBhvr>
                                    </p:animEffect>
                                  </p:childTnLst>
                                </p:cTn>
                              </p:par>
                            </p:childTnLst>
                          </p:cTn>
                        </p:par>
                        <p:par>
                          <p:cTn id="76" fill="hold">
                            <p:stCondLst>
                              <p:cond delay="500"/>
                            </p:stCondLst>
                            <p:childTnLst>
                              <p:par>
                                <p:cTn id="77" presetID="18" presetClass="entr" presetSubtype="12" fill="hold" nodeType="afterEffect">
                                  <p:stCondLst>
                                    <p:cond delay="0"/>
                                  </p:stCondLst>
                                  <p:childTnLst>
                                    <p:set>
                                      <p:cBhvr>
                                        <p:cTn id="78" dur="1" fill="hold">
                                          <p:stCondLst>
                                            <p:cond delay="0"/>
                                          </p:stCondLst>
                                        </p:cTn>
                                        <p:tgtEl>
                                          <p:spTgt spid="126994"/>
                                        </p:tgtEl>
                                        <p:attrNameLst>
                                          <p:attrName>style.visibility</p:attrName>
                                        </p:attrNameLst>
                                      </p:cBhvr>
                                      <p:to>
                                        <p:strVal val="visible"/>
                                      </p:to>
                                    </p:set>
                                    <p:animEffect transition="in" filter="strips(downLeft)">
                                      <p:cBhvr>
                                        <p:cTn id="79" dur="500"/>
                                        <p:tgtEl>
                                          <p:spTgt spid="126994"/>
                                        </p:tgtEl>
                                      </p:cBhvr>
                                    </p:animEffect>
                                  </p:childTnLst>
                                </p:cTn>
                              </p:par>
                            </p:childTnLst>
                          </p:cTn>
                        </p:par>
                      </p:childTnLst>
                    </p:cTn>
                  </p:par>
                  <p:par>
                    <p:cTn id="80" fill="hold">
                      <p:stCondLst>
                        <p:cond delay="indefinite"/>
                      </p:stCondLst>
                      <p:childTnLst>
                        <p:par>
                          <p:cTn id="81" fill="hold">
                            <p:stCondLst>
                              <p:cond delay="0"/>
                            </p:stCondLst>
                            <p:childTnLst>
                              <p:par>
                                <p:cTn id="82" presetID="18" presetClass="entr" presetSubtype="6" fill="hold" grpId="0" nodeType="clickEffect">
                                  <p:stCondLst>
                                    <p:cond delay="0"/>
                                  </p:stCondLst>
                                  <p:childTnLst>
                                    <p:set>
                                      <p:cBhvr>
                                        <p:cTn id="83" dur="1" fill="hold">
                                          <p:stCondLst>
                                            <p:cond delay="0"/>
                                          </p:stCondLst>
                                        </p:cTn>
                                        <p:tgtEl>
                                          <p:spTgt spid="126988"/>
                                        </p:tgtEl>
                                        <p:attrNameLst>
                                          <p:attrName>style.visibility</p:attrName>
                                        </p:attrNameLst>
                                      </p:cBhvr>
                                      <p:to>
                                        <p:strVal val="visible"/>
                                      </p:to>
                                    </p:set>
                                    <p:animEffect transition="in" filter="strips(downRight)">
                                      <p:cBhvr>
                                        <p:cTn id="84" dur="500"/>
                                        <p:tgtEl>
                                          <p:spTgt spid="126988"/>
                                        </p:tgtEl>
                                      </p:cBhvr>
                                    </p:animEffect>
                                  </p:childTnLst>
                                </p:cTn>
                              </p:par>
                              <p:par>
                                <p:cTn id="85" presetID="18" presetClass="entr" presetSubtype="6" fill="hold" grpId="0" nodeType="withEffect">
                                  <p:stCondLst>
                                    <p:cond delay="0"/>
                                  </p:stCondLst>
                                  <p:childTnLst>
                                    <p:set>
                                      <p:cBhvr>
                                        <p:cTn id="86" dur="1" fill="hold">
                                          <p:stCondLst>
                                            <p:cond delay="0"/>
                                          </p:stCondLst>
                                        </p:cTn>
                                        <p:tgtEl>
                                          <p:spTgt spid="126989"/>
                                        </p:tgtEl>
                                        <p:attrNameLst>
                                          <p:attrName>style.visibility</p:attrName>
                                        </p:attrNameLst>
                                      </p:cBhvr>
                                      <p:to>
                                        <p:strVal val="visible"/>
                                      </p:to>
                                    </p:set>
                                    <p:animEffect transition="in" filter="strips(downRight)">
                                      <p:cBhvr>
                                        <p:cTn id="87" dur="500"/>
                                        <p:tgtEl>
                                          <p:spTgt spid="126989"/>
                                        </p:tgtEl>
                                      </p:cBhvr>
                                    </p:animEffect>
                                  </p:childTnLst>
                                </p:cTn>
                              </p:par>
                            </p:childTnLst>
                          </p:cTn>
                        </p:par>
                        <p:par>
                          <p:cTn id="88" fill="hold">
                            <p:stCondLst>
                              <p:cond delay="500"/>
                            </p:stCondLst>
                            <p:childTnLst>
                              <p:par>
                                <p:cTn id="89" presetID="18" presetClass="entr" presetSubtype="12" fill="hold" nodeType="afterEffect">
                                  <p:stCondLst>
                                    <p:cond delay="0"/>
                                  </p:stCondLst>
                                  <p:childTnLst>
                                    <p:set>
                                      <p:cBhvr>
                                        <p:cTn id="90" dur="1" fill="hold">
                                          <p:stCondLst>
                                            <p:cond delay="0"/>
                                          </p:stCondLst>
                                        </p:cTn>
                                        <p:tgtEl>
                                          <p:spTgt spid="126995"/>
                                        </p:tgtEl>
                                        <p:attrNameLst>
                                          <p:attrName>style.visibility</p:attrName>
                                        </p:attrNameLst>
                                      </p:cBhvr>
                                      <p:to>
                                        <p:strVal val="visible"/>
                                      </p:to>
                                    </p:set>
                                    <p:animEffect transition="in" filter="strips(downLeft)">
                                      <p:cBhvr>
                                        <p:cTn id="91" dur="500"/>
                                        <p:tgtEl>
                                          <p:spTgt spid="126995"/>
                                        </p:tgtEl>
                                      </p:cBhvr>
                                    </p:animEffect>
                                  </p:childTnLst>
                                </p:cTn>
                              </p:par>
                            </p:childTnLst>
                          </p:cTn>
                        </p:par>
                      </p:childTnLst>
                    </p:cTn>
                  </p:par>
                  <p:par>
                    <p:cTn id="92" fill="hold">
                      <p:stCondLst>
                        <p:cond delay="indefinite"/>
                      </p:stCondLst>
                      <p:childTnLst>
                        <p:par>
                          <p:cTn id="93" fill="hold">
                            <p:stCondLst>
                              <p:cond delay="0"/>
                            </p:stCondLst>
                            <p:childTnLst>
                              <p:par>
                                <p:cTn id="94" presetID="18" presetClass="entr" presetSubtype="6" fill="hold" grpId="0" nodeType="clickEffect">
                                  <p:stCondLst>
                                    <p:cond delay="0"/>
                                  </p:stCondLst>
                                  <p:childTnLst>
                                    <p:set>
                                      <p:cBhvr>
                                        <p:cTn id="95" dur="1" fill="hold">
                                          <p:stCondLst>
                                            <p:cond delay="0"/>
                                          </p:stCondLst>
                                        </p:cTn>
                                        <p:tgtEl>
                                          <p:spTgt spid="126990"/>
                                        </p:tgtEl>
                                        <p:attrNameLst>
                                          <p:attrName>style.visibility</p:attrName>
                                        </p:attrNameLst>
                                      </p:cBhvr>
                                      <p:to>
                                        <p:strVal val="visible"/>
                                      </p:to>
                                    </p:set>
                                    <p:animEffect transition="in" filter="strips(downRight)">
                                      <p:cBhvr>
                                        <p:cTn id="96" dur="500"/>
                                        <p:tgtEl>
                                          <p:spTgt spid="126990"/>
                                        </p:tgtEl>
                                      </p:cBhvr>
                                    </p:animEffect>
                                  </p:childTnLst>
                                </p:cTn>
                              </p:par>
                              <p:par>
                                <p:cTn id="97" presetID="18" presetClass="entr" presetSubtype="6" fill="hold" grpId="0" nodeType="withEffect">
                                  <p:stCondLst>
                                    <p:cond delay="0"/>
                                  </p:stCondLst>
                                  <p:childTnLst>
                                    <p:set>
                                      <p:cBhvr>
                                        <p:cTn id="98" dur="1" fill="hold">
                                          <p:stCondLst>
                                            <p:cond delay="0"/>
                                          </p:stCondLst>
                                        </p:cTn>
                                        <p:tgtEl>
                                          <p:spTgt spid="126991"/>
                                        </p:tgtEl>
                                        <p:attrNameLst>
                                          <p:attrName>style.visibility</p:attrName>
                                        </p:attrNameLst>
                                      </p:cBhvr>
                                      <p:to>
                                        <p:strVal val="visible"/>
                                      </p:to>
                                    </p:set>
                                    <p:animEffect transition="in" filter="strips(downRight)">
                                      <p:cBhvr>
                                        <p:cTn id="99" dur="500"/>
                                        <p:tgtEl>
                                          <p:spTgt spid="126991"/>
                                        </p:tgtEl>
                                      </p:cBhvr>
                                    </p:animEffect>
                                  </p:childTnLst>
                                </p:cTn>
                              </p:par>
                            </p:childTnLst>
                          </p:cTn>
                        </p:par>
                        <p:par>
                          <p:cTn id="100" fill="hold">
                            <p:stCondLst>
                              <p:cond delay="500"/>
                            </p:stCondLst>
                            <p:childTnLst>
                              <p:par>
                                <p:cTn id="101" presetID="18" presetClass="entr" presetSubtype="12" fill="hold" nodeType="afterEffect">
                                  <p:stCondLst>
                                    <p:cond delay="0"/>
                                  </p:stCondLst>
                                  <p:childTnLst>
                                    <p:set>
                                      <p:cBhvr>
                                        <p:cTn id="102" dur="1" fill="hold">
                                          <p:stCondLst>
                                            <p:cond delay="0"/>
                                          </p:stCondLst>
                                        </p:cTn>
                                        <p:tgtEl>
                                          <p:spTgt spid="126996"/>
                                        </p:tgtEl>
                                        <p:attrNameLst>
                                          <p:attrName>style.visibility</p:attrName>
                                        </p:attrNameLst>
                                      </p:cBhvr>
                                      <p:to>
                                        <p:strVal val="visible"/>
                                      </p:to>
                                    </p:set>
                                    <p:animEffect transition="in" filter="strips(downLeft)">
                                      <p:cBhvr>
                                        <p:cTn id="103" dur="500"/>
                                        <p:tgtEl>
                                          <p:spTgt spid="126996"/>
                                        </p:tgtEl>
                                      </p:cBhvr>
                                    </p:animEffect>
                                  </p:childTnLst>
                                </p:cTn>
                              </p:par>
                            </p:childTnLst>
                          </p:cTn>
                        </p:par>
                      </p:childTnLst>
                    </p:cTn>
                  </p:par>
                  <p:par>
                    <p:cTn id="104" fill="hold">
                      <p:stCondLst>
                        <p:cond delay="indefinite"/>
                      </p:stCondLst>
                      <p:childTnLst>
                        <p:par>
                          <p:cTn id="105" fill="hold">
                            <p:stCondLst>
                              <p:cond delay="0"/>
                            </p:stCondLst>
                            <p:childTnLst>
                              <p:par>
                                <p:cTn id="106" presetID="18" presetClass="entr" presetSubtype="6" fill="hold" grpId="0" nodeType="clickEffect">
                                  <p:stCondLst>
                                    <p:cond delay="0"/>
                                  </p:stCondLst>
                                  <p:childTnLst>
                                    <p:set>
                                      <p:cBhvr>
                                        <p:cTn id="107" dur="1" fill="hold">
                                          <p:stCondLst>
                                            <p:cond delay="0"/>
                                          </p:stCondLst>
                                        </p:cTn>
                                        <p:tgtEl>
                                          <p:spTgt spid="126978"/>
                                        </p:tgtEl>
                                        <p:attrNameLst>
                                          <p:attrName>style.visibility</p:attrName>
                                        </p:attrNameLst>
                                      </p:cBhvr>
                                      <p:to>
                                        <p:strVal val="visible"/>
                                      </p:to>
                                    </p:set>
                                    <p:animEffect transition="in" filter="strips(downRight)">
                                      <p:cBhvr>
                                        <p:cTn id="108" dur="500"/>
                                        <p:tgtEl>
                                          <p:spTgt spid="126978"/>
                                        </p:tgtEl>
                                      </p:cBhvr>
                                    </p:animEffect>
                                  </p:childTnLst>
                                </p:cTn>
                              </p:par>
                              <p:par>
                                <p:cTn id="109" presetID="18" presetClass="entr" presetSubtype="6" fill="hold" grpId="0" nodeType="withEffect">
                                  <p:stCondLst>
                                    <p:cond delay="0"/>
                                  </p:stCondLst>
                                  <p:childTnLst>
                                    <p:set>
                                      <p:cBhvr>
                                        <p:cTn id="110" dur="1" fill="hold">
                                          <p:stCondLst>
                                            <p:cond delay="0"/>
                                          </p:stCondLst>
                                        </p:cTn>
                                        <p:tgtEl>
                                          <p:spTgt spid="126992"/>
                                        </p:tgtEl>
                                        <p:attrNameLst>
                                          <p:attrName>style.visibility</p:attrName>
                                        </p:attrNameLst>
                                      </p:cBhvr>
                                      <p:to>
                                        <p:strVal val="visible"/>
                                      </p:to>
                                    </p:set>
                                    <p:animEffect transition="in" filter="strips(downRight)">
                                      <p:cBhvr>
                                        <p:cTn id="111" dur="500"/>
                                        <p:tgtEl>
                                          <p:spTgt spid="126992"/>
                                        </p:tgtEl>
                                      </p:cBhvr>
                                    </p:animEffect>
                                  </p:childTnLst>
                                </p:cTn>
                              </p:par>
                            </p:childTnLst>
                          </p:cTn>
                        </p:par>
                      </p:childTnLst>
                    </p:cTn>
                  </p:par>
                  <p:par>
                    <p:cTn id="112" fill="hold">
                      <p:stCondLst>
                        <p:cond delay="indefinite"/>
                      </p:stCondLst>
                      <p:childTnLst>
                        <p:par>
                          <p:cTn id="113" fill="hold">
                            <p:stCondLst>
                              <p:cond delay="0"/>
                            </p:stCondLst>
                            <p:childTnLst>
                              <p:par>
                                <p:cTn id="114" presetID="18" presetClass="entr" presetSubtype="6" fill="hold" grpId="0" nodeType="clickEffect">
                                  <p:stCondLst>
                                    <p:cond delay="0"/>
                                  </p:stCondLst>
                                  <p:childTnLst>
                                    <p:set>
                                      <p:cBhvr>
                                        <p:cTn id="115" dur="1" fill="hold">
                                          <p:stCondLst>
                                            <p:cond delay="0"/>
                                          </p:stCondLst>
                                        </p:cTn>
                                        <p:tgtEl>
                                          <p:spTgt spid="127008"/>
                                        </p:tgtEl>
                                        <p:attrNameLst>
                                          <p:attrName>style.visibility</p:attrName>
                                        </p:attrNameLst>
                                      </p:cBhvr>
                                      <p:to>
                                        <p:strVal val="visible"/>
                                      </p:to>
                                    </p:set>
                                    <p:animEffect transition="in" filter="strips(downRight)">
                                      <p:cBhvr>
                                        <p:cTn id="116" dur="500"/>
                                        <p:tgtEl>
                                          <p:spTgt spid="127008"/>
                                        </p:tgtEl>
                                      </p:cBhvr>
                                    </p:animEffect>
                                  </p:childTnLst>
                                </p:cTn>
                              </p:par>
                            </p:childTnLst>
                          </p:cTn>
                        </p:par>
                        <p:par>
                          <p:cTn id="117" fill="hold">
                            <p:stCondLst>
                              <p:cond delay="500"/>
                            </p:stCondLst>
                            <p:childTnLst>
                              <p:par>
                                <p:cTn id="118" presetID="18" presetClass="entr" presetSubtype="6" fill="hold" nodeType="afterEffect">
                                  <p:stCondLst>
                                    <p:cond delay="0"/>
                                  </p:stCondLst>
                                  <p:childTnLst>
                                    <p:set>
                                      <p:cBhvr>
                                        <p:cTn id="119" dur="1" fill="hold">
                                          <p:stCondLst>
                                            <p:cond delay="0"/>
                                          </p:stCondLst>
                                        </p:cTn>
                                        <p:tgtEl>
                                          <p:spTgt spid="126998"/>
                                        </p:tgtEl>
                                        <p:attrNameLst>
                                          <p:attrName>style.visibility</p:attrName>
                                        </p:attrNameLst>
                                      </p:cBhvr>
                                      <p:to>
                                        <p:strVal val="visible"/>
                                      </p:to>
                                    </p:set>
                                    <p:animEffect transition="in" filter="strips(downRight)">
                                      <p:cBhvr>
                                        <p:cTn id="120" dur="500"/>
                                        <p:tgtEl>
                                          <p:spTgt spid="126998"/>
                                        </p:tgtEl>
                                      </p:cBhvr>
                                    </p:animEffect>
                                  </p:childTnLst>
                                </p:cTn>
                              </p:par>
                            </p:childTnLst>
                          </p:cTn>
                        </p:par>
                        <p:par>
                          <p:cTn id="121" fill="hold">
                            <p:stCondLst>
                              <p:cond delay="1000"/>
                            </p:stCondLst>
                            <p:childTnLst>
                              <p:par>
                                <p:cTn id="122" presetID="18" presetClass="entr" presetSubtype="3" fill="hold" nodeType="afterEffect">
                                  <p:stCondLst>
                                    <p:cond delay="0"/>
                                  </p:stCondLst>
                                  <p:childTnLst>
                                    <p:set>
                                      <p:cBhvr>
                                        <p:cTn id="123" dur="1" fill="hold">
                                          <p:stCondLst>
                                            <p:cond delay="0"/>
                                          </p:stCondLst>
                                        </p:cTn>
                                        <p:tgtEl>
                                          <p:spTgt spid="126999"/>
                                        </p:tgtEl>
                                        <p:attrNameLst>
                                          <p:attrName>style.visibility</p:attrName>
                                        </p:attrNameLst>
                                      </p:cBhvr>
                                      <p:to>
                                        <p:strVal val="visible"/>
                                      </p:to>
                                    </p:set>
                                    <p:animEffect transition="in" filter="strips(upRight)">
                                      <p:cBhvr>
                                        <p:cTn id="124" dur="500"/>
                                        <p:tgtEl>
                                          <p:spTgt spid="126999"/>
                                        </p:tgtEl>
                                      </p:cBhvr>
                                    </p:animEffect>
                                  </p:childTnLst>
                                </p:cTn>
                              </p:par>
                            </p:childTnLst>
                          </p:cTn>
                        </p:par>
                        <p:par>
                          <p:cTn id="125" fill="hold">
                            <p:stCondLst>
                              <p:cond delay="1500"/>
                            </p:stCondLst>
                            <p:childTnLst>
                              <p:par>
                                <p:cTn id="126" presetID="18" presetClass="entr" presetSubtype="9" fill="hold" nodeType="afterEffect">
                                  <p:stCondLst>
                                    <p:cond delay="0"/>
                                  </p:stCondLst>
                                  <p:childTnLst>
                                    <p:set>
                                      <p:cBhvr>
                                        <p:cTn id="127" dur="1" fill="hold">
                                          <p:stCondLst>
                                            <p:cond delay="0"/>
                                          </p:stCondLst>
                                        </p:cTn>
                                        <p:tgtEl>
                                          <p:spTgt spid="127000"/>
                                        </p:tgtEl>
                                        <p:attrNameLst>
                                          <p:attrName>style.visibility</p:attrName>
                                        </p:attrNameLst>
                                      </p:cBhvr>
                                      <p:to>
                                        <p:strVal val="visible"/>
                                      </p:to>
                                    </p:set>
                                    <p:animEffect transition="in" filter="strips(upLeft)">
                                      <p:cBhvr>
                                        <p:cTn id="128" dur="500"/>
                                        <p:tgtEl>
                                          <p:spTgt spid="127000"/>
                                        </p:tgtEl>
                                      </p:cBhvr>
                                    </p:animEffect>
                                  </p:childTnLst>
                                </p:cTn>
                              </p:par>
                            </p:childTnLst>
                          </p:cTn>
                        </p:par>
                        <p:par>
                          <p:cTn id="129" fill="hold">
                            <p:stCondLst>
                              <p:cond delay="2000"/>
                            </p:stCondLst>
                            <p:childTnLst>
                              <p:par>
                                <p:cTn id="130" presetID="18" presetClass="entr" presetSubtype="12" fill="hold" nodeType="afterEffect">
                                  <p:stCondLst>
                                    <p:cond delay="0"/>
                                  </p:stCondLst>
                                  <p:childTnLst>
                                    <p:set>
                                      <p:cBhvr>
                                        <p:cTn id="131" dur="1" fill="hold">
                                          <p:stCondLst>
                                            <p:cond delay="0"/>
                                          </p:stCondLst>
                                        </p:cTn>
                                        <p:tgtEl>
                                          <p:spTgt spid="126993"/>
                                        </p:tgtEl>
                                        <p:attrNameLst>
                                          <p:attrName>style.visibility</p:attrName>
                                        </p:attrNameLst>
                                      </p:cBhvr>
                                      <p:to>
                                        <p:strVal val="visible"/>
                                      </p:to>
                                    </p:set>
                                    <p:animEffect transition="in" filter="strips(downLeft)">
                                      <p:cBhvr>
                                        <p:cTn id="132" dur="500"/>
                                        <p:tgtEl>
                                          <p:spTgt spid="126993"/>
                                        </p:tgtEl>
                                      </p:cBhvr>
                                    </p:animEffect>
                                  </p:childTnLst>
                                </p:cTn>
                              </p:par>
                            </p:childTnLst>
                          </p:cTn>
                        </p:par>
                      </p:childTnLst>
                    </p:cTn>
                  </p:par>
                  <p:par>
                    <p:cTn id="133" fill="hold">
                      <p:stCondLst>
                        <p:cond delay="indefinite"/>
                      </p:stCondLst>
                      <p:childTnLst>
                        <p:par>
                          <p:cTn id="134" fill="hold">
                            <p:stCondLst>
                              <p:cond delay="0"/>
                            </p:stCondLst>
                            <p:childTnLst>
                              <p:par>
                                <p:cTn id="135" presetID="2" presetClass="entr" presetSubtype="4" fill="hold" grpId="0" nodeType="clickEffect">
                                  <p:stCondLst>
                                    <p:cond delay="0"/>
                                  </p:stCondLst>
                                  <p:childTnLst>
                                    <p:set>
                                      <p:cBhvr>
                                        <p:cTn id="136" dur="1" fill="hold">
                                          <p:stCondLst>
                                            <p:cond delay="0"/>
                                          </p:stCondLst>
                                        </p:cTn>
                                        <p:tgtEl>
                                          <p:spTgt spid="127009"/>
                                        </p:tgtEl>
                                        <p:attrNameLst>
                                          <p:attrName>style.visibility</p:attrName>
                                        </p:attrNameLst>
                                      </p:cBhvr>
                                      <p:to>
                                        <p:strVal val="visible"/>
                                      </p:to>
                                    </p:set>
                                    <p:anim calcmode="lin" valueType="num">
                                      <p:cBhvr>
                                        <p:cTn id="137" dur="500" fill="hold"/>
                                        <p:tgtEl>
                                          <p:spTgt spid="127009"/>
                                        </p:tgtEl>
                                        <p:attrNameLst>
                                          <p:attrName>ppt_x</p:attrName>
                                        </p:attrNameLst>
                                      </p:cBhvr>
                                      <p:tavLst>
                                        <p:tav tm="0">
                                          <p:val>
                                            <p:strVal val="#ppt_x"/>
                                          </p:val>
                                        </p:tav>
                                        <p:tav tm="100000">
                                          <p:val>
                                            <p:strVal val="#ppt_x"/>
                                          </p:val>
                                        </p:tav>
                                      </p:tavLst>
                                    </p:anim>
                                    <p:anim calcmode="lin" valueType="num">
                                      <p:cBhvr>
                                        <p:cTn id="138" dur="500" fill="hold"/>
                                        <p:tgtEl>
                                          <p:spTgt spid="127009"/>
                                        </p:tgtEl>
                                        <p:attrNameLst>
                                          <p:attrName>ppt_y</p:attrName>
                                        </p:attrNameLst>
                                      </p:cBhvr>
                                      <p:tavLst>
                                        <p:tav tm="0">
                                          <p:val>
                                            <p:strVal val="1+#ppt_h/2"/>
                                          </p:val>
                                        </p:tav>
                                        <p:tav tm="100000">
                                          <p:val>
                                            <p:strVal val="#ppt_y"/>
                                          </p:val>
                                        </p:tav>
                                      </p:tavLst>
                                    </p:anim>
                                  </p:childTnLst>
                                </p:cTn>
                              </p:par>
                            </p:childTnLst>
                          </p:cTn>
                        </p:par>
                        <p:par>
                          <p:cTn id="139" fill="hold">
                            <p:stCondLst>
                              <p:cond delay="500"/>
                            </p:stCondLst>
                            <p:childTnLst>
                              <p:par>
                                <p:cTn id="140" presetID="18" presetClass="entr" presetSubtype="12" fill="hold" nodeType="afterEffect">
                                  <p:stCondLst>
                                    <p:cond delay="0"/>
                                  </p:stCondLst>
                                  <p:childTnLst>
                                    <p:set>
                                      <p:cBhvr>
                                        <p:cTn id="141" dur="1" fill="hold">
                                          <p:stCondLst>
                                            <p:cond delay="0"/>
                                          </p:stCondLst>
                                        </p:cTn>
                                        <p:tgtEl>
                                          <p:spTgt spid="126997"/>
                                        </p:tgtEl>
                                        <p:attrNameLst>
                                          <p:attrName>style.visibility</p:attrName>
                                        </p:attrNameLst>
                                      </p:cBhvr>
                                      <p:to>
                                        <p:strVal val="visible"/>
                                      </p:to>
                                    </p:set>
                                    <p:animEffect transition="in" filter="strips(downLeft)">
                                      <p:cBhvr>
                                        <p:cTn id="142" dur="500"/>
                                        <p:tgtEl>
                                          <p:spTgt spid="126997"/>
                                        </p:tgtEl>
                                      </p:cBhvr>
                                    </p:animEffect>
                                  </p:childTnLst>
                                </p:cTn>
                              </p:par>
                            </p:childTnLst>
                          </p:cTn>
                        </p:par>
                      </p:childTnLst>
                    </p:cTn>
                  </p:par>
                  <p:par>
                    <p:cTn id="143" fill="hold">
                      <p:stCondLst>
                        <p:cond delay="indefinite"/>
                      </p:stCondLst>
                      <p:childTnLst>
                        <p:par>
                          <p:cTn id="144" fill="hold">
                            <p:stCondLst>
                              <p:cond delay="0"/>
                            </p:stCondLst>
                            <p:childTnLst>
                              <p:par>
                                <p:cTn id="145" presetID="55" presetClass="entr" presetSubtype="0" fill="hold" grpId="0" nodeType="clickEffect">
                                  <p:stCondLst>
                                    <p:cond delay="0"/>
                                  </p:stCondLst>
                                  <p:childTnLst>
                                    <p:set>
                                      <p:cBhvr>
                                        <p:cTn id="146" dur="1" fill="hold">
                                          <p:stCondLst>
                                            <p:cond delay="0"/>
                                          </p:stCondLst>
                                        </p:cTn>
                                        <p:tgtEl>
                                          <p:spTgt spid="127007"/>
                                        </p:tgtEl>
                                        <p:attrNameLst>
                                          <p:attrName>style.visibility</p:attrName>
                                        </p:attrNameLst>
                                      </p:cBhvr>
                                      <p:to>
                                        <p:strVal val="visible"/>
                                      </p:to>
                                    </p:set>
                                    <p:anim calcmode="lin" valueType="num">
                                      <p:cBhvr>
                                        <p:cTn id="147" dur="1000" fill="hold"/>
                                        <p:tgtEl>
                                          <p:spTgt spid="127007"/>
                                        </p:tgtEl>
                                        <p:attrNameLst>
                                          <p:attrName>ppt_w</p:attrName>
                                        </p:attrNameLst>
                                      </p:cBhvr>
                                      <p:tavLst>
                                        <p:tav tm="0">
                                          <p:val>
                                            <p:strVal val="#ppt_w*0.70"/>
                                          </p:val>
                                        </p:tav>
                                        <p:tav tm="100000">
                                          <p:val>
                                            <p:strVal val="#ppt_w"/>
                                          </p:val>
                                        </p:tav>
                                      </p:tavLst>
                                    </p:anim>
                                    <p:anim calcmode="lin" valueType="num">
                                      <p:cBhvr>
                                        <p:cTn id="148" dur="1000" fill="hold"/>
                                        <p:tgtEl>
                                          <p:spTgt spid="127007"/>
                                        </p:tgtEl>
                                        <p:attrNameLst>
                                          <p:attrName>ppt_h</p:attrName>
                                        </p:attrNameLst>
                                      </p:cBhvr>
                                      <p:tavLst>
                                        <p:tav tm="0">
                                          <p:val>
                                            <p:strVal val="#ppt_h"/>
                                          </p:val>
                                        </p:tav>
                                        <p:tav tm="100000">
                                          <p:val>
                                            <p:strVal val="#ppt_h"/>
                                          </p:val>
                                        </p:tav>
                                      </p:tavLst>
                                    </p:anim>
                                    <p:animEffect transition="in" filter="fade">
                                      <p:cBhvr>
                                        <p:cTn id="149" dur="1000"/>
                                        <p:tgtEl>
                                          <p:spTgt spid="127007"/>
                                        </p:tgtEl>
                                      </p:cBhvr>
                                    </p:animEffect>
                                  </p:childTnLst>
                                </p:cTn>
                              </p:par>
                            </p:childTnLst>
                          </p:cTn>
                        </p:par>
                        <p:par>
                          <p:cTn id="150" fill="hold">
                            <p:stCondLst>
                              <p:cond delay="1000"/>
                            </p:stCondLst>
                            <p:childTnLst>
                              <p:par>
                                <p:cTn id="151" presetID="35" presetClass="emph" presetSubtype="0" repeatCount="5000" fill="hold" grpId="1" nodeType="afterEffect">
                                  <p:stCondLst>
                                    <p:cond delay="0"/>
                                  </p:stCondLst>
                                  <p:childTnLst>
                                    <p:anim calcmode="discrete" valueType="str">
                                      <p:cBhvr>
                                        <p:cTn id="152" dur="1000" fill="hold"/>
                                        <p:tgtEl>
                                          <p:spTgt spid="127007"/>
                                        </p:tgtEl>
                                        <p:attrNameLst>
                                          <p:attrName>style.visibility</p:attrName>
                                        </p:attrNameLst>
                                      </p:cBhvr>
                                      <p:tavLst>
                                        <p:tav tm="0">
                                          <p:val>
                                            <p:strVal val="hidden"/>
                                          </p:val>
                                        </p:tav>
                                        <p:tav tm="50000">
                                          <p:val>
                                            <p:strVal val="visible"/>
                                          </p:val>
                                        </p:tav>
                                      </p:tavLst>
                                    </p:anim>
                                  </p:childTnLst>
                                  <p:subTnLst>
                                    <p:animClr clrSpc="rgb" dir="cw">
                                      <p:cBhvr override="childStyle">
                                        <p:cTn dur="1" fill="hold" display="0" masterRel="nextClick" afterEffect="1"/>
                                        <p:tgtEl>
                                          <p:spTgt spid="127007"/>
                                        </p:tgtEl>
                                        <p:attrNameLst>
                                          <p:attrName>ppt_c</p:attrName>
                                        </p:attrNameLst>
                                      </p:cBhvr>
                                      <p:to>
                                        <a:srgbClr val="FF00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animBg="1"/>
      <p:bldP spid="126980" grpId="0" animBg="1"/>
      <p:bldP spid="126981" grpId="0" animBg="1"/>
      <p:bldP spid="126982" grpId="0"/>
      <p:bldP spid="126983" grpId="0"/>
      <p:bldP spid="126984" grpId="0" animBg="1"/>
      <p:bldP spid="126985" grpId="0"/>
      <p:bldP spid="126986" grpId="0" animBg="1"/>
      <p:bldP spid="126987" grpId="0"/>
      <p:bldP spid="126988" grpId="0" animBg="1"/>
      <p:bldP spid="126989" grpId="0"/>
      <p:bldP spid="126990" grpId="0" animBg="1"/>
      <p:bldP spid="126991" grpId="0"/>
      <p:bldP spid="126992" grpId="0"/>
      <p:bldP spid="127007" grpId="0" animBg="1"/>
      <p:bldP spid="127007" grpId="1" animBg="1"/>
      <p:bldP spid="127008" grpId="0"/>
      <p:bldP spid="127009" grpId="0"/>
      <p:bldP spid="127010" grpId="0" animBg="1"/>
      <p:bldP spid="127011"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2"/>
          <p:cNvSpPr>
            <a:spLocks noGrp="1"/>
          </p:cNvSpPr>
          <p:nvPr>
            <p:ph type="title" idx="4294967295"/>
          </p:nvPr>
        </p:nvSpPr>
        <p:spPr>
          <a:xfrm>
            <a:off x="900113" y="1052513"/>
            <a:ext cx="2574925" cy="563562"/>
          </a:xfrm>
        </p:spPr>
        <p:txBody>
          <a:bodyPr vert="horz" wrap="square" lIns="91440" tIns="45720" rIns="91440" bIns="45720" anchor="ctr" anchorCtr="0"/>
          <a:p>
            <a:pPr marL="457200" indent="-457200">
              <a:buFont typeface="Wingdings" panose="05000000000000000000" pitchFamily="2" charset="2"/>
              <a:buChar char="Ø"/>
            </a:pPr>
            <a:r>
              <a:rPr lang="zh-CN" altLang="en-US" dirty="0">
                <a:solidFill>
                  <a:srgbClr val="000033"/>
                </a:solidFill>
                <a:ea typeface="宋体" panose="02010600030101010101" pitchFamily="2" charset="-122"/>
              </a:rPr>
              <a:t>串操作指令</a:t>
            </a:r>
            <a:endParaRPr lang="zh-CN" altLang="en-US" dirty="0">
              <a:solidFill>
                <a:srgbClr val="000033"/>
              </a:solidFill>
              <a:ea typeface="宋体" panose="02010600030101010101" pitchFamily="2" charset="-122"/>
            </a:endParaRPr>
          </a:p>
        </p:txBody>
      </p:sp>
      <p:sp>
        <p:nvSpPr>
          <p:cNvPr id="125955" name="Rectangle 3"/>
          <p:cNvSpPr>
            <a:spLocks noGrp="1"/>
          </p:cNvSpPr>
          <p:nvPr>
            <p:ph type="body" idx="4294967295"/>
          </p:nvPr>
        </p:nvSpPr>
        <p:spPr>
          <a:xfrm>
            <a:off x="1476375" y="1989138"/>
            <a:ext cx="2735263" cy="2952750"/>
          </a:xfrm>
        </p:spPr>
        <p:txBody>
          <a:bodyPr vert="horz" wrap="square" lIns="91440" tIns="45720" rIns="91440" bIns="45720" anchor="t" anchorCtr="0"/>
          <a:p>
            <a:pPr>
              <a:lnSpc>
                <a:spcPct val="12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串传送 </a:t>
            </a:r>
            <a:r>
              <a:rPr lang="en-US" altLang="zh-CN" dirty="0">
                <a:latin typeface="宋体" panose="02010600030101010101" pitchFamily="2" charset="-122"/>
                <a:ea typeface="宋体" panose="02010600030101010101" pitchFamily="2" charset="-122"/>
              </a:rPr>
              <a:t>MOVS</a:t>
            </a:r>
            <a:endParaRPr lang="en-US" altLang="zh-CN" dirty="0">
              <a:latin typeface="宋体" panose="02010600030101010101" pitchFamily="2" charset="-122"/>
              <a:ea typeface="宋体" panose="02010600030101010101" pitchFamily="2" charset="-122"/>
            </a:endParaRPr>
          </a:p>
          <a:p>
            <a:pPr>
              <a:lnSpc>
                <a:spcPct val="12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串比较 </a:t>
            </a:r>
            <a:r>
              <a:rPr lang="en-US" altLang="zh-CN" dirty="0">
                <a:latin typeface="宋体" panose="02010600030101010101" pitchFamily="2" charset="-122"/>
                <a:ea typeface="宋体" panose="02010600030101010101" pitchFamily="2" charset="-122"/>
              </a:rPr>
              <a:t>CMPS</a:t>
            </a:r>
            <a:endParaRPr lang="en-US" altLang="zh-CN" dirty="0">
              <a:latin typeface="宋体" panose="02010600030101010101" pitchFamily="2" charset="-122"/>
              <a:ea typeface="宋体" panose="02010600030101010101" pitchFamily="2" charset="-122"/>
            </a:endParaRPr>
          </a:p>
          <a:p>
            <a:pPr>
              <a:lnSpc>
                <a:spcPct val="12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串扫描 </a:t>
            </a:r>
            <a:r>
              <a:rPr lang="en-US" altLang="zh-CN" dirty="0">
                <a:latin typeface="宋体" panose="02010600030101010101" pitchFamily="2" charset="-122"/>
                <a:ea typeface="宋体" panose="02010600030101010101" pitchFamily="2" charset="-122"/>
              </a:rPr>
              <a:t>SCAS</a:t>
            </a:r>
            <a:endParaRPr lang="en-US" altLang="zh-CN" dirty="0">
              <a:latin typeface="宋体" panose="02010600030101010101" pitchFamily="2" charset="-122"/>
              <a:ea typeface="宋体" panose="02010600030101010101" pitchFamily="2" charset="-122"/>
            </a:endParaRPr>
          </a:p>
          <a:p>
            <a:pPr>
              <a:lnSpc>
                <a:spcPct val="12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串装入 </a:t>
            </a:r>
            <a:r>
              <a:rPr lang="en-US" altLang="zh-CN" dirty="0">
                <a:latin typeface="宋体" panose="02010600030101010101" pitchFamily="2" charset="-122"/>
                <a:ea typeface="宋体" panose="02010600030101010101" pitchFamily="2" charset="-122"/>
              </a:rPr>
              <a:t>LODS</a:t>
            </a:r>
            <a:endParaRPr lang="en-US" altLang="zh-CN" dirty="0">
              <a:latin typeface="宋体" panose="02010600030101010101" pitchFamily="2" charset="-122"/>
              <a:ea typeface="宋体" panose="02010600030101010101" pitchFamily="2" charset="-122"/>
            </a:endParaRPr>
          </a:p>
          <a:p>
            <a:pPr>
              <a:lnSpc>
                <a:spcPct val="120000"/>
              </a:lnSpc>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串送存 </a:t>
            </a:r>
            <a:r>
              <a:rPr lang="en-US" altLang="zh-CN" dirty="0">
                <a:latin typeface="宋体" panose="02010600030101010101" pitchFamily="2" charset="-122"/>
                <a:ea typeface="宋体" panose="02010600030101010101" pitchFamily="2" charset="-122"/>
              </a:rPr>
              <a:t>STOS</a:t>
            </a:r>
            <a:endParaRPr lang="en-US" altLang="zh-CN"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2"/>
          <p:cNvSpPr>
            <a:spLocks noGrp="1"/>
          </p:cNvSpPr>
          <p:nvPr>
            <p:ph type="title" idx="4294967295"/>
          </p:nvPr>
        </p:nvSpPr>
        <p:spPr>
          <a:xfrm>
            <a:off x="468313" y="981075"/>
            <a:ext cx="3311525" cy="563563"/>
          </a:xfrm>
        </p:spPr>
        <p:txBody>
          <a:bodyPr vert="horz" wrap="square" lIns="91440" tIns="45720" rIns="91440" bIns="45720" anchor="ctr" anchorCtr="0"/>
          <a:p>
            <a:r>
              <a:rPr lang="zh-CN" altLang="en-US" dirty="0">
                <a:solidFill>
                  <a:srgbClr val="000033"/>
                </a:solidFill>
                <a:latin typeface="宋体" panose="02010600030101010101" pitchFamily="2" charset="-122"/>
                <a:ea typeface="宋体" panose="02010600030101010101" pitchFamily="2" charset="-122"/>
              </a:rPr>
              <a:t>（</a:t>
            </a:r>
            <a:r>
              <a:rPr lang="en-US" altLang="zh-CN" dirty="0">
                <a:solidFill>
                  <a:srgbClr val="000033"/>
                </a:solidFill>
                <a:latin typeface="宋体" panose="02010600030101010101" pitchFamily="2" charset="-122"/>
                <a:ea typeface="宋体" panose="02010600030101010101" pitchFamily="2" charset="-122"/>
              </a:rPr>
              <a:t>1</a:t>
            </a:r>
            <a:r>
              <a:rPr lang="zh-CN" altLang="en-US" dirty="0">
                <a:solidFill>
                  <a:srgbClr val="000033"/>
                </a:solidFill>
                <a:latin typeface="宋体" panose="02010600030101010101" pitchFamily="2" charset="-122"/>
                <a:ea typeface="宋体" panose="02010600030101010101" pitchFamily="2" charset="-122"/>
              </a:rPr>
              <a:t>）串传送指令</a:t>
            </a:r>
            <a:endParaRPr lang="zh-CN" altLang="en-US" dirty="0">
              <a:solidFill>
                <a:srgbClr val="000033"/>
              </a:solidFill>
              <a:latin typeface="宋体" panose="02010600030101010101" pitchFamily="2" charset="-122"/>
              <a:ea typeface="宋体" panose="02010600030101010101" pitchFamily="2" charset="-122"/>
            </a:endParaRPr>
          </a:p>
        </p:txBody>
      </p:sp>
      <p:sp>
        <p:nvSpPr>
          <p:cNvPr id="129027" name="Rectangle 3"/>
          <p:cNvSpPr>
            <a:spLocks noGrp="1"/>
          </p:cNvSpPr>
          <p:nvPr>
            <p:ph type="body" idx="4294967295"/>
          </p:nvPr>
        </p:nvSpPr>
        <p:spPr>
          <a:xfrm>
            <a:off x="468313" y="1700213"/>
            <a:ext cx="8496300" cy="2376487"/>
          </a:xfrm>
        </p:spPr>
        <p:txBody>
          <a:bodyPr vert="horz" wrap="square" lIns="91440" tIns="45720" rIns="91440" bIns="45720" anchor="t" anchorCtr="0"/>
          <a:p>
            <a:pPr>
              <a:spcAft>
                <a:spcPct val="20000"/>
              </a:spcAft>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格式：</a:t>
            </a:r>
            <a:endParaRPr lang="zh-CN" altLang="en-US" sz="2400"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MOVS    OPRD1，OPRD2 </a:t>
            </a:r>
            <a:r>
              <a:rPr lang="zh-CN" altLang="en-US" sz="2400" dirty="0">
                <a:latin typeface="宋体" panose="02010600030101010101" pitchFamily="2" charset="-122"/>
                <a:ea typeface="宋体" panose="02010600030101010101" pitchFamily="2" charset="-122"/>
              </a:rPr>
              <a:t>；多用在需要段超越的场合</a:t>
            </a:r>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MOVSB </a:t>
            </a:r>
            <a:r>
              <a:rPr lang="zh-CN" altLang="en-US" sz="2400" dirty="0">
                <a:latin typeface="宋体" panose="02010600030101010101" pitchFamily="2" charset="-122"/>
                <a:ea typeface="宋体" panose="02010600030101010101" pitchFamily="2" charset="-122"/>
              </a:rPr>
              <a:t>；隐含了操作数地址，源串和目标串地址取默认值</a:t>
            </a:r>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MOVSW </a:t>
            </a:r>
            <a:r>
              <a:rPr lang="zh-CN" altLang="en-US" sz="2400" dirty="0">
                <a:latin typeface="宋体" panose="02010600030101010101" pitchFamily="2" charset="-122"/>
                <a:ea typeface="宋体" panose="02010600030101010101" pitchFamily="2" charset="-122"/>
              </a:rPr>
              <a:t>；与</a:t>
            </a:r>
            <a:r>
              <a:rPr lang="en-US" altLang="zh-CN" sz="2400" dirty="0">
                <a:latin typeface="宋体" panose="02010600030101010101" pitchFamily="2" charset="-122"/>
                <a:ea typeface="宋体" panose="02010600030101010101" pitchFamily="2" charset="-122"/>
              </a:rPr>
              <a:t>MOVSB</a:t>
            </a:r>
            <a:r>
              <a:rPr lang="zh-CN" altLang="en-US" sz="2400" dirty="0">
                <a:latin typeface="宋体" panose="02010600030101010101" pitchFamily="2" charset="-122"/>
                <a:ea typeface="宋体" panose="02010600030101010101" pitchFamily="2" charset="-122"/>
              </a:rPr>
              <a:t>类似，差别是该指令一次传送一个字</a:t>
            </a:r>
            <a:endParaRPr lang="en-US" altLang="zh-CN" sz="2400" dirty="0">
              <a:latin typeface="宋体" panose="02010600030101010101" pitchFamily="2" charset="-122"/>
              <a:ea typeface="宋体" panose="02010600030101010101" pitchFamily="2" charset="-122"/>
            </a:endParaRPr>
          </a:p>
          <a:p>
            <a:pPr>
              <a:buFont typeface="Wingdings" panose="05000000000000000000" pitchFamily="2" charset="2"/>
              <a:buChar char="Ø"/>
            </a:pPr>
            <a:r>
              <a:rPr lang="zh-CN" altLang="en-US" sz="2400" dirty="0">
                <a:solidFill>
                  <a:srgbClr val="FF0000"/>
                </a:solidFill>
                <a:latin typeface="宋体" panose="02010600030101010101" pitchFamily="2" charset="-122"/>
                <a:ea typeface="宋体" panose="02010600030101010101" pitchFamily="2" charset="-122"/>
              </a:rPr>
              <a:t>串传送指令常与无条件重复前缀连用</a:t>
            </a:r>
            <a:endParaRPr lang="zh-CN" altLang="en-US" sz="2400" dirty="0">
              <a:solidFill>
                <a:srgbClr val="FF0000"/>
              </a:solidFill>
              <a:latin typeface="宋体" panose="02010600030101010101" pitchFamily="2" charset="-122"/>
              <a:ea typeface="宋体" panose="02010600030101010101" pitchFamily="2" charset="-122"/>
            </a:endParaRPr>
          </a:p>
        </p:txBody>
      </p:sp>
      <p:sp>
        <p:nvSpPr>
          <p:cNvPr id="126980" name="文本框 1"/>
          <p:cNvSpPr txBox="1"/>
          <p:nvPr/>
        </p:nvSpPr>
        <p:spPr>
          <a:xfrm>
            <a:off x="434975" y="4224338"/>
            <a:ext cx="8351838" cy="1114425"/>
          </a:xfrm>
          <a:prstGeom prst="rect">
            <a:avLst/>
          </a:prstGeom>
          <a:noFill/>
          <a:ln w="19050" cap="flat" cmpd="sng">
            <a:solidFill>
              <a:schemeClr val="tx1"/>
            </a:solidFill>
            <a:prstDash val="solid"/>
            <a:miter/>
            <a:headEnd type="none" w="med" len="med"/>
            <a:tailEnd type="none" w="med" len="med"/>
          </a:ln>
        </p:spPr>
        <p:txBody>
          <a:bodyPr>
            <a:spAutoFit/>
          </a:bodyPr>
          <a:p>
            <a:pPr eaLnBrk="0" hangingPunct="0">
              <a:lnSpc>
                <a:spcPct val="150000"/>
              </a:lnSpc>
              <a:buFont typeface="Wingdings" panose="05000000000000000000" pitchFamily="2" charset="2"/>
            </a:pPr>
            <a:r>
              <a:rPr lang="zh-CN" altLang="en-US" sz="2400" dirty="0">
                <a:latin typeface="宋体" panose="02010600030101010101" pitchFamily="2" charset="-122"/>
                <a:ea typeface="宋体" panose="02010600030101010101" pitchFamily="2" charset="-122"/>
              </a:rPr>
              <a:t>串传送指令允许进行内存单元到内存单元的数据传送，解决了</a:t>
            </a:r>
            <a:r>
              <a:rPr lang="en-US" altLang="zh-CN" sz="2400" dirty="0">
                <a:latin typeface="宋体" panose="02010600030101010101" pitchFamily="2" charset="-122"/>
                <a:ea typeface="宋体" panose="02010600030101010101" pitchFamily="2" charset="-122"/>
              </a:rPr>
              <a:t>MOV</a:t>
            </a:r>
            <a:r>
              <a:rPr lang="zh-CN" altLang="en-US" sz="2400" dirty="0">
                <a:latin typeface="宋体" panose="02010600030101010101" pitchFamily="2" charset="-122"/>
                <a:ea typeface="宋体" panose="02010600030101010101" pitchFamily="2" charset="-122"/>
              </a:rPr>
              <a:t>指令不能直接在内存单元之间传送数据的限制。</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29027">
                                            <p:txEl>
                                              <p:charRg st="0" end="4"/>
                                            </p:txEl>
                                          </p:spTgt>
                                        </p:tgtEl>
                                        <p:attrNameLst>
                                          <p:attrName>style.visibility</p:attrName>
                                        </p:attrNameLst>
                                      </p:cBhvr>
                                      <p:to>
                                        <p:strVal val="visible"/>
                                      </p:to>
                                    </p:set>
                                    <p:animEffect transition="in" filter="strips(downRight)">
                                      <p:cBhvr>
                                        <p:cTn id="7" dur="500"/>
                                        <p:tgtEl>
                                          <p:spTgt spid="129027">
                                            <p:txEl>
                                              <p:charRg st="0"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29027">
                                            <p:txEl>
                                              <p:charRg st="4" end="40"/>
                                            </p:txEl>
                                          </p:spTgt>
                                        </p:tgtEl>
                                        <p:attrNameLst>
                                          <p:attrName>style.visibility</p:attrName>
                                        </p:attrNameLst>
                                      </p:cBhvr>
                                      <p:to>
                                        <p:strVal val="visible"/>
                                      </p:to>
                                    </p:set>
                                    <p:animEffect transition="in" filter="strips(downRight)">
                                      <p:cBhvr>
                                        <p:cTn id="12" dur="500"/>
                                        <p:tgtEl>
                                          <p:spTgt spid="129027">
                                            <p:txEl>
                                              <p:charRg st="4" end="4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29027">
                                            <p:txEl>
                                              <p:charRg st="40" end="72"/>
                                            </p:txEl>
                                          </p:spTgt>
                                        </p:tgtEl>
                                        <p:attrNameLst>
                                          <p:attrName>style.visibility</p:attrName>
                                        </p:attrNameLst>
                                      </p:cBhvr>
                                      <p:to>
                                        <p:strVal val="visible"/>
                                      </p:to>
                                    </p:set>
                                    <p:animEffect transition="in" filter="strips(downRight)">
                                      <p:cBhvr>
                                        <p:cTn id="17" dur="500"/>
                                        <p:tgtEl>
                                          <p:spTgt spid="129027">
                                            <p:txEl>
                                              <p:charRg st="40" end="72"/>
                                            </p:txEl>
                                          </p:spTgt>
                                        </p:tgtEl>
                                      </p:cBhvr>
                                    </p:animEffect>
                                  </p:childTnLst>
                                </p:cTn>
                              </p:par>
                            </p:childTnLst>
                          </p:cTn>
                        </p:par>
                        <p:par>
                          <p:cTn id="18" fill="hold">
                            <p:stCondLst>
                              <p:cond delay="500"/>
                            </p:stCondLst>
                            <p:childTnLst>
                              <p:par>
                                <p:cTn id="19" presetID="18" presetClass="entr" presetSubtype="6" fill="hold" nodeType="afterEffect">
                                  <p:stCondLst>
                                    <p:cond delay="0"/>
                                  </p:stCondLst>
                                  <p:childTnLst>
                                    <p:set>
                                      <p:cBhvr>
                                        <p:cTn id="20" dur="1" fill="hold">
                                          <p:stCondLst>
                                            <p:cond delay="0"/>
                                          </p:stCondLst>
                                        </p:cTn>
                                        <p:tgtEl>
                                          <p:spTgt spid="129027">
                                            <p:txEl>
                                              <p:charRg st="72" end="105"/>
                                            </p:txEl>
                                          </p:spTgt>
                                        </p:tgtEl>
                                        <p:attrNameLst>
                                          <p:attrName>style.visibility</p:attrName>
                                        </p:attrNameLst>
                                      </p:cBhvr>
                                      <p:to>
                                        <p:strVal val="visible"/>
                                      </p:to>
                                    </p:set>
                                    <p:animEffect transition="in" filter="strips(downRight)">
                                      <p:cBhvr>
                                        <p:cTn id="21" dur="500"/>
                                        <p:tgtEl>
                                          <p:spTgt spid="129027">
                                            <p:txEl>
                                              <p:charRg st="72" end="10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129027">
                                            <p:txEl>
                                              <p:charRg st="105" end="122"/>
                                            </p:txEl>
                                          </p:spTgt>
                                        </p:tgtEl>
                                        <p:attrNameLst>
                                          <p:attrName>style.visibility</p:attrName>
                                        </p:attrNameLst>
                                      </p:cBhvr>
                                      <p:to>
                                        <p:strVal val="visible"/>
                                      </p:to>
                                    </p:set>
                                    <p:animEffect transition="in" filter="strips(downRight)">
                                      <p:cBhvr>
                                        <p:cTn id="26" dur="500"/>
                                        <p:tgtEl>
                                          <p:spTgt spid="129027">
                                            <p:txEl>
                                              <p:charRg st="105" end="1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a:spLocks noChangeArrowheads="1"/>
          </p:cNvSpPr>
          <p:nvPr/>
        </p:nvSpPr>
        <p:spPr bwMode="auto">
          <a:xfrm>
            <a:off x="395288" y="908050"/>
            <a:ext cx="8245475" cy="3416300"/>
          </a:xfrm>
          <a:prstGeom prst="rect">
            <a:avLst/>
          </a:prstGeom>
          <a:noFill/>
          <a:ln>
            <a:noFill/>
          </a:ln>
          <a:effectLst/>
        </p:spPr>
        <p:txBody>
          <a:bodyPr anchor="ctr">
            <a:spAutoFit/>
          </a:bodyPr>
          <a:lstStyle/>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t>【</a:t>
            </a:r>
            <a:r>
              <a:rPr kumimoji="0" lang="zh-CN" altLang="en-US" sz="2400" b="0"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t>例</a:t>
            </a:r>
            <a:r>
              <a:rPr kumimoji="0" lang="en-US" altLang="zh-CN" sz="2400" b="0"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t>设变量</a:t>
            </a:r>
            <a:r>
              <a:rPr kumimoji="0" lang="en-US" altLang="zh-CN"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t>ADDR1</a:t>
            </a:r>
            <a:r>
              <a:rPr kumimoji="0" lang="zh-CN" altLang="en-US"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t>和</a:t>
            </a:r>
            <a:r>
              <a:rPr kumimoji="0" lang="en-US" altLang="zh-CN"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t>ADDR2</a:t>
            </a:r>
            <a:r>
              <a:rPr kumimoji="0" lang="zh-CN" altLang="en-US"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t>为字类型时，下面两条指令是等效的。</a:t>
            </a:r>
            <a:br>
              <a:rPr kumimoji="0" lang="zh-CN" altLang="en-US"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br>
            <a:r>
              <a:rPr kumimoji="0" lang="en-US" altLang="zh-CN"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t>MOVS ADDR1, ADDR2</a:t>
            </a:r>
            <a:endParaRPr kumimoji="0" lang="en-US" altLang="zh-CN"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t>MOVSW</a:t>
            </a:r>
            <a:endParaRPr kumimoji="0" lang="en-US" altLang="zh-CN"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t>上述第一条指令中的操作数仅指出了指令为字操作类型，实际目标操作数与源操作数的逻辑地址由</a:t>
            </a:r>
            <a:r>
              <a:rPr kumimoji="0" lang="en-US" altLang="zh-CN"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t>ES:DI</a:t>
            </a:r>
            <a:r>
              <a:rPr kumimoji="0" lang="zh-CN" altLang="en-US"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t>和</a:t>
            </a:r>
            <a:r>
              <a:rPr kumimoji="0" lang="en-US" altLang="zh-CN"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t>DS:SI</a:t>
            </a:r>
            <a:r>
              <a:rPr kumimoji="0" lang="zh-CN" altLang="en-US"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rPr>
              <a:t>指出</a:t>
            </a:r>
            <a:endParaRPr kumimoji="0" lang="en-US" altLang="zh-CN" sz="2400" b="1" i="0" u="none" strike="noStrike" kern="1200" cap="none" spc="0" normalizeH="0" baseline="0" noProof="0" dirty="0">
              <a:ln>
                <a:noFill/>
              </a:ln>
              <a:solidFill>
                <a:schemeClr val="tx2">
                  <a:lumMod val="50000"/>
                </a:schemeClr>
              </a:solidFill>
              <a:effectLst/>
              <a:uLnTx/>
              <a:uFillTx/>
              <a:latin typeface="宋体" panose="02010600030101010101" pitchFamily="2" charset="-122"/>
              <a:ea typeface="宋体" panose="02010600030101010101" pitchFamily="2" charset="-122"/>
              <a:cs typeface="+mn-cs"/>
            </a:endParaRPr>
          </a:p>
        </p:txBody>
      </p:sp>
      <p:sp>
        <p:nvSpPr>
          <p:cNvPr id="4" name="矩形 3"/>
          <p:cNvSpPr/>
          <p:nvPr/>
        </p:nvSpPr>
        <p:spPr>
          <a:xfrm>
            <a:off x="423863" y="4941888"/>
            <a:ext cx="8351838" cy="1404938"/>
          </a:xfrm>
          <a:prstGeom prst="rect">
            <a:avLst/>
          </a:prstGeom>
          <a:ln>
            <a:solidFill>
              <a:schemeClr val="tx1">
                <a:lumMod val="50000"/>
              </a:schemeClr>
            </a:solidFill>
          </a:ln>
        </p:spPr>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其中第二，三种格式明确地注明是传送字节或字，第一种格式则应在操作数中表明是字还是字节操作，例如：</a:t>
            </a:r>
            <a:endPar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MOVS ES</a:t>
            </a: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BYTE PTR[DI]</a:t>
            </a: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DS</a:t>
            </a: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[SI]</a:t>
            </a:r>
            <a:endPar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3"/>
          <p:cNvSpPr>
            <a:spLocks noGrp="1"/>
          </p:cNvSpPr>
          <p:nvPr>
            <p:ph type="body" idx="4294967295"/>
          </p:nvPr>
        </p:nvSpPr>
        <p:spPr>
          <a:xfrm>
            <a:off x="611188" y="981075"/>
            <a:ext cx="7993062" cy="1223963"/>
          </a:xfrm>
        </p:spPr>
        <p:txBody>
          <a:bodyPr vert="horz" wrap="square" lIns="91440" tIns="45720" rIns="91440" bIns="45720" anchor="t" anchorCtr="0"/>
          <a:p>
            <a:pPr marL="0" indent="0">
              <a:lnSpc>
                <a:spcPct val="135000"/>
              </a:lnSpc>
              <a:spcAft>
                <a:spcPct val="20000"/>
              </a:spcAft>
              <a:buNone/>
            </a:pP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例</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对比用</a:t>
            </a:r>
            <a:r>
              <a:rPr lang="en-US" altLang="zh-CN" sz="2400" dirty="0">
                <a:latin typeface="宋体" panose="02010600030101010101" pitchFamily="2" charset="-122"/>
                <a:ea typeface="宋体" panose="02010600030101010101" pitchFamily="2" charset="-122"/>
              </a:rPr>
              <a:t>MOV</a:t>
            </a:r>
            <a:r>
              <a:rPr lang="zh-CN" altLang="en-US" sz="2400" dirty="0">
                <a:latin typeface="宋体" panose="02010600030101010101" pitchFamily="2" charset="-122"/>
                <a:ea typeface="宋体" panose="02010600030101010101" pitchFamily="2" charset="-122"/>
              </a:rPr>
              <a:t>指令和</a:t>
            </a:r>
            <a:r>
              <a:rPr lang="en-US" altLang="zh-CN" sz="2400" dirty="0">
                <a:latin typeface="宋体" panose="02010600030101010101" pitchFamily="2" charset="-122"/>
                <a:ea typeface="宋体" panose="02010600030101010101" pitchFamily="2" charset="-122"/>
              </a:rPr>
              <a:t>MOVS</a:t>
            </a:r>
            <a:r>
              <a:rPr lang="zh-CN" altLang="en-US" sz="2400" dirty="0">
                <a:latin typeface="宋体" panose="02010600030101010101" pitchFamily="2" charset="-122"/>
                <a:ea typeface="宋体" panose="02010600030101010101" pitchFamily="2" charset="-122"/>
              </a:rPr>
              <a:t>指令实现将200个字节数据从内存的一个区域送到另一个区域的程序段。</a:t>
            </a:r>
            <a:endParaRPr lang="zh-CN" altLang="en-US" sz="2400" dirty="0">
              <a:latin typeface="宋体" panose="02010600030101010101" pitchFamily="2" charset="-122"/>
              <a:ea typeface="宋体" panose="02010600030101010101" pitchFamily="2" charset="-122"/>
            </a:endParaRPr>
          </a:p>
        </p:txBody>
      </p:sp>
      <p:sp>
        <p:nvSpPr>
          <p:cNvPr id="130051" name="Rectangle 2051"/>
          <p:cNvSpPr txBox="1"/>
          <p:nvPr/>
        </p:nvSpPr>
        <p:spPr>
          <a:xfrm>
            <a:off x="2771775" y="2492375"/>
            <a:ext cx="2447925" cy="3384550"/>
          </a:xfrm>
          <a:prstGeom prst="rect">
            <a:avLst/>
          </a:prstGeom>
          <a:noFill/>
          <a:ln w="9525">
            <a:noFill/>
          </a:ln>
        </p:spPr>
        <p:txBody>
          <a:bodyPr/>
          <a:p>
            <a:pPr eaLnBrk="0" hangingPunct="0">
              <a:lnSpc>
                <a:spcPct val="130000"/>
              </a:lnSpc>
              <a:spcBef>
                <a:spcPct val="20000"/>
              </a:spcBef>
              <a:spcAft>
                <a:spcPct val="40000"/>
              </a:spcAft>
              <a:buClr>
                <a:schemeClr val="hlink"/>
              </a:buClr>
              <a:buFont typeface="Wingdings" panose="05000000000000000000" pitchFamily="2" charset="2"/>
            </a:pPr>
            <a:r>
              <a:rPr lang="en-US" altLang="zh-CN" sz="2400" b="1" dirty="0">
                <a:latin typeface="宋体" panose="02010600030101010101" pitchFamily="2" charset="-122"/>
                <a:ea typeface="宋体" panose="02010600030101010101" pitchFamily="2" charset="-122"/>
              </a:rPr>
              <a:t>LEA  SI，MEM1</a:t>
            </a:r>
            <a:endParaRPr lang="en-US" altLang="zh-CN" sz="2400" b="1" dirty="0">
              <a:latin typeface="宋体" panose="02010600030101010101" pitchFamily="2" charset="-122"/>
              <a:ea typeface="宋体" panose="02010600030101010101" pitchFamily="2" charset="-122"/>
            </a:endParaRPr>
          </a:p>
          <a:p>
            <a:pPr eaLnBrk="0" hangingPunct="0">
              <a:lnSpc>
                <a:spcPct val="130000"/>
              </a:lnSpc>
              <a:spcBef>
                <a:spcPct val="20000"/>
              </a:spcBef>
              <a:buClr>
                <a:schemeClr val="hlink"/>
              </a:buClr>
              <a:buFont typeface="Wingdings" panose="05000000000000000000" pitchFamily="2" charset="2"/>
            </a:pPr>
            <a:r>
              <a:rPr lang="en-US" altLang="zh-CN" sz="2400" b="1" dirty="0">
                <a:latin typeface="宋体" panose="02010600030101010101" pitchFamily="2" charset="-122"/>
                <a:ea typeface="宋体" panose="02010600030101010101" pitchFamily="2" charset="-122"/>
              </a:rPr>
              <a:t>LEA  DI，MEM2</a:t>
            </a:r>
            <a:endParaRPr lang="en-US" altLang="zh-CN" sz="2400" b="1" dirty="0">
              <a:latin typeface="宋体" panose="02010600030101010101" pitchFamily="2" charset="-122"/>
              <a:ea typeface="宋体" panose="02010600030101010101" pitchFamily="2" charset="-122"/>
            </a:endParaRPr>
          </a:p>
          <a:p>
            <a:pPr eaLnBrk="0" hangingPunct="0">
              <a:lnSpc>
                <a:spcPct val="130000"/>
              </a:lnSpc>
              <a:spcBef>
                <a:spcPct val="20000"/>
              </a:spcBef>
              <a:buClr>
                <a:schemeClr val="hlink"/>
              </a:buClr>
              <a:buFont typeface="Wingdings" panose="05000000000000000000" pitchFamily="2" charset="2"/>
            </a:pPr>
            <a:r>
              <a:rPr lang="en-US" altLang="zh-CN" sz="2400" b="1" dirty="0">
                <a:latin typeface="宋体" panose="02010600030101010101" pitchFamily="2" charset="-122"/>
                <a:ea typeface="宋体" panose="02010600030101010101" pitchFamily="2" charset="-122"/>
              </a:rPr>
              <a:t>MOV  CX，200</a:t>
            </a:r>
            <a:endParaRPr lang="en-US" altLang="zh-CN" sz="2400" b="1" dirty="0">
              <a:latin typeface="宋体" panose="02010600030101010101" pitchFamily="2" charset="-122"/>
              <a:ea typeface="宋体" panose="02010600030101010101" pitchFamily="2" charset="-122"/>
            </a:endParaRPr>
          </a:p>
          <a:p>
            <a:pPr eaLnBrk="0" hangingPunct="0">
              <a:lnSpc>
                <a:spcPct val="130000"/>
              </a:lnSpc>
              <a:spcBef>
                <a:spcPct val="20000"/>
              </a:spcBef>
              <a:buClr>
                <a:schemeClr val="hlink"/>
              </a:buClr>
              <a:buFont typeface="Wingdings" panose="05000000000000000000" pitchFamily="2" charset="2"/>
            </a:pPr>
            <a:r>
              <a:rPr lang="en-US" altLang="zh-CN" sz="2400" b="1" dirty="0">
                <a:latin typeface="宋体" panose="02010600030101010101" pitchFamily="2" charset="-122"/>
                <a:ea typeface="宋体" panose="02010600030101010101" pitchFamily="2" charset="-122"/>
              </a:rPr>
              <a:t>CLD</a:t>
            </a:r>
            <a:endParaRPr lang="en-US" altLang="zh-CN" sz="2400" b="1" dirty="0">
              <a:latin typeface="宋体" panose="02010600030101010101" pitchFamily="2" charset="-122"/>
              <a:ea typeface="宋体" panose="02010600030101010101" pitchFamily="2" charset="-122"/>
            </a:endParaRPr>
          </a:p>
          <a:p>
            <a:pPr eaLnBrk="0" hangingPunct="0">
              <a:lnSpc>
                <a:spcPct val="130000"/>
              </a:lnSpc>
              <a:spcBef>
                <a:spcPct val="20000"/>
              </a:spcBef>
              <a:buClr>
                <a:schemeClr val="hlink"/>
              </a:buClr>
              <a:buFont typeface="Wingdings" panose="05000000000000000000" pitchFamily="2" charset="2"/>
            </a:pPr>
            <a:r>
              <a:rPr lang="en-US" altLang="zh-CN" sz="2400" b="1" dirty="0">
                <a:latin typeface="宋体" panose="02010600030101010101" pitchFamily="2" charset="-122"/>
                <a:ea typeface="宋体" panose="02010600030101010101" pitchFamily="2" charset="-122"/>
              </a:rPr>
              <a:t>REP  MOVSB</a:t>
            </a:r>
            <a:endParaRPr lang="en-US" altLang="zh-CN" sz="2400" b="1" dirty="0">
              <a:latin typeface="宋体" panose="02010600030101010101" pitchFamily="2" charset="-122"/>
              <a:ea typeface="宋体" panose="02010600030101010101" pitchFamily="2" charset="-122"/>
            </a:endParaRPr>
          </a:p>
          <a:p>
            <a:pPr eaLnBrk="0" hangingPunct="0">
              <a:lnSpc>
                <a:spcPct val="130000"/>
              </a:lnSpc>
              <a:spcBef>
                <a:spcPct val="20000"/>
              </a:spcBef>
              <a:buClr>
                <a:schemeClr val="hlink"/>
              </a:buClr>
              <a:buFont typeface="Wingdings" panose="05000000000000000000" pitchFamily="2" charset="2"/>
            </a:pPr>
            <a:r>
              <a:rPr lang="en-US" altLang="zh-CN" sz="2400" b="1" dirty="0">
                <a:latin typeface="宋体" panose="02010600030101010101" pitchFamily="2" charset="-122"/>
                <a:ea typeface="宋体" panose="02010600030101010101" pitchFamily="2" charset="-122"/>
              </a:rPr>
              <a:t>HLT</a:t>
            </a:r>
            <a:endParaRPr lang="en-US" altLang="zh-CN" sz="2400" b="1"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30051">
                                            <p:txEl>
                                              <p:charRg st="0" end="13"/>
                                            </p:txEl>
                                          </p:spTgt>
                                        </p:tgtEl>
                                        <p:attrNameLst>
                                          <p:attrName>style.visibility</p:attrName>
                                        </p:attrNameLst>
                                      </p:cBhvr>
                                      <p:to>
                                        <p:strVal val="visible"/>
                                      </p:to>
                                    </p:set>
                                    <p:animEffect transition="in" filter="strips(downRight)">
                                      <p:cBhvr>
                                        <p:cTn id="7" dur="500"/>
                                        <p:tgtEl>
                                          <p:spTgt spid="130051">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30051">
                                            <p:txEl>
                                              <p:charRg st="13" end="26"/>
                                            </p:txEl>
                                          </p:spTgt>
                                        </p:tgtEl>
                                        <p:attrNameLst>
                                          <p:attrName>style.visibility</p:attrName>
                                        </p:attrNameLst>
                                      </p:cBhvr>
                                      <p:to>
                                        <p:strVal val="visible"/>
                                      </p:to>
                                    </p:set>
                                    <p:animEffect transition="in" filter="strips(downRight)">
                                      <p:cBhvr>
                                        <p:cTn id="12" dur="500"/>
                                        <p:tgtEl>
                                          <p:spTgt spid="130051">
                                            <p:txEl>
                                              <p:charRg st="13" end="2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30051">
                                            <p:txEl>
                                              <p:charRg st="26" end="38"/>
                                            </p:txEl>
                                          </p:spTgt>
                                        </p:tgtEl>
                                        <p:attrNameLst>
                                          <p:attrName>style.visibility</p:attrName>
                                        </p:attrNameLst>
                                      </p:cBhvr>
                                      <p:to>
                                        <p:strVal val="visible"/>
                                      </p:to>
                                    </p:set>
                                    <p:animEffect transition="in" filter="strips(downRight)">
                                      <p:cBhvr>
                                        <p:cTn id="17" dur="500"/>
                                        <p:tgtEl>
                                          <p:spTgt spid="130051">
                                            <p:txEl>
                                              <p:charRg st="26" end="3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130051">
                                            <p:txEl>
                                              <p:charRg st="38" end="42"/>
                                            </p:txEl>
                                          </p:spTgt>
                                        </p:tgtEl>
                                        <p:attrNameLst>
                                          <p:attrName>style.visibility</p:attrName>
                                        </p:attrNameLst>
                                      </p:cBhvr>
                                      <p:to>
                                        <p:strVal val="visible"/>
                                      </p:to>
                                    </p:set>
                                    <p:animEffect transition="in" filter="strips(downRight)">
                                      <p:cBhvr>
                                        <p:cTn id="22" dur="500"/>
                                        <p:tgtEl>
                                          <p:spTgt spid="130051">
                                            <p:txEl>
                                              <p:charRg st="38" end="4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130051">
                                            <p:txEl>
                                              <p:charRg st="42" end="53"/>
                                            </p:txEl>
                                          </p:spTgt>
                                        </p:tgtEl>
                                        <p:attrNameLst>
                                          <p:attrName>style.visibility</p:attrName>
                                        </p:attrNameLst>
                                      </p:cBhvr>
                                      <p:to>
                                        <p:strVal val="visible"/>
                                      </p:to>
                                    </p:set>
                                    <p:animEffect transition="in" filter="strips(downRight)">
                                      <p:cBhvr>
                                        <p:cTn id="27" dur="500"/>
                                        <p:tgtEl>
                                          <p:spTgt spid="130051">
                                            <p:txEl>
                                              <p:charRg st="42" end="5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130051">
                                            <p:txEl>
                                              <p:charRg st="53" end="57"/>
                                            </p:txEl>
                                          </p:spTgt>
                                        </p:tgtEl>
                                        <p:attrNameLst>
                                          <p:attrName>style.visibility</p:attrName>
                                        </p:attrNameLst>
                                      </p:cBhvr>
                                      <p:to>
                                        <p:strVal val="visible"/>
                                      </p:to>
                                    </p:set>
                                    <p:animEffect transition="in" filter="strips(downRight)">
                                      <p:cBhvr>
                                        <p:cTn id="32" dur="500"/>
                                        <p:tgtEl>
                                          <p:spTgt spid="130051">
                                            <p:txEl>
                                              <p:charRg st="53" end="5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p:cNvSpPr>
          <p:nvPr>
            <p:ph type="title" idx="4294967295"/>
          </p:nvPr>
        </p:nvSpPr>
        <p:spPr>
          <a:xfrm>
            <a:off x="1042988" y="1052513"/>
            <a:ext cx="3024187" cy="563562"/>
          </a:xfrm>
        </p:spPr>
        <p:txBody>
          <a:bodyPr vert="horz" wrap="square" lIns="91440" tIns="45720" rIns="91440" bIns="45720" anchor="ctr" anchorCtr="0"/>
          <a:p>
            <a:r>
              <a:rPr lang="zh-CN" altLang="en-US" dirty="0">
                <a:solidFill>
                  <a:srgbClr val="000033"/>
                </a:solidFill>
                <a:latin typeface="宋体" panose="02010600030101010101" pitchFamily="2" charset="-122"/>
                <a:ea typeface="宋体" panose="02010600030101010101" pitchFamily="2" charset="-122"/>
              </a:rPr>
              <a:t>（</a:t>
            </a:r>
            <a:r>
              <a:rPr lang="en-US" altLang="zh-CN" dirty="0">
                <a:solidFill>
                  <a:srgbClr val="000033"/>
                </a:solidFill>
                <a:latin typeface="宋体" panose="02010600030101010101" pitchFamily="2" charset="-122"/>
                <a:ea typeface="宋体" panose="02010600030101010101" pitchFamily="2" charset="-122"/>
              </a:rPr>
              <a:t>2</a:t>
            </a:r>
            <a:r>
              <a:rPr lang="zh-CN" altLang="en-US" dirty="0">
                <a:solidFill>
                  <a:srgbClr val="000033"/>
                </a:solidFill>
                <a:latin typeface="宋体" panose="02010600030101010101" pitchFamily="2" charset="-122"/>
                <a:ea typeface="宋体" panose="02010600030101010101" pitchFamily="2" charset="-122"/>
              </a:rPr>
              <a:t>）串比较指令</a:t>
            </a:r>
            <a:endParaRPr lang="zh-CN" altLang="en-US" dirty="0">
              <a:solidFill>
                <a:srgbClr val="000033"/>
              </a:solidFill>
              <a:latin typeface="宋体" panose="02010600030101010101" pitchFamily="2" charset="-122"/>
              <a:ea typeface="宋体" panose="02010600030101010101" pitchFamily="2" charset="-122"/>
            </a:endParaRPr>
          </a:p>
        </p:txBody>
      </p:sp>
      <p:sp>
        <p:nvSpPr>
          <p:cNvPr id="131075" name="Rectangle 3"/>
          <p:cNvSpPr>
            <a:spLocks noGrp="1"/>
          </p:cNvSpPr>
          <p:nvPr>
            <p:ph type="body" idx="4294967295"/>
          </p:nvPr>
        </p:nvSpPr>
        <p:spPr>
          <a:xfrm>
            <a:off x="971550" y="1844675"/>
            <a:ext cx="7848600" cy="3455988"/>
          </a:xfrm>
        </p:spPr>
        <p:txBody>
          <a:bodyPr vert="horz" wrap="square" lIns="91440" tIns="45720" rIns="91440" bIns="45720" anchor="t" anchorCtr="0"/>
          <a:p>
            <a:pPr>
              <a:spcAft>
                <a:spcPct val="15000"/>
              </a:spcAft>
              <a:buFont typeface="Wingdings" panose="05000000000000000000" pitchFamily="2" charset="2"/>
              <a:buChar char="Ø"/>
            </a:pPr>
            <a:r>
              <a:rPr lang="zh-CN" altLang="en-US" sz="2400" b="0" dirty="0">
                <a:latin typeface="宋体" panose="02010600030101010101" pitchFamily="2" charset="-122"/>
                <a:ea typeface="宋体" panose="02010600030101010101" pitchFamily="2" charset="-122"/>
              </a:rPr>
              <a:t>格式：</a:t>
            </a:r>
            <a:endParaRPr lang="zh-CN" altLang="en-US" sz="2400" b="0" dirty="0">
              <a:latin typeface="宋体" panose="02010600030101010101" pitchFamily="2" charset="-122"/>
              <a:ea typeface="宋体" panose="02010600030101010101" pitchFamily="2" charset="-122"/>
            </a:endParaRPr>
          </a:p>
          <a:p>
            <a:pPr>
              <a:buNone/>
            </a:pPr>
            <a:r>
              <a:rPr lang="zh-CN" altLang="en-US" sz="2400" b="0" dirty="0">
                <a:latin typeface="宋体" panose="02010600030101010101" pitchFamily="2" charset="-122"/>
                <a:ea typeface="宋体" panose="02010600030101010101" pitchFamily="2" charset="-122"/>
              </a:rPr>
              <a:t>   </a:t>
            </a:r>
            <a:r>
              <a:rPr lang="en-US" altLang="zh-CN" sz="2400" b="0" dirty="0">
                <a:latin typeface="宋体" panose="02010600030101010101" pitchFamily="2" charset="-122"/>
                <a:ea typeface="宋体" panose="02010600030101010101" pitchFamily="2" charset="-122"/>
              </a:rPr>
              <a:t>CMPS    OPRD1，OPRD2</a:t>
            </a:r>
            <a:endParaRPr lang="en-US" altLang="zh-CN" sz="2400" b="0" dirty="0">
              <a:latin typeface="宋体" panose="02010600030101010101" pitchFamily="2" charset="-122"/>
              <a:ea typeface="宋体" panose="02010600030101010101" pitchFamily="2" charset="-122"/>
            </a:endParaRPr>
          </a:p>
          <a:p>
            <a:pPr>
              <a:buNone/>
            </a:pPr>
            <a:r>
              <a:rPr lang="en-US" altLang="zh-CN" sz="2400" b="0" dirty="0">
                <a:latin typeface="宋体" panose="02010600030101010101" pitchFamily="2" charset="-122"/>
                <a:ea typeface="宋体" panose="02010600030101010101" pitchFamily="2" charset="-122"/>
              </a:rPr>
              <a:t>   CMPSB</a:t>
            </a:r>
            <a:endParaRPr lang="en-US" altLang="zh-CN" sz="2400" b="0" dirty="0">
              <a:latin typeface="宋体" panose="02010600030101010101" pitchFamily="2" charset="-122"/>
              <a:ea typeface="宋体" panose="02010600030101010101" pitchFamily="2" charset="-122"/>
            </a:endParaRPr>
          </a:p>
          <a:p>
            <a:pPr>
              <a:spcAft>
                <a:spcPct val="40000"/>
              </a:spcAft>
              <a:buNone/>
            </a:pPr>
            <a:r>
              <a:rPr lang="en-US" altLang="zh-CN" sz="2400" b="0" dirty="0">
                <a:latin typeface="宋体" panose="02010600030101010101" pitchFamily="2" charset="-122"/>
                <a:ea typeface="宋体" panose="02010600030101010101" pitchFamily="2" charset="-122"/>
              </a:rPr>
              <a:t>   CMPSW</a:t>
            </a:r>
            <a:endParaRPr lang="en-US" altLang="zh-CN" sz="2400" b="0" dirty="0">
              <a:latin typeface="宋体" panose="02010600030101010101" pitchFamily="2" charset="-122"/>
              <a:ea typeface="宋体" panose="02010600030101010101" pitchFamily="2" charset="-122"/>
            </a:endParaRPr>
          </a:p>
          <a:p>
            <a:pPr>
              <a:buFont typeface="Wingdings" panose="05000000000000000000" pitchFamily="2" charset="2"/>
              <a:buChar char="Ø"/>
            </a:pPr>
            <a:r>
              <a:rPr lang="zh-CN" altLang="en-US" sz="2400" b="0" dirty="0">
                <a:solidFill>
                  <a:srgbClr val="FF0000"/>
                </a:solidFill>
                <a:latin typeface="宋体" panose="02010600030101010101" pitchFamily="2" charset="-122"/>
                <a:ea typeface="宋体" panose="02010600030101010101" pitchFamily="2" charset="-122"/>
              </a:rPr>
              <a:t>串比较指令常与条件重复前缀连用，指令的执行不改变操作数，仅影响标志位。</a:t>
            </a:r>
            <a:endParaRPr lang="zh-CN" altLang="en-US" sz="2400" b="0" dirty="0">
              <a:solidFill>
                <a:srgbClr val="FF0000"/>
              </a:solidFill>
              <a:latin typeface="宋体" panose="02010600030101010101" pitchFamily="2" charset="-122"/>
              <a:ea typeface="宋体" panose="02010600030101010101" pitchFamily="2" charset="-122"/>
            </a:endParaRPr>
          </a:p>
          <a:p>
            <a:pPr>
              <a:lnSpc>
                <a:spcPct val="120000"/>
              </a:lnSpc>
              <a:buFont typeface="Wingdings" panose="05000000000000000000" pitchFamily="2" charset="2"/>
              <a:buChar char="Ø"/>
            </a:pPr>
            <a:r>
              <a:rPr lang="zh-CN" altLang="en-US" sz="2400" b="0" dirty="0">
                <a:solidFill>
                  <a:srgbClr val="FF0000"/>
                </a:solidFill>
                <a:latin typeface="宋体" panose="02010600030101010101" pitchFamily="2" charset="-122"/>
                <a:ea typeface="宋体" panose="02010600030101010101" pitchFamily="2" charset="-122"/>
              </a:rPr>
              <a:t>前缀的操作对标志位不影响</a:t>
            </a:r>
            <a:endParaRPr lang="zh-CN" altLang="en-US" sz="2400" b="0" dirty="0">
              <a:solidFill>
                <a:srgbClr val="FF0000"/>
              </a:solidFill>
              <a:latin typeface="宋体" panose="02010600030101010101" pitchFamily="2" charset="-122"/>
              <a:ea typeface="宋体" panose="02010600030101010101" pitchFamily="2" charset="-122"/>
            </a:endParaRPr>
          </a:p>
        </p:txBody>
      </p:sp>
      <p:sp>
        <p:nvSpPr>
          <p:cNvPr id="130052" name="文本框 1"/>
          <p:cNvSpPr txBox="1"/>
          <p:nvPr/>
        </p:nvSpPr>
        <p:spPr>
          <a:xfrm>
            <a:off x="1060450" y="5300663"/>
            <a:ext cx="7472363" cy="1200150"/>
          </a:xfrm>
          <a:prstGeom prst="rect">
            <a:avLst/>
          </a:prstGeom>
          <a:noFill/>
          <a:ln w="12700" cap="flat" cmpd="sng">
            <a:solidFill>
              <a:schemeClr val="tx1"/>
            </a:solidFill>
            <a:prstDash val="solid"/>
            <a:miter/>
            <a:headEnd type="none" w="med" len="med"/>
            <a:tailEnd type="none" w="med" len="med"/>
          </a:ln>
        </p:spPr>
        <p:txBody>
          <a:bodyPr>
            <a:spAutoFit/>
          </a:bodyPr>
          <a:p>
            <a:pPr eaLnBrk="0" hangingPunct="0">
              <a:buFont typeface="Wingdings" panose="05000000000000000000" pitchFamily="2" charset="2"/>
            </a:pPr>
            <a:r>
              <a:rPr lang="zh-CN" altLang="en-US" sz="2400" dirty="0">
                <a:latin typeface="宋体" panose="02010600030101010101" pitchFamily="2" charset="-122"/>
                <a:ea typeface="宋体" panose="02010600030101010101" pitchFamily="2" charset="-122"/>
              </a:rPr>
              <a:t>将源串地址中的字节（或字）与目标串地址中的字节（或字）相比较，但比较（相减）结果不送回目标串地址中，而是反映在标志位上。</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31075">
                                            <p:txEl>
                                              <p:charRg st="0" end="4"/>
                                            </p:txEl>
                                          </p:spTgt>
                                        </p:tgtEl>
                                        <p:attrNameLst>
                                          <p:attrName>style.visibility</p:attrName>
                                        </p:attrNameLst>
                                      </p:cBhvr>
                                      <p:to>
                                        <p:strVal val="visible"/>
                                      </p:to>
                                    </p:set>
                                    <p:animEffect transition="in" filter="strips(downRight)">
                                      <p:cBhvr>
                                        <p:cTn id="7" dur="500"/>
                                        <p:tgtEl>
                                          <p:spTgt spid="131075">
                                            <p:txEl>
                                              <p:charRg st="0"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31075">
                                            <p:txEl>
                                              <p:charRg st="4" end="27"/>
                                            </p:txEl>
                                          </p:spTgt>
                                        </p:tgtEl>
                                        <p:attrNameLst>
                                          <p:attrName>style.visibility</p:attrName>
                                        </p:attrNameLst>
                                      </p:cBhvr>
                                      <p:to>
                                        <p:strVal val="visible"/>
                                      </p:to>
                                    </p:set>
                                    <p:animEffect transition="in" filter="strips(downRight)">
                                      <p:cBhvr>
                                        <p:cTn id="12" dur="500"/>
                                        <p:tgtEl>
                                          <p:spTgt spid="131075">
                                            <p:txEl>
                                              <p:charRg st="4" end="2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31075">
                                            <p:txEl>
                                              <p:charRg st="27" end="36"/>
                                            </p:txEl>
                                          </p:spTgt>
                                        </p:tgtEl>
                                        <p:attrNameLst>
                                          <p:attrName>style.visibility</p:attrName>
                                        </p:attrNameLst>
                                      </p:cBhvr>
                                      <p:to>
                                        <p:strVal val="visible"/>
                                      </p:to>
                                    </p:set>
                                    <p:animEffect transition="in" filter="strips(downRight)">
                                      <p:cBhvr>
                                        <p:cTn id="17" dur="500"/>
                                        <p:tgtEl>
                                          <p:spTgt spid="131075">
                                            <p:txEl>
                                              <p:charRg st="27" end="36"/>
                                            </p:txEl>
                                          </p:spTgt>
                                        </p:tgtEl>
                                      </p:cBhvr>
                                    </p:animEffect>
                                  </p:childTnLst>
                                </p:cTn>
                              </p:par>
                            </p:childTnLst>
                          </p:cTn>
                        </p:par>
                        <p:par>
                          <p:cTn id="18" fill="hold">
                            <p:stCondLst>
                              <p:cond delay="500"/>
                            </p:stCondLst>
                            <p:childTnLst>
                              <p:par>
                                <p:cTn id="19" presetID="18" presetClass="entr" presetSubtype="6" fill="hold" nodeType="afterEffect">
                                  <p:stCondLst>
                                    <p:cond delay="0"/>
                                  </p:stCondLst>
                                  <p:childTnLst>
                                    <p:set>
                                      <p:cBhvr>
                                        <p:cTn id="20" dur="1" fill="hold">
                                          <p:stCondLst>
                                            <p:cond delay="0"/>
                                          </p:stCondLst>
                                        </p:cTn>
                                        <p:tgtEl>
                                          <p:spTgt spid="131075">
                                            <p:txEl>
                                              <p:charRg st="36" end="45"/>
                                            </p:txEl>
                                          </p:spTgt>
                                        </p:tgtEl>
                                        <p:attrNameLst>
                                          <p:attrName>style.visibility</p:attrName>
                                        </p:attrNameLst>
                                      </p:cBhvr>
                                      <p:to>
                                        <p:strVal val="visible"/>
                                      </p:to>
                                    </p:set>
                                    <p:animEffect transition="in" filter="strips(downRight)">
                                      <p:cBhvr>
                                        <p:cTn id="21" dur="500"/>
                                        <p:tgtEl>
                                          <p:spTgt spid="131075">
                                            <p:txEl>
                                              <p:charRg st="36" end="4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131075">
                                            <p:txEl>
                                              <p:charRg st="45" end="81"/>
                                            </p:txEl>
                                          </p:spTgt>
                                        </p:tgtEl>
                                        <p:attrNameLst>
                                          <p:attrName>style.visibility</p:attrName>
                                        </p:attrNameLst>
                                      </p:cBhvr>
                                      <p:to>
                                        <p:strVal val="visible"/>
                                      </p:to>
                                    </p:set>
                                    <p:animEffect transition="in" filter="strips(downRight)">
                                      <p:cBhvr>
                                        <p:cTn id="26" dur="500"/>
                                        <p:tgtEl>
                                          <p:spTgt spid="131075">
                                            <p:txEl>
                                              <p:charRg st="45" end="8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6" fill="hold" nodeType="clickEffect">
                                  <p:stCondLst>
                                    <p:cond delay="0"/>
                                  </p:stCondLst>
                                  <p:childTnLst>
                                    <p:set>
                                      <p:cBhvr>
                                        <p:cTn id="30" dur="1" fill="hold">
                                          <p:stCondLst>
                                            <p:cond delay="0"/>
                                          </p:stCondLst>
                                        </p:cTn>
                                        <p:tgtEl>
                                          <p:spTgt spid="131075">
                                            <p:txEl>
                                              <p:charRg st="81" end="94"/>
                                            </p:txEl>
                                          </p:spTgt>
                                        </p:tgtEl>
                                        <p:attrNameLst>
                                          <p:attrName>style.visibility</p:attrName>
                                        </p:attrNameLst>
                                      </p:cBhvr>
                                      <p:to>
                                        <p:strVal val="visible"/>
                                      </p:to>
                                    </p:set>
                                    <p:animEffect transition="in" filter="strips(downRight)">
                                      <p:cBhvr>
                                        <p:cTn id="31" dur="500"/>
                                        <p:tgtEl>
                                          <p:spTgt spid="131075">
                                            <p:txEl>
                                              <p:charRg st="81" end="9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3"/>
          <p:cNvSpPr>
            <a:spLocks noGrp="1"/>
          </p:cNvSpPr>
          <p:nvPr>
            <p:ph type="body" idx="4294967295"/>
          </p:nvPr>
        </p:nvSpPr>
        <p:spPr>
          <a:xfrm>
            <a:off x="914400" y="1381125"/>
            <a:ext cx="7329488" cy="1111250"/>
          </a:xfrm>
        </p:spPr>
        <p:txBody>
          <a:bodyPr vert="horz" wrap="square" lIns="91440" tIns="45720" rIns="91440" bIns="45720" anchor="t" anchorCtr="0"/>
          <a:p>
            <a:pPr>
              <a:buNone/>
            </a:pPr>
            <a:r>
              <a:rPr lang="en-US" altLang="zh-CN" b="0" dirty="0">
                <a:latin typeface="宋体" panose="02010600030101010101" pitchFamily="2" charset="-122"/>
                <a:ea typeface="宋体" panose="02010600030101010101" pitchFamily="2" charset="-122"/>
              </a:rPr>
              <a:t>【</a:t>
            </a:r>
            <a:r>
              <a:rPr lang="zh-CN" altLang="en-US" b="0" dirty="0">
                <a:latin typeface="宋体" panose="02010600030101010101" pitchFamily="2" charset="-122"/>
                <a:ea typeface="宋体" panose="02010600030101010101" pitchFamily="2" charset="-122"/>
              </a:rPr>
              <a:t>例</a:t>
            </a:r>
            <a:r>
              <a:rPr lang="en-US" altLang="zh-CN" b="0" dirty="0">
                <a:latin typeface="宋体" panose="02010600030101010101" pitchFamily="2" charset="-122"/>
                <a:ea typeface="宋体" panose="02010600030101010101" pitchFamily="2" charset="-122"/>
              </a:rPr>
              <a:t>】</a:t>
            </a:r>
            <a:r>
              <a:rPr lang="zh-CN" altLang="en-US" b="0" dirty="0">
                <a:latin typeface="宋体" panose="02010600030101010101" pitchFamily="2" charset="-122"/>
                <a:ea typeface="宋体" panose="02010600030101010101" pitchFamily="2" charset="-122"/>
              </a:rPr>
              <a:t>测试200个字节数据是否传送正确：</a:t>
            </a:r>
            <a:endParaRPr lang="en-US" altLang="zh-CN" b="0" dirty="0">
              <a:latin typeface="宋体" panose="02010600030101010101" pitchFamily="2" charset="-122"/>
              <a:ea typeface="宋体" panose="02010600030101010101" pitchFamily="2" charset="-122"/>
            </a:endParaRPr>
          </a:p>
        </p:txBody>
      </p:sp>
      <p:sp>
        <p:nvSpPr>
          <p:cNvPr id="132099" name="Text Box 4"/>
          <p:cNvSpPr txBox="1"/>
          <p:nvPr/>
        </p:nvSpPr>
        <p:spPr>
          <a:xfrm>
            <a:off x="933450" y="2751138"/>
            <a:ext cx="3505200" cy="3082925"/>
          </a:xfrm>
          <a:prstGeom prst="rect">
            <a:avLst/>
          </a:prstGeom>
          <a:noFill/>
          <a:ln w="9525">
            <a:noFill/>
          </a:ln>
        </p:spPr>
        <p:txBody>
          <a:bodyPr>
            <a:spAutoFit/>
          </a:bodyPr>
          <a:p>
            <a:pPr eaLnBrk="0" hangingPunct="0">
              <a:spcBef>
                <a:spcPct val="20000"/>
              </a:spcBef>
              <a:buClr>
                <a:schemeClr val="accent2"/>
              </a:buClr>
              <a:buSzPct val="80000"/>
              <a:buFont typeface="Wingdings" panose="05000000000000000000" pitchFamily="2" charset="2"/>
            </a:pPr>
            <a:r>
              <a:rPr lang="en-US" altLang="zh-CN" sz="2800" dirty="0">
                <a:latin typeface="宋体" panose="02010600030101010101" pitchFamily="2" charset="-122"/>
                <a:ea typeface="宋体" panose="02010600030101010101" pitchFamily="2" charset="-122"/>
              </a:rPr>
              <a:t>LEA  SI，MEM1</a:t>
            </a:r>
            <a:endParaRPr lang="en-US" altLang="zh-CN" sz="2800" dirty="0">
              <a:latin typeface="宋体" panose="02010600030101010101" pitchFamily="2" charset="-122"/>
              <a:ea typeface="宋体" panose="02010600030101010101" pitchFamily="2" charset="-122"/>
            </a:endParaRPr>
          </a:p>
          <a:p>
            <a:pPr eaLnBrk="0" hangingPunct="0">
              <a:spcBef>
                <a:spcPct val="20000"/>
              </a:spcBef>
              <a:buClr>
                <a:schemeClr val="accent2"/>
              </a:buClr>
              <a:buSzPct val="80000"/>
              <a:buFont typeface="Wingdings" panose="05000000000000000000" pitchFamily="2" charset="2"/>
            </a:pPr>
            <a:r>
              <a:rPr lang="en-US" altLang="zh-CN" sz="2800" dirty="0">
                <a:latin typeface="宋体" panose="02010600030101010101" pitchFamily="2" charset="-122"/>
                <a:ea typeface="宋体" panose="02010600030101010101" pitchFamily="2" charset="-122"/>
              </a:rPr>
              <a:t>LEA  DI，MEM2</a:t>
            </a:r>
            <a:endParaRPr lang="en-US" altLang="zh-CN" sz="2800" dirty="0">
              <a:latin typeface="宋体" panose="02010600030101010101" pitchFamily="2" charset="-122"/>
              <a:ea typeface="宋体" panose="02010600030101010101" pitchFamily="2" charset="-122"/>
            </a:endParaRPr>
          </a:p>
          <a:p>
            <a:pPr eaLnBrk="0" hangingPunct="0">
              <a:spcBef>
                <a:spcPct val="20000"/>
              </a:spcBef>
              <a:buClr>
                <a:schemeClr val="accent2"/>
              </a:buClr>
              <a:buSzPct val="80000"/>
              <a:buFont typeface="Wingdings" panose="05000000000000000000" pitchFamily="2" charset="2"/>
            </a:pPr>
            <a:r>
              <a:rPr lang="en-US" altLang="zh-CN" sz="2800" dirty="0">
                <a:latin typeface="宋体" panose="02010600030101010101" pitchFamily="2" charset="-122"/>
                <a:ea typeface="宋体" panose="02010600030101010101" pitchFamily="2" charset="-122"/>
              </a:rPr>
              <a:t>MOV  CX，200</a:t>
            </a:r>
            <a:endParaRPr lang="en-US" altLang="zh-CN" sz="2800" dirty="0">
              <a:latin typeface="宋体" panose="02010600030101010101" pitchFamily="2" charset="-122"/>
              <a:ea typeface="宋体" panose="02010600030101010101" pitchFamily="2" charset="-122"/>
            </a:endParaRPr>
          </a:p>
          <a:p>
            <a:pPr eaLnBrk="0" hangingPunct="0">
              <a:spcBef>
                <a:spcPct val="20000"/>
              </a:spcBef>
              <a:buClr>
                <a:schemeClr val="accent2"/>
              </a:buClr>
              <a:buSzPct val="80000"/>
              <a:buFont typeface="Wingdings" panose="05000000000000000000" pitchFamily="2" charset="2"/>
            </a:pPr>
            <a:r>
              <a:rPr lang="en-US" altLang="zh-CN" sz="2800" dirty="0">
                <a:latin typeface="宋体" panose="02010600030101010101" pitchFamily="2" charset="-122"/>
                <a:ea typeface="宋体" panose="02010600030101010101" pitchFamily="2" charset="-122"/>
              </a:rPr>
              <a:t>CLD </a:t>
            </a:r>
            <a:endParaRPr lang="en-US" altLang="zh-CN" sz="2800" dirty="0">
              <a:latin typeface="宋体" panose="02010600030101010101" pitchFamily="2" charset="-122"/>
              <a:ea typeface="宋体" panose="02010600030101010101" pitchFamily="2" charset="-122"/>
            </a:endParaRPr>
          </a:p>
          <a:p>
            <a:pPr eaLnBrk="0" hangingPunct="0">
              <a:spcBef>
                <a:spcPct val="20000"/>
              </a:spcBef>
              <a:buClr>
                <a:schemeClr val="accent2"/>
              </a:buClr>
              <a:buSzPct val="80000"/>
              <a:buFont typeface="Wingdings" panose="05000000000000000000" pitchFamily="2" charset="2"/>
            </a:pPr>
            <a:r>
              <a:rPr lang="en-US" altLang="zh-CN" sz="2800" dirty="0">
                <a:latin typeface="宋体" panose="02010600030101010101" pitchFamily="2" charset="-122"/>
                <a:ea typeface="宋体" panose="02010600030101010101" pitchFamily="2" charset="-122"/>
              </a:rPr>
              <a:t>REPE   CMPSB </a:t>
            </a:r>
            <a:endParaRPr lang="en-US" altLang="zh-CN" sz="2800" dirty="0">
              <a:latin typeface="宋体" panose="02010600030101010101" pitchFamily="2" charset="-122"/>
              <a:ea typeface="宋体" panose="02010600030101010101" pitchFamily="2" charset="-122"/>
            </a:endParaRPr>
          </a:p>
          <a:p>
            <a:pPr eaLnBrk="0" hangingPunct="0">
              <a:spcBef>
                <a:spcPct val="20000"/>
              </a:spcBef>
              <a:buClr>
                <a:schemeClr val="accent2"/>
              </a:buClr>
              <a:buSzPct val="80000"/>
              <a:buFont typeface="Wingdings" panose="05000000000000000000" pitchFamily="2" charset="2"/>
            </a:pPr>
            <a:r>
              <a:rPr lang="en-US" altLang="zh-CN" sz="2800" i="1" dirty="0">
                <a:solidFill>
                  <a:srgbClr val="FF6600"/>
                </a:solidFill>
                <a:latin typeface="宋体" panose="02010600030101010101" pitchFamily="2" charset="-122"/>
                <a:ea typeface="宋体" panose="02010600030101010101" pitchFamily="2" charset="-122"/>
              </a:rPr>
              <a:t>TEST  CX，00FFH</a:t>
            </a:r>
            <a:endParaRPr lang="en-US" altLang="zh-CN" sz="2800" i="1" dirty="0">
              <a:solidFill>
                <a:srgbClr val="FF6600"/>
              </a:solidFill>
              <a:latin typeface="宋体" panose="02010600030101010101" pitchFamily="2" charset="-122"/>
              <a:ea typeface="宋体" panose="02010600030101010101" pitchFamily="2" charset="-122"/>
            </a:endParaRPr>
          </a:p>
        </p:txBody>
      </p:sp>
      <p:sp>
        <p:nvSpPr>
          <p:cNvPr id="132100" name="Text Box 5"/>
          <p:cNvSpPr txBox="1"/>
          <p:nvPr/>
        </p:nvSpPr>
        <p:spPr>
          <a:xfrm>
            <a:off x="4468813" y="2751138"/>
            <a:ext cx="3962400" cy="1557337"/>
          </a:xfrm>
          <a:prstGeom prst="rect">
            <a:avLst/>
          </a:prstGeom>
          <a:noFill/>
          <a:ln w="9525">
            <a:noFill/>
          </a:ln>
        </p:spPr>
        <p:txBody>
          <a:bodyPr>
            <a:spAutoFit/>
          </a:bodyPr>
          <a:p>
            <a:pPr eaLnBrk="0" hangingPunct="0">
              <a:spcBef>
                <a:spcPct val="20000"/>
              </a:spcBef>
              <a:buClr>
                <a:schemeClr val="accent2"/>
              </a:buClr>
              <a:buSzPct val="80000"/>
              <a:buFont typeface="Wingdings" panose="05000000000000000000" pitchFamily="2" charset="2"/>
            </a:pPr>
            <a:r>
              <a:rPr lang="en-US" altLang="zh-CN" sz="2800" dirty="0">
                <a:latin typeface="宋体" panose="02010600030101010101" pitchFamily="2" charset="-122"/>
                <a:ea typeface="宋体" panose="02010600030101010101" pitchFamily="2" charset="-122"/>
              </a:rPr>
              <a:t>      JZ  STOP</a:t>
            </a:r>
            <a:endParaRPr lang="en-US" altLang="zh-CN" sz="2800" dirty="0">
              <a:latin typeface="宋体" panose="02010600030101010101" pitchFamily="2" charset="-122"/>
              <a:ea typeface="宋体" panose="02010600030101010101" pitchFamily="2" charset="-122"/>
            </a:endParaRPr>
          </a:p>
          <a:p>
            <a:pPr eaLnBrk="0" hangingPunct="0">
              <a:spcBef>
                <a:spcPct val="20000"/>
              </a:spcBef>
              <a:buClr>
                <a:schemeClr val="accent2"/>
              </a:buClr>
              <a:buSzPct val="80000"/>
              <a:buFont typeface="Wingdings" panose="05000000000000000000" pitchFamily="2" charset="2"/>
            </a:pPr>
            <a:r>
              <a:rPr lang="en-US" altLang="zh-CN" sz="2800" dirty="0">
                <a:latin typeface="宋体" panose="02010600030101010101" pitchFamily="2" charset="-122"/>
                <a:ea typeface="宋体" panose="02010600030101010101" pitchFamily="2" charset="-122"/>
              </a:rPr>
              <a:t>      ……</a:t>
            </a:r>
            <a:endParaRPr lang="en-US" altLang="zh-CN" sz="2800" dirty="0">
              <a:latin typeface="宋体" panose="02010600030101010101" pitchFamily="2" charset="-122"/>
              <a:ea typeface="宋体" panose="02010600030101010101" pitchFamily="2" charset="-122"/>
            </a:endParaRPr>
          </a:p>
          <a:p>
            <a:pPr eaLnBrk="0" hangingPunct="0">
              <a:spcBef>
                <a:spcPct val="20000"/>
              </a:spcBef>
              <a:buClr>
                <a:schemeClr val="accent2"/>
              </a:buClr>
              <a:buSzPct val="80000"/>
              <a:buFont typeface="Wingdings" panose="05000000000000000000" pitchFamily="2" charset="2"/>
            </a:pPr>
            <a:r>
              <a:rPr lang="en-US" altLang="zh-CN" sz="2800" dirty="0">
                <a:latin typeface="宋体" panose="02010600030101010101" pitchFamily="2" charset="-122"/>
                <a:ea typeface="宋体" panose="02010600030101010101" pitchFamily="2" charset="-122"/>
              </a:rPr>
              <a:t>STOP：HLT </a:t>
            </a:r>
            <a:endParaRPr lang="en-US" altLang="zh-CN" sz="2400" dirty="0">
              <a:latin typeface="宋体" panose="02010600030101010101" pitchFamily="2" charset="-122"/>
              <a:ea typeface="宋体" panose="02010600030101010101" pitchFamily="2" charset="-122"/>
            </a:endParaRPr>
          </a:p>
        </p:txBody>
      </p:sp>
      <p:sp>
        <p:nvSpPr>
          <p:cNvPr id="131077" name="Line 6"/>
          <p:cNvSpPr/>
          <p:nvPr/>
        </p:nvSpPr>
        <p:spPr>
          <a:xfrm>
            <a:off x="4356100" y="2590800"/>
            <a:ext cx="0" cy="4114800"/>
          </a:xfrm>
          <a:prstGeom prst="line">
            <a:avLst/>
          </a:prstGeom>
          <a:ln w="25400" cap="flat" cmpd="sng">
            <a:solidFill>
              <a:srgbClr val="339966"/>
            </a:solidFill>
            <a:prstDash val="dash"/>
            <a:headEnd type="none" w="med" len="med"/>
            <a:tailEnd type="none" w="med" len="med"/>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2098">
                                            <p:txEl>
                                              <p:charRg st="0" end="21"/>
                                            </p:txEl>
                                          </p:spTgt>
                                        </p:tgtEl>
                                        <p:attrNameLst>
                                          <p:attrName>style.visibility</p:attrName>
                                        </p:attrNameLst>
                                      </p:cBhvr>
                                      <p:to>
                                        <p:strVal val="visible"/>
                                      </p:to>
                                    </p:set>
                                    <p:anim calcmode="lin" valueType="num">
                                      <p:cBhvr>
                                        <p:cTn id="7" dur="500" fill="hold"/>
                                        <p:tgtEl>
                                          <p:spTgt spid="132098">
                                            <p:txEl>
                                              <p:charRg st="0" end="21"/>
                                            </p:txEl>
                                          </p:spTgt>
                                        </p:tgtEl>
                                        <p:attrNameLst>
                                          <p:attrName>ppt_x</p:attrName>
                                        </p:attrNameLst>
                                      </p:cBhvr>
                                      <p:tavLst>
                                        <p:tav tm="0">
                                          <p:val>
                                            <p:strVal val="0-#ppt_w/2"/>
                                          </p:val>
                                        </p:tav>
                                        <p:tav tm="100000">
                                          <p:val>
                                            <p:strVal val="#ppt_x"/>
                                          </p:val>
                                        </p:tav>
                                      </p:tavLst>
                                    </p:anim>
                                    <p:anim calcmode="lin" valueType="num">
                                      <p:cBhvr>
                                        <p:cTn id="8" dur="500" fill="hold"/>
                                        <p:tgtEl>
                                          <p:spTgt spid="132098">
                                            <p:txEl>
                                              <p:charRg st="0" end="2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2099">
                                            <p:txEl>
                                              <p:charRg st="0" end="13"/>
                                            </p:txEl>
                                          </p:spTgt>
                                        </p:tgtEl>
                                        <p:attrNameLst>
                                          <p:attrName>style.visibility</p:attrName>
                                        </p:attrNameLst>
                                      </p:cBhvr>
                                      <p:to>
                                        <p:strVal val="visible"/>
                                      </p:to>
                                    </p:set>
                                    <p:anim calcmode="lin" valueType="num">
                                      <p:cBhvr>
                                        <p:cTn id="13" dur="500" fill="hold"/>
                                        <p:tgtEl>
                                          <p:spTgt spid="132099">
                                            <p:txEl>
                                              <p:charRg st="0" end="13"/>
                                            </p:txEl>
                                          </p:spTgt>
                                        </p:tgtEl>
                                        <p:attrNameLst>
                                          <p:attrName>ppt_x</p:attrName>
                                        </p:attrNameLst>
                                      </p:cBhvr>
                                      <p:tavLst>
                                        <p:tav tm="0">
                                          <p:val>
                                            <p:strVal val="0-#ppt_w/2"/>
                                          </p:val>
                                        </p:tav>
                                        <p:tav tm="100000">
                                          <p:val>
                                            <p:strVal val="#ppt_x"/>
                                          </p:val>
                                        </p:tav>
                                      </p:tavLst>
                                    </p:anim>
                                    <p:anim calcmode="lin" valueType="num">
                                      <p:cBhvr>
                                        <p:cTn id="14" dur="500" fill="hold"/>
                                        <p:tgtEl>
                                          <p:spTgt spid="132099">
                                            <p:txEl>
                                              <p:charRg st="0" end="1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2099">
                                            <p:txEl>
                                              <p:charRg st="13" end="26"/>
                                            </p:txEl>
                                          </p:spTgt>
                                        </p:tgtEl>
                                        <p:attrNameLst>
                                          <p:attrName>style.visibility</p:attrName>
                                        </p:attrNameLst>
                                      </p:cBhvr>
                                      <p:to>
                                        <p:strVal val="visible"/>
                                      </p:to>
                                    </p:set>
                                    <p:anim calcmode="lin" valueType="num">
                                      <p:cBhvr>
                                        <p:cTn id="19" dur="500" fill="hold"/>
                                        <p:tgtEl>
                                          <p:spTgt spid="132099">
                                            <p:txEl>
                                              <p:charRg st="13" end="26"/>
                                            </p:txEl>
                                          </p:spTgt>
                                        </p:tgtEl>
                                        <p:attrNameLst>
                                          <p:attrName>ppt_x</p:attrName>
                                        </p:attrNameLst>
                                      </p:cBhvr>
                                      <p:tavLst>
                                        <p:tav tm="0">
                                          <p:val>
                                            <p:strVal val="0-#ppt_w/2"/>
                                          </p:val>
                                        </p:tav>
                                        <p:tav tm="100000">
                                          <p:val>
                                            <p:strVal val="#ppt_x"/>
                                          </p:val>
                                        </p:tav>
                                      </p:tavLst>
                                    </p:anim>
                                    <p:anim calcmode="lin" valueType="num">
                                      <p:cBhvr>
                                        <p:cTn id="20" dur="500" fill="hold"/>
                                        <p:tgtEl>
                                          <p:spTgt spid="132099">
                                            <p:txEl>
                                              <p:charRg st="13" end="2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1"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32099">
                                            <p:txEl>
                                              <p:charRg st="26" end="38"/>
                                            </p:txEl>
                                          </p:spTgt>
                                        </p:tgtEl>
                                        <p:attrNameLst>
                                          <p:attrName>style.visibility</p:attrName>
                                        </p:attrNameLst>
                                      </p:cBhvr>
                                      <p:to>
                                        <p:strVal val="visible"/>
                                      </p:to>
                                    </p:set>
                                    <p:anim calcmode="lin" valueType="num">
                                      <p:cBhvr>
                                        <p:cTn id="25" dur="500" fill="hold"/>
                                        <p:tgtEl>
                                          <p:spTgt spid="132099">
                                            <p:txEl>
                                              <p:charRg st="26" end="38"/>
                                            </p:txEl>
                                          </p:spTgt>
                                        </p:tgtEl>
                                        <p:attrNameLst>
                                          <p:attrName>ppt_x</p:attrName>
                                        </p:attrNameLst>
                                      </p:cBhvr>
                                      <p:tavLst>
                                        <p:tav tm="0">
                                          <p:val>
                                            <p:strVal val="0-#ppt_w/2"/>
                                          </p:val>
                                        </p:tav>
                                        <p:tav tm="100000">
                                          <p:val>
                                            <p:strVal val="#ppt_x"/>
                                          </p:val>
                                        </p:tav>
                                      </p:tavLst>
                                    </p:anim>
                                    <p:anim calcmode="lin" valueType="num">
                                      <p:cBhvr>
                                        <p:cTn id="26" dur="500" fill="hold"/>
                                        <p:tgtEl>
                                          <p:spTgt spid="132099">
                                            <p:txEl>
                                              <p:charRg st="26" end="3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1" name="whoosh.wav"/>
                                        </p:tgtEl>
                                      </p:cMediaNode>
                                    </p:audio>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32099">
                                            <p:txEl>
                                              <p:charRg st="38" end="43"/>
                                            </p:txEl>
                                          </p:spTgt>
                                        </p:tgtEl>
                                        <p:attrNameLst>
                                          <p:attrName>style.visibility</p:attrName>
                                        </p:attrNameLst>
                                      </p:cBhvr>
                                      <p:to>
                                        <p:strVal val="visible"/>
                                      </p:to>
                                    </p:set>
                                    <p:anim calcmode="lin" valueType="num">
                                      <p:cBhvr>
                                        <p:cTn id="31" dur="500" fill="hold"/>
                                        <p:tgtEl>
                                          <p:spTgt spid="132099">
                                            <p:txEl>
                                              <p:charRg st="38" end="43"/>
                                            </p:txEl>
                                          </p:spTgt>
                                        </p:tgtEl>
                                        <p:attrNameLst>
                                          <p:attrName>ppt_x</p:attrName>
                                        </p:attrNameLst>
                                      </p:cBhvr>
                                      <p:tavLst>
                                        <p:tav tm="0">
                                          <p:val>
                                            <p:strVal val="0-#ppt_w/2"/>
                                          </p:val>
                                        </p:tav>
                                        <p:tav tm="100000">
                                          <p:val>
                                            <p:strVal val="#ppt_x"/>
                                          </p:val>
                                        </p:tav>
                                      </p:tavLst>
                                    </p:anim>
                                    <p:anim calcmode="lin" valueType="num">
                                      <p:cBhvr>
                                        <p:cTn id="32" dur="500" fill="hold"/>
                                        <p:tgtEl>
                                          <p:spTgt spid="132099">
                                            <p:txEl>
                                              <p:charRg st="38" end="4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1" name="whoosh.wav"/>
                                        </p:tgtEl>
                                      </p:cMediaNode>
                                    </p:audio>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32099">
                                            <p:txEl>
                                              <p:charRg st="43" end="57"/>
                                            </p:txEl>
                                          </p:spTgt>
                                        </p:tgtEl>
                                        <p:attrNameLst>
                                          <p:attrName>style.visibility</p:attrName>
                                        </p:attrNameLst>
                                      </p:cBhvr>
                                      <p:to>
                                        <p:strVal val="visible"/>
                                      </p:to>
                                    </p:set>
                                    <p:anim calcmode="lin" valueType="num">
                                      <p:cBhvr>
                                        <p:cTn id="37" dur="500" fill="hold"/>
                                        <p:tgtEl>
                                          <p:spTgt spid="132099">
                                            <p:txEl>
                                              <p:charRg st="43" end="57"/>
                                            </p:txEl>
                                          </p:spTgt>
                                        </p:tgtEl>
                                        <p:attrNameLst>
                                          <p:attrName>ppt_x</p:attrName>
                                        </p:attrNameLst>
                                      </p:cBhvr>
                                      <p:tavLst>
                                        <p:tav tm="0">
                                          <p:val>
                                            <p:strVal val="0-#ppt_w/2"/>
                                          </p:val>
                                        </p:tav>
                                        <p:tav tm="100000">
                                          <p:val>
                                            <p:strVal val="#ppt_x"/>
                                          </p:val>
                                        </p:tav>
                                      </p:tavLst>
                                    </p:anim>
                                    <p:anim calcmode="lin" valueType="num">
                                      <p:cBhvr>
                                        <p:cTn id="38" dur="500" fill="hold"/>
                                        <p:tgtEl>
                                          <p:spTgt spid="132099">
                                            <p:txEl>
                                              <p:charRg st="43" end="5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1" name="whoosh.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32099">
                                            <p:txEl>
                                              <p:charRg st="57" end="72"/>
                                            </p:txEl>
                                          </p:spTgt>
                                        </p:tgtEl>
                                        <p:attrNameLst>
                                          <p:attrName>style.visibility</p:attrName>
                                        </p:attrNameLst>
                                      </p:cBhvr>
                                      <p:to>
                                        <p:strVal val="visible"/>
                                      </p:to>
                                    </p:set>
                                    <p:anim calcmode="lin" valueType="num">
                                      <p:cBhvr>
                                        <p:cTn id="43" dur="500" fill="hold"/>
                                        <p:tgtEl>
                                          <p:spTgt spid="132099">
                                            <p:txEl>
                                              <p:charRg st="57" end="72"/>
                                            </p:txEl>
                                          </p:spTgt>
                                        </p:tgtEl>
                                        <p:attrNameLst>
                                          <p:attrName>ppt_x</p:attrName>
                                        </p:attrNameLst>
                                      </p:cBhvr>
                                      <p:tavLst>
                                        <p:tav tm="0">
                                          <p:val>
                                            <p:strVal val="0-#ppt_w/2"/>
                                          </p:val>
                                        </p:tav>
                                        <p:tav tm="100000">
                                          <p:val>
                                            <p:strVal val="#ppt_x"/>
                                          </p:val>
                                        </p:tav>
                                      </p:tavLst>
                                    </p:anim>
                                    <p:anim calcmode="lin" valueType="num">
                                      <p:cBhvr>
                                        <p:cTn id="44" dur="500" fill="hold"/>
                                        <p:tgtEl>
                                          <p:spTgt spid="132099">
                                            <p:txEl>
                                              <p:charRg st="57" end="7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1" name="whoosh.wav"/>
                                        </p:tgtEl>
                                      </p:cMediaNode>
                                    </p:audio>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32100">
                                            <p:txEl>
                                              <p:charRg st="0" end="15"/>
                                            </p:txEl>
                                          </p:spTgt>
                                        </p:tgtEl>
                                        <p:attrNameLst>
                                          <p:attrName>style.visibility</p:attrName>
                                        </p:attrNameLst>
                                      </p:cBhvr>
                                      <p:to>
                                        <p:strVal val="visible"/>
                                      </p:to>
                                    </p:set>
                                    <p:anim calcmode="lin" valueType="num">
                                      <p:cBhvr>
                                        <p:cTn id="49" dur="500" fill="hold"/>
                                        <p:tgtEl>
                                          <p:spTgt spid="132100">
                                            <p:txEl>
                                              <p:charRg st="0" end="15"/>
                                            </p:txEl>
                                          </p:spTgt>
                                        </p:tgtEl>
                                        <p:attrNameLst>
                                          <p:attrName>ppt_x</p:attrName>
                                        </p:attrNameLst>
                                      </p:cBhvr>
                                      <p:tavLst>
                                        <p:tav tm="0">
                                          <p:val>
                                            <p:strVal val="0-#ppt_w/2"/>
                                          </p:val>
                                        </p:tav>
                                        <p:tav tm="100000">
                                          <p:val>
                                            <p:strVal val="#ppt_x"/>
                                          </p:val>
                                        </p:tav>
                                      </p:tavLst>
                                    </p:anim>
                                    <p:anim calcmode="lin" valueType="num">
                                      <p:cBhvr>
                                        <p:cTn id="50" dur="500" fill="hold"/>
                                        <p:tgtEl>
                                          <p:spTgt spid="132100">
                                            <p:txEl>
                                              <p:charRg st="0" end="15"/>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32100">
                                            <p:txEl>
                                              <p:charRg st="15" end="24"/>
                                            </p:txEl>
                                          </p:spTgt>
                                        </p:tgtEl>
                                        <p:attrNameLst>
                                          <p:attrName>style.visibility</p:attrName>
                                        </p:attrNameLst>
                                      </p:cBhvr>
                                      <p:to>
                                        <p:strVal val="visible"/>
                                      </p:to>
                                    </p:set>
                                    <p:anim calcmode="lin" valueType="num">
                                      <p:cBhvr>
                                        <p:cTn id="55" dur="500" fill="hold"/>
                                        <p:tgtEl>
                                          <p:spTgt spid="132100">
                                            <p:txEl>
                                              <p:charRg st="15" end="24"/>
                                            </p:txEl>
                                          </p:spTgt>
                                        </p:tgtEl>
                                        <p:attrNameLst>
                                          <p:attrName>ppt_x</p:attrName>
                                        </p:attrNameLst>
                                      </p:cBhvr>
                                      <p:tavLst>
                                        <p:tav tm="0">
                                          <p:val>
                                            <p:strVal val="0-#ppt_w/2"/>
                                          </p:val>
                                        </p:tav>
                                        <p:tav tm="100000">
                                          <p:val>
                                            <p:strVal val="#ppt_x"/>
                                          </p:val>
                                        </p:tav>
                                      </p:tavLst>
                                    </p:anim>
                                    <p:anim calcmode="lin" valueType="num">
                                      <p:cBhvr>
                                        <p:cTn id="56" dur="500" fill="hold"/>
                                        <p:tgtEl>
                                          <p:spTgt spid="132100">
                                            <p:txEl>
                                              <p:charRg st="15" end="24"/>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32100">
                                            <p:txEl>
                                              <p:charRg st="24" end="34"/>
                                            </p:txEl>
                                          </p:spTgt>
                                        </p:tgtEl>
                                        <p:attrNameLst>
                                          <p:attrName>style.visibility</p:attrName>
                                        </p:attrNameLst>
                                      </p:cBhvr>
                                      <p:to>
                                        <p:strVal val="visible"/>
                                      </p:to>
                                    </p:set>
                                    <p:anim calcmode="lin" valueType="num">
                                      <p:cBhvr>
                                        <p:cTn id="61" dur="500" fill="hold"/>
                                        <p:tgtEl>
                                          <p:spTgt spid="132100">
                                            <p:txEl>
                                              <p:charRg st="24" end="34"/>
                                            </p:txEl>
                                          </p:spTgt>
                                        </p:tgtEl>
                                        <p:attrNameLst>
                                          <p:attrName>ppt_x</p:attrName>
                                        </p:attrNameLst>
                                      </p:cBhvr>
                                      <p:tavLst>
                                        <p:tav tm="0">
                                          <p:val>
                                            <p:strVal val="0-#ppt_w/2"/>
                                          </p:val>
                                        </p:tav>
                                        <p:tav tm="100000">
                                          <p:val>
                                            <p:strVal val="#ppt_x"/>
                                          </p:val>
                                        </p:tav>
                                      </p:tavLst>
                                    </p:anim>
                                    <p:anim calcmode="lin" valueType="num">
                                      <p:cBhvr>
                                        <p:cTn id="62" dur="500" fill="hold"/>
                                        <p:tgtEl>
                                          <p:spTgt spid="132100">
                                            <p:txEl>
                                              <p:charRg st="24" end="3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build="p"/>
      <p:bldP spid="132099" grpId="0" build="p"/>
      <p:bldP spid="132100"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2"/>
          <p:cNvSpPr>
            <a:spLocks noGrp="1"/>
          </p:cNvSpPr>
          <p:nvPr>
            <p:ph type="title" idx="4294967295"/>
          </p:nvPr>
        </p:nvSpPr>
        <p:spPr>
          <a:xfrm>
            <a:off x="490538" y="1120775"/>
            <a:ext cx="6553200" cy="563563"/>
          </a:xfrm>
        </p:spPr>
        <p:txBody>
          <a:bodyPr vert="horz" wrap="square" lIns="91440" tIns="45720" rIns="91440" bIns="45720" anchor="ctr" anchorCtr="0"/>
          <a:p>
            <a:r>
              <a:rPr lang="zh-CN" altLang="en-US" dirty="0">
                <a:solidFill>
                  <a:srgbClr val="000033"/>
                </a:solidFill>
                <a:latin typeface="宋体" panose="02010600030101010101" pitchFamily="2" charset="-122"/>
                <a:ea typeface="宋体" panose="02010600030101010101" pitchFamily="2" charset="-122"/>
              </a:rPr>
              <a:t>（</a:t>
            </a:r>
            <a:r>
              <a:rPr lang="en-US" altLang="zh-CN" dirty="0">
                <a:solidFill>
                  <a:srgbClr val="000033"/>
                </a:solidFill>
                <a:latin typeface="宋体" panose="02010600030101010101" pitchFamily="2" charset="-122"/>
                <a:ea typeface="宋体" panose="02010600030101010101" pitchFamily="2" charset="-122"/>
              </a:rPr>
              <a:t>3</a:t>
            </a:r>
            <a:r>
              <a:rPr lang="zh-CN" altLang="en-US" dirty="0">
                <a:solidFill>
                  <a:srgbClr val="000033"/>
                </a:solidFill>
                <a:latin typeface="宋体" panose="02010600030101010101" pitchFamily="2" charset="-122"/>
                <a:ea typeface="宋体" panose="02010600030101010101" pitchFamily="2" charset="-122"/>
              </a:rPr>
              <a:t>）串扫描指令</a:t>
            </a:r>
            <a:endParaRPr lang="zh-CN" altLang="en-US" dirty="0">
              <a:solidFill>
                <a:srgbClr val="000033"/>
              </a:solidFill>
              <a:latin typeface="宋体" panose="02010600030101010101" pitchFamily="2" charset="-122"/>
              <a:ea typeface="宋体" panose="02010600030101010101" pitchFamily="2" charset="-122"/>
            </a:endParaRPr>
          </a:p>
        </p:txBody>
      </p:sp>
      <p:sp>
        <p:nvSpPr>
          <p:cNvPr id="133123" name="Rectangle 3"/>
          <p:cNvSpPr>
            <a:spLocks noGrp="1"/>
          </p:cNvSpPr>
          <p:nvPr>
            <p:ph type="body" idx="4294967295"/>
          </p:nvPr>
        </p:nvSpPr>
        <p:spPr>
          <a:xfrm>
            <a:off x="750888" y="2128838"/>
            <a:ext cx="8393112" cy="3963987"/>
          </a:xfrm>
        </p:spPr>
        <p:txBody>
          <a:bodyPr vert="horz" wrap="square" lIns="91440" tIns="45720" rIns="91440" bIns="45720" anchor="t" anchorCtr="0"/>
          <a:p>
            <a:pPr>
              <a:spcAft>
                <a:spcPct val="25000"/>
              </a:spcAft>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格式：</a:t>
            </a:r>
            <a:endParaRPr lang="zh-CN" altLang="en-US"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SCAS    OPRD</a:t>
            </a:r>
            <a:endParaRPr lang="en-US" altLang="zh-CN"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rPr>
              <a:t>  SCASB</a:t>
            </a:r>
            <a:endParaRPr lang="en-US" altLang="zh-CN" dirty="0">
              <a:latin typeface="宋体" panose="02010600030101010101" pitchFamily="2" charset="-122"/>
              <a:ea typeface="宋体" panose="02010600030101010101" pitchFamily="2" charset="-122"/>
            </a:endParaRPr>
          </a:p>
          <a:p>
            <a:pPr>
              <a:spcAft>
                <a:spcPct val="45000"/>
              </a:spcAft>
              <a:buNone/>
            </a:pPr>
            <a:r>
              <a:rPr lang="en-US" altLang="zh-CN" dirty="0">
                <a:latin typeface="宋体" panose="02010600030101010101" pitchFamily="2" charset="-122"/>
                <a:ea typeface="宋体" panose="02010600030101010101" pitchFamily="2" charset="-122"/>
              </a:rPr>
              <a:t>  SCASW</a:t>
            </a:r>
            <a:endParaRPr lang="en-US" altLang="zh-CN" dirty="0">
              <a:latin typeface="宋体" panose="02010600030101010101" pitchFamily="2" charset="-122"/>
              <a:ea typeface="宋体" panose="02010600030101010101" pitchFamily="2" charset="-122"/>
            </a:endParaRPr>
          </a:p>
          <a:p>
            <a:pPr>
              <a:buFont typeface="Wingdings" panose="05000000000000000000" pitchFamily="2" charset="2"/>
              <a:buChar char="Ø"/>
            </a:pPr>
            <a:r>
              <a:rPr lang="zh-CN" altLang="en-US" dirty="0">
                <a:solidFill>
                  <a:srgbClr val="FF0000"/>
                </a:solidFill>
                <a:latin typeface="宋体" panose="02010600030101010101" pitchFamily="2" charset="-122"/>
                <a:ea typeface="宋体" panose="02010600030101010101" pitchFamily="2" charset="-122"/>
              </a:rPr>
              <a:t>执行与</a:t>
            </a:r>
            <a:r>
              <a:rPr lang="en-US" altLang="zh-CN" dirty="0">
                <a:solidFill>
                  <a:srgbClr val="FF0000"/>
                </a:solidFill>
                <a:latin typeface="宋体" panose="02010600030101010101" pitchFamily="2" charset="-122"/>
                <a:ea typeface="宋体" panose="02010600030101010101" pitchFamily="2" charset="-122"/>
              </a:rPr>
              <a:t>CMPS</a:t>
            </a:r>
            <a:r>
              <a:rPr lang="zh-CN" altLang="en-US" dirty="0">
                <a:solidFill>
                  <a:srgbClr val="FF0000"/>
                </a:solidFill>
                <a:latin typeface="宋体" panose="02010600030101010101" pitchFamily="2" charset="-122"/>
                <a:ea typeface="宋体" panose="02010600030101010101" pitchFamily="2" charset="-122"/>
              </a:rPr>
              <a:t>指令相似的操作，只是这里的源操作数是</a:t>
            </a:r>
            <a:r>
              <a:rPr lang="en-US" altLang="zh-CN" dirty="0">
                <a:solidFill>
                  <a:srgbClr val="FF0000"/>
                </a:solidFill>
                <a:latin typeface="宋体" panose="02010600030101010101" pitchFamily="2" charset="-122"/>
                <a:ea typeface="宋体" panose="02010600030101010101" pitchFamily="2" charset="-122"/>
              </a:rPr>
              <a:t>AX</a:t>
            </a:r>
            <a:r>
              <a:rPr lang="zh-CN" altLang="en-US" dirty="0">
                <a:solidFill>
                  <a:srgbClr val="FF0000"/>
                </a:solidFill>
                <a:latin typeface="宋体" panose="02010600030101010101" pitchFamily="2" charset="-122"/>
                <a:ea typeface="宋体" panose="02010600030101010101" pitchFamily="2" charset="-122"/>
              </a:rPr>
              <a:t>或</a:t>
            </a:r>
            <a:r>
              <a:rPr lang="en-US" altLang="zh-CN" dirty="0">
                <a:solidFill>
                  <a:srgbClr val="FF0000"/>
                </a:solidFill>
                <a:latin typeface="宋体" panose="02010600030101010101" pitchFamily="2" charset="-122"/>
                <a:ea typeface="宋体" panose="02010600030101010101" pitchFamily="2" charset="-122"/>
              </a:rPr>
              <a:t>AL</a:t>
            </a:r>
            <a:r>
              <a:rPr lang="zh-CN" altLang="en-US" dirty="0">
                <a:solidFill>
                  <a:srgbClr val="FF0000"/>
                </a:solidFill>
                <a:latin typeface="宋体" panose="02010600030101010101" pitchFamily="2" charset="-122"/>
                <a:ea typeface="宋体" panose="02010600030101010101" pitchFamily="2" charset="-122"/>
              </a:rPr>
              <a:t>。</a:t>
            </a:r>
            <a:endParaRPr lang="en-US" altLang="zh-CN" dirty="0">
              <a:solidFill>
                <a:srgbClr val="FF0000"/>
              </a:solidFill>
              <a:latin typeface="宋体" panose="02010600030101010101" pitchFamily="2" charset="-122"/>
              <a:ea typeface="宋体" panose="02010600030101010101" pitchFamily="2" charset="-122"/>
            </a:endParaRPr>
          </a:p>
          <a:p>
            <a:pPr>
              <a:buFont typeface="Wingdings" panose="05000000000000000000" pitchFamily="2" charset="2"/>
              <a:buChar char="Ø"/>
            </a:pPr>
            <a:r>
              <a:rPr lang="zh-CN" altLang="en-US" b="0" dirty="0">
                <a:ea typeface="宋体" panose="02010600030101010101" pitchFamily="2" charset="-122"/>
              </a:rPr>
              <a:t>常用于在指定存储区域中寻找某个关键字。</a:t>
            </a:r>
            <a:endParaRPr lang="en-US" altLang="zh-CN" dirty="0">
              <a:solidFill>
                <a:srgbClr val="FF0000"/>
              </a:solidFill>
              <a:latin typeface="宋体" panose="02010600030101010101" pitchFamily="2" charset="-122"/>
              <a:ea typeface="宋体" panose="02010600030101010101" pitchFamily="2" charset="-122"/>
            </a:endParaRPr>
          </a:p>
          <a:p>
            <a:pPr>
              <a:buFont typeface="Wingdings" panose="05000000000000000000" pitchFamily="2" charset="2"/>
              <a:buChar char="Ø"/>
            </a:pPr>
            <a:endParaRPr lang="en-US" altLang="zh-CN" dirty="0">
              <a:solidFill>
                <a:srgbClr val="FF0000"/>
              </a:solidFill>
              <a:latin typeface="宋体" panose="02010600030101010101" pitchFamily="2" charset="-122"/>
              <a:ea typeface="宋体" panose="02010600030101010101" pitchFamily="2" charset="-122"/>
            </a:endParaRPr>
          </a:p>
          <a:p>
            <a:pPr>
              <a:buFont typeface="Wingdings" panose="05000000000000000000" pitchFamily="2" charset="2"/>
              <a:buChar char="Ø"/>
            </a:pPr>
            <a:endParaRPr lang="en-US" altLang="zh-CN" dirty="0">
              <a:solidFill>
                <a:srgbClr val="FF0000"/>
              </a:solidFill>
              <a:latin typeface="宋体" panose="02010600030101010101" pitchFamily="2" charset="-122"/>
              <a:ea typeface="宋体" panose="02010600030101010101" pitchFamily="2" charset="-122"/>
            </a:endParaRPr>
          </a:p>
        </p:txBody>
      </p:sp>
      <p:sp>
        <p:nvSpPr>
          <p:cNvPr id="133124" name="AutoShape 4"/>
          <p:cNvSpPr/>
          <p:nvPr/>
        </p:nvSpPr>
        <p:spPr>
          <a:xfrm>
            <a:off x="4294188" y="2128838"/>
            <a:ext cx="1295400" cy="838200"/>
          </a:xfrm>
          <a:prstGeom prst="wedgeRoundRectCallout">
            <a:avLst>
              <a:gd name="adj1" fmla="val -102574"/>
              <a:gd name="adj2" fmla="val 58144"/>
              <a:gd name="adj3" fmla="val 16667"/>
            </a:avLst>
          </a:prstGeom>
          <a:solidFill>
            <a:srgbClr val="FF6600"/>
          </a:solidFill>
          <a:ln w="25400" cap="sq" cmpd="sng">
            <a:solidFill>
              <a:srgbClr val="FF6600"/>
            </a:solidFill>
            <a:prstDash val="solid"/>
            <a:miter/>
            <a:headEnd type="none" w="med" len="med"/>
            <a:tailEnd type="none" w="med" len="med"/>
          </a:ln>
        </p:spPr>
        <p:txBody>
          <a:bodyPr/>
          <a:p>
            <a:pPr eaLnBrk="0" hangingPunct="0">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目   标</a:t>
            </a:r>
            <a:endParaRPr lang="zh-CN" altLang="en-US" sz="2400" b="1" dirty="0">
              <a:solidFill>
                <a:schemeClr val="bg1"/>
              </a:solidFill>
              <a:latin typeface="Times New Roman" panose="02020603050405020304" pitchFamily="18" charset="0"/>
              <a:ea typeface="宋体" panose="02010600030101010101" pitchFamily="2" charset="-122"/>
            </a:endParaRPr>
          </a:p>
          <a:p>
            <a:pPr eaLnBrk="0" hangingPunct="0">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操作数</a:t>
            </a:r>
            <a:endParaRPr lang="zh-CN" altLang="en-US" sz="2400" b="1" dirty="0">
              <a:solidFill>
                <a:schemeClr val="bg1"/>
              </a:solidFill>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33123">
                                            <p:txEl>
                                              <p:charRg st="0" end="4"/>
                                            </p:txEl>
                                          </p:spTgt>
                                        </p:tgtEl>
                                        <p:attrNameLst>
                                          <p:attrName>style.visibility</p:attrName>
                                        </p:attrNameLst>
                                      </p:cBhvr>
                                      <p:to>
                                        <p:strVal val="visible"/>
                                      </p:to>
                                    </p:set>
                                    <p:animEffect transition="in" filter="strips(downRight)">
                                      <p:cBhvr>
                                        <p:cTn id="7" dur="500"/>
                                        <p:tgtEl>
                                          <p:spTgt spid="133123">
                                            <p:txEl>
                                              <p:charRg st="0"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33123">
                                            <p:txEl>
                                              <p:charRg st="4" end="19"/>
                                            </p:txEl>
                                          </p:spTgt>
                                        </p:tgtEl>
                                        <p:attrNameLst>
                                          <p:attrName>style.visibility</p:attrName>
                                        </p:attrNameLst>
                                      </p:cBhvr>
                                      <p:to>
                                        <p:strVal val="visible"/>
                                      </p:to>
                                    </p:set>
                                    <p:animEffect transition="in" filter="strips(downRight)">
                                      <p:cBhvr>
                                        <p:cTn id="12" dur="500"/>
                                        <p:tgtEl>
                                          <p:spTgt spid="133123">
                                            <p:txEl>
                                              <p:charRg st="4" end="1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3124"/>
                                        </p:tgtEl>
                                        <p:attrNameLst>
                                          <p:attrName>style.visibility</p:attrName>
                                        </p:attrNameLst>
                                      </p:cBhvr>
                                      <p:to>
                                        <p:strVal val="visible"/>
                                      </p:to>
                                    </p:set>
                                    <p:anim calcmode="lin" valueType="num">
                                      <p:cBhvr>
                                        <p:cTn id="17" dur="500" fill="hold"/>
                                        <p:tgtEl>
                                          <p:spTgt spid="133124"/>
                                        </p:tgtEl>
                                        <p:attrNameLst>
                                          <p:attrName>ppt_x</p:attrName>
                                        </p:attrNameLst>
                                      </p:cBhvr>
                                      <p:tavLst>
                                        <p:tav tm="0">
                                          <p:val>
                                            <p:strVal val="#ppt_x"/>
                                          </p:val>
                                        </p:tav>
                                        <p:tav tm="100000">
                                          <p:val>
                                            <p:strVal val="#ppt_x"/>
                                          </p:val>
                                        </p:tav>
                                      </p:tavLst>
                                    </p:anim>
                                    <p:anim calcmode="lin" valueType="num">
                                      <p:cBhvr>
                                        <p:cTn id="18" dur="500" fill="hold"/>
                                        <p:tgtEl>
                                          <p:spTgt spid="13312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8" presetClass="entr" presetSubtype="6" fill="hold" nodeType="clickEffect">
                                  <p:stCondLst>
                                    <p:cond delay="0"/>
                                  </p:stCondLst>
                                  <p:childTnLst>
                                    <p:set>
                                      <p:cBhvr>
                                        <p:cTn id="22" dur="1" fill="hold">
                                          <p:stCondLst>
                                            <p:cond delay="0"/>
                                          </p:stCondLst>
                                        </p:cTn>
                                        <p:tgtEl>
                                          <p:spTgt spid="133123">
                                            <p:txEl>
                                              <p:charRg st="19" end="27"/>
                                            </p:txEl>
                                          </p:spTgt>
                                        </p:tgtEl>
                                        <p:attrNameLst>
                                          <p:attrName>style.visibility</p:attrName>
                                        </p:attrNameLst>
                                      </p:cBhvr>
                                      <p:to>
                                        <p:strVal val="visible"/>
                                      </p:to>
                                    </p:set>
                                    <p:animEffect transition="in" filter="strips(downRight)">
                                      <p:cBhvr>
                                        <p:cTn id="23" dur="500"/>
                                        <p:tgtEl>
                                          <p:spTgt spid="133123">
                                            <p:txEl>
                                              <p:charRg st="19" end="27"/>
                                            </p:txEl>
                                          </p:spTgt>
                                        </p:tgtEl>
                                      </p:cBhvr>
                                    </p:animEffect>
                                  </p:childTnLst>
                                </p:cTn>
                              </p:par>
                            </p:childTnLst>
                          </p:cTn>
                        </p:par>
                        <p:par>
                          <p:cTn id="24" fill="hold">
                            <p:stCondLst>
                              <p:cond delay="500"/>
                            </p:stCondLst>
                            <p:childTnLst>
                              <p:par>
                                <p:cTn id="25" presetID="18" presetClass="entr" presetSubtype="6" fill="hold" nodeType="afterEffect">
                                  <p:stCondLst>
                                    <p:cond delay="0"/>
                                  </p:stCondLst>
                                  <p:childTnLst>
                                    <p:set>
                                      <p:cBhvr>
                                        <p:cTn id="26" dur="1" fill="hold">
                                          <p:stCondLst>
                                            <p:cond delay="0"/>
                                          </p:stCondLst>
                                        </p:cTn>
                                        <p:tgtEl>
                                          <p:spTgt spid="133123">
                                            <p:txEl>
                                              <p:charRg st="27" end="35"/>
                                            </p:txEl>
                                          </p:spTgt>
                                        </p:tgtEl>
                                        <p:attrNameLst>
                                          <p:attrName>style.visibility</p:attrName>
                                        </p:attrNameLst>
                                      </p:cBhvr>
                                      <p:to>
                                        <p:strVal val="visible"/>
                                      </p:to>
                                    </p:set>
                                    <p:animEffect transition="in" filter="strips(downRight)">
                                      <p:cBhvr>
                                        <p:cTn id="27" dur="500"/>
                                        <p:tgtEl>
                                          <p:spTgt spid="133123">
                                            <p:txEl>
                                              <p:charRg st="27" end="3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133123">
                                            <p:txEl>
                                              <p:charRg st="35" end="67"/>
                                            </p:txEl>
                                          </p:spTgt>
                                        </p:tgtEl>
                                        <p:attrNameLst>
                                          <p:attrName>style.visibility</p:attrName>
                                        </p:attrNameLst>
                                      </p:cBhvr>
                                      <p:to>
                                        <p:strVal val="visible"/>
                                      </p:to>
                                    </p:set>
                                    <p:animEffect transition="in" filter="strips(downRight)">
                                      <p:cBhvr>
                                        <p:cTn id="32" dur="500"/>
                                        <p:tgtEl>
                                          <p:spTgt spid="133123">
                                            <p:txEl>
                                              <p:charRg st="35" end="6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133123">
                                            <p:txEl>
                                              <p:charRg st="67" end="87"/>
                                            </p:txEl>
                                          </p:spTgt>
                                        </p:tgtEl>
                                        <p:attrNameLst>
                                          <p:attrName>style.visibility</p:attrName>
                                        </p:attrNameLst>
                                      </p:cBhvr>
                                      <p:to>
                                        <p:strVal val="visible"/>
                                      </p:to>
                                    </p:set>
                                    <p:animEffect transition="in" filter="strips(downRight)">
                                      <p:cBhvr>
                                        <p:cTn id="37" dur="500"/>
                                        <p:tgtEl>
                                          <p:spTgt spid="133123">
                                            <p:txEl>
                                              <p:charRg st="67" end="8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4"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矩形 1"/>
          <p:cNvSpPr/>
          <p:nvPr/>
        </p:nvSpPr>
        <p:spPr>
          <a:xfrm>
            <a:off x="395288" y="1125538"/>
            <a:ext cx="8353425" cy="5076825"/>
          </a:xfrm>
          <a:prstGeom prst="rect">
            <a:avLst/>
          </a:prstGeom>
          <a:noFill/>
          <a:ln w="9525">
            <a:noFill/>
          </a:ln>
        </p:spPr>
        <p:txBody>
          <a:bodyPr>
            <a:spAutoFit/>
          </a:bodyPr>
          <a:p>
            <a:pPr eaLnBrk="0" hangingPunct="0">
              <a:lnSpc>
                <a:spcPct val="150000"/>
              </a:lnSpc>
            </a:pP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例</a:t>
            </a:r>
            <a:r>
              <a:rPr lang="en-US" altLang="zh-CN" sz="2400"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要求从段首元素的偏移地址为</a:t>
            </a:r>
            <a:r>
              <a:rPr lang="en-US" altLang="zh-CN" sz="2400" b="1" dirty="0">
                <a:latin typeface="宋体" panose="02010600030101010101" pitchFamily="2" charset="-122"/>
                <a:ea typeface="宋体" panose="02010600030101010101" pitchFamily="2" charset="-122"/>
              </a:rPr>
              <a:t>0100H</a:t>
            </a:r>
            <a:r>
              <a:rPr lang="zh-CN" altLang="en-US" sz="2400" b="1" dirty="0">
                <a:latin typeface="宋体" panose="02010600030101010101" pitchFamily="2" charset="-122"/>
                <a:ea typeface="宋体" panose="02010600030101010101" pitchFamily="2" charset="-122"/>
              </a:rPr>
              <a:t>的一个字符串（字符个数为</a:t>
            </a:r>
            <a:r>
              <a:rPr lang="en-US" altLang="zh-CN" sz="2400" b="1" dirty="0">
                <a:latin typeface="宋体" panose="02010600030101010101" pitchFamily="2" charset="-122"/>
                <a:ea typeface="宋体" panose="02010600030101010101" pitchFamily="2" charset="-122"/>
              </a:rPr>
              <a:t>256</a:t>
            </a:r>
            <a:r>
              <a:rPr lang="zh-CN" altLang="en-US" sz="2400" b="1" dirty="0">
                <a:latin typeface="宋体" panose="02010600030101010101" pitchFamily="2" charset="-122"/>
                <a:ea typeface="宋体" panose="02010600030101010101" pitchFamily="2" charset="-122"/>
              </a:rPr>
              <a:t>）中找出指定的字符（如＄）。可用</a:t>
            </a:r>
            <a:r>
              <a:rPr lang="en-US" altLang="zh-CN" sz="2400" b="1" dirty="0">
                <a:latin typeface="宋体" panose="02010600030101010101" pitchFamily="2" charset="-122"/>
                <a:ea typeface="宋体" panose="02010600030101010101" pitchFamily="2" charset="-122"/>
              </a:rPr>
              <a:t>REPNZ SCASB</a:t>
            </a:r>
            <a:r>
              <a:rPr lang="zh-CN" altLang="en-US" sz="2400" b="1" dirty="0">
                <a:latin typeface="宋体" panose="02010600030101010101" pitchFamily="2" charset="-122"/>
                <a:ea typeface="宋体" panose="02010600030101010101" pitchFamily="2" charset="-122"/>
              </a:rPr>
              <a:t>指令实现。程序如下：</a:t>
            </a:r>
            <a:endParaRPr lang="zh-CN" altLang="en-US" sz="2400" b="1" dirty="0">
              <a:latin typeface="宋体" panose="02010600030101010101" pitchFamily="2" charset="-122"/>
              <a:ea typeface="宋体" panose="02010600030101010101" pitchFamily="2" charset="-122"/>
            </a:endParaRPr>
          </a:p>
          <a:p>
            <a:pPr eaLnBrk="0" hangingPunct="0">
              <a:lnSpc>
                <a:spcPct val="150000"/>
              </a:lnSpc>
            </a:pPr>
            <a:endParaRPr lang="zh-CN" altLang="en-US" sz="2400" b="1" dirty="0">
              <a:latin typeface="宋体" panose="02010600030101010101" pitchFamily="2" charset="-122"/>
              <a:ea typeface="宋体" panose="02010600030101010101" pitchFamily="2" charset="-122"/>
            </a:endParaRPr>
          </a:p>
          <a:p>
            <a:pPr eaLnBrk="0" hangingPunct="0">
              <a:lnSpc>
                <a:spcPct val="150000"/>
              </a:lnSpc>
            </a:pPr>
            <a:r>
              <a:rPr lang="en-US" altLang="zh-CN" sz="2400" b="1" dirty="0">
                <a:latin typeface="宋体" panose="02010600030101010101" pitchFamily="2" charset="-122"/>
                <a:ea typeface="宋体" panose="02010600030101010101" pitchFamily="2" charset="-122"/>
              </a:rPr>
              <a:t>CLD </a:t>
            </a: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 DF</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0</a:t>
            </a:r>
            <a:r>
              <a:rPr lang="zh-CN" altLang="en-US" sz="2400" b="1" dirty="0">
                <a:latin typeface="宋体" panose="02010600030101010101" pitchFamily="2" charset="-122"/>
                <a:ea typeface="宋体" panose="02010600030101010101" pitchFamily="2" charset="-122"/>
              </a:rPr>
              <a:t>，地址自动递增</a:t>
            </a:r>
            <a:endParaRPr lang="zh-CN" altLang="en-US" sz="2400" b="1" dirty="0">
              <a:latin typeface="宋体" panose="02010600030101010101" pitchFamily="2" charset="-122"/>
              <a:ea typeface="宋体" panose="02010600030101010101" pitchFamily="2" charset="-122"/>
            </a:endParaRPr>
          </a:p>
          <a:p>
            <a:pPr eaLnBrk="0" hangingPunct="0">
              <a:lnSpc>
                <a:spcPct val="150000"/>
              </a:lnSpc>
            </a:pPr>
            <a:r>
              <a:rPr lang="en-US" altLang="zh-CN" sz="2400" b="1" dirty="0">
                <a:latin typeface="宋体" panose="02010600030101010101" pitchFamily="2" charset="-122"/>
                <a:ea typeface="宋体" panose="02010600030101010101" pitchFamily="2" charset="-122"/>
              </a:rPr>
              <a:t>MOV </a:t>
            </a: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DI, 0100H </a:t>
            </a: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目标串首元素的偏移地址</a:t>
            </a:r>
            <a:endParaRPr lang="zh-CN" altLang="en-US" sz="2400" b="1" dirty="0">
              <a:latin typeface="宋体" panose="02010600030101010101" pitchFamily="2" charset="-122"/>
              <a:ea typeface="宋体" panose="02010600030101010101" pitchFamily="2" charset="-122"/>
            </a:endParaRPr>
          </a:p>
          <a:p>
            <a:pPr eaLnBrk="0" hangingPunct="0">
              <a:lnSpc>
                <a:spcPct val="150000"/>
              </a:lnSpc>
            </a:pPr>
            <a:r>
              <a:rPr lang="en-US" altLang="zh-CN" sz="2400" b="1" dirty="0">
                <a:latin typeface="宋体" panose="02010600030101010101" pitchFamily="2" charset="-122"/>
                <a:ea typeface="宋体" panose="02010600030101010101" pitchFamily="2" charset="-122"/>
              </a:rPr>
              <a:t>MOV </a:t>
            </a: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CX, 256 </a:t>
            </a: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设置计数器初始值</a:t>
            </a:r>
            <a:endParaRPr lang="zh-CN" altLang="en-US" sz="2400" b="1" dirty="0">
              <a:latin typeface="宋体" panose="02010600030101010101" pitchFamily="2" charset="-122"/>
              <a:ea typeface="宋体" panose="02010600030101010101" pitchFamily="2" charset="-122"/>
            </a:endParaRPr>
          </a:p>
          <a:p>
            <a:pPr eaLnBrk="0" hangingPunct="0">
              <a:lnSpc>
                <a:spcPct val="150000"/>
              </a:lnSpc>
            </a:pPr>
            <a:r>
              <a:rPr lang="en-US" altLang="zh-CN" sz="2400" b="1" dirty="0">
                <a:latin typeface="宋体" panose="02010600030101010101" pitchFamily="2" charset="-122"/>
                <a:ea typeface="宋体" panose="02010600030101010101" pitchFamily="2" charset="-122"/>
              </a:rPr>
              <a:t>MOV </a:t>
            </a: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AL, ‘</a:t>
            </a: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设关键字</a:t>
            </a:r>
            <a:endParaRPr lang="zh-CN" altLang="en-US" sz="2400" b="1" dirty="0">
              <a:latin typeface="宋体" panose="02010600030101010101" pitchFamily="2" charset="-122"/>
              <a:ea typeface="宋体" panose="02010600030101010101" pitchFamily="2" charset="-122"/>
            </a:endParaRPr>
          </a:p>
          <a:p>
            <a:pPr eaLnBrk="0" hangingPunct="0">
              <a:lnSpc>
                <a:spcPct val="150000"/>
              </a:lnSpc>
            </a:pPr>
            <a:r>
              <a:rPr lang="en-US" altLang="zh-CN" sz="2400" b="1" dirty="0">
                <a:latin typeface="宋体" panose="02010600030101010101" pitchFamily="2" charset="-122"/>
                <a:ea typeface="宋体" panose="02010600030101010101" pitchFamily="2" charset="-122"/>
              </a:rPr>
              <a:t>REPNZ SCASB </a:t>
            </a: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找关键字，若未找到则重复查找</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2"/>
          <p:cNvSpPr>
            <a:spLocks noGrp="1"/>
          </p:cNvSpPr>
          <p:nvPr>
            <p:ph type="title" idx="4294967295"/>
          </p:nvPr>
        </p:nvSpPr>
        <p:spPr>
          <a:xfrm>
            <a:off x="730250" y="1004888"/>
            <a:ext cx="3349625" cy="563562"/>
          </a:xfrm>
        </p:spPr>
        <p:txBody>
          <a:bodyPr vert="horz" wrap="square" lIns="91440" tIns="45720" rIns="91440" bIns="45720" anchor="ctr" anchorCtr="0"/>
          <a:p>
            <a:r>
              <a:rPr lang="zh-CN" altLang="en-US" dirty="0">
                <a:solidFill>
                  <a:srgbClr val="000033"/>
                </a:solidFill>
                <a:ea typeface="宋体" panose="02010600030101010101" pitchFamily="2" charset="-122"/>
              </a:rPr>
              <a:t>（</a:t>
            </a:r>
            <a:r>
              <a:rPr lang="en-US" altLang="zh-CN" dirty="0">
                <a:solidFill>
                  <a:srgbClr val="000033"/>
                </a:solidFill>
                <a:ea typeface="宋体" panose="02010600030101010101" pitchFamily="2" charset="-122"/>
              </a:rPr>
              <a:t>4</a:t>
            </a:r>
            <a:r>
              <a:rPr lang="zh-CN" altLang="en-US" dirty="0">
                <a:solidFill>
                  <a:srgbClr val="000033"/>
                </a:solidFill>
                <a:ea typeface="宋体" panose="02010600030101010101" pitchFamily="2" charset="-122"/>
              </a:rPr>
              <a:t>）串装入指令</a:t>
            </a:r>
            <a:endParaRPr lang="zh-CN" altLang="en-US" dirty="0">
              <a:solidFill>
                <a:srgbClr val="000033"/>
              </a:solidFill>
              <a:ea typeface="宋体" panose="02010600030101010101" pitchFamily="2" charset="-122"/>
            </a:endParaRPr>
          </a:p>
        </p:txBody>
      </p:sp>
      <p:sp>
        <p:nvSpPr>
          <p:cNvPr id="134147" name="Rectangle 3"/>
          <p:cNvSpPr>
            <a:spLocks noGrp="1"/>
          </p:cNvSpPr>
          <p:nvPr>
            <p:ph type="body" idx="4294967295"/>
          </p:nvPr>
        </p:nvSpPr>
        <p:spPr>
          <a:xfrm>
            <a:off x="996950" y="1647825"/>
            <a:ext cx="5118100" cy="4051300"/>
          </a:xfrm>
        </p:spPr>
        <p:txBody>
          <a:bodyPr vert="horz" wrap="square" lIns="91440" tIns="45720" rIns="91440" bIns="45720" anchor="t" anchorCtr="0"/>
          <a:p>
            <a:pPr>
              <a:spcAft>
                <a:spcPct val="30000"/>
              </a:spcAft>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格式：</a:t>
            </a:r>
            <a:endParaRPr lang="zh-CN" altLang="en-US"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LODS    OPRD</a:t>
            </a:r>
            <a:endParaRPr lang="en-US" altLang="zh-CN" dirty="0">
              <a:latin typeface="宋体" panose="02010600030101010101" pitchFamily="2" charset="-122"/>
              <a:ea typeface="宋体" panose="02010600030101010101" pitchFamily="2" charset="-122"/>
            </a:endParaRPr>
          </a:p>
          <a:p>
            <a:pPr>
              <a:buNone/>
            </a:pPr>
            <a:r>
              <a:rPr lang="en-US" altLang="zh-CN" dirty="0">
                <a:latin typeface="宋体" panose="02010600030101010101" pitchFamily="2" charset="-122"/>
                <a:ea typeface="宋体" panose="02010600030101010101" pitchFamily="2" charset="-122"/>
              </a:rPr>
              <a:t>  LODSB</a:t>
            </a:r>
            <a:endParaRPr lang="en-US" altLang="zh-CN" dirty="0">
              <a:latin typeface="宋体" panose="02010600030101010101" pitchFamily="2" charset="-122"/>
              <a:ea typeface="宋体" panose="02010600030101010101" pitchFamily="2" charset="-122"/>
            </a:endParaRPr>
          </a:p>
          <a:p>
            <a:pPr>
              <a:spcAft>
                <a:spcPct val="40000"/>
              </a:spcAft>
              <a:buNone/>
            </a:pPr>
            <a:r>
              <a:rPr lang="en-US" altLang="zh-CN" dirty="0">
                <a:latin typeface="宋体" panose="02010600030101010101" pitchFamily="2" charset="-122"/>
                <a:ea typeface="宋体" panose="02010600030101010101" pitchFamily="2" charset="-122"/>
              </a:rPr>
              <a:t>  LODSW</a:t>
            </a:r>
            <a:endParaRPr lang="en-US" altLang="zh-CN" dirty="0">
              <a:latin typeface="宋体" panose="02010600030101010101" pitchFamily="2" charset="-122"/>
              <a:ea typeface="宋体" panose="02010600030101010101" pitchFamily="2" charset="-122"/>
            </a:endParaRPr>
          </a:p>
          <a:p>
            <a:pPr>
              <a:spcBef>
                <a:spcPct val="45000"/>
              </a:spcBef>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操作：</a:t>
            </a:r>
            <a:endParaRPr lang="zh-CN" altLang="en-US" dirty="0">
              <a:latin typeface="宋体" panose="02010600030101010101" pitchFamily="2" charset="-122"/>
              <a:ea typeface="宋体" panose="02010600030101010101" pitchFamily="2" charset="-122"/>
            </a:endParaRPr>
          </a:p>
          <a:p>
            <a:pPr lvl="1">
              <a:spcBef>
                <a:spcPct val="45000"/>
              </a:spcBef>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对字节：</a:t>
            </a:r>
            <a:endParaRPr lang="en-US" altLang="zh-CN" dirty="0">
              <a:latin typeface="宋体" panose="02010600030101010101" pitchFamily="2" charset="-122"/>
              <a:ea typeface="宋体" panose="02010600030101010101" pitchFamily="2" charset="-122"/>
            </a:endParaRPr>
          </a:p>
          <a:p>
            <a:pPr lvl="1">
              <a:spcBef>
                <a:spcPct val="45000"/>
              </a:spcBef>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对  字：</a:t>
            </a:r>
            <a:endParaRPr lang="zh-CN" altLang="en-US" dirty="0">
              <a:latin typeface="宋体" panose="02010600030101010101" pitchFamily="2" charset="-122"/>
              <a:ea typeface="宋体" panose="02010600030101010101" pitchFamily="2" charset="-122"/>
            </a:endParaRPr>
          </a:p>
        </p:txBody>
      </p:sp>
      <p:sp>
        <p:nvSpPr>
          <p:cNvPr id="134148" name="AutoShape 4"/>
          <p:cNvSpPr/>
          <p:nvPr/>
        </p:nvSpPr>
        <p:spPr>
          <a:xfrm>
            <a:off x="4943475" y="1598613"/>
            <a:ext cx="1676400" cy="609600"/>
          </a:xfrm>
          <a:prstGeom prst="wedgeRoundRectCallout">
            <a:avLst>
              <a:gd name="adj1" fmla="val -110796"/>
              <a:gd name="adj2" fmla="val 102606"/>
              <a:gd name="adj3" fmla="val 16667"/>
            </a:avLst>
          </a:prstGeom>
          <a:solidFill>
            <a:srgbClr val="FF6600"/>
          </a:solidFill>
          <a:ln w="25400" cap="sq" cmpd="sng">
            <a:solidFill>
              <a:srgbClr val="FF6600"/>
            </a:solidFill>
            <a:prstDash val="solid"/>
            <a:miter/>
            <a:headEnd type="none" w="med" len="med"/>
            <a:tailEnd type="none" w="med" len="med"/>
          </a:ln>
        </p:spPr>
        <p:txBody>
          <a:bodyPr/>
          <a:p>
            <a:pPr eaLnBrk="0" hangingPunct="0">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源操作数</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134149" name="Line 5"/>
          <p:cNvSpPr/>
          <p:nvPr/>
        </p:nvSpPr>
        <p:spPr>
          <a:xfrm flipH="1">
            <a:off x="3575050" y="4997450"/>
            <a:ext cx="457200" cy="0"/>
          </a:xfrm>
          <a:prstGeom prst="line">
            <a:avLst/>
          </a:prstGeom>
          <a:ln w="25400" cap="sq" cmpd="sng">
            <a:solidFill>
              <a:srgbClr val="FF6600"/>
            </a:solidFill>
            <a:prstDash val="solid"/>
            <a:headEnd type="none" w="med" len="med"/>
            <a:tailEnd type="triangle" w="lg" len="lg"/>
          </a:ln>
        </p:spPr>
      </p:sp>
      <p:sp>
        <p:nvSpPr>
          <p:cNvPr id="134150" name="Line 6"/>
          <p:cNvSpPr/>
          <p:nvPr/>
        </p:nvSpPr>
        <p:spPr>
          <a:xfrm flipH="1">
            <a:off x="3541713" y="5505450"/>
            <a:ext cx="457200" cy="0"/>
          </a:xfrm>
          <a:prstGeom prst="line">
            <a:avLst/>
          </a:prstGeom>
          <a:ln w="25400" cap="sq" cmpd="sng">
            <a:solidFill>
              <a:srgbClr val="FF6600"/>
            </a:solidFill>
            <a:prstDash val="solid"/>
            <a:headEnd type="none" w="med" len="med"/>
            <a:tailEnd type="triangle" w="lg" len="lg"/>
          </a:ln>
        </p:spPr>
      </p:sp>
      <p:sp>
        <p:nvSpPr>
          <p:cNvPr id="134151" name="Text Box 7"/>
          <p:cNvSpPr txBox="1"/>
          <p:nvPr/>
        </p:nvSpPr>
        <p:spPr>
          <a:xfrm>
            <a:off x="4079875" y="4768850"/>
            <a:ext cx="17272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宋体" panose="02010600030101010101" pitchFamily="2" charset="-122"/>
                <a:ea typeface="宋体" panose="02010600030101010101" pitchFamily="2" charset="-122"/>
              </a:rPr>
              <a:t>[DS:SI]</a:t>
            </a:r>
            <a:endParaRPr lang="zh-CN" altLang="en-US" sz="2400" b="1" dirty="0">
              <a:latin typeface="宋体" panose="02010600030101010101" pitchFamily="2" charset="-122"/>
              <a:ea typeface="宋体" panose="02010600030101010101" pitchFamily="2" charset="-122"/>
            </a:endParaRPr>
          </a:p>
        </p:txBody>
      </p:sp>
      <p:sp>
        <p:nvSpPr>
          <p:cNvPr id="134152" name="Text Box 8"/>
          <p:cNvSpPr txBox="1"/>
          <p:nvPr/>
        </p:nvSpPr>
        <p:spPr>
          <a:xfrm>
            <a:off x="4068763" y="5259388"/>
            <a:ext cx="17272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宋体" panose="02010600030101010101" pitchFamily="2" charset="-122"/>
                <a:ea typeface="宋体" panose="02010600030101010101" pitchFamily="2" charset="-122"/>
              </a:rPr>
              <a:t>[DS:SI]</a:t>
            </a:r>
            <a:endParaRPr lang="zh-CN" altLang="en-US" sz="2400" b="1" dirty="0">
              <a:latin typeface="宋体" panose="02010600030101010101" pitchFamily="2" charset="-122"/>
              <a:ea typeface="宋体" panose="02010600030101010101" pitchFamily="2" charset="-122"/>
            </a:endParaRPr>
          </a:p>
        </p:txBody>
      </p:sp>
      <p:sp>
        <p:nvSpPr>
          <p:cNvPr id="134153" name="Text Box 9"/>
          <p:cNvSpPr txBox="1"/>
          <p:nvPr/>
        </p:nvSpPr>
        <p:spPr>
          <a:xfrm>
            <a:off x="3036888" y="4714875"/>
            <a:ext cx="504825"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tx2"/>
                </a:solidFill>
                <a:latin typeface="宋体" panose="02010600030101010101" pitchFamily="2" charset="-122"/>
                <a:ea typeface="宋体" panose="02010600030101010101" pitchFamily="2" charset="-122"/>
              </a:rPr>
              <a:t>AL</a:t>
            </a:r>
            <a:endParaRPr lang="zh-CN" altLang="en-US" sz="2400" b="1" dirty="0">
              <a:solidFill>
                <a:schemeClr val="tx2"/>
              </a:solidFill>
              <a:latin typeface="宋体" panose="02010600030101010101" pitchFamily="2" charset="-122"/>
              <a:ea typeface="宋体" panose="02010600030101010101" pitchFamily="2" charset="-122"/>
            </a:endParaRPr>
          </a:p>
        </p:txBody>
      </p:sp>
      <p:sp>
        <p:nvSpPr>
          <p:cNvPr id="134154" name="Text Box 10"/>
          <p:cNvSpPr txBox="1"/>
          <p:nvPr/>
        </p:nvSpPr>
        <p:spPr>
          <a:xfrm>
            <a:off x="2998788" y="5276850"/>
            <a:ext cx="576262"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tx2"/>
                </a:solidFill>
                <a:latin typeface="宋体" panose="02010600030101010101" pitchFamily="2" charset="-122"/>
                <a:ea typeface="宋体" panose="02010600030101010101" pitchFamily="2" charset="-122"/>
              </a:rPr>
              <a:t>AX</a:t>
            </a:r>
            <a:endParaRPr lang="zh-CN" altLang="en-US" sz="2400" b="1" dirty="0">
              <a:solidFill>
                <a:schemeClr val="tx2"/>
              </a:solidFill>
              <a:latin typeface="宋体" panose="02010600030101010101" pitchFamily="2" charset="-122"/>
              <a:ea typeface="宋体" panose="02010600030101010101" pitchFamily="2" charset="-122"/>
            </a:endParaRPr>
          </a:p>
        </p:txBody>
      </p:sp>
      <p:sp>
        <p:nvSpPr>
          <p:cNvPr id="134155" name="矩形 1"/>
          <p:cNvSpPr/>
          <p:nvPr/>
        </p:nvSpPr>
        <p:spPr>
          <a:xfrm>
            <a:off x="539750" y="5657850"/>
            <a:ext cx="8208963" cy="1200150"/>
          </a:xfrm>
          <a:prstGeom prst="rect">
            <a:avLst/>
          </a:prstGeom>
          <a:noFill/>
          <a:ln w="9525">
            <a:noFill/>
          </a:ln>
        </p:spPr>
        <p:txBody>
          <a:bodyPr>
            <a:spAutoFit/>
          </a:bodyPr>
          <a:p>
            <a:pPr marL="342900" indent="-342900" eaLnBrk="0" hangingPunct="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用于将内存某个区域的数据串依次装入累加器，以便显示或输出到接口。</a:t>
            </a:r>
            <a:endParaRPr lang="zh-CN" altLang="en-US" sz="2400" dirty="0">
              <a:latin typeface="宋体" panose="02010600030101010101" pitchFamily="2" charset="-122"/>
              <a:ea typeface="宋体" panose="02010600030101010101" pitchFamily="2" charset="-122"/>
            </a:endParaRPr>
          </a:p>
          <a:p>
            <a:pPr marL="342900" indent="-342900" eaLnBrk="0" hangingPunct="0">
              <a:buFont typeface="Wingdings" panose="05000000000000000000" pitchFamily="2" charset="2"/>
              <a:buChar char="l"/>
            </a:pPr>
            <a:r>
              <a:rPr lang="en-US" altLang="zh-CN" sz="2400" dirty="0">
                <a:latin typeface="宋体" panose="02010600030101010101" pitchFamily="2" charset="-122"/>
                <a:ea typeface="宋体" panose="02010600030101010101" pitchFamily="2" charset="-122"/>
              </a:rPr>
              <a:t>LODS</a:t>
            </a:r>
            <a:r>
              <a:rPr lang="zh-CN" altLang="en-US" sz="2400" dirty="0">
                <a:latin typeface="宋体" panose="02010600030101010101" pitchFamily="2" charset="-122"/>
                <a:ea typeface="宋体" panose="02010600030101010101" pitchFamily="2" charset="-122"/>
              </a:rPr>
              <a:t>指令一般不加重复前缀。</a:t>
            </a:r>
            <a:endParaRPr lang="zh-CN" altLang="en-US" sz="2400" dirty="0">
              <a:latin typeface="宋体" panose="02010600030101010101" pitchFamily="2" charset="-122"/>
              <a:ea typeface="宋体" panose="02010600030101010101" pitchFamily="2" charset="-122"/>
            </a:endParaRPr>
          </a:p>
        </p:txBody>
      </p:sp>
      <p:sp>
        <p:nvSpPr>
          <p:cNvPr id="134156" name="文本框 2"/>
          <p:cNvSpPr txBox="1"/>
          <p:nvPr/>
        </p:nvSpPr>
        <p:spPr>
          <a:xfrm>
            <a:off x="5435600" y="2943225"/>
            <a:ext cx="2665413" cy="1200150"/>
          </a:xfrm>
          <a:prstGeom prst="rect">
            <a:avLst/>
          </a:prstGeom>
          <a:noFill/>
          <a:ln w="19050" cap="flat" cmpd="sng">
            <a:solidFill>
              <a:schemeClr val="tx1"/>
            </a:solidFill>
            <a:prstDash val="solid"/>
            <a:miter/>
            <a:headEnd type="none" w="med" len="med"/>
            <a:tailEnd type="none" w="med" len="med"/>
          </a:ln>
        </p:spPr>
        <p:txBody>
          <a:bodyPr>
            <a:spAutoFit/>
          </a:bodyPr>
          <a:p>
            <a:pPr eaLnBrk="0" hangingPunct="0"/>
            <a:r>
              <a:rPr lang="zh-CN" altLang="en-US" sz="2400" dirty="0">
                <a:latin typeface="宋体" panose="02010600030101010101" pitchFamily="2" charset="-122"/>
                <a:ea typeface="宋体" panose="02010600030101010101" pitchFamily="2" charset="-122"/>
              </a:rPr>
              <a:t>串装入指令不影响标志位，且一般不带重复前缀</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34147">
                                            <p:txEl>
                                              <p:charRg st="0" end="4"/>
                                            </p:txEl>
                                          </p:spTgt>
                                        </p:tgtEl>
                                        <p:attrNameLst>
                                          <p:attrName>style.visibility</p:attrName>
                                        </p:attrNameLst>
                                      </p:cBhvr>
                                      <p:to>
                                        <p:strVal val="visible"/>
                                      </p:to>
                                    </p:set>
                                    <p:anim calcmode="lin" valueType="num">
                                      <p:cBhvr>
                                        <p:cTn id="7" dur="1000" fill="hold"/>
                                        <p:tgtEl>
                                          <p:spTgt spid="134147">
                                            <p:txEl>
                                              <p:charRg st="0" end="4"/>
                                            </p:txEl>
                                          </p:spTgt>
                                        </p:tgtEl>
                                        <p:attrNameLst>
                                          <p:attrName>ppt_w</p:attrName>
                                        </p:attrNameLst>
                                      </p:cBhvr>
                                      <p:tavLst>
                                        <p:tav tm="0">
                                          <p:val>
                                            <p:strVal val="#ppt_w*0.70"/>
                                          </p:val>
                                        </p:tav>
                                        <p:tav tm="100000">
                                          <p:val>
                                            <p:strVal val="#ppt_w"/>
                                          </p:val>
                                        </p:tav>
                                      </p:tavLst>
                                    </p:anim>
                                    <p:anim calcmode="lin" valueType="num">
                                      <p:cBhvr>
                                        <p:cTn id="8" dur="1000" fill="hold"/>
                                        <p:tgtEl>
                                          <p:spTgt spid="134147">
                                            <p:txEl>
                                              <p:charRg st="0" end="4"/>
                                            </p:txEl>
                                          </p:spTgt>
                                        </p:tgtEl>
                                        <p:attrNameLst>
                                          <p:attrName>ppt_h</p:attrName>
                                        </p:attrNameLst>
                                      </p:cBhvr>
                                      <p:tavLst>
                                        <p:tav tm="0">
                                          <p:val>
                                            <p:strVal val="#ppt_h"/>
                                          </p:val>
                                        </p:tav>
                                        <p:tav tm="100000">
                                          <p:val>
                                            <p:strVal val="#ppt_h"/>
                                          </p:val>
                                        </p:tav>
                                      </p:tavLst>
                                    </p:anim>
                                    <p:animEffect transition="in" filter="fade">
                                      <p:cBhvr>
                                        <p:cTn id="9" dur="1000"/>
                                        <p:tgtEl>
                                          <p:spTgt spid="134147">
                                            <p:txEl>
                                              <p:charRg st="0" end="4"/>
                                            </p:txEl>
                                          </p:spTgt>
                                        </p:tgtEl>
                                      </p:cBhvr>
                                    </p:animEffect>
                                  </p:childTnLst>
                                </p:cTn>
                              </p:par>
                            </p:childTnLst>
                          </p:cTn>
                        </p:par>
                        <p:par>
                          <p:cTn id="10" fill="hold">
                            <p:stCondLst>
                              <p:cond delay="1000"/>
                            </p:stCondLst>
                            <p:childTnLst>
                              <p:par>
                                <p:cTn id="11" presetID="18" presetClass="entr" presetSubtype="6" fill="hold" nodeType="afterEffect">
                                  <p:stCondLst>
                                    <p:cond delay="0"/>
                                  </p:stCondLst>
                                  <p:childTnLst>
                                    <p:set>
                                      <p:cBhvr>
                                        <p:cTn id="12" dur="1" fill="hold">
                                          <p:stCondLst>
                                            <p:cond delay="0"/>
                                          </p:stCondLst>
                                        </p:cTn>
                                        <p:tgtEl>
                                          <p:spTgt spid="134147">
                                            <p:txEl>
                                              <p:charRg st="4" end="19"/>
                                            </p:txEl>
                                          </p:spTgt>
                                        </p:tgtEl>
                                        <p:attrNameLst>
                                          <p:attrName>style.visibility</p:attrName>
                                        </p:attrNameLst>
                                      </p:cBhvr>
                                      <p:to>
                                        <p:strVal val="visible"/>
                                      </p:to>
                                    </p:set>
                                    <p:animEffect transition="in" filter="strips(downRight)">
                                      <p:cBhvr>
                                        <p:cTn id="13" dur="500"/>
                                        <p:tgtEl>
                                          <p:spTgt spid="134147">
                                            <p:txEl>
                                              <p:charRg st="4" end="19"/>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34148"/>
                                        </p:tgtEl>
                                        <p:attrNameLst>
                                          <p:attrName>style.visibility</p:attrName>
                                        </p:attrNameLst>
                                      </p:cBhvr>
                                      <p:to>
                                        <p:strVal val="visible"/>
                                      </p:to>
                                    </p:set>
                                    <p:anim calcmode="lin" valueType="num">
                                      <p:cBhvr>
                                        <p:cTn id="18" dur="500" fill="hold"/>
                                        <p:tgtEl>
                                          <p:spTgt spid="134148"/>
                                        </p:tgtEl>
                                        <p:attrNameLst>
                                          <p:attrName>ppt_x</p:attrName>
                                        </p:attrNameLst>
                                      </p:cBhvr>
                                      <p:tavLst>
                                        <p:tav tm="0">
                                          <p:val>
                                            <p:strVal val="1+#ppt_w/2"/>
                                          </p:val>
                                        </p:tav>
                                        <p:tav tm="100000">
                                          <p:val>
                                            <p:strVal val="#ppt_x"/>
                                          </p:val>
                                        </p:tav>
                                      </p:tavLst>
                                    </p:anim>
                                    <p:anim calcmode="lin" valueType="num">
                                      <p:cBhvr>
                                        <p:cTn id="19" dur="500" fill="hold"/>
                                        <p:tgtEl>
                                          <p:spTgt spid="134148"/>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8" presetClass="entr" presetSubtype="6" fill="hold" nodeType="clickEffect">
                                  <p:stCondLst>
                                    <p:cond delay="0"/>
                                  </p:stCondLst>
                                  <p:childTnLst>
                                    <p:set>
                                      <p:cBhvr>
                                        <p:cTn id="23" dur="1" fill="hold">
                                          <p:stCondLst>
                                            <p:cond delay="0"/>
                                          </p:stCondLst>
                                        </p:cTn>
                                        <p:tgtEl>
                                          <p:spTgt spid="134147">
                                            <p:txEl>
                                              <p:charRg st="19" end="27"/>
                                            </p:txEl>
                                          </p:spTgt>
                                        </p:tgtEl>
                                        <p:attrNameLst>
                                          <p:attrName>style.visibility</p:attrName>
                                        </p:attrNameLst>
                                      </p:cBhvr>
                                      <p:to>
                                        <p:strVal val="visible"/>
                                      </p:to>
                                    </p:set>
                                    <p:animEffect transition="in" filter="strips(downRight)">
                                      <p:cBhvr>
                                        <p:cTn id="24" dur="500"/>
                                        <p:tgtEl>
                                          <p:spTgt spid="134147">
                                            <p:txEl>
                                              <p:charRg st="19" end="27"/>
                                            </p:txEl>
                                          </p:spTgt>
                                        </p:tgtEl>
                                      </p:cBhvr>
                                    </p:animEffect>
                                  </p:childTnLst>
                                </p:cTn>
                              </p:par>
                            </p:childTnLst>
                          </p:cTn>
                        </p:par>
                        <p:par>
                          <p:cTn id="25" fill="hold">
                            <p:stCondLst>
                              <p:cond delay="500"/>
                            </p:stCondLst>
                            <p:childTnLst>
                              <p:par>
                                <p:cTn id="26" presetID="18" presetClass="entr" presetSubtype="6" fill="hold" nodeType="afterEffect">
                                  <p:stCondLst>
                                    <p:cond delay="0"/>
                                  </p:stCondLst>
                                  <p:childTnLst>
                                    <p:set>
                                      <p:cBhvr>
                                        <p:cTn id="27" dur="1" fill="hold">
                                          <p:stCondLst>
                                            <p:cond delay="0"/>
                                          </p:stCondLst>
                                        </p:cTn>
                                        <p:tgtEl>
                                          <p:spTgt spid="134147">
                                            <p:txEl>
                                              <p:charRg st="27" end="35"/>
                                            </p:txEl>
                                          </p:spTgt>
                                        </p:tgtEl>
                                        <p:attrNameLst>
                                          <p:attrName>style.visibility</p:attrName>
                                        </p:attrNameLst>
                                      </p:cBhvr>
                                      <p:to>
                                        <p:strVal val="visible"/>
                                      </p:to>
                                    </p:set>
                                    <p:animEffect transition="in" filter="strips(downRight)">
                                      <p:cBhvr>
                                        <p:cTn id="28" dur="500"/>
                                        <p:tgtEl>
                                          <p:spTgt spid="134147">
                                            <p:txEl>
                                              <p:charRg st="27" end="3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6" fill="hold" nodeType="clickEffect">
                                  <p:stCondLst>
                                    <p:cond delay="0"/>
                                  </p:stCondLst>
                                  <p:childTnLst>
                                    <p:set>
                                      <p:cBhvr>
                                        <p:cTn id="32" dur="1" fill="hold">
                                          <p:stCondLst>
                                            <p:cond delay="0"/>
                                          </p:stCondLst>
                                        </p:cTn>
                                        <p:tgtEl>
                                          <p:spTgt spid="134147">
                                            <p:txEl>
                                              <p:charRg st="35" end="39"/>
                                            </p:txEl>
                                          </p:spTgt>
                                        </p:tgtEl>
                                        <p:attrNameLst>
                                          <p:attrName>style.visibility</p:attrName>
                                        </p:attrNameLst>
                                      </p:cBhvr>
                                      <p:to>
                                        <p:strVal val="visible"/>
                                      </p:to>
                                    </p:set>
                                    <p:animEffect transition="in" filter="strips(downRight)">
                                      <p:cBhvr>
                                        <p:cTn id="33" dur="500"/>
                                        <p:tgtEl>
                                          <p:spTgt spid="134147">
                                            <p:txEl>
                                              <p:charRg st="35" end="39"/>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6" fill="hold" nodeType="clickEffect">
                                  <p:stCondLst>
                                    <p:cond delay="0"/>
                                  </p:stCondLst>
                                  <p:childTnLst>
                                    <p:set>
                                      <p:cBhvr>
                                        <p:cTn id="37" dur="1" fill="hold">
                                          <p:stCondLst>
                                            <p:cond delay="0"/>
                                          </p:stCondLst>
                                        </p:cTn>
                                        <p:tgtEl>
                                          <p:spTgt spid="134147">
                                            <p:txEl>
                                              <p:charRg st="39" end="44"/>
                                            </p:txEl>
                                          </p:spTgt>
                                        </p:tgtEl>
                                        <p:attrNameLst>
                                          <p:attrName>style.visibility</p:attrName>
                                        </p:attrNameLst>
                                      </p:cBhvr>
                                      <p:to>
                                        <p:strVal val="visible"/>
                                      </p:to>
                                    </p:set>
                                    <p:animEffect transition="in" filter="strips(downRight)">
                                      <p:cBhvr>
                                        <p:cTn id="38" dur="500"/>
                                        <p:tgtEl>
                                          <p:spTgt spid="134147">
                                            <p:txEl>
                                              <p:charRg st="39" end="44"/>
                                            </p:txEl>
                                          </p:spTgt>
                                        </p:tgtEl>
                                      </p:cBhvr>
                                    </p:animEffect>
                                  </p:childTnLst>
                                </p:cTn>
                              </p:par>
                            </p:childTnLst>
                          </p:cTn>
                        </p:par>
                        <p:par>
                          <p:cTn id="39" fill="hold">
                            <p:stCondLst>
                              <p:cond delay="500"/>
                            </p:stCondLst>
                            <p:childTnLst>
                              <p:par>
                                <p:cTn id="40" presetID="18" presetClass="entr" presetSubtype="6" fill="hold" grpId="0" nodeType="afterEffect">
                                  <p:stCondLst>
                                    <p:cond delay="0"/>
                                  </p:stCondLst>
                                  <p:childTnLst>
                                    <p:set>
                                      <p:cBhvr>
                                        <p:cTn id="41" dur="1" fill="hold">
                                          <p:stCondLst>
                                            <p:cond delay="0"/>
                                          </p:stCondLst>
                                        </p:cTn>
                                        <p:tgtEl>
                                          <p:spTgt spid="134151"/>
                                        </p:tgtEl>
                                        <p:attrNameLst>
                                          <p:attrName>style.visibility</p:attrName>
                                        </p:attrNameLst>
                                      </p:cBhvr>
                                      <p:to>
                                        <p:strVal val="visible"/>
                                      </p:to>
                                    </p:set>
                                    <p:animEffect transition="in" filter="strips(downRight)">
                                      <p:cBhvr>
                                        <p:cTn id="42" dur="500"/>
                                        <p:tgtEl>
                                          <p:spTgt spid="134151"/>
                                        </p:tgtEl>
                                      </p:cBhvr>
                                    </p:animEffect>
                                  </p:childTnLst>
                                </p:cTn>
                              </p:par>
                            </p:childTnLst>
                          </p:cTn>
                        </p:par>
                        <p:par>
                          <p:cTn id="43" fill="hold">
                            <p:stCondLst>
                              <p:cond delay="1000"/>
                            </p:stCondLst>
                            <p:childTnLst>
                              <p:par>
                                <p:cTn id="44" presetID="18" presetClass="entr" presetSubtype="12" fill="hold" nodeType="afterEffect">
                                  <p:stCondLst>
                                    <p:cond delay="0"/>
                                  </p:stCondLst>
                                  <p:childTnLst>
                                    <p:set>
                                      <p:cBhvr>
                                        <p:cTn id="45" dur="1" fill="hold">
                                          <p:stCondLst>
                                            <p:cond delay="0"/>
                                          </p:stCondLst>
                                        </p:cTn>
                                        <p:tgtEl>
                                          <p:spTgt spid="134149"/>
                                        </p:tgtEl>
                                        <p:attrNameLst>
                                          <p:attrName>style.visibility</p:attrName>
                                        </p:attrNameLst>
                                      </p:cBhvr>
                                      <p:to>
                                        <p:strVal val="visible"/>
                                      </p:to>
                                    </p:set>
                                    <p:animEffect transition="in" filter="strips(downLeft)">
                                      <p:cBhvr>
                                        <p:cTn id="46" dur="500"/>
                                        <p:tgtEl>
                                          <p:spTgt spid="134149"/>
                                        </p:tgtEl>
                                      </p:cBhvr>
                                    </p:animEffect>
                                  </p:childTnLst>
                                </p:cTn>
                              </p:par>
                            </p:childTnLst>
                          </p:cTn>
                        </p:par>
                        <p:par>
                          <p:cTn id="47" fill="hold">
                            <p:stCondLst>
                              <p:cond delay="1500"/>
                            </p:stCondLst>
                            <p:childTnLst>
                              <p:par>
                                <p:cTn id="48" presetID="3" presetClass="entr" presetSubtype="10" fill="hold" grpId="0" nodeType="afterEffect">
                                  <p:stCondLst>
                                    <p:cond delay="0"/>
                                  </p:stCondLst>
                                  <p:childTnLst>
                                    <p:set>
                                      <p:cBhvr>
                                        <p:cTn id="49" dur="1" fill="hold">
                                          <p:stCondLst>
                                            <p:cond delay="0"/>
                                          </p:stCondLst>
                                        </p:cTn>
                                        <p:tgtEl>
                                          <p:spTgt spid="134153"/>
                                        </p:tgtEl>
                                        <p:attrNameLst>
                                          <p:attrName>style.visibility</p:attrName>
                                        </p:attrNameLst>
                                      </p:cBhvr>
                                      <p:to>
                                        <p:strVal val="visible"/>
                                      </p:to>
                                    </p:set>
                                    <p:animEffect transition="in" filter="blinds(horizontal)">
                                      <p:cBhvr>
                                        <p:cTn id="50" dur="500"/>
                                        <p:tgtEl>
                                          <p:spTgt spid="134153"/>
                                        </p:tgtEl>
                                      </p:cBhvr>
                                    </p:animEffect>
                                  </p:childTnLst>
                                </p:cTn>
                              </p:par>
                            </p:childTnLst>
                          </p:cTn>
                        </p:par>
                        <p:par>
                          <p:cTn id="51" fill="hold">
                            <p:stCondLst>
                              <p:cond delay="2000"/>
                            </p:stCondLst>
                            <p:childTnLst>
                              <p:par>
                                <p:cTn id="52" presetID="18" presetClass="entr" presetSubtype="6" fill="hold" nodeType="afterEffect">
                                  <p:stCondLst>
                                    <p:cond delay="500"/>
                                  </p:stCondLst>
                                  <p:childTnLst>
                                    <p:set>
                                      <p:cBhvr>
                                        <p:cTn id="53" dur="1" fill="hold">
                                          <p:stCondLst>
                                            <p:cond delay="0"/>
                                          </p:stCondLst>
                                        </p:cTn>
                                        <p:tgtEl>
                                          <p:spTgt spid="134147">
                                            <p:txEl>
                                              <p:charRg st="44" end="50"/>
                                            </p:txEl>
                                          </p:spTgt>
                                        </p:tgtEl>
                                        <p:attrNameLst>
                                          <p:attrName>style.visibility</p:attrName>
                                        </p:attrNameLst>
                                      </p:cBhvr>
                                      <p:to>
                                        <p:strVal val="visible"/>
                                      </p:to>
                                    </p:set>
                                    <p:animEffect transition="in" filter="strips(downRight)">
                                      <p:cBhvr>
                                        <p:cTn id="54" dur="500"/>
                                        <p:tgtEl>
                                          <p:spTgt spid="134147">
                                            <p:txEl>
                                              <p:charRg st="44" end="50"/>
                                            </p:txEl>
                                          </p:spTgt>
                                        </p:tgtEl>
                                      </p:cBhvr>
                                    </p:animEffect>
                                  </p:childTnLst>
                                </p:cTn>
                              </p:par>
                            </p:childTnLst>
                          </p:cTn>
                        </p:par>
                        <p:par>
                          <p:cTn id="55" fill="hold">
                            <p:stCondLst>
                              <p:cond delay="3000"/>
                            </p:stCondLst>
                            <p:childTnLst>
                              <p:par>
                                <p:cTn id="56" presetID="18" presetClass="entr" presetSubtype="6" fill="hold" grpId="0" nodeType="afterEffect">
                                  <p:stCondLst>
                                    <p:cond delay="0"/>
                                  </p:stCondLst>
                                  <p:childTnLst>
                                    <p:set>
                                      <p:cBhvr>
                                        <p:cTn id="57" dur="1" fill="hold">
                                          <p:stCondLst>
                                            <p:cond delay="0"/>
                                          </p:stCondLst>
                                        </p:cTn>
                                        <p:tgtEl>
                                          <p:spTgt spid="134152"/>
                                        </p:tgtEl>
                                        <p:attrNameLst>
                                          <p:attrName>style.visibility</p:attrName>
                                        </p:attrNameLst>
                                      </p:cBhvr>
                                      <p:to>
                                        <p:strVal val="visible"/>
                                      </p:to>
                                    </p:set>
                                    <p:animEffect transition="in" filter="strips(downRight)">
                                      <p:cBhvr>
                                        <p:cTn id="58" dur="500"/>
                                        <p:tgtEl>
                                          <p:spTgt spid="134152"/>
                                        </p:tgtEl>
                                      </p:cBhvr>
                                    </p:animEffect>
                                  </p:childTnLst>
                                </p:cTn>
                              </p:par>
                            </p:childTnLst>
                          </p:cTn>
                        </p:par>
                        <p:par>
                          <p:cTn id="59" fill="hold">
                            <p:stCondLst>
                              <p:cond delay="3500"/>
                            </p:stCondLst>
                            <p:childTnLst>
                              <p:par>
                                <p:cTn id="60" presetID="18" presetClass="entr" presetSubtype="12" fill="hold" nodeType="afterEffect">
                                  <p:stCondLst>
                                    <p:cond delay="0"/>
                                  </p:stCondLst>
                                  <p:childTnLst>
                                    <p:set>
                                      <p:cBhvr>
                                        <p:cTn id="61" dur="1" fill="hold">
                                          <p:stCondLst>
                                            <p:cond delay="0"/>
                                          </p:stCondLst>
                                        </p:cTn>
                                        <p:tgtEl>
                                          <p:spTgt spid="134150"/>
                                        </p:tgtEl>
                                        <p:attrNameLst>
                                          <p:attrName>style.visibility</p:attrName>
                                        </p:attrNameLst>
                                      </p:cBhvr>
                                      <p:to>
                                        <p:strVal val="visible"/>
                                      </p:to>
                                    </p:set>
                                    <p:animEffect transition="in" filter="strips(downLeft)">
                                      <p:cBhvr>
                                        <p:cTn id="62" dur="500"/>
                                        <p:tgtEl>
                                          <p:spTgt spid="134150"/>
                                        </p:tgtEl>
                                      </p:cBhvr>
                                    </p:animEffect>
                                  </p:childTnLst>
                                </p:cTn>
                              </p:par>
                            </p:childTnLst>
                          </p:cTn>
                        </p:par>
                        <p:par>
                          <p:cTn id="63" fill="hold">
                            <p:stCondLst>
                              <p:cond delay="4000"/>
                            </p:stCondLst>
                            <p:childTnLst>
                              <p:par>
                                <p:cTn id="64" presetID="3" presetClass="entr" presetSubtype="10" fill="hold" grpId="0" nodeType="afterEffect">
                                  <p:stCondLst>
                                    <p:cond delay="0"/>
                                  </p:stCondLst>
                                  <p:childTnLst>
                                    <p:set>
                                      <p:cBhvr>
                                        <p:cTn id="65" dur="1" fill="hold">
                                          <p:stCondLst>
                                            <p:cond delay="0"/>
                                          </p:stCondLst>
                                        </p:cTn>
                                        <p:tgtEl>
                                          <p:spTgt spid="134154"/>
                                        </p:tgtEl>
                                        <p:attrNameLst>
                                          <p:attrName>style.visibility</p:attrName>
                                        </p:attrNameLst>
                                      </p:cBhvr>
                                      <p:to>
                                        <p:strVal val="visible"/>
                                      </p:to>
                                    </p:set>
                                    <p:animEffect transition="in" filter="blinds(horizontal)">
                                      <p:cBhvr>
                                        <p:cTn id="66" dur="500"/>
                                        <p:tgtEl>
                                          <p:spTgt spid="134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8" grpId="0" animBg="1"/>
      <p:bldP spid="134151" grpId="0"/>
      <p:bldP spid="134152" grpId="0"/>
      <p:bldP spid="134153" grpId="0"/>
      <p:bldP spid="134154"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1026"/>
          <p:cNvSpPr>
            <a:spLocks noGrp="1"/>
          </p:cNvSpPr>
          <p:nvPr>
            <p:ph type="title" idx="4294967295"/>
          </p:nvPr>
        </p:nvSpPr>
        <p:spPr>
          <a:xfrm>
            <a:off x="723900" y="1035050"/>
            <a:ext cx="6553200" cy="563563"/>
          </a:xfrm>
        </p:spPr>
        <p:txBody>
          <a:bodyPr vert="horz" wrap="square" lIns="91440" tIns="45720" rIns="91440" bIns="45720" anchor="ctr" anchorCtr="0"/>
          <a:p>
            <a:r>
              <a:rPr lang="zh-CN" altLang="en-US" dirty="0">
                <a:solidFill>
                  <a:srgbClr val="000033"/>
                </a:solidFill>
                <a:latin typeface="宋体" panose="02010600030101010101" pitchFamily="2" charset="-122"/>
                <a:ea typeface="宋体" panose="02010600030101010101" pitchFamily="2" charset="-122"/>
              </a:rPr>
              <a:t>（</a:t>
            </a:r>
            <a:r>
              <a:rPr lang="en-US" altLang="zh-CN" dirty="0">
                <a:solidFill>
                  <a:srgbClr val="000033"/>
                </a:solidFill>
                <a:latin typeface="宋体" panose="02010600030101010101" pitchFamily="2" charset="-122"/>
                <a:ea typeface="宋体" panose="02010600030101010101" pitchFamily="2" charset="-122"/>
              </a:rPr>
              <a:t>5</a:t>
            </a:r>
            <a:r>
              <a:rPr lang="zh-CN" altLang="en-US" dirty="0">
                <a:solidFill>
                  <a:srgbClr val="000033"/>
                </a:solidFill>
                <a:latin typeface="宋体" panose="02010600030101010101" pitchFamily="2" charset="-122"/>
                <a:ea typeface="宋体" panose="02010600030101010101" pitchFamily="2" charset="-122"/>
              </a:rPr>
              <a:t>）串存储指令</a:t>
            </a:r>
            <a:endParaRPr lang="zh-CN" altLang="en-US" dirty="0">
              <a:solidFill>
                <a:srgbClr val="000033"/>
              </a:solidFill>
              <a:latin typeface="宋体" panose="02010600030101010101" pitchFamily="2" charset="-122"/>
              <a:ea typeface="宋体" panose="02010600030101010101" pitchFamily="2" charset="-122"/>
            </a:endParaRPr>
          </a:p>
        </p:txBody>
      </p:sp>
      <p:sp>
        <p:nvSpPr>
          <p:cNvPr id="136195" name="Rectangle 1027"/>
          <p:cNvSpPr>
            <a:spLocks noGrp="1"/>
          </p:cNvSpPr>
          <p:nvPr>
            <p:ph type="body" idx="4294967295"/>
          </p:nvPr>
        </p:nvSpPr>
        <p:spPr>
          <a:xfrm>
            <a:off x="1187450" y="1651000"/>
            <a:ext cx="3894138" cy="3290888"/>
          </a:xfrm>
        </p:spPr>
        <p:txBody>
          <a:bodyPr vert="horz" wrap="square" lIns="91440" tIns="45720" rIns="91440" bIns="45720" anchor="t" anchorCtr="0"/>
          <a:p>
            <a:pPr>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格式：</a:t>
            </a:r>
            <a:endParaRPr lang="zh-CN" altLang="en-US" sz="2400" dirty="0">
              <a:latin typeface="宋体" panose="02010600030101010101" pitchFamily="2" charset="-122"/>
              <a:ea typeface="宋体" panose="02010600030101010101" pitchFamily="2" charset="-122"/>
            </a:endParaRPr>
          </a:p>
          <a:p>
            <a:pPr>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STOS    OPRD</a:t>
            </a:r>
            <a:endParaRPr lang="en-US" altLang="zh-CN" sz="2400" dirty="0">
              <a:latin typeface="宋体" panose="02010600030101010101" pitchFamily="2" charset="-122"/>
              <a:ea typeface="宋体" panose="02010600030101010101" pitchFamily="2" charset="-122"/>
            </a:endParaRPr>
          </a:p>
          <a:p>
            <a:pPr>
              <a:buNone/>
            </a:pPr>
            <a:r>
              <a:rPr lang="en-US" altLang="zh-CN" sz="2400" dirty="0">
                <a:latin typeface="宋体" panose="02010600030101010101" pitchFamily="2" charset="-122"/>
                <a:ea typeface="宋体" panose="02010600030101010101" pitchFamily="2" charset="-122"/>
              </a:rPr>
              <a:t>   STOSB</a:t>
            </a:r>
            <a:endParaRPr lang="en-US" altLang="zh-CN" sz="2400" dirty="0">
              <a:latin typeface="宋体" panose="02010600030101010101" pitchFamily="2" charset="-122"/>
              <a:ea typeface="宋体" panose="02010600030101010101" pitchFamily="2" charset="-122"/>
            </a:endParaRPr>
          </a:p>
          <a:p>
            <a:pPr>
              <a:spcAft>
                <a:spcPct val="35000"/>
              </a:spcAft>
              <a:buNone/>
            </a:pPr>
            <a:r>
              <a:rPr lang="en-US" altLang="zh-CN" sz="2400" dirty="0">
                <a:latin typeface="宋体" panose="02010600030101010101" pitchFamily="2" charset="-122"/>
                <a:ea typeface="宋体" panose="02010600030101010101" pitchFamily="2" charset="-122"/>
              </a:rPr>
              <a:t>   STOSW</a:t>
            </a:r>
            <a:endParaRPr lang="en-US" altLang="zh-CN" sz="2400" dirty="0">
              <a:latin typeface="宋体" panose="02010600030101010101" pitchFamily="2" charset="-122"/>
              <a:ea typeface="宋体" panose="02010600030101010101" pitchFamily="2" charset="-122"/>
            </a:endParaRPr>
          </a:p>
          <a:p>
            <a:pPr>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操作：</a:t>
            </a:r>
            <a:endParaRPr lang="zh-CN" altLang="en-US" sz="2400" dirty="0">
              <a:latin typeface="宋体" panose="02010600030101010101" pitchFamily="2" charset="-122"/>
              <a:ea typeface="宋体" panose="02010600030101010101" pitchFamily="2" charset="-122"/>
            </a:endParaRPr>
          </a:p>
          <a:p>
            <a:pPr lvl="1">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对字节：  </a:t>
            </a:r>
            <a:r>
              <a:rPr lang="en-US" altLang="zh-CN" dirty="0">
                <a:latin typeface="宋体" panose="02010600030101010101" pitchFamily="2" charset="-122"/>
                <a:ea typeface="宋体" panose="02010600030101010101" pitchFamily="2" charset="-122"/>
              </a:rPr>
              <a:t>AL</a:t>
            </a:r>
            <a:endParaRPr lang="en-US" altLang="zh-CN" dirty="0">
              <a:latin typeface="宋体" panose="02010600030101010101" pitchFamily="2" charset="-122"/>
              <a:ea typeface="宋体" panose="02010600030101010101" pitchFamily="2" charset="-122"/>
            </a:endParaRPr>
          </a:p>
          <a:p>
            <a:pPr lvl="1">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对  字：  </a:t>
            </a:r>
            <a:r>
              <a:rPr lang="en-US" altLang="zh-CN" dirty="0">
                <a:latin typeface="宋体" panose="02010600030101010101" pitchFamily="2" charset="-122"/>
                <a:ea typeface="宋体" panose="02010600030101010101" pitchFamily="2" charset="-122"/>
              </a:rPr>
              <a:t>AX</a:t>
            </a:r>
            <a:endParaRPr lang="zh-CN" altLang="en-US" dirty="0">
              <a:latin typeface="宋体" panose="02010600030101010101" pitchFamily="2" charset="-122"/>
              <a:ea typeface="宋体" panose="02010600030101010101" pitchFamily="2" charset="-122"/>
            </a:endParaRPr>
          </a:p>
        </p:txBody>
      </p:sp>
      <p:sp>
        <p:nvSpPr>
          <p:cNvPr id="136196" name="AutoShape 1029"/>
          <p:cNvSpPr/>
          <p:nvPr/>
        </p:nvSpPr>
        <p:spPr>
          <a:xfrm>
            <a:off x="4416425" y="1327150"/>
            <a:ext cx="1600200" cy="1295400"/>
          </a:xfrm>
          <a:prstGeom prst="wedgeEllipseCallout">
            <a:avLst>
              <a:gd name="adj1" fmla="val -85019"/>
              <a:gd name="adj2" fmla="val 29532"/>
            </a:avLst>
          </a:prstGeom>
          <a:solidFill>
            <a:srgbClr val="FF6600"/>
          </a:solidFill>
          <a:ln w="25400" cap="sq" cmpd="sng">
            <a:solidFill>
              <a:srgbClr val="FF6600"/>
            </a:solidFill>
            <a:prstDash val="solid"/>
            <a:miter/>
            <a:headEnd type="none" w="med" len="med"/>
            <a:tailEnd type="none" w="med" len="med"/>
          </a:ln>
        </p:spPr>
        <p:txBody>
          <a:bodyPr/>
          <a:p>
            <a:pPr eaLnBrk="0" hangingPunct="0">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目   标</a:t>
            </a:r>
            <a:endParaRPr lang="zh-CN" altLang="en-US" sz="2400" b="1" dirty="0">
              <a:solidFill>
                <a:schemeClr val="bg1"/>
              </a:solidFill>
              <a:latin typeface="Times New Roman" panose="02020603050405020304" pitchFamily="18" charset="0"/>
              <a:ea typeface="宋体" panose="02010600030101010101" pitchFamily="2" charset="-122"/>
            </a:endParaRPr>
          </a:p>
          <a:p>
            <a:pPr eaLnBrk="0" hangingPunct="0">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操作数</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136197" name="Line 1030"/>
          <p:cNvSpPr/>
          <p:nvPr/>
        </p:nvSpPr>
        <p:spPr>
          <a:xfrm>
            <a:off x="4183063" y="4221163"/>
            <a:ext cx="457200" cy="0"/>
          </a:xfrm>
          <a:prstGeom prst="line">
            <a:avLst/>
          </a:prstGeom>
          <a:ln w="25400" cap="sq" cmpd="sng">
            <a:solidFill>
              <a:srgbClr val="339966"/>
            </a:solidFill>
            <a:prstDash val="solid"/>
            <a:headEnd type="none" w="med" len="med"/>
            <a:tailEnd type="triangle" w="lg" len="lg"/>
          </a:ln>
        </p:spPr>
      </p:sp>
      <p:sp>
        <p:nvSpPr>
          <p:cNvPr id="136198" name="Line 1031"/>
          <p:cNvSpPr/>
          <p:nvPr/>
        </p:nvSpPr>
        <p:spPr>
          <a:xfrm>
            <a:off x="4186238" y="4806950"/>
            <a:ext cx="457200" cy="0"/>
          </a:xfrm>
          <a:prstGeom prst="line">
            <a:avLst/>
          </a:prstGeom>
          <a:ln w="25400" cap="sq" cmpd="sng">
            <a:solidFill>
              <a:srgbClr val="339966"/>
            </a:solidFill>
            <a:prstDash val="solid"/>
            <a:headEnd type="none" w="med" len="med"/>
            <a:tailEnd type="triangle" w="lg" len="lg"/>
          </a:ln>
        </p:spPr>
      </p:sp>
      <p:sp>
        <p:nvSpPr>
          <p:cNvPr id="136199" name="Text Box 1032"/>
          <p:cNvSpPr txBox="1"/>
          <p:nvPr/>
        </p:nvSpPr>
        <p:spPr>
          <a:xfrm>
            <a:off x="4767263" y="3992563"/>
            <a:ext cx="2016125"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[ES:DI]</a:t>
            </a:r>
            <a:endParaRPr lang="zh-CN" altLang="en-US" sz="2400" b="1" dirty="0">
              <a:latin typeface="Times New Roman" panose="02020603050405020304" pitchFamily="18" charset="0"/>
              <a:ea typeface="宋体" panose="02010600030101010101" pitchFamily="2" charset="-122"/>
            </a:endParaRPr>
          </a:p>
        </p:txBody>
      </p:sp>
      <p:sp>
        <p:nvSpPr>
          <p:cNvPr id="136200" name="Text Box 1033"/>
          <p:cNvSpPr txBox="1"/>
          <p:nvPr/>
        </p:nvSpPr>
        <p:spPr>
          <a:xfrm>
            <a:off x="4767263" y="4368800"/>
            <a:ext cx="2016125"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[ES:DI]</a:t>
            </a:r>
            <a:endParaRPr lang="zh-CN" altLang="en-US" sz="2400" b="1" dirty="0">
              <a:latin typeface="Times New Roman" panose="02020603050405020304" pitchFamily="18" charset="0"/>
              <a:ea typeface="宋体" panose="02010600030101010101" pitchFamily="2" charset="-122"/>
            </a:endParaRPr>
          </a:p>
        </p:txBody>
      </p:sp>
      <p:sp>
        <p:nvSpPr>
          <p:cNvPr id="135177" name="矩形 1"/>
          <p:cNvSpPr/>
          <p:nvPr/>
        </p:nvSpPr>
        <p:spPr>
          <a:xfrm>
            <a:off x="468313" y="5448300"/>
            <a:ext cx="8351837" cy="1200150"/>
          </a:xfrm>
          <a:prstGeom prst="rect">
            <a:avLst/>
          </a:prstGeom>
          <a:noFill/>
          <a:ln w="9525">
            <a:noFill/>
          </a:ln>
        </p:spPr>
        <p:txBody>
          <a:bodyPr>
            <a:spAutoFit/>
          </a:bodyPr>
          <a:p>
            <a:pPr marL="342900" indent="-342900" eaLnBrk="0" hangingPunct="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将待送存的数据放入</a:t>
            </a:r>
            <a:r>
              <a:rPr lang="en-US" altLang="zh-CN" sz="2400" dirty="0">
                <a:latin typeface="宋体" panose="02010600030101010101" pitchFamily="2" charset="-122"/>
                <a:ea typeface="宋体" panose="02010600030101010101" pitchFamily="2" charset="-122"/>
              </a:rPr>
              <a:t>AL</a:t>
            </a:r>
            <a:r>
              <a:rPr lang="zh-CN" altLang="en-US" sz="2400" dirty="0">
                <a:latin typeface="宋体" panose="02010600030101010101" pitchFamily="2" charset="-122"/>
                <a:ea typeface="宋体" panose="02010600030101010101" pitchFamily="2" charset="-122"/>
              </a:rPr>
              <a:t>（字节数）或</a:t>
            </a:r>
            <a:r>
              <a:rPr lang="en-US" altLang="zh-CN" sz="2400" dirty="0">
                <a:latin typeface="宋体" panose="02010600030101010101" pitchFamily="2" charset="-122"/>
                <a:ea typeface="宋体" panose="02010600030101010101" pitchFamily="2" charset="-122"/>
              </a:rPr>
              <a:t>AX</a:t>
            </a:r>
            <a:r>
              <a:rPr lang="zh-CN" altLang="en-US" sz="2400" dirty="0">
                <a:latin typeface="宋体" panose="02010600030101010101" pitchFamily="2" charset="-122"/>
                <a:ea typeface="宋体" panose="02010600030101010101" pitchFamily="2" charset="-122"/>
              </a:rPr>
              <a:t>（字数据）</a:t>
            </a:r>
            <a:endParaRPr lang="zh-CN" altLang="en-US" sz="2400" dirty="0">
              <a:latin typeface="宋体" panose="02010600030101010101" pitchFamily="2" charset="-122"/>
              <a:ea typeface="宋体" panose="02010600030101010101" pitchFamily="2" charset="-122"/>
            </a:endParaRPr>
          </a:p>
          <a:p>
            <a:pPr marL="342900" indent="-342900" eaLnBrk="0" hangingPunct="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确定操作方向（增地址</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减地址）和区域大小（串长度值）</a:t>
            </a:r>
            <a:endParaRPr lang="zh-CN" altLang="en-US" sz="2400" dirty="0">
              <a:latin typeface="宋体" panose="02010600030101010101" pitchFamily="2" charset="-122"/>
              <a:ea typeface="宋体" panose="02010600030101010101" pitchFamily="2" charset="-122"/>
            </a:endParaRPr>
          </a:p>
          <a:p>
            <a:pPr marL="342900" indent="-342900" eaLnBrk="0" hangingPunct="0">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使用串存储指令</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无条件重复前缀，实现数据传送</a:t>
            </a:r>
            <a:endParaRPr lang="zh-CN" altLang="en-US" sz="2400" dirty="0">
              <a:latin typeface="宋体" panose="02010600030101010101" pitchFamily="2" charset="-122"/>
              <a:ea typeface="宋体" panose="02010600030101010101" pitchFamily="2" charset="-122"/>
            </a:endParaRPr>
          </a:p>
        </p:txBody>
      </p:sp>
      <p:sp>
        <p:nvSpPr>
          <p:cNvPr id="135178" name="矩形 2"/>
          <p:cNvSpPr/>
          <p:nvPr/>
        </p:nvSpPr>
        <p:spPr>
          <a:xfrm>
            <a:off x="468313" y="5038725"/>
            <a:ext cx="5146675" cy="461963"/>
          </a:xfrm>
          <a:prstGeom prst="rect">
            <a:avLst/>
          </a:prstGeom>
          <a:noFill/>
          <a:ln w="9525">
            <a:noFill/>
          </a:ln>
        </p:spPr>
        <p:txBody>
          <a:bodyPr wrap="none">
            <a:spAutoFit/>
          </a:bodyPr>
          <a:p>
            <a:pPr marL="342900" indent="-342900" eaLnBrk="0" hangingPunct="0">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常用于将内存某个区域置同样的值</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36195">
                                            <p:txEl>
                                              <p:charRg st="0" end="4"/>
                                            </p:txEl>
                                          </p:spTgt>
                                        </p:tgtEl>
                                        <p:attrNameLst>
                                          <p:attrName>style.visibility</p:attrName>
                                        </p:attrNameLst>
                                      </p:cBhvr>
                                      <p:to>
                                        <p:strVal val="visible"/>
                                      </p:to>
                                    </p:set>
                                    <p:anim calcmode="lin" valueType="num">
                                      <p:cBhvr>
                                        <p:cTn id="7" dur="1000" fill="hold"/>
                                        <p:tgtEl>
                                          <p:spTgt spid="136195">
                                            <p:txEl>
                                              <p:charRg st="0" end="4"/>
                                            </p:txEl>
                                          </p:spTgt>
                                        </p:tgtEl>
                                        <p:attrNameLst>
                                          <p:attrName>ppt_w</p:attrName>
                                        </p:attrNameLst>
                                      </p:cBhvr>
                                      <p:tavLst>
                                        <p:tav tm="0">
                                          <p:val>
                                            <p:strVal val="#ppt_w*0.70"/>
                                          </p:val>
                                        </p:tav>
                                        <p:tav tm="100000">
                                          <p:val>
                                            <p:strVal val="#ppt_w"/>
                                          </p:val>
                                        </p:tav>
                                      </p:tavLst>
                                    </p:anim>
                                    <p:anim calcmode="lin" valueType="num">
                                      <p:cBhvr>
                                        <p:cTn id="8" dur="1000" fill="hold"/>
                                        <p:tgtEl>
                                          <p:spTgt spid="136195">
                                            <p:txEl>
                                              <p:charRg st="0" end="4"/>
                                            </p:txEl>
                                          </p:spTgt>
                                        </p:tgtEl>
                                        <p:attrNameLst>
                                          <p:attrName>ppt_h</p:attrName>
                                        </p:attrNameLst>
                                      </p:cBhvr>
                                      <p:tavLst>
                                        <p:tav tm="0">
                                          <p:val>
                                            <p:strVal val="#ppt_h"/>
                                          </p:val>
                                        </p:tav>
                                        <p:tav tm="100000">
                                          <p:val>
                                            <p:strVal val="#ppt_h"/>
                                          </p:val>
                                        </p:tav>
                                      </p:tavLst>
                                    </p:anim>
                                    <p:animEffect transition="in" filter="fade">
                                      <p:cBhvr>
                                        <p:cTn id="9" dur="1000"/>
                                        <p:tgtEl>
                                          <p:spTgt spid="136195">
                                            <p:txEl>
                                              <p:charRg st="0" end="4"/>
                                            </p:txEl>
                                          </p:spTgt>
                                        </p:tgtEl>
                                      </p:cBhvr>
                                    </p:animEffect>
                                  </p:childTnLst>
                                </p:cTn>
                              </p:par>
                            </p:childTnLst>
                          </p:cTn>
                        </p:par>
                        <p:par>
                          <p:cTn id="10" fill="hold">
                            <p:stCondLst>
                              <p:cond delay="1000"/>
                            </p:stCondLst>
                            <p:childTnLst>
                              <p:par>
                                <p:cTn id="11" presetID="18" presetClass="entr" presetSubtype="6" fill="hold" nodeType="afterEffect">
                                  <p:stCondLst>
                                    <p:cond delay="0"/>
                                  </p:stCondLst>
                                  <p:childTnLst>
                                    <p:set>
                                      <p:cBhvr>
                                        <p:cTn id="12" dur="1" fill="hold">
                                          <p:stCondLst>
                                            <p:cond delay="0"/>
                                          </p:stCondLst>
                                        </p:cTn>
                                        <p:tgtEl>
                                          <p:spTgt spid="136195">
                                            <p:txEl>
                                              <p:charRg st="4" end="20"/>
                                            </p:txEl>
                                          </p:spTgt>
                                        </p:tgtEl>
                                        <p:attrNameLst>
                                          <p:attrName>style.visibility</p:attrName>
                                        </p:attrNameLst>
                                      </p:cBhvr>
                                      <p:to>
                                        <p:strVal val="visible"/>
                                      </p:to>
                                    </p:set>
                                    <p:animEffect transition="in" filter="strips(downRight)">
                                      <p:cBhvr>
                                        <p:cTn id="13" dur="500"/>
                                        <p:tgtEl>
                                          <p:spTgt spid="136195">
                                            <p:txEl>
                                              <p:charRg st="4" end="2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6" fill="hold" nodeType="clickEffect">
                                  <p:stCondLst>
                                    <p:cond delay="0"/>
                                  </p:stCondLst>
                                  <p:childTnLst>
                                    <p:set>
                                      <p:cBhvr>
                                        <p:cTn id="17" dur="1" fill="hold">
                                          <p:stCondLst>
                                            <p:cond delay="0"/>
                                          </p:stCondLst>
                                        </p:cTn>
                                        <p:tgtEl>
                                          <p:spTgt spid="136195">
                                            <p:txEl>
                                              <p:charRg st="20" end="29"/>
                                            </p:txEl>
                                          </p:spTgt>
                                        </p:tgtEl>
                                        <p:attrNameLst>
                                          <p:attrName>style.visibility</p:attrName>
                                        </p:attrNameLst>
                                      </p:cBhvr>
                                      <p:to>
                                        <p:strVal val="visible"/>
                                      </p:to>
                                    </p:set>
                                    <p:animEffect transition="in" filter="strips(downRight)">
                                      <p:cBhvr>
                                        <p:cTn id="18" dur="500"/>
                                        <p:tgtEl>
                                          <p:spTgt spid="136195">
                                            <p:txEl>
                                              <p:charRg st="20" end="29"/>
                                            </p:txEl>
                                          </p:spTgt>
                                        </p:tgtEl>
                                      </p:cBhvr>
                                    </p:animEffect>
                                  </p:childTnLst>
                                </p:cTn>
                              </p:par>
                            </p:childTnLst>
                          </p:cTn>
                        </p:par>
                        <p:par>
                          <p:cTn id="19" fill="hold">
                            <p:stCondLst>
                              <p:cond delay="500"/>
                            </p:stCondLst>
                            <p:childTnLst>
                              <p:par>
                                <p:cTn id="20" presetID="18" presetClass="entr" presetSubtype="6" fill="hold" nodeType="afterEffect">
                                  <p:stCondLst>
                                    <p:cond delay="0"/>
                                  </p:stCondLst>
                                  <p:childTnLst>
                                    <p:set>
                                      <p:cBhvr>
                                        <p:cTn id="21" dur="1" fill="hold">
                                          <p:stCondLst>
                                            <p:cond delay="0"/>
                                          </p:stCondLst>
                                        </p:cTn>
                                        <p:tgtEl>
                                          <p:spTgt spid="136195">
                                            <p:txEl>
                                              <p:charRg st="29" end="38"/>
                                            </p:txEl>
                                          </p:spTgt>
                                        </p:tgtEl>
                                        <p:attrNameLst>
                                          <p:attrName>style.visibility</p:attrName>
                                        </p:attrNameLst>
                                      </p:cBhvr>
                                      <p:to>
                                        <p:strVal val="visible"/>
                                      </p:to>
                                    </p:set>
                                    <p:animEffect transition="in" filter="strips(downRight)">
                                      <p:cBhvr>
                                        <p:cTn id="22" dur="500"/>
                                        <p:tgtEl>
                                          <p:spTgt spid="136195">
                                            <p:txEl>
                                              <p:charRg st="29" end="3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36196"/>
                                        </p:tgtEl>
                                        <p:attrNameLst>
                                          <p:attrName>style.visibility</p:attrName>
                                        </p:attrNameLst>
                                      </p:cBhvr>
                                      <p:to>
                                        <p:strVal val="visible"/>
                                      </p:to>
                                    </p:set>
                                    <p:anim calcmode="lin" valueType="num">
                                      <p:cBhvr>
                                        <p:cTn id="27" dur="500" fill="hold"/>
                                        <p:tgtEl>
                                          <p:spTgt spid="136196"/>
                                        </p:tgtEl>
                                        <p:attrNameLst>
                                          <p:attrName>ppt_x</p:attrName>
                                        </p:attrNameLst>
                                      </p:cBhvr>
                                      <p:tavLst>
                                        <p:tav tm="0">
                                          <p:val>
                                            <p:strVal val="1+#ppt_w/2"/>
                                          </p:val>
                                        </p:tav>
                                        <p:tav tm="100000">
                                          <p:val>
                                            <p:strVal val="#ppt_x"/>
                                          </p:val>
                                        </p:tav>
                                      </p:tavLst>
                                    </p:anim>
                                    <p:anim calcmode="lin" valueType="num">
                                      <p:cBhvr>
                                        <p:cTn id="28" dur="500" fill="hold"/>
                                        <p:tgtEl>
                                          <p:spTgt spid="13619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8" presetClass="entr" presetSubtype="6" fill="hold" nodeType="clickEffect">
                                  <p:stCondLst>
                                    <p:cond delay="0"/>
                                  </p:stCondLst>
                                  <p:childTnLst>
                                    <p:set>
                                      <p:cBhvr>
                                        <p:cTn id="32" dur="1" fill="hold">
                                          <p:stCondLst>
                                            <p:cond delay="0"/>
                                          </p:stCondLst>
                                        </p:cTn>
                                        <p:tgtEl>
                                          <p:spTgt spid="136195">
                                            <p:txEl>
                                              <p:charRg st="38" end="42"/>
                                            </p:txEl>
                                          </p:spTgt>
                                        </p:tgtEl>
                                        <p:attrNameLst>
                                          <p:attrName>style.visibility</p:attrName>
                                        </p:attrNameLst>
                                      </p:cBhvr>
                                      <p:to>
                                        <p:strVal val="visible"/>
                                      </p:to>
                                    </p:set>
                                    <p:animEffect transition="in" filter="strips(downRight)">
                                      <p:cBhvr>
                                        <p:cTn id="33" dur="500"/>
                                        <p:tgtEl>
                                          <p:spTgt spid="136195">
                                            <p:txEl>
                                              <p:charRg st="38" end="4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6" fill="hold" nodeType="clickEffect">
                                  <p:stCondLst>
                                    <p:cond delay="0"/>
                                  </p:stCondLst>
                                  <p:childTnLst>
                                    <p:set>
                                      <p:cBhvr>
                                        <p:cTn id="37" dur="1" fill="hold">
                                          <p:stCondLst>
                                            <p:cond delay="0"/>
                                          </p:stCondLst>
                                        </p:cTn>
                                        <p:tgtEl>
                                          <p:spTgt spid="136195">
                                            <p:txEl>
                                              <p:charRg st="42" end="51"/>
                                            </p:txEl>
                                          </p:spTgt>
                                        </p:tgtEl>
                                        <p:attrNameLst>
                                          <p:attrName>style.visibility</p:attrName>
                                        </p:attrNameLst>
                                      </p:cBhvr>
                                      <p:to>
                                        <p:strVal val="visible"/>
                                      </p:to>
                                    </p:set>
                                    <p:animEffect transition="in" filter="strips(downRight)">
                                      <p:cBhvr>
                                        <p:cTn id="38" dur="500"/>
                                        <p:tgtEl>
                                          <p:spTgt spid="136195">
                                            <p:txEl>
                                              <p:charRg st="42" end="51"/>
                                            </p:txEl>
                                          </p:spTgt>
                                        </p:tgtEl>
                                      </p:cBhvr>
                                    </p:animEffect>
                                  </p:childTnLst>
                                </p:cTn>
                              </p:par>
                            </p:childTnLst>
                          </p:cTn>
                        </p:par>
                        <p:par>
                          <p:cTn id="39" fill="hold">
                            <p:stCondLst>
                              <p:cond delay="500"/>
                            </p:stCondLst>
                            <p:childTnLst>
                              <p:par>
                                <p:cTn id="40" presetID="18" presetClass="entr" presetSubtype="6" fill="hold" nodeType="afterEffect">
                                  <p:stCondLst>
                                    <p:cond delay="0"/>
                                  </p:stCondLst>
                                  <p:childTnLst>
                                    <p:set>
                                      <p:cBhvr>
                                        <p:cTn id="41" dur="1" fill="hold">
                                          <p:stCondLst>
                                            <p:cond delay="0"/>
                                          </p:stCondLst>
                                        </p:cTn>
                                        <p:tgtEl>
                                          <p:spTgt spid="136197"/>
                                        </p:tgtEl>
                                        <p:attrNameLst>
                                          <p:attrName>style.visibility</p:attrName>
                                        </p:attrNameLst>
                                      </p:cBhvr>
                                      <p:to>
                                        <p:strVal val="visible"/>
                                      </p:to>
                                    </p:set>
                                    <p:animEffect transition="in" filter="strips(downRight)">
                                      <p:cBhvr>
                                        <p:cTn id="42" dur="500"/>
                                        <p:tgtEl>
                                          <p:spTgt spid="136197"/>
                                        </p:tgtEl>
                                      </p:cBhvr>
                                    </p:animEffect>
                                  </p:childTnLst>
                                </p:cTn>
                              </p:par>
                            </p:childTnLst>
                          </p:cTn>
                        </p:par>
                        <p:par>
                          <p:cTn id="43" fill="hold">
                            <p:stCondLst>
                              <p:cond delay="1000"/>
                            </p:stCondLst>
                            <p:childTnLst>
                              <p:par>
                                <p:cTn id="44" presetID="18" presetClass="entr" presetSubtype="6" fill="hold" grpId="0" nodeType="afterEffect">
                                  <p:stCondLst>
                                    <p:cond delay="0"/>
                                  </p:stCondLst>
                                  <p:childTnLst>
                                    <p:set>
                                      <p:cBhvr>
                                        <p:cTn id="45" dur="1" fill="hold">
                                          <p:stCondLst>
                                            <p:cond delay="0"/>
                                          </p:stCondLst>
                                        </p:cTn>
                                        <p:tgtEl>
                                          <p:spTgt spid="136199"/>
                                        </p:tgtEl>
                                        <p:attrNameLst>
                                          <p:attrName>style.visibility</p:attrName>
                                        </p:attrNameLst>
                                      </p:cBhvr>
                                      <p:to>
                                        <p:strVal val="visible"/>
                                      </p:to>
                                    </p:set>
                                    <p:animEffect transition="in" filter="strips(downRight)">
                                      <p:cBhvr>
                                        <p:cTn id="46" dur="500"/>
                                        <p:tgtEl>
                                          <p:spTgt spid="136199"/>
                                        </p:tgtEl>
                                      </p:cBhvr>
                                    </p:animEffect>
                                  </p:childTnLst>
                                </p:cTn>
                              </p:par>
                            </p:childTnLst>
                          </p:cTn>
                        </p:par>
                      </p:childTnLst>
                    </p:cTn>
                  </p:par>
                  <p:par>
                    <p:cTn id="47" fill="hold">
                      <p:stCondLst>
                        <p:cond delay="indefinite"/>
                      </p:stCondLst>
                      <p:childTnLst>
                        <p:par>
                          <p:cTn id="48" fill="hold">
                            <p:stCondLst>
                              <p:cond delay="0"/>
                            </p:stCondLst>
                            <p:childTnLst>
                              <p:par>
                                <p:cTn id="49" presetID="18" presetClass="entr" presetSubtype="6" fill="hold" nodeType="clickEffect">
                                  <p:stCondLst>
                                    <p:cond delay="0"/>
                                  </p:stCondLst>
                                  <p:childTnLst>
                                    <p:set>
                                      <p:cBhvr>
                                        <p:cTn id="50" dur="1" fill="hold">
                                          <p:stCondLst>
                                            <p:cond delay="0"/>
                                          </p:stCondLst>
                                        </p:cTn>
                                        <p:tgtEl>
                                          <p:spTgt spid="136195">
                                            <p:txEl>
                                              <p:charRg st="51" end="61"/>
                                            </p:txEl>
                                          </p:spTgt>
                                        </p:tgtEl>
                                        <p:attrNameLst>
                                          <p:attrName>style.visibility</p:attrName>
                                        </p:attrNameLst>
                                      </p:cBhvr>
                                      <p:to>
                                        <p:strVal val="visible"/>
                                      </p:to>
                                    </p:set>
                                    <p:animEffect transition="in" filter="strips(downRight)">
                                      <p:cBhvr>
                                        <p:cTn id="51" dur="500"/>
                                        <p:tgtEl>
                                          <p:spTgt spid="136195">
                                            <p:txEl>
                                              <p:charRg st="51" end="61"/>
                                            </p:txEl>
                                          </p:spTgt>
                                        </p:tgtEl>
                                      </p:cBhvr>
                                    </p:animEffect>
                                  </p:childTnLst>
                                </p:cTn>
                              </p:par>
                            </p:childTnLst>
                          </p:cTn>
                        </p:par>
                        <p:par>
                          <p:cTn id="52" fill="hold">
                            <p:stCondLst>
                              <p:cond delay="500"/>
                            </p:stCondLst>
                            <p:childTnLst>
                              <p:par>
                                <p:cTn id="53" presetID="18" presetClass="entr" presetSubtype="6" fill="hold" nodeType="afterEffect">
                                  <p:stCondLst>
                                    <p:cond delay="0"/>
                                  </p:stCondLst>
                                  <p:childTnLst>
                                    <p:set>
                                      <p:cBhvr>
                                        <p:cTn id="54" dur="1" fill="hold">
                                          <p:stCondLst>
                                            <p:cond delay="0"/>
                                          </p:stCondLst>
                                        </p:cTn>
                                        <p:tgtEl>
                                          <p:spTgt spid="136198"/>
                                        </p:tgtEl>
                                        <p:attrNameLst>
                                          <p:attrName>style.visibility</p:attrName>
                                        </p:attrNameLst>
                                      </p:cBhvr>
                                      <p:to>
                                        <p:strVal val="visible"/>
                                      </p:to>
                                    </p:set>
                                    <p:animEffect transition="in" filter="strips(downRight)">
                                      <p:cBhvr>
                                        <p:cTn id="55" dur="500"/>
                                        <p:tgtEl>
                                          <p:spTgt spid="136198"/>
                                        </p:tgtEl>
                                      </p:cBhvr>
                                    </p:animEffect>
                                  </p:childTnLst>
                                </p:cTn>
                              </p:par>
                            </p:childTnLst>
                          </p:cTn>
                        </p:par>
                        <p:par>
                          <p:cTn id="56" fill="hold">
                            <p:stCondLst>
                              <p:cond delay="1000"/>
                            </p:stCondLst>
                            <p:childTnLst>
                              <p:par>
                                <p:cTn id="57" presetID="18" presetClass="entr" presetSubtype="6" fill="hold" grpId="0" nodeType="afterEffect">
                                  <p:stCondLst>
                                    <p:cond delay="0"/>
                                  </p:stCondLst>
                                  <p:childTnLst>
                                    <p:set>
                                      <p:cBhvr>
                                        <p:cTn id="58" dur="1" fill="hold">
                                          <p:stCondLst>
                                            <p:cond delay="0"/>
                                          </p:stCondLst>
                                        </p:cTn>
                                        <p:tgtEl>
                                          <p:spTgt spid="136200"/>
                                        </p:tgtEl>
                                        <p:attrNameLst>
                                          <p:attrName>style.visibility</p:attrName>
                                        </p:attrNameLst>
                                      </p:cBhvr>
                                      <p:to>
                                        <p:strVal val="visible"/>
                                      </p:to>
                                    </p:set>
                                    <p:animEffect transition="in" filter="strips(downRight)">
                                      <p:cBhvr>
                                        <p:cTn id="59" dur="500"/>
                                        <p:tgtEl>
                                          <p:spTgt spid="136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nimBg="1"/>
      <p:bldP spid="136199" grpId="0"/>
      <p:bldP spid="136200"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矩形 1"/>
          <p:cNvSpPr/>
          <p:nvPr/>
        </p:nvSpPr>
        <p:spPr>
          <a:xfrm>
            <a:off x="611188" y="1628775"/>
            <a:ext cx="7705725" cy="3970338"/>
          </a:xfrm>
          <a:prstGeom prst="rect">
            <a:avLst/>
          </a:prstGeom>
          <a:noFill/>
          <a:ln w="9525">
            <a:noFill/>
          </a:ln>
        </p:spPr>
        <p:txBody>
          <a:bodyPr>
            <a:spAutoFit/>
          </a:bodyPr>
          <a:p>
            <a:pPr eaLnBrk="0" hangingPunct="0"/>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例</a:t>
            </a:r>
            <a:r>
              <a:rPr lang="en-US" altLang="zh-CN" sz="2400"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将字符</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送入附加段中偏移地址为</a:t>
            </a:r>
            <a:r>
              <a:rPr lang="en-US" altLang="zh-CN" sz="2400" b="1" dirty="0">
                <a:latin typeface="宋体" panose="02010600030101010101" pitchFamily="2" charset="-122"/>
                <a:ea typeface="宋体" panose="02010600030101010101" pitchFamily="2" charset="-122"/>
              </a:rPr>
              <a:t>0100H</a:t>
            </a:r>
            <a:r>
              <a:rPr lang="zh-CN" altLang="en-US" sz="2400" b="1" dirty="0">
                <a:latin typeface="宋体" panose="02010600030101010101" pitchFamily="2" charset="-122"/>
                <a:ea typeface="宋体" panose="02010600030101010101" pitchFamily="2" charset="-122"/>
              </a:rPr>
              <a:t>的连续五个单元中。</a:t>
            </a:r>
            <a:endParaRPr lang="zh-CN" altLang="en-US" sz="2400" b="1" dirty="0">
              <a:latin typeface="宋体" panose="02010600030101010101" pitchFamily="2" charset="-122"/>
              <a:ea typeface="宋体" panose="02010600030101010101" pitchFamily="2" charset="-122"/>
            </a:endParaRPr>
          </a:p>
          <a:p>
            <a:pPr eaLnBrk="0" hangingPunct="0"/>
            <a:endParaRPr lang="zh-CN" altLang="en-US" sz="2400" b="1" dirty="0">
              <a:latin typeface="宋体" panose="02010600030101010101" pitchFamily="2" charset="-122"/>
              <a:ea typeface="宋体" panose="02010600030101010101" pitchFamily="2" charset="-122"/>
            </a:endParaRPr>
          </a:p>
          <a:p>
            <a:pPr eaLnBrk="0" hangingPunct="0">
              <a:lnSpc>
                <a:spcPct val="150000"/>
              </a:lnSpc>
            </a:pPr>
            <a:r>
              <a:rPr lang="en-US" altLang="zh-CN" sz="2400" b="1" dirty="0">
                <a:latin typeface="宋体" panose="02010600030101010101" pitchFamily="2" charset="-122"/>
                <a:ea typeface="宋体" panose="02010600030101010101" pitchFamily="2" charset="-122"/>
              </a:rPr>
              <a:t>CLD           ; DF</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0</a:t>
            </a:r>
            <a:r>
              <a:rPr lang="zh-CN" altLang="en-US" sz="2400" b="1" dirty="0">
                <a:latin typeface="宋体" panose="02010600030101010101" pitchFamily="2" charset="-122"/>
                <a:ea typeface="宋体" panose="02010600030101010101" pitchFamily="2" charset="-122"/>
              </a:rPr>
              <a:t>，地址自动递增</a:t>
            </a:r>
            <a:endParaRPr lang="zh-CN" altLang="en-US" sz="2400" b="1" dirty="0">
              <a:latin typeface="宋体" panose="02010600030101010101" pitchFamily="2" charset="-122"/>
              <a:ea typeface="宋体" panose="02010600030101010101" pitchFamily="2" charset="-122"/>
            </a:endParaRPr>
          </a:p>
          <a:p>
            <a:pPr eaLnBrk="0" hangingPunct="0">
              <a:lnSpc>
                <a:spcPct val="150000"/>
              </a:lnSpc>
            </a:pPr>
            <a:r>
              <a:rPr lang="en-US" altLang="zh-CN" sz="2400" b="1" dirty="0">
                <a:latin typeface="宋体" panose="02010600030101010101" pitchFamily="2" charset="-122"/>
                <a:ea typeface="宋体" panose="02010600030101010101" pitchFamily="2" charset="-122"/>
              </a:rPr>
              <a:t>MOV CX, 5     ; </a:t>
            </a:r>
            <a:r>
              <a:rPr lang="zh-CN" altLang="en-US" sz="2400" b="1" dirty="0">
                <a:latin typeface="宋体" panose="02010600030101010101" pitchFamily="2" charset="-122"/>
                <a:ea typeface="宋体" panose="02010600030101010101" pitchFamily="2" charset="-122"/>
              </a:rPr>
              <a:t>设置计数器</a:t>
            </a:r>
            <a:endParaRPr lang="zh-CN" altLang="en-US" sz="2400" b="1" dirty="0">
              <a:latin typeface="宋体" panose="02010600030101010101" pitchFamily="2" charset="-122"/>
              <a:ea typeface="宋体" panose="02010600030101010101" pitchFamily="2" charset="-122"/>
            </a:endParaRPr>
          </a:p>
          <a:p>
            <a:pPr eaLnBrk="0" hangingPunct="0">
              <a:lnSpc>
                <a:spcPct val="150000"/>
              </a:lnSpc>
            </a:pPr>
            <a:r>
              <a:rPr lang="en-US" altLang="zh-CN" sz="2400" b="1" dirty="0">
                <a:latin typeface="宋体" panose="02010600030101010101" pitchFamily="2" charset="-122"/>
                <a:ea typeface="宋体" panose="02010600030101010101" pitchFamily="2" charset="-122"/>
              </a:rPr>
              <a:t>MOV DI, 0100H ; </a:t>
            </a:r>
            <a:r>
              <a:rPr lang="zh-CN" altLang="en-US" sz="2400" b="1" dirty="0">
                <a:latin typeface="宋体" panose="02010600030101010101" pitchFamily="2" charset="-122"/>
                <a:ea typeface="宋体" panose="02010600030101010101" pitchFamily="2" charset="-122"/>
              </a:rPr>
              <a:t>目标串首元素的偏移地址</a:t>
            </a:r>
            <a:endParaRPr lang="zh-CN" altLang="en-US" sz="2400" b="1" dirty="0">
              <a:latin typeface="宋体" panose="02010600030101010101" pitchFamily="2" charset="-122"/>
              <a:ea typeface="宋体" panose="02010600030101010101" pitchFamily="2" charset="-122"/>
            </a:endParaRPr>
          </a:p>
          <a:p>
            <a:pPr eaLnBrk="0" hangingPunct="0">
              <a:lnSpc>
                <a:spcPct val="150000"/>
              </a:lnSpc>
            </a:pPr>
            <a:r>
              <a:rPr lang="en-US" altLang="zh-CN" sz="2400" b="1" dirty="0">
                <a:latin typeface="宋体" panose="02010600030101010101" pitchFamily="2" charset="-122"/>
                <a:ea typeface="宋体" panose="02010600030101010101" pitchFamily="2" charset="-122"/>
              </a:rPr>
              <a:t>MOV AL, ‘$’ ; </a:t>
            </a:r>
            <a:r>
              <a:rPr lang="zh-CN" altLang="en-US" sz="2400" b="1" dirty="0">
                <a:latin typeface="宋体" panose="02010600030101010101" pitchFamily="2" charset="-122"/>
                <a:ea typeface="宋体" panose="02010600030101010101" pitchFamily="2" charset="-122"/>
              </a:rPr>
              <a:t>设置关键字</a:t>
            </a:r>
            <a:endParaRPr lang="zh-CN" altLang="en-US" sz="2400" b="1" dirty="0">
              <a:latin typeface="宋体" panose="02010600030101010101" pitchFamily="2" charset="-122"/>
              <a:ea typeface="宋体" panose="02010600030101010101" pitchFamily="2" charset="-122"/>
            </a:endParaRPr>
          </a:p>
          <a:p>
            <a:pPr eaLnBrk="0" hangingPunct="0">
              <a:lnSpc>
                <a:spcPct val="150000"/>
              </a:lnSpc>
            </a:pPr>
            <a:r>
              <a:rPr lang="en-US" altLang="zh-CN" sz="2400" b="1" dirty="0">
                <a:latin typeface="宋体" panose="02010600030101010101" pitchFamily="2" charset="-122"/>
                <a:ea typeface="宋体" panose="02010600030101010101" pitchFamily="2" charset="-122"/>
              </a:rPr>
              <a:t>REP STOSB     ; </a:t>
            </a:r>
            <a:r>
              <a:rPr lang="zh-CN" altLang="en-US" sz="2400" b="1" dirty="0">
                <a:latin typeface="宋体" panose="02010600030101010101" pitchFamily="2" charset="-122"/>
                <a:ea typeface="宋体" panose="02010600030101010101" pitchFamily="2" charset="-122"/>
              </a:rPr>
              <a:t>连续将‘</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写入相应存储单元中</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2051"/>
          <p:cNvSpPr>
            <a:spLocks noGrp="1"/>
          </p:cNvSpPr>
          <p:nvPr>
            <p:ph type="body" idx="4294967295"/>
          </p:nvPr>
        </p:nvSpPr>
        <p:spPr>
          <a:xfrm>
            <a:off x="1160463" y="1241425"/>
            <a:ext cx="6518275" cy="1500188"/>
          </a:xfrm>
        </p:spPr>
        <p:txBody>
          <a:bodyPr vert="horz" wrap="square" lIns="91440" tIns="45720" rIns="91440" bIns="45720" anchor="t" anchorCtr="0"/>
          <a:p>
            <a:pPr>
              <a:spcBef>
                <a:spcPct val="5000"/>
              </a:spcBef>
              <a:buFont typeface="Wingdings" panose="05000000000000000000" pitchFamily="2" charset="2"/>
              <a:buChar char="Ø"/>
            </a:pPr>
            <a:r>
              <a:rPr lang="zh-CN" altLang="en-US" b="0" dirty="0">
                <a:latin typeface="宋体" panose="02010600030101010101" pitchFamily="2" charset="-122"/>
                <a:ea typeface="宋体" panose="02010600030101010101" pitchFamily="2" charset="-122"/>
              </a:rPr>
              <a:t>例</a:t>
            </a:r>
            <a:endParaRPr lang="en-US" altLang="zh-CN" b="0" dirty="0">
              <a:latin typeface="宋体" panose="02010600030101010101" pitchFamily="2" charset="-122"/>
              <a:ea typeface="宋体" panose="02010600030101010101" pitchFamily="2" charset="-122"/>
            </a:endParaRPr>
          </a:p>
          <a:p>
            <a:pPr>
              <a:spcBef>
                <a:spcPct val="5000"/>
              </a:spcBef>
              <a:buNone/>
            </a:pPr>
            <a:r>
              <a:rPr lang="zh-CN" altLang="en-US" b="0" dirty="0">
                <a:latin typeface="宋体" panose="02010600030101010101" pitchFamily="2" charset="-122"/>
                <a:ea typeface="宋体" panose="02010600030101010101" pitchFamily="2" charset="-122"/>
              </a:rPr>
              <a:t>将内存某单元清零。设计思想如下：    </a:t>
            </a:r>
            <a:endParaRPr lang="zh-CN" altLang="en-US" b="0" dirty="0">
              <a:latin typeface="宋体" panose="02010600030101010101" pitchFamily="2" charset="-122"/>
              <a:ea typeface="宋体" panose="02010600030101010101" pitchFamily="2" charset="-122"/>
            </a:endParaRPr>
          </a:p>
        </p:txBody>
      </p:sp>
      <p:sp>
        <p:nvSpPr>
          <p:cNvPr id="138243" name="Rectangle 2054"/>
          <p:cNvSpPr/>
          <p:nvPr/>
        </p:nvSpPr>
        <p:spPr>
          <a:xfrm>
            <a:off x="1266825" y="3025775"/>
            <a:ext cx="3124200"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38244" name="Text Box 2055"/>
          <p:cNvSpPr txBox="1"/>
          <p:nvPr/>
        </p:nvSpPr>
        <p:spPr>
          <a:xfrm>
            <a:off x="1266825" y="3101975"/>
            <a:ext cx="32385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区域首地址送</a:t>
            </a:r>
            <a:r>
              <a:rPr lang="en-US" altLang="zh-CN" sz="2400" b="1" dirty="0">
                <a:solidFill>
                  <a:schemeClr val="bg1"/>
                </a:solidFill>
                <a:latin typeface="Times New Roman" panose="02020603050405020304" pitchFamily="18" charset="0"/>
                <a:ea typeface="宋体" panose="02010600030101010101" pitchFamily="2" charset="-122"/>
              </a:rPr>
              <a:t>ES：DI</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38245" name="Rectangle 2056"/>
          <p:cNvSpPr/>
          <p:nvPr/>
        </p:nvSpPr>
        <p:spPr>
          <a:xfrm>
            <a:off x="1266825" y="4168775"/>
            <a:ext cx="3124200"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38246" name="Text Box 2057"/>
          <p:cNvSpPr txBox="1"/>
          <p:nvPr/>
        </p:nvSpPr>
        <p:spPr>
          <a:xfrm>
            <a:off x="1809750" y="4244975"/>
            <a:ext cx="2047875"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串长度送</a:t>
            </a:r>
            <a:r>
              <a:rPr lang="en-US" altLang="zh-CN" sz="2400" b="1" dirty="0">
                <a:solidFill>
                  <a:schemeClr val="bg1"/>
                </a:solidFill>
                <a:latin typeface="Times New Roman" panose="02020603050405020304" pitchFamily="18" charset="0"/>
                <a:ea typeface="宋体" panose="02010600030101010101" pitchFamily="2" charset="-122"/>
              </a:rPr>
              <a:t>CX</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38247" name="Rectangle 2058"/>
          <p:cNvSpPr/>
          <p:nvPr/>
        </p:nvSpPr>
        <p:spPr>
          <a:xfrm>
            <a:off x="1266825" y="5311775"/>
            <a:ext cx="3124200"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38248" name="Text Box 2059"/>
          <p:cNvSpPr txBox="1"/>
          <p:nvPr/>
        </p:nvSpPr>
        <p:spPr>
          <a:xfrm>
            <a:off x="1809750" y="5387975"/>
            <a:ext cx="2352675"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置方向标志</a:t>
            </a:r>
            <a:r>
              <a:rPr lang="en-US" altLang="zh-CN" sz="2400" b="1" dirty="0">
                <a:solidFill>
                  <a:schemeClr val="bg1"/>
                </a:solidFill>
                <a:latin typeface="Times New Roman" panose="02020603050405020304" pitchFamily="18" charset="0"/>
                <a:ea typeface="宋体" panose="02010600030101010101" pitchFamily="2" charset="-122"/>
              </a:rPr>
              <a:t>DF</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38249" name="Rectangle 2060"/>
          <p:cNvSpPr/>
          <p:nvPr/>
        </p:nvSpPr>
        <p:spPr>
          <a:xfrm>
            <a:off x="5853113" y="3101975"/>
            <a:ext cx="2438400"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38250" name="Text Box 2061"/>
          <p:cNvSpPr txBox="1"/>
          <p:nvPr/>
        </p:nvSpPr>
        <p:spPr>
          <a:xfrm>
            <a:off x="6057900" y="3178175"/>
            <a:ext cx="2047875"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0送累加器</a:t>
            </a:r>
            <a:r>
              <a:rPr lang="en-US" altLang="zh-CN" sz="2400" b="1" dirty="0">
                <a:solidFill>
                  <a:schemeClr val="bg1"/>
                </a:solidFill>
                <a:latin typeface="Times New Roman" panose="02020603050405020304" pitchFamily="18" charset="0"/>
                <a:ea typeface="宋体" panose="02010600030101010101" pitchFamily="2" charset="-122"/>
              </a:rPr>
              <a:t>AL</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38251" name="Rectangle 2062"/>
          <p:cNvSpPr/>
          <p:nvPr/>
        </p:nvSpPr>
        <p:spPr>
          <a:xfrm>
            <a:off x="5853113" y="4278313"/>
            <a:ext cx="2438400" cy="533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38252" name="Text Box 2063"/>
          <p:cNvSpPr txBox="1"/>
          <p:nvPr/>
        </p:nvSpPr>
        <p:spPr>
          <a:xfrm>
            <a:off x="5962650" y="4306888"/>
            <a:ext cx="23622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执行串送存指令</a:t>
            </a:r>
            <a:endParaRPr lang="zh-CN" altLang="en-US" sz="2400" b="1" dirty="0">
              <a:solidFill>
                <a:schemeClr val="bg1"/>
              </a:solidFill>
              <a:latin typeface="Times New Roman" panose="02020603050405020304" pitchFamily="18" charset="0"/>
              <a:ea typeface="宋体" panose="02010600030101010101" pitchFamily="2" charset="-122"/>
            </a:endParaRPr>
          </a:p>
        </p:txBody>
      </p:sp>
      <p:sp>
        <p:nvSpPr>
          <p:cNvPr id="138253" name="Line 2064"/>
          <p:cNvSpPr/>
          <p:nvPr/>
        </p:nvSpPr>
        <p:spPr>
          <a:xfrm>
            <a:off x="2833688" y="3559175"/>
            <a:ext cx="0" cy="609600"/>
          </a:xfrm>
          <a:prstGeom prst="line">
            <a:avLst/>
          </a:prstGeom>
          <a:ln w="25400" cap="sq" cmpd="sng">
            <a:solidFill>
              <a:srgbClr val="FF6600"/>
            </a:solidFill>
            <a:prstDash val="solid"/>
            <a:headEnd type="none" w="med" len="med"/>
            <a:tailEnd type="triangle" w="lg" len="lg"/>
          </a:ln>
        </p:spPr>
      </p:sp>
      <p:sp>
        <p:nvSpPr>
          <p:cNvPr id="138254" name="Line 2065"/>
          <p:cNvSpPr/>
          <p:nvPr/>
        </p:nvSpPr>
        <p:spPr>
          <a:xfrm>
            <a:off x="2838450" y="4702175"/>
            <a:ext cx="0" cy="609600"/>
          </a:xfrm>
          <a:prstGeom prst="line">
            <a:avLst/>
          </a:prstGeom>
          <a:ln w="25400" cap="sq" cmpd="sng">
            <a:solidFill>
              <a:srgbClr val="FF6600"/>
            </a:solidFill>
            <a:prstDash val="solid"/>
            <a:headEnd type="none" w="med" len="med"/>
            <a:tailEnd type="triangle" w="lg" len="lg"/>
          </a:ln>
        </p:spPr>
      </p:sp>
      <p:sp>
        <p:nvSpPr>
          <p:cNvPr id="138255" name="Line 2066"/>
          <p:cNvSpPr/>
          <p:nvPr/>
        </p:nvSpPr>
        <p:spPr>
          <a:xfrm>
            <a:off x="7058025" y="2492375"/>
            <a:ext cx="0" cy="609600"/>
          </a:xfrm>
          <a:prstGeom prst="line">
            <a:avLst/>
          </a:prstGeom>
          <a:ln w="25400" cap="sq" cmpd="sng">
            <a:solidFill>
              <a:srgbClr val="FF6600"/>
            </a:solidFill>
            <a:prstDash val="solid"/>
            <a:headEnd type="none" w="med" len="med"/>
            <a:tailEnd type="triangle" w="lg" len="lg"/>
          </a:ln>
        </p:spPr>
      </p:sp>
      <p:sp>
        <p:nvSpPr>
          <p:cNvPr id="138256" name="Line 2067"/>
          <p:cNvSpPr/>
          <p:nvPr/>
        </p:nvSpPr>
        <p:spPr>
          <a:xfrm>
            <a:off x="7058025" y="3649663"/>
            <a:ext cx="0" cy="609600"/>
          </a:xfrm>
          <a:prstGeom prst="line">
            <a:avLst/>
          </a:prstGeom>
          <a:ln w="25400" cap="sq" cmpd="sng">
            <a:solidFill>
              <a:srgbClr val="FF6600"/>
            </a:solidFill>
            <a:prstDash val="solid"/>
            <a:headEnd type="none" w="med" len="med"/>
            <a:tailEnd type="triangle" w="lg" len="lg"/>
          </a:ln>
        </p:spPr>
      </p:sp>
      <p:sp>
        <p:nvSpPr>
          <p:cNvPr id="138257" name="Line 2068"/>
          <p:cNvSpPr/>
          <p:nvPr/>
        </p:nvSpPr>
        <p:spPr>
          <a:xfrm>
            <a:off x="2833688" y="5859463"/>
            <a:ext cx="0" cy="381000"/>
          </a:xfrm>
          <a:prstGeom prst="line">
            <a:avLst/>
          </a:prstGeom>
          <a:ln w="25400" cap="sq" cmpd="sng">
            <a:solidFill>
              <a:srgbClr val="FF6600"/>
            </a:solidFill>
            <a:prstDash val="solid"/>
            <a:headEnd type="none" w="med" len="med"/>
            <a:tailEnd type="none" w="med" len="med"/>
          </a:ln>
        </p:spPr>
      </p:sp>
      <p:sp>
        <p:nvSpPr>
          <p:cNvPr id="138258" name="Line 2069"/>
          <p:cNvSpPr/>
          <p:nvPr/>
        </p:nvSpPr>
        <p:spPr>
          <a:xfrm>
            <a:off x="2824163" y="6226175"/>
            <a:ext cx="2238375" cy="0"/>
          </a:xfrm>
          <a:prstGeom prst="line">
            <a:avLst/>
          </a:prstGeom>
          <a:ln w="25400" cap="sq" cmpd="sng">
            <a:solidFill>
              <a:srgbClr val="FF6600"/>
            </a:solidFill>
            <a:prstDash val="solid"/>
            <a:headEnd type="none" w="med" len="med"/>
            <a:tailEnd type="none" w="med" len="med"/>
          </a:ln>
        </p:spPr>
      </p:sp>
      <p:sp>
        <p:nvSpPr>
          <p:cNvPr id="138259" name="Line 2070"/>
          <p:cNvSpPr/>
          <p:nvPr/>
        </p:nvSpPr>
        <p:spPr>
          <a:xfrm flipV="1">
            <a:off x="5076825" y="2492375"/>
            <a:ext cx="0" cy="3733800"/>
          </a:xfrm>
          <a:prstGeom prst="line">
            <a:avLst/>
          </a:prstGeom>
          <a:ln w="25400" cap="sq" cmpd="sng">
            <a:solidFill>
              <a:srgbClr val="FF6600"/>
            </a:solidFill>
            <a:prstDash val="solid"/>
            <a:headEnd type="none" w="med" len="med"/>
            <a:tailEnd type="none" w="med" len="med"/>
          </a:ln>
        </p:spPr>
      </p:sp>
      <p:sp>
        <p:nvSpPr>
          <p:cNvPr id="138260" name="Line 2071"/>
          <p:cNvSpPr/>
          <p:nvPr/>
        </p:nvSpPr>
        <p:spPr>
          <a:xfrm>
            <a:off x="5076825" y="2492375"/>
            <a:ext cx="1981200" cy="0"/>
          </a:xfrm>
          <a:prstGeom prst="line">
            <a:avLst/>
          </a:prstGeom>
          <a:ln w="25400" cap="sq" cmpd="sng">
            <a:solidFill>
              <a:srgbClr val="FF6600"/>
            </a:solidFill>
            <a:prstDash val="solid"/>
            <a:headEnd type="none" w="med" len="med"/>
            <a:tailEnd type="none" w="med" len="med"/>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38242">
                                            <p:txEl>
                                              <p:charRg st="0" end="2"/>
                                            </p:txEl>
                                          </p:spTgt>
                                        </p:tgtEl>
                                        <p:attrNameLst>
                                          <p:attrName>style.visibility</p:attrName>
                                        </p:attrNameLst>
                                      </p:cBhvr>
                                      <p:to>
                                        <p:strVal val="visible"/>
                                      </p:to>
                                    </p:set>
                                    <p:animEffect transition="in" filter="strips(downRight)">
                                      <p:cBhvr>
                                        <p:cTn id="7" dur="500"/>
                                        <p:tgtEl>
                                          <p:spTgt spid="138242">
                                            <p:txEl>
                                              <p:charRg st="0"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38242">
                                            <p:txEl>
                                              <p:charRg st="2" end="23"/>
                                            </p:txEl>
                                          </p:spTgt>
                                        </p:tgtEl>
                                        <p:attrNameLst>
                                          <p:attrName>style.visibility</p:attrName>
                                        </p:attrNameLst>
                                      </p:cBhvr>
                                      <p:to>
                                        <p:strVal val="visible"/>
                                      </p:to>
                                    </p:set>
                                    <p:animEffect transition="in" filter="strips(downRight)">
                                      <p:cBhvr>
                                        <p:cTn id="12" dur="500"/>
                                        <p:tgtEl>
                                          <p:spTgt spid="138242">
                                            <p:txEl>
                                              <p:charRg st="2" end="2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38243"/>
                                        </p:tgtEl>
                                        <p:attrNameLst>
                                          <p:attrName>style.visibility</p:attrName>
                                        </p:attrNameLst>
                                      </p:cBhvr>
                                      <p:to>
                                        <p:strVal val="visible"/>
                                      </p:to>
                                    </p:set>
                                    <p:animEffect transition="in" filter="strips(downRight)">
                                      <p:cBhvr>
                                        <p:cTn id="17" dur="500"/>
                                        <p:tgtEl>
                                          <p:spTgt spid="138243"/>
                                        </p:tgtEl>
                                      </p:cBhvr>
                                    </p:animEffect>
                                  </p:childTnLst>
                                </p:cTn>
                              </p:par>
                              <p:par>
                                <p:cTn id="18" presetID="18" presetClass="entr" presetSubtype="6" fill="hold" grpId="0" nodeType="withEffect">
                                  <p:stCondLst>
                                    <p:cond delay="0"/>
                                  </p:stCondLst>
                                  <p:childTnLst>
                                    <p:set>
                                      <p:cBhvr>
                                        <p:cTn id="19" dur="1" fill="hold">
                                          <p:stCondLst>
                                            <p:cond delay="0"/>
                                          </p:stCondLst>
                                        </p:cTn>
                                        <p:tgtEl>
                                          <p:spTgt spid="138244"/>
                                        </p:tgtEl>
                                        <p:attrNameLst>
                                          <p:attrName>style.visibility</p:attrName>
                                        </p:attrNameLst>
                                      </p:cBhvr>
                                      <p:to>
                                        <p:strVal val="visible"/>
                                      </p:to>
                                    </p:set>
                                    <p:animEffect transition="in" filter="strips(downRight)">
                                      <p:cBhvr>
                                        <p:cTn id="20" dur="500"/>
                                        <p:tgtEl>
                                          <p:spTgt spid="138244"/>
                                        </p:tgtEl>
                                      </p:cBhvr>
                                    </p:animEffect>
                                  </p:childTnLst>
                                </p:cTn>
                              </p:par>
                            </p:childTnLst>
                          </p:cTn>
                        </p:par>
                        <p:par>
                          <p:cTn id="21" fill="hold">
                            <p:stCondLst>
                              <p:cond delay="500"/>
                            </p:stCondLst>
                            <p:childTnLst>
                              <p:par>
                                <p:cTn id="22" presetID="18" presetClass="entr" presetSubtype="12" fill="hold" nodeType="afterEffect">
                                  <p:stCondLst>
                                    <p:cond delay="0"/>
                                  </p:stCondLst>
                                  <p:childTnLst>
                                    <p:set>
                                      <p:cBhvr>
                                        <p:cTn id="23" dur="1" fill="hold">
                                          <p:stCondLst>
                                            <p:cond delay="0"/>
                                          </p:stCondLst>
                                        </p:cTn>
                                        <p:tgtEl>
                                          <p:spTgt spid="138253"/>
                                        </p:tgtEl>
                                        <p:attrNameLst>
                                          <p:attrName>style.visibility</p:attrName>
                                        </p:attrNameLst>
                                      </p:cBhvr>
                                      <p:to>
                                        <p:strVal val="visible"/>
                                      </p:to>
                                    </p:set>
                                    <p:animEffect transition="in" filter="strips(downLeft)">
                                      <p:cBhvr>
                                        <p:cTn id="24" dur="500"/>
                                        <p:tgtEl>
                                          <p:spTgt spid="138253"/>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6" fill="hold" grpId="0" nodeType="clickEffect">
                                  <p:stCondLst>
                                    <p:cond delay="0"/>
                                  </p:stCondLst>
                                  <p:childTnLst>
                                    <p:set>
                                      <p:cBhvr>
                                        <p:cTn id="28" dur="1" fill="hold">
                                          <p:stCondLst>
                                            <p:cond delay="0"/>
                                          </p:stCondLst>
                                        </p:cTn>
                                        <p:tgtEl>
                                          <p:spTgt spid="138245"/>
                                        </p:tgtEl>
                                        <p:attrNameLst>
                                          <p:attrName>style.visibility</p:attrName>
                                        </p:attrNameLst>
                                      </p:cBhvr>
                                      <p:to>
                                        <p:strVal val="visible"/>
                                      </p:to>
                                    </p:set>
                                    <p:animEffect transition="in" filter="strips(downRight)">
                                      <p:cBhvr>
                                        <p:cTn id="29" dur="500"/>
                                        <p:tgtEl>
                                          <p:spTgt spid="138245"/>
                                        </p:tgtEl>
                                      </p:cBhvr>
                                    </p:animEffect>
                                  </p:childTnLst>
                                </p:cTn>
                              </p:par>
                              <p:par>
                                <p:cTn id="30" presetID="18" presetClass="entr" presetSubtype="6" fill="hold" grpId="0" nodeType="withEffect">
                                  <p:stCondLst>
                                    <p:cond delay="0"/>
                                  </p:stCondLst>
                                  <p:childTnLst>
                                    <p:set>
                                      <p:cBhvr>
                                        <p:cTn id="31" dur="1" fill="hold">
                                          <p:stCondLst>
                                            <p:cond delay="0"/>
                                          </p:stCondLst>
                                        </p:cTn>
                                        <p:tgtEl>
                                          <p:spTgt spid="138246"/>
                                        </p:tgtEl>
                                        <p:attrNameLst>
                                          <p:attrName>style.visibility</p:attrName>
                                        </p:attrNameLst>
                                      </p:cBhvr>
                                      <p:to>
                                        <p:strVal val="visible"/>
                                      </p:to>
                                    </p:set>
                                    <p:animEffect transition="in" filter="strips(downRight)">
                                      <p:cBhvr>
                                        <p:cTn id="32" dur="500"/>
                                        <p:tgtEl>
                                          <p:spTgt spid="138246"/>
                                        </p:tgtEl>
                                      </p:cBhvr>
                                    </p:animEffect>
                                  </p:childTnLst>
                                </p:cTn>
                              </p:par>
                            </p:childTnLst>
                          </p:cTn>
                        </p:par>
                        <p:par>
                          <p:cTn id="33" fill="hold">
                            <p:stCondLst>
                              <p:cond delay="500"/>
                            </p:stCondLst>
                            <p:childTnLst>
                              <p:par>
                                <p:cTn id="34" presetID="18" presetClass="entr" presetSubtype="12" fill="hold" nodeType="afterEffect">
                                  <p:stCondLst>
                                    <p:cond delay="0"/>
                                  </p:stCondLst>
                                  <p:childTnLst>
                                    <p:set>
                                      <p:cBhvr>
                                        <p:cTn id="35" dur="1" fill="hold">
                                          <p:stCondLst>
                                            <p:cond delay="0"/>
                                          </p:stCondLst>
                                        </p:cTn>
                                        <p:tgtEl>
                                          <p:spTgt spid="138254"/>
                                        </p:tgtEl>
                                        <p:attrNameLst>
                                          <p:attrName>style.visibility</p:attrName>
                                        </p:attrNameLst>
                                      </p:cBhvr>
                                      <p:to>
                                        <p:strVal val="visible"/>
                                      </p:to>
                                    </p:set>
                                    <p:animEffect transition="in" filter="strips(downLeft)">
                                      <p:cBhvr>
                                        <p:cTn id="36" dur="500"/>
                                        <p:tgtEl>
                                          <p:spTgt spid="138254"/>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6" fill="hold" grpId="0" nodeType="clickEffect">
                                  <p:stCondLst>
                                    <p:cond delay="0"/>
                                  </p:stCondLst>
                                  <p:childTnLst>
                                    <p:set>
                                      <p:cBhvr>
                                        <p:cTn id="40" dur="1" fill="hold">
                                          <p:stCondLst>
                                            <p:cond delay="0"/>
                                          </p:stCondLst>
                                        </p:cTn>
                                        <p:tgtEl>
                                          <p:spTgt spid="138247"/>
                                        </p:tgtEl>
                                        <p:attrNameLst>
                                          <p:attrName>style.visibility</p:attrName>
                                        </p:attrNameLst>
                                      </p:cBhvr>
                                      <p:to>
                                        <p:strVal val="visible"/>
                                      </p:to>
                                    </p:set>
                                    <p:animEffect transition="in" filter="strips(downRight)">
                                      <p:cBhvr>
                                        <p:cTn id="41" dur="500"/>
                                        <p:tgtEl>
                                          <p:spTgt spid="138247"/>
                                        </p:tgtEl>
                                      </p:cBhvr>
                                    </p:animEffect>
                                  </p:childTnLst>
                                </p:cTn>
                              </p:par>
                              <p:par>
                                <p:cTn id="42" presetID="18" presetClass="entr" presetSubtype="6" fill="hold" grpId="0" nodeType="withEffect">
                                  <p:stCondLst>
                                    <p:cond delay="0"/>
                                  </p:stCondLst>
                                  <p:childTnLst>
                                    <p:set>
                                      <p:cBhvr>
                                        <p:cTn id="43" dur="1" fill="hold">
                                          <p:stCondLst>
                                            <p:cond delay="0"/>
                                          </p:stCondLst>
                                        </p:cTn>
                                        <p:tgtEl>
                                          <p:spTgt spid="138248"/>
                                        </p:tgtEl>
                                        <p:attrNameLst>
                                          <p:attrName>style.visibility</p:attrName>
                                        </p:attrNameLst>
                                      </p:cBhvr>
                                      <p:to>
                                        <p:strVal val="visible"/>
                                      </p:to>
                                    </p:set>
                                    <p:animEffect transition="in" filter="strips(downRight)">
                                      <p:cBhvr>
                                        <p:cTn id="44" dur="500"/>
                                        <p:tgtEl>
                                          <p:spTgt spid="138248"/>
                                        </p:tgtEl>
                                      </p:cBhvr>
                                    </p:animEffect>
                                  </p:childTnLst>
                                </p:cTn>
                              </p:par>
                            </p:childTnLst>
                          </p:cTn>
                        </p:par>
                        <p:par>
                          <p:cTn id="45" fill="hold">
                            <p:stCondLst>
                              <p:cond delay="500"/>
                            </p:stCondLst>
                            <p:childTnLst>
                              <p:par>
                                <p:cTn id="46" presetID="18" presetClass="entr" presetSubtype="12" fill="hold" nodeType="afterEffect">
                                  <p:stCondLst>
                                    <p:cond delay="0"/>
                                  </p:stCondLst>
                                  <p:childTnLst>
                                    <p:set>
                                      <p:cBhvr>
                                        <p:cTn id="47" dur="1" fill="hold">
                                          <p:stCondLst>
                                            <p:cond delay="0"/>
                                          </p:stCondLst>
                                        </p:cTn>
                                        <p:tgtEl>
                                          <p:spTgt spid="138257"/>
                                        </p:tgtEl>
                                        <p:attrNameLst>
                                          <p:attrName>style.visibility</p:attrName>
                                        </p:attrNameLst>
                                      </p:cBhvr>
                                      <p:to>
                                        <p:strVal val="visible"/>
                                      </p:to>
                                    </p:set>
                                    <p:animEffect transition="in" filter="strips(downLeft)">
                                      <p:cBhvr>
                                        <p:cTn id="48" dur="500"/>
                                        <p:tgtEl>
                                          <p:spTgt spid="138257"/>
                                        </p:tgtEl>
                                      </p:cBhvr>
                                    </p:animEffect>
                                  </p:childTnLst>
                                </p:cTn>
                              </p:par>
                            </p:childTnLst>
                          </p:cTn>
                        </p:par>
                        <p:par>
                          <p:cTn id="49" fill="hold">
                            <p:stCondLst>
                              <p:cond delay="1000"/>
                            </p:stCondLst>
                            <p:childTnLst>
                              <p:par>
                                <p:cTn id="50" presetID="18" presetClass="entr" presetSubtype="6" fill="hold" nodeType="afterEffect">
                                  <p:stCondLst>
                                    <p:cond delay="0"/>
                                  </p:stCondLst>
                                  <p:childTnLst>
                                    <p:set>
                                      <p:cBhvr>
                                        <p:cTn id="51" dur="1" fill="hold">
                                          <p:stCondLst>
                                            <p:cond delay="0"/>
                                          </p:stCondLst>
                                        </p:cTn>
                                        <p:tgtEl>
                                          <p:spTgt spid="138258"/>
                                        </p:tgtEl>
                                        <p:attrNameLst>
                                          <p:attrName>style.visibility</p:attrName>
                                        </p:attrNameLst>
                                      </p:cBhvr>
                                      <p:to>
                                        <p:strVal val="visible"/>
                                      </p:to>
                                    </p:set>
                                    <p:animEffect transition="in" filter="strips(downRight)">
                                      <p:cBhvr>
                                        <p:cTn id="52" dur="500"/>
                                        <p:tgtEl>
                                          <p:spTgt spid="138258"/>
                                        </p:tgtEl>
                                      </p:cBhvr>
                                    </p:animEffect>
                                  </p:childTnLst>
                                </p:cTn>
                              </p:par>
                            </p:childTnLst>
                          </p:cTn>
                        </p:par>
                        <p:par>
                          <p:cTn id="53" fill="hold">
                            <p:stCondLst>
                              <p:cond delay="1500"/>
                            </p:stCondLst>
                            <p:childTnLst>
                              <p:par>
                                <p:cTn id="54" presetID="18" presetClass="entr" presetSubtype="3" fill="hold" nodeType="afterEffect">
                                  <p:stCondLst>
                                    <p:cond delay="0"/>
                                  </p:stCondLst>
                                  <p:childTnLst>
                                    <p:set>
                                      <p:cBhvr>
                                        <p:cTn id="55" dur="1" fill="hold">
                                          <p:stCondLst>
                                            <p:cond delay="0"/>
                                          </p:stCondLst>
                                        </p:cTn>
                                        <p:tgtEl>
                                          <p:spTgt spid="138259"/>
                                        </p:tgtEl>
                                        <p:attrNameLst>
                                          <p:attrName>style.visibility</p:attrName>
                                        </p:attrNameLst>
                                      </p:cBhvr>
                                      <p:to>
                                        <p:strVal val="visible"/>
                                      </p:to>
                                    </p:set>
                                    <p:animEffect transition="in" filter="strips(upRight)">
                                      <p:cBhvr>
                                        <p:cTn id="56" dur="1000"/>
                                        <p:tgtEl>
                                          <p:spTgt spid="138259"/>
                                        </p:tgtEl>
                                      </p:cBhvr>
                                    </p:animEffect>
                                  </p:childTnLst>
                                </p:cTn>
                              </p:par>
                            </p:childTnLst>
                          </p:cTn>
                        </p:par>
                        <p:par>
                          <p:cTn id="57" fill="hold">
                            <p:stCondLst>
                              <p:cond delay="2500"/>
                            </p:stCondLst>
                            <p:childTnLst>
                              <p:par>
                                <p:cTn id="58" presetID="18" presetClass="entr" presetSubtype="6" fill="hold" nodeType="afterEffect">
                                  <p:stCondLst>
                                    <p:cond delay="0"/>
                                  </p:stCondLst>
                                  <p:childTnLst>
                                    <p:set>
                                      <p:cBhvr>
                                        <p:cTn id="59" dur="1" fill="hold">
                                          <p:stCondLst>
                                            <p:cond delay="0"/>
                                          </p:stCondLst>
                                        </p:cTn>
                                        <p:tgtEl>
                                          <p:spTgt spid="138260"/>
                                        </p:tgtEl>
                                        <p:attrNameLst>
                                          <p:attrName>style.visibility</p:attrName>
                                        </p:attrNameLst>
                                      </p:cBhvr>
                                      <p:to>
                                        <p:strVal val="visible"/>
                                      </p:to>
                                    </p:set>
                                    <p:animEffect transition="in" filter="strips(downRight)">
                                      <p:cBhvr>
                                        <p:cTn id="60" dur="500"/>
                                        <p:tgtEl>
                                          <p:spTgt spid="138260"/>
                                        </p:tgtEl>
                                      </p:cBhvr>
                                    </p:animEffect>
                                  </p:childTnLst>
                                </p:cTn>
                              </p:par>
                            </p:childTnLst>
                          </p:cTn>
                        </p:par>
                        <p:par>
                          <p:cTn id="61" fill="hold">
                            <p:stCondLst>
                              <p:cond delay="3000"/>
                            </p:stCondLst>
                            <p:childTnLst>
                              <p:par>
                                <p:cTn id="62" presetID="18" presetClass="entr" presetSubtype="6" fill="hold" nodeType="afterEffect">
                                  <p:stCondLst>
                                    <p:cond delay="0"/>
                                  </p:stCondLst>
                                  <p:childTnLst>
                                    <p:set>
                                      <p:cBhvr>
                                        <p:cTn id="63" dur="1" fill="hold">
                                          <p:stCondLst>
                                            <p:cond delay="0"/>
                                          </p:stCondLst>
                                        </p:cTn>
                                        <p:tgtEl>
                                          <p:spTgt spid="138255"/>
                                        </p:tgtEl>
                                        <p:attrNameLst>
                                          <p:attrName>style.visibility</p:attrName>
                                        </p:attrNameLst>
                                      </p:cBhvr>
                                      <p:to>
                                        <p:strVal val="visible"/>
                                      </p:to>
                                    </p:set>
                                    <p:animEffect transition="in" filter="strips(downRight)">
                                      <p:cBhvr>
                                        <p:cTn id="64" dur="500"/>
                                        <p:tgtEl>
                                          <p:spTgt spid="138255"/>
                                        </p:tgtEl>
                                      </p:cBhvr>
                                    </p:animEffect>
                                  </p:childTnLst>
                                </p:cTn>
                              </p:par>
                            </p:childTnLst>
                          </p:cTn>
                        </p:par>
                      </p:childTnLst>
                    </p:cTn>
                  </p:par>
                  <p:par>
                    <p:cTn id="65" fill="hold">
                      <p:stCondLst>
                        <p:cond delay="indefinite"/>
                      </p:stCondLst>
                      <p:childTnLst>
                        <p:par>
                          <p:cTn id="66" fill="hold">
                            <p:stCondLst>
                              <p:cond delay="0"/>
                            </p:stCondLst>
                            <p:childTnLst>
                              <p:par>
                                <p:cTn id="67" presetID="18" presetClass="entr" presetSubtype="6" fill="hold" grpId="0" nodeType="clickEffect">
                                  <p:stCondLst>
                                    <p:cond delay="0"/>
                                  </p:stCondLst>
                                  <p:childTnLst>
                                    <p:set>
                                      <p:cBhvr>
                                        <p:cTn id="68" dur="1" fill="hold">
                                          <p:stCondLst>
                                            <p:cond delay="0"/>
                                          </p:stCondLst>
                                        </p:cTn>
                                        <p:tgtEl>
                                          <p:spTgt spid="138249"/>
                                        </p:tgtEl>
                                        <p:attrNameLst>
                                          <p:attrName>style.visibility</p:attrName>
                                        </p:attrNameLst>
                                      </p:cBhvr>
                                      <p:to>
                                        <p:strVal val="visible"/>
                                      </p:to>
                                    </p:set>
                                    <p:animEffect transition="in" filter="strips(downRight)">
                                      <p:cBhvr>
                                        <p:cTn id="69" dur="500"/>
                                        <p:tgtEl>
                                          <p:spTgt spid="138249"/>
                                        </p:tgtEl>
                                      </p:cBhvr>
                                    </p:animEffect>
                                  </p:childTnLst>
                                </p:cTn>
                              </p:par>
                              <p:par>
                                <p:cTn id="70" presetID="18" presetClass="entr" presetSubtype="6" fill="hold" grpId="0" nodeType="withEffect">
                                  <p:stCondLst>
                                    <p:cond delay="0"/>
                                  </p:stCondLst>
                                  <p:childTnLst>
                                    <p:set>
                                      <p:cBhvr>
                                        <p:cTn id="71" dur="1" fill="hold">
                                          <p:stCondLst>
                                            <p:cond delay="0"/>
                                          </p:stCondLst>
                                        </p:cTn>
                                        <p:tgtEl>
                                          <p:spTgt spid="138250"/>
                                        </p:tgtEl>
                                        <p:attrNameLst>
                                          <p:attrName>style.visibility</p:attrName>
                                        </p:attrNameLst>
                                      </p:cBhvr>
                                      <p:to>
                                        <p:strVal val="visible"/>
                                      </p:to>
                                    </p:set>
                                    <p:animEffect transition="in" filter="strips(downRight)">
                                      <p:cBhvr>
                                        <p:cTn id="72" dur="500"/>
                                        <p:tgtEl>
                                          <p:spTgt spid="138250"/>
                                        </p:tgtEl>
                                      </p:cBhvr>
                                    </p:animEffect>
                                  </p:childTnLst>
                                </p:cTn>
                              </p:par>
                            </p:childTnLst>
                          </p:cTn>
                        </p:par>
                        <p:par>
                          <p:cTn id="73" fill="hold">
                            <p:stCondLst>
                              <p:cond delay="500"/>
                            </p:stCondLst>
                            <p:childTnLst>
                              <p:par>
                                <p:cTn id="74" presetID="18" presetClass="entr" presetSubtype="12" fill="hold" nodeType="afterEffect">
                                  <p:stCondLst>
                                    <p:cond delay="0"/>
                                  </p:stCondLst>
                                  <p:childTnLst>
                                    <p:set>
                                      <p:cBhvr>
                                        <p:cTn id="75" dur="1" fill="hold">
                                          <p:stCondLst>
                                            <p:cond delay="0"/>
                                          </p:stCondLst>
                                        </p:cTn>
                                        <p:tgtEl>
                                          <p:spTgt spid="138256"/>
                                        </p:tgtEl>
                                        <p:attrNameLst>
                                          <p:attrName>style.visibility</p:attrName>
                                        </p:attrNameLst>
                                      </p:cBhvr>
                                      <p:to>
                                        <p:strVal val="visible"/>
                                      </p:to>
                                    </p:set>
                                    <p:animEffect transition="in" filter="strips(downLeft)">
                                      <p:cBhvr>
                                        <p:cTn id="76" dur="500"/>
                                        <p:tgtEl>
                                          <p:spTgt spid="138256"/>
                                        </p:tgtEl>
                                      </p:cBhvr>
                                    </p:animEffect>
                                  </p:childTnLst>
                                </p:cTn>
                              </p:par>
                            </p:childTnLst>
                          </p:cTn>
                        </p:par>
                      </p:childTnLst>
                    </p:cTn>
                  </p:par>
                  <p:par>
                    <p:cTn id="77" fill="hold">
                      <p:stCondLst>
                        <p:cond delay="indefinite"/>
                      </p:stCondLst>
                      <p:childTnLst>
                        <p:par>
                          <p:cTn id="78" fill="hold">
                            <p:stCondLst>
                              <p:cond delay="0"/>
                            </p:stCondLst>
                            <p:childTnLst>
                              <p:par>
                                <p:cTn id="79" presetID="18" presetClass="entr" presetSubtype="6" fill="hold" grpId="0" nodeType="clickEffect">
                                  <p:stCondLst>
                                    <p:cond delay="0"/>
                                  </p:stCondLst>
                                  <p:childTnLst>
                                    <p:set>
                                      <p:cBhvr>
                                        <p:cTn id="80" dur="1" fill="hold">
                                          <p:stCondLst>
                                            <p:cond delay="0"/>
                                          </p:stCondLst>
                                        </p:cTn>
                                        <p:tgtEl>
                                          <p:spTgt spid="138251"/>
                                        </p:tgtEl>
                                        <p:attrNameLst>
                                          <p:attrName>style.visibility</p:attrName>
                                        </p:attrNameLst>
                                      </p:cBhvr>
                                      <p:to>
                                        <p:strVal val="visible"/>
                                      </p:to>
                                    </p:set>
                                    <p:animEffect transition="in" filter="strips(downRight)">
                                      <p:cBhvr>
                                        <p:cTn id="81" dur="500"/>
                                        <p:tgtEl>
                                          <p:spTgt spid="138251"/>
                                        </p:tgtEl>
                                      </p:cBhvr>
                                    </p:animEffect>
                                  </p:childTnLst>
                                </p:cTn>
                              </p:par>
                              <p:par>
                                <p:cTn id="82" presetID="18" presetClass="entr" presetSubtype="6" fill="hold" grpId="0" nodeType="withEffect">
                                  <p:stCondLst>
                                    <p:cond delay="0"/>
                                  </p:stCondLst>
                                  <p:childTnLst>
                                    <p:set>
                                      <p:cBhvr>
                                        <p:cTn id="83" dur="1" fill="hold">
                                          <p:stCondLst>
                                            <p:cond delay="0"/>
                                          </p:stCondLst>
                                        </p:cTn>
                                        <p:tgtEl>
                                          <p:spTgt spid="138252"/>
                                        </p:tgtEl>
                                        <p:attrNameLst>
                                          <p:attrName>style.visibility</p:attrName>
                                        </p:attrNameLst>
                                      </p:cBhvr>
                                      <p:to>
                                        <p:strVal val="visible"/>
                                      </p:to>
                                    </p:set>
                                    <p:animEffect transition="in" filter="strips(downRight)">
                                      <p:cBhvr>
                                        <p:cTn id="84" dur="500"/>
                                        <p:tgtEl>
                                          <p:spTgt spid="138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2" grpId="0" build="p"/>
      <p:bldP spid="138243" grpId="0" animBg="1"/>
      <p:bldP spid="138244" grpId="0"/>
      <p:bldP spid="138245" grpId="0" animBg="1"/>
      <p:bldP spid="138246" grpId="0"/>
      <p:bldP spid="138247" grpId="0" animBg="1"/>
      <p:bldP spid="138248" grpId="0"/>
      <p:bldP spid="138249" grpId="0" animBg="1"/>
      <p:bldP spid="138250" grpId="0"/>
      <p:bldP spid="138251" grpId="0" animBg="1"/>
      <p:bldP spid="138252"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内容占位符 2"/>
          <p:cNvSpPr>
            <a:spLocks noGrp="1"/>
          </p:cNvSpPr>
          <p:nvPr>
            <p:ph idx="4294967295"/>
          </p:nvPr>
        </p:nvSpPr>
        <p:spPr>
          <a:xfrm>
            <a:off x="1763713" y="2060575"/>
            <a:ext cx="3887787" cy="2511425"/>
          </a:xfrm>
        </p:spPr>
        <p:txBody>
          <a:bodyPr vert="horz" wrap="square" lIns="91440" tIns="45720" rIns="91440" bIns="45720" anchor="t" anchorCtr="0"/>
          <a:p>
            <a:pPr marL="1533525" indent="-457200" eaLnBrk="1" hangingPunct="1">
              <a:lnSpc>
                <a:spcPct val="120000"/>
              </a:lnSpc>
              <a:buFont typeface="Wingdings" panose="05000000000000000000" pitchFamily="2" charset="2"/>
              <a:buChar char="Ø"/>
            </a:pPr>
            <a:r>
              <a:rPr lang="zh-CN" altLang="en-US" dirty="0">
                <a:ea typeface="宋体" panose="02010600030101010101" pitchFamily="2" charset="-122"/>
              </a:rPr>
              <a:t>转移指令</a:t>
            </a:r>
            <a:endParaRPr lang="zh-CN" altLang="en-US" dirty="0">
              <a:ea typeface="宋体" panose="02010600030101010101" pitchFamily="2" charset="-122"/>
            </a:endParaRPr>
          </a:p>
          <a:p>
            <a:pPr marL="1533525" indent="-457200" eaLnBrk="1" hangingPunct="1">
              <a:lnSpc>
                <a:spcPct val="120000"/>
              </a:lnSpc>
              <a:buFont typeface="Wingdings" panose="05000000000000000000" pitchFamily="2" charset="2"/>
              <a:buChar char="Ø"/>
            </a:pPr>
            <a:r>
              <a:rPr lang="zh-CN" altLang="en-US" dirty="0">
                <a:ea typeface="宋体" panose="02010600030101010101" pitchFamily="2" charset="-122"/>
              </a:rPr>
              <a:t>循环控制</a:t>
            </a:r>
            <a:endParaRPr lang="zh-CN" altLang="en-US" dirty="0">
              <a:ea typeface="宋体" panose="02010600030101010101" pitchFamily="2" charset="-122"/>
            </a:endParaRPr>
          </a:p>
          <a:p>
            <a:pPr marL="1533525" indent="-457200" eaLnBrk="1" hangingPunct="1">
              <a:lnSpc>
                <a:spcPct val="120000"/>
              </a:lnSpc>
              <a:buFont typeface="Wingdings" panose="05000000000000000000" pitchFamily="2" charset="2"/>
              <a:buChar char="Ø"/>
            </a:pPr>
            <a:r>
              <a:rPr lang="zh-CN" altLang="en-US" dirty="0">
                <a:ea typeface="宋体" panose="02010600030101010101" pitchFamily="2" charset="-122"/>
              </a:rPr>
              <a:t>过程调用</a:t>
            </a:r>
            <a:endParaRPr lang="zh-CN" altLang="en-US" dirty="0">
              <a:ea typeface="宋体" panose="02010600030101010101" pitchFamily="2" charset="-122"/>
            </a:endParaRPr>
          </a:p>
          <a:p>
            <a:pPr marL="1533525" indent="-457200" eaLnBrk="1" hangingPunct="1">
              <a:lnSpc>
                <a:spcPct val="120000"/>
              </a:lnSpc>
              <a:buFont typeface="Wingdings" panose="05000000000000000000" pitchFamily="2" charset="2"/>
              <a:buChar char="Ø"/>
            </a:pPr>
            <a:r>
              <a:rPr lang="zh-CN" altLang="en-US" dirty="0">
                <a:ea typeface="宋体" panose="02010600030101010101" pitchFamily="2" charset="-122"/>
              </a:rPr>
              <a:t>中断控制</a:t>
            </a:r>
            <a:endParaRPr lang="zh-CN" altLang="en-US" dirty="0">
              <a:ea typeface="宋体" panose="02010600030101010101" pitchFamily="2" charset="-122"/>
            </a:endParaRPr>
          </a:p>
        </p:txBody>
      </p:sp>
      <p:sp>
        <p:nvSpPr>
          <p:cNvPr id="138243" name="Rectangle 2"/>
          <p:cNvSpPr>
            <a:spLocks noGrp="1"/>
          </p:cNvSpPr>
          <p:nvPr/>
        </p:nvSpPr>
        <p:spPr>
          <a:xfrm>
            <a:off x="1908175" y="188913"/>
            <a:ext cx="6553200"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3.4.5 </a:t>
            </a:r>
            <a:r>
              <a:rPr lang="zh-CN" altLang="en-US" sz="3600" b="1" dirty="0">
                <a:solidFill>
                  <a:schemeClr val="bg1"/>
                </a:solidFill>
                <a:latin typeface="宋体" panose="02010600030101010101" pitchFamily="2" charset="-122"/>
                <a:ea typeface="宋体" panose="02010600030101010101" pitchFamily="2" charset="-122"/>
              </a:rPr>
              <a:t>程序控制指令</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1" name="Rectangle 3"/>
          <p:cNvSpPr>
            <a:spLocks noGrp="1" noChangeArrowheads="1"/>
          </p:cNvSpPr>
          <p:nvPr>
            <p:ph type="body" idx="4294967295"/>
          </p:nvPr>
        </p:nvSpPr>
        <p:spPr>
          <a:xfrm>
            <a:off x="736600" y="1700213"/>
            <a:ext cx="8064500" cy="2665413"/>
          </a:xfrm>
        </p:spPr>
        <p:txBody>
          <a:bodyPr vert="horz" wrap="square" lIns="91440" tIns="45720" rIns="91440" bIns="45720" numCol="1" anchor="t" anchorCtr="0" compatLnSpc="1"/>
          <a:lstStyle/>
          <a:p>
            <a:pPr marL="342900" marR="0" lvl="0" indent="-342900" algn="l" defTabSz="914400" rtl="0" eaLnBrk="1" fontAlgn="base" latinLnBrk="0" hangingPunct="1">
              <a:lnSpc>
                <a:spcPct val="130000"/>
              </a:lnSpc>
              <a:spcBef>
                <a:spcPct val="20000"/>
              </a:spcBef>
              <a:spcAft>
                <a:spcPct val="0"/>
              </a:spcAft>
              <a:buClr>
                <a:schemeClr val="hlink"/>
              </a:buClr>
              <a:buSzTx/>
              <a:buFont typeface="Wingdings" panose="05000000000000000000" pitchFamily="2" charset="2"/>
              <a:buChar char="l"/>
              <a:defRPr/>
            </a:pPr>
            <a:r>
              <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程序控制类指令的本质是：控制程序的执行方向</a:t>
            </a:r>
            <a:endPar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30000"/>
              </a:lnSpc>
              <a:spcBef>
                <a:spcPct val="30000"/>
              </a:spcBef>
              <a:spcAft>
                <a:spcPct val="0"/>
              </a:spcAft>
              <a:buClr>
                <a:schemeClr val="hlink"/>
              </a:buClr>
              <a:buSzTx/>
              <a:buFont typeface="Wingdings" panose="05000000000000000000" pitchFamily="2" charset="2"/>
              <a:buChar char="l"/>
              <a:defRPr/>
            </a:pPr>
            <a:r>
              <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决定程序执行方向的因素：</a:t>
            </a:r>
            <a:r>
              <a:rPr kumimoji="0" lang="en-US" altLang="zh-CN"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CS</a:t>
            </a:r>
            <a:r>
              <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IP</a:t>
            </a:r>
            <a:endParaRPr kumimoji="0" lang="en-US" altLang="zh-CN"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30000"/>
              </a:lnSpc>
              <a:spcBef>
                <a:spcPct val="35000"/>
              </a:spcBef>
              <a:spcAft>
                <a:spcPct val="0"/>
              </a:spcAft>
              <a:buClr>
                <a:schemeClr val="hlink"/>
              </a:buClr>
              <a:buSzTx/>
              <a:buFont typeface="Wingdings" panose="05000000000000000000" pitchFamily="2" charset="2"/>
              <a:buChar char="l"/>
              <a:defRPr/>
            </a:pPr>
            <a:r>
              <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控制程序执行方向的方法：</a:t>
            </a:r>
            <a:endParaRPr kumimoji="0" lang="en-US" altLang="zh-CN"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35000"/>
              </a:spcBef>
              <a:spcAft>
                <a:spcPct val="0"/>
              </a:spcAft>
              <a:buClr>
                <a:schemeClr val="hlink"/>
              </a:buClr>
              <a:buSzTx/>
              <a:buFont typeface="Wingdings" panose="05000000000000000000" pitchFamily="2" charset="2"/>
              <a:buNone/>
              <a:defRPr/>
            </a:pPr>
            <a:r>
              <a:rPr kumimoji="0" lang="en-US" altLang="zh-CN"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修改</a:t>
            </a:r>
            <a:r>
              <a:rPr kumimoji="0" lang="en-US" altLang="zh-CN" sz="2400" b="1"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CS</a:t>
            </a:r>
            <a:r>
              <a:rPr kumimoji="0" lang="zh-CN" altLang="en-US" sz="2400" b="1"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和</a:t>
            </a:r>
            <a:r>
              <a:rPr kumimoji="0" lang="en-US" altLang="zh-CN" sz="2400" b="1"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IP</a:t>
            </a:r>
            <a:r>
              <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，则程序转向另一个代码段执行；</a:t>
            </a:r>
            <a:endParaRPr kumimoji="0" lang="en-US" altLang="zh-CN"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35000"/>
              </a:spcBef>
              <a:spcAft>
                <a:spcPct val="0"/>
              </a:spcAft>
              <a:buClr>
                <a:schemeClr val="hlink"/>
              </a:buClr>
              <a:buSzTx/>
              <a:buFont typeface="Wingdings" panose="05000000000000000000" pitchFamily="2" charset="2"/>
              <a:buNone/>
              <a:defRPr/>
            </a:pPr>
            <a:r>
              <a:rPr kumimoji="0" lang="en-US" altLang="zh-CN"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仅修改</a:t>
            </a:r>
            <a:r>
              <a:rPr kumimoji="0" lang="en-US" altLang="zh-CN" sz="2400" b="1"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IP</a:t>
            </a:r>
            <a:r>
              <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，则程序将改变当前的执行顺序，转向本代码段内其它某处执行。</a:t>
            </a:r>
            <a:endPar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139267" name="Rectangle 2"/>
          <p:cNvSpPr>
            <a:spLocks noGrp="1"/>
          </p:cNvSpPr>
          <p:nvPr/>
        </p:nvSpPr>
        <p:spPr>
          <a:xfrm>
            <a:off x="1908175" y="188913"/>
            <a:ext cx="6892925" cy="563562"/>
          </a:xfrm>
          <a:prstGeom prst="rect">
            <a:avLst/>
          </a:prstGeom>
          <a:noFill/>
          <a:ln w="9525">
            <a:noFill/>
          </a:ln>
        </p:spPr>
        <p:txBody>
          <a:bodyPr anchor="ctr" anchorCtr="0"/>
          <a:p>
            <a:pPr>
              <a:buFont typeface="Wingdings" panose="05000000000000000000" pitchFamily="2" charset="2"/>
            </a:pPr>
            <a:r>
              <a:rPr lang="zh-CN" altLang="en-US" sz="3600" b="1" dirty="0">
                <a:solidFill>
                  <a:schemeClr val="bg1"/>
                </a:solidFill>
                <a:latin typeface="宋体" panose="02010600030101010101" pitchFamily="2" charset="-122"/>
                <a:ea typeface="宋体" panose="02010600030101010101" pitchFamily="2" charset="-122"/>
              </a:rPr>
              <a:t>程序控制类指令与程序执行方向</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40291">
                                            <p:txEl>
                                              <p:charRg st="0" end="22"/>
                                            </p:txEl>
                                          </p:spTgt>
                                        </p:tgtEl>
                                        <p:attrNameLst>
                                          <p:attrName>style.visibility</p:attrName>
                                        </p:attrNameLst>
                                      </p:cBhvr>
                                      <p:to>
                                        <p:strVal val="visible"/>
                                      </p:to>
                                    </p:set>
                                    <p:animEffect transition="in" filter="wipe(left)">
                                      <p:cBhvr>
                                        <p:cTn id="7" dur="500"/>
                                        <p:tgtEl>
                                          <p:spTgt spid="140291">
                                            <p:txEl>
                                              <p:charRg st="0" end="2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0291">
                                            <p:txEl>
                                              <p:charRg st="22" end="40"/>
                                            </p:txEl>
                                          </p:spTgt>
                                        </p:tgtEl>
                                        <p:attrNameLst>
                                          <p:attrName>style.visibility</p:attrName>
                                        </p:attrNameLst>
                                      </p:cBhvr>
                                      <p:to>
                                        <p:strVal val="visible"/>
                                      </p:to>
                                    </p:set>
                                    <p:animEffect transition="in" filter="wipe(left)">
                                      <p:cBhvr>
                                        <p:cTn id="12" dur="500"/>
                                        <p:tgtEl>
                                          <p:spTgt spid="140291">
                                            <p:txEl>
                                              <p:charRg st="22" end="4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0291">
                                            <p:txEl>
                                              <p:charRg st="40" end="53"/>
                                            </p:txEl>
                                          </p:spTgt>
                                        </p:tgtEl>
                                        <p:attrNameLst>
                                          <p:attrName>style.visibility</p:attrName>
                                        </p:attrNameLst>
                                      </p:cBhvr>
                                      <p:to>
                                        <p:strVal val="visible"/>
                                      </p:to>
                                    </p:set>
                                    <p:animEffect transition="in" filter="wipe(left)">
                                      <p:cBhvr>
                                        <p:cTn id="17" dur="500"/>
                                        <p:tgtEl>
                                          <p:spTgt spid="140291">
                                            <p:txEl>
                                              <p:charRg st="40" end="5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0291">
                                            <p:txEl>
                                              <p:charRg st="53" end="78"/>
                                            </p:txEl>
                                          </p:spTgt>
                                        </p:tgtEl>
                                        <p:attrNameLst>
                                          <p:attrName>style.visibility</p:attrName>
                                        </p:attrNameLst>
                                      </p:cBhvr>
                                      <p:to>
                                        <p:strVal val="visible"/>
                                      </p:to>
                                    </p:set>
                                    <p:animEffect transition="in" filter="wipe(left)">
                                      <p:cBhvr>
                                        <p:cTn id="22" dur="500"/>
                                        <p:tgtEl>
                                          <p:spTgt spid="140291">
                                            <p:txEl>
                                              <p:charRg st="53" end="7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0291">
                                            <p:txEl>
                                              <p:charRg st="78" end="115"/>
                                            </p:txEl>
                                          </p:spTgt>
                                        </p:tgtEl>
                                        <p:attrNameLst>
                                          <p:attrName>style.visibility</p:attrName>
                                        </p:attrNameLst>
                                      </p:cBhvr>
                                      <p:to>
                                        <p:strVal val="visible"/>
                                      </p:to>
                                    </p:set>
                                    <p:animEffect transition="in" filter="wipe(left)">
                                      <p:cBhvr>
                                        <p:cTn id="27" dur="500"/>
                                        <p:tgtEl>
                                          <p:spTgt spid="140291">
                                            <p:txEl>
                                              <p:charRg st="78" end="1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1027"/>
          <p:cNvSpPr>
            <a:spLocks noGrp="1"/>
          </p:cNvSpPr>
          <p:nvPr>
            <p:ph type="body" idx="4294967295"/>
          </p:nvPr>
        </p:nvSpPr>
        <p:spPr>
          <a:xfrm>
            <a:off x="1619250" y="2420938"/>
            <a:ext cx="6335713" cy="2232025"/>
          </a:xfrm>
        </p:spPr>
        <p:txBody>
          <a:bodyPr vert="horz" wrap="square" lIns="91440" tIns="45720" rIns="91440" bIns="45720" anchor="t" anchorCtr="0"/>
          <a:p>
            <a:pPr eaLnBrk="1" hangingPunct="1">
              <a:spcAft>
                <a:spcPct val="20000"/>
              </a:spcAft>
              <a:buNone/>
            </a:pPr>
            <a:r>
              <a:rPr lang="zh-CN" altLang="en-US" dirty="0">
                <a:ea typeface="宋体" panose="02010600030101010101" pitchFamily="2" charset="-122"/>
              </a:rPr>
              <a:t>无条件</a:t>
            </a:r>
            <a:r>
              <a:rPr lang="zh-CN" altLang="en-US" dirty="0">
                <a:latin typeface="Times New Roman" panose="02020603050405020304" pitchFamily="18" charset="0"/>
                <a:ea typeface="宋体" panose="02010600030101010101" pitchFamily="2" charset="-122"/>
              </a:rPr>
              <a:t>转移指令</a:t>
            </a:r>
            <a:endParaRPr lang="zh-CN" altLang="en-US" dirty="0">
              <a:latin typeface="Times New Roman" panose="02020603050405020304" pitchFamily="18" charset="0"/>
              <a:ea typeface="宋体" panose="02010600030101010101" pitchFamily="2" charset="-122"/>
            </a:endParaRPr>
          </a:p>
          <a:p>
            <a:pPr eaLnBrk="1" hangingPunct="1">
              <a:spcAft>
                <a:spcPct val="50000"/>
              </a:spcAft>
              <a:buNone/>
            </a:pPr>
            <a:r>
              <a:rPr lang="zh-CN" altLang="en-US" sz="2400" dirty="0">
                <a:latin typeface="Times New Roman" panose="02020603050405020304" pitchFamily="18" charset="0"/>
                <a:ea typeface="宋体" panose="02010600030101010101" pitchFamily="2" charset="-122"/>
              </a:rPr>
              <a:t>       </a:t>
            </a:r>
            <a:r>
              <a:rPr lang="zh-CN" altLang="en-US" sz="2400" dirty="0">
                <a:solidFill>
                  <a:srgbClr val="00B050"/>
                </a:solidFill>
                <a:latin typeface="Times New Roman" panose="02020603050405020304" pitchFamily="18" charset="0"/>
                <a:ea typeface="宋体" panose="02010600030101010101" pitchFamily="2" charset="-122"/>
              </a:rPr>
              <a:t>无条件转移到目标地址，执行新的指令</a:t>
            </a:r>
            <a:endParaRPr lang="zh-CN" altLang="en-US" sz="2400" dirty="0">
              <a:solidFill>
                <a:srgbClr val="00B050"/>
              </a:solidFill>
              <a:latin typeface="Times New Roman" panose="02020603050405020304" pitchFamily="18" charset="0"/>
              <a:ea typeface="宋体" panose="02010600030101010101" pitchFamily="2" charset="-122"/>
            </a:endParaRPr>
          </a:p>
          <a:p>
            <a:pPr eaLnBrk="1" hangingPunct="1">
              <a:spcAft>
                <a:spcPct val="20000"/>
              </a:spcAft>
              <a:buNone/>
            </a:pPr>
            <a:r>
              <a:rPr lang="zh-CN" altLang="en-US" dirty="0">
                <a:latin typeface="Times New Roman" panose="02020603050405020304" pitchFamily="18" charset="0"/>
                <a:ea typeface="宋体" panose="02010600030101010101" pitchFamily="2" charset="-122"/>
              </a:rPr>
              <a:t>有条件转移指令</a:t>
            </a:r>
            <a:endParaRPr lang="zh-CN" altLang="en-US" dirty="0">
              <a:latin typeface="Times New Roman" panose="02020603050405020304" pitchFamily="18" charset="0"/>
              <a:ea typeface="宋体" panose="02010600030101010101" pitchFamily="2" charset="-122"/>
            </a:endParaRPr>
          </a:p>
          <a:p>
            <a:pPr eaLnBrk="1" hangingPunct="1">
              <a:buNone/>
            </a:pPr>
            <a:r>
              <a:rPr lang="zh-CN" altLang="en-US" sz="2400" dirty="0">
                <a:latin typeface="Times New Roman" panose="02020603050405020304" pitchFamily="18" charset="0"/>
                <a:ea typeface="宋体" panose="02010600030101010101" pitchFamily="2" charset="-122"/>
              </a:rPr>
              <a:t>       </a:t>
            </a:r>
            <a:r>
              <a:rPr lang="zh-CN" altLang="en-US" sz="2400" dirty="0">
                <a:solidFill>
                  <a:srgbClr val="00B050"/>
                </a:solidFill>
                <a:latin typeface="Times New Roman" panose="02020603050405020304" pitchFamily="18" charset="0"/>
                <a:ea typeface="宋体" panose="02010600030101010101" pitchFamily="2" charset="-122"/>
              </a:rPr>
              <a:t>在具备一定条件的情况下转移到目标地址</a:t>
            </a:r>
            <a:endParaRPr lang="zh-CN" altLang="en-US" sz="2400" dirty="0">
              <a:solidFill>
                <a:srgbClr val="00B050"/>
              </a:solidFill>
              <a:latin typeface="Times New Roman" panose="02020603050405020304" pitchFamily="18" charset="0"/>
              <a:ea typeface="宋体" panose="02010600030101010101" pitchFamily="2" charset="-122"/>
            </a:endParaRPr>
          </a:p>
        </p:txBody>
      </p:sp>
      <p:sp>
        <p:nvSpPr>
          <p:cNvPr id="141315" name="AutoShape 1031"/>
          <p:cNvSpPr/>
          <p:nvPr/>
        </p:nvSpPr>
        <p:spPr>
          <a:xfrm>
            <a:off x="1258888" y="2678113"/>
            <a:ext cx="360362" cy="1398587"/>
          </a:xfrm>
          <a:prstGeom prst="leftBrace">
            <a:avLst>
              <a:gd name="adj1" fmla="val 35270"/>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40292" name="Rectangle 2"/>
          <p:cNvSpPr>
            <a:spLocks noGrp="1"/>
          </p:cNvSpPr>
          <p:nvPr/>
        </p:nvSpPr>
        <p:spPr>
          <a:xfrm>
            <a:off x="1908175" y="188913"/>
            <a:ext cx="3959225"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3.4.5.1 </a:t>
            </a:r>
            <a:r>
              <a:rPr lang="zh-CN" altLang="en-US" sz="3600" b="1" dirty="0">
                <a:solidFill>
                  <a:schemeClr val="bg1"/>
                </a:solidFill>
                <a:latin typeface="宋体" panose="02010600030101010101" pitchFamily="2" charset="-122"/>
                <a:ea typeface="宋体" panose="02010600030101010101" pitchFamily="2" charset="-122"/>
              </a:rPr>
              <a:t>转移指令</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1314">
                                            <p:txEl>
                                              <p:charRg st="0" end="8"/>
                                            </p:txEl>
                                          </p:spTgt>
                                        </p:tgtEl>
                                        <p:attrNameLst>
                                          <p:attrName>style.visibility</p:attrName>
                                        </p:attrNameLst>
                                      </p:cBhvr>
                                      <p:to>
                                        <p:strVal val="visible"/>
                                      </p:to>
                                    </p:set>
                                    <p:animEffect transition="in" filter="wipe(left)">
                                      <p:cBhvr>
                                        <p:cTn id="7" dur="500"/>
                                        <p:tgtEl>
                                          <p:spTgt spid="141314">
                                            <p:txEl>
                                              <p:charRg st="0" end="8"/>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41314">
                                            <p:txEl>
                                              <p:charRg st="8" end="33"/>
                                            </p:txEl>
                                          </p:spTgt>
                                        </p:tgtEl>
                                        <p:attrNameLst>
                                          <p:attrName>style.visibility</p:attrName>
                                        </p:attrNameLst>
                                      </p:cBhvr>
                                      <p:to>
                                        <p:strVal val="visible"/>
                                      </p:to>
                                    </p:set>
                                    <p:animEffect transition="in" filter="wipe(left)">
                                      <p:cBhvr>
                                        <p:cTn id="11" dur="500"/>
                                        <p:tgtEl>
                                          <p:spTgt spid="141314">
                                            <p:txEl>
                                              <p:charRg st="8" end="3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41314">
                                            <p:txEl>
                                              <p:charRg st="33" end="41"/>
                                            </p:txEl>
                                          </p:spTgt>
                                        </p:tgtEl>
                                        <p:attrNameLst>
                                          <p:attrName>style.visibility</p:attrName>
                                        </p:attrNameLst>
                                      </p:cBhvr>
                                      <p:to>
                                        <p:strVal val="visible"/>
                                      </p:to>
                                    </p:set>
                                    <p:animEffect transition="in" filter="wipe(left)">
                                      <p:cBhvr>
                                        <p:cTn id="16" dur="500"/>
                                        <p:tgtEl>
                                          <p:spTgt spid="141314">
                                            <p:txEl>
                                              <p:charRg st="33" end="41"/>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41314">
                                            <p:txEl>
                                              <p:charRg st="41" end="67"/>
                                            </p:txEl>
                                          </p:spTgt>
                                        </p:tgtEl>
                                        <p:attrNameLst>
                                          <p:attrName>style.visibility</p:attrName>
                                        </p:attrNameLst>
                                      </p:cBhvr>
                                      <p:to>
                                        <p:strVal val="visible"/>
                                      </p:to>
                                    </p:set>
                                    <p:animEffect transition="in" filter="wipe(left)">
                                      <p:cBhvr>
                                        <p:cTn id="20" dur="500"/>
                                        <p:tgtEl>
                                          <p:spTgt spid="141314">
                                            <p:txEl>
                                              <p:charRg st="41" end="67"/>
                                            </p:txEl>
                                          </p:spTgt>
                                        </p:tgtEl>
                                      </p:cBhvr>
                                    </p:animEffec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141315"/>
                                        </p:tgtEl>
                                        <p:attrNameLst>
                                          <p:attrName>style.visibility</p:attrName>
                                        </p:attrNameLst>
                                      </p:cBhvr>
                                      <p:to>
                                        <p:strVal val="visible"/>
                                      </p:to>
                                    </p:set>
                                    <p:animEffect transition="in" filter="wipe(up)">
                                      <p:cBhvr>
                                        <p:cTn id="24" dur="500"/>
                                        <p:tgtEl>
                                          <p:spTgt spid="141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45" name="Text Box 10"/>
          <p:cNvSpPr txBox="1"/>
          <p:nvPr/>
        </p:nvSpPr>
        <p:spPr>
          <a:xfrm>
            <a:off x="1979613" y="6165850"/>
            <a:ext cx="5230812" cy="461963"/>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rgbClr val="FF0000"/>
                </a:solidFill>
                <a:latin typeface="Times New Roman" panose="02020603050405020304" pitchFamily="18" charset="0"/>
                <a:ea typeface="宋体" panose="02010600030101010101" pitchFamily="2" charset="-122"/>
              </a:rPr>
              <a:t>原则上可实现在整个内存空间的转移</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141315" name="Rectangle 2"/>
          <p:cNvSpPr>
            <a:spLocks noGrp="1"/>
          </p:cNvSpPr>
          <p:nvPr/>
        </p:nvSpPr>
        <p:spPr>
          <a:xfrm>
            <a:off x="1674813" y="127000"/>
            <a:ext cx="5111750" cy="563563"/>
          </a:xfrm>
          <a:prstGeom prst="rect">
            <a:avLst/>
          </a:prstGeom>
          <a:noFill/>
          <a:ln w="9525">
            <a:noFill/>
          </a:ln>
        </p:spPr>
        <p:txBody>
          <a:bodyPr anchor="ctr" anchorCtr="0"/>
          <a:p>
            <a:pPr>
              <a:buFont typeface="Wingdings" panose="05000000000000000000" pitchFamily="2" charset="2"/>
            </a:pPr>
            <a:r>
              <a:rPr lang="zh-CN" altLang="en-US" sz="3600" b="1" dirty="0">
                <a:solidFill>
                  <a:schemeClr val="bg1"/>
                </a:solidFill>
                <a:latin typeface="宋体" panose="02010600030101010101" pitchFamily="2" charset="-122"/>
                <a:ea typeface="宋体" panose="02010600030101010101" pitchFamily="2" charset="-122"/>
              </a:rPr>
              <a:t>无条件转移指令</a:t>
            </a:r>
            <a:endParaRPr lang="zh-CN" altLang="en-US" sz="3600" b="1" dirty="0">
              <a:solidFill>
                <a:schemeClr val="bg1"/>
              </a:solidFill>
              <a:latin typeface="宋体" panose="02010600030101010101" pitchFamily="2" charset="-122"/>
              <a:ea typeface="宋体" panose="02010600030101010101" pitchFamily="2" charset="-122"/>
            </a:endParaRPr>
          </a:p>
        </p:txBody>
      </p:sp>
      <p:pic>
        <p:nvPicPr>
          <p:cNvPr id="141316" name="图片 2"/>
          <p:cNvPicPr>
            <a:picLocks noChangeAspect="1"/>
          </p:cNvPicPr>
          <p:nvPr/>
        </p:nvPicPr>
        <p:blipFill>
          <a:blip r:embed="rId1"/>
          <a:stretch>
            <a:fillRect/>
          </a:stretch>
        </p:blipFill>
        <p:spPr>
          <a:xfrm>
            <a:off x="1868488" y="1628775"/>
            <a:ext cx="5168900" cy="4202113"/>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2345"/>
                                        </p:tgtEl>
                                        <p:attrNameLst>
                                          <p:attrName>style.visibility</p:attrName>
                                        </p:attrNameLst>
                                      </p:cBhvr>
                                      <p:to>
                                        <p:strVal val="visible"/>
                                      </p:to>
                                    </p:set>
                                    <p:anim calcmode="lin" valueType="num">
                                      <p:cBhvr>
                                        <p:cTn id="7" dur="500" fill="hold"/>
                                        <p:tgtEl>
                                          <p:spTgt spid="142345"/>
                                        </p:tgtEl>
                                        <p:attrNameLst>
                                          <p:attrName>ppt_x</p:attrName>
                                        </p:attrNameLst>
                                      </p:cBhvr>
                                      <p:tavLst>
                                        <p:tav tm="0">
                                          <p:val>
                                            <p:strVal val="#ppt_x"/>
                                          </p:val>
                                        </p:tav>
                                        <p:tav tm="100000">
                                          <p:val>
                                            <p:strVal val="#ppt_x"/>
                                          </p:val>
                                        </p:tav>
                                      </p:tavLst>
                                    </p:anim>
                                    <p:anim calcmode="lin" valueType="num">
                                      <p:cBhvr>
                                        <p:cTn id="8" dur="500" fill="hold"/>
                                        <p:tgtEl>
                                          <p:spTgt spid="1423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5"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2"/>
          <p:cNvSpPr>
            <a:spLocks noGrp="1"/>
          </p:cNvSpPr>
          <p:nvPr>
            <p:ph type="title" idx="4294967295"/>
          </p:nvPr>
        </p:nvSpPr>
        <p:spPr>
          <a:xfrm>
            <a:off x="725488" y="1222375"/>
            <a:ext cx="3457575" cy="563563"/>
          </a:xfrm>
        </p:spPr>
        <p:txBody>
          <a:bodyPr vert="horz" wrap="square" lIns="91440" tIns="45720" rIns="91440" bIns="45720" anchor="ctr" anchorCtr="0"/>
          <a:p>
            <a:pPr eaLnBrk="1" hangingPunct="1"/>
            <a:r>
              <a:rPr lang="zh-CN" altLang="en-US" dirty="0">
                <a:solidFill>
                  <a:srgbClr val="000033"/>
                </a:solidFill>
                <a:ea typeface="宋体" panose="02010600030101010101" pitchFamily="2" charset="-122"/>
              </a:rPr>
              <a:t>（</a:t>
            </a:r>
            <a:r>
              <a:rPr lang="en-US" altLang="zh-CN" dirty="0">
                <a:solidFill>
                  <a:srgbClr val="000033"/>
                </a:solidFill>
                <a:ea typeface="宋体" panose="02010600030101010101" pitchFamily="2" charset="-122"/>
              </a:rPr>
              <a:t>1</a:t>
            </a:r>
            <a:r>
              <a:rPr lang="zh-CN" altLang="en-US" dirty="0">
                <a:solidFill>
                  <a:srgbClr val="000033"/>
                </a:solidFill>
                <a:ea typeface="宋体" panose="02010600030101010101" pitchFamily="2" charset="-122"/>
              </a:rPr>
              <a:t>）段内相对转移</a:t>
            </a:r>
            <a:endParaRPr lang="zh-CN" altLang="en-US" dirty="0">
              <a:solidFill>
                <a:srgbClr val="000033"/>
              </a:solidFill>
              <a:ea typeface="宋体" panose="02010600030101010101" pitchFamily="2" charset="-122"/>
            </a:endParaRPr>
          </a:p>
        </p:txBody>
      </p:sp>
      <p:sp>
        <p:nvSpPr>
          <p:cNvPr id="144387" name="Rectangle 3"/>
          <p:cNvSpPr>
            <a:spLocks noGrp="1"/>
          </p:cNvSpPr>
          <p:nvPr>
            <p:ph type="body" idx="4294967295"/>
          </p:nvPr>
        </p:nvSpPr>
        <p:spPr>
          <a:xfrm>
            <a:off x="1114425" y="2085975"/>
            <a:ext cx="5618163" cy="1847850"/>
          </a:xfrm>
        </p:spPr>
        <p:txBody>
          <a:bodyPr vert="horz" wrap="square" lIns="91440" tIns="45720" rIns="91440" bIns="45720" anchor="t" anchorCtr="0"/>
          <a:p>
            <a:pPr eaLnBrk="1" hangingPunct="1">
              <a:lnSpc>
                <a:spcPct val="115000"/>
              </a:lnSpc>
              <a:spcAft>
                <a:spcPct val="40000"/>
              </a:spcAft>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转移的目标地址由指令直接给出</a:t>
            </a:r>
            <a:endParaRPr lang="zh-CN" altLang="en-US" dirty="0">
              <a:latin typeface="宋体" panose="02010600030101010101" pitchFamily="2" charset="-122"/>
              <a:ea typeface="宋体" panose="02010600030101010101" pitchFamily="2" charset="-122"/>
            </a:endParaRPr>
          </a:p>
          <a:p>
            <a:pPr eaLnBrk="1" hangingPunct="1">
              <a:lnSpc>
                <a:spcPct val="115000"/>
              </a:lnSpc>
              <a:spcBef>
                <a:spcPct val="25000"/>
              </a:spcBef>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格式：</a:t>
            </a:r>
            <a:endParaRPr lang="zh-CN" altLang="en-US" dirty="0">
              <a:latin typeface="宋体" panose="02010600030101010101" pitchFamily="2" charset="-122"/>
              <a:ea typeface="宋体" panose="02010600030101010101" pitchFamily="2" charset="-122"/>
            </a:endParaRPr>
          </a:p>
          <a:p>
            <a:pPr lvl="1" eaLnBrk="1" hangingPunct="1">
              <a:lnSpc>
                <a:spcPct val="115000"/>
              </a:lnSpc>
              <a:spcBef>
                <a:spcPct val="10000"/>
              </a:spcBef>
              <a:spcAft>
                <a:spcPct val="40000"/>
              </a:spcAft>
            </a:pPr>
            <a:r>
              <a:rPr lang="en-US" altLang="zh-CN" dirty="0">
                <a:latin typeface="宋体" panose="02010600030101010101" pitchFamily="2" charset="-122"/>
                <a:ea typeface="宋体" panose="02010600030101010101" pitchFamily="2" charset="-122"/>
              </a:rPr>
              <a:t>JMP  Label</a:t>
            </a:r>
            <a:endParaRPr lang="en-US" altLang="zh-CN" dirty="0">
              <a:latin typeface="宋体" panose="02010600030101010101" pitchFamily="2" charset="-122"/>
              <a:ea typeface="宋体" panose="02010600030101010101" pitchFamily="2" charset="-122"/>
            </a:endParaRPr>
          </a:p>
        </p:txBody>
      </p:sp>
      <p:grpSp>
        <p:nvGrpSpPr>
          <p:cNvPr id="142340" name="组合 1"/>
          <p:cNvGrpSpPr/>
          <p:nvPr/>
        </p:nvGrpSpPr>
        <p:grpSpPr>
          <a:xfrm>
            <a:off x="4354513" y="2636838"/>
            <a:ext cx="4756150" cy="3657600"/>
            <a:chOff x="3920255" y="2780928"/>
            <a:chExt cx="4754563" cy="3657600"/>
          </a:xfrm>
        </p:grpSpPr>
        <p:sp>
          <p:nvSpPr>
            <p:cNvPr id="142343" name="Rectangle 4"/>
            <p:cNvSpPr/>
            <p:nvPr/>
          </p:nvSpPr>
          <p:spPr>
            <a:xfrm>
              <a:off x="6155455" y="2780928"/>
              <a:ext cx="1524000" cy="36576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42344" name="Line 5"/>
            <p:cNvSpPr/>
            <p:nvPr/>
          </p:nvSpPr>
          <p:spPr>
            <a:xfrm>
              <a:off x="6155455" y="3542928"/>
              <a:ext cx="1524000" cy="0"/>
            </a:xfrm>
            <a:prstGeom prst="line">
              <a:avLst/>
            </a:prstGeom>
            <a:ln w="25400" cap="sq" cmpd="sng">
              <a:solidFill>
                <a:schemeClr val="tx1"/>
              </a:solidFill>
              <a:prstDash val="solid"/>
              <a:headEnd type="none" w="med" len="med"/>
              <a:tailEnd type="none" w="med" len="med"/>
            </a:ln>
          </p:spPr>
        </p:sp>
        <p:sp>
          <p:nvSpPr>
            <p:cNvPr id="142345" name="Line 6"/>
            <p:cNvSpPr/>
            <p:nvPr/>
          </p:nvSpPr>
          <p:spPr>
            <a:xfrm>
              <a:off x="6155455" y="4000128"/>
              <a:ext cx="1524000" cy="0"/>
            </a:xfrm>
            <a:prstGeom prst="line">
              <a:avLst/>
            </a:prstGeom>
            <a:ln w="25400" cap="sq" cmpd="sng">
              <a:solidFill>
                <a:schemeClr val="tx1"/>
              </a:solidFill>
              <a:prstDash val="solid"/>
              <a:headEnd type="none" w="med" len="med"/>
              <a:tailEnd type="none" w="med" len="med"/>
            </a:ln>
          </p:spPr>
        </p:sp>
        <p:sp>
          <p:nvSpPr>
            <p:cNvPr id="142346" name="Line 7"/>
            <p:cNvSpPr/>
            <p:nvPr/>
          </p:nvSpPr>
          <p:spPr>
            <a:xfrm>
              <a:off x="6155455" y="4457328"/>
              <a:ext cx="1524000" cy="0"/>
            </a:xfrm>
            <a:prstGeom prst="line">
              <a:avLst/>
            </a:prstGeom>
            <a:ln w="25400" cap="sq" cmpd="sng">
              <a:solidFill>
                <a:schemeClr val="tx1"/>
              </a:solidFill>
              <a:prstDash val="solid"/>
              <a:headEnd type="none" w="med" len="med"/>
              <a:tailEnd type="none" w="med" len="med"/>
            </a:ln>
          </p:spPr>
        </p:sp>
        <p:sp>
          <p:nvSpPr>
            <p:cNvPr id="142347" name="Line 8"/>
            <p:cNvSpPr/>
            <p:nvPr/>
          </p:nvSpPr>
          <p:spPr>
            <a:xfrm>
              <a:off x="6155455" y="5295528"/>
              <a:ext cx="1524000" cy="0"/>
            </a:xfrm>
            <a:prstGeom prst="line">
              <a:avLst/>
            </a:prstGeom>
            <a:ln w="25400" cap="sq" cmpd="sng">
              <a:solidFill>
                <a:schemeClr val="tx1"/>
              </a:solidFill>
              <a:prstDash val="solid"/>
              <a:headEnd type="none" w="med" len="med"/>
              <a:tailEnd type="none" w="med" len="med"/>
            </a:ln>
          </p:spPr>
        </p:sp>
        <p:sp>
          <p:nvSpPr>
            <p:cNvPr id="142348" name="Line 9"/>
            <p:cNvSpPr/>
            <p:nvPr/>
          </p:nvSpPr>
          <p:spPr>
            <a:xfrm>
              <a:off x="6155455" y="5752728"/>
              <a:ext cx="1524000" cy="0"/>
            </a:xfrm>
            <a:prstGeom prst="line">
              <a:avLst/>
            </a:prstGeom>
            <a:ln w="25400" cap="sq" cmpd="sng">
              <a:solidFill>
                <a:schemeClr val="tx1"/>
              </a:solidFill>
              <a:prstDash val="solid"/>
              <a:headEnd type="none" w="med" len="med"/>
              <a:tailEnd type="none" w="med" len="med"/>
            </a:ln>
          </p:spPr>
        </p:sp>
        <p:sp>
          <p:nvSpPr>
            <p:cNvPr id="142349" name="Text Box 10"/>
            <p:cNvSpPr txBox="1"/>
            <p:nvPr/>
          </p:nvSpPr>
          <p:spPr>
            <a:xfrm>
              <a:off x="6460255" y="3542928"/>
              <a:ext cx="10668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JMP</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42350" name="Text Box 11"/>
            <p:cNvSpPr txBox="1"/>
            <p:nvPr/>
          </p:nvSpPr>
          <p:spPr>
            <a:xfrm>
              <a:off x="5012455" y="5324103"/>
              <a:ext cx="1038225"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Label</a:t>
              </a:r>
              <a:endParaRPr lang="en-US" altLang="zh-CN" sz="2400" b="1" dirty="0">
                <a:latin typeface="Times New Roman" panose="02020603050405020304" pitchFamily="18" charset="0"/>
                <a:ea typeface="宋体" panose="02010600030101010101" pitchFamily="2" charset="-122"/>
              </a:endParaRPr>
            </a:p>
          </p:txBody>
        </p:sp>
        <p:sp>
          <p:nvSpPr>
            <p:cNvPr id="142351" name="Text Box 12"/>
            <p:cNvSpPr txBox="1"/>
            <p:nvPr/>
          </p:nvSpPr>
          <p:spPr>
            <a:xfrm>
              <a:off x="6612655" y="4685928"/>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42352" name="Text Box 13"/>
            <p:cNvSpPr txBox="1"/>
            <p:nvPr/>
          </p:nvSpPr>
          <p:spPr>
            <a:xfrm>
              <a:off x="6612655" y="5905128"/>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42353" name="Text Box 14"/>
            <p:cNvSpPr txBox="1"/>
            <p:nvPr/>
          </p:nvSpPr>
          <p:spPr>
            <a:xfrm>
              <a:off x="6612655" y="2933328"/>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42354" name="AutoShape 15"/>
            <p:cNvSpPr/>
            <p:nvPr/>
          </p:nvSpPr>
          <p:spPr>
            <a:xfrm>
              <a:off x="7831855" y="3009528"/>
              <a:ext cx="228600" cy="3124200"/>
            </a:xfrm>
            <a:prstGeom prst="rightBrace">
              <a:avLst>
                <a:gd name="adj1" fmla="val 113003"/>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42355" name="Text Box 16"/>
            <p:cNvSpPr txBox="1"/>
            <p:nvPr/>
          </p:nvSpPr>
          <p:spPr>
            <a:xfrm>
              <a:off x="8212855" y="3955678"/>
              <a:ext cx="461963" cy="10064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代码段</a:t>
              </a:r>
              <a:endParaRPr lang="zh-CN" altLang="en-US" sz="2000" b="1" dirty="0">
                <a:latin typeface="Times New Roman" panose="02020603050405020304" pitchFamily="18" charset="0"/>
                <a:ea typeface="宋体" panose="02010600030101010101" pitchFamily="2" charset="-122"/>
              </a:endParaRPr>
            </a:p>
          </p:txBody>
        </p:sp>
        <p:sp>
          <p:nvSpPr>
            <p:cNvPr id="142356" name="Line 17"/>
            <p:cNvSpPr/>
            <p:nvPr/>
          </p:nvSpPr>
          <p:spPr>
            <a:xfrm>
              <a:off x="5088655" y="3542928"/>
              <a:ext cx="914400" cy="0"/>
            </a:xfrm>
            <a:prstGeom prst="line">
              <a:avLst/>
            </a:prstGeom>
            <a:ln w="25400" cap="sq" cmpd="sng">
              <a:solidFill>
                <a:srgbClr val="FF6600"/>
              </a:solidFill>
              <a:prstDash val="solid"/>
              <a:headEnd type="none" w="med" len="med"/>
              <a:tailEnd type="none" w="med" len="med"/>
            </a:ln>
          </p:spPr>
        </p:sp>
        <p:sp>
          <p:nvSpPr>
            <p:cNvPr id="142357" name="Line 18"/>
            <p:cNvSpPr/>
            <p:nvPr/>
          </p:nvSpPr>
          <p:spPr>
            <a:xfrm>
              <a:off x="5088655" y="5295528"/>
              <a:ext cx="914400" cy="0"/>
            </a:xfrm>
            <a:prstGeom prst="line">
              <a:avLst/>
            </a:prstGeom>
            <a:ln w="25400" cap="sq" cmpd="sng">
              <a:solidFill>
                <a:srgbClr val="FF6600"/>
              </a:solidFill>
              <a:prstDash val="solid"/>
              <a:headEnd type="none" w="med" len="med"/>
              <a:tailEnd type="none" w="med" len="med"/>
            </a:ln>
          </p:spPr>
        </p:sp>
        <p:sp>
          <p:nvSpPr>
            <p:cNvPr id="142358" name="Line 19"/>
            <p:cNvSpPr/>
            <p:nvPr/>
          </p:nvSpPr>
          <p:spPr>
            <a:xfrm>
              <a:off x="5545855" y="3652466"/>
              <a:ext cx="0" cy="1524000"/>
            </a:xfrm>
            <a:prstGeom prst="line">
              <a:avLst/>
            </a:prstGeom>
            <a:ln w="25400" cap="sq" cmpd="sng">
              <a:solidFill>
                <a:srgbClr val="FF6600"/>
              </a:solidFill>
              <a:prstDash val="solid"/>
              <a:headEnd type="triangle" w="lg" len="lg"/>
              <a:tailEnd type="triangle" w="lg" len="lg"/>
            </a:ln>
          </p:spPr>
        </p:sp>
        <p:sp>
          <p:nvSpPr>
            <p:cNvPr id="142359" name="AutoShape 20"/>
            <p:cNvSpPr/>
            <p:nvPr/>
          </p:nvSpPr>
          <p:spPr>
            <a:xfrm>
              <a:off x="3920255" y="4381128"/>
              <a:ext cx="1009650" cy="473075"/>
            </a:xfrm>
            <a:prstGeom prst="borderCallout1">
              <a:avLst>
                <a:gd name="adj1" fmla="val 24162"/>
                <a:gd name="adj2" fmla="val 107546"/>
                <a:gd name="adj3" fmla="val -35236"/>
                <a:gd name="adj4" fmla="val 151259"/>
              </a:avLst>
            </a:prstGeom>
            <a:solidFill>
              <a:srgbClr val="339966"/>
            </a:solidFill>
            <a:ln w="25400" cap="sq" cmpd="sng">
              <a:solidFill>
                <a:srgbClr val="339966"/>
              </a:solidFill>
              <a:prstDash val="solid"/>
              <a:miter/>
              <a:headEnd type="none" w="med" len="med"/>
              <a:tailEnd type="none" w="med" len="med"/>
            </a:ln>
          </p:spPr>
          <p:txBody>
            <a:bodyPr/>
            <a:p>
              <a:pPr eaLnBrk="0" hangingPunct="0">
                <a:buFont typeface="Wingdings" panose="05000000000000000000" pitchFamily="2" charset="2"/>
              </a:pPr>
              <a:r>
                <a:rPr lang="zh-CN" altLang="en-US" sz="2000" b="1" dirty="0">
                  <a:solidFill>
                    <a:schemeClr val="bg1"/>
                  </a:solidFill>
                  <a:latin typeface="Times New Roman" panose="02020603050405020304" pitchFamily="18" charset="0"/>
                  <a:ea typeface="宋体" panose="02010600030101010101" pitchFamily="2" charset="-122"/>
                </a:rPr>
                <a:t>位移量</a:t>
              </a:r>
              <a:endParaRPr lang="zh-CN" altLang="en-US" sz="2000" b="1" dirty="0">
                <a:solidFill>
                  <a:schemeClr val="bg1"/>
                </a:solidFill>
                <a:latin typeface="Times New Roman" panose="02020603050405020304" pitchFamily="18" charset="0"/>
                <a:ea typeface="宋体" panose="02010600030101010101" pitchFamily="2" charset="-122"/>
              </a:endParaRPr>
            </a:p>
          </p:txBody>
        </p:sp>
      </p:grpSp>
      <p:sp>
        <p:nvSpPr>
          <p:cNvPr id="22" name="Text Box 21"/>
          <p:cNvSpPr txBox="1"/>
          <p:nvPr/>
        </p:nvSpPr>
        <p:spPr>
          <a:xfrm>
            <a:off x="1285875" y="6521450"/>
            <a:ext cx="7129463" cy="384175"/>
          </a:xfrm>
          <a:prstGeom prst="rect">
            <a:avLst/>
          </a:prstGeom>
          <a:noFill/>
          <a:ln w="9525">
            <a:noFill/>
          </a:ln>
        </p:spPr>
        <p:txBody>
          <a:bodyPr>
            <a:spAutoFit/>
          </a:bodyPr>
          <a:p>
            <a:pPr eaLnBrk="0" hangingPunct="0">
              <a:lnSpc>
                <a:spcPct val="80000"/>
              </a:lnSpc>
              <a:spcBef>
                <a:spcPct val="20000"/>
              </a:spcBef>
              <a:buFont typeface="Wingdings" panose="05000000000000000000" pitchFamily="2" charset="2"/>
            </a:pPr>
            <a:r>
              <a:rPr lang="zh-CN" altLang="en-US" sz="2400" b="1" dirty="0">
                <a:solidFill>
                  <a:srgbClr val="FF0000"/>
                </a:solidFill>
                <a:latin typeface="Times New Roman" panose="02020603050405020304" pitchFamily="18" charset="0"/>
                <a:ea typeface="宋体" panose="02010600030101010101" pitchFamily="2" charset="-122"/>
              </a:rPr>
              <a:t>下一条要执行指令的偏移地址=当前</a:t>
            </a:r>
            <a:r>
              <a:rPr lang="en-US" altLang="zh-CN" sz="2400" b="1" dirty="0">
                <a:solidFill>
                  <a:srgbClr val="FF0000"/>
                </a:solidFill>
                <a:latin typeface="Times New Roman" panose="02020603050405020304" pitchFamily="18" charset="0"/>
                <a:ea typeface="宋体" panose="02010600030101010101" pitchFamily="2" charset="-122"/>
              </a:rPr>
              <a:t>IP+</a:t>
            </a:r>
            <a:r>
              <a:rPr lang="zh-CN" altLang="en-US" sz="2400" b="1" dirty="0">
                <a:solidFill>
                  <a:srgbClr val="FF0000"/>
                </a:solidFill>
                <a:latin typeface="Times New Roman" panose="02020603050405020304" pitchFamily="18" charset="0"/>
                <a:ea typeface="宋体" panose="02010600030101010101" pitchFamily="2" charset="-122"/>
              </a:rPr>
              <a:t>位移量</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142342" name="线形标注 1 3"/>
          <p:cNvSpPr/>
          <p:nvPr/>
        </p:nvSpPr>
        <p:spPr>
          <a:xfrm>
            <a:off x="2206625" y="4999038"/>
            <a:ext cx="1616075" cy="533400"/>
          </a:xfrm>
          <a:prstGeom prst="borderCallout1">
            <a:avLst>
              <a:gd name="adj1" fmla="val 18750"/>
              <a:gd name="adj2" fmla="val -8333"/>
              <a:gd name="adj3" fmla="val -210292"/>
              <a:gd name="adj4" fmla="val 50667"/>
            </a:avLst>
          </a:prstGeom>
          <a:solidFill>
            <a:schemeClr val="accent1"/>
          </a:solidFill>
          <a:ln w="9525" cap="flat" cmpd="sng">
            <a:solidFill>
              <a:schemeClr val="tx1"/>
            </a:solidFill>
            <a:prstDash val="solid"/>
            <a:round/>
            <a:headEnd type="none" w="med" len="med"/>
            <a:tailEnd type="none" w="med" len="med"/>
          </a:ln>
        </p:spPr>
        <p:txBody>
          <a:bodyPr/>
          <a:p>
            <a:pPr eaLnBrk="0" hangingPunct="0"/>
            <a:r>
              <a:rPr lang="zh-CN" altLang="en-US" sz="2400" dirty="0">
                <a:latin typeface="宋体" panose="02010600030101010101" pitchFamily="2" charset="-122"/>
                <a:ea typeface="宋体" panose="02010600030101010101" pitchFamily="2" charset="-122"/>
              </a:rPr>
              <a:t>地址标号</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44387">
                                            <p:txEl>
                                              <p:charRg st="0" end="15"/>
                                            </p:txEl>
                                          </p:spTgt>
                                        </p:tgtEl>
                                        <p:attrNameLst>
                                          <p:attrName>style.visibility</p:attrName>
                                        </p:attrNameLst>
                                      </p:cBhvr>
                                      <p:to>
                                        <p:strVal val="visible"/>
                                      </p:to>
                                    </p:set>
                                    <p:animEffect transition="in" filter="wipe(left)">
                                      <p:cBhvr>
                                        <p:cTn id="7" dur="500"/>
                                        <p:tgtEl>
                                          <p:spTgt spid="144387">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4387">
                                            <p:txEl>
                                              <p:charRg st="15" end="19"/>
                                            </p:txEl>
                                          </p:spTgt>
                                        </p:tgtEl>
                                        <p:attrNameLst>
                                          <p:attrName>style.visibility</p:attrName>
                                        </p:attrNameLst>
                                      </p:cBhvr>
                                      <p:to>
                                        <p:strVal val="visible"/>
                                      </p:to>
                                    </p:set>
                                    <p:animEffect transition="in" filter="wipe(left)">
                                      <p:cBhvr>
                                        <p:cTn id="12" dur="500"/>
                                        <p:tgtEl>
                                          <p:spTgt spid="144387">
                                            <p:txEl>
                                              <p:charRg st="15" end="19"/>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44387">
                                            <p:txEl>
                                              <p:charRg st="19" end="30"/>
                                            </p:txEl>
                                          </p:spTgt>
                                        </p:tgtEl>
                                        <p:attrNameLst>
                                          <p:attrName>style.visibility</p:attrName>
                                        </p:attrNameLst>
                                      </p:cBhvr>
                                      <p:to>
                                        <p:strVal val="visible"/>
                                      </p:to>
                                    </p:set>
                                    <p:animEffect transition="in" filter="wipe(left)">
                                      <p:cBhvr>
                                        <p:cTn id="16" dur="500"/>
                                        <p:tgtEl>
                                          <p:spTgt spid="144387">
                                            <p:txEl>
                                              <p:charRg st="19" end="3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2">
                                            <p:txEl>
                                              <p:charRg st="0" end="23"/>
                                            </p:txEl>
                                          </p:spTgt>
                                        </p:tgtEl>
                                        <p:attrNameLst>
                                          <p:attrName>style.visibility</p:attrName>
                                        </p:attrNameLst>
                                      </p:cBhvr>
                                      <p:to>
                                        <p:strVal val="visible"/>
                                      </p:to>
                                    </p:set>
                                    <p:animEffect transition="in" filter="wipe(left)">
                                      <p:cBhvr>
                                        <p:cTn id="21" dur="500"/>
                                        <p:tgtEl>
                                          <p:spTgt spid="22">
                                            <p:txEl>
                                              <p:charRg st="0" end="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62" name="图片 2"/>
          <p:cNvPicPr>
            <a:picLocks noChangeAspect="1"/>
          </p:cNvPicPr>
          <p:nvPr/>
        </p:nvPicPr>
        <p:blipFill>
          <a:blip r:embed="rId1"/>
          <a:stretch>
            <a:fillRect/>
          </a:stretch>
        </p:blipFill>
        <p:spPr>
          <a:xfrm>
            <a:off x="6350" y="2205038"/>
            <a:ext cx="8439150" cy="3455987"/>
          </a:xfrm>
          <a:prstGeom prst="rect">
            <a:avLst/>
          </a:prstGeom>
          <a:noFill/>
          <a:ln w="9525">
            <a:noFill/>
          </a:ln>
        </p:spPr>
      </p:pic>
    </p:spTree>
  </p:cSld>
  <p:clrMapOvr>
    <a:masterClrMapping/>
  </p:clrMapOvr>
  <p:transition spd="slow"/>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文本框 1"/>
          <p:cNvSpPr txBox="1"/>
          <p:nvPr/>
        </p:nvSpPr>
        <p:spPr>
          <a:xfrm>
            <a:off x="827088" y="1268413"/>
            <a:ext cx="1368425" cy="523875"/>
          </a:xfrm>
          <a:prstGeom prst="rect">
            <a:avLst/>
          </a:prstGeom>
          <a:noFill/>
          <a:ln w="9525">
            <a:noFill/>
          </a:ln>
        </p:spPr>
        <p:txBody>
          <a:bodyPr>
            <a:spAutoFit/>
          </a:bodyPr>
          <a:p>
            <a:pPr eaLnBrk="0" hangingPunct="0">
              <a:buFont typeface="Wingdings" panose="05000000000000000000" pitchFamily="2" charset="2"/>
            </a:pP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例</a:t>
            </a:r>
            <a:r>
              <a:rPr lang="en-US" altLang="zh-CN" sz="2800" dirty="0">
                <a:latin typeface="宋体" panose="02010600030101010101" pitchFamily="2" charset="-122"/>
                <a:ea typeface="宋体" panose="02010600030101010101" pitchFamily="2" charset="-122"/>
              </a:rPr>
              <a:t>】</a:t>
            </a:r>
            <a:endParaRPr lang="zh-CN" altLang="en-US" sz="2800" dirty="0">
              <a:latin typeface="宋体" panose="02010600030101010101" pitchFamily="2" charset="-122"/>
              <a:ea typeface="宋体" panose="02010600030101010101" pitchFamily="2" charset="-122"/>
            </a:endParaRPr>
          </a:p>
        </p:txBody>
      </p:sp>
      <p:sp>
        <p:nvSpPr>
          <p:cNvPr id="144387" name="文本框 2"/>
          <p:cNvSpPr txBox="1"/>
          <p:nvPr/>
        </p:nvSpPr>
        <p:spPr>
          <a:xfrm>
            <a:off x="1331913" y="2060575"/>
            <a:ext cx="3744912" cy="3416300"/>
          </a:xfrm>
          <a:prstGeom prst="rect">
            <a:avLst/>
          </a:prstGeom>
          <a:noFill/>
          <a:ln w="9525">
            <a:noFill/>
          </a:ln>
        </p:spPr>
        <p:txBody>
          <a:bodyPr>
            <a:spAutoFit/>
          </a:bodyPr>
          <a:p>
            <a:pPr eaLnBrk="0" hangingPunct="0">
              <a:lnSpc>
                <a:spcPct val="150000"/>
              </a:lnSpc>
              <a:buFont typeface="Wingdings" panose="05000000000000000000" pitchFamily="2" charset="2"/>
            </a:pPr>
            <a:r>
              <a:rPr lang="en-US" altLang="zh-CN" sz="2400" b="1" dirty="0">
                <a:latin typeface="宋体" panose="02010600030101010101" pitchFamily="2" charset="-122"/>
                <a:ea typeface="宋体" panose="02010600030101010101" pitchFamily="2" charset="-122"/>
              </a:rPr>
              <a:t>      ……</a:t>
            </a:r>
            <a:endParaRPr lang="en-US" altLang="zh-CN" sz="24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400" b="1" dirty="0">
                <a:latin typeface="宋体" panose="02010600030101010101" pitchFamily="2" charset="-122"/>
                <a:ea typeface="宋体" panose="02010600030101010101" pitchFamily="2" charset="-122"/>
              </a:rPr>
              <a:t>      MOV AX</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BX</a:t>
            </a:r>
            <a:endParaRPr lang="en-US" altLang="zh-CN" sz="24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400" b="1" dirty="0">
                <a:latin typeface="宋体" panose="02010600030101010101" pitchFamily="2" charset="-122"/>
                <a:ea typeface="宋体" panose="02010600030101010101" pitchFamily="2" charset="-122"/>
              </a:rPr>
              <a:t>      JMP SHORT NEXT</a:t>
            </a:r>
            <a:endParaRPr lang="en-US" altLang="zh-CN" sz="24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400" b="1" dirty="0">
                <a:latin typeface="宋体" panose="02010600030101010101" pitchFamily="2" charset="-122"/>
                <a:ea typeface="宋体" panose="02010600030101010101" pitchFamily="2" charset="-122"/>
              </a:rPr>
              <a:t>      AND CL</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0FH</a:t>
            </a:r>
            <a:endParaRPr lang="en-US" altLang="zh-CN" sz="24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400" b="1" dirty="0">
                <a:latin typeface="宋体" panose="02010600030101010101" pitchFamily="2" charset="-122"/>
                <a:ea typeface="宋体" panose="02010600030101010101" pitchFamily="2" charset="-122"/>
              </a:rPr>
              <a:t>      ……</a:t>
            </a:r>
            <a:endParaRPr lang="en-US" altLang="zh-CN" sz="24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400" b="1" dirty="0">
                <a:latin typeface="宋体" panose="02010600030101010101" pitchFamily="2" charset="-122"/>
                <a:ea typeface="宋体" panose="02010600030101010101" pitchFamily="2" charset="-122"/>
              </a:rPr>
              <a:t>NEXT</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OR CL</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7FH</a:t>
            </a:r>
            <a:endParaRPr lang="en-US" altLang="zh-CN" sz="2400" b="1" dirty="0">
              <a:latin typeface="宋体" panose="02010600030101010101" pitchFamily="2" charset="-122"/>
              <a:ea typeface="宋体" panose="02010600030101010101" pitchFamily="2" charset="-122"/>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灯片编号占位符 5"/>
          <p:cNvSpPr txBox="1">
            <a:spLocks noGrp="1"/>
          </p:cNvSpPr>
          <p:nvPr/>
        </p:nvSpPr>
        <p:spPr>
          <a:xfrm>
            <a:off x="7042150" y="6243638"/>
            <a:ext cx="1905000" cy="457200"/>
          </a:xfrm>
          <a:prstGeom prst="rect">
            <a:avLst/>
          </a:prstGeom>
          <a:noFill/>
          <a:ln w="9525">
            <a:noFill/>
          </a:ln>
        </p:spPr>
        <p:txBody>
          <a:bodyPr/>
          <a:p>
            <a:pPr algn="ctr"/>
            <a:fld id="{9A0DB2DC-4C9A-4742-B13C-FB6460FD3503}" type="slidenum">
              <a:rPr lang="zh-CN" altLang="en-US" sz="1400" dirty="0">
                <a:latin typeface="Tahoma" panose="020B0604030504040204" pitchFamily="34" charset="0"/>
                <a:ea typeface="宋体" panose="02010600030101010101" pitchFamily="2" charset="-122"/>
              </a:rPr>
            </a:fld>
            <a:endParaRPr lang="zh-CN" altLang="en-US" sz="1400" dirty="0">
              <a:latin typeface="Tahoma" panose="020B0604030504040204" pitchFamily="34" charset="0"/>
              <a:ea typeface="宋体" panose="02010600030101010101" pitchFamily="2" charset="-122"/>
            </a:endParaRPr>
          </a:p>
        </p:txBody>
      </p:sp>
      <p:sp>
        <p:nvSpPr>
          <p:cNvPr id="145411" name="Rectangle 2"/>
          <p:cNvSpPr>
            <a:spLocks noGrp="1"/>
          </p:cNvSpPr>
          <p:nvPr>
            <p:ph type="title" idx="4294967295"/>
          </p:nvPr>
        </p:nvSpPr>
        <p:spPr>
          <a:xfrm>
            <a:off x="877888" y="1011238"/>
            <a:ext cx="3333750" cy="563562"/>
          </a:xfrm>
        </p:spPr>
        <p:txBody>
          <a:bodyPr vert="horz" wrap="square" lIns="91440" tIns="45720" rIns="91440" bIns="45720" anchor="ctr" anchorCtr="0"/>
          <a:p>
            <a:pPr eaLnBrk="1" hangingPunct="1"/>
            <a:r>
              <a:rPr lang="zh-CN" altLang="en-US" dirty="0">
                <a:solidFill>
                  <a:srgbClr val="000033"/>
                </a:solidFill>
                <a:ea typeface="宋体" panose="02010600030101010101" pitchFamily="2" charset="-122"/>
              </a:rPr>
              <a:t>（</a:t>
            </a:r>
            <a:r>
              <a:rPr lang="en-US" altLang="zh-CN" dirty="0">
                <a:solidFill>
                  <a:srgbClr val="000033"/>
                </a:solidFill>
                <a:ea typeface="宋体" panose="02010600030101010101" pitchFamily="2" charset="-122"/>
              </a:rPr>
              <a:t>2</a:t>
            </a:r>
            <a:r>
              <a:rPr lang="zh-CN" altLang="en-US" dirty="0">
                <a:solidFill>
                  <a:srgbClr val="000033"/>
                </a:solidFill>
                <a:ea typeface="宋体" panose="02010600030101010101" pitchFamily="2" charset="-122"/>
              </a:rPr>
              <a:t>）段内间接转移</a:t>
            </a:r>
            <a:endParaRPr lang="zh-CN" altLang="en-US" dirty="0">
              <a:solidFill>
                <a:srgbClr val="000033"/>
              </a:solidFill>
              <a:ea typeface="宋体" panose="02010600030101010101" pitchFamily="2" charset="-122"/>
            </a:endParaRPr>
          </a:p>
        </p:txBody>
      </p:sp>
      <p:sp>
        <p:nvSpPr>
          <p:cNvPr id="146436" name="Rectangle 3"/>
          <p:cNvSpPr>
            <a:spLocks noGrp="1" noChangeArrowheads="1"/>
          </p:cNvSpPr>
          <p:nvPr>
            <p:ph type="body" idx="4294967295"/>
          </p:nvPr>
        </p:nvSpPr>
        <p:spPr>
          <a:xfrm>
            <a:off x="827088" y="1989138"/>
            <a:ext cx="7637463" cy="388143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40000"/>
              </a:spcBef>
              <a:spcAft>
                <a:spcPct val="10000"/>
              </a:spcAft>
              <a:buClr>
                <a:schemeClr val="hlink"/>
              </a:buClr>
              <a:buSzTx/>
              <a:buFont typeface="Wingdings" panose="05000000000000000000" pitchFamily="2" charset="2"/>
              <a:buChar char="l"/>
              <a:defRPr/>
            </a:pPr>
            <a:r>
              <a:rPr kumimoji="0" lang="zh-CN" altLang="en-US"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段内间接转移</a:t>
            </a:r>
            <a:endParaRPr kumimoji="0" lang="zh-CN" altLang="en-US"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10000"/>
              </a:spcAft>
              <a:buClr>
                <a:schemeClr val="hlink"/>
              </a:buClr>
              <a:buSzTx/>
              <a:buFont typeface="Wingdings" panose="05000000000000000000" pitchFamily="2" charset="2"/>
              <a:buChar char="§"/>
              <a:defRPr/>
            </a:pPr>
            <a:r>
              <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转移的目标地址存放在某个</a:t>
            </a:r>
            <a:r>
              <a:rPr kumimoji="0" lang="en-US" altLang="zh-CN" sz="2400" b="1"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16</a:t>
            </a:r>
            <a:r>
              <a:rPr kumimoji="0" lang="zh-CN" altLang="en-US" sz="2400" b="1"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位寄存器或存储器</a:t>
            </a:r>
            <a:endParaRPr kumimoji="0" lang="zh-CN" altLang="en-US" sz="2400" b="1" i="0" u="none" strike="noStrike" kern="120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10000"/>
              </a:spcAft>
              <a:buClr>
                <a:schemeClr val="hlink"/>
              </a:buClr>
              <a:buSzTx/>
              <a:buFont typeface="Wingdings" panose="05000000000000000000" pitchFamily="2" charset="2"/>
              <a:buNone/>
              <a:defRPr/>
            </a:pPr>
            <a:r>
              <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  的某两个单元中</a:t>
            </a:r>
            <a:endPar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00000"/>
              </a:lnSpc>
              <a:spcBef>
                <a:spcPct val="40000"/>
              </a:spcBef>
              <a:spcAft>
                <a:spcPct val="0"/>
              </a:spcAft>
              <a:buClr>
                <a:schemeClr val="hlink"/>
              </a:buClr>
              <a:buSzTx/>
              <a:buFont typeface="Wingdings" panose="05000000000000000000" pitchFamily="2" charset="2"/>
              <a:buNone/>
              <a:defRPr/>
            </a:pPr>
            <a:r>
              <a:rPr kumimoji="0" lang="en-US" altLang="zh-CN"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zh-CN" altLang="en-US"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例</a:t>
            </a:r>
            <a:r>
              <a:rPr kumimoji="0"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zh-CN" altLang="en-US" sz="28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1" fontAlgn="base" latinLnBrk="0" hangingPunct="1">
              <a:lnSpc>
                <a:spcPct val="100000"/>
              </a:lnSpc>
              <a:spcBef>
                <a:spcPct val="10000"/>
              </a:spcBef>
              <a:spcAft>
                <a:spcPct val="0"/>
              </a:spcAft>
              <a:buClr>
                <a:schemeClr val="hlink"/>
              </a:buClr>
              <a:buSzTx/>
              <a:buFont typeface="Wingdings" panose="05000000000000000000" pitchFamily="2" charset="2"/>
              <a:buChar char="§"/>
              <a:defRPr/>
            </a:pPr>
            <a:r>
              <a:rPr kumimoji="0" lang="en-US" altLang="zh-CN"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JMP  BX</a:t>
            </a:r>
            <a:endParaRPr kumimoji="0" lang="en-US" altLang="zh-CN"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1" fontAlgn="base" latinLnBrk="0" hangingPunct="1">
              <a:lnSpc>
                <a:spcPct val="100000"/>
              </a:lnSpc>
              <a:spcBef>
                <a:spcPct val="10000"/>
              </a:spcBef>
              <a:spcAft>
                <a:spcPct val="0"/>
              </a:spcAft>
              <a:buClr>
                <a:schemeClr val="hlink"/>
              </a:buClr>
              <a:buSzTx/>
              <a:buFont typeface="Wingdings" panose="05000000000000000000" pitchFamily="2" charset="2"/>
              <a:buChar char="§"/>
              <a:defRPr/>
            </a:pPr>
            <a:r>
              <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若：</a:t>
            </a:r>
            <a:r>
              <a:rPr kumimoji="0" lang="en-US" altLang="zh-CN"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BX=1200H</a:t>
            </a:r>
            <a:endParaRPr kumimoji="0" lang="en-US" altLang="zh-CN"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a:p>
            <a:pPr marL="742950" marR="0" lvl="1" indent="-285750" algn="l" defTabSz="914400" rtl="0" eaLnBrk="1" fontAlgn="base" latinLnBrk="0" hangingPunct="1">
              <a:lnSpc>
                <a:spcPct val="100000"/>
              </a:lnSpc>
              <a:spcBef>
                <a:spcPct val="10000"/>
              </a:spcBef>
              <a:spcAft>
                <a:spcPct val="0"/>
              </a:spcAft>
              <a:buClr>
                <a:schemeClr val="hlink"/>
              </a:buClr>
              <a:buSzTx/>
              <a:buFont typeface="Wingdings" panose="05000000000000000000" pitchFamily="2" charset="2"/>
              <a:buChar char="§"/>
              <a:defRPr/>
            </a:pPr>
            <a:r>
              <a:rPr kumimoji="0" lang="zh-CN" altLang="en-US"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则：转移的目标地址</a:t>
            </a:r>
            <a:r>
              <a:rPr kumimoji="0" lang="en-US" altLang="zh-CN"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rPr>
              <a:t>=1200H</a:t>
            </a:r>
            <a:endParaRPr kumimoji="0" lang="en-US" altLang="zh-CN" sz="2400" b="1" i="0" u="none" strike="noStrike" kern="120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146437" name="Rectangle 104"/>
          <p:cNvSpPr/>
          <p:nvPr/>
        </p:nvSpPr>
        <p:spPr>
          <a:xfrm>
            <a:off x="6559550" y="3375025"/>
            <a:ext cx="1524000" cy="316865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46438" name="Line 105"/>
          <p:cNvSpPr/>
          <p:nvPr/>
        </p:nvSpPr>
        <p:spPr>
          <a:xfrm>
            <a:off x="6559550" y="3935413"/>
            <a:ext cx="1524000" cy="0"/>
          </a:xfrm>
          <a:prstGeom prst="line">
            <a:avLst/>
          </a:prstGeom>
          <a:ln w="25400" cap="sq" cmpd="sng">
            <a:solidFill>
              <a:schemeClr val="tx1"/>
            </a:solidFill>
            <a:prstDash val="solid"/>
            <a:headEnd type="none" w="med" len="med"/>
            <a:tailEnd type="none" w="med" len="med"/>
          </a:ln>
        </p:spPr>
      </p:sp>
      <p:sp>
        <p:nvSpPr>
          <p:cNvPr id="146439" name="Line 106"/>
          <p:cNvSpPr/>
          <p:nvPr/>
        </p:nvSpPr>
        <p:spPr>
          <a:xfrm>
            <a:off x="6559550" y="4392613"/>
            <a:ext cx="1524000" cy="0"/>
          </a:xfrm>
          <a:prstGeom prst="line">
            <a:avLst/>
          </a:prstGeom>
          <a:ln w="25400" cap="sq" cmpd="sng">
            <a:solidFill>
              <a:schemeClr val="tx1"/>
            </a:solidFill>
            <a:prstDash val="solid"/>
            <a:headEnd type="none" w="med" len="med"/>
            <a:tailEnd type="none" w="med" len="med"/>
          </a:ln>
        </p:spPr>
      </p:sp>
      <p:sp>
        <p:nvSpPr>
          <p:cNvPr id="146440" name="Line 107"/>
          <p:cNvSpPr/>
          <p:nvPr/>
        </p:nvSpPr>
        <p:spPr>
          <a:xfrm>
            <a:off x="6559550" y="4849813"/>
            <a:ext cx="1524000" cy="0"/>
          </a:xfrm>
          <a:prstGeom prst="line">
            <a:avLst/>
          </a:prstGeom>
          <a:ln w="25400" cap="sq" cmpd="sng">
            <a:solidFill>
              <a:schemeClr val="tx1"/>
            </a:solidFill>
            <a:prstDash val="solid"/>
            <a:headEnd type="none" w="med" len="med"/>
            <a:tailEnd type="none" w="med" len="med"/>
          </a:ln>
        </p:spPr>
      </p:sp>
      <p:sp>
        <p:nvSpPr>
          <p:cNvPr id="146441" name="Line 108"/>
          <p:cNvSpPr/>
          <p:nvPr/>
        </p:nvSpPr>
        <p:spPr>
          <a:xfrm>
            <a:off x="6559550" y="5688013"/>
            <a:ext cx="1524000" cy="0"/>
          </a:xfrm>
          <a:prstGeom prst="line">
            <a:avLst/>
          </a:prstGeom>
          <a:ln w="25400" cap="sq" cmpd="sng">
            <a:solidFill>
              <a:schemeClr val="tx1"/>
            </a:solidFill>
            <a:prstDash val="solid"/>
            <a:headEnd type="none" w="med" len="med"/>
            <a:tailEnd type="none" w="med" len="med"/>
          </a:ln>
        </p:spPr>
      </p:sp>
      <p:sp>
        <p:nvSpPr>
          <p:cNvPr id="146442" name="Line 109"/>
          <p:cNvSpPr/>
          <p:nvPr/>
        </p:nvSpPr>
        <p:spPr>
          <a:xfrm>
            <a:off x="6559550" y="6145213"/>
            <a:ext cx="1524000" cy="0"/>
          </a:xfrm>
          <a:prstGeom prst="line">
            <a:avLst/>
          </a:prstGeom>
          <a:ln w="25400" cap="sq" cmpd="sng">
            <a:solidFill>
              <a:schemeClr val="tx1"/>
            </a:solidFill>
            <a:prstDash val="solid"/>
            <a:headEnd type="none" w="med" len="med"/>
            <a:tailEnd type="none" w="med" len="med"/>
          </a:ln>
        </p:spPr>
      </p:sp>
      <p:sp>
        <p:nvSpPr>
          <p:cNvPr id="146443" name="Text Box 110"/>
          <p:cNvSpPr txBox="1"/>
          <p:nvPr/>
        </p:nvSpPr>
        <p:spPr>
          <a:xfrm>
            <a:off x="6864350" y="393541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JMP</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46444" name="Text Box 111"/>
          <p:cNvSpPr txBox="1"/>
          <p:nvPr/>
        </p:nvSpPr>
        <p:spPr>
          <a:xfrm>
            <a:off x="7016750" y="5078413"/>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46445" name="Text Box 113"/>
          <p:cNvSpPr txBox="1"/>
          <p:nvPr/>
        </p:nvSpPr>
        <p:spPr>
          <a:xfrm>
            <a:off x="7016750" y="3421063"/>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46446" name="AutoShape 114"/>
          <p:cNvSpPr/>
          <p:nvPr/>
        </p:nvSpPr>
        <p:spPr>
          <a:xfrm>
            <a:off x="8213725" y="3402013"/>
            <a:ext cx="250825" cy="2925762"/>
          </a:xfrm>
          <a:prstGeom prst="rightBrace">
            <a:avLst>
              <a:gd name="adj1" fmla="val 96448"/>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46447" name="Text Box 115"/>
          <p:cNvSpPr txBox="1"/>
          <p:nvPr/>
        </p:nvSpPr>
        <p:spPr>
          <a:xfrm>
            <a:off x="8574088" y="4311650"/>
            <a:ext cx="461962" cy="10064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代码段</a:t>
            </a:r>
            <a:endParaRPr lang="zh-CN" altLang="en-US" sz="2000" b="1" dirty="0">
              <a:latin typeface="Times New Roman" panose="02020603050405020304" pitchFamily="18" charset="0"/>
              <a:ea typeface="宋体" panose="02010600030101010101" pitchFamily="2" charset="-122"/>
            </a:endParaRPr>
          </a:p>
        </p:txBody>
      </p:sp>
      <p:sp>
        <p:nvSpPr>
          <p:cNvPr id="146448" name="Text Box 116"/>
          <p:cNvSpPr txBox="1"/>
          <p:nvPr/>
        </p:nvSpPr>
        <p:spPr>
          <a:xfrm>
            <a:off x="5591175" y="5715000"/>
            <a:ext cx="1038225"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1200H</a:t>
            </a:r>
            <a:endParaRPr lang="en-US" altLang="zh-CN" sz="2000" b="1" dirty="0">
              <a:latin typeface="Times New Roman" panose="02020603050405020304" pitchFamily="18" charset="0"/>
              <a:ea typeface="宋体" panose="02010600030101010101" pitchFamily="2" charset="-122"/>
            </a:endParaRPr>
          </a:p>
        </p:txBody>
      </p:sp>
      <p:sp>
        <p:nvSpPr>
          <p:cNvPr id="146449" name="Text Box 117"/>
          <p:cNvSpPr txBox="1"/>
          <p:nvPr/>
        </p:nvSpPr>
        <p:spPr>
          <a:xfrm>
            <a:off x="6875463" y="5715000"/>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MOV</a:t>
            </a:r>
            <a:endParaRPr lang="en-US" altLang="zh-CN" sz="2000" b="1" dirty="0">
              <a:solidFill>
                <a:schemeClr val="bg1"/>
              </a:solidFill>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46436">
                                            <p:txEl>
                                              <p:charRg st="0" end="7"/>
                                            </p:txEl>
                                          </p:spTgt>
                                        </p:tgtEl>
                                        <p:attrNameLst>
                                          <p:attrName>style.visibility</p:attrName>
                                        </p:attrNameLst>
                                      </p:cBhvr>
                                      <p:to>
                                        <p:strVal val="visible"/>
                                      </p:to>
                                    </p:set>
                                    <p:animEffect transition="in" filter="wipe(left)">
                                      <p:cBhvr>
                                        <p:cTn id="7" dur="500"/>
                                        <p:tgtEl>
                                          <p:spTgt spid="146436">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6436">
                                            <p:txEl>
                                              <p:charRg st="7" end="30"/>
                                            </p:txEl>
                                          </p:spTgt>
                                        </p:tgtEl>
                                        <p:attrNameLst>
                                          <p:attrName>style.visibility</p:attrName>
                                        </p:attrNameLst>
                                      </p:cBhvr>
                                      <p:to>
                                        <p:strVal val="visible"/>
                                      </p:to>
                                    </p:set>
                                    <p:animEffect transition="in" filter="wipe(left)">
                                      <p:cBhvr>
                                        <p:cTn id="12" dur="500"/>
                                        <p:tgtEl>
                                          <p:spTgt spid="146436">
                                            <p:txEl>
                                              <p:charRg st="7" end="30"/>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46436">
                                            <p:txEl>
                                              <p:charRg st="30" end="40"/>
                                            </p:txEl>
                                          </p:spTgt>
                                        </p:tgtEl>
                                        <p:attrNameLst>
                                          <p:attrName>style.visibility</p:attrName>
                                        </p:attrNameLst>
                                      </p:cBhvr>
                                      <p:to>
                                        <p:strVal val="visible"/>
                                      </p:to>
                                    </p:set>
                                    <p:animEffect transition="in" filter="wipe(left)">
                                      <p:cBhvr>
                                        <p:cTn id="16" dur="500"/>
                                        <p:tgtEl>
                                          <p:spTgt spid="146436">
                                            <p:txEl>
                                              <p:charRg st="30" end="4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46436">
                                            <p:txEl>
                                              <p:charRg st="40" end="44"/>
                                            </p:txEl>
                                          </p:spTgt>
                                        </p:tgtEl>
                                        <p:attrNameLst>
                                          <p:attrName>style.visibility</p:attrName>
                                        </p:attrNameLst>
                                      </p:cBhvr>
                                      <p:to>
                                        <p:strVal val="visible"/>
                                      </p:to>
                                    </p:set>
                                    <p:animEffect transition="in" filter="wipe(left)">
                                      <p:cBhvr>
                                        <p:cTn id="21" dur="500"/>
                                        <p:tgtEl>
                                          <p:spTgt spid="146436">
                                            <p:txEl>
                                              <p:charRg st="40" end="44"/>
                                            </p:txEl>
                                          </p:spTgt>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146436">
                                            <p:txEl>
                                              <p:charRg st="44" end="52"/>
                                            </p:txEl>
                                          </p:spTgt>
                                        </p:tgtEl>
                                        <p:attrNameLst>
                                          <p:attrName>style.visibility</p:attrName>
                                        </p:attrNameLst>
                                      </p:cBhvr>
                                      <p:to>
                                        <p:strVal val="visible"/>
                                      </p:to>
                                    </p:set>
                                    <p:animEffect transition="in" filter="wipe(left)">
                                      <p:cBhvr>
                                        <p:cTn id="25" dur="500"/>
                                        <p:tgtEl>
                                          <p:spTgt spid="146436">
                                            <p:txEl>
                                              <p:charRg st="44" end="5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46436">
                                            <p:txEl>
                                              <p:charRg st="52" end="63"/>
                                            </p:txEl>
                                          </p:spTgt>
                                        </p:tgtEl>
                                        <p:attrNameLst>
                                          <p:attrName>style.visibility</p:attrName>
                                        </p:attrNameLst>
                                      </p:cBhvr>
                                      <p:to>
                                        <p:strVal val="visible"/>
                                      </p:to>
                                    </p:set>
                                    <p:animEffect transition="in" filter="wipe(left)">
                                      <p:cBhvr>
                                        <p:cTn id="30" dur="500"/>
                                        <p:tgtEl>
                                          <p:spTgt spid="146436">
                                            <p:txEl>
                                              <p:charRg st="52" end="6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46436">
                                            <p:txEl>
                                              <p:charRg st="63" end="79"/>
                                            </p:txEl>
                                          </p:spTgt>
                                        </p:tgtEl>
                                        <p:attrNameLst>
                                          <p:attrName>style.visibility</p:attrName>
                                        </p:attrNameLst>
                                      </p:cBhvr>
                                      <p:to>
                                        <p:strVal val="visible"/>
                                      </p:to>
                                    </p:set>
                                    <p:animEffect transition="in" filter="wipe(left)">
                                      <p:cBhvr>
                                        <p:cTn id="35" dur="500"/>
                                        <p:tgtEl>
                                          <p:spTgt spid="146436">
                                            <p:txEl>
                                              <p:charRg st="63" end="7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46437"/>
                                        </p:tgtEl>
                                        <p:attrNameLst>
                                          <p:attrName>style.visibility</p:attrName>
                                        </p:attrNameLst>
                                      </p:cBhvr>
                                      <p:to>
                                        <p:strVal val="visible"/>
                                      </p:to>
                                    </p:set>
                                    <p:anim calcmode="lin" valueType="num">
                                      <p:cBhvr>
                                        <p:cTn id="40" dur="500" fill="hold"/>
                                        <p:tgtEl>
                                          <p:spTgt spid="146437"/>
                                        </p:tgtEl>
                                        <p:attrNameLst>
                                          <p:attrName>ppt_x</p:attrName>
                                        </p:attrNameLst>
                                      </p:cBhvr>
                                      <p:tavLst>
                                        <p:tav tm="0">
                                          <p:val>
                                            <p:strVal val="#ppt_x"/>
                                          </p:val>
                                        </p:tav>
                                        <p:tav tm="100000">
                                          <p:val>
                                            <p:strVal val="#ppt_x"/>
                                          </p:val>
                                        </p:tav>
                                      </p:tavLst>
                                    </p:anim>
                                    <p:anim calcmode="lin" valueType="num">
                                      <p:cBhvr>
                                        <p:cTn id="41" dur="500" fill="hold"/>
                                        <p:tgtEl>
                                          <p:spTgt spid="146437"/>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146438"/>
                                        </p:tgtEl>
                                        <p:attrNameLst>
                                          <p:attrName>style.visibility</p:attrName>
                                        </p:attrNameLst>
                                      </p:cBhvr>
                                      <p:to>
                                        <p:strVal val="visible"/>
                                      </p:to>
                                    </p:set>
                                    <p:anim calcmode="lin" valueType="num">
                                      <p:cBhvr>
                                        <p:cTn id="44" dur="500" fill="hold"/>
                                        <p:tgtEl>
                                          <p:spTgt spid="146438"/>
                                        </p:tgtEl>
                                        <p:attrNameLst>
                                          <p:attrName>ppt_x</p:attrName>
                                        </p:attrNameLst>
                                      </p:cBhvr>
                                      <p:tavLst>
                                        <p:tav tm="0">
                                          <p:val>
                                            <p:strVal val="#ppt_x"/>
                                          </p:val>
                                        </p:tav>
                                        <p:tav tm="100000">
                                          <p:val>
                                            <p:strVal val="#ppt_x"/>
                                          </p:val>
                                        </p:tav>
                                      </p:tavLst>
                                    </p:anim>
                                    <p:anim calcmode="lin" valueType="num">
                                      <p:cBhvr>
                                        <p:cTn id="45" dur="500" fill="hold"/>
                                        <p:tgtEl>
                                          <p:spTgt spid="146438"/>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146439"/>
                                        </p:tgtEl>
                                        <p:attrNameLst>
                                          <p:attrName>style.visibility</p:attrName>
                                        </p:attrNameLst>
                                      </p:cBhvr>
                                      <p:to>
                                        <p:strVal val="visible"/>
                                      </p:to>
                                    </p:set>
                                    <p:anim calcmode="lin" valueType="num">
                                      <p:cBhvr>
                                        <p:cTn id="48" dur="500" fill="hold"/>
                                        <p:tgtEl>
                                          <p:spTgt spid="146439"/>
                                        </p:tgtEl>
                                        <p:attrNameLst>
                                          <p:attrName>ppt_x</p:attrName>
                                        </p:attrNameLst>
                                      </p:cBhvr>
                                      <p:tavLst>
                                        <p:tav tm="0">
                                          <p:val>
                                            <p:strVal val="#ppt_x"/>
                                          </p:val>
                                        </p:tav>
                                        <p:tav tm="100000">
                                          <p:val>
                                            <p:strVal val="#ppt_x"/>
                                          </p:val>
                                        </p:tav>
                                      </p:tavLst>
                                    </p:anim>
                                    <p:anim calcmode="lin" valueType="num">
                                      <p:cBhvr>
                                        <p:cTn id="49" dur="500" fill="hold"/>
                                        <p:tgtEl>
                                          <p:spTgt spid="146439"/>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146440"/>
                                        </p:tgtEl>
                                        <p:attrNameLst>
                                          <p:attrName>style.visibility</p:attrName>
                                        </p:attrNameLst>
                                      </p:cBhvr>
                                      <p:to>
                                        <p:strVal val="visible"/>
                                      </p:to>
                                    </p:set>
                                    <p:anim calcmode="lin" valueType="num">
                                      <p:cBhvr>
                                        <p:cTn id="52" dur="500" fill="hold"/>
                                        <p:tgtEl>
                                          <p:spTgt spid="146440"/>
                                        </p:tgtEl>
                                        <p:attrNameLst>
                                          <p:attrName>ppt_x</p:attrName>
                                        </p:attrNameLst>
                                      </p:cBhvr>
                                      <p:tavLst>
                                        <p:tav tm="0">
                                          <p:val>
                                            <p:strVal val="#ppt_x"/>
                                          </p:val>
                                        </p:tav>
                                        <p:tav tm="100000">
                                          <p:val>
                                            <p:strVal val="#ppt_x"/>
                                          </p:val>
                                        </p:tav>
                                      </p:tavLst>
                                    </p:anim>
                                    <p:anim calcmode="lin" valueType="num">
                                      <p:cBhvr>
                                        <p:cTn id="53" dur="500" fill="hold"/>
                                        <p:tgtEl>
                                          <p:spTgt spid="146440"/>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0"/>
                                  </p:stCondLst>
                                  <p:childTnLst>
                                    <p:set>
                                      <p:cBhvr>
                                        <p:cTn id="55" dur="1" fill="hold">
                                          <p:stCondLst>
                                            <p:cond delay="0"/>
                                          </p:stCondLst>
                                        </p:cTn>
                                        <p:tgtEl>
                                          <p:spTgt spid="146441"/>
                                        </p:tgtEl>
                                        <p:attrNameLst>
                                          <p:attrName>style.visibility</p:attrName>
                                        </p:attrNameLst>
                                      </p:cBhvr>
                                      <p:to>
                                        <p:strVal val="visible"/>
                                      </p:to>
                                    </p:set>
                                    <p:anim calcmode="lin" valueType="num">
                                      <p:cBhvr>
                                        <p:cTn id="56" dur="500" fill="hold"/>
                                        <p:tgtEl>
                                          <p:spTgt spid="146441"/>
                                        </p:tgtEl>
                                        <p:attrNameLst>
                                          <p:attrName>ppt_x</p:attrName>
                                        </p:attrNameLst>
                                      </p:cBhvr>
                                      <p:tavLst>
                                        <p:tav tm="0">
                                          <p:val>
                                            <p:strVal val="#ppt_x"/>
                                          </p:val>
                                        </p:tav>
                                        <p:tav tm="100000">
                                          <p:val>
                                            <p:strVal val="#ppt_x"/>
                                          </p:val>
                                        </p:tav>
                                      </p:tavLst>
                                    </p:anim>
                                    <p:anim calcmode="lin" valueType="num">
                                      <p:cBhvr>
                                        <p:cTn id="57" dur="500" fill="hold"/>
                                        <p:tgtEl>
                                          <p:spTgt spid="146441"/>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146442"/>
                                        </p:tgtEl>
                                        <p:attrNameLst>
                                          <p:attrName>style.visibility</p:attrName>
                                        </p:attrNameLst>
                                      </p:cBhvr>
                                      <p:to>
                                        <p:strVal val="visible"/>
                                      </p:to>
                                    </p:set>
                                    <p:anim calcmode="lin" valueType="num">
                                      <p:cBhvr>
                                        <p:cTn id="60" dur="500" fill="hold"/>
                                        <p:tgtEl>
                                          <p:spTgt spid="146442"/>
                                        </p:tgtEl>
                                        <p:attrNameLst>
                                          <p:attrName>ppt_x</p:attrName>
                                        </p:attrNameLst>
                                      </p:cBhvr>
                                      <p:tavLst>
                                        <p:tav tm="0">
                                          <p:val>
                                            <p:strVal val="#ppt_x"/>
                                          </p:val>
                                        </p:tav>
                                        <p:tav tm="100000">
                                          <p:val>
                                            <p:strVal val="#ppt_x"/>
                                          </p:val>
                                        </p:tav>
                                      </p:tavLst>
                                    </p:anim>
                                    <p:anim calcmode="lin" valueType="num">
                                      <p:cBhvr>
                                        <p:cTn id="61" dur="500" fill="hold"/>
                                        <p:tgtEl>
                                          <p:spTgt spid="146442"/>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146443"/>
                                        </p:tgtEl>
                                        <p:attrNameLst>
                                          <p:attrName>style.visibility</p:attrName>
                                        </p:attrNameLst>
                                      </p:cBhvr>
                                      <p:to>
                                        <p:strVal val="visible"/>
                                      </p:to>
                                    </p:set>
                                    <p:anim calcmode="lin" valueType="num">
                                      <p:cBhvr>
                                        <p:cTn id="64" dur="500" fill="hold"/>
                                        <p:tgtEl>
                                          <p:spTgt spid="146443"/>
                                        </p:tgtEl>
                                        <p:attrNameLst>
                                          <p:attrName>ppt_x</p:attrName>
                                        </p:attrNameLst>
                                      </p:cBhvr>
                                      <p:tavLst>
                                        <p:tav tm="0">
                                          <p:val>
                                            <p:strVal val="#ppt_x"/>
                                          </p:val>
                                        </p:tav>
                                        <p:tav tm="100000">
                                          <p:val>
                                            <p:strVal val="#ppt_x"/>
                                          </p:val>
                                        </p:tav>
                                      </p:tavLst>
                                    </p:anim>
                                    <p:anim calcmode="lin" valueType="num">
                                      <p:cBhvr>
                                        <p:cTn id="65" dur="500" fill="hold"/>
                                        <p:tgtEl>
                                          <p:spTgt spid="146443"/>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146444"/>
                                        </p:tgtEl>
                                        <p:attrNameLst>
                                          <p:attrName>style.visibility</p:attrName>
                                        </p:attrNameLst>
                                      </p:cBhvr>
                                      <p:to>
                                        <p:strVal val="visible"/>
                                      </p:to>
                                    </p:set>
                                    <p:anim calcmode="lin" valueType="num">
                                      <p:cBhvr>
                                        <p:cTn id="68" dur="500" fill="hold"/>
                                        <p:tgtEl>
                                          <p:spTgt spid="146444"/>
                                        </p:tgtEl>
                                        <p:attrNameLst>
                                          <p:attrName>ppt_x</p:attrName>
                                        </p:attrNameLst>
                                      </p:cBhvr>
                                      <p:tavLst>
                                        <p:tav tm="0">
                                          <p:val>
                                            <p:strVal val="#ppt_x"/>
                                          </p:val>
                                        </p:tav>
                                        <p:tav tm="100000">
                                          <p:val>
                                            <p:strVal val="#ppt_x"/>
                                          </p:val>
                                        </p:tav>
                                      </p:tavLst>
                                    </p:anim>
                                    <p:anim calcmode="lin" valueType="num">
                                      <p:cBhvr>
                                        <p:cTn id="69" dur="500" fill="hold"/>
                                        <p:tgtEl>
                                          <p:spTgt spid="146444"/>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146445"/>
                                        </p:tgtEl>
                                        <p:attrNameLst>
                                          <p:attrName>style.visibility</p:attrName>
                                        </p:attrNameLst>
                                      </p:cBhvr>
                                      <p:to>
                                        <p:strVal val="visible"/>
                                      </p:to>
                                    </p:set>
                                    <p:anim calcmode="lin" valueType="num">
                                      <p:cBhvr>
                                        <p:cTn id="72" dur="500" fill="hold"/>
                                        <p:tgtEl>
                                          <p:spTgt spid="146445"/>
                                        </p:tgtEl>
                                        <p:attrNameLst>
                                          <p:attrName>ppt_x</p:attrName>
                                        </p:attrNameLst>
                                      </p:cBhvr>
                                      <p:tavLst>
                                        <p:tav tm="0">
                                          <p:val>
                                            <p:strVal val="#ppt_x"/>
                                          </p:val>
                                        </p:tav>
                                        <p:tav tm="100000">
                                          <p:val>
                                            <p:strVal val="#ppt_x"/>
                                          </p:val>
                                        </p:tav>
                                      </p:tavLst>
                                    </p:anim>
                                    <p:anim calcmode="lin" valueType="num">
                                      <p:cBhvr>
                                        <p:cTn id="73" dur="500" fill="hold"/>
                                        <p:tgtEl>
                                          <p:spTgt spid="146445"/>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146446"/>
                                        </p:tgtEl>
                                        <p:attrNameLst>
                                          <p:attrName>style.visibility</p:attrName>
                                        </p:attrNameLst>
                                      </p:cBhvr>
                                      <p:to>
                                        <p:strVal val="visible"/>
                                      </p:to>
                                    </p:set>
                                    <p:anim calcmode="lin" valueType="num">
                                      <p:cBhvr>
                                        <p:cTn id="76" dur="500" fill="hold"/>
                                        <p:tgtEl>
                                          <p:spTgt spid="146446"/>
                                        </p:tgtEl>
                                        <p:attrNameLst>
                                          <p:attrName>ppt_x</p:attrName>
                                        </p:attrNameLst>
                                      </p:cBhvr>
                                      <p:tavLst>
                                        <p:tav tm="0">
                                          <p:val>
                                            <p:strVal val="#ppt_x"/>
                                          </p:val>
                                        </p:tav>
                                        <p:tav tm="100000">
                                          <p:val>
                                            <p:strVal val="#ppt_x"/>
                                          </p:val>
                                        </p:tav>
                                      </p:tavLst>
                                    </p:anim>
                                    <p:anim calcmode="lin" valueType="num">
                                      <p:cBhvr>
                                        <p:cTn id="77" dur="500" fill="hold"/>
                                        <p:tgtEl>
                                          <p:spTgt spid="146446"/>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146447"/>
                                        </p:tgtEl>
                                        <p:attrNameLst>
                                          <p:attrName>style.visibility</p:attrName>
                                        </p:attrNameLst>
                                      </p:cBhvr>
                                      <p:to>
                                        <p:strVal val="visible"/>
                                      </p:to>
                                    </p:set>
                                    <p:anim calcmode="lin" valueType="num">
                                      <p:cBhvr>
                                        <p:cTn id="80" dur="500" fill="hold"/>
                                        <p:tgtEl>
                                          <p:spTgt spid="146447"/>
                                        </p:tgtEl>
                                        <p:attrNameLst>
                                          <p:attrName>ppt_x</p:attrName>
                                        </p:attrNameLst>
                                      </p:cBhvr>
                                      <p:tavLst>
                                        <p:tav tm="0">
                                          <p:val>
                                            <p:strVal val="#ppt_x"/>
                                          </p:val>
                                        </p:tav>
                                        <p:tav tm="100000">
                                          <p:val>
                                            <p:strVal val="#ppt_x"/>
                                          </p:val>
                                        </p:tav>
                                      </p:tavLst>
                                    </p:anim>
                                    <p:anim calcmode="lin" valueType="num">
                                      <p:cBhvr>
                                        <p:cTn id="81" dur="500" fill="hold"/>
                                        <p:tgtEl>
                                          <p:spTgt spid="146447"/>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55" presetClass="entr" presetSubtype="0" fill="hold" grpId="0" nodeType="clickEffect">
                                  <p:stCondLst>
                                    <p:cond delay="0"/>
                                  </p:stCondLst>
                                  <p:childTnLst>
                                    <p:set>
                                      <p:cBhvr>
                                        <p:cTn id="85" dur="1" fill="hold">
                                          <p:stCondLst>
                                            <p:cond delay="0"/>
                                          </p:stCondLst>
                                        </p:cTn>
                                        <p:tgtEl>
                                          <p:spTgt spid="146448"/>
                                        </p:tgtEl>
                                        <p:attrNameLst>
                                          <p:attrName>style.visibility</p:attrName>
                                        </p:attrNameLst>
                                      </p:cBhvr>
                                      <p:to>
                                        <p:strVal val="visible"/>
                                      </p:to>
                                    </p:set>
                                    <p:anim calcmode="lin" valueType="num">
                                      <p:cBhvr>
                                        <p:cTn id="86" dur="1000" fill="hold"/>
                                        <p:tgtEl>
                                          <p:spTgt spid="146448"/>
                                        </p:tgtEl>
                                        <p:attrNameLst>
                                          <p:attrName>ppt_w</p:attrName>
                                        </p:attrNameLst>
                                      </p:cBhvr>
                                      <p:tavLst>
                                        <p:tav tm="0">
                                          <p:val>
                                            <p:strVal val="#ppt_w*0.70"/>
                                          </p:val>
                                        </p:tav>
                                        <p:tav tm="100000">
                                          <p:val>
                                            <p:strVal val="#ppt_w"/>
                                          </p:val>
                                        </p:tav>
                                      </p:tavLst>
                                    </p:anim>
                                    <p:anim calcmode="lin" valueType="num">
                                      <p:cBhvr>
                                        <p:cTn id="87" dur="1000" fill="hold"/>
                                        <p:tgtEl>
                                          <p:spTgt spid="146448"/>
                                        </p:tgtEl>
                                        <p:attrNameLst>
                                          <p:attrName>ppt_h</p:attrName>
                                        </p:attrNameLst>
                                      </p:cBhvr>
                                      <p:tavLst>
                                        <p:tav tm="0">
                                          <p:val>
                                            <p:strVal val="#ppt_h"/>
                                          </p:val>
                                        </p:tav>
                                        <p:tav tm="100000">
                                          <p:val>
                                            <p:strVal val="#ppt_h"/>
                                          </p:val>
                                        </p:tav>
                                      </p:tavLst>
                                    </p:anim>
                                    <p:animEffect transition="in" filter="fade">
                                      <p:cBhvr>
                                        <p:cTn id="88" dur="1000"/>
                                        <p:tgtEl>
                                          <p:spTgt spid="146448"/>
                                        </p:tgtEl>
                                      </p:cBhvr>
                                    </p:animEffect>
                                  </p:childTnLst>
                                </p:cTn>
                              </p:par>
                            </p:childTnLst>
                          </p:cTn>
                        </p:par>
                        <p:par>
                          <p:cTn id="89" fill="hold">
                            <p:stCondLst>
                              <p:cond delay="1000"/>
                            </p:stCondLst>
                            <p:childTnLst>
                              <p:par>
                                <p:cTn id="90" presetID="3" presetClass="entr" presetSubtype="10" fill="hold" grpId="0" nodeType="afterEffect">
                                  <p:stCondLst>
                                    <p:cond delay="500"/>
                                  </p:stCondLst>
                                  <p:childTnLst>
                                    <p:set>
                                      <p:cBhvr>
                                        <p:cTn id="91" dur="1" fill="hold">
                                          <p:stCondLst>
                                            <p:cond delay="0"/>
                                          </p:stCondLst>
                                        </p:cTn>
                                        <p:tgtEl>
                                          <p:spTgt spid="146449"/>
                                        </p:tgtEl>
                                        <p:attrNameLst>
                                          <p:attrName>style.visibility</p:attrName>
                                        </p:attrNameLst>
                                      </p:cBhvr>
                                      <p:to>
                                        <p:strVal val="visible"/>
                                      </p:to>
                                    </p:set>
                                    <p:animEffect transition="in" filter="blinds(horizontal)">
                                      <p:cBhvr>
                                        <p:cTn id="92" dur="500"/>
                                        <p:tgtEl>
                                          <p:spTgt spid="1464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7" grpId="0" animBg="1"/>
      <p:bldP spid="146443" grpId="0"/>
      <p:bldP spid="146444" grpId="0"/>
      <p:bldP spid="146445" grpId="0"/>
      <p:bldP spid="146446" grpId="0" animBg="1"/>
      <p:bldP spid="146447" grpId="0"/>
      <p:bldP spid="146448" grpId="0"/>
      <p:bldP spid="146449"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2"/>
          <p:cNvSpPr>
            <a:spLocks noGrp="1"/>
          </p:cNvSpPr>
          <p:nvPr>
            <p:ph type="title" idx="4294967295"/>
          </p:nvPr>
        </p:nvSpPr>
        <p:spPr>
          <a:xfrm>
            <a:off x="725488" y="1079500"/>
            <a:ext cx="1225550" cy="563563"/>
          </a:xfrm>
        </p:spPr>
        <p:txBody>
          <a:bodyPr vert="horz" wrap="square" lIns="91440" tIns="45720" rIns="91440" bIns="45720" anchor="ctr" anchorCtr="0"/>
          <a:p>
            <a:pPr eaLnBrk="1" hangingPunct="1"/>
            <a:r>
              <a:rPr lang="en-US" altLang="zh-CN" dirty="0">
                <a:solidFill>
                  <a:srgbClr val="000033"/>
                </a:solidFill>
                <a:ea typeface="宋体" panose="02010600030101010101" pitchFamily="2" charset="-122"/>
              </a:rPr>
              <a:t>【</a:t>
            </a:r>
            <a:r>
              <a:rPr lang="zh-CN" altLang="en-US" dirty="0">
                <a:solidFill>
                  <a:srgbClr val="000033"/>
                </a:solidFill>
                <a:ea typeface="宋体" panose="02010600030101010101" pitchFamily="2" charset="-122"/>
              </a:rPr>
              <a:t>例</a:t>
            </a:r>
            <a:r>
              <a:rPr lang="en-US" altLang="zh-CN" dirty="0">
                <a:solidFill>
                  <a:srgbClr val="000033"/>
                </a:solidFill>
                <a:ea typeface="宋体" panose="02010600030101010101" pitchFamily="2" charset="-122"/>
              </a:rPr>
              <a:t>】</a:t>
            </a:r>
            <a:endParaRPr lang="en-US" altLang="zh-CN" dirty="0">
              <a:solidFill>
                <a:srgbClr val="000033"/>
              </a:solidFill>
              <a:ea typeface="宋体" panose="02010600030101010101" pitchFamily="2" charset="-122"/>
            </a:endParaRPr>
          </a:p>
        </p:txBody>
      </p:sp>
      <p:sp>
        <p:nvSpPr>
          <p:cNvPr id="147459" name="Rectangle 3"/>
          <p:cNvSpPr>
            <a:spLocks noGrp="1"/>
          </p:cNvSpPr>
          <p:nvPr>
            <p:ph type="body" idx="4294967295"/>
          </p:nvPr>
        </p:nvSpPr>
        <p:spPr>
          <a:xfrm>
            <a:off x="1193800" y="1743075"/>
            <a:ext cx="2952750" cy="1042988"/>
          </a:xfrm>
        </p:spPr>
        <p:txBody>
          <a:bodyPr vert="horz" wrap="square" lIns="91440" tIns="45720" rIns="91440" bIns="45720" anchor="t" anchorCtr="0"/>
          <a:p>
            <a:pPr marL="0" indent="0" eaLnBrk="1" hangingPunct="1">
              <a:lnSpc>
                <a:spcPct val="115000"/>
              </a:lnSpc>
              <a:buNone/>
            </a:pPr>
            <a:r>
              <a:rPr lang="en-US" altLang="zh-CN" sz="2400" dirty="0">
                <a:latin typeface="宋体" panose="02010600030101010101" pitchFamily="2" charset="-122"/>
                <a:ea typeface="宋体" panose="02010600030101010101" pitchFamily="2" charset="-122"/>
              </a:rPr>
              <a:t>JMP WORD  PTR[BX]</a:t>
            </a:r>
            <a:endParaRPr lang="zh-CN" altLang="en-US" sz="2400" dirty="0">
              <a:latin typeface="宋体" panose="02010600030101010101" pitchFamily="2" charset="-122"/>
              <a:ea typeface="宋体" panose="02010600030101010101" pitchFamily="2" charset="-122"/>
            </a:endParaRPr>
          </a:p>
          <a:p>
            <a:pPr marL="0" indent="0" eaLnBrk="1" hangingPunct="1">
              <a:lnSpc>
                <a:spcPct val="115000"/>
              </a:lnSpc>
              <a:buNone/>
            </a:pPr>
            <a:r>
              <a:rPr lang="zh-CN" altLang="en-US" sz="2400" dirty="0">
                <a:latin typeface="宋体" panose="02010600030101010101" pitchFamily="2" charset="-122"/>
                <a:ea typeface="宋体" panose="02010600030101010101" pitchFamily="2" charset="-122"/>
              </a:rPr>
              <a:t>设：</a:t>
            </a:r>
            <a:r>
              <a:rPr lang="en-US" altLang="zh-CN" sz="2400" dirty="0">
                <a:latin typeface="宋体" panose="02010600030101010101" pitchFamily="2" charset="-122"/>
                <a:ea typeface="宋体" panose="02010600030101010101" pitchFamily="2" charset="-122"/>
              </a:rPr>
              <a:t>BX=1200H</a:t>
            </a:r>
            <a:endParaRPr lang="en-US" altLang="zh-CN" sz="2400" dirty="0">
              <a:latin typeface="宋体" panose="02010600030101010101" pitchFamily="2" charset="-122"/>
              <a:ea typeface="宋体" panose="02010600030101010101" pitchFamily="2" charset="-122"/>
            </a:endParaRPr>
          </a:p>
        </p:txBody>
      </p:sp>
      <p:sp>
        <p:nvSpPr>
          <p:cNvPr id="147460" name="Rectangle 4"/>
          <p:cNvSpPr/>
          <p:nvPr/>
        </p:nvSpPr>
        <p:spPr>
          <a:xfrm>
            <a:off x="6054725" y="1958975"/>
            <a:ext cx="1524000" cy="4681538"/>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47461" name="Line 5"/>
          <p:cNvSpPr/>
          <p:nvPr/>
        </p:nvSpPr>
        <p:spPr>
          <a:xfrm>
            <a:off x="6054725" y="2449513"/>
            <a:ext cx="1524000" cy="0"/>
          </a:xfrm>
          <a:prstGeom prst="line">
            <a:avLst/>
          </a:prstGeom>
          <a:ln w="25400" cap="sq" cmpd="sng">
            <a:solidFill>
              <a:schemeClr val="tx1"/>
            </a:solidFill>
            <a:prstDash val="solid"/>
            <a:headEnd type="none" w="med" len="med"/>
            <a:tailEnd type="none" w="med" len="med"/>
          </a:ln>
        </p:spPr>
      </p:sp>
      <p:sp>
        <p:nvSpPr>
          <p:cNvPr id="147462" name="Line 6"/>
          <p:cNvSpPr/>
          <p:nvPr/>
        </p:nvSpPr>
        <p:spPr>
          <a:xfrm>
            <a:off x="6054725" y="2887663"/>
            <a:ext cx="1524000" cy="0"/>
          </a:xfrm>
          <a:prstGeom prst="line">
            <a:avLst/>
          </a:prstGeom>
          <a:ln w="25400" cap="sq" cmpd="sng">
            <a:solidFill>
              <a:schemeClr val="tx1"/>
            </a:solidFill>
            <a:prstDash val="solid"/>
            <a:headEnd type="none" w="med" len="med"/>
            <a:tailEnd type="none" w="med" len="med"/>
          </a:ln>
        </p:spPr>
      </p:sp>
      <p:sp>
        <p:nvSpPr>
          <p:cNvPr id="147463" name="Line 7"/>
          <p:cNvSpPr/>
          <p:nvPr/>
        </p:nvSpPr>
        <p:spPr>
          <a:xfrm>
            <a:off x="6054725" y="3287713"/>
            <a:ext cx="1524000" cy="0"/>
          </a:xfrm>
          <a:prstGeom prst="line">
            <a:avLst/>
          </a:prstGeom>
          <a:ln w="25400" cap="sq" cmpd="sng">
            <a:solidFill>
              <a:schemeClr val="tx1"/>
            </a:solidFill>
            <a:prstDash val="solid"/>
            <a:headEnd type="none" w="med" len="med"/>
            <a:tailEnd type="none" w="med" len="med"/>
          </a:ln>
        </p:spPr>
      </p:sp>
      <p:sp>
        <p:nvSpPr>
          <p:cNvPr id="147464" name="Line 8"/>
          <p:cNvSpPr/>
          <p:nvPr/>
        </p:nvSpPr>
        <p:spPr>
          <a:xfrm>
            <a:off x="6054725" y="3897313"/>
            <a:ext cx="1524000" cy="0"/>
          </a:xfrm>
          <a:prstGeom prst="line">
            <a:avLst/>
          </a:prstGeom>
          <a:ln w="25400" cap="sq" cmpd="sng">
            <a:solidFill>
              <a:schemeClr val="tx1"/>
            </a:solidFill>
            <a:prstDash val="solid"/>
            <a:headEnd type="none" w="med" len="med"/>
            <a:tailEnd type="none" w="med" len="med"/>
          </a:ln>
        </p:spPr>
      </p:sp>
      <p:sp>
        <p:nvSpPr>
          <p:cNvPr id="147465" name="Line 9"/>
          <p:cNvSpPr/>
          <p:nvPr/>
        </p:nvSpPr>
        <p:spPr>
          <a:xfrm>
            <a:off x="6054725" y="5345113"/>
            <a:ext cx="1524000" cy="0"/>
          </a:xfrm>
          <a:prstGeom prst="line">
            <a:avLst/>
          </a:prstGeom>
          <a:ln w="25400" cap="sq" cmpd="sng">
            <a:solidFill>
              <a:schemeClr val="tx1"/>
            </a:solidFill>
            <a:prstDash val="solid"/>
            <a:headEnd type="none" w="med" len="med"/>
            <a:tailEnd type="none" w="med" len="med"/>
          </a:ln>
        </p:spPr>
      </p:sp>
      <p:sp>
        <p:nvSpPr>
          <p:cNvPr id="147466" name="Text Box 10"/>
          <p:cNvSpPr txBox="1"/>
          <p:nvPr/>
        </p:nvSpPr>
        <p:spPr>
          <a:xfrm>
            <a:off x="6359525" y="244951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JMP</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47467" name="Text Box 11"/>
          <p:cNvSpPr txBox="1"/>
          <p:nvPr/>
        </p:nvSpPr>
        <p:spPr>
          <a:xfrm>
            <a:off x="6559550" y="3363913"/>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47468" name="Text Box 12"/>
          <p:cNvSpPr txBox="1"/>
          <p:nvPr/>
        </p:nvSpPr>
        <p:spPr>
          <a:xfrm>
            <a:off x="6554788" y="4811713"/>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47469" name="Text Box 13"/>
          <p:cNvSpPr txBox="1"/>
          <p:nvPr/>
        </p:nvSpPr>
        <p:spPr>
          <a:xfrm>
            <a:off x="6588125" y="1916113"/>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47470" name="AutoShape 14"/>
          <p:cNvSpPr/>
          <p:nvPr/>
        </p:nvSpPr>
        <p:spPr>
          <a:xfrm>
            <a:off x="7731125" y="2103438"/>
            <a:ext cx="304800" cy="2708275"/>
          </a:xfrm>
          <a:prstGeom prst="rightBrace">
            <a:avLst>
              <a:gd name="adj1" fmla="val 73469"/>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47471" name="Text Box 15"/>
          <p:cNvSpPr txBox="1"/>
          <p:nvPr/>
        </p:nvSpPr>
        <p:spPr>
          <a:xfrm>
            <a:off x="8112125" y="2786063"/>
            <a:ext cx="533400" cy="10064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代码段</a:t>
            </a:r>
            <a:endParaRPr lang="zh-CN" altLang="en-US" sz="2000" b="1" dirty="0">
              <a:latin typeface="Times New Roman" panose="02020603050405020304" pitchFamily="18" charset="0"/>
              <a:ea typeface="宋体" panose="02010600030101010101" pitchFamily="2" charset="-122"/>
            </a:endParaRPr>
          </a:p>
        </p:txBody>
      </p:sp>
      <p:sp>
        <p:nvSpPr>
          <p:cNvPr id="147472" name="Line 16"/>
          <p:cNvSpPr/>
          <p:nvPr/>
        </p:nvSpPr>
        <p:spPr>
          <a:xfrm>
            <a:off x="6054725" y="5726113"/>
            <a:ext cx="1524000" cy="0"/>
          </a:xfrm>
          <a:prstGeom prst="line">
            <a:avLst/>
          </a:prstGeom>
          <a:ln w="25400" cap="sq" cmpd="sng">
            <a:solidFill>
              <a:schemeClr val="tx1"/>
            </a:solidFill>
            <a:prstDash val="solid"/>
            <a:headEnd type="none" w="med" len="med"/>
            <a:tailEnd type="none" w="med" len="med"/>
          </a:ln>
        </p:spPr>
      </p:sp>
      <p:sp>
        <p:nvSpPr>
          <p:cNvPr id="147473" name="AutoShape 17"/>
          <p:cNvSpPr/>
          <p:nvPr/>
        </p:nvSpPr>
        <p:spPr>
          <a:xfrm>
            <a:off x="7731125" y="5116513"/>
            <a:ext cx="228600" cy="1219200"/>
          </a:xfrm>
          <a:prstGeom prst="rightBrace">
            <a:avLst>
              <a:gd name="adj1" fmla="val 44098"/>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47474" name="Text Box 18"/>
          <p:cNvSpPr txBox="1"/>
          <p:nvPr/>
        </p:nvSpPr>
        <p:spPr>
          <a:xfrm>
            <a:off x="8069263" y="5192713"/>
            <a:ext cx="461962" cy="10064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solidFill>
                  <a:srgbClr val="FF0000"/>
                </a:solidFill>
                <a:latin typeface="Times New Roman" panose="02020603050405020304" pitchFamily="18" charset="0"/>
                <a:ea typeface="宋体" panose="02010600030101010101" pitchFamily="2" charset="-122"/>
              </a:rPr>
              <a:t>数据段</a:t>
            </a:r>
            <a:endParaRPr lang="zh-CN" altLang="en-US" sz="2000" b="1" dirty="0">
              <a:solidFill>
                <a:srgbClr val="FF0000"/>
              </a:solidFill>
              <a:latin typeface="Times New Roman" panose="02020603050405020304" pitchFamily="18" charset="0"/>
              <a:ea typeface="宋体" panose="02010600030101010101" pitchFamily="2" charset="-122"/>
            </a:endParaRPr>
          </a:p>
        </p:txBody>
      </p:sp>
      <p:sp>
        <p:nvSpPr>
          <p:cNvPr id="147475" name="Text Box 19"/>
          <p:cNvSpPr txBox="1"/>
          <p:nvPr/>
        </p:nvSpPr>
        <p:spPr>
          <a:xfrm>
            <a:off x="4225925" y="5162550"/>
            <a:ext cx="1222375"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BX=1200</a:t>
            </a:r>
            <a:endParaRPr lang="en-US" altLang="zh-CN" sz="2000" b="1" dirty="0">
              <a:latin typeface="Times New Roman" panose="02020603050405020304" pitchFamily="18" charset="0"/>
              <a:ea typeface="宋体" panose="02010600030101010101" pitchFamily="2" charset="-122"/>
            </a:endParaRPr>
          </a:p>
        </p:txBody>
      </p:sp>
      <p:sp>
        <p:nvSpPr>
          <p:cNvPr id="147476" name="Line 20"/>
          <p:cNvSpPr/>
          <p:nvPr/>
        </p:nvSpPr>
        <p:spPr>
          <a:xfrm>
            <a:off x="5411788" y="5364163"/>
            <a:ext cx="533400" cy="0"/>
          </a:xfrm>
          <a:prstGeom prst="line">
            <a:avLst/>
          </a:prstGeom>
          <a:ln w="25400" cap="sq" cmpd="sng">
            <a:solidFill>
              <a:srgbClr val="FF6600"/>
            </a:solidFill>
            <a:prstDash val="solid"/>
            <a:headEnd type="none" w="med" len="med"/>
            <a:tailEnd type="triangle" w="lg" len="lg"/>
          </a:ln>
        </p:spPr>
      </p:sp>
      <p:sp>
        <p:nvSpPr>
          <p:cNvPr id="147477" name="Line 21"/>
          <p:cNvSpPr/>
          <p:nvPr/>
        </p:nvSpPr>
        <p:spPr>
          <a:xfrm>
            <a:off x="6054725" y="4278313"/>
            <a:ext cx="1524000" cy="0"/>
          </a:xfrm>
          <a:prstGeom prst="line">
            <a:avLst/>
          </a:prstGeom>
          <a:ln w="25400" cap="sq" cmpd="sng">
            <a:solidFill>
              <a:schemeClr val="tx1"/>
            </a:solidFill>
            <a:prstDash val="solid"/>
            <a:headEnd type="none" w="med" len="med"/>
            <a:tailEnd type="none" w="med" len="med"/>
          </a:ln>
        </p:spPr>
      </p:sp>
      <p:sp>
        <p:nvSpPr>
          <p:cNvPr id="147478" name="Line 22"/>
          <p:cNvSpPr/>
          <p:nvPr/>
        </p:nvSpPr>
        <p:spPr>
          <a:xfrm>
            <a:off x="6054725" y="4659313"/>
            <a:ext cx="1524000" cy="0"/>
          </a:xfrm>
          <a:prstGeom prst="line">
            <a:avLst/>
          </a:prstGeom>
          <a:ln w="25400" cap="sq" cmpd="sng">
            <a:solidFill>
              <a:schemeClr val="tx1"/>
            </a:solidFill>
            <a:prstDash val="solid"/>
            <a:headEnd type="none" w="med" len="med"/>
            <a:tailEnd type="none" w="med" len="med"/>
          </a:ln>
        </p:spPr>
      </p:sp>
      <p:sp>
        <p:nvSpPr>
          <p:cNvPr id="147479" name="Line 23"/>
          <p:cNvSpPr/>
          <p:nvPr/>
        </p:nvSpPr>
        <p:spPr>
          <a:xfrm>
            <a:off x="6054725" y="6107113"/>
            <a:ext cx="1524000" cy="0"/>
          </a:xfrm>
          <a:prstGeom prst="line">
            <a:avLst/>
          </a:prstGeom>
          <a:ln w="25400" cap="sq" cmpd="sng">
            <a:solidFill>
              <a:schemeClr val="tx1"/>
            </a:solidFill>
            <a:prstDash val="solid"/>
            <a:headEnd type="none" w="med" len="med"/>
            <a:tailEnd type="none" w="med" len="med"/>
          </a:ln>
        </p:spPr>
      </p:sp>
      <p:sp>
        <p:nvSpPr>
          <p:cNvPr id="147480" name="Text Box 24"/>
          <p:cNvSpPr txBox="1"/>
          <p:nvPr/>
        </p:nvSpPr>
        <p:spPr>
          <a:xfrm>
            <a:off x="6573838" y="6183313"/>
            <a:ext cx="533400" cy="366712"/>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47481" name="Text Box 25"/>
          <p:cNvSpPr txBox="1"/>
          <p:nvPr/>
        </p:nvSpPr>
        <p:spPr>
          <a:xfrm>
            <a:off x="6435725" y="534511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XXH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47482" name="Text Box 26"/>
          <p:cNvSpPr txBox="1"/>
          <p:nvPr/>
        </p:nvSpPr>
        <p:spPr>
          <a:xfrm>
            <a:off x="6435725" y="572611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XXH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47483" name="Line 27"/>
          <p:cNvSpPr/>
          <p:nvPr/>
        </p:nvSpPr>
        <p:spPr>
          <a:xfrm flipH="1">
            <a:off x="1804988" y="5919788"/>
            <a:ext cx="4392612" cy="0"/>
          </a:xfrm>
          <a:prstGeom prst="line">
            <a:avLst/>
          </a:prstGeom>
          <a:ln w="25400" cap="sq" cmpd="sng">
            <a:solidFill>
              <a:srgbClr val="FF6600"/>
            </a:solidFill>
            <a:prstDash val="solid"/>
            <a:headEnd type="none" w="med" len="med"/>
            <a:tailEnd type="none" w="med" len="med"/>
          </a:ln>
        </p:spPr>
      </p:sp>
      <p:sp>
        <p:nvSpPr>
          <p:cNvPr id="147484" name="Line 28"/>
          <p:cNvSpPr/>
          <p:nvPr/>
        </p:nvSpPr>
        <p:spPr>
          <a:xfrm flipH="1">
            <a:off x="2560638" y="5632450"/>
            <a:ext cx="3636962" cy="0"/>
          </a:xfrm>
          <a:prstGeom prst="line">
            <a:avLst/>
          </a:prstGeom>
          <a:ln w="25400" cap="sq" cmpd="sng">
            <a:solidFill>
              <a:srgbClr val="FF6600"/>
            </a:solidFill>
            <a:prstDash val="solid"/>
            <a:headEnd type="none" w="med" len="med"/>
            <a:tailEnd type="none" w="med" len="med"/>
          </a:ln>
        </p:spPr>
      </p:sp>
      <p:sp>
        <p:nvSpPr>
          <p:cNvPr id="147485" name="Line 29"/>
          <p:cNvSpPr/>
          <p:nvPr/>
        </p:nvSpPr>
        <p:spPr>
          <a:xfrm flipV="1">
            <a:off x="2525713" y="4927600"/>
            <a:ext cx="0" cy="704850"/>
          </a:xfrm>
          <a:prstGeom prst="line">
            <a:avLst/>
          </a:prstGeom>
          <a:ln w="25400" cap="sq" cmpd="sng">
            <a:solidFill>
              <a:srgbClr val="FF6600"/>
            </a:solidFill>
            <a:prstDash val="solid"/>
            <a:headEnd type="none" w="med" len="med"/>
            <a:tailEnd type="triangle" w="lg" len="lg"/>
          </a:ln>
        </p:spPr>
      </p:sp>
      <p:sp>
        <p:nvSpPr>
          <p:cNvPr id="147486" name="Line 30"/>
          <p:cNvSpPr/>
          <p:nvPr/>
        </p:nvSpPr>
        <p:spPr>
          <a:xfrm flipH="1" flipV="1">
            <a:off x="1798638" y="4932363"/>
            <a:ext cx="6350" cy="987425"/>
          </a:xfrm>
          <a:prstGeom prst="line">
            <a:avLst/>
          </a:prstGeom>
          <a:ln w="25400" cap="sq" cmpd="sng">
            <a:solidFill>
              <a:srgbClr val="FF6600"/>
            </a:solidFill>
            <a:prstDash val="solid"/>
            <a:headEnd type="none" w="med" len="med"/>
            <a:tailEnd type="triangle" w="lg" len="lg"/>
          </a:ln>
        </p:spPr>
      </p:sp>
      <p:sp>
        <p:nvSpPr>
          <p:cNvPr id="147487" name="Rectangle 31"/>
          <p:cNvSpPr/>
          <p:nvPr/>
        </p:nvSpPr>
        <p:spPr>
          <a:xfrm>
            <a:off x="1417638" y="4394200"/>
            <a:ext cx="1600200" cy="533400"/>
          </a:xfrm>
          <a:prstGeom prst="rect">
            <a:avLst/>
          </a:prstGeom>
          <a:noFill/>
          <a:ln w="25400" cap="sq" cmpd="sng">
            <a:solidFill>
              <a:schemeClr val="tx1"/>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47488" name="Line 32"/>
          <p:cNvSpPr/>
          <p:nvPr/>
        </p:nvSpPr>
        <p:spPr>
          <a:xfrm>
            <a:off x="2179638" y="4394200"/>
            <a:ext cx="0" cy="533400"/>
          </a:xfrm>
          <a:prstGeom prst="line">
            <a:avLst/>
          </a:prstGeom>
          <a:ln w="25400" cap="sq" cmpd="sng">
            <a:solidFill>
              <a:schemeClr val="tx1"/>
            </a:solidFill>
            <a:prstDash val="solid"/>
            <a:headEnd type="none" w="med" len="med"/>
            <a:tailEnd type="none" w="med" len="med"/>
          </a:ln>
        </p:spPr>
      </p:sp>
      <p:sp>
        <p:nvSpPr>
          <p:cNvPr id="147489" name="Text Box 33"/>
          <p:cNvSpPr txBox="1"/>
          <p:nvPr/>
        </p:nvSpPr>
        <p:spPr>
          <a:xfrm>
            <a:off x="1951038" y="4010025"/>
            <a:ext cx="646112"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IP</a:t>
            </a:r>
            <a:endParaRPr lang="en-US" altLang="zh-CN" sz="2000" b="1" dirty="0">
              <a:latin typeface="Times New Roman" panose="02020603050405020304" pitchFamily="18" charset="0"/>
              <a:ea typeface="宋体" panose="02010600030101010101" pitchFamily="2" charset="-122"/>
            </a:endParaRPr>
          </a:p>
        </p:txBody>
      </p:sp>
      <p:sp>
        <p:nvSpPr>
          <p:cNvPr id="147490" name="Line 34"/>
          <p:cNvSpPr/>
          <p:nvPr/>
        </p:nvSpPr>
        <p:spPr>
          <a:xfrm flipV="1">
            <a:off x="2670175" y="4119563"/>
            <a:ext cx="3197225" cy="114300"/>
          </a:xfrm>
          <a:prstGeom prst="line">
            <a:avLst/>
          </a:prstGeom>
          <a:ln w="25400" cap="sq" cmpd="sng">
            <a:solidFill>
              <a:srgbClr val="FF6600"/>
            </a:solidFill>
            <a:prstDash val="solid"/>
            <a:headEnd type="none" w="med" len="med"/>
            <a:tailEnd type="triangle" w="lg" len="lg"/>
          </a:ln>
        </p:spPr>
      </p:sp>
      <p:sp>
        <p:nvSpPr>
          <p:cNvPr id="147491" name="Text Box 35"/>
          <p:cNvSpPr txBox="1"/>
          <p:nvPr/>
        </p:nvSpPr>
        <p:spPr>
          <a:xfrm>
            <a:off x="6283325" y="3881438"/>
            <a:ext cx="12954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solidFill>
                  <a:schemeClr val="bg1"/>
                </a:solidFill>
                <a:latin typeface="Times New Roman" panose="02020603050405020304" pitchFamily="18" charset="0"/>
                <a:ea typeface="宋体" panose="02010600030101010101" pitchFamily="2" charset="-122"/>
              </a:rPr>
              <a:t>指令码</a:t>
            </a:r>
            <a:endParaRPr lang="zh-CN" altLang="en-US" sz="2000" b="1" dirty="0">
              <a:solidFill>
                <a:schemeClr val="bg1"/>
              </a:solidFill>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7459">
                                            <p:txEl>
                                              <p:charRg st="0" end="18"/>
                                            </p:txEl>
                                          </p:spTgt>
                                        </p:tgtEl>
                                        <p:attrNameLst>
                                          <p:attrName>style.visibility</p:attrName>
                                        </p:attrNameLst>
                                      </p:cBhvr>
                                      <p:to>
                                        <p:strVal val="visible"/>
                                      </p:to>
                                    </p:set>
                                    <p:animEffect transition="in" filter="wipe(left)">
                                      <p:cBhvr>
                                        <p:cTn id="7" dur="500"/>
                                        <p:tgtEl>
                                          <p:spTgt spid="147459">
                                            <p:txEl>
                                              <p:charRg st="0" end="18"/>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47459">
                                            <p:txEl>
                                              <p:charRg st="18" end="29"/>
                                            </p:txEl>
                                          </p:spTgt>
                                        </p:tgtEl>
                                        <p:attrNameLst>
                                          <p:attrName>style.visibility</p:attrName>
                                        </p:attrNameLst>
                                      </p:cBhvr>
                                      <p:to>
                                        <p:strVal val="visible"/>
                                      </p:to>
                                    </p:set>
                                    <p:animEffect transition="in" filter="wipe(left)">
                                      <p:cBhvr>
                                        <p:cTn id="11" dur="500"/>
                                        <p:tgtEl>
                                          <p:spTgt spid="147459">
                                            <p:txEl>
                                              <p:charRg st="18" end="29"/>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147460"/>
                                        </p:tgtEl>
                                        <p:attrNameLst>
                                          <p:attrName>style.visibility</p:attrName>
                                        </p:attrNameLst>
                                      </p:cBhvr>
                                      <p:to>
                                        <p:strVal val="visible"/>
                                      </p:to>
                                    </p:set>
                                    <p:anim calcmode="lin" valueType="num">
                                      <p:cBhvr>
                                        <p:cTn id="16" dur="500" fill="hold"/>
                                        <p:tgtEl>
                                          <p:spTgt spid="147460"/>
                                        </p:tgtEl>
                                        <p:attrNameLst>
                                          <p:attrName>ppt_x</p:attrName>
                                        </p:attrNameLst>
                                      </p:cBhvr>
                                      <p:tavLst>
                                        <p:tav tm="0">
                                          <p:val>
                                            <p:strVal val="#ppt_x"/>
                                          </p:val>
                                        </p:tav>
                                        <p:tav tm="100000">
                                          <p:val>
                                            <p:strVal val="#ppt_x"/>
                                          </p:val>
                                        </p:tav>
                                      </p:tavLst>
                                    </p:anim>
                                    <p:anim calcmode="lin" valueType="num">
                                      <p:cBhvr>
                                        <p:cTn id="17" dur="500" fill="hold"/>
                                        <p:tgtEl>
                                          <p:spTgt spid="147460"/>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47461"/>
                                        </p:tgtEl>
                                        <p:attrNameLst>
                                          <p:attrName>style.visibility</p:attrName>
                                        </p:attrNameLst>
                                      </p:cBhvr>
                                      <p:to>
                                        <p:strVal val="visible"/>
                                      </p:to>
                                    </p:set>
                                    <p:anim calcmode="lin" valueType="num">
                                      <p:cBhvr>
                                        <p:cTn id="20" dur="500" fill="hold"/>
                                        <p:tgtEl>
                                          <p:spTgt spid="147461"/>
                                        </p:tgtEl>
                                        <p:attrNameLst>
                                          <p:attrName>ppt_x</p:attrName>
                                        </p:attrNameLst>
                                      </p:cBhvr>
                                      <p:tavLst>
                                        <p:tav tm="0">
                                          <p:val>
                                            <p:strVal val="#ppt_x"/>
                                          </p:val>
                                        </p:tav>
                                        <p:tav tm="100000">
                                          <p:val>
                                            <p:strVal val="#ppt_x"/>
                                          </p:val>
                                        </p:tav>
                                      </p:tavLst>
                                    </p:anim>
                                    <p:anim calcmode="lin" valueType="num">
                                      <p:cBhvr>
                                        <p:cTn id="21" dur="500" fill="hold"/>
                                        <p:tgtEl>
                                          <p:spTgt spid="147461"/>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47462"/>
                                        </p:tgtEl>
                                        <p:attrNameLst>
                                          <p:attrName>style.visibility</p:attrName>
                                        </p:attrNameLst>
                                      </p:cBhvr>
                                      <p:to>
                                        <p:strVal val="visible"/>
                                      </p:to>
                                    </p:set>
                                    <p:anim calcmode="lin" valueType="num">
                                      <p:cBhvr>
                                        <p:cTn id="24" dur="500" fill="hold"/>
                                        <p:tgtEl>
                                          <p:spTgt spid="147462"/>
                                        </p:tgtEl>
                                        <p:attrNameLst>
                                          <p:attrName>ppt_x</p:attrName>
                                        </p:attrNameLst>
                                      </p:cBhvr>
                                      <p:tavLst>
                                        <p:tav tm="0">
                                          <p:val>
                                            <p:strVal val="#ppt_x"/>
                                          </p:val>
                                        </p:tav>
                                        <p:tav tm="100000">
                                          <p:val>
                                            <p:strVal val="#ppt_x"/>
                                          </p:val>
                                        </p:tav>
                                      </p:tavLst>
                                    </p:anim>
                                    <p:anim calcmode="lin" valueType="num">
                                      <p:cBhvr>
                                        <p:cTn id="25" dur="500" fill="hold"/>
                                        <p:tgtEl>
                                          <p:spTgt spid="147462"/>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47463"/>
                                        </p:tgtEl>
                                        <p:attrNameLst>
                                          <p:attrName>style.visibility</p:attrName>
                                        </p:attrNameLst>
                                      </p:cBhvr>
                                      <p:to>
                                        <p:strVal val="visible"/>
                                      </p:to>
                                    </p:set>
                                    <p:anim calcmode="lin" valueType="num">
                                      <p:cBhvr>
                                        <p:cTn id="28" dur="500" fill="hold"/>
                                        <p:tgtEl>
                                          <p:spTgt spid="147463"/>
                                        </p:tgtEl>
                                        <p:attrNameLst>
                                          <p:attrName>ppt_x</p:attrName>
                                        </p:attrNameLst>
                                      </p:cBhvr>
                                      <p:tavLst>
                                        <p:tav tm="0">
                                          <p:val>
                                            <p:strVal val="#ppt_x"/>
                                          </p:val>
                                        </p:tav>
                                        <p:tav tm="100000">
                                          <p:val>
                                            <p:strVal val="#ppt_x"/>
                                          </p:val>
                                        </p:tav>
                                      </p:tavLst>
                                    </p:anim>
                                    <p:anim calcmode="lin" valueType="num">
                                      <p:cBhvr>
                                        <p:cTn id="29" dur="500" fill="hold"/>
                                        <p:tgtEl>
                                          <p:spTgt spid="147463"/>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47464"/>
                                        </p:tgtEl>
                                        <p:attrNameLst>
                                          <p:attrName>style.visibility</p:attrName>
                                        </p:attrNameLst>
                                      </p:cBhvr>
                                      <p:to>
                                        <p:strVal val="visible"/>
                                      </p:to>
                                    </p:set>
                                    <p:anim calcmode="lin" valueType="num">
                                      <p:cBhvr>
                                        <p:cTn id="32" dur="500" fill="hold"/>
                                        <p:tgtEl>
                                          <p:spTgt spid="147464"/>
                                        </p:tgtEl>
                                        <p:attrNameLst>
                                          <p:attrName>ppt_x</p:attrName>
                                        </p:attrNameLst>
                                      </p:cBhvr>
                                      <p:tavLst>
                                        <p:tav tm="0">
                                          <p:val>
                                            <p:strVal val="#ppt_x"/>
                                          </p:val>
                                        </p:tav>
                                        <p:tav tm="100000">
                                          <p:val>
                                            <p:strVal val="#ppt_x"/>
                                          </p:val>
                                        </p:tav>
                                      </p:tavLst>
                                    </p:anim>
                                    <p:anim calcmode="lin" valueType="num">
                                      <p:cBhvr>
                                        <p:cTn id="33" dur="500" fill="hold"/>
                                        <p:tgtEl>
                                          <p:spTgt spid="147464"/>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147465"/>
                                        </p:tgtEl>
                                        <p:attrNameLst>
                                          <p:attrName>style.visibility</p:attrName>
                                        </p:attrNameLst>
                                      </p:cBhvr>
                                      <p:to>
                                        <p:strVal val="visible"/>
                                      </p:to>
                                    </p:set>
                                    <p:anim calcmode="lin" valueType="num">
                                      <p:cBhvr>
                                        <p:cTn id="36" dur="500" fill="hold"/>
                                        <p:tgtEl>
                                          <p:spTgt spid="147465"/>
                                        </p:tgtEl>
                                        <p:attrNameLst>
                                          <p:attrName>ppt_x</p:attrName>
                                        </p:attrNameLst>
                                      </p:cBhvr>
                                      <p:tavLst>
                                        <p:tav tm="0">
                                          <p:val>
                                            <p:strVal val="#ppt_x"/>
                                          </p:val>
                                        </p:tav>
                                        <p:tav tm="100000">
                                          <p:val>
                                            <p:strVal val="#ppt_x"/>
                                          </p:val>
                                        </p:tav>
                                      </p:tavLst>
                                    </p:anim>
                                    <p:anim calcmode="lin" valueType="num">
                                      <p:cBhvr>
                                        <p:cTn id="37" dur="500" fill="hold"/>
                                        <p:tgtEl>
                                          <p:spTgt spid="147465"/>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147466"/>
                                        </p:tgtEl>
                                        <p:attrNameLst>
                                          <p:attrName>style.visibility</p:attrName>
                                        </p:attrNameLst>
                                      </p:cBhvr>
                                      <p:to>
                                        <p:strVal val="visible"/>
                                      </p:to>
                                    </p:set>
                                    <p:anim calcmode="lin" valueType="num">
                                      <p:cBhvr>
                                        <p:cTn id="40" dur="500" fill="hold"/>
                                        <p:tgtEl>
                                          <p:spTgt spid="147466"/>
                                        </p:tgtEl>
                                        <p:attrNameLst>
                                          <p:attrName>ppt_x</p:attrName>
                                        </p:attrNameLst>
                                      </p:cBhvr>
                                      <p:tavLst>
                                        <p:tav tm="0">
                                          <p:val>
                                            <p:strVal val="#ppt_x"/>
                                          </p:val>
                                        </p:tav>
                                        <p:tav tm="100000">
                                          <p:val>
                                            <p:strVal val="#ppt_x"/>
                                          </p:val>
                                        </p:tav>
                                      </p:tavLst>
                                    </p:anim>
                                    <p:anim calcmode="lin" valueType="num">
                                      <p:cBhvr>
                                        <p:cTn id="41" dur="500" fill="hold"/>
                                        <p:tgtEl>
                                          <p:spTgt spid="147466"/>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147467"/>
                                        </p:tgtEl>
                                        <p:attrNameLst>
                                          <p:attrName>style.visibility</p:attrName>
                                        </p:attrNameLst>
                                      </p:cBhvr>
                                      <p:to>
                                        <p:strVal val="visible"/>
                                      </p:to>
                                    </p:set>
                                    <p:anim calcmode="lin" valueType="num">
                                      <p:cBhvr>
                                        <p:cTn id="44" dur="500" fill="hold"/>
                                        <p:tgtEl>
                                          <p:spTgt spid="147467"/>
                                        </p:tgtEl>
                                        <p:attrNameLst>
                                          <p:attrName>ppt_x</p:attrName>
                                        </p:attrNameLst>
                                      </p:cBhvr>
                                      <p:tavLst>
                                        <p:tav tm="0">
                                          <p:val>
                                            <p:strVal val="#ppt_x"/>
                                          </p:val>
                                        </p:tav>
                                        <p:tav tm="100000">
                                          <p:val>
                                            <p:strVal val="#ppt_x"/>
                                          </p:val>
                                        </p:tav>
                                      </p:tavLst>
                                    </p:anim>
                                    <p:anim calcmode="lin" valueType="num">
                                      <p:cBhvr>
                                        <p:cTn id="45" dur="500" fill="hold"/>
                                        <p:tgtEl>
                                          <p:spTgt spid="147467"/>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147468"/>
                                        </p:tgtEl>
                                        <p:attrNameLst>
                                          <p:attrName>style.visibility</p:attrName>
                                        </p:attrNameLst>
                                      </p:cBhvr>
                                      <p:to>
                                        <p:strVal val="visible"/>
                                      </p:to>
                                    </p:set>
                                    <p:anim calcmode="lin" valueType="num">
                                      <p:cBhvr>
                                        <p:cTn id="48" dur="500" fill="hold"/>
                                        <p:tgtEl>
                                          <p:spTgt spid="147468"/>
                                        </p:tgtEl>
                                        <p:attrNameLst>
                                          <p:attrName>ppt_x</p:attrName>
                                        </p:attrNameLst>
                                      </p:cBhvr>
                                      <p:tavLst>
                                        <p:tav tm="0">
                                          <p:val>
                                            <p:strVal val="#ppt_x"/>
                                          </p:val>
                                        </p:tav>
                                        <p:tav tm="100000">
                                          <p:val>
                                            <p:strVal val="#ppt_x"/>
                                          </p:val>
                                        </p:tav>
                                      </p:tavLst>
                                    </p:anim>
                                    <p:anim calcmode="lin" valueType="num">
                                      <p:cBhvr>
                                        <p:cTn id="49" dur="500" fill="hold"/>
                                        <p:tgtEl>
                                          <p:spTgt spid="147468"/>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147469"/>
                                        </p:tgtEl>
                                        <p:attrNameLst>
                                          <p:attrName>style.visibility</p:attrName>
                                        </p:attrNameLst>
                                      </p:cBhvr>
                                      <p:to>
                                        <p:strVal val="visible"/>
                                      </p:to>
                                    </p:set>
                                    <p:anim calcmode="lin" valueType="num">
                                      <p:cBhvr>
                                        <p:cTn id="52" dur="500" fill="hold"/>
                                        <p:tgtEl>
                                          <p:spTgt spid="147469"/>
                                        </p:tgtEl>
                                        <p:attrNameLst>
                                          <p:attrName>ppt_x</p:attrName>
                                        </p:attrNameLst>
                                      </p:cBhvr>
                                      <p:tavLst>
                                        <p:tav tm="0">
                                          <p:val>
                                            <p:strVal val="#ppt_x"/>
                                          </p:val>
                                        </p:tav>
                                        <p:tav tm="100000">
                                          <p:val>
                                            <p:strVal val="#ppt_x"/>
                                          </p:val>
                                        </p:tav>
                                      </p:tavLst>
                                    </p:anim>
                                    <p:anim calcmode="lin" valueType="num">
                                      <p:cBhvr>
                                        <p:cTn id="53" dur="500" fill="hold"/>
                                        <p:tgtEl>
                                          <p:spTgt spid="147469"/>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147470"/>
                                        </p:tgtEl>
                                        <p:attrNameLst>
                                          <p:attrName>style.visibility</p:attrName>
                                        </p:attrNameLst>
                                      </p:cBhvr>
                                      <p:to>
                                        <p:strVal val="visible"/>
                                      </p:to>
                                    </p:set>
                                    <p:anim calcmode="lin" valueType="num">
                                      <p:cBhvr>
                                        <p:cTn id="56" dur="500" fill="hold"/>
                                        <p:tgtEl>
                                          <p:spTgt spid="147470"/>
                                        </p:tgtEl>
                                        <p:attrNameLst>
                                          <p:attrName>ppt_x</p:attrName>
                                        </p:attrNameLst>
                                      </p:cBhvr>
                                      <p:tavLst>
                                        <p:tav tm="0">
                                          <p:val>
                                            <p:strVal val="#ppt_x"/>
                                          </p:val>
                                        </p:tav>
                                        <p:tav tm="100000">
                                          <p:val>
                                            <p:strVal val="#ppt_x"/>
                                          </p:val>
                                        </p:tav>
                                      </p:tavLst>
                                    </p:anim>
                                    <p:anim calcmode="lin" valueType="num">
                                      <p:cBhvr>
                                        <p:cTn id="57" dur="500" fill="hold"/>
                                        <p:tgtEl>
                                          <p:spTgt spid="147470"/>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147471"/>
                                        </p:tgtEl>
                                        <p:attrNameLst>
                                          <p:attrName>style.visibility</p:attrName>
                                        </p:attrNameLst>
                                      </p:cBhvr>
                                      <p:to>
                                        <p:strVal val="visible"/>
                                      </p:to>
                                    </p:set>
                                    <p:anim calcmode="lin" valueType="num">
                                      <p:cBhvr>
                                        <p:cTn id="60" dur="500" fill="hold"/>
                                        <p:tgtEl>
                                          <p:spTgt spid="147471"/>
                                        </p:tgtEl>
                                        <p:attrNameLst>
                                          <p:attrName>ppt_x</p:attrName>
                                        </p:attrNameLst>
                                      </p:cBhvr>
                                      <p:tavLst>
                                        <p:tav tm="0">
                                          <p:val>
                                            <p:strVal val="#ppt_x"/>
                                          </p:val>
                                        </p:tav>
                                        <p:tav tm="100000">
                                          <p:val>
                                            <p:strVal val="#ppt_x"/>
                                          </p:val>
                                        </p:tav>
                                      </p:tavLst>
                                    </p:anim>
                                    <p:anim calcmode="lin" valueType="num">
                                      <p:cBhvr>
                                        <p:cTn id="61" dur="500" fill="hold"/>
                                        <p:tgtEl>
                                          <p:spTgt spid="147471"/>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147472"/>
                                        </p:tgtEl>
                                        <p:attrNameLst>
                                          <p:attrName>style.visibility</p:attrName>
                                        </p:attrNameLst>
                                      </p:cBhvr>
                                      <p:to>
                                        <p:strVal val="visible"/>
                                      </p:to>
                                    </p:set>
                                    <p:anim calcmode="lin" valueType="num">
                                      <p:cBhvr>
                                        <p:cTn id="64" dur="500" fill="hold"/>
                                        <p:tgtEl>
                                          <p:spTgt spid="147472"/>
                                        </p:tgtEl>
                                        <p:attrNameLst>
                                          <p:attrName>ppt_x</p:attrName>
                                        </p:attrNameLst>
                                      </p:cBhvr>
                                      <p:tavLst>
                                        <p:tav tm="0">
                                          <p:val>
                                            <p:strVal val="#ppt_x"/>
                                          </p:val>
                                        </p:tav>
                                        <p:tav tm="100000">
                                          <p:val>
                                            <p:strVal val="#ppt_x"/>
                                          </p:val>
                                        </p:tav>
                                      </p:tavLst>
                                    </p:anim>
                                    <p:anim calcmode="lin" valueType="num">
                                      <p:cBhvr>
                                        <p:cTn id="65" dur="500" fill="hold"/>
                                        <p:tgtEl>
                                          <p:spTgt spid="147472"/>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147473"/>
                                        </p:tgtEl>
                                        <p:attrNameLst>
                                          <p:attrName>style.visibility</p:attrName>
                                        </p:attrNameLst>
                                      </p:cBhvr>
                                      <p:to>
                                        <p:strVal val="visible"/>
                                      </p:to>
                                    </p:set>
                                    <p:anim calcmode="lin" valueType="num">
                                      <p:cBhvr>
                                        <p:cTn id="68" dur="500" fill="hold"/>
                                        <p:tgtEl>
                                          <p:spTgt spid="147473"/>
                                        </p:tgtEl>
                                        <p:attrNameLst>
                                          <p:attrName>ppt_x</p:attrName>
                                        </p:attrNameLst>
                                      </p:cBhvr>
                                      <p:tavLst>
                                        <p:tav tm="0">
                                          <p:val>
                                            <p:strVal val="#ppt_x"/>
                                          </p:val>
                                        </p:tav>
                                        <p:tav tm="100000">
                                          <p:val>
                                            <p:strVal val="#ppt_x"/>
                                          </p:val>
                                        </p:tav>
                                      </p:tavLst>
                                    </p:anim>
                                    <p:anim calcmode="lin" valueType="num">
                                      <p:cBhvr>
                                        <p:cTn id="69" dur="500" fill="hold"/>
                                        <p:tgtEl>
                                          <p:spTgt spid="147473"/>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147474"/>
                                        </p:tgtEl>
                                        <p:attrNameLst>
                                          <p:attrName>style.visibility</p:attrName>
                                        </p:attrNameLst>
                                      </p:cBhvr>
                                      <p:to>
                                        <p:strVal val="visible"/>
                                      </p:to>
                                    </p:set>
                                    <p:anim calcmode="lin" valueType="num">
                                      <p:cBhvr>
                                        <p:cTn id="72" dur="500" fill="hold"/>
                                        <p:tgtEl>
                                          <p:spTgt spid="147474"/>
                                        </p:tgtEl>
                                        <p:attrNameLst>
                                          <p:attrName>ppt_x</p:attrName>
                                        </p:attrNameLst>
                                      </p:cBhvr>
                                      <p:tavLst>
                                        <p:tav tm="0">
                                          <p:val>
                                            <p:strVal val="#ppt_x"/>
                                          </p:val>
                                        </p:tav>
                                        <p:tav tm="100000">
                                          <p:val>
                                            <p:strVal val="#ppt_x"/>
                                          </p:val>
                                        </p:tav>
                                      </p:tavLst>
                                    </p:anim>
                                    <p:anim calcmode="lin" valueType="num">
                                      <p:cBhvr>
                                        <p:cTn id="73" dur="500" fill="hold"/>
                                        <p:tgtEl>
                                          <p:spTgt spid="147474"/>
                                        </p:tgtEl>
                                        <p:attrNameLst>
                                          <p:attrName>ppt_y</p:attrName>
                                        </p:attrNameLst>
                                      </p:cBhvr>
                                      <p:tavLst>
                                        <p:tav tm="0">
                                          <p:val>
                                            <p:strVal val="1+#ppt_h/2"/>
                                          </p:val>
                                        </p:tav>
                                        <p:tav tm="100000">
                                          <p:val>
                                            <p:strVal val="#ppt_y"/>
                                          </p:val>
                                        </p:tav>
                                      </p:tavLst>
                                    </p:anim>
                                  </p:childTnLst>
                                </p:cTn>
                              </p:par>
                              <p:par>
                                <p:cTn id="74" presetID="2" presetClass="entr" presetSubtype="4" fill="hold" nodeType="withEffect">
                                  <p:stCondLst>
                                    <p:cond delay="0"/>
                                  </p:stCondLst>
                                  <p:childTnLst>
                                    <p:set>
                                      <p:cBhvr>
                                        <p:cTn id="75" dur="1" fill="hold">
                                          <p:stCondLst>
                                            <p:cond delay="0"/>
                                          </p:stCondLst>
                                        </p:cTn>
                                        <p:tgtEl>
                                          <p:spTgt spid="147477"/>
                                        </p:tgtEl>
                                        <p:attrNameLst>
                                          <p:attrName>style.visibility</p:attrName>
                                        </p:attrNameLst>
                                      </p:cBhvr>
                                      <p:to>
                                        <p:strVal val="visible"/>
                                      </p:to>
                                    </p:set>
                                    <p:anim calcmode="lin" valueType="num">
                                      <p:cBhvr>
                                        <p:cTn id="76" dur="500" fill="hold"/>
                                        <p:tgtEl>
                                          <p:spTgt spid="147477"/>
                                        </p:tgtEl>
                                        <p:attrNameLst>
                                          <p:attrName>ppt_x</p:attrName>
                                        </p:attrNameLst>
                                      </p:cBhvr>
                                      <p:tavLst>
                                        <p:tav tm="0">
                                          <p:val>
                                            <p:strVal val="#ppt_x"/>
                                          </p:val>
                                        </p:tav>
                                        <p:tav tm="100000">
                                          <p:val>
                                            <p:strVal val="#ppt_x"/>
                                          </p:val>
                                        </p:tav>
                                      </p:tavLst>
                                    </p:anim>
                                    <p:anim calcmode="lin" valueType="num">
                                      <p:cBhvr>
                                        <p:cTn id="77" dur="500" fill="hold"/>
                                        <p:tgtEl>
                                          <p:spTgt spid="147477"/>
                                        </p:tgtEl>
                                        <p:attrNameLst>
                                          <p:attrName>ppt_y</p:attrName>
                                        </p:attrNameLst>
                                      </p:cBhvr>
                                      <p:tavLst>
                                        <p:tav tm="0">
                                          <p:val>
                                            <p:strVal val="1+#ppt_h/2"/>
                                          </p:val>
                                        </p:tav>
                                        <p:tav tm="100000">
                                          <p:val>
                                            <p:strVal val="#ppt_y"/>
                                          </p:val>
                                        </p:tav>
                                      </p:tavLst>
                                    </p:anim>
                                  </p:childTnLst>
                                </p:cTn>
                              </p:par>
                              <p:par>
                                <p:cTn id="78" presetID="2" presetClass="entr" presetSubtype="4" fill="hold" nodeType="withEffect">
                                  <p:stCondLst>
                                    <p:cond delay="0"/>
                                  </p:stCondLst>
                                  <p:childTnLst>
                                    <p:set>
                                      <p:cBhvr>
                                        <p:cTn id="79" dur="1" fill="hold">
                                          <p:stCondLst>
                                            <p:cond delay="0"/>
                                          </p:stCondLst>
                                        </p:cTn>
                                        <p:tgtEl>
                                          <p:spTgt spid="147478"/>
                                        </p:tgtEl>
                                        <p:attrNameLst>
                                          <p:attrName>style.visibility</p:attrName>
                                        </p:attrNameLst>
                                      </p:cBhvr>
                                      <p:to>
                                        <p:strVal val="visible"/>
                                      </p:to>
                                    </p:set>
                                    <p:anim calcmode="lin" valueType="num">
                                      <p:cBhvr>
                                        <p:cTn id="80" dur="500" fill="hold"/>
                                        <p:tgtEl>
                                          <p:spTgt spid="147478"/>
                                        </p:tgtEl>
                                        <p:attrNameLst>
                                          <p:attrName>ppt_x</p:attrName>
                                        </p:attrNameLst>
                                      </p:cBhvr>
                                      <p:tavLst>
                                        <p:tav tm="0">
                                          <p:val>
                                            <p:strVal val="#ppt_x"/>
                                          </p:val>
                                        </p:tav>
                                        <p:tav tm="100000">
                                          <p:val>
                                            <p:strVal val="#ppt_x"/>
                                          </p:val>
                                        </p:tav>
                                      </p:tavLst>
                                    </p:anim>
                                    <p:anim calcmode="lin" valueType="num">
                                      <p:cBhvr>
                                        <p:cTn id="81" dur="500" fill="hold"/>
                                        <p:tgtEl>
                                          <p:spTgt spid="147478"/>
                                        </p:tgtEl>
                                        <p:attrNameLst>
                                          <p:attrName>ppt_y</p:attrName>
                                        </p:attrNameLst>
                                      </p:cBhvr>
                                      <p:tavLst>
                                        <p:tav tm="0">
                                          <p:val>
                                            <p:strVal val="1+#ppt_h/2"/>
                                          </p:val>
                                        </p:tav>
                                        <p:tav tm="100000">
                                          <p:val>
                                            <p:strVal val="#ppt_y"/>
                                          </p:val>
                                        </p:tav>
                                      </p:tavLst>
                                    </p:anim>
                                  </p:childTnLst>
                                </p:cTn>
                              </p:par>
                              <p:par>
                                <p:cTn id="82" presetID="2" presetClass="entr" presetSubtype="4" fill="hold" nodeType="withEffect">
                                  <p:stCondLst>
                                    <p:cond delay="0"/>
                                  </p:stCondLst>
                                  <p:childTnLst>
                                    <p:set>
                                      <p:cBhvr>
                                        <p:cTn id="83" dur="1" fill="hold">
                                          <p:stCondLst>
                                            <p:cond delay="0"/>
                                          </p:stCondLst>
                                        </p:cTn>
                                        <p:tgtEl>
                                          <p:spTgt spid="147479"/>
                                        </p:tgtEl>
                                        <p:attrNameLst>
                                          <p:attrName>style.visibility</p:attrName>
                                        </p:attrNameLst>
                                      </p:cBhvr>
                                      <p:to>
                                        <p:strVal val="visible"/>
                                      </p:to>
                                    </p:set>
                                    <p:anim calcmode="lin" valueType="num">
                                      <p:cBhvr>
                                        <p:cTn id="84" dur="500" fill="hold"/>
                                        <p:tgtEl>
                                          <p:spTgt spid="147479"/>
                                        </p:tgtEl>
                                        <p:attrNameLst>
                                          <p:attrName>ppt_x</p:attrName>
                                        </p:attrNameLst>
                                      </p:cBhvr>
                                      <p:tavLst>
                                        <p:tav tm="0">
                                          <p:val>
                                            <p:strVal val="#ppt_x"/>
                                          </p:val>
                                        </p:tav>
                                        <p:tav tm="100000">
                                          <p:val>
                                            <p:strVal val="#ppt_x"/>
                                          </p:val>
                                        </p:tav>
                                      </p:tavLst>
                                    </p:anim>
                                    <p:anim calcmode="lin" valueType="num">
                                      <p:cBhvr>
                                        <p:cTn id="85" dur="500" fill="hold"/>
                                        <p:tgtEl>
                                          <p:spTgt spid="147479"/>
                                        </p:tgtEl>
                                        <p:attrNameLst>
                                          <p:attrName>ppt_y</p:attrName>
                                        </p:attrNameLst>
                                      </p:cBhvr>
                                      <p:tavLst>
                                        <p:tav tm="0">
                                          <p:val>
                                            <p:strVal val="1+#ppt_h/2"/>
                                          </p:val>
                                        </p:tav>
                                        <p:tav tm="100000">
                                          <p:val>
                                            <p:strVal val="#ppt_y"/>
                                          </p:val>
                                        </p:tav>
                                      </p:tavLst>
                                    </p:anim>
                                  </p:childTnLst>
                                </p:cTn>
                              </p:par>
                              <p:par>
                                <p:cTn id="86" presetID="2" presetClass="entr" presetSubtype="4" fill="hold" grpId="0" nodeType="withEffect">
                                  <p:stCondLst>
                                    <p:cond delay="0"/>
                                  </p:stCondLst>
                                  <p:childTnLst>
                                    <p:set>
                                      <p:cBhvr>
                                        <p:cTn id="87" dur="1" fill="hold">
                                          <p:stCondLst>
                                            <p:cond delay="0"/>
                                          </p:stCondLst>
                                        </p:cTn>
                                        <p:tgtEl>
                                          <p:spTgt spid="147480"/>
                                        </p:tgtEl>
                                        <p:attrNameLst>
                                          <p:attrName>style.visibility</p:attrName>
                                        </p:attrNameLst>
                                      </p:cBhvr>
                                      <p:to>
                                        <p:strVal val="visible"/>
                                      </p:to>
                                    </p:set>
                                    <p:anim calcmode="lin" valueType="num">
                                      <p:cBhvr>
                                        <p:cTn id="88" dur="500" fill="hold"/>
                                        <p:tgtEl>
                                          <p:spTgt spid="147480"/>
                                        </p:tgtEl>
                                        <p:attrNameLst>
                                          <p:attrName>ppt_x</p:attrName>
                                        </p:attrNameLst>
                                      </p:cBhvr>
                                      <p:tavLst>
                                        <p:tav tm="0">
                                          <p:val>
                                            <p:strVal val="#ppt_x"/>
                                          </p:val>
                                        </p:tav>
                                        <p:tav tm="100000">
                                          <p:val>
                                            <p:strVal val="#ppt_x"/>
                                          </p:val>
                                        </p:tav>
                                      </p:tavLst>
                                    </p:anim>
                                    <p:anim calcmode="lin" valueType="num">
                                      <p:cBhvr>
                                        <p:cTn id="89" dur="500" fill="hold"/>
                                        <p:tgtEl>
                                          <p:spTgt spid="147480"/>
                                        </p:tgtEl>
                                        <p:attrNameLst>
                                          <p:attrName>ppt_y</p:attrName>
                                        </p:attrNameLst>
                                      </p:cBhvr>
                                      <p:tavLst>
                                        <p:tav tm="0">
                                          <p:val>
                                            <p:strVal val="1+#ppt_h/2"/>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grpId="0" nodeType="clickEffect">
                                  <p:stCondLst>
                                    <p:cond delay="0"/>
                                  </p:stCondLst>
                                  <p:childTnLst>
                                    <p:set>
                                      <p:cBhvr>
                                        <p:cTn id="93" dur="1" fill="hold">
                                          <p:stCondLst>
                                            <p:cond delay="0"/>
                                          </p:stCondLst>
                                        </p:cTn>
                                        <p:tgtEl>
                                          <p:spTgt spid="147475"/>
                                        </p:tgtEl>
                                        <p:attrNameLst>
                                          <p:attrName>style.visibility</p:attrName>
                                        </p:attrNameLst>
                                      </p:cBhvr>
                                      <p:to>
                                        <p:strVal val="visible"/>
                                      </p:to>
                                    </p:set>
                                    <p:anim calcmode="lin" valueType="num">
                                      <p:cBhvr>
                                        <p:cTn id="94" dur="500" fill="hold"/>
                                        <p:tgtEl>
                                          <p:spTgt spid="147475"/>
                                        </p:tgtEl>
                                        <p:attrNameLst>
                                          <p:attrName>ppt_x</p:attrName>
                                        </p:attrNameLst>
                                      </p:cBhvr>
                                      <p:tavLst>
                                        <p:tav tm="0">
                                          <p:val>
                                            <p:strVal val="#ppt_x"/>
                                          </p:val>
                                        </p:tav>
                                        <p:tav tm="100000">
                                          <p:val>
                                            <p:strVal val="#ppt_x"/>
                                          </p:val>
                                        </p:tav>
                                      </p:tavLst>
                                    </p:anim>
                                    <p:anim calcmode="lin" valueType="num">
                                      <p:cBhvr>
                                        <p:cTn id="95" dur="500" fill="hold"/>
                                        <p:tgtEl>
                                          <p:spTgt spid="147475"/>
                                        </p:tgtEl>
                                        <p:attrNameLst>
                                          <p:attrName>ppt_y</p:attrName>
                                        </p:attrNameLst>
                                      </p:cBhvr>
                                      <p:tavLst>
                                        <p:tav tm="0">
                                          <p:val>
                                            <p:strVal val="1+#ppt_h/2"/>
                                          </p:val>
                                        </p:tav>
                                        <p:tav tm="100000">
                                          <p:val>
                                            <p:strVal val="#ppt_y"/>
                                          </p:val>
                                        </p:tav>
                                      </p:tavLst>
                                    </p:anim>
                                  </p:childTnLst>
                                </p:cTn>
                              </p:par>
                            </p:childTnLst>
                          </p:cTn>
                        </p:par>
                        <p:par>
                          <p:cTn id="96" fill="hold">
                            <p:stCondLst>
                              <p:cond delay="500"/>
                            </p:stCondLst>
                            <p:childTnLst>
                              <p:par>
                                <p:cTn id="97" presetID="22" presetClass="entr" presetSubtype="8" fill="hold" nodeType="afterEffect">
                                  <p:stCondLst>
                                    <p:cond delay="0"/>
                                  </p:stCondLst>
                                  <p:childTnLst>
                                    <p:set>
                                      <p:cBhvr>
                                        <p:cTn id="98" dur="1" fill="hold">
                                          <p:stCondLst>
                                            <p:cond delay="0"/>
                                          </p:stCondLst>
                                        </p:cTn>
                                        <p:tgtEl>
                                          <p:spTgt spid="147476"/>
                                        </p:tgtEl>
                                        <p:attrNameLst>
                                          <p:attrName>style.visibility</p:attrName>
                                        </p:attrNameLst>
                                      </p:cBhvr>
                                      <p:to>
                                        <p:strVal val="visible"/>
                                      </p:to>
                                    </p:set>
                                    <p:animEffect transition="in" filter="wipe(left)">
                                      <p:cBhvr>
                                        <p:cTn id="99" dur="500"/>
                                        <p:tgtEl>
                                          <p:spTgt spid="147476"/>
                                        </p:tgtEl>
                                      </p:cBhvr>
                                    </p:animEffect>
                                  </p:childTnLst>
                                </p:cTn>
                              </p:par>
                            </p:childTnLst>
                          </p:cTn>
                        </p:par>
                      </p:childTnLst>
                    </p:cTn>
                  </p:par>
                  <p:par>
                    <p:cTn id="100" fill="hold">
                      <p:stCondLst>
                        <p:cond delay="indefinite"/>
                      </p:stCondLst>
                      <p:childTnLst>
                        <p:par>
                          <p:cTn id="101" fill="hold">
                            <p:stCondLst>
                              <p:cond delay="0"/>
                            </p:stCondLst>
                            <p:childTnLst>
                              <p:par>
                                <p:cTn id="102" presetID="18" presetClass="entr" presetSubtype="6" fill="hold" grpId="0" nodeType="clickEffect">
                                  <p:stCondLst>
                                    <p:cond delay="0"/>
                                  </p:stCondLst>
                                  <p:childTnLst>
                                    <p:set>
                                      <p:cBhvr>
                                        <p:cTn id="103" dur="1" fill="hold">
                                          <p:stCondLst>
                                            <p:cond delay="0"/>
                                          </p:stCondLst>
                                        </p:cTn>
                                        <p:tgtEl>
                                          <p:spTgt spid="147481"/>
                                        </p:tgtEl>
                                        <p:attrNameLst>
                                          <p:attrName>style.visibility</p:attrName>
                                        </p:attrNameLst>
                                      </p:cBhvr>
                                      <p:to>
                                        <p:strVal val="visible"/>
                                      </p:to>
                                    </p:set>
                                    <p:animEffect transition="in" filter="strips(downRight)">
                                      <p:cBhvr>
                                        <p:cTn id="104" dur="500"/>
                                        <p:tgtEl>
                                          <p:spTgt spid="147481"/>
                                        </p:tgtEl>
                                      </p:cBhvr>
                                    </p:animEffect>
                                  </p:childTnLst>
                                </p:cTn>
                              </p:par>
                            </p:childTnLst>
                          </p:cTn>
                        </p:par>
                        <p:par>
                          <p:cTn id="105" fill="hold">
                            <p:stCondLst>
                              <p:cond delay="500"/>
                            </p:stCondLst>
                            <p:childTnLst>
                              <p:par>
                                <p:cTn id="106" presetID="18" presetClass="entr" presetSubtype="6" fill="hold" grpId="0" nodeType="afterEffect">
                                  <p:stCondLst>
                                    <p:cond delay="0"/>
                                  </p:stCondLst>
                                  <p:childTnLst>
                                    <p:set>
                                      <p:cBhvr>
                                        <p:cTn id="107" dur="1" fill="hold">
                                          <p:stCondLst>
                                            <p:cond delay="0"/>
                                          </p:stCondLst>
                                        </p:cTn>
                                        <p:tgtEl>
                                          <p:spTgt spid="147482"/>
                                        </p:tgtEl>
                                        <p:attrNameLst>
                                          <p:attrName>style.visibility</p:attrName>
                                        </p:attrNameLst>
                                      </p:cBhvr>
                                      <p:to>
                                        <p:strVal val="visible"/>
                                      </p:to>
                                    </p:set>
                                    <p:animEffect transition="in" filter="strips(downRight)">
                                      <p:cBhvr>
                                        <p:cTn id="108" dur="500"/>
                                        <p:tgtEl>
                                          <p:spTgt spid="147482"/>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2" fill="hold" nodeType="clickEffect">
                                  <p:stCondLst>
                                    <p:cond delay="0"/>
                                  </p:stCondLst>
                                  <p:childTnLst>
                                    <p:set>
                                      <p:cBhvr>
                                        <p:cTn id="112" dur="1" fill="hold">
                                          <p:stCondLst>
                                            <p:cond delay="0"/>
                                          </p:stCondLst>
                                        </p:cTn>
                                        <p:tgtEl>
                                          <p:spTgt spid="147484"/>
                                        </p:tgtEl>
                                        <p:attrNameLst>
                                          <p:attrName>style.visibility</p:attrName>
                                        </p:attrNameLst>
                                      </p:cBhvr>
                                      <p:to>
                                        <p:strVal val="visible"/>
                                      </p:to>
                                    </p:set>
                                    <p:animEffect transition="in" filter="wipe(right)">
                                      <p:cBhvr>
                                        <p:cTn id="113" dur="500"/>
                                        <p:tgtEl>
                                          <p:spTgt spid="147484"/>
                                        </p:tgtEl>
                                      </p:cBhvr>
                                    </p:animEffect>
                                  </p:childTnLst>
                                </p:cTn>
                              </p:par>
                            </p:childTnLst>
                          </p:cTn>
                        </p:par>
                        <p:par>
                          <p:cTn id="114" fill="hold">
                            <p:stCondLst>
                              <p:cond delay="500"/>
                            </p:stCondLst>
                            <p:childTnLst>
                              <p:par>
                                <p:cTn id="115" presetID="22" presetClass="entr" presetSubtype="4" fill="hold" nodeType="afterEffect">
                                  <p:stCondLst>
                                    <p:cond delay="0"/>
                                  </p:stCondLst>
                                  <p:childTnLst>
                                    <p:set>
                                      <p:cBhvr>
                                        <p:cTn id="116" dur="1" fill="hold">
                                          <p:stCondLst>
                                            <p:cond delay="0"/>
                                          </p:stCondLst>
                                        </p:cTn>
                                        <p:tgtEl>
                                          <p:spTgt spid="147485"/>
                                        </p:tgtEl>
                                        <p:attrNameLst>
                                          <p:attrName>style.visibility</p:attrName>
                                        </p:attrNameLst>
                                      </p:cBhvr>
                                      <p:to>
                                        <p:strVal val="visible"/>
                                      </p:to>
                                    </p:set>
                                    <p:animEffect transition="in" filter="wipe(down)">
                                      <p:cBhvr>
                                        <p:cTn id="117" dur="500"/>
                                        <p:tgtEl>
                                          <p:spTgt spid="147485"/>
                                        </p:tgtEl>
                                      </p:cBhvr>
                                    </p:animEffect>
                                  </p:childTnLst>
                                </p:cTn>
                              </p:par>
                            </p:childTnLst>
                          </p:cTn>
                        </p:par>
                        <p:par>
                          <p:cTn id="118" fill="hold">
                            <p:stCondLst>
                              <p:cond delay="1000"/>
                            </p:stCondLst>
                            <p:childTnLst>
                              <p:par>
                                <p:cTn id="119" presetID="22" presetClass="entr" presetSubtype="2" fill="hold" nodeType="afterEffect">
                                  <p:stCondLst>
                                    <p:cond delay="0"/>
                                  </p:stCondLst>
                                  <p:childTnLst>
                                    <p:set>
                                      <p:cBhvr>
                                        <p:cTn id="120" dur="1" fill="hold">
                                          <p:stCondLst>
                                            <p:cond delay="0"/>
                                          </p:stCondLst>
                                        </p:cTn>
                                        <p:tgtEl>
                                          <p:spTgt spid="147483"/>
                                        </p:tgtEl>
                                        <p:attrNameLst>
                                          <p:attrName>style.visibility</p:attrName>
                                        </p:attrNameLst>
                                      </p:cBhvr>
                                      <p:to>
                                        <p:strVal val="visible"/>
                                      </p:to>
                                    </p:set>
                                    <p:animEffect transition="in" filter="wipe(right)">
                                      <p:cBhvr>
                                        <p:cTn id="121" dur="500"/>
                                        <p:tgtEl>
                                          <p:spTgt spid="147483"/>
                                        </p:tgtEl>
                                      </p:cBhvr>
                                    </p:animEffect>
                                  </p:childTnLst>
                                </p:cTn>
                              </p:par>
                            </p:childTnLst>
                          </p:cTn>
                        </p:par>
                        <p:par>
                          <p:cTn id="122" fill="hold">
                            <p:stCondLst>
                              <p:cond delay="1500"/>
                            </p:stCondLst>
                            <p:childTnLst>
                              <p:par>
                                <p:cTn id="123" presetID="22" presetClass="entr" presetSubtype="4" fill="hold" nodeType="afterEffect">
                                  <p:stCondLst>
                                    <p:cond delay="0"/>
                                  </p:stCondLst>
                                  <p:childTnLst>
                                    <p:set>
                                      <p:cBhvr>
                                        <p:cTn id="124" dur="1" fill="hold">
                                          <p:stCondLst>
                                            <p:cond delay="0"/>
                                          </p:stCondLst>
                                        </p:cTn>
                                        <p:tgtEl>
                                          <p:spTgt spid="147486"/>
                                        </p:tgtEl>
                                        <p:attrNameLst>
                                          <p:attrName>style.visibility</p:attrName>
                                        </p:attrNameLst>
                                      </p:cBhvr>
                                      <p:to>
                                        <p:strVal val="visible"/>
                                      </p:to>
                                    </p:set>
                                    <p:animEffect transition="in" filter="wipe(down)">
                                      <p:cBhvr>
                                        <p:cTn id="125" dur="500"/>
                                        <p:tgtEl>
                                          <p:spTgt spid="147486"/>
                                        </p:tgtEl>
                                      </p:cBhvr>
                                    </p:animEffect>
                                  </p:childTnLst>
                                </p:cTn>
                              </p:par>
                            </p:childTnLst>
                          </p:cTn>
                        </p:par>
                        <p:par>
                          <p:cTn id="126" fill="hold">
                            <p:stCondLst>
                              <p:cond delay="2000"/>
                            </p:stCondLst>
                            <p:childTnLst>
                              <p:par>
                                <p:cTn id="127" presetID="2" presetClass="entr" presetSubtype="8" fill="hold" grpId="0" nodeType="afterEffect">
                                  <p:stCondLst>
                                    <p:cond delay="0"/>
                                  </p:stCondLst>
                                  <p:childTnLst>
                                    <p:set>
                                      <p:cBhvr>
                                        <p:cTn id="128" dur="1" fill="hold">
                                          <p:stCondLst>
                                            <p:cond delay="0"/>
                                          </p:stCondLst>
                                        </p:cTn>
                                        <p:tgtEl>
                                          <p:spTgt spid="147487"/>
                                        </p:tgtEl>
                                        <p:attrNameLst>
                                          <p:attrName>style.visibility</p:attrName>
                                        </p:attrNameLst>
                                      </p:cBhvr>
                                      <p:to>
                                        <p:strVal val="visible"/>
                                      </p:to>
                                    </p:set>
                                    <p:anim calcmode="lin" valueType="num">
                                      <p:cBhvr>
                                        <p:cTn id="129" dur="500" fill="hold"/>
                                        <p:tgtEl>
                                          <p:spTgt spid="147487"/>
                                        </p:tgtEl>
                                        <p:attrNameLst>
                                          <p:attrName>ppt_x</p:attrName>
                                        </p:attrNameLst>
                                      </p:cBhvr>
                                      <p:tavLst>
                                        <p:tav tm="0">
                                          <p:val>
                                            <p:strVal val="0-#ppt_w/2"/>
                                          </p:val>
                                        </p:tav>
                                        <p:tav tm="100000">
                                          <p:val>
                                            <p:strVal val="#ppt_x"/>
                                          </p:val>
                                        </p:tav>
                                      </p:tavLst>
                                    </p:anim>
                                    <p:anim calcmode="lin" valueType="num">
                                      <p:cBhvr>
                                        <p:cTn id="130" dur="500" fill="hold"/>
                                        <p:tgtEl>
                                          <p:spTgt spid="147487"/>
                                        </p:tgtEl>
                                        <p:attrNameLst>
                                          <p:attrName>ppt_y</p:attrName>
                                        </p:attrNameLst>
                                      </p:cBhvr>
                                      <p:tavLst>
                                        <p:tav tm="0">
                                          <p:val>
                                            <p:strVal val="#ppt_y"/>
                                          </p:val>
                                        </p:tav>
                                        <p:tav tm="100000">
                                          <p:val>
                                            <p:strVal val="#ppt_y"/>
                                          </p:val>
                                        </p:tav>
                                      </p:tavLst>
                                    </p:anim>
                                  </p:childTnLst>
                                </p:cTn>
                              </p:par>
                              <p:par>
                                <p:cTn id="131" presetID="2" presetClass="entr" presetSubtype="8" fill="hold" nodeType="withEffect">
                                  <p:stCondLst>
                                    <p:cond delay="0"/>
                                  </p:stCondLst>
                                  <p:childTnLst>
                                    <p:set>
                                      <p:cBhvr>
                                        <p:cTn id="132" dur="1" fill="hold">
                                          <p:stCondLst>
                                            <p:cond delay="0"/>
                                          </p:stCondLst>
                                        </p:cTn>
                                        <p:tgtEl>
                                          <p:spTgt spid="147488"/>
                                        </p:tgtEl>
                                        <p:attrNameLst>
                                          <p:attrName>style.visibility</p:attrName>
                                        </p:attrNameLst>
                                      </p:cBhvr>
                                      <p:to>
                                        <p:strVal val="visible"/>
                                      </p:to>
                                    </p:set>
                                    <p:anim calcmode="lin" valueType="num">
                                      <p:cBhvr>
                                        <p:cTn id="133" dur="500" fill="hold"/>
                                        <p:tgtEl>
                                          <p:spTgt spid="147488"/>
                                        </p:tgtEl>
                                        <p:attrNameLst>
                                          <p:attrName>ppt_x</p:attrName>
                                        </p:attrNameLst>
                                      </p:cBhvr>
                                      <p:tavLst>
                                        <p:tav tm="0">
                                          <p:val>
                                            <p:strVal val="0-#ppt_w/2"/>
                                          </p:val>
                                        </p:tav>
                                        <p:tav tm="100000">
                                          <p:val>
                                            <p:strVal val="#ppt_x"/>
                                          </p:val>
                                        </p:tav>
                                      </p:tavLst>
                                    </p:anim>
                                    <p:anim calcmode="lin" valueType="num">
                                      <p:cBhvr>
                                        <p:cTn id="134" dur="500" fill="hold"/>
                                        <p:tgtEl>
                                          <p:spTgt spid="147488"/>
                                        </p:tgtEl>
                                        <p:attrNameLst>
                                          <p:attrName>ppt_y</p:attrName>
                                        </p:attrNameLst>
                                      </p:cBhvr>
                                      <p:tavLst>
                                        <p:tav tm="0">
                                          <p:val>
                                            <p:strVal val="#ppt_y"/>
                                          </p:val>
                                        </p:tav>
                                        <p:tav tm="100000">
                                          <p:val>
                                            <p:strVal val="#ppt_y"/>
                                          </p:val>
                                        </p:tav>
                                      </p:tavLst>
                                    </p:anim>
                                  </p:childTnLst>
                                </p:cTn>
                              </p:par>
                              <p:par>
                                <p:cTn id="135" presetID="2" presetClass="entr" presetSubtype="8" fill="hold" grpId="0" nodeType="withEffect">
                                  <p:stCondLst>
                                    <p:cond delay="0"/>
                                  </p:stCondLst>
                                  <p:childTnLst>
                                    <p:set>
                                      <p:cBhvr>
                                        <p:cTn id="136" dur="1" fill="hold">
                                          <p:stCondLst>
                                            <p:cond delay="0"/>
                                          </p:stCondLst>
                                        </p:cTn>
                                        <p:tgtEl>
                                          <p:spTgt spid="147489"/>
                                        </p:tgtEl>
                                        <p:attrNameLst>
                                          <p:attrName>style.visibility</p:attrName>
                                        </p:attrNameLst>
                                      </p:cBhvr>
                                      <p:to>
                                        <p:strVal val="visible"/>
                                      </p:to>
                                    </p:set>
                                    <p:anim calcmode="lin" valueType="num">
                                      <p:cBhvr>
                                        <p:cTn id="137" dur="500" fill="hold"/>
                                        <p:tgtEl>
                                          <p:spTgt spid="147489"/>
                                        </p:tgtEl>
                                        <p:attrNameLst>
                                          <p:attrName>ppt_x</p:attrName>
                                        </p:attrNameLst>
                                      </p:cBhvr>
                                      <p:tavLst>
                                        <p:tav tm="0">
                                          <p:val>
                                            <p:strVal val="0-#ppt_w/2"/>
                                          </p:val>
                                        </p:tav>
                                        <p:tav tm="100000">
                                          <p:val>
                                            <p:strVal val="#ppt_x"/>
                                          </p:val>
                                        </p:tav>
                                      </p:tavLst>
                                    </p:anim>
                                    <p:anim calcmode="lin" valueType="num">
                                      <p:cBhvr>
                                        <p:cTn id="138" dur="500" fill="hold"/>
                                        <p:tgtEl>
                                          <p:spTgt spid="147489"/>
                                        </p:tgtEl>
                                        <p:attrNameLst>
                                          <p:attrName>ppt_y</p:attrName>
                                        </p:attrNameLst>
                                      </p:cBhvr>
                                      <p:tavLst>
                                        <p:tav tm="0">
                                          <p:val>
                                            <p:strVal val="#ppt_y"/>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nodeType="clickEffect">
                                  <p:stCondLst>
                                    <p:cond delay="0"/>
                                  </p:stCondLst>
                                  <p:childTnLst>
                                    <p:set>
                                      <p:cBhvr>
                                        <p:cTn id="142" dur="1" fill="hold">
                                          <p:stCondLst>
                                            <p:cond delay="0"/>
                                          </p:stCondLst>
                                        </p:cTn>
                                        <p:tgtEl>
                                          <p:spTgt spid="147490"/>
                                        </p:tgtEl>
                                        <p:attrNameLst>
                                          <p:attrName>style.visibility</p:attrName>
                                        </p:attrNameLst>
                                      </p:cBhvr>
                                      <p:to>
                                        <p:strVal val="visible"/>
                                      </p:to>
                                    </p:set>
                                    <p:animEffect transition="in" filter="wipe(left)">
                                      <p:cBhvr>
                                        <p:cTn id="143" dur="500"/>
                                        <p:tgtEl>
                                          <p:spTgt spid="147490"/>
                                        </p:tgtEl>
                                      </p:cBhvr>
                                    </p:animEffect>
                                  </p:childTnLst>
                                </p:cTn>
                              </p:par>
                            </p:childTnLst>
                          </p:cTn>
                        </p:par>
                        <p:par>
                          <p:cTn id="144" fill="hold">
                            <p:stCondLst>
                              <p:cond delay="500"/>
                            </p:stCondLst>
                            <p:childTnLst>
                              <p:par>
                                <p:cTn id="145" presetID="18" presetClass="entr" presetSubtype="6" fill="hold" grpId="0" nodeType="afterEffect">
                                  <p:stCondLst>
                                    <p:cond delay="500"/>
                                  </p:stCondLst>
                                  <p:childTnLst>
                                    <p:set>
                                      <p:cBhvr>
                                        <p:cTn id="146" dur="1" fill="hold">
                                          <p:stCondLst>
                                            <p:cond delay="0"/>
                                          </p:stCondLst>
                                        </p:cTn>
                                        <p:tgtEl>
                                          <p:spTgt spid="147491"/>
                                        </p:tgtEl>
                                        <p:attrNameLst>
                                          <p:attrName>style.visibility</p:attrName>
                                        </p:attrNameLst>
                                      </p:cBhvr>
                                      <p:to>
                                        <p:strVal val="visible"/>
                                      </p:to>
                                    </p:set>
                                    <p:animEffect transition="in" filter="strips(downRight)">
                                      <p:cBhvr>
                                        <p:cTn id="147" dur="500"/>
                                        <p:tgtEl>
                                          <p:spTgt spid="147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60" grpId="0" animBg="1"/>
      <p:bldP spid="147466" grpId="0"/>
      <p:bldP spid="147467" grpId="0"/>
      <p:bldP spid="147468" grpId="0"/>
      <p:bldP spid="147469" grpId="0"/>
      <p:bldP spid="147470" grpId="0" animBg="1"/>
      <p:bldP spid="147471" grpId="0"/>
      <p:bldP spid="147473" grpId="0" animBg="1"/>
      <p:bldP spid="147474" grpId="0"/>
      <p:bldP spid="147475" grpId="0"/>
      <p:bldP spid="147480" grpId="0"/>
      <p:bldP spid="147481" grpId="0"/>
      <p:bldP spid="147482" grpId="0"/>
      <p:bldP spid="147487" grpId="0" animBg="1"/>
      <p:bldP spid="147489" grpId="0"/>
      <p:bldP spid="147491"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a:spLocks noGrp="1"/>
          </p:cNvSpPr>
          <p:nvPr>
            <p:ph type="title" idx="4294967295"/>
          </p:nvPr>
        </p:nvSpPr>
        <p:spPr>
          <a:xfrm>
            <a:off x="971550" y="1052513"/>
            <a:ext cx="3313113" cy="563562"/>
          </a:xfrm>
        </p:spPr>
        <p:txBody>
          <a:bodyPr vert="horz" wrap="square" lIns="91440" tIns="45720" rIns="91440" bIns="45720" anchor="ctr" anchorCtr="0"/>
          <a:p>
            <a:pPr eaLnBrk="1" hangingPunct="1"/>
            <a:r>
              <a:rPr lang="en-US" altLang="zh-CN" sz="2400" dirty="0">
                <a:solidFill>
                  <a:srgbClr val="000033"/>
                </a:solidFill>
                <a:ea typeface="宋体" panose="02010600030101010101" pitchFamily="2" charset="-122"/>
              </a:rPr>
              <a:t>【</a:t>
            </a:r>
            <a:r>
              <a:rPr lang="zh-CN" altLang="en-US" sz="2400" dirty="0">
                <a:solidFill>
                  <a:srgbClr val="000033"/>
                </a:solidFill>
                <a:ea typeface="宋体" panose="02010600030101010101" pitchFamily="2" charset="-122"/>
              </a:rPr>
              <a:t>例</a:t>
            </a:r>
            <a:r>
              <a:rPr lang="en-US" altLang="zh-CN" sz="2400" dirty="0">
                <a:solidFill>
                  <a:srgbClr val="000033"/>
                </a:solidFill>
                <a:ea typeface="宋体" panose="02010600030101010101" pitchFamily="2" charset="-122"/>
              </a:rPr>
              <a:t>】</a:t>
            </a:r>
            <a:endParaRPr lang="en-US" altLang="zh-CN" sz="2400" dirty="0">
              <a:solidFill>
                <a:srgbClr val="000033"/>
              </a:solidFill>
              <a:ea typeface="宋体" panose="02010600030101010101" pitchFamily="2" charset="-122"/>
            </a:endParaRPr>
          </a:p>
        </p:txBody>
      </p:sp>
      <p:sp>
        <p:nvSpPr>
          <p:cNvPr id="152579" name="Rectangle 3"/>
          <p:cNvSpPr>
            <a:spLocks noGrp="1"/>
          </p:cNvSpPr>
          <p:nvPr>
            <p:ph type="body" idx="4294967295"/>
          </p:nvPr>
        </p:nvSpPr>
        <p:spPr>
          <a:xfrm>
            <a:off x="1295400" y="2060575"/>
            <a:ext cx="4968875" cy="3178175"/>
          </a:xfrm>
        </p:spPr>
        <p:txBody>
          <a:bodyPr vert="horz" wrap="square" lIns="91440" tIns="45720" rIns="91440" bIns="45720" anchor="t" anchorCtr="0"/>
          <a:p>
            <a:pPr eaLnBrk="1" hangingPunct="1">
              <a:buNone/>
            </a:pPr>
            <a:r>
              <a:rPr lang="en-US" altLang="zh-CN" sz="2400" dirty="0">
                <a:latin typeface="宋体" panose="02010600030101010101" pitchFamily="2" charset="-122"/>
                <a:ea typeface="宋体" panose="02010600030101010101" pitchFamily="2" charset="-122"/>
              </a:rPr>
              <a:t>2000:0100        MOV  AX,1200H</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2000:0103        JMP NEXT</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2000:0120  NEXT: MOV BX,1200H </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JMP  BX  </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2000:1200 </a:t>
            </a:r>
            <a:endParaRPr lang="en-US" altLang="zh-CN"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2579">
                                            <p:txEl>
                                              <p:charRg st="153" end="164"/>
                                            </p:txEl>
                                          </p:spTgt>
                                        </p:tgtEl>
                                        <p:attrNameLst>
                                          <p:attrName>style.visibility</p:attrName>
                                        </p:attrNameLst>
                                      </p:cBhvr>
                                      <p:to>
                                        <p:strVal val="visible"/>
                                      </p:to>
                                    </p:set>
                                    <p:animEffect transition="in" filter="wipe(left)">
                                      <p:cBhvr>
                                        <p:cTn id="7" dur="500"/>
                                        <p:tgtEl>
                                          <p:spTgt spid="152579">
                                            <p:txEl>
                                              <p:charRg st="153" end="1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1026"/>
          <p:cNvSpPr>
            <a:spLocks noGrp="1"/>
          </p:cNvSpPr>
          <p:nvPr>
            <p:ph type="title" idx="4294967295"/>
          </p:nvPr>
        </p:nvSpPr>
        <p:spPr>
          <a:xfrm>
            <a:off x="900113" y="1179513"/>
            <a:ext cx="3386137" cy="563562"/>
          </a:xfrm>
        </p:spPr>
        <p:txBody>
          <a:bodyPr vert="horz" wrap="square" lIns="91440" tIns="45720" rIns="91440" bIns="45720" anchor="ctr" anchorCtr="0"/>
          <a:p>
            <a:pPr eaLnBrk="1" hangingPunct="1"/>
            <a:r>
              <a:rPr lang="zh-CN" altLang="en-US" dirty="0">
                <a:solidFill>
                  <a:srgbClr val="000033"/>
                </a:solidFill>
                <a:latin typeface="宋体" panose="02010600030101010101" pitchFamily="2" charset="-122"/>
                <a:ea typeface="宋体" panose="02010600030101010101" pitchFamily="2" charset="-122"/>
              </a:rPr>
              <a:t>（</a:t>
            </a:r>
            <a:r>
              <a:rPr lang="en-US" altLang="zh-CN" dirty="0">
                <a:solidFill>
                  <a:srgbClr val="000033"/>
                </a:solidFill>
                <a:latin typeface="宋体" panose="02010600030101010101" pitchFamily="2" charset="-122"/>
                <a:ea typeface="宋体" panose="02010600030101010101" pitchFamily="2" charset="-122"/>
              </a:rPr>
              <a:t>3</a:t>
            </a:r>
            <a:r>
              <a:rPr lang="zh-CN" altLang="en-US" dirty="0">
                <a:solidFill>
                  <a:srgbClr val="000033"/>
                </a:solidFill>
                <a:latin typeface="宋体" panose="02010600030101010101" pitchFamily="2" charset="-122"/>
                <a:ea typeface="宋体" panose="02010600030101010101" pitchFamily="2" charset="-122"/>
              </a:rPr>
              <a:t>）段间直接转移</a:t>
            </a:r>
            <a:endParaRPr lang="zh-CN" altLang="en-US" dirty="0">
              <a:solidFill>
                <a:srgbClr val="000033"/>
              </a:solidFill>
              <a:latin typeface="宋体" panose="02010600030101010101" pitchFamily="2" charset="-122"/>
              <a:ea typeface="宋体" panose="02010600030101010101" pitchFamily="2" charset="-122"/>
            </a:endParaRPr>
          </a:p>
        </p:txBody>
      </p:sp>
      <p:sp>
        <p:nvSpPr>
          <p:cNvPr id="148483" name="Rectangle 1027"/>
          <p:cNvSpPr>
            <a:spLocks noGrp="1"/>
          </p:cNvSpPr>
          <p:nvPr>
            <p:ph type="body" idx="4294967295"/>
          </p:nvPr>
        </p:nvSpPr>
        <p:spPr>
          <a:xfrm>
            <a:off x="1185863" y="1743075"/>
            <a:ext cx="7418387" cy="2232025"/>
          </a:xfrm>
        </p:spPr>
        <p:txBody>
          <a:bodyPr vert="horz" wrap="square" lIns="91440" tIns="45720" rIns="91440" bIns="45720" anchor="t" anchorCtr="0"/>
          <a:p>
            <a:pPr eaLnBrk="1" hangingPunct="1">
              <a:lnSpc>
                <a:spcPct val="115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段内直接转移</a:t>
            </a:r>
            <a:endParaRPr lang="zh-CN" altLang="en-US" sz="2400" dirty="0">
              <a:latin typeface="宋体" panose="02010600030101010101" pitchFamily="2" charset="-122"/>
              <a:ea typeface="宋体" panose="02010600030101010101" pitchFamily="2" charset="-122"/>
            </a:endParaRPr>
          </a:p>
          <a:p>
            <a:pPr lvl="1" eaLnBrk="1" hangingPunct="1">
              <a:lnSpc>
                <a:spcPct val="150000"/>
              </a:lnSpc>
              <a:spcAft>
                <a:spcPct val="40000"/>
              </a:spcAft>
              <a:buFont typeface="Wingdings" panose="05000000000000000000" pitchFamily="2" charset="2"/>
              <a:buChar char="•"/>
            </a:pPr>
            <a:r>
              <a:rPr lang="zh-CN" altLang="en-US" dirty="0">
                <a:latin typeface="宋体" panose="02010600030101010101" pitchFamily="2" charset="-122"/>
                <a:ea typeface="宋体" panose="02010600030101010101" pitchFamily="2" charset="-122"/>
              </a:rPr>
              <a:t>转移的目标地址由指令直接给出。指令操作码后的连续两个字作为立即地址，</a:t>
            </a:r>
            <a:r>
              <a:rPr lang="zh-CN" altLang="en-US" dirty="0">
                <a:solidFill>
                  <a:srgbClr val="FF0000"/>
                </a:solidFill>
                <a:latin typeface="宋体" panose="02010600030101010101" pitchFamily="2" charset="-122"/>
                <a:ea typeface="宋体" panose="02010600030101010101" pitchFamily="2" charset="-122"/>
              </a:rPr>
              <a:t>低字作为偏移地址送入</a:t>
            </a:r>
            <a:r>
              <a:rPr lang="en-US" altLang="zh-CN" dirty="0">
                <a:solidFill>
                  <a:srgbClr val="FF0000"/>
                </a:solidFill>
                <a:latin typeface="宋体" panose="02010600030101010101" pitchFamily="2" charset="-122"/>
                <a:ea typeface="宋体" panose="02010600030101010101" pitchFamily="2" charset="-122"/>
              </a:rPr>
              <a:t>IP</a:t>
            </a:r>
            <a:r>
              <a:rPr lang="zh-CN" altLang="en-US" dirty="0">
                <a:latin typeface="宋体" panose="02010600030101010101" pitchFamily="2" charset="-122"/>
                <a:ea typeface="宋体" panose="02010600030101010101" pitchFamily="2" charset="-122"/>
              </a:rPr>
              <a:t>，</a:t>
            </a:r>
            <a:r>
              <a:rPr lang="zh-CN" altLang="en-US" dirty="0">
                <a:solidFill>
                  <a:srgbClr val="FF0000"/>
                </a:solidFill>
                <a:latin typeface="宋体" panose="02010600030101010101" pitchFamily="2" charset="-122"/>
                <a:ea typeface="宋体" panose="02010600030101010101" pitchFamily="2" charset="-122"/>
              </a:rPr>
              <a:t>高字作为段地址送入</a:t>
            </a:r>
            <a:r>
              <a:rPr lang="en-US" altLang="zh-CN" dirty="0">
                <a:solidFill>
                  <a:srgbClr val="FF0000"/>
                </a:solidFill>
                <a:latin typeface="宋体" panose="02010600030101010101" pitchFamily="2" charset="-122"/>
                <a:ea typeface="宋体" panose="02010600030101010101" pitchFamily="2" charset="-122"/>
              </a:rPr>
              <a:t>CS</a:t>
            </a:r>
            <a:r>
              <a:rPr lang="zh-CN" altLang="en-US" dirty="0">
                <a:solidFill>
                  <a:srgbClr val="FF0000"/>
                </a:solidFill>
                <a:latin typeface="宋体" panose="02010600030101010101" pitchFamily="2" charset="-122"/>
                <a:ea typeface="宋体" panose="02010600030101010101" pitchFamily="2" charset="-122"/>
              </a:rPr>
              <a:t>。</a:t>
            </a:r>
            <a:endParaRPr lang="zh-CN" altLang="en-US" dirty="0">
              <a:solidFill>
                <a:srgbClr val="FF0000"/>
              </a:solidFill>
              <a:latin typeface="宋体" panose="02010600030101010101" pitchFamily="2" charset="-122"/>
              <a:ea typeface="宋体" panose="02010600030101010101" pitchFamily="2" charset="-122"/>
            </a:endParaRPr>
          </a:p>
          <a:p>
            <a:pPr eaLnBrk="1" hangingPunct="1">
              <a:lnSpc>
                <a:spcPct val="115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格式：</a:t>
            </a:r>
            <a:endParaRPr lang="zh-CN" altLang="en-US" sz="2400" dirty="0">
              <a:latin typeface="宋体" panose="02010600030101010101" pitchFamily="2" charset="-122"/>
              <a:ea typeface="宋体" panose="02010600030101010101" pitchFamily="2" charset="-122"/>
            </a:endParaRPr>
          </a:p>
          <a:p>
            <a:pPr lvl="1" eaLnBrk="1" hangingPunct="1">
              <a:lnSpc>
                <a:spcPct val="115000"/>
              </a:lnSpc>
            </a:pPr>
            <a:r>
              <a:rPr lang="en-US" altLang="zh-CN" dirty="0">
                <a:latin typeface="宋体" panose="02010600030101010101" pitchFamily="2" charset="-122"/>
                <a:ea typeface="宋体" panose="02010600030101010101" pitchFamily="2" charset="-122"/>
              </a:rPr>
              <a:t>JMP  FAR Label</a:t>
            </a:r>
            <a:endParaRPr lang="zh-CN" altLang="en-US" dirty="0">
              <a:latin typeface="宋体" panose="02010600030101010101" pitchFamily="2" charset="-122"/>
              <a:ea typeface="宋体" panose="02010600030101010101" pitchFamily="2" charset="-122"/>
            </a:endParaRPr>
          </a:p>
        </p:txBody>
      </p:sp>
      <p:sp>
        <p:nvSpPr>
          <p:cNvPr id="148484" name="矩形 1"/>
          <p:cNvSpPr/>
          <p:nvPr/>
        </p:nvSpPr>
        <p:spPr>
          <a:xfrm>
            <a:off x="4291013" y="4365625"/>
            <a:ext cx="4852987" cy="830263"/>
          </a:xfrm>
          <a:prstGeom prst="rect">
            <a:avLst/>
          </a:prstGeom>
          <a:noFill/>
          <a:ln w="28575" cap="flat" cmpd="sng">
            <a:solidFill>
              <a:schemeClr val="tx1"/>
            </a:solidFill>
            <a:prstDash val="solid"/>
            <a:miter/>
            <a:headEnd type="none" w="med" len="med"/>
            <a:tailEnd type="none" w="med" len="med"/>
          </a:ln>
        </p:spPr>
        <p:txBody>
          <a:bodyPr>
            <a:spAutoFit/>
          </a:bodyPr>
          <a:p>
            <a:pPr eaLnBrk="0" hangingPunct="0">
              <a:buFont typeface="Wingdings" panose="05000000000000000000" pitchFamily="2" charset="2"/>
            </a:pPr>
            <a:r>
              <a:rPr lang="en-US" altLang="zh-CN" sz="2400" b="1" dirty="0">
                <a:latin typeface="宋体" panose="02010600030101010101" pitchFamily="2" charset="-122"/>
                <a:ea typeface="宋体" panose="02010600030101010101" pitchFamily="2" charset="-122"/>
              </a:rPr>
              <a:t>Label</a:t>
            </a:r>
            <a:r>
              <a:rPr lang="zh-CN" altLang="en-US" sz="2400" b="1" dirty="0">
                <a:latin typeface="宋体" panose="02010600030101010101" pitchFamily="2" charset="-122"/>
                <a:ea typeface="宋体" panose="02010600030101010101" pitchFamily="2" charset="-122"/>
              </a:rPr>
              <a:t>必须用一个</a:t>
            </a:r>
            <a:r>
              <a:rPr lang="en-US" altLang="zh-CN" sz="2400" b="1" dirty="0">
                <a:latin typeface="宋体" panose="02010600030101010101" pitchFamily="2" charset="-122"/>
                <a:ea typeface="宋体" panose="02010600030101010101" pitchFamily="2" charset="-122"/>
              </a:rPr>
              <a:t>32</a:t>
            </a:r>
            <a:r>
              <a:rPr lang="zh-CN" altLang="en-US" sz="2400" b="1" dirty="0">
                <a:latin typeface="宋体" panose="02010600030101010101" pitchFamily="2" charset="-122"/>
                <a:ea typeface="宋体" panose="02010600030101010101" pitchFamily="2" charset="-122"/>
              </a:rPr>
              <a:t>位数表达，叫做</a:t>
            </a:r>
            <a:r>
              <a:rPr lang="en-US" altLang="zh-CN" sz="2400" b="1" dirty="0">
                <a:latin typeface="宋体" panose="02010600030101010101" pitchFamily="2" charset="-122"/>
                <a:ea typeface="宋体" panose="02010600030101010101" pitchFamily="2" charset="-122"/>
              </a:rPr>
              <a:t>32</a:t>
            </a:r>
            <a:r>
              <a:rPr lang="zh-CN" altLang="en-US" sz="2400" b="1" dirty="0">
                <a:latin typeface="宋体" panose="02010600030101010101" pitchFamily="2" charset="-122"/>
                <a:ea typeface="宋体" panose="02010600030101010101" pitchFamily="2" charset="-122"/>
              </a:rPr>
              <a:t>位远指针，它就是逻辑地址。</a:t>
            </a:r>
            <a:endParaRPr lang="zh-CN" altLang="en-US" sz="2400" b="1" dirty="0">
              <a:latin typeface="宋体" panose="02010600030101010101" pitchFamily="2" charset="-122"/>
              <a:ea typeface="宋体" panose="02010600030101010101" pitchFamily="2" charset="-122"/>
            </a:endParaRPr>
          </a:p>
        </p:txBody>
      </p:sp>
      <p:sp>
        <p:nvSpPr>
          <p:cNvPr id="148485" name="文本框 2"/>
          <p:cNvSpPr txBox="1"/>
          <p:nvPr/>
        </p:nvSpPr>
        <p:spPr>
          <a:xfrm>
            <a:off x="1185863" y="5732463"/>
            <a:ext cx="3817937" cy="461962"/>
          </a:xfrm>
          <a:prstGeom prst="rect">
            <a:avLst/>
          </a:prstGeom>
          <a:noFill/>
          <a:ln w="9525">
            <a:noFill/>
          </a:ln>
        </p:spPr>
        <p:txBody>
          <a:bodyPr>
            <a:spAutoFit/>
          </a:bodyPr>
          <a:p>
            <a:pPr eaLnBrk="0" hangingPunct="0">
              <a:buFont typeface="Wingdings" panose="05000000000000000000" pitchFamily="2" charset="2"/>
            </a:pP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例</a:t>
            </a:r>
            <a:r>
              <a:rPr lang="en-US" altLang="zh-CN" sz="2400"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JMP 8000H</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1200H</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灯片编号占位符 5"/>
          <p:cNvSpPr txBox="1">
            <a:spLocks noGrp="1"/>
          </p:cNvSpPr>
          <p:nvPr/>
        </p:nvSpPr>
        <p:spPr>
          <a:xfrm>
            <a:off x="6677025" y="6211888"/>
            <a:ext cx="1905000" cy="457200"/>
          </a:xfrm>
          <a:prstGeom prst="rect">
            <a:avLst/>
          </a:prstGeom>
          <a:noFill/>
          <a:ln w="9525">
            <a:noFill/>
          </a:ln>
        </p:spPr>
        <p:txBody>
          <a:bodyPr/>
          <a:p>
            <a:pPr algn="ctr"/>
            <a:fld id="{9A0DB2DC-4C9A-4742-B13C-FB6460FD3503}" type="slidenum">
              <a:rPr lang="zh-CN" altLang="en-US" sz="1400" dirty="0">
                <a:latin typeface="Tahoma" panose="020B0604030504040204" pitchFamily="34" charset="0"/>
                <a:ea typeface="宋体" panose="02010600030101010101" pitchFamily="2" charset="-122"/>
              </a:rPr>
            </a:fld>
            <a:endParaRPr lang="zh-CN" altLang="en-US" sz="1400" dirty="0">
              <a:latin typeface="Tahoma" panose="020B0604030504040204" pitchFamily="34" charset="0"/>
              <a:ea typeface="宋体" panose="02010600030101010101" pitchFamily="2" charset="-122"/>
            </a:endParaRPr>
          </a:p>
        </p:txBody>
      </p:sp>
      <p:sp>
        <p:nvSpPr>
          <p:cNvPr id="149507" name="Rectangle 1026"/>
          <p:cNvSpPr>
            <a:spLocks noGrp="1"/>
          </p:cNvSpPr>
          <p:nvPr>
            <p:ph type="title" idx="4294967295"/>
          </p:nvPr>
        </p:nvSpPr>
        <p:spPr>
          <a:xfrm>
            <a:off x="534988" y="1020763"/>
            <a:ext cx="3316287" cy="563562"/>
          </a:xfrm>
        </p:spPr>
        <p:txBody>
          <a:bodyPr vert="horz" wrap="square" lIns="91440" tIns="45720" rIns="91440" bIns="45720" anchor="ctr" anchorCtr="0"/>
          <a:p>
            <a:pPr eaLnBrk="1" hangingPunct="1"/>
            <a:r>
              <a:rPr lang="zh-CN" altLang="en-US" dirty="0">
                <a:solidFill>
                  <a:srgbClr val="000033"/>
                </a:solidFill>
                <a:latin typeface="宋体" panose="02010600030101010101" pitchFamily="2" charset="-122"/>
                <a:ea typeface="宋体" panose="02010600030101010101" pitchFamily="2" charset="-122"/>
              </a:rPr>
              <a:t>（</a:t>
            </a:r>
            <a:r>
              <a:rPr lang="en-US" altLang="zh-CN" dirty="0">
                <a:solidFill>
                  <a:srgbClr val="000033"/>
                </a:solidFill>
                <a:latin typeface="宋体" panose="02010600030101010101" pitchFamily="2" charset="-122"/>
                <a:ea typeface="宋体" panose="02010600030101010101" pitchFamily="2" charset="-122"/>
              </a:rPr>
              <a:t>4</a:t>
            </a:r>
            <a:r>
              <a:rPr lang="zh-CN" altLang="en-US" dirty="0">
                <a:solidFill>
                  <a:srgbClr val="000033"/>
                </a:solidFill>
                <a:latin typeface="宋体" panose="02010600030101010101" pitchFamily="2" charset="-122"/>
                <a:ea typeface="宋体" panose="02010600030101010101" pitchFamily="2" charset="-122"/>
              </a:rPr>
              <a:t>）段间间接转移</a:t>
            </a:r>
            <a:endParaRPr lang="zh-CN" altLang="en-US" dirty="0">
              <a:solidFill>
                <a:srgbClr val="000033"/>
              </a:solidFill>
              <a:latin typeface="宋体" panose="02010600030101010101" pitchFamily="2" charset="-122"/>
              <a:ea typeface="宋体" panose="02010600030101010101" pitchFamily="2" charset="-122"/>
            </a:endParaRPr>
          </a:p>
        </p:txBody>
      </p:sp>
      <p:sp>
        <p:nvSpPr>
          <p:cNvPr id="151556" name="Rectangle 1027"/>
          <p:cNvSpPr>
            <a:spLocks noGrp="1"/>
          </p:cNvSpPr>
          <p:nvPr>
            <p:ph type="body" idx="4294967295"/>
          </p:nvPr>
        </p:nvSpPr>
        <p:spPr>
          <a:xfrm>
            <a:off x="173038" y="1811338"/>
            <a:ext cx="5907087" cy="1670050"/>
          </a:xfrm>
        </p:spPr>
        <p:txBody>
          <a:bodyPr vert="horz" wrap="square" lIns="91440" tIns="45720" rIns="91440" bIns="45720" anchor="t" anchorCtr="0"/>
          <a:p>
            <a:pPr marL="457200" lvl="1" indent="0" eaLnBrk="1" hangingPunct="1">
              <a:lnSpc>
                <a:spcPct val="115000"/>
              </a:lnSpc>
              <a:spcAft>
                <a:spcPct val="40000"/>
              </a:spcAft>
              <a:buNone/>
            </a:pPr>
            <a:r>
              <a:rPr lang="zh-CN" altLang="en-US" dirty="0">
                <a:latin typeface="宋体" panose="02010600030101010101" pitchFamily="2" charset="-122"/>
                <a:ea typeface="宋体" panose="02010600030101010101" pitchFamily="2" charset="-122"/>
              </a:rPr>
              <a:t>转移的目标地址由指令中的</a:t>
            </a:r>
            <a:r>
              <a:rPr lang="en-US" altLang="zh-CN" dirty="0">
                <a:latin typeface="宋体" panose="02010600030101010101" pitchFamily="2" charset="-122"/>
                <a:ea typeface="宋体" panose="02010600030101010101" pitchFamily="2" charset="-122"/>
              </a:rPr>
              <a:t>32</a:t>
            </a:r>
            <a:r>
              <a:rPr lang="zh-CN" altLang="en-US" dirty="0">
                <a:latin typeface="宋体" panose="02010600030101010101" pitchFamily="2" charset="-122"/>
                <a:ea typeface="宋体" panose="02010600030101010101" pitchFamily="2" charset="-122"/>
              </a:rPr>
              <a:t>位操作数给出</a:t>
            </a:r>
            <a:endParaRPr lang="en-US" altLang="zh-CN" dirty="0">
              <a:latin typeface="宋体" panose="02010600030101010101" pitchFamily="2" charset="-122"/>
              <a:ea typeface="宋体" panose="02010600030101010101" pitchFamily="2" charset="-122"/>
            </a:endParaRPr>
          </a:p>
          <a:p>
            <a:pPr marL="457200" lvl="1" indent="0" eaLnBrk="1" hangingPunct="1">
              <a:lnSpc>
                <a:spcPct val="115000"/>
              </a:lnSpc>
              <a:spcAft>
                <a:spcPct val="40000"/>
              </a:spcAft>
              <a:buNone/>
            </a:pP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例</a:t>
            </a:r>
            <a:r>
              <a:rPr lang="en-US" altLang="zh-CN" dirty="0">
                <a:latin typeface="宋体" panose="02010600030101010101" pitchFamily="2" charset="-122"/>
                <a:ea typeface="宋体" panose="02010600030101010101" pitchFamily="2" charset="-122"/>
              </a:rPr>
              <a:t>】JMP  DWORD  PTR[BX]</a:t>
            </a:r>
            <a:endParaRPr lang="zh-CN" altLang="en-US" dirty="0">
              <a:latin typeface="宋体" panose="02010600030101010101" pitchFamily="2" charset="-122"/>
              <a:ea typeface="宋体" panose="02010600030101010101" pitchFamily="2" charset="-122"/>
            </a:endParaRPr>
          </a:p>
        </p:txBody>
      </p:sp>
      <p:sp>
        <p:nvSpPr>
          <p:cNvPr id="151557" name="Rectangle 1028"/>
          <p:cNvSpPr/>
          <p:nvPr/>
        </p:nvSpPr>
        <p:spPr>
          <a:xfrm>
            <a:off x="6156325" y="1989138"/>
            <a:ext cx="1676400" cy="46482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1558" name="Line 1029"/>
          <p:cNvSpPr/>
          <p:nvPr/>
        </p:nvSpPr>
        <p:spPr>
          <a:xfrm>
            <a:off x="6156325" y="3587750"/>
            <a:ext cx="1676400" cy="1588"/>
          </a:xfrm>
          <a:prstGeom prst="line">
            <a:avLst/>
          </a:prstGeom>
          <a:ln w="25400" cap="sq" cmpd="sng">
            <a:solidFill>
              <a:schemeClr val="tx1"/>
            </a:solidFill>
            <a:prstDash val="solid"/>
            <a:headEnd type="none" w="med" len="med"/>
            <a:tailEnd type="none" w="med" len="med"/>
          </a:ln>
        </p:spPr>
      </p:sp>
      <p:sp>
        <p:nvSpPr>
          <p:cNvPr id="151559" name="Line 1030"/>
          <p:cNvSpPr/>
          <p:nvPr/>
        </p:nvSpPr>
        <p:spPr>
          <a:xfrm>
            <a:off x="6156325" y="3983038"/>
            <a:ext cx="1676400" cy="1587"/>
          </a:xfrm>
          <a:prstGeom prst="line">
            <a:avLst/>
          </a:prstGeom>
          <a:ln w="25400" cap="sq" cmpd="sng">
            <a:solidFill>
              <a:schemeClr val="tx1"/>
            </a:solidFill>
            <a:prstDash val="solid"/>
            <a:headEnd type="none" w="med" len="med"/>
            <a:tailEnd type="none" w="med" len="med"/>
          </a:ln>
        </p:spPr>
      </p:sp>
      <p:sp>
        <p:nvSpPr>
          <p:cNvPr id="151560" name="Line 1032"/>
          <p:cNvSpPr/>
          <p:nvPr/>
        </p:nvSpPr>
        <p:spPr>
          <a:xfrm>
            <a:off x="6156325" y="5037138"/>
            <a:ext cx="1676400" cy="1587"/>
          </a:xfrm>
          <a:prstGeom prst="line">
            <a:avLst/>
          </a:prstGeom>
          <a:ln w="25400" cap="sq" cmpd="sng">
            <a:solidFill>
              <a:schemeClr val="tx1"/>
            </a:solidFill>
            <a:prstDash val="solid"/>
            <a:headEnd type="none" w="med" len="med"/>
            <a:tailEnd type="none" w="med" len="med"/>
          </a:ln>
        </p:spPr>
      </p:sp>
      <p:sp>
        <p:nvSpPr>
          <p:cNvPr id="151561" name="Line 1033"/>
          <p:cNvSpPr/>
          <p:nvPr/>
        </p:nvSpPr>
        <p:spPr>
          <a:xfrm>
            <a:off x="6156325" y="5341938"/>
            <a:ext cx="1676400" cy="1587"/>
          </a:xfrm>
          <a:prstGeom prst="line">
            <a:avLst/>
          </a:prstGeom>
          <a:ln w="25400" cap="sq" cmpd="sng">
            <a:solidFill>
              <a:schemeClr val="tx1"/>
            </a:solidFill>
            <a:prstDash val="solid"/>
            <a:headEnd type="none" w="med" len="med"/>
            <a:tailEnd type="none" w="med" len="med"/>
          </a:ln>
        </p:spPr>
      </p:sp>
      <p:sp>
        <p:nvSpPr>
          <p:cNvPr id="151562" name="Line 1034"/>
          <p:cNvSpPr/>
          <p:nvPr/>
        </p:nvSpPr>
        <p:spPr>
          <a:xfrm>
            <a:off x="6156325" y="5646738"/>
            <a:ext cx="1676400" cy="1587"/>
          </a:xfrm>
          <a:prstGeom prst="line">
            <a:avLst/>
          </a:prstGeom>
          <a:ln w="25400" cap="sq" cmpd="sng">
            <a:solidFill>
              <a:schemeClr val="tx1"/>
            </a:solidFill>
            <a:prstDash val="solid"/>
            <a:headEnd type="none" w="med" len="med"/>
            <a:tailEnd type="none" w="med" len="med"/>
          </a:ln>
        </p:spPr>
      </p:sp>
      <p:sp>
        <p:nvSpPr>
          <p:cNvPr id="151563" name="Line 1035"/>
          <p:cNvSpPr/>
          <p:nvPr/>
        </p:nvSpPr>
        <p:spPr>
          <a:xfrm>
            <a:off x="6156325" y="6011863"/>
            <a:ext cx="1676400" cy="1587"/>
          </a:xfrm>
          <a:prstGeom prst="line">
            <a:avLst/>
          </a:prstGeom>
          <a:ln w="25400" cap="sq" cmpd="sng">
            <a:solidFill>
              <a:schemeClr val="tx1"/>
            </a:solidFill>
            <a:prstDash val="solid"/>
            <a:headEnd type="none" w="med" len="med"/>
            <a:tailEnd type="none" w="med" len="med"/>
          </a:ln>
        </p:spPr>
      </p:sp>
      <p:sp>
        <p:nvSpPr>
          <p:cNvPr id="151564" name="Line 1036"/>
          <p:cNvSpPr/>
          <p:nvPr/>
        </p:nvSpPr>
        <p:spPr>
          <a:xfrm>
            <a:off x="6156325" y="4656138"/>
            <a:ext cx="1676400" cy="1587"/>
          </a:xfrm>
          <a:prstGeom prst="line">
            <a:avLst/>
          </a:prstGeom>
          <a:ln w="25400" cap="sq" cmpd="sng">
            <a:solidFill>
              <a:schemeClr val="tx1"/>
            </a:solidFill>
            <a:prstDash val="solid"/>
            <a:headEnd type="none" w="med" len="med"/>
            <a:tailEnd type="none" w="med" len="med"/>
          </a:ln>
        </p:spPr>
      </p:sp>
      <p:sp>
        <p:nvSpPr>
          <p:cNvPr id="151565" name="Text Box 1037"/>
          <p:cNvSpPr txBox="1"/>
          <p:nvPr/>
        </p:nvSpPr>
        <p:spPr>
          <a:xfrm>
            <a:off x="6565900" y="460851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XXH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51566" name="Text Box 1038"/>
          <p:cNvSpPr txBox="1"/>
          <p:nvPr/>
        </p:nvSpPr>
        <p:spPr>
          <a:xfrm>
            <a:off x="6584950" y="4960938"/>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XXH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51567" name="Text Box 1039"/>
          <p:cNvSpPr txBox="1"/>
          <p:nvPr/>
        </p:nvSpPr>
        <p:spPr>
          <a:xfrm>
            <a:off x="6584950" y="5265738"/>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XXH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51568" name="Text Box 1040"/>
          <p:cNvSpPr txBox="1"/>
          <p:nvPr/>
        </p:nvSpPr>
        <p:spPr>
          <a:xfrm>
            <a:off x="6589713" y="561816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XXH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51569" name="Text Box 1041"/>
          <p:cNvSpPr txBox="1"/>
          <p:nvPr/>
        </p:nvSpPr>
        <p:spPr>
          <a:xfrm>
            <a:off x="4467225" y="4595813"/>
            <a:ext cx="719138"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BX</a:t>
            </a:r>
            <a:endParaRPr lang="en-US" altLang="zh-CN" sz="2400" b="1" dirty="0">
              <a:latin typeface="Times New Roman" panose="02020603050405020304" pitchFamily="18" charset="0"/>
              <a:ea typeface="宋体" panose="02010600030101010101" pitchFamily="2" charset="-122"/>
            </a:endParaRPr>
          </a:p>
        </p:txBody>
      </p:sp>
      <p:sp>
        <p:nvSpPr>
          <p:cNvPr id="151570" name="Line 1043"/>
          <p:cNvSpPr/>
          <p:nvPr/>
        </p:nvSpPr>
        <p:spPr>
          <a:xfrm>
            <a:off x="5043488" y="4837113"/>
            <a:ext cx="914400" cy="0"/>
          </a:xfrm>
          <a:prstGeom prst="line">
            <a:avLst/>
          </a:prstGeom>
          <a:ln w="25400" cap="sq" cmpd="sng">
            <a:solidFill>
              <a:schemeClr val="tx1"/>
            </a:solidFill>
            <a:prstDash val="solid"/>
            <a:headEnd type="none" w="med" len="med"/>
            <a:tailEnd type="triangle" w="lg" len="lg"/>
          </a:ln>
        </p:spPr>
      </p:sp>
      <p:sp>
        <p:nvSpPr>
          <p:cNvPr id="151571" name="AutoShape 1044"/>
          <p:cNvSpPr/>
          <p:nvPr/>
        </p:nvSpPr>
        <p:spPr>
          <a:xfrm>
            <a:off x="5907088" y="4808538"/>
            <a:ext cx="173037" cy="457200"/>
          </a:xfrm>
          <a:prstGeom prst="leftBrace">
            <a:avLst>
              <a:gd name="adj1" fmla="val 21847"/>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1572" name="AutoShape 1045"/>
          <p:cNvSpPr/>
          <p:nvPr/>
        </p:nvSpPr>
        <p:spPr>
          <a:xfrm>
            <a:off x="5907088" y="5418138"/>
            <a:ext cx="173037" cy="500062"/>
          </a:xfrm>
          <a:prstGeom prst="leftBrace">
            <a:avLst>
              <a:gd name="adj1" fmla="val 23895"/>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1573" name="Text Box 1046"/>
          <p:cNvSpPr txBox="1"/>
          <p:nvPr/>
        </p:nvSpPr>
        <p:spPr>
          <a:xfrm>
            <a:off x="4403725" y="5126038"/>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IP</a:t>
            </a:r>
            <a:endParaRPr lang="en-US" altLang="zh-CN" sz="2400" b="1" dirty="0">
              <a:latin typeface="Times New Roman" panose="02020603050405020304" pitchFamily="18" charset="0"/>
              <a:ea typeface="宋体" panose="02010600030101010101" pitchFamily="2" charset="-122"/>
            </a:endParaRPr>
          </a:p>
        </p:txBody>
      </p:sp>
      <p:sp>
        <p:nvSpPr>
          <p:cNvPr id="151574" name="Text Box 1047"/>
          <p:cNvSpPr txBox="1"/>
          <p:nvPr/>
        </p:nvSpPr>
        <p:spPr>
          <a:xfrm>
            <a:off x="4556125" y="5799138"/>
            <a:ext cx="7620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CS</a:t>
            </a:r>
            <a:endParaRPr lang="en-US" altLang="zh-CN" sz="2400" b="1" dirty="0">
              <a:latin typeface="Times New Roman" panose="02020603050405020304" pitchFamily="18" charset="0"/>
              <a:ea typeface="宋体" panose="02010600030101010101" pitchFamily="2" charset="-122"/>
            </a:endParaRPr>
          </a:p>
        </p:txBody>
      </p:sp>
      <p:sp>
        <p:nvSpPr>
          <p:cNvPr id="151575" name="Line 1048"/>
          <p:cNvSpPr/>
          <p:nvPr/>
        </p:nvSpPr>
        <p:spPr>
          <a:xfrm flipH="1">
            <a:off x="4946650" y="5126038"/>
            <a:ext cx="830263" cy="215900"/>
          </a:xfrm>
          <a:prstGeom prst="line">
            <a:avLst/>
          </a:prstGeom>
          <a:ln w="25400" cap="sq" cmpd="sng">
            <a:solidFill>
              <a:srgbClr val="FF6600"/>
            </a:solidFill>
            <a:prstDash val="solid"/>
            <a:headEnd type="none" w="med" len="med"/>
            <a:tailEnd type="triangle" w="lg" len="lg"/>
          </a:ln>
        </p:spPr>
      </p:sp>
      <p:sp>
        <p:nvSpPr>
          <p:cNvPr id="151576" name="Line 1049"/>
          <p:cNvSpPr/>
          <p:nvPr/>
        </p:nvSpPr>
        <p:spPr>
          <a:xfrm flipH="1">
            <a:off x="5145088" y="5700713"/>
            <a:ext cx="688975" cy="288925"/>
          </a:xfrm>
          <a:prstGeom prst="line">
            <a:avLst/>
          </a:prstGeom>
          <a:ln w="25400" cap="sq" cmpd="sng">
            <a:solidFill>
              <a:srgbClr val="FF6600"/>
            </a:solidFill>
            <a:prstDash val="solid"/>
            <a:headEnd type="none" w="med" len="med"/>
            <a:tailEnd type="triangle" w="lg" len="lg"/>
          </a:ln>
        </p:spPr>
      </p:sp>
      <p:sp>
        <p:nvSpPr>
          <p:cNvPr id="151577" name="Text Box 1050"/>
          <p:cNvSpPr txBox="1"/>
          <p:nvPr/>
        </p:nvSpPr>
        <p:spPr>
          <a:xfrm>
            <a:off x="6613525" y="257016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JMP</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51578" name="Line 1051"/>
          <p:cNvSpPr/>
          <p:nvPr/>
        </p:nvSpPr>
        <p:spPr>
          <a:xfrm>
            <a:off x="6156325" y="2597150"/>
            <a:ext cx="1676400" cy="1588"/>
          </a:xfrm>
          <a:prstGeom prst="line">
            <a:avLst/>
          </a:prstGeom>
          <a:ln w="25400" cap="sq" cmpd="sng">
            <a:solidFill>
              <a:schemeClr val="tx1"/>
            </a:solidFill>
            <a:prstDash val="solid"/>
            <a:headEnd type="none" w="med" len="med"/>
            <a:tailEnd type="none" w="med" len="med"/>
          </a:ln>
        </p:spPr>
      </p:sp>
      <p:sp>
        <p:nvSpPr>
          <p:cNvPr id="151579" name="Line 1052"/>
          <p:cNvSpPr/>
          <p:nvPr/>
        </p:nvSpPr>
        <p:spPr>
          <a:xfrm>
            <a:off x="6156325" y="2979738"/>
            <a:ext cx="1676400" cy="1587"/>
          </a:xfrm>
          <a:prstGeom prst="line">
            <a:avLst/>
          </a:prstGeom>
          <a:ln w="25400" cap="sq" cmpd="sng">
            <a:solidFill>
              <a:schemeClr val="tx1"/>
            </a:solidFill>
            <a:prstDash val="solid"/>
            <a:headEnd type="none" w="med" len="med"/>
            <a:tailEnd type="none" w="med" len="med"/>
          </a:ln>
        </p:spPr>
      </p:sp>
      <p:sp>
        <p:nvSpPr>
          <p:cNvPr id="151580" name="Text Box 1053"/>
          <p:cNvSpPr txBox="1"/>
          <p:nvPr/>
        </p:nvSpPr>
        <p:spPr>
          <a:xfrm>
            <a:off x="6746875" y="2065338"/>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51581" name="Text Box 1054"/>
          <p:cNvSpPr txBox="1"/>
          <p:nvPr/>
        </p:nvSpPr>
        <p:spPr>
          <a:xfrm>
            <a:off x="6751638" y="3084513"/>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51582" name="Text Box 1055"/>
          <p:cNvSpPr txBox="1"/>
          <p:nvPr/>
        </p:nvSpPr>
        <p:spPr>
          <a:xfrm>
            <a:off x="6737350" y="4122738"/>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51583" name="Text Box 1056"/>
          <p:cNvSpPr txBox="1"/>
          <p:nvPr/>
        </p:nvSpPr>
        <p:spPr>
          <a:xfrm>
            <a:off x="6765925" y="6103938"/>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51584" name="Text Box 1057"/>
          <p:cNvSpPr txBox="1"/>
          <p:nvPr/>
        </p:nvSpPr>
        <p:spPr>
          <a:xfrm>
            <a:off x="6446838" y="3560763"/>
            <a:ext cx="1233487"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solidFill>
                  <a:schemeClr val="bg1"/>
                </a:solidFill>
                <a:latin typeface="Times New Roman" panose="02020603050405020304" pitchFamily="18" charset="0"/>
                <a:ea typeface="宋体" panose="02010600030101010101" pitchFamily="2" charset="-122"/>
              </a:rPr>
              <a:t>指令码</a:t>
            </a:r>
            <a:endParaRPr lang="zh-CN" altLang="en-US" sz="2000" b="1" dirty="0">
              <a:solidFill>
                <a:schemeClr val="bg1"/>
              </a:solidFill>
              <a:latin typeface="Times New Roman" panose="02020603050405020304" pitchFamily="18" charset="0"/>
              <a:ea typeface="宋体" panose="02010600030101010101" pitchFamily="2" charset="-122"/>
            </a:endParaRPr>
          </a:p>
        </p:txBody>
      </p:sp>
      <p:sp>
        <p:nvSpPr>
          <p:cNvPr id="151585" name="AutoShape 1058"/>
          <p:cNvSpPr/>
          <p:nvPr/>
        </p:nvSpPr>
        <p:spPr>
          <a:xfrm>
            <a:off x="7985125" y="2141538"/>
            <a:ext cx="152400" cy="990600"/>
          </a:xfrm>
          <a:prstGeom prst="rightBrace">
            <a:avLst>
              <a:gd name="adj1" fmla="val 53745"/>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1586" name="AutoShape 1059"/>
          <p:cNvSpPr/>
          <p:nvPr/>
        </p:nvSpPr>
        <p:spPr>
          <a:xfrm>
            <a:off x="7956550" y="3360738"/>
            <a:ext cx="180975" cy="990600"/>
          </a:xfrm>
          <a:prstGeom prst="rightBrace">
            <a:avLst>
              <a:gd name="adj1" fmla="val 45259"/>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1587" name="AutoShape 1060"/>
          <p:cNvSpPr/>
          <p:nvPr/>
        </p:nvSpPr>
        <p:spPr>
          <a:xfrm>
            <a:off x="7985125" y="4579938"/>
            <a:ext cx="152400" cy="1752600"/>
          </a:xfrm>
          <a:prstGeom prst="rightBrace">
            <a:avLst>
              <a:gd name="adj1" fmla="val 95087"/>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1588" name="Text Box 1061"/>
          <p:cNvSpPr txBox="1"/>
          <p:nvPr/>
        </p:nvSpPr>
        <p:spPr>
          <a:xfrm>
            <a:off x="8137525" y="1993900"/>
            <a:ext cx="457200" cy="1311275"/>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代码段</a:t>
            </a:r>
            <a:r>
              <a:rPr lang="en-US" altLang="zh-CN" sz="2000" b="1" dirty="0">
                <a:latin typeface="Times New Roman" panose="02020603050405020304" pitchFamily="18" charset="0"/>
                <a:ea typeface="宋体" panose="02010600030101010101" pitchFamily="2" charset="-122"/>
              </a:rPr>
              <a:t>1</a:t>
            </a:r>
            <a:endParaRPr lang="en-US" altLang="zh-CN" sz="2000" b="1" dirty="0">
              <a:latin typeface="Times New Roman" panose="02020603050405020304" pitchFamily="18" charset="0"/>
              <a:ea typeface="宋体" panose="02010600030101010101" pitchFamily="2" charset="-122"/>
            </a:endParaRPr>
          </a:p>
        </p:txBody>
      </p:sp>
      <p:sp>
        <p:nvSpPr>
          <p:cNvPr id="151589" name="Text Box 1062"/>
          <p:cNvSpPr txBox="1"/>
          <p:nvPr/>
        </p:nvSpPr>
        <p:spPr>
          <a:xfrm>
            <a:off x="8137525" y="3387725"/>
            <a:ext cx="457200" cy="1311275"/>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代码段</a:t>
            </a:r>
            <a:r>
              <a:rPr lang="en-US" altLang="zh-CN" sz="2000" b="1" dirty="0">
                <a:latin typeface="Times New Roman" panose="02020603050405020304" pitchFamily="18" charset="0"/>
                <a:ea typeface="宋体" panose="02010600030101010101" pitchFamily="2" charset="-122"/>
              </a:rPr>
              <a:t>2</a:t>
            </a:r>
            <a:endParaRPr lang="en-US" altLang="zh-CN" sz="2000" b="1" dirty="0">
              <a:latin typeface="Times New Roman" panose="02020603050405020304" pitchFamily="18" charset="0"/>
              <a:ea typeface="宋体" panose="02010600030101010101" pitchFamily="2" charset="-122"/>
            </a:endParaRPr>
          </a:p>
        </p:txBody>
      </p:sp>
      <p:sp>
        <p:nvSpPr>
          <p:cNvPr id="151590" name="Text Box 1063"/>
          <p:cNvSpPr txBox="1"/>
          <p:nvPr/>
        </p:nvSpPr>
        <p:spPr>
          <a:xfrm>
            <a:off x="8213725" y="5021263"/>
            <a:ext cx="457200" cy="1006475"/>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000" b="1" dirty="0">
                <a:solidFill>
                  <a:srgbClr val="FF0000"/>
                </a:solidFill>
                <a:latin typeface="Times New Roman" panose="02020603050405020304" pitchFamily="18" charset="0"/>
                <a:ea typeface="宋体" panose="02010600030101010101" pitchFamily="2" charset="-122"/>
              </a:rPr>
              <a:t>数据段</a:t>
            </a:r>
            <a:endParaRPr lang="zh-CN" altLang="en-US" sz="2000" b="1" dirty="0">
              <a:solidFill>
                <a:srgbClr val="FF0000"/>
              </a:solidFill>
              <a:latin typeface="Times New Roman" panose="02020603050405020304" pitchFamily="18" charset="0"/>
              <a:ea typeface="宋体" panose="02010600030101010101" pitchFamily="2" charset="-122"/>
            </a:endParaRPr>
          </a:p>
        </p:txBody>
      </p:sp>
      <p:sp>
        <p:nvSpPr>
          <p:cNvPr id="149543" name="文本框 2"/>
          <p:cNvSpPr txBox="1"/>
          <p:nvPr/>
        </p:nvSpPr>
        <p:spPr>
          <a:xfrm>
            <a:off x="701675" y="3724275"/>
            <a:ext cx="3719513" cy="2554288"/>
          </a:xfrm>
          <a:prstGeom prst="rect">
            <a:avLst/>
          </a:prstGeom>
          <a:noFill/>
          <a:ln w="19050" cap="flat" cmpd="sng">
            <a:solidFill>
              <a:schemeClr val="tx1"/>
            </a:solidFill>
            <a:prstDash val="solid"/>
            <a:miter/>
            <a:headEnd type="none" w="med" len="med"/>
            <a:tailEnd type="none" w="med" len="med"/>
          </a:ln>
        </p:spPr>
        <p:txBody>
          <a:bodyPr>
            <a:spAutoFit/>
          </a:bodyPr>
          <a:p>
            <a:pPr eaLnBrk="0" hangingPunct="0">
              <a:buFont typeface="Wingdings" panose="05000000000000000000" pitchFamily="2" charset="2"/>
            </a:pPr>
            <a:r>
              <a:rPr lang="zh-CN" altLang="en-US" sz="2000" b="1" dirty="0">
                <a:latin typeface="宋体" panose="02010600030101010101" pitchFamily="2" charset="-122"/>
                <a:ea typeface="宋体" panose="02010600030101010101" pitchFamily="2" charset="-122"/>
              </a:rPr>
              <a:t>指令执行前</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DS</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=3000H</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BX</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=3000H</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33000H</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=0BH</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33001H</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=20H</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33002H</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=10H</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33003H</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=80H</a:t>
            </a:r>
            <a:endParaRPr lang="en-US" altLang="zh-CN" sz="2000" b="1" dirty="0">
              <a:latin typeface="宋体" panose="02010600030101010101" pitchFamily="2" charset="-122"/>
              <a:ea typeface="宋体" panose="02010600030101010101" pitchFamily="2" charset="-122"/>
              <a:sym typeface="Wingdings" panose="05000000000000000000" pitchFamily="2" charset="2"/>
            </a:endParaRPr>
          </a:p>
          <a:p>
            <a:pPr eaLnBrk="0" hangingPunct="0">
              <a:buFont typeface="Wingdings" panose="05000000000000000000" pitchFamily="2" charset="2"/>
            </a:pPr>
            <a:r>
              <a:rPr lang="zh-CN" altLang="en-US" sz="2000" b="1" dirty="0">
                <a:latin typeface="宋体" panose="02010600030101010101" pitchFamily="2" charset="-122"/>
                <a:ea typeface="宋体" panose="02010600030101010101" pitchFamily="2" charset="-122"/>
                <a:sym typeface="Wingdings" panose="05000000000000000000" pitchFamily="2" charset="2"/>
              </a:rPr>
              <a:t>则指令执行后，（</a:t>
            </a:r>
            <a:r>
              <a:rPr lang="en-US" altLang="zh-CN" sz="2000" b="1" dirty="0">
                <a:latin typeface="宋体" panose="02010600030101010101" pitchFamily="2" charset="-122"/>
                <a:ea typeface="宋体" panose="02010600030101010101" pitchFamily="2" charset="-122"/>
                <a:sym typeface="Wingdings" panose="05000000000000000000" pitchFamily="2" charset="2"/>
              </a:rPr>
              <a:t>IP</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=200BH</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CS</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r>
              <a:rPr lang="en-US" altLang="zh-CN" sz="2000" b="1" dirty="0">
                <a:latin typeface="宋体" panose="02010600030101010101" pitchFamily="2" charset="-122"/>
                <a:ea typeface="宋体" panose="02010600030101010101" pitchFamily="2" charset="-122"/>
                <a:sym typeface="Wingdings" panose="05000000000000000000" pitchFamily="2" charset="2"/>
              </a:rPr>
              <a:t>=8010H</a:t>
            </a:r>
            <a:r>
              <a:rPr lang="zh-CN" altLang="en-US" sz="2000" b="1" dirty="0">
                <a:latin typeface="宋体" panose="02010600030101010101" pitchFamily="2" charset="-122"/>
                <a:ea typeface="宋体" panose="02010600030101010101" pitchFamily="2" charset="-122"/>
                <a:sym typeface="Wingdings" panose="05000000000000000000" pitchFamily="2" charset="2"/>
              </a:rPr>
              <a:t>。</a:t>
            </a:r>
            <a:endParaRPr lang="en-US" altLang="zh-CN" sz="2000" b="1" dirty="0">
              <a:latin typeface="宋体" panose="02010600030101010101" pitchFamily="2" charset="-122"/>
              <a:ea typeface="宋体" panose="02010600030101010101" pitchFamily="2" charset="-122"/>
              <a:sym typeface="Wingdings" panose="05000000000000000000" pitchFamily="2" charset="2"/>
            </a:endParaRPr>
          </a:p>
          <a:p>
            <a:pPr eaLnBrk="0" hangingPunct="0">
              <a:buFont typeface="Wingdings" panose="05000000000000000000" pitchFamily="2" charset="2"/>
            </a:pPr>
            <a:r>
              <a:rPr lang="zh-CN" altLang="en-US" sz="2000" b="1" dirty="0">
                <a:latin typeface="宋体" panose="02010600030101010101" pitchFamily="2" charset="-122"/>
                <a:ea typeface="宋体" panose="02010600030101010101" pitchFamily="2" charset="-122"/>
                <a:sym typeface="Wingdings" panose="05000000000000000000" pitchFamily="2" charset="2"/>
              </a:rPr>
              <a:t>转移后的目标地址</a:t>
            </a:r>
            <a:r>
              <a:rPr lang="en-US" altLang="zh-CN" sz="2000" b="1" dirty="0">
                <a:latin typeface="宋体" panose="02010600030101010101" pitchFamily="2" charset="-122"/>
                <a:ea typeface="宋体" panose="02010600030101010101" pitchFamily="2" charset="-122"/>
                <a:sym typeface="Wingdings" panose="05000000000000000000" pitchFamily="2" charset="2"/>
              </a:rPr>
              <a:t>=8210BH</a:t>
            </a:r>
            <a:endParaRPr lang="zh-CN" altLang="en-US" sz="2000" b="1"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1556">
                                            <p:txEl>
                                              <p:charRg st="0" end="21"/>
                                            </p:txEl>
                                          </p:spTgt>
                                        </p:tgtEl>
                                        <p:attrNameLst>
                                          <p:attrName>style.visibility</p:attrName>
                                        </p:attrNameLst>
                                      </p:cBhvr>
                                      <p:to>
                                        <p:strVal val="visible"/>
                                      </p:to>
                                    </p:set>
                                    <p:animEffect transition="in" filter="blinds(horizontal)">
                                      <p:cBhvr>
                                        <p:cTn id="7" dur="500"/>
                                        <p:tgtEl>
                                          <p:spTgt spid="151556">
                                            <p:txEl>
                                              <p:charRg st="0" end="2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1556">
                                            <p:txEl>
                                              <p:charRg st="21" end="44"/>
                                            </p:txEl>
                                          </p:spTgt>
                                        </p:tgtEl>
                                        <p:attrNameLst>
                                          <p:attrName>style.visibility</p:attrName>
                                        </p:attrNameLst>
                                      </p:cBhvr>
                                      <p:to>
                                        <p:strVal val="visible"/>
                                      </p:to>
                                    </p:set>
                                    <p:animEffect transition="in" filter="blinds(horizontal)">
                                      <p:cBhvr>
                                        <p:cTn id="12" dur="500"/>
                                        <p:tgtEl>
                                          <p:spTgt spid="151556">
                                            <p:txEl>
                                              <p:charRg st="21" end="4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51557"/>
                                        </p:tgtEl>
                                        <p:attrNameLst>
                                          <p:attrName>style.visibility</p:attrName>
                                        </p:attrNameLst>
                                      </p:cBhvr>
                                      <p:to>
                                        <p:strVal val="visible"/>
                                      </p:to>
                                    </p:set>
                                    <p:anim calcmode="lin" valueType="num">
                                      <p:cBhvr>
                                        <p:cTn id="17" dur="500" fill="hold"/>
                                        <p:tgtEl>
                                          <p:spTgt spid="151557"/>
                                        </p:tgtEl>
                                        <p:attrNameLst>
                                          <p:attrName>ppt_x</p:attrName>
                                        </p:attrNameLst>
                                      </p:cBhvr>
                                      <p:tavLst>
                                        <p:tav tm="0">
                                          <p:val>
                                            <p:strVal val="#ppt_x"/>
                                          </p:val>
                                        </p:tav>
                                        <p:tav tm="100000">
                                          <p:val>
                                            <p:strVal val="#ppt_x"/>
                                          </p:val>
                                        </p:tav>
                                      </p:tavLst>
                                    </p:anim>
                                    <p:anim calcmode="lin" valueType="num">
                                      <p:cBhvr>
                                        <p:cTn id="18" dur="500" fill="hold"/>
                                        <p:tgtEl>
                                          <p:spTgt spid="15155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51558"/>
                                        </p:tgtEl>
                                        <p:attrNameLst>
                                          <p:attrName>style.visibility</p:attrName>
                                        </p:attrNameLst>
                                      </p:cBhvr>
                                      <p:to>
                                        <p:strVal val="visible"/>
                                      </p:to>
                                    </p:set>
                                    <p:anim calcmode="lin" valueType="num">
                                      <p:cBhvr>
                                        <p:cTn id="21" dur="500" fill="hold"/>
                                        <p:tgtEl>
                                          <p:spTgt spid="151558"/>
                                        </p:tgtEl>
                                        <p:attrNameLst>
                                          <p:attrName>ppt_x</p:attrName>
                                        </p:attrNameLst>
                                      </p:cBhvr>
                                      <p:tavLst>
                                        <p:tav tm="0">
                                          <p:val>
                                            <p:strVal val="#ppt_x"/>
                                          </p:val>
                                        </p:tav>
                                        <p:tav tm="100000">
                                          <p:val>
                                            <p:strVal val="#ppt_x"/>
                                          </p:val>
                                        </p:tav>
                                      </p:tavLst>
                                    </p:anim>
                                    <p:anim calcmode="lin" valueType="num">
                                      <p:cBhvr>
                                        <p:cTn id="22" dur="500" fill="hold"/>
                                        <p:tgtEl>
                                          <p:spTgt spid="151558"/>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51559"/>
                                        </p:tgtEl>
                                        <p:attrNameLst>
                                          <p:attrName>style.visibility</p:attrName>
                                        </p:attrNameLst>
                                      </p:cBhvr>
                                      <p:to>
                                        <p:strVal val="visible"/>
                                      </p:to>
                                    </p:set>
                                    <p:anim calcmode="lin" valueType="num">
                                      <p:cBhvr>
                                        <p:cTn id="25" dur="500" fill="hold"/>
                                        <p:tgtEl>
                                          <p:spTgt spid="151559"/>
                                        </p:tgtEl>
                                        <p:attrNameLst>
                                          <p:attrName>ppt_x</p:attrName>
                                        </p:attrNameLst>
                                      </p:cBhvr>
                                      <p:tavLst>
                                        <p:tav tm="0">
                                          <p:val>
                                            <p:strVal val="#ppt_x"/>
                                          </p:val>
                                        </p:tav>
                                        <p:tav tm="100000">
                                          <p:val>
                                            <p:strVal val="#ppt_x"/>
                                          </p:val>
                                        </p:tav>
                                      </p:tavLst>
                                    </p:anim>
                                    <p:anim calcmode="lin" valueType="num">
                                      <p:cBhvr>
                                        <p:cTn id="26" dur="500" fill="hold"/>
                                        <p:tgtEl>
                                          <p:spTgt spid="151559"/>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51560"/>
                                        </p:tgtEl>
                                        <p:attrNameLst>
                                          <p:attrName>style.visibility</p:attrName>
                                        </p:attrNameLst>
                                      </p:cBhvr>
                                      <p:to>
                                        <p:strVal val="visible"/>
                                      </p:to>
                                    </p:set>
                                    <p:anim calcmode="lin" valueType="num">
                                      <p:cBhvr>
                                        <p:cTn id="29" dur="500" fill="hold"/>
                                        <p:tgtEl>
                                          <p:spTgt spid="151560"/>
                                        </p:tgtEl>
                                        <p:attrNameLst>
                                          <p:attrName>ppt_x</p:attrName>
                                        </p:attrNameLst>
                                      </p:cBhvr>
                                      <p:tavLst>
                                        <p:tav tm="0">
                                          <p:val>
                                            <p:strVal val="#ppt_x"/>
                                          </p:val>
                                        </p:tav>
                                        <p:tav tm="100000">
                                          <p:val>
                                            <p:strVal val="#ppt_x"/>
                                          </p:val>
                                        </p:tav>
                                      </p:tavLst>
                                    </p:anim>
                                    <p:anim calcmode="lin" valueType="num">
                                      <p:cBhvr>
                                        <p:cTn id="30" dur="500" fill="hold"/>
                                        <p:tgtEl>
                                          <p:spTgt spid="151560"/>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51561"/>
                                        </p:tgtEl>
                                        <p:attrNameLst>
                                          <p:attrName>style.visibility</p:attrName>
                                        </p:attrNameLst>
                                      </p:cBhvr>
                                      <p:to>
                                        <p:strVal val="visible"/>
                                      </p:to>
                                    </p:set>
                                    <p:anim calcmode="lin" valueType="num">
                                      <p:cBhvr>
                                        <p:cTn id="33" dur="500" fill="hold"/>
                                        <p:tgtEl>
                                          <p:spTgt spid="151561"/>
                                        </p:tgtEl>
                                        <p:attrNameLst>
                                          <p:attrName>ppt_x</p:attrName>
                                        </p:attrNameLst>
                                      </p:cBhvr>
                                      <p:tavLst>
                                        <p:tav tm="0">
                                          <p:val>
                                            <p:strVal val="#ppt_x"/>
                                          </p:val>
                                        </p:tav>
                                        <p:tav tm="100000">
                                          <p:val>
                                            <p:strVal val="#ppt_x"/>
                                          </p:val>
                                        </p:tav>
                                      </p:tavLst>
                                    </p:anim>
                                    <p:anim calcmode="lin" valueType="num">
                                      <p:cBhvr>
                                        <p:cTn id="34" dur="500" fill="hold"/>
                                        <p:tgtEl>
                                          <p:spTgt spid="151561"/>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51562"/>
                                        </p:tgtEl>
                                        <p:attrNameLst>
                                          <p:attrName>style.visibility</p:attrName>
                                        </p:attrNameLst>
                                      </p:cBhvr>
                                      <p:to>
                                        <p:strVal val="visible"/>
                                      </p:to>
                                    </p:set>
                                    <p:anim calcmode="lin" valueType="num">
                                      <p:cBhvr>
                                        <p:cTn id="37" dur="500" fill="hold"/>
                                        <p:tgtEl>
                                          <p:spTgt spid="151562"/>
                                        </p:tgtEl>
                                        <p:attrNameLst>
                                          <p:attrName>ppt_x</p:attrName>
                                        </p:attrNameLst>
                                      </p:cBhvr>
                                      <p:tavLst>
                                        <p:tav tm="0">
                                          <p:val>
                                            <p:strVal val="#ppt_x"/>
                                          </p:val>
                                        </p:tav>
                                        <p:tav tm="100000">
                                          <p:val>
                                            <p:strVal val="#ppt_x"/>
                                          </p:val>
                                        </p:tav>
                                      </p:tavLst>
                                    </p:anim>
                                    <p:anim calcmode="lin" valueType="num">
                                      <p:cBhvr>
                                        <p:cTn id="38" dur="500" fill="hold"/>
                                        <p:tgtEl>
                                          <p:spTgt spid="151562"/>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51563"/>
                                        </p:tgtEl>
                                        <p:attrNameLst>
                                          <p:attrName>style.visibility</p:attrName>
                                        </p:attrNameLst>
                                      </p:cBhvr>
                                      <p:to>
                                        <p:strVal val="visible"/>
                                      </p:to>
                                    </p:set>
                                    <p:anim calcmode="lin" valueType="num">
                                      <p:cBhvr>
                                        <p:cTn id="41" dur="500" fill="hold"/>
                                        <p:tgtEl>
                                          <p:spTgt spid="151563"/>
                                        </p:tgtEl>
                                        <p:attrNameLst>
                                          <p:attrName>ppt_x</p:attrName>
                                        </p:attrNameLst>
                                      </p:cBhvr>
                                      <p:tavLst>
                                        <p:tav tm="0">
                                          <p:val>
                                            <p:strVal val="#ppt_x"/>
                                          </p:val>
                                        </p:tav>
                                        <p:tav tm="100000">
                                          <p:val>
                                            <p:strVal val="#ppt_x"/>
                                          </p:val>
                                        </p:tav>
                                      </p:tavLst>
                                    </p:anim>
                                    <p:anim calcmode="lin" valueType="num">
                                      <p:cBhvr>
                                        <p:cTn id="42" dur="500" fill="hold"/>
                                        <p:tgtEl>
                                          <p:spTgt spid="151563"/>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51564"/>
                                        </p:tgtEl>
                                        <p:attrNameLst>
                                          <p:attrName>style.visibility</p:attrName>
                                        </p:attrNameLst>
                                      </p:cBhvr>
                                      <p:to>
                                        <p:strVal val="visible"/>
                                      </p:to>
                                    </p:set>
                                    <p:anim calcmode="lin" valueType="num">
                                      <p:cBhvr>
                                        <p:cTn id="45" dur="500" fill="hold"/>
                                        <p:tgtEl>
                                          <p:spTgt spid="151564"/>
                                        </p:tgtEl>
                                        <p:attrNameLst>
                                          <p:attrName>ppt_x</p:attrName>
                                        </p:attrNameLst>
                                      </p:cBhvr>
                                      <p:tavLst>
                                        <p:tav tm="0">
                                          <p:val>
                                            <p:strVal val="#ppt_x"/>
                                          </p:val>
                                        </p:tav>
                                        <p:tav tm="100000">
                                          <p:val>
                                            <p:strVal val="#ppt_x"/>
                                          </p:val>
                                        </p:tav>
                                      </p:tavLst>
                                    </p:anim>
                                    <p:anim calcmode="lin" valueType="num">
                                      <p:cBhvr>
                                        <p:cTn id="46" dur="500" fill="hold"/>
                                        <p:tgtEl>
                                          <p:spTgt spid="151564"/>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51577"/>
                                        </p:tgtEl>
                                        <p:attrNameLst>
                                          <p:attrName>style.visibility</p:attrName>
                                        </p:attrNameLst>
                                      </p:cBhvr>
                                      <p:to>
                                        <p:strVal val="visible"/>
                                      </p:to>
                                    </p:set>
                                    <p:anim calcmode="lin" valueType="num">
                                      <p:cBhvr>
                                        <p:cTn id="49" dur="500" fill="hold"/>
                                        <p:tgtEl>
                                          <p:spTgt spid="151577"/>
                                        </p:tgtEl>
                                        <p:attrNameLst>
                                          <p:attrName>ppt_x</p:attrName>
                                        </p:attrNameLst>
                                      </p:cBhvr>
                                      <p:tavLst>
                                        <p:tav tm="0">
                                          <p:val>
                                            <p:strVal val="#ppt_x"/>
                                          </p:val>
                                        </p:tav>
                                        <p:tav tm="100000">
                                          <p:val>
                                            <p:strVal val="#ppt_x"/>
                                          </p:val>
                                        </p:tav>
                                      </p:tavLst>
                                    </p:anim>
                                    <p:anim calcmode="lin" valueType="num">
                                      <p:cBhvr>
                                        <p:cTn id="50" dur="500" fill="hold"/>
                                        <p:tgtEl>
                                          <p:spTgt spid="151577"/>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51578"/>
                                        </p:tgtEl>
                                        <p:attrNameLst>
                                          <p:attrName>style.visibility</p:attrName>
                                        </p:attrNameLst>
                                      </p:cBhvr>
                                      <p:to>
                                        <p:strVal val="visible"/>
                                      </p:to>
                                    </p:set>
                                    <p:anim calcmode="lin" valueType="num">
                                      <p:cBhvr>
                                        <p:cTn id="53" dur="500" fill="hold"/>
                                        <p:tgtEl>
                                          <p:spTgt spid="151578"/>
                                        </p:tgtEl>
                                        <p:attrNameLst>
                                          <p:attrName>ppt_x</p:attrName>
                                        </p:attrNameLst>
                                      </p:cBhvr>
                                      <p:tavLst>
                                        <p:tav tm="0">
                                          <p:val>
                                            <p:strVal val="#ppt_x"/>
                                          </p:val>
                                        </p:tav>
                                        <p:tav tm="100000">
                                          <p:val>
                                            <p:strVal val="#ppt_x"/>
                                          </p:val>
                                        </p:tav>
                                      </p:tavLst>
                                    </p:anim>
                                    <p:anim calcmode="lin" valueType="num">
                                      <p:cBhvr>
                                        <p:cTn id="54" dur="500" fill="hold"/>
                                        <p:tgtEl>
                                          <p:spTgt spid="151578"/>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51579"/>
                                        </p:tgtEl>
                                        <p:attrNameLst>
                                          <p:attrName>style.visibility</p:attrName>
                                        </p:attrNameLst>
                                      </p:cBhvr>
                                      <p:to>
                                        <p:strVal val="visible"/>
                                      </p:to>
                                    </p:set>
                                    <p:anim calcmode="lin" valueType="num">
                                      <p:cBhvr>
                                        <p:cTn id="57" dur="500" fill="hold"/>
                                        <p:tgtEl>
                                          <p:spTgt spid="151579"/>
                                        </p:tgtEl>
                                        <p:attrNameLst>
                                          <p:attrName>ppt_x</p:attrName>
                                        </p:attrNameLst>
                                      </p:cBhvr>
                                      <p:tavLst>
                                        <p:tav tm="0">
                                          <p:val>
                                            <p:strVal val="#ppt_x"/>
                                          </p:val>
                                        </p:tav>
                                        <p:tav tm="100000">
                                          <p:val>
                                            <p:strVal val="#ppt_x"/>
                                          </p:val>
                                        </p:tav>
                                      </p:tavLst>
                                    </p:anim>
                                    <p:anim calcmode="lin" valueType="num">
                                      <p:cBhvr>
                                        <p:cTn id="58" dur="500" fill="hold"/>
                                        <p:tgtEl>
                                          <p:spTgt spid="151579"/>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51580"/>
                                        </p:tgtEl>
                                        <p:attrNameLst>
                                          <p:attrName>style.visibility</p:attrName>
                                        </p:attrNameLst>
                                      </p:cBhvr>
                                      <p:to>
                                        <p:strVal val="visible"/>
                                      </p:to>
                                    </p:set>
                                    <p:anim calcmode="lin" valueType="num">
                                      <p:cBhvr>
                                        <p:cTn id="61" dur="500" fill="hold"/>
                                        <p:tgtEl>
                                          <p:spTgt spid="151580"/>
                                        </p:tgtEl>
                                        <p:attrNameLst>
                                          <p:attrName>ppt_x</p:attrName>
                                        </p:attrNameLst>
                                      </p:cBhvr>
                                      <p:tavLst>
                                        <p:tav tm="0">
                                          <p:val>
                                            <p:strVal val="#ppt_x"/>
                                          </p:val>
                                        </p:tav>
                                        <p:tav tm="100000">
                                          <p:val>
                                            <p:strVal val="#ppt_x"/>
                                          </p:val>
                                        </p:tav>
                                      </p:tavLst>
                                    </p:anim>
                                    <p:anim calcmode="lin" valueType="num">
                                      <p:cBhvr>
                                        <p:cTn id="62" dur="500" fill="hold"/>
                                        <p:tgtEl>
                                          <p:spTgt spid="151580"/>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51581"/>
                                        </p:tgtEl>
                                        <p:attrNameLst>
                                          <p:attrName>style.visibility</p:attrName>
                                        </p:attrNameLst>
                                      </p:cBhvr>
                                      <p:to>
                                        <p:strVal val="visible"/>
                                      </p:to>
                                    </p:set>
                                    <p:anim calcmode="lin" valueType="num">
                                      <p:cBhvr>
                                        <p:cTn id="65" dur="500" fill="hold"/>
                                        <p:tgtEl>
                                          <p:spTgt spid="151581"/>
                                        </p:tgtEl>
                                        <p:attrNameLst>
                                          <p:attrName>ppt_x</p:attrName>
                                        </p:attrNameLst>
                                      </p:cBhvr>
                                      <p:tavLst>
                                        <p:tav tm="0">
                                          <p:val>
                                            <p:strVal val="#ppt_x"/>
                                          </p:val>
                                        </p:tav>
                                        <p:tav tm="100000">
                                          <p:val>
                                            <p:strVal val="#ppt_x"/>
                                          </p:val>
                                        </p:tav>
                                      </p:tavLst>
                                    </p:anim>
                                    <p:anim calcmode="lin" valueType="num">
                                      <p:cBhvr>
                                        <p:cTn id="66" dur="500" fill="hold"/>
                                        <p:tgtEl>
                                          <p:spTgt spid="151581"/>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51582"/>
                                        </p:tgtEl>
                                        <p:attrNameLst>
                                          <p:attrName>style.visibility</p:attrName>
                                        </p:attrNameLst>
                                      </p:cBhvr>
                                      <p:to>
                                        <p:strVal val="visible"/>
                                      </p:to>
                                    </p:set>
                                    <p:anim calcmode="lin" valueType="num">
                                      <p:cBhvr>
                                        <p:cTn id="69" dur="500" fill="hold"/>
                                        <p:tgtEl>
                                          <p:spTgt spid="151582"/>
                                        </p:tgtEl>
                                        <p:attrNameLst>
                                          <p:attrName>ppt_x</p:attrName>
                                        </p:attrNameLst>
                                      </p:cBhvr>
                                      <p:tavLst>
                                        <p:tav tm="0">
                                          <p:val>
                                            <p:strVal val="#ppt_x"/>
                                          </p:val>
                                        </p:tav>
                                        <p:tav tm="100000">
                                          <p:val>
                                            <p:strVal val="#ppt_x"/>
                                          </p:val>
                                        </p:tav>
                                      </p:tavLst>
                                    </p:anim>
                                    <p:anim calcmode="lin" valueType="num">
                                      <p:cBhvr>
                                        <p:cTn id="70" dur="500" fill="hold"/>
                                        <p:tgtEl>
                                          <p:spTgt spid="151582"/>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51583"/>
                                        </p:tgtEl>
                                        <p:attrNameLst>
                                          <p:attrName>style.visibility</p:attrName>
                                        </p:attrNameLst>
                                      </p:cBhvr>
                                      <p:to>
                                        <p:strVal val="visible"/>
                                      </p:to>
                                    </p:set>
                                    <p:anim calcmode="lin" valueType="num">
                                      <p:cBhvr>
                                        <p:cTn id="73" dur="500" fill="hold"/>
                                        <p:tgtEl>
                                          <p:spTgt spid="151583"/>
                                        </p:tgtEl>
                                        <p:attrNameLst>
                                          <p:attrName>ppt_x</p:attrName>
                                        </p:attrNameLst>
                                      </p:cBhvr>
                                      <p:tavLst>
                                        <p:tav tm="0">
                                          <p:val>
                                            <p:strVal val="#ppt_x"/>
                                          </p:val>
                                        </p:tav>
                                        <p:tav tm="100000">
                                          <p:val>
                                            <p:strVal val="#ppt_x"/>
                                          </p:val>
                                        </p:tav>
                                      </p:tavLst>
                                    </p:anim>
                                    <p:anim calcmode="lin" valueType="num">
                                      <p:cBhvr>
                                        <p:cTn id="74" dur="500" fill="hold"/>
                                        <p:tgtEl>
                                          <p:spTgt spid="151583"/>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151584"/>
                                        </p:tgtEl>
                                        <p:attrNameLst>
                                          <p:attrName>style.visibility</p:attrName>
                                        </p:attrNameLst>
                                      </p:cBhvr>
                                      <p:to>
                                        <p:strVal val="visible"/>
                                      </p:to>
                                    </p:set>
                                    <p:anim calcmode="lin" valueType="num">
                                      <p:cBhvr>
                                        <p:cTn id="77" dur="500" fill="hold"/>
                                        <p:tgtEl>
                                          <p:spTgt spid="151584"/>
                                        </p:tgtEl>
                                        <p:attrNameLst>
                                          <p:attrName>ppt_x</p:attrName>
                                        </p:attrNameLst>
                                      </p:cBhvr>
                                      <p:tavLst>
                                        <p:tav tm="0">
                                          <p:val>
                                            <p:strVal val="#ppt_x"/>
                                          </p:val>
                                        </p:tav>
                                        <p:tav tm="100000">
                                          <p:val>
                                            <p:strVal val="#ppt_x"/>
                                          </p:val>
                                        </p:tav>
                                      </p:tavLst>
                                    </p:anim>
                                    <p:anim calcmode="lin" valueType="num">
                                      <p:cBhvr>
                                        <p:cTn id="78" dur="500" fill="hold"/>
                                        <p:tgtEl>
                                          <p:spTgt spid="151584"/>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151585"/>
                                        </p:tgtEl>
                                        <p:attrNameLst>
                                          <p:attrName>style.visibility</p:attrName>
                                        </p:attrNameLst>
                                      </p:cBhvr>
                                      <p:to>
                                        <p:strVal val="visible"/>
                                      </p:to>
                                    </p:set>
                                    <p:anim calcmode="lin" valueType="num">
                                      <p:cBhvr>
                                        <p:cTn id="81" dur="500" fill="hold"/>
                                        <p:tgtEl>
                                          <p:spTgt spid="151585"/>
                                        </p:tgtEl>
                                        <p:attrNameLst>
                                          <p:attrName>ppt_x</p:attrName>
                                        </p:attrNameLst>
                                      </p:cBhvr>
                                      <p:tavLst>
                                        <p:tav tm="0">
                                          <p:val>
                                            <p:strVal val="#ppt_x"/>
                                          </p:val>
                                        </p:tav>
                                        <p:tav tm="100000">
                                          <p:val>
                                            <p:strVal val="#ppt_x"/>
                                          </p:val>
                                        </p:tav>
                                      </p:tavLst>
                                    </p:anim>
                                    <p:anim calcmode="lin" valueType="num">
                                      <p:cBhvr>
                                        <p:cTn id="82" dur="500" fill="hold"/>
                                        <p:tgtEl>
                                          <p:spTgt spid="151585"/>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151586"/>
                                        </p:tgtEl>
                                        <p:attrNameLst>
                                          <p:attrName>style.visibility</p:attrName>
                                        </p:attrNameLst>
                                      </p:cBhvr>
                                      <p:to>
                                        <p:strVal val="visible"/>
                                      </p:to>
                                    </p:set>
                                    <p:anim calcmode="lin" valueType="num">
                                      <p:cBhvr>
                                        <p:cTn id="85" dur="500" fill="hold"/>
                                        <p:tgtEl>
                                          <p:spTgt spid="151586"/>
                                        </p:tgtEl>
                                        <p:attrNameLst>
                                          <p:attrName>ppt_x</p:attrName>
                                        </p:attrNameLst>
                                      </p:cBhvr>
                                      <p:tavLst>
                                        <p:tav tm="0">
                                          <p:val>
                                            <p:strVal val="#ppt_x"/>
                                          </p:val>
                                        </p:tav>
                                        <p:tav tm="100000">
                                          <p:val>
                                            <p:strVal val="#ppt_x"/>
                                          </p:val>
                                        </p:tav>
                                      </p:tavLst>
                                    </p:anim>
                                    <p:anim calcmode="lin" valueType="num">
                                      <p:cBhvr>
                                        <p:cTn id="86" dur="500" fill="hold"/>
                                        <p:tgtEl>
                                          <p:spTgt spid="151586"/>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151587"/>
                                        </p:tgtEl>
                                        <p:attrNameLst>
                                          <p:attrName>style.visibility</p:attrName>
                                        </p:attrNameLst>
                                      </p:cBhvr>
                                      <p:to>
                                        <p:strVal val="visible"/>
                                      </p:to>
                                    </p:set>
                                    <p:anim calcmode="lin" valueType="num">
                                      <p:cBhvr>
                                        <p:cTn id="89" dur="500" fill="hold"/>
                                        <p:tgtEl>
                                          <p:spTgt spid="151587"/>
                                        </p:tgtEl>
                                        <p:attrNameLst>
                                          <p:attrName>ppt_x</p:attrName>
                                        </p:attrNameLst>
                                      </p:cBhvr>
                                      <p:tavLst>
                                        <p:tav tm="0">
                                          <p:val>
                                            <p:strVal val="#ppt_x"/>
                                          </p:val>
                                        </p:tav>
                                        <p:tav tm="100000">
                                          <p:val>
                                            <p:strVal val="#ppt_x"/>
                                          </p:val>
                                        </p:tav>
                                      </p:tavLst>
                                    </p:anim>
                                    <p:anim calcmode="lin" valueType="num">
                                      <p:cBhvr>
                                        <p:cTn id="90" dur="500" fill="hold"/>
                                        <p:tgtEl>
                                          <p:spTgt spid="151587"/>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151588"/>
                                        </p:tgtEl>
                                        <p:attrNameLst>
                                          <p:attrName>style.visibility</p:attrName>
                                        </p:attrNameLst>
                                      </p:cBhvr>
                                      <p:to>
                                        <p:strVal val="visible"/>
                                      </p:to>
                                    </p:set>
                                    <p:anim calcmode="lin" valueType="num">
                                      <p:cBhvr>
                                        <p:cTn id="93" dur="500" fill="hold"/>
                                        <p:tgtEl>
                                          <p:spTgt spid="151588"/>
                                        </p:tgtEl>
                                        <p:attrNameLst>
                                          <p:attrName>ppt_x</p:attrName>
                                        </p:attrNameLst>
                                      </p:cBhvr>
                                      <p:tavLst>
                                        <p:tav tm="0">
                                          <p:val>
                                            <p:strVal val="#ppt_x"/>
                                          </p:val>
                                        </p:tav>
                                        <p:tav tm="100000">
                                          <p:val>
                                            <p:strVal val="#ppt_x"/>
                                          </p:val>
                                        </p:tav>
                                      </p:tavLst>
                                    </p:anim>
                                    <p:anim calcmode="lin" valueType="num">
                                      <p:cBhvr>
                                        <p:cTn id="94" dur="500" fill="hold"/>
                                        <p:tgtEl>
                                          <p:spTgt spid="151588"/>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151589"/>
                                        </p:tgtEl>
                                        <p:attrNameLst>
                                          <p:attrName>style.visibility</p:attrName>
                                        </p:attrNameLst>
                                      </p:cBhvr>
                                      <p:to>
                                        <p:strVal val="visible"/>
                                      </p:to>
                                    </p:set>
                                    <p:anim calcmode="lin" valueType="num">
                                      <p:cBhvr>
                                        <p:cTn id="97" dur="500" fill="hold"/>
                                        <p:tgtEl>
                                          <p:spTgt spid="151589"/>
                                        </p:tgtEl>
                                        <p:attrNameLst>
                                          <p:attrName>ppt_x</p:attrName>
                                        </p:attrNameLst>
                                      </p:cBhvr>
                                      <p:tavLst>
                                        <p:tav tm="0">
                                          <p:val>
                                            <p:strVal val="#ppt_x"/>
                                          </p:val>
                                        </p:tav>
                                        <p:tav tm="100000">
                                          <p:val>
                                            <p:strVal val="#ppt_x"/>
                                          </p:val>
                                        </p:tav>
                                      </p:tavLst>
                                    </p:anim>
                                    <p:anim calcmode="lin" valueType="num">
                                      <p:cBhvr>
                                        <p:cTn id="98" dur="500" fill="hold"/>
                                        <p:tgtEl>
                                          <p:spTgt spid="151589"/>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151590"/>
                                        </p:tgtEl>
                                        <p:attrNameLst>
                                          <p:attrName>style.visibility</p:attrName>
                                        </p:attrNameLst>
                                      </p:cBhvr>
                                      <p:to>
                                        <p:strVal val="visible"/>
                                      </p:to>
                                    </p:set>
                                    <p:anim calcmode="lin" valueType="num">
                                      <p:cBhvr>
                                        <p:cTn id="101" dur="500" fill="hold"/>
                                        <p:tgtEl>
                                          <p:spTgt spid="151590"/>
                                        </p:tgtEl>
                                        <p:attrNameLst>
                                          <p:attrName>ppt_x</p:attrName>
                                        </p:attrNameLst>
                                      </p:cBhvr>
                                      <p:tavLst>
                                        <p:tav tm="0">
                                          <p:val>
                                            <p:strVal val="#ppt_x"/>
                                          </p:val>
                                        </p:tav>
                                        <p:tav tm="100000">
                                          <p:val>
                                            <p:strVal val="#ppt_x"/>
                                          </p:val>
                                        </p:tav>
                                      </p:tavLst>
                                    </p:anim>
                                    <p:anim calcmode="lin" valueType="num">
                                      <p:cBhvr>
                                        <p:cTn id="102" dur="500" fill="hold"/>
                                        <p:tgtEl>
                                          <p:spTgt spid="151590"/>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151569"/>
                                        </p:tgtEl>
                                        <p:attrNameLst>
                                          <p:attrName>style.visibility</p:attrName>
                                        </p:attrNameLst>
                                      </p:cBhvr>
                                      <p:to>
                                        <p:strVal val="visible"/>
                                      </p:to>
                                    </p:set>
                                    <p:animEffect transition="in" filter="blinds(horizontal)">
                                      <p:cBhvr>
                                        <p:cTn id="107" dur="500"/>
                                        <p:tgtEl>
                                          <p:spTgt spid="151569"/>
                                        </p:tgtEl>
                                      </p:cBhvr>
                                    </p:animEffect>
                                  </p:childTnLst>
                                </p:cTn>
                              </p:par>
                            </p:childTnLst>
                          </p:cTn>
                        </p:par>
                        <p:par>
                          <p:cTn id="108" fill="hold">
                            <p:stCondLst>
                              <p:cond delay="500"/>
                            </p:stCondLst>
                            <p:childTnLst>
                              <p:par>
                                <p:cTn id="109" presetID="18" presetClass="entr" presetSubtype="6" fill="hold" nodeType="afterEffect">
                                  <p:stCondLst>
                                    <p:cond delay="0"/>
                                  </p:stCondLst>
                                  <p:childTnLst>
                                    <p:set>
                                      <p:cBhvr>
                                        <p:cTn id="110" dur="1" fill="hold">
                                          <p:stCondLst>
                                            <p:cond delay="0"/>
                                          </p:stCondLst>
                                        </p:cTn>
                                        <p:tgtEl>
                                          <p:spTgt spid="151570"/>
                                        </p:tgtEl>
                                        <p:attrNameLst>
                                          <p:attrName>style.visibility</p:attrName>
                                        </p:attrNameLst>
                                      </p:cBhvr>
                                      <p:to>
                                        <p:strVal val="visible"/>
                                      </p:to>
                                    </p:set>
                                    <p:animEffect transition="in" filter="strips(downRight)">
                                      <p:cBhvr>
                                        <p:cTn id="111" dur="500"/>
                                        <p:tgtEl>
                                          <p:spTgt spid="151570"/>
                                        </p:tgtEl>
                                      </p:cBhvr>
                                    </p:animEffect>
                                  </p:childTnLst>
                                </p:cTn>
                              </p:par>
                            </p:childTnLst>
                          </p:cTn>
                        </p:par>
                      </p:childTnLst>
                    </p:cTn>
                  </p:par>
                  <p:par>
                    <p:cTn id="112" fill="hold">
                      <p:stCondLst>
                        <p:cond delay="indefinite"/>
                      </p:stCondLst>
                      <p:childTnLst>
                        <p:par>
                          <p:cTn id="113" fill="hold">
                            <p:stCondLst>
                              <p:cond delay="0"/>
                            </p:stCondLst>
                            <p:childTnLst>
                              <p:par>
                                <p:cTn id="114" presetID="2" presetClass="entr" presetSubtype="4" fill="hold" grpId="0" nodeType="clickEffect">
                                  <p:stCondLst>
                                    <p:cond delay="0"/>
                                  </p:stCondLst>
                                  <p:childTnLst>
                                    <p:set>
                                      <p:cBhvr>
                                        <p:cTn id="115" dur="1" fill="hold">
                                          <p:stCondLst>
                                            <p:cond delay="0"/>
                                          </p:stCondLst>
                                        </p:cTn>
                                        <p:tgtEl>
                                          <p:spTgt spid="151565"/>
                                        </p:tgtEl>
                                        <p:attrNameLst>
                                          <p:attrName>style.visibility</p:attrName>
                                        </p:attrNameLst>
                                      </p:cBhvr>
                                      <p:to>
                                        <p:strVal val="visible"/>
                                      </p:to>
                                    </p:set>
                                    <p:anim calcmode="lin" valueType="num">
                                      <p:cBhvr>
                                        <p:cTn id="116" dur="500" fill="hold"/>
                                        <p:tgtEl>
                                          <p:spTgt spid="151565"/>
                                        </p:tgtEl>
                                        <p:attrNameLst>
                                          <p:attrName>ppt_x</p:attrName>
                                        </p:attrNameLst>
                                      </p:cBhvr>
                                      <p:tavLst>
                                        <p:tav tm="0">
                                          <p:val>
                                            <p:strVal val="#ppt_x"/>
                                          </p:val>
                                        </p:tav>
                                        <p:tav tm="100000">
                                          <p:val>
                                            <p:strVal val="#ppt_x"/>
                                          </p:val>
                                        </p:tav>
                                      </p:tavLst>
                                    </p:anim>
                                    <p:anim calcmode="lin" valueType="num">
                                      <p:cBhvr>
                                        <p:cTn id="117" dur="500" fill="hold"/>
                                        <p:tgtEl>
                                          <p:spTgt spid="151565"/>
                                        </p:tgtEl>
                                        <p:attrNameLst>
                                          <p:attrName>ppt_y</p:attrName>
                                        </p:attrNameLst>
                                      </p:cBhvr>
                                      <p:tavLst>
                                        <p:tav tm="0">
                                          <p:val>
                                            <p:strVal val="1+#ppt_h/2"/>
                                          </p:val>
                                        </p:tav>
                                        <p:tav tm="100000">
                                          <p:val>
                                            <p:strVal val="#ppt_y"/>
                                          </p:val>
                                        </p:tav>
                                      </p:tavLst>
                                    </p:anim>
                                  </p:childTnLst>
                                </p:cTn>
                              </p:par>
                              <p:par>
                                <p:cTn id="118" presetID="2" presetClass="entr" presetSubtype="4" fill="hold" grpId="0" nodeType="withEffect">
                                  <p:stCondLst>
                                    <p:cond delay="0"/>
                                  </p:stCondLst>
                                  <p:childTnLst>
                                    <p:set>
                                      <p:cBhvr>
                                        <p:cTn id="119" dur="1" fill="hold">
                                          <p:stCondLst>
                                            <p:cond delay="0"/>
                                          </p:stCondLst>
                                        </p:cTn>
                                        <p:tgtEl>
                                          <p:spTgt spid="151567"/>
                                        </p:tgtEl>
                                        <p:attrNameLst>
                                          <p:attrName>style.visibility</p:attrName>
                                        </p:attrNameLst>
                                      </p:cBhvr>
                                      <p:to>
                                        <p:strVal val="visible"/>
                                      </p:to>
                                    </p:set>
                                    <p:anim calcmode="lin" valueType="num">
                                      <p:cBhvr>
                                        <p:cTn id="120" dur="500" fill="hold"/>
                                        <p:tgtEl>
                                          <p:spTgt spid="151567"/>
                                        </p:tgtEl>
                                        <p:attrNameLst>
                                          <p:attrName>ppt_x</p:attrName>
                                        </p:attrNameLst>
                                      </p:cBhvr>
                                      <p:tavLst>
                                        <p:tav tm="0">
                                          <p:val>
                                            <p:strVal val="#ppt_x"/>
                                          </p:val>
                                        </p:tav>
                                        <p:tav tm="100000">
                                          <p:val>
                                            <p:strVal val="#ppt_x"/>
                                          </p:val>
                                        </p:tav>
                                      </p:tavLst>
                                    </p:anim>
                                    <p:anim calcmode="lin" valueType="num">
                                      <p:cBhvr>
                                        <p:cTn id="121" dur="500" fill="hold"/>
                                        <p:tgtEl>
                                          <p:spTgt spid="151567"/>
                                        </p:tgtEl>
                                        <p:attrNameLst>
                                          <p:attrName>ppt_y</p:attrName>
                                        </p:attrNameLst>
                                      </p:cBhvr>
                                      <p:tavLst>
                                        <p:tav tm="0">
                                          <p:val>
                                            <p:strVal val="1+#ppt_h/2"/>
                                          </p:val>
                                        </p:tav>
                                        <p:tav tm="100000">
                                          <p:val>
                                            <p:strVal val="#ppt_y"/>
                                          </p:val>
                                        </p:tav>
                                      </p:tavLst>
                                    </p:anim>
                                  </p:childTnLst>
                                </p:cTn>
                              </p:par>
                              <p:par>
                                <p:cTn id="122" presetID="2" presetClass="entr" presetSubtype="4" fill="hold" grpId="0" nodeType="withEffect">
                                  <p:stCondLst>
                                    <p:cond delay="0"/>
                                  </p:stCondLst>
                                  <p:childTnLst>
                                    <p:set>
                                      <p:cBhvr>
                                        <p:cTn id="123" dur="1" fill="hold">
                                          <p:stCondLst>
                                            <p:cond delay="0"/>
                                          </p:stCondLst>
                                        </p:cTn>
                                        <p:tgtEl>
                                          <p:spTgt spid="151566"/>
                                        </p:tgtEl>
                                        <p:attrNameLst>
                                          <p:attrName>style.visibility</p:attrName>
                                        </p:attrNameLst>
                                      </p:cBhvr>
                                      <p:to>
                                        <p:strVal val="visible"/>
                                      </p:to>
                                    </p:set>
                                    <p:anim calcmode="lin" valueType="num">
                                      <p:cBhvr>
                                        <p:cTn id="124" dur="500" fill="hold"/>
                                        <p:tgtEl>
                                          <p:spTgt spid="151566"/>
                                        </p:tgtEl>
                                        <p:attrNameLst>
                                          <p:attrName>ppt_x</p:attrName>
                                        </p:attrNameLst>
                                      </p:cBhvr>
                                      <p:tavLst>
                                        <p:tav tm="0">
                                          <p:val>
                                            <p:strVal val="#ppt_x"/>
                                          </p:val>
                                        </p:tav>
                                        <p:tav tm="100000">
                                          <p:val>
                                            <p:strVal val="#ppt_x"/>
                                          </p:val>
                                        </p:tav>
                                      </p:tavLst>
                                    </p:anim>
                                    <p:anim calcmode="lin" valueType="num">
                                      <p:cBhvr>
                                        <p:cTn id="125" dur="500" fill="hold"/>
                                        <p:tgtEl>
                                          <p:spTgt spid="151566"/>
                                        </p:tgtEl>
                                        <p:attrNameLst>
                                          <p:attrName>ppt_y</p:attrName>
                                        </p:attrNameLst>
                                      </p:cBhvr>
                                      <p:tavLst>
                                        <p:tav tm="0">
                                          <p:val>
                                            <p:strVal val="1+#ppt_h/2"/>
                                          </p:val>
                                        </p:tav>
                                        <p:tav tm="100000">
                                          <p:val>
                                            <p:strVal val="#ppt_y"/>
                                          </p:val>
                                        </p:tav>
                                      </p:tavLst>
                                    </p:anim>
                                  </p:childTnLst>
                                </p:cTn>
                              </p:par>
                              <p:par>
                                <p:cTn id="126" presetID="2" presetClass="entr" presetSubtype="4" fill="hold" grpId="0" nodeType="withEffect">
                                  <p:stCondLst>
                                    <p:cond delay="0"/>
                                  </p:stCondLst>
                                  <p:childTnLst>
                                    <p:set>
                                      <p:cBhvr>
                                        <p:cTn id="127" dur="1" fill="hold">
                                          <p:stCondLst>
                                            <p:cond delay="0"/>
                                          </p:stCondLst>
                                        </p:cTn>
                                        <p:tgtEl>
                                          <p:spTgt spid="151568"/>
                                        </p:tgtEl>
                                        <p:attrNameLst>
                                          <p:attrName>style.visibility</p:attrName>
                                        </p:attrNameLst>
                                      </p:cBhvr>
                                      <p:to>
                                        <p:strVal val="visible"/>
                                      </p:to>
                                    </p:set>
                                    <p:anim calcmode="lin" valueType="num">
                                      <p:cBhvr>
                                        <p:cTn id="128" dur="500" fill="hold"/>
                                        <p:tgtEl>
                                          <p:spTgt spid="151568"/>
                                        </p:tgtEl>
                                        <p:attrNameLst>
                                          <p:attrName>ppt_x</p:attrName>
                                        </p:attrNameLst>
                                      </p:cBhvr>
                                      <p:tavLst>
                                        <p:tav tm="0">
                                          <p:val>
                                            <p:strVal val="#ppt_x"/>
                                          </p:val>
                                        </p:tav>
                                        <p:tav tm="100000">
                                          <p:val>
                                            <p:strVal val="#ppt_x"/>
                                          </p:val>
                                        </p:tav>
                                      </p:tavLst>
                                    </p:anim>
                                    <p:anim calcmode="lin" valueType="num">
                                      <p:cBhvr>
                                        <p:cTn id="129" dur="500" fill="hold"/>
                                        <p:tgtEl>
                                          <p:spTgt spid="151568"/>
                                        </p:tgtEl>
                                        <p:attrNameLst>
                                          <p:attrName>ppt_y</p:attrName>
                                        </p:attrNameLst>
                                      </p:cBhvr>
                                      <p:tavLst>
                                        <p:tav tm="0">
                                          <p:val>
                                            <p:strVal val="1+#ppt_h/2"/>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18" presetClass="entr" presetSubtype="12" fill="hold" grpId="0" nodeType="clickEffect">
                                  <p:stCondLst>
                                    <p:cond delay="0"/>
                                  </p:stCondLst>
                                  <p:childTnLst>
                                    <p:set>
                                      <p:cBhvr>
                                        <p:cTn id="133" dur="1" fill="hold">
                                          <p:stCondLst>
                                            <p:cond delay="0"/>
                                          </p:stCondLst>
                                        </p:cTn>
                                        <p:tgtEl>
                                          <p:spTgt spid="151571"/>
                                        </p:tgtEl>
                                        <p:attrNameLst>
                                          <p:attrName>style.visibility</p:attrName>
                                        </p:attrNameLst>
                                      </p:cBhvr>
                                      <p:to>
                                        <p:strVal val="visible"/>
                                      </p:to>
                                    </p:set>
                                    <p:animEffect transition="in" filter="strips(downLeft)">
                                      <p:cBhvr>
                                        <p:cTn id="134" dur="500"/>
                                        <p:tgtEl>
                                          <p:spTgt spid="151571"/>
                                        </p:tgtEl>
                                      </p:cBhvr>
                                    </p:animEffect>
                                  </p:childTnLst>
                                </p:cTn>
                              </p:par>
                            </p:childTnLst>
                          </p:cTn>
                        </p:par>
                        <p:par>
                          <p:cTn id="135" fill="hold">
                            <p:stCondLst>
                              <p:cond delay="500"/>
                            </p:stCondLst>
                            <p:childTnLst>
                              <p:par>
                                <p:cTn id="136" presetID="18" presetClass="entr" presetSubtype="12" fill="hold" nodeType="afterEffect">
                                  <p:stCondLst>
                                    <p:cond delay="0"/>
                                  </p:stCondLst>
                                  <p:childTnLst>
                                    <p:set>
                                      <p:cBhvr>
                                        <p:cTn id="137" dur="1" fill="hold">
                                          <p:stCondLst>
                                            <p:cond delay="0"/>
                                          </p:stCondLst>
                                        </p:cTn>
                                        <p:tgtEl>
                                          <p:spTgt spid="151575"/>
                                        </p:tgtEl>
                                        <p:attrNameLst>
                                          <p:attrName>style.visibility</p:attrName>
                                        </p:attrNameLst>
                                      </p:cBhvr>
                                      <p:to>
                                        <p:strVal val="visible"/>
                                      </p:to>
                                    </p:set>
                                    <p:animEffect transition="in" filter="strips(downLeft)">
                                      <p:cBhvr>
                                        <p:cTn id="138" dur="500"/>
                                        <p:tgtEl>
                                          <p:spTgt spid="151575"/>
                                        </p:tgtEl>
                                      </p:cBhvr>
                                    </p:animEffect>
                                  </p:childTnLst>
                                </p:cTn>
                              </p:par>
                            </p:childTnLst>
                          </p:cTn>
                        </p:par>
                        <p:par>
                          <p:cTn id="139" fill="hold">
                            <p:stCondLst>
                              <p:cond delay="1000"/>
                            </p:stCondLst>
                            <p:childTnLst>
                              <p:par>
                                <p:cTn id="140" presetID="18" presetClass="entr" presetSubtype="6" fill="hold" grpId="0" nodeType="afterEffect">
                                  <p:stCondLst>
                                    <p:cond delay="0"/>
                                  </p:stCondLst>
                                  <p:childTnLst>
                                    <p:set>
                                      <p:cBhvr>
                                        <p:cTn id="141" dur="1" fill="hold">
                                          <p:stCondLst>
                                            <p:cond delay="0"/>
                                          </p:stCondLst>
                                        </p:cTn>
                                        <p:tgtEl>
                                          <p:spTgt spid="151573"/>
                                        </p:tgtEl>
                                        <p:attrNameLst>
                                          <p:attrName>style.visibility</p:attrName>
                                        </p:attrNameLst>
                                      </p:cBhvr>
                                      <p:to>
                                        <p:strVal val="visible"/>
                                      </p:to>
                                    </p:set>
                                    <p:animEffect transition="in" filter="strips(downRight)">
                                      <p:cBhvr>
                                        <p:cTn id="142" dur="500"/>
                                        <p:tgtEl>
                                          <p:spTgt spid="151573"/>
                                        </p:tgtEl>
                                      </p:cBhvr>
                                    </p:animEffect>
                                  </p:childTnLst>
                                </p:cTn>
                              </p:par>
                            </p:childTnLst>
                          </p:cTn>
                        </p:par>
                        <p:par>
                          <p:cTn id="143" fill="hold">
                            <p:stCondLst>
                              <p:cond delay="1500"/>
                            </p:stCondLst>
                            <p:childTnLst>
                              <p:par>
                                <p:cTn id="144" presetID="18" presetClass="entr" presetSubtype="12" fill="hold" grpId="0" nodeType="afterEffect">
                                  <p:stCondLst>
                                    <p:cond delay="1000"/>
                                  </p:stCondLst>
                                  <p:childTnLst>
                                    <p:set>
                                      <p:cBhvr>
                                        <p:cTn id="145" dur="1" fill="hold">
                                          <p:stCondLst>
                                            <p:cond delay="0"/>
                                          </p:stCondLst>
                                        </p:cTn>
                                        <p:tgtEl>
                                          <p:spTgt spid="151572"/>
                                        </p:tgtEl>
                                        <p:attrNameLst>
                                          <p:attrName>style.visibility</p:attrName>
                                        </p:attrNameLst>
                                      </p:cBhvr>
                                      <p:to>
                                        <p:strVal val="visible"/>
                                      </p:to>
                                    </p:set>
                                    <p:animEffect transition="in" filter="strips(downLeft)">
                                      <p:cBhvr>
                                        <p:cTn id="146" dur="500"/>
                                        <p:tgtEl>
                                          <p:spTgt spid="151572"/>
                                        </p:tgtEl>
                                      </p:cBhvr>
                                    </p:animEffect>
                                  </p:childTnLst>
                                </p:cTn>
                              </p:par>
                            </p:childTnLst>
                          </p:cTn>
                        </p:par>
                        <p:par>
                          <p:cTn id="147" fill="hold">
                            <p:stCondLst>
                              <p:cond delay="3000"/>
                            </p:stCondLst>
                            <p:childTnLst>
                              <p:par>
                                <p:cTn id="148" presetID="18" presetClass="entr" presetSubtype="12" fill="hold" nodeType="afterEffect">
                                  <p:stCondLst>
                                    <p:cond delay="0"/>
                                  </p:stCondLst>
                                  <p:childTnLst>
                                    <p:set>
                                      <p:cBhvr>
                                        <p:cTn id="149" dur="1" fill="hold">
                                          <p:stCondLst>
                                            <p:cond delay="0"/>
                                          </p:stCondLst>
                                        </p:cTn>
                                        <p:tgtEl>
                                          <p:spTgt spid="151576"/>
                                        </p:tgtEl>
                                        <p:attrNameLst>
                                          <p:attrName>style.visibility</p:attrName>
                                        </p:attrNameLst>
                                      </p:cBhvr>
                                      <p:to>
                                        <p:strVal val="visible"/>
                                      </p:to>
                                    </p:set>
                                    <p:animEffect transition="in" filter="strips(downLeft)">
                                      <p:cBhvr>
                                        <p:cTn id="150" dur="500"/>
                                        <p:tgtEl>
                                          <p:spTgt spid="151576"/>
                                        </p:tgtEl>
                                      </p:cBhvr>
                                    </p:animEffect>
                                  </p:childTnLst>
                                </p:cTn>
                              </p:par>
                            </p:childTnLst>
                          </p:cTn>
                        </p:par>
                        <p:par>
                          <p:cTn id="151" fill="hold">
                            <p:stCondLst>
                              <p:cond delay="3500"/>
                            </p:stCondLst>
                            <p:childTnLst>
                              <p:par>
                                <p:cTn id="152" presetID="18" presetClass="entr" presetSubtype="6" fill="hold" grpId="0" nodeType="afterEffect">
                                  <p:stCondLst>
                                    <p:cond delay="0"/>
                                  </p:stCondLst>
                                  <p:childTnLst>
                                    <p:set>
                                      <p:cBhvr>
                                        <p:cTn id="153" dur="1" fill="hold">
                                          <p:stCondLst>
                                            <p:cond delay="0"/>
                                          </p:stCondLst>
                                        </p:cTn>
                                        <p:tgtEl>
                                          <p:spTgt spid="151574"/>
                                        </p:tgtEl>
                                        <p:attrNameLst>
                                          <p:attrName>style.visibility</p:attrName>
                                        </p:attrNameLst>
                                      </p:cBhvr>
                                      <p:to>
                                        <p:strVal val="visible"/>
                                      </p:to>
                                    </p:set>
                                    <p:animEffect transition="in" filter="strips(downRight)">
                                      <p:cBhvr>
                                        <p:cTn id="154" dur="500"/>
                                        <p:tgtEl>
                                          <p:spTgt spid="151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7" grpId="0" animBg="1"/>
      <p:bldP spid="151565" grpId="0"/>
      <p:bldP spid="151566" grpId="0"/>
      <p:bldP spid="151567" grpId="0"/>
      <p:bldP spid="151568" grpId="0"/>
      <p:bldP spid="151569" grpId="0"/>
      <p:bldP spid="151571" grpId="0" animBg="1"/>
      <p:bldP spid="151572" grpId="0" animBg="1"/>
      <p:bldP spid="151573" grpId="0"/>
      <p:bldP spid="151574" grpId="0"/>
      <p:bldP spid="151577" grpId="0"/>
      <p:bldP spid="151580" grpId="0"/>
      <p:bldP spid="151581" grpId="0"/>
      <p:bldP spid="151582" grpId="0"/>
      <p:bldP spid="151583" grpId="0"/>
      <p:bldP spid="151584" grpId="0"/>
      <p:bldP spid="151585" grpId="0" animBg="1"/>
      <p:bldP spid="151586" grpId="0" animBg="1"/>
      <p:bldP spid="151587" grpId="0" animBg="1"/>
      <p:bldP spid="151588" grpId="0"/>
      <p:bldP spid="151589" grpId="0"/>
      <p:bldP spid="151590"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灯片编号占位符 5"/>
          <p:cNvSpPr txBox="1">
            <a:spLocks noGrp="1"/>
          </p:cNvSpPr>
          <p:nvPr/>
        </p:nvSpPr>
        <p:spPr>
          <a:xfrm>
            <a:off x="7042150" y="6243638"/>
            <a:ext cx="1905000" cy="457200"/>
          </a:xfrm>
          <a:prstGeom prst="rect">
            <a:avLst/>
          </a:prstGeom>
          <a:noFill/>
          <a:ln w="9525">
            <a:noFill/>
          </a:ln>
        </p:spPr>
        <p:txBody>
          <a:bodyPr/>
          <a:p>
            <a:pPr algn="ctr"/>
            <a:fld id="{9A0DB2DC-4C9A-4742-B13C-FB6460FD3503}" type="slidenum">
              <a:rPr lang="zh-CN" altLang="en-US" sz="1400" dirty="0">
                <a:latin typeface="Tahoma" panose="020B0604030504040204" pitchFamily="34" charset="0"/>
                <a:ea typeface="宋体" panose="02010600030101010101" pitchFamily="2" charset="-122"/>
              </a:rPr>
            </a:fld>
            <a:endParaRPr lang="zh-CN" altLang="en-US" sz="1400" dirty="0">
              <a:latin typeface="Tahoma" panose="020B0604030504040204" pitchFamily="34" charset="0"/>
              <a:ea typeface="宋体" panose="02010600030101010101" pitchFamily="2" charset="-122"/>
            </a:endParaRPr>
          </a:p>
        </p:txBody>
      </p:sp>
      <p:sp>
        <p:nvSpPr>
          <p:cNvPr id="150531" name="Rectangle 2"/>
          <p:cNvSpPr>
            <a:spLocks noGrp="1"/>
          </p:cNvSpPr>
          <p:nvPr>
            <p:ph type="title" idx="4294967295"/>
          </p:nvPr>
        </p:nvSpPr>
        <p:spPr>
          <a:xfrm>
            <a:off x="850900" y="1233488"/>
            <a:ext cx="1200150" cy="563562"/>
          </a:xfrm>
        </p:spPr>
        <p:txBody>
          <a:bodyPr vert="horz" wrap="square" lIns="91440" tIns="45720" rIns="91440" bIns="45720" anchor="ctr" anchorCtr="0"/>
          <a:p>
            <a:pPr eaLnBrk="1" hangingPunct="1"/>
            <a:r>
              <a:rPr lang="en-US" altLang="zh-CN" sz="2400" dirty="0">
                <a:solidFill>
                  <a:srgbClr val="000033"/>
                </a:solidFill>
                <a:ea typeface="宋体" panose="02010600030101010101" pitchFamily="2" charset="-122"/>
              </a:rPr>
              <a:t>【</a:t>
            </a:r>
            <a:r>
              <a:rPr lang="zh-CN" altLang="en-US" sz="2400" dirty="0">
                <a:solidFill>
                  <a:srgbClr val="000033"/>
                </a:solidFill>
                <a:ea typeface="宋体" panose="02010600030101010101" pitchFamily="2" charset="-122"/>
              </a:rPr>
              <a:t>例</a:t>
            </a:r>
            <a:r>
              <a:rPr lang="en-US" altLang="zh-CN" sz="2400" dirty="0">
                <a:solidFill>
                  <a:srgbClr val="000033"/>
                </a:solidFill>
                <a:ea typeface="宋体" panose="02010600030101010101" pitchFamily="2" charset="-122"/>
              </a:rPr>
              <a:t>】</a:t>
            </a:r>
            <a:endParaRPr lang="zh-CN" altLang="en-US" sz="2400" dirty="0">
              <a:solidFill>
                <a:srgbClr val="000033"/>
              </a:solidFill>
              <a:ea typeface="宋体" panose="02010600030101010101" pitchFamily="2" charset="-122"/>
            </a:endParaRPr>
          </a:p>
        </p:txBody>
      </p:sp>
      <p:sp>
        <p:nvSpPr>
          <p:cNvPr id="150532" name="Rectangle 3"/>
          <p:cNvSpPr>
            <a:spLocks noGrp="1"/>
          </p:cNvSpPr>
          <p:nvPr>
            <p:ph type="body" idx="4294967295"/>
          </p:nvPr>
        </p:nvSpPr>
        <p:spPr>
          <a:xfrm>
            <a:off x="930275" y="2046288"/>
            <a:ext cx="4206875" cy="3314700"/>
          </a:xfrm>
        </p:spPr>
        <p:txBody>
          <a:bodyPr vert="horz" wrap="square" lIns="91440" tIns="45720" rIns="91440" bIns="45720" anchor="t" anchorCtr="0"/>
          <a:p>
            <a:pPr marL="0" indent="0" eaLnBrk="1" hangingPunct="1">
              <a:buNone/>
            </a:pPr>
            <a:r>
              <a:rPr lang="en-US" altLang="zh-CN" sz="2400" dirty="0">
                <a:latin typeface="宋体" panose="02010600030101010101" pitchFamily="2" charset="-122"/>
                <a:ea typeface="宋体" panose="02010600030101010101" pitchFamily="2" charset="-122"/>
              </a:rPr>
              <a:t>MOV  SI</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1122H</a:t>
            </a:r>
            <a:endParaRPr lang="en-US" altLang="zh-CN" sz="2400" dirty="0">
              <a:latin typeface="宋体" panose="02010600030101010101" pitchFamily="2" charset="-122"/>
              <a:ea typeface="宋体" panose="02010600030101010101" pitchFamily="2" charset="-122"/>
            </a:endParaRPr>
          </a:p>
          <a:p>
            <a:pPr marL="0" indent="0" eaLnBrk="1" hangingPunct="1">
              <a:buNone/>
            </a:pPr>
            <a:r>
              <a:rPr lang="en-US" altLang="zh-CN" sz="2400" dirty="0">
                <a:latin typeface="宋体" panose="02010600030101010101" pitchFamily="2" charset="-122"/>
                <a:ea typeface="宋体" panose="02010600030101010101" pitchFamily="2" charset="-122"/>
              </a:rPr>
              <a:t>MOV  WORD PTR[SI]</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0120H</a:t>
            </a:r>
            <a:endParaRPr lang="en-US" altLang="zh-CN" sz="2400" dirty="0">
              <a:latin typeface="宋体" panose="02010600030101010101" pitchFamily="2" charset="-122"/>
              <a:ea typeface="宋体" panose="02010600030101010101" pitchFamily="2" charset="-122"/>
            </a:endParaRPr>
          </a:p>
          <a:p>
            <a:pPr marL="0" indent="0" eaLnBrk="1" hangingPunct="1">
              <a:buNone/>
            </a:pPr>
            <a:r>
              <a:rPr lang="en-US" altLang="zh-CN" sz="2400" dirty="0">
                <a:latin typeface="宋体" panose="02010600030101010101" pitchFamily="2" charset="-122"/>
                <a:ea typeface="宋体" panose="02010600030101010101" pitchFamily="2" charset="-122"/>
              </a:rPr>
              <a:t>ADD  SI</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2</a:t>
            </a:r>
            <a:endParaRPr lang="en-US" altLang="zh-CN" sz="2400" dirty="0">
              <a:latin typeface="宋体" panose="02010600030101010101" pitchFamily="2" charset="-122"/>
              <a:ea typeface="宋体" panose="02010600030101010101" pitchFamily="2" charset="-122"/>
            </a:endParaRPr>
          </a:p>
          <a:p>
            <a:pPr marL="0" indent="0" eaLnBrk="1" hangingPunct="1">
              <a:buNone/>
            </a:pPr>
            <a:r>
              <a:rPr lang="en-US" altLang="zh-CN" sz="2400" dirty="0">
                <a:latin typeface="宋体" panose="02010600030101010101" pitchFamily="2" charset="-122"/>
                <a:ea typeface="宋体" panose="02010600030101010101" pitchFamily="2" charset="-122"/>
              </a:rPr>
              <a:t>MOV  WORD PTR[SI]</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0122H</a:t>
            </a:r>
            <a:endParaRPr lang="en-US" altLang="zh-CN" sz="2400" dirty="0">
              <a:latin typeface="宋体" panose="02010600030101010101" pitchFamily="2" charset="-122"/>
              <a:ea typeface="宋体" panose="02010600030101010101" pitchFamily="2" charset="-122"/>
            </a:endParaRPr>
          </a:p>
          <a:p>
            <a:pPr marL="0" indent="0" eaLnBrk="1" hangingPunct="1">
              <a:buNone/>
            </a:pPr>
            <a:endParaRPr lang="en-US" altLang="zh-CN" sz="2400" dirty="0">
              <a:latin typeface="宋体" panose="02010600030101010101" pitchFamily="2" charset="-122"/>
              <a:ea typeface="宋体" panose="02010600030101010101" pitchFamily="2" charset="-122"/>
            </a:endParaRPr>
          </a:p>
          <a:p>
            <a:pPr marL="0" indent="0" eaLnBrk="1" hangingPunct="1">
              <a:buNone/>
            </a:pPr>
            <a:r>
              <a:rPr lang="en-US" altLang="zh-CN" sz="2400" dirty="0">
                <a:latin typeface="宋体" panose="02010600030101010101" pitchFamily="2" charset="-122"/>
                <a:ea typeface="宋体" panose="02010600030101010101" pitchFamily="2" charset="-122"/>
              </a:rPr>
              <a:t>JMP  DWORD PTR[SI-2]</a:t>
            </a:r>
            <a:endParaRPr lang="en-US" altLang="zh-CN" sz="2400" dirty="0">
              <a:latin typeface="宋体" panose="02010600030101010101" pitchFamily="2" charset="-122"/>
              <a:ea typeface="宋体" panose="02010600030101010101" pitchFamily="2" charset="-122"/>
            </a:endParaRPr>
          </a:p>
          <a:p>
            <a:pPr marL="0" indent="0" eaLnBrk="1" hangingPunct="1">
              <a:buNone/>
            </a:pPr>
            <a:r>
              <a:rPr lang="en-US" altLang="zh-CN" sz="2400" dirty="0">
                <a:solidFill>
                  <a:schemeClr val="tx2"/>
                </a:solidFill>
                <a:latin typeface="宋体" panose="02010600030101010101" pitchFamily="2" charset="-122"/>
                <a:ea typeface="宋体" panose="02010600030101010101" pitchFamily="2" charset="-122"/>
              </a:rPr>
              <a:t>JMP  WORD  PTR[SI]</a:t>
            </a:r>
            <a:endParaRPr lang="en-US" altLang="zh-CN" sz="2400" dirty="0">
              <a:latin typeface="宋体" panose="02010600030101010101" pitchFamily="2" charset="-122"/>
              <a:ea typeface="宋体" panose="02010600030101010101" pitchFamily="2" charset="-122"/>
            </a:endParaRPr>
          </a:p>
          <a:p>
            <a:pPr marL="0" indent="0" eaLnBrk="1" hangingPunct="1"/>
            <a:endParaRPr lang="en-US" altLang="zh-CN" dirty="0">
              <a:ea typeface="宋体" panose="02010600030101010101" pitchFamily="2" charset="-122"/>
            </a:endParaRPr>
          </a:p>
        </p:txBody>
      </p:sp>
      <p:grpSp>
        <p:nvGrpSpPr>
          <p:cNvPr id="2" name="Group 35"/>
          <p:cNvGrpSpPr/>
          <p:nvPr/>
        </p:nvGrpSpPr>
        <p:grpSpPr>
          <a:xfrm>
            <a:off x="5651500" y="2205038"/>
            <a:ext cx="3429000" cy="4392612"/>
            <a:chOff x="0" y="0"/>
            <a:chExt cx="2160" cy="2767"/>
          </a:xfrm>
        </p:grpSpPr>
        <p:sp>
          <p:nvSpPr>
            <p:cNvPr id="150543" name="Rectangle 6"/>
            <p:cNvSpPr/>
            <p:nvPr/>
          </p:nvSpPr>
          <p:spPr>
            <a:xfrm>
              <a:off x="639" y="0"/>
              <a:ext cx="960" cy="2767"/>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0544" name="Line 7"/>
            <p:cNvSpPr/>
            <p:nvPr/>
          </p:nvSpPr>
          <p:spPr>
            <a:xfrm>
              <a:off x="639" y="389"/>
              <a:ext cx="960" cy="0"/>
            </a:xfrm>
            <a:prstGeom prst="line">
              <a:avLst/>
            </a:prstGeom>
            <a:ln w="25400" cap="sq" cmpd="sng">
              <a:solidFill>
                <a:schemeClr val="tx1"/>
              </a:solidFill>
              <a:prstDash val="solid"/>
              <a:headEnd type="none" w="med" len="med"/>
              <a:tailEnd type="none" w="med" len="med"/>
            </a:ln>
          </p:spPr>
        </p:sp>
        <p:sp>
          <p:nvSpPr>
            <p:cNvPr id="150545" name="Line 8"/>
            <p:cNvSpPr/>
            <p:nvPr/>
          </p:nvSpPr>
          <p:spPr>
            <a:xfrm>
              <a:off x="639" y="629"/>
              <a:ext cx="960" cy="0"/>
            </a:xfrm>
            <a:prstGeom prst="line">
              <a:avLst/>
            </a:prstGeom>
            <a:ln w="25400" cap="sq" cmpd="sng">
              <a:solidFill>
                <a:schemeClr val="tx1"/>
              </a:solidFill>
              <a:prstDash val="solid"/>
              <a:headEnd type="none" w="med" len="med"/>
              <a:tailEnd type="none" w="med" len="med"/>
            </a:ln>
          </p:spPr>
        </p:sp>
        <p:sp>
          <p:nvSpPr>
            <p:cNvPr id="150546" name="Line 9"/>
            <p:cNvSpPr/>
            <p:nvPr/>
          </p:nvSpPr>
          <p:spPr>
            <a:xfrm>
              <a:off x="639" y="869"/>
              <a:ext cx="960" cy="0"/>
            </a:xfrm>
            <a:prstGeom prst="line">
              <a:avLst/>
            </a:prstGeom>
            <a:ln w="25400" cap="sq" cmpd="sng">
              <a:solidFill>
                <a:schemeClr val="tx1"/>
              </a:solidFill>
              <a:prstDash val="solid"/>
              <a:headEnd type="none" w="med" len="med"/>
              <a:tailEnd type="none" w="med" len="med"/>
            </a:ln>
          </p:spPr>
        </p:sp>
        <p:sp>
          <p:nvSpPr>
            <p:cNvPr id="150547" name="Line 10"/>
            <p:cNvSpPr/>
            <p:nvPr/>
          </p:nvSpPr>
          <p:spPr>
            <a:xfrm>
              <a:off x="635" y="1361"/>
              <a:ext cx="960" cy="0"/>
            </a:xfrm>
            <a:prstGeom prst="line">
              <a:avLst/>
            </a:prstGeom>
            <a:ln w="25400" cap="sq" cmpd="sng">
              <a:solidFill>
                <a:schemeClr val="tx1"/>
              </a:solidFill>
              <a:prstDash val="solid"/>
              <a:headEnd type="none" w="med" len="med"/>
              <a:tailEnd type="none" w="med" len="med"/>
            </a:ln>
          </p:spPr>
        </p:sp>
        <p:sp>
          <p:nvSpPr>
            <p:cNvPr id="150548" name="Line 11"/>
            <p:cNvSpPr/>
            <p:nvPr/>
          </p:nvSpPr>
          <p:spPr>
            <a:xfrm>
              <a:off x="639" y="2270"/>
              <a:ext cx="960" cy="0"/>
            </a:xfrm>
            <a:prstGeom prst="line">
              <a:avLst/>
            </a:prstGeom>
            <a:ln w="25400" cap="sq" cmpd="sng">
              <a:solidFill>
                <a:schemeClr val="tx1"/>
              </a:solidFill>
              <a:prstDash val="solid"/>
              <a:headEnd type="none" w="med" len="med"/>
              <a:tailEnd type="none" w="med" len="med"/>
            </a:ln>
          </p:spPr>
        </p:sp>
        <p:sp>
          <p:nvSpPr>
            <p:cNvPr id="150549" name="Text Box 12"/>
            <p:cNvSpPr txBox="1"/>
            <p:nvPr/>
          </p:nvSpPr>
          <p:spPr>
            <a:xfrm>
              <a:off x="876" y="362"/>
              <a:ext cx="672" cy="25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JMP</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50550" name="Text Box 13"/>
            <p:cNvSpPr txBox="1"/>
            <p:nvPr/>
          </p:nvSpPr>
          <p:spPr>
            <a:xfrm>
              <a:off x="0" y="1315"/>
              <a:ext cx="654" cy="288"/>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rgbClr val="FF0000"/>
                  </a:solidFill>
                  <a:latin typeface="Times New Roman" panose="02020603050405020304" pitchFamily="18" charset="0"/>
                  <a:ea typeface="宋体" panose="02010600030101010101" pitchFamily="2" charset="-122"/>
                </a:rPr>
                <a:t>1122H</a:t>
              </a:r>
              <a:endParaRPr lang="en-US" altLang="zh-CN" sz="2400" b="1" dirty="0">
                <a:solidFill>
                  <a:srgbClr val="FF0000"/>
                </a:solidFill>
                <a:latin typeface="Times New Roman" panose="02020603050405020304" pitchFamily="18" charset="0"/>
                <a:ea typeface="宋体" panose="02010600030101010101" pitchFamily="2" charset="-122"/>
              </a:endParaRPr>
            </a:p>
          </p:txBody>
        </p:sp>
        <p:sp>
          <p:nvSpPr>
            <p:cNvPr id="150551" name="Text Box 14"/>
            <p:cNvSpPr txBox="1"/>
            <p:nvPr/>
          </p:nvSpPr>
          <p:spPr>
            <a:xfrm>
              <a:off x="908" y="2359"/>
              <a:ext cx="336" cy="288"/>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50552" name="Text Box 15"/>
            <p:cNvSpPr txBox="1"/>
            <p:nvPr/>
          </p:nvSpPr>
          <p:spPr>
            <a:xfrm>
              <a:off x="966" y="907"/>
              <a:ext cx="336" cy="288"/>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50553" name="Text Box 16"/>
            <p:cNvSpPr txBox="1"/>
            <p:nvPr/>
          </p:nvSpPr>
          <p:spPr>
            <a:xfrm>
              <a:off x="954" y="75"/>
              <a:ext cx="336" cy="288"/>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50554" name="AutoShape 17"/>
            <p:cNvSpPr/>
            <p:nvPr/>
          </p:nvSpPr>
          <p:spPr>
            <a:xfrm>
              <a:off x="1679" y="227"/>
              <a:ext cx="136" cy="680"/>
            </a:xfrm>
            <a:prstGeom prst="rightBrace">
              <a:avLst>
                <a:gd name="adj1" fmla="val 41342"/>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0555" name="Text Box 18"/>
            <p:cNvSpPr txBox="1"/>
            <p:nvPr/>
          </p:nvSpPr>
          <p:spPr>
            <a:xfrm>
              <a:off x="1815" y="227"/>
              <a:ext cx="288" cy="634"/>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代码段</a:t>
              </a:r>
              <a:endParaRPr lang="zh-CN" altLang="en-US" sz="2000" b="1" dirty="0">
                <a:latin typeface="Times New Roman" panose="02020603050405020304" pitchFamily="18" charset="0"/>
                <a:ea typeface="宋体" panose="02010600030101010101" pitchFamily="2" charset="-122"/>
              </a:endParaRPr>
            </a:p>
          </p:txBody>
        </p:sp>
        <p:sp>
          <p:nvSpPr>
            <p:cNvPr id="150556" name="Line 19"/>
            <p:cNvSpPr/>
            <p:nvPr/>
          </p:nvSpPr>
          <p:spPr>
            <a:xfrm>
              <a:off x="639" y="2021"/>
              <a:ext cx="960" cy="0"/>
            </a:xfrm>
            <a:prstGeom prst="line">
              <a:avLst/>
            </a:prstGeom>
            <a:ln w="25400" cap="sq" cmpd="sng">
              <a:solidFill>
                <a:schemeClr val="tx1"/>
              </a:solidFill>
              <a:prstDash val="solid"/>
              <a:headEnd type="none" w="med" len="med"/>
              <a:tailEnd type="none" w="med" len="med"/>
            </a:ln>
          </p:spPr>
        </p:sp>
        <p:sp>
          <p:nvSpPr>
            <p:cNvPr id="150557" name="AutoShape 20"/>
            <p:cNvSpPr/>
            <p:nvPr/>
          </p:nvSpPr>
          <p:spPr>
            <a:xfrm>
              <a:off x="1679" y="1270"/>
              <a:ext cx="181" cy="1361"/>
            </a:xfrm>
            <a:prstGeom prst="rightBrace">
              <a:avLst>
                <a:gd name="adj1" fmla="val 62173"/>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0558" name="Text Box 21"/>
            <p:cNvSpPr txBox="1"/>
            <p:nvPr/>
          </p:nvSpPr>
          <p:spPr>
            <a:xfrm>
              <a:off x="1833" y="1633"/>
              <a:ext cx="327" cy="634"/>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数据段</a:t>
              </a:r>
              <a:endParaRPr lang="zh-CN" altLang="en-US" sz="2000" b="1" dirty="0">
                <a:latin typeface="Times New Roman" panose="02020603050405020304" pitchFamily="18" charset="0"/>
                <a:ea typeface="宋体" panose="02010600030101010101" pitchFamily="2" charset="-122"/>
              </a:endParaRPr>
            </a:p>
          </p:txBody>
        </p:sp>
        <p:sp>
          <p:nvSpPr>
            <p:cNvPr id="150559" name="Line 23"/>
            <p:cNvSpPr/>
            <p:nvPr/>
          </p:nvSpPr>
          <p:spPr>
            <a:xfrm>
              <a:off x="639" y="1589"/>
              <a:ext cx="960" cy="0"/>
            </a:xfrm>
            <a:prstGeom prst="line">
              <a:avLst/>
            </a:prstGeom>
            <a:ln w="25400" cap="sq" cmpd="sng">
              <a:solidFill>
                <a:schemeClr val="tx1"/>
              </a:solidFill>
              <a:prstDash val="solid"/>
              <a:headEnd type="none" w="med" len="med"/>
              <a:tailEnd type="none" w="med" len="med"/>
            </a:ln>
          </p:spPr>
        </p:sp>
        <p:sp>
          <p:nvSpPr>
            <p:cNvPr id="150560" name="Text Box 24"/>
            <p:cNvSpPr txBox="1"/>
            <p:nvPr/>
          </p:nvSpPr>
          <p:spPr>
            <a:xfrm>
              <a:off x="898" y="2018"/>
              <a:ext cx="454" cy="25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01H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50561" name="Text Box 26"/>
            <p:cNvSpPr txBox="1"/>
            <p:nvPr/>
          </p:nvSpPr>
          <p:spPr>
            <a:xfrm>
              <a:off x="907" y="1791"/>
              <a:ext cx="536" cy="25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22H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50562" name="Text Box 27"/>
            <p:cNvSpPr txBox="1"/>
            <p:nvPr/>
          </p:nvSpPr>
          <p:spPr>
            <a:xfrm>
              <a:off x="908" y="1361"/>
              <a:ext cx="482" cy="25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20H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50563" name="Line 33"/>
            <p:cNvSpPr/>
            <p:nvPr/>
          </p:nvSpPr>
          <p:spPr>
            <a:xfrm>
              <a:off x="635" y="1814"/>
              <a:ext cx="960" cy="0"/>
            </a:xfrm>
            <a:prstGeom prst="line">
              <a:avLst/>
            </a:prstGeom>
            <a:ln w="25400" cap="sq" cmpd="sng">
              <a:solidFill>
                <a:schemeClr val="tx1"/>
              </a:solidFill>
              <a:prstDash val="solid"/>
              <a:headEnd type="none" w="med" len="med"/>
              <a:tailEnd type="none" w="med" len="med"/>
            </a:ln>
          </p:spPr>
        </p:sp>
        <p:sp>
          <p:nvSpPr>
            <p:cNvPr id="150564" name="Text Box 34"/>
            <p:cNvSpPr txBox="1"/>
            <p:nvPr/>
          </p:nvSpPr>
          <p:spPr>
            <a:xfrm>
              <a:off x="908" y="1587"/>
              <a:ext cx="482" cy="25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01H</a:t>
              </a:r>
              <a:endParaRPr lang="en-US" altLang="zh-CN" sz="2000" b="1" dirty="0">
                <a:solidFill>
                  <a:schemeClr val="bg1"/>
                </a:solidFill>
                <a:latin typeface="Times New Roman" panose="02020603050405020304" pitchFamily="18" charset="0"/>
                <a:ea typeface="宋体" panose="02010600030101010101" pitchFamily="2" charset="-122"/>
              </a:endParaRPr>
            </a:p>
          </p:txBody>
        </p:sp>
      </p:grpSp>
      <p:sp>
        <p:nvSpPr>
          <p:cNvPr id="153630" name="AutoShape 36"/>
          <p:cNvSpPr/>
          <p:nvPr/>
        </p:nvSpPr>
        <p:spPr>
          <a:xfrm>
            <a:off x="6416675" y="5132388"/>
            <a:ext cx="171450" cy="673100"/>
          </a:xfrm>
          <a:prstGeom prst="leftBrace">
            <a:avLst>
              <a:gd name="adj1" fmla="val 32461"/>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3631" name="Line 37"/>
          <p:cNvSpPr/>
          <p:nvPr/>
        </p:nvSpPr>
        <p:spPr>
          <a:xfrm flipH="1">
            <a:off x="5651500" y="5445125"/>
            <a:ext cx="720725" cy="144463"/>
          </a:xfrm>
          <a:prstGeom prst="line">
            <a:avLst/>
          </a:prstGeom>
          <a:ln w="25400" cap="sq" cmpd="sng">
            <a:solidFill>
              <a:srgbClr val="FF6600"/>
            </a:solidFill>
            <a:prstDash val="solid"/>
            <a:headEnd type="none" w="med" len="med"/>
            <a:tailEnd type="triangle" w="lg" len="lg"/>
          </a:ln>
        </p:spPr>
      </p:sp>
      <p:sp>
        <p:nvSpPr>
          <p:cNvPr id="153632" name="Text Box 38"/>
          <p:cNvSpPr txBox="1"/>
          <p:nvPr/>
        </p:nvSpPr>
        <p:spPr>
          <a:xfrm>
            <a:off x="5075238" y="5373688"/>
            <a:ext cx="576262"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IP</a:t>
            </a:r>
            <a:endParaRPr lang="en-US" altLang="zh-CN" sz="2400" b="1" dirty="0">
              <a:latin typeface="Times New Roman" panose="02020603050405020304" pitchFamily="18" charset="0"/>
              <a:ea typeface="宋体" panose="02010600030101010101" pitchFamily="2" charset="-122"/>
            </a:endParaRPr>
          </a:p>
        </p:txBody>
      </p:sp>
      <p:sp>
        <p:nvSpPr>
          <p:cNvPr id="153633" name="AutoShape 39"/>
          <p:cNvSpPr/>
          <p:nvPr/>
        </p:nvSpPr>
        <p:spPr>
          <a:xfrm>
            <a:off x="6415088" y="5229225"/>
            <a:ext cx="173037" cy="500063"/>
          </a:xfrm>
          <a:prstGeom prst="leftBrace">
            <a:avLst>
              <a:gd name="adj1" fmla="val 23895"/>
              <a:gd name="adj2" fmla="val 50000"/>
            </a:avLst>
          </a:prstGeom>
          <a:noFill/>
          <a:ln w="25400" cap="sq" cmpd="sng">
            <a:solidFill>
              <a:schemeClr val="tx1"/>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3634" name="Text Box 40"/>
          <p:cNvSpPr txBox="1"/>
          <p:nvPr/>
        </p:nvSpPr>
        <p:spPr>
          <a:xfrm>
            <a:off x="5064125" y="5610225"/>
            <a:ext cx="7620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rgbClr val="990033"/>
                </a:solidFill>
                <a:latin typeface="Times New Roman" panose="02020603050405020304" pitchFamily="18" charset="0"/>
                <a:ea typeface="宋体" panose="02010600030101010101" pitchFamily="2" charset="-122"/>
              </a:rPr>
              <a:t>CS</a:t>
            </a:r>
            <a:endParaRPr lang="en-US" altLang="zh-CN" sz="2400" b="1" dirty="0">
              <a:solidFill>
                <a:srgbClr val="990033"/>
              </a:solidFill>
              <a:latin typeface="Times New Roman" panose="02020603050405020304" pitchFamily="18" charset="0"/>
              <a:ea typeface="宋体" panose="02010600030101010101" pitchFamily="2" charset="-122"/>
            </a:endParaRPr>
          </a:p>
        </p:txBody>
      </p:sp>
      <p:sp>
        <p:nvSpPr>
          <p:cNvPr id="153635" name="Line 41"/>
          <p:cNvSpPr/>
          <p:nvPr/>
        </p:nvSpPr>
        <p:spPr>
          <a:xfrm flipH="1">
            <a:off x="5653088" y="5511800"/>
            <a:ext cx="688975" cy="288925"/>
          </a:xfrm>
          <a:prstGeom prst="line">
            <a:avLst/>
          </a:prstGeom>
          <a:ln w="25400" cap="sq" cmpd="sng">
            <a:solidFill>
              <a:schemeClr val="tx1"/>
            </a:solidFill>
            <a:prstDash val="solid"/>
            <a:headEnd type="none" w="med" len="med"/>
            <a:tailEnd type="triangle" w="lg" len="lg"/>
          </a:ln>
        </p:spPr>
      </p:sp>
      <p:sp>
        <p:nvSpPr>
          <p:cNvPr id="153636" name="AutoShape 42"/>
          <p:cNvSpPr/>
          <p:nvPr/>
        </p:nvSpPr>
        <p:spPr>
          <a:xfrm>
            <a:off x="6343650" y="4508500"/>
            <a:ext cx="173038" cy="500063"/>
          </a:xfrm>
          <a:prstGeom prst="leftBrace">
            <a:avLst>
              <a:gd name="adj1" fmla="val 23895"/>
              <a:gd name="adj2" fmla="val 50000"/>
            </a:avLst>
          </a:prstGeom>
          <a:noFill/>
          <a:ln w="25400" cap="sq" cmpd="sng">
            <a:solidFill>
              <a:schemeClr val="tx1"/>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53637" name="Text Box 43"/>
          <p:cNvSpPr txBox="1"/>
          <p:nvPr/>
        </p:nvSpPr>
        <p:spPr>
          <a:xfrm>
            <a:off x="4992688" y="4889500"/>
            <a:ext cx="7620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rgbClr val="990033"/>
                </a:solidFill>
                <a:latin typeface="Times New Roman" panose="02020603050405020304" pitchFamily="18" charset="0"/>
                <a:ea typeface="宋体" panose="02010600030101010101" pitchFamily="2" charset="-122"/>
              </a:rPr>
              <a:t>IP</a:t>
            </a:r>
            <a:endParaRPr lang="en-US" altLang="zh-CN" sz="2400" b="1" dirty="0">
              <a:solidFill>
                <a:srgbClr val="990033"/>
              </a:solidFill>
              <a:latin typeface="Times New Roman" panose="02020603050405020304" pitchFamily="18" charset="0"/>
              <a:ea typeface="宋体" panose="02010600030101010101" pitchFamily="2" charset="-122"/>
            </a:endParaRPr>
          </a:p>
        </p:txBody>
      </p:sp>
      <p:sp>
        <p:nvSpPr>
          <p:cNvPr id="153638" name="Line 44"/>
          <p:cNvSpPr/>
          <p:nvPr/>
        </p:nvSpPr>
        <p:spPr>
          <a:xfrm flipH="1">
            <a:off x="5581650" y="4791075"/>
            <a:ext cx="688975" cy="288925"/>
          </a:xfrm>
          <a:prstGeom prst="line">
            <a:avLst/>
          </a:prstGeom>
          <a:ln w="25400" cap="sq" cmpd="sng">
            <a:solidFill>
              <a:schemeClr val="tx1"/>
            </a:solidFill>
            <a:prstDash val="solid"/>
            <a:headEnd type="none" w="med" len="med"/>
            <a:tailEnd type="triangle" w="lg" len="lg"/>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53630"/>
                                        </p:tgtEl>
                                        <p:attrNameLst>
                                          <p:attrName>style.visibility</p:attrName>
                                        </p:attrNameLst>
                                      </p:cBhvr>
                                      <p:to>
                                        <p:strVal val="visible"/>
                                      </p:to>
                                    </p:set>
                                    <p:animEffect transition="in" filter="strips(downLeft)">
                                      <p:cBhvr>
                                        <p:cTn id="12" dur="500"/>
                                        <p:tgtEl>
                                          <p:spTgt spid="153630"/>
                                        </p:tgtEl>
                                      </p:cBhvr>
                                    </p:animEffect>
                                  </p:childTnLst>
                                </p:cTn>
                              </p:par>
                            </p:childTnLst>
                          </p:cTn>
                        </p:par>
                        <p:par>
                          <p:cTn id="13" fill="hold">
                            <p:stCondLst>
                              <p:cond delay="500"/>
                            </p:stCondLst>
                            <p:childTnLst>
                              <p:par>
                                <p:cTn id="14" presetID="18" presetClass="entr" presetSubtype="9" fill="hold" nodeType="afterEffect">
                                  <p:stCondLst>
                                    <p:cond delay="0"/>
                                  </p:stCondLst>
                                  <p:childTnLst>
                                    <p:set>
                                      <p:cBhvr>
                                        <p:cTn id="15" dur="1" fill="hold">
                                          <p:stCondLst>
                                            <p:cond delay="0"/>
                                          </p:stCondLst>
                                        </p:cTn>
                                        <p:tgtEl>
                                          <p:spTgt spid="153631"/>
                                        </p:tgtEl>
                                        <p:attrNameLst>
                                          <p:attrName>style.visibility</p:attrName>
                                        </p:attrNameLst>
                                      </p:cBhvr>
                                      <p:to>
                                        <p:strVal val="visible"/>
                                      </p:to>
                                    </p:set>
                                    <p:animEffect transition="in" filter="strips(upLeft)">
                                      <p:cBhvr>
                                        <p:cTn id="16" dur="500"/>
                                        <p:tgtEl>
                                          <p:spTgt spid="153631"/>
                                        </p:tgtEl>
                                      </p:cBhvr>
                                    </p:animEffect>
                                  </p:childTnLst>
                                </p:cTn>
                              </p:par>
                            </p:childTnLst>
                          </p:cTn>
                        </p:par>
                        <p:par>
                          <p:cTn id="17" fill="hold">
                            <p:stCondLst>
                              <p:cond delay="1000"/>
                            </p:stCondLst>
                            <p:childTnLst>
                              <p:par>
                                <p:cTn id="18" presetID="3" presetClass="entr" presetSubtype="10" fill="hold" grpId="0" nodeType="afterEffect">
                                  <p:stCondLst>
                                    <p:cond delay="0"/>
                                  </p:stCondLst>
                                  <p:childTnLst>
                                    <p:set>
                                      <p:cBhvr>
                                        <p:cTn id="19" dur="1" fill="hold">
                                          <p:stCondLst>
                                            <p:cond delay="0"/>
                                          </p:stCondLst>
                                        </p:cTn>
                                        <p:tgtEl>
                                          <p:spTgt spid="153632"/>
                                        </p:tgtEl>
                                        <p:attrNameLst>
                                          <p:attrName>style.visibility</p:attrName>
                                        </p:attrNameLst>
                                      </p:cBhvr>
                                      <p:to>
                                        <p:strVal val="visible"/>
                                      </p:to>
                                    </p:set>
                                    <p:animEffect transition="in" filter="blinds(horizontal)">
                                      <p:cBhvr>
                                        <p:cTn id="20" dur="500"/>
                                        <p:tgtEl>
                                          <p:spTgt spid="153632"/>
                                        </p:tgtEl>
                                      </p:cBhvr>
                                    </p:animEffect>
                                  </p:childTnLst>
                                </p:cTn>
                              </p:par>
                            </p:childTnLst>
                          </p:cTn>
                        </p:par>
                        <p:par>
                          <p:cTn id="21" fill="hold">
                            <p:stCondLst>
                              <p:cond delay="1500"/>
                            </p:stCondLst>
                            <p:childTnLst>
                              <p:par>
                                <p:cTn id="22" presetID="3" presetClass="exit" presetSubtype="10" fill="hold" grpId="1" nodeType="afterEffect">
                                  <p:stCondLst>
                                    <p:cond delay="0"/>
                                  </p:stCondLst>
                                  <p:childTnLst>
                                    <p:animEffect transition="out" filter="blinds(horizontal)">
                                      <p:cBhvr>
                                        <p:cTn id="23" dur="500"/>
                                        <p:tgtEl>
                                          <p:spTgt spid="153630"/>
                                        </p:tgtEl>
                                      </p:cBhvr>
                                    </p:animEffect>
                                    <p:set>
                                      <p:cBhvr>
                                        <p:cTn id="24" dur="1" fill="hold">
                                          <p:stCondLst>
                                            <p:cond delay="499"/>
                                          </p:stCondLst>
                                        </p:cTn>
                                        <p:tgtEl>
                                          <p:spTgt spid="153630"/>
                                        </p:tgtEl>
                                        <p:attrNameLst>
                                          <p:attrName>style.visibility</p:attrName>
                                        </p:attrNameLst>
                                      </p:cBhvr>
                                      <p:to>
                                        <p:strVal val="hidden"/>
                                      </p:to>
                                    </p:set>
                                  </p:childTnLst>
                                </p:cTn>
                              </p:par>
                              <p:par>
                                <p:cTn id="25" presetID="3" presetClass="exit" presetSubtype="10" fill="hold" nodeType="withEffect">
                                  <p:stCondLst>
                                    <p:cond delay="0"/>
                                  </p:stCondLst>
                                  <p:childTnLst>
                                    <p:animEffect transition="out" filter="blinds(horizontal)">
                                      <p:cBhvr>
                                        <p:cTn id="26" dur="500"/>
                                        <p:tgtEl>
                                          <p:spTgt spid="153631"/>
                                        </p:tgtEl>
                                      </p:cBhvr>
                                    </p:animEffect>
                                    <p:set>
                                      <p:cBhvr>
                                        <p:cTn id="27" dur="1" fill="hold">
                                          <p:stCondLst>
                                            <p:cond delay="499"/>
                                          </p:stCondLst>
                                        </p:cTn>
                                        <p:tgtEl>
                                          <p:spTgt spid="153631"/>
                                        </p:tgtEl>
                                        <p:attrNameLst>
                                          <p:attrName>style.visibility</p:attrName>
                                        </p:attrNameLst>
                                      </p:cBhvr>
                                      <p:to>
                                        <p:strVal val="hidden"/>
                                      </p:to>
                                    </p:set>
                                  </p:childTnLst>
                                </p:cTn>
                              </p:par>
                              <p:par>
                                <p:cTn id="28" presetID="3" presetClass="exit" presetSubtype="10" fill="hold" grpId="1" nodeType="withEffect">
                                  <p:stCondLst>
                                    <p:cond delay="0"/>
                                  </p:stCondLst>
                                  <p:childTnLst>
                                    <p:animEffect transition="out" filter="blinds(horizontal)">
                                      <p:cBhvr>
                                        <p:cTn id="29" dur="500"/>
                                        <p:tgtEl>
                                          <p:spTgt spid="153632"/>
                                        </p:tgtEl>
                                      </p:cBhvr>
                                    </p:animEffect>
                                    <p:set>
                                      <p:cBhvr>
                                        <p:cTn id="30" dur="1" fill="hold">
                                          <p:stCondLst>
                                            <p:cond delay="499"/>
                                          </p:stCondLst>
                                        </p:cTn>
                                        <p:tgtEl>
                                          <p:spTgt spid="15363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grpId="0" nodeType="clickEffect">
                                  <p:stCondLst>
                                    <p:cond delay="0"/>
                                  </p:stCondLst>
                                  <p:childTnLst>
                                    <p:set>
                                      <p:cBhvr>
                                        <p:cTn id="34" dur="1" fill="hold">
                                          <p:stCondLst>
                                            <p:cond delay="0"/>
                                          </p:stCondLst>
                                        </p:cTn>
                                        <p:tgtEl>
                                          <p:spTgt spid="153636"/>
                                        </p:tgtEl>
                                        <p:attrNameLst>
                                          <p:attrName>style.visibility</p:attrName>
                                        </p:attrNameLst>
                                      </p:cBhvr>
                                      <p:to>
                                        <p:strVal val="visible"/>
                                      </p:to>
                                    </p:set>
                                    <p:animEffect transition="in" filter="strips(downLeft)">
                                      <p:cBhvr>
                                        <p:cTn id="35" dur="500"/>
                                        <p:tgtEl>
                                          <p:spTgt spid="153636"/>
                                        </p:tgtEl>
                                      </p:cBhvr>
                                    </p:animEffect>
                                  </p:childTnLst>
                                </p:cTn>
                              </p:par>
                            </p:childTnLst>
                          </p:cTn>
                        </p:par>
                        <p:par>
                          <p:cTn id="36" fill="hold">
                            <p:stCondLst>
                              <p:cond delay="500"/>
                            </p:stCondLst>
                            <p:childTnLst>
                              <p:par>
                                <p:cTn id="37" presetID="18" presetClass="entr" presetSubtype="12" fill="hold" nodeType="afterEffect">
                                  <p:stCondLst>
                                    <p:cond delay="0"/>
                                  </p:stCondLst>
                                  <p:childTnLst>
                                    <p:set>
                                      <p:cBhvr>
                                        <p:cTn id="38" dur="1" fill="hold">
                                          <p:stCondLst>
                                            <p:cond delay="0"/>
                                          </p:stCondLst>
                                        </p:cTn>
                                        <p:tgtEl>
                                          <p:spTgt spid="153638"/>
                                        </p:tgtEl>
                                        <p:attrNameLst>
                                          <p:attrName>style.visibility</p:attrName>
                                        </p:attrNameLst>
                                      </p:cBhvr>
                                      <p:to>
                                        <p:strVal val="visible"/>
                                      </p:to>
                                    </p:set>
                                    <p:animEffect transition="in" filter="strips(downLeft)">
                                      <p:cBhvr>
                                        <p:cTn id="39" dur="500"/>
                                        <p:tgtEl>
                                          <p:spTgt spid="153638"/>
                                        </p:tgtEl>
                                      </p:cBhvr>
                                    </p:animEffect>
                                  </p:childTnLst>
                                </p:cTn>
                              </p:par>
                            </p:childTnLst>
                          </p:cTn>
                        </p:par>
                        <p:par>
                          <p:cTn id="40" fill="hold">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153637"/>
                                        </p:tgtEl>
                                        <p:attrNameLst>
                                          <p:attrName>style.visibility</p:attrName>
                                        </p:attrNameLst>
                                      </p:cBhvr>
                                      <p:to>
                                        <p:strVal val="visible"/>
                                      </p:to>
                                    </p:set>
                                    <p:animEffect transition="in" filter="wipe(left)">
                                      <p:cBhvr>
                                        <p:cTn id="43" dur="500"/>
                                        <p:tgtEl>
                                          <p:spTgt spid="153637"/>
                                        </p:tgtEl>
                                      </p:cBhvr>
                                    </p:animEffect>
                                  </p:childTnLst>
                                </p:cTn>
                              </p:par>
                            </p:childTnLst>
                          </p:cTn>
                        </p:par>
                        <p:par>
                          <p:cTn id="44" fill="hold">
                            <p:stCondLst>
                              <p:cond delay="1500"/>
                            </p:stCondLst>
                            <p:childTnLst>
                              <p:par>
                                <p:cTn id="45" presetID="18" presetClass="entr" presetSubtype="12" fill="hold" grpId="0" nodeType="afterEffect">
                                  <p:stCondLst>
                                    <p:cond delay="1000"/>
                                  </p:stCondLst>
                                  <p:childTnLst>
                                    <p:set>
                                      <p:cBhvr>
                                        <p:cTn id="46" dur="1" fill="hold">
                                          <p:stCondLst>
                                            <p:cond delay="0"/>
                                          </p:stCondLst>
                                        </p:cTn>
                                        <p:tgtEl>
                                          <p:spTgt spid="153633"/>
                                        </p:tgtEl>
                                        <p:attrNameLst>
                                          <p:attrName>style.visibility</p:attrName>
                                        </p:attrNameLst>
                                      </p:cBhvr>
                                      <p:to>
                                        <p:strVal val="visible"/>
                                      </p:to>
                                    </p:set>
                                    <p:animEffect transition="in" filter="strips(downLeft)">
                                      <p:cBhvr>
                                        <p:cTn id="47" dur="500"/>
                                        <p:tgtEl>
                                          <p:spTgt spid="153633"/>
                                        </p:tgtEl>
                                      </p:cBhvr>
                                    </p:animEffect>
                                  </p:childTnLst>
                                </p:cTn>
                              </p:par>
                            </p:childTnLst>
                          </p:cTn>
                        </p:par>
                        <p:par>
                          <p:cTn id="48" fill="hold">
                            <p:stCondLst>
                              <p:cond delay="3000"/>
                            </p:stCondLst>
                            <p:childTnLst>
                              <p:par>
                                <p:cTn id="49" presetID="18" presetClass="entr" presetSubtype="12" fill="hold" nodeType="afterEffect">
                                  <p:stCondLst>
                                    <p:cond delay="0"/>
                                  </p:stCondLst>
                                  <p:childTnLst>
                                    <p:set>
                                      <p:cBhvr>
                                        <p:cTn id="50" dur="1" fill="hold">
                                          <p:stCondLst>
                                            <p:cond delay="0"/>
                                          </p:stCondLst>
                                        </p:cTn>
                                        <p:tgtEl>
                                          <p:spTgt spid="153635"/>
                                        </p:tgtEl>
                                        <p:attrNameLst>
                                          <p:attrName>style.visibility</p:attrName>
                                        </p:attrNameLst>
                                      </p:cBhvr>
                                      <p:to>
                                        <p:strVal val="visible"/>
                                      </p:to>
                                    </p:set>
                                    <p:animEffect transition="in" filter="strips(downLeft)">
                                      <p:cBhvr>
                                        <p:cTn id="51" dur="500"/>
                                        <p:tgtEl>
                                          <p:spTgt spid="153635"/>
                                        </p:tgtEl>
                                      </p:cBhvr>
                                    </p:animEffect>
                                  </p:childTnLst>
                                </p:cTn>
                              </p:par>
                            </p:childTnLst>
                          </p:cTn>
                        </p:par>
                        <p:par>
                          <p:cTn id="52" fill="hold">
                            <p:stCondLst>
                              <p:cond delay="3500"/>
                            </p:stCondLst>
                            <p:childTnLst>
                              <p:par>
                                <p:cTn id="53" presetID="18" presetClass="entr" presetSubtype="6" fill="hold" grpId="0" nodeType="afterEffect">
                                  <p:stCondLst>
                                    <p:cond delay="0"/>
                                  </p:stCondLst>
                                  <p:childTnLst>
                                    <p:set>
                                      <p:cBhvr>
                                        <p:cTn id="54" dur="1" fill="hold">
                                          <p:stCondLst>
                                            <p:cond delay="0"/>
                                          </p:stCondLst>
                                        </p:cTn>
                                        <p:tgtEl>
                                          <p:spTgt spid="153634"/>
                                        </p:tgtEl>
                                        <p:attrNameLst>
                                          <p:attrName>style.visibility</p:attrName>
                                        </p:attrNameLst>
                                      </p:cBhvr>
                                      <p:to>
                                        <p:strVal val="visible"/>
                                      </p:to>
                                    </p:set>
                                    <p:animEffect transition="in" filter="strips(downRight)">
                                      <p:cBhvr>
                                        <p:cTn id="55" dur="500"/>
                                        <p:tgtEl>
                                          <p:spTgt spid="153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0" grpId="0" animBg="1"/>
      <p:bldP spid="153630" grpId="1" animBg="1"/>
      <p:bldP spid="153632" grpId="0"/>
      <p:bldP spid="153632" grpId="1"/>
      <p:bldP spid="153633" grpId="0" animBg="1"/>
      <p:bldP spid="153634" grpId="0"/>
      <p:bldP spid="153636" grpId="0" animBg="1"/>
      <p:bldP spid="153637"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9490" name="Rectangle 2"/>
          <p:cNvSpPr/>
          <p:nvPr/>
        </p:nvSpPr>
        <p:spPr>
          <a:xfrm>
            <a:off x="831850" y="955675"/>
            <a:ext cx="5197475" cy="478155"/>
          </a:xfrm>
          <a:prstGeom prst="rect">
            <a:avLst/>
          </a:prstGeom>
          <a:noFill/>
          <a:ln w="9525">
            <a:noFill/>
          </a:ln>
        </p:spPr>
        <p:txBody>
          <a:bodyPr wrap="none">
            <a:spAutoFit/>
          </a:bodyPr>
          <a:p>
            <a:pPr>
              <a:lnSpc>
                <a:spcPct val="90000"/>
              </a:lnSpc>
              <a:spcBef>
                <a:spcPct val="20000"/>
              </a:spcBef>
              <a:buFont typeface="Wingdings" panose="05000000000000000000" pitchFamily="2" charset="2"/>
            </a:pPr>
            <a:r>
              <a:rPr lang="en-US" altLang="zh-CN" sz="2800" b="1" dirty="0">
                <a:solidFill>
                  <a:srgbClr val="6600CC"/>
                </a:solidFill>
                <a:latin typeface="宋体" panose="02010600030101010101" pitchFamily="2" charset="-122"/>
                <a:ea typeface="宋体" panose="02010600030101010101" pitchFamily="2" charset="-122"/>
              </a:rPr>
              <a:t>jmp short </a:t>
            </a:r>
            <a:r>
              <a:rPr lang="zh-CN" altLang="en-US" sz="2800" b="1" dirty="0">
                <a:solidFill>
                  <a:srgbClr val="6600CC"/>
                </a:solidFill>
                <a:latin typeface="宋体" panose="02010600030101010101" pitchFamily="2" charset="-122"/>
                <a:ea typeface="宋体" panose="02010600030101010101" pitchFamily="2" charset="-122"/>
              </a:rPr>
              <a:t>标号对应机器码分析</a:t>
            </a:r>
            <a:endParaRPr lang="zh-CN" altLang="en-US" sz="2800" b="1" dirty="0">
              <a:solidFill>
                <a:srgbClr val="6600CC"/>
              </a:solidFill>
              <a:latin typeface="宋体" panose="02010600030101010101" pitchFamily="2" charset="-122"/>
              <a:ea typeface="宋体" panose="02010600030101010101" pitchFamily="2" charset="-122"/>
            </a:endParaRPr>
          </a:p>
        </p:txBody>
      </p:sp>
      <p:sp>
        <p:nvSpPr>
          <p:cNvPr id="152583" name="Rectangle 2"/>
          <p:cNvSpPr>
            <a:spLocks noGrp="1"/>
          </p:cNvSpPr>
          <p:nvPr/>
        </p:nvSpPr>
        <p:spPr>
          <a:xfrm>
            <a:off x="1674813" y="127000"/>
            <a:ext cx="3041650" cy="563563"/>
          </a:xfrm>
          <a:prstGeom prst="rect">
            <a:avLst/>
          </a:prstGeom>
          <a:noFill/>
          <a:ln w="9525">
            <a:noFill/>
          </a:ln>
        </p:spPr>
        <p:txBody>
          <a:bodyPr anchor="ctr" anchorCtr="0"/>
          <a:p>
            <a:pPr>
              <a:buFont typeface="Wingdings" panose="05000000000000000000" pitchFamily="2" charset="2"/>
            </a:pPr>
            <a:r>
              <a:rPr lang="zh-CN" altLang="en-US" sz="3600" b="1" dirty="0">
                <a:solidFill>
                  <a:schemeClr val="bg1"/>
                </a:solidFill>
                <a:latin typeface="宋体" panose="02010600030101010101" pitchFamily="2" charset="-122"/>
                <a:ea typeface="宋体" panose="02010600030101010101" pitchFamily="2" charset="-122"/>
              </a:rPr>
              <a:t>注意事项</a:t>
            </a:r>
            <a:endParaRPr lang="zh-CN" altLang="en-US" sz="3600" b="1" dirty="0">
              <a:solidFill>
                <a:schemeClr val="bg1"/>
              </a:solidFill>
              <a:latin typeface="宋体" panose="02010600030101010101" pitchFamily="2" charset="-122"/>
              <a:ea typeface="宋体" panose="02010600030101010101" pitchFamily="2" charset="-122"/>
            </a:endParaRPr>
          </a:p>
        </p:txBody>
      </p:sp>
      <p:pic>
        <p:nvPicPr>
          <p:cNvPr id="3" name="图片 2"/>
          <p:cNvPicPr/>
          <p:nvPr/>
        </p:nvPicPr>
        <p:blipFill>
          <a:blip r:embed="rId1"/>
          <a:stretch>
            <a:fillRect/>
          </a:stretch>
        </p:blipFill>
        <p:spPr>
          <a:xfrm>
            <a:off x="612140" y="1484630"/>
            <a:ext cx="3002915" cy="3794125"/>
          </a:xfrm>
          <a:prstGeom prst="rect">
            <a:avLst/>
          </a:prstGeom>
        </p:spPr>
      </p:pic>
      <p:pic>
        <p:nvPicPr>
          <p:cNvPr id="6" name="图片 5"/>
          <p:cNvPicPr/>
          <p:nvPr/>
        </p:nvPicPr>
        <p:blipFill>
          <a:blip r:embed="rId2"/>
          <a:stretch>
            <a:fillRect/>
          </a:stretch>
        </p:blipFill>
        <p:spPr>
          <a:xfrm>
            <a:off x="4140200" y="1484630"/>
            <a:ext cx="4565650" cy="3754755"/>
          </a:xfrm>
          <a:prstGeom prst="rect">
            <a:avLst/>
          </a:prstGeom>
        </p:spPr>
      </p:pic>
      <p:sp>
        <p:nvSpPr>
          <p:cNvPr id="7" name="文本框 6"/>
          <p:cNvSpPr txBox="1"/>
          <p:nvPr/>
        </p:nvSpPr>
        <p:spPr>
          <a:xfrm>
            <a:off x="694690" y="5372735"/>
            <a:ext cx="8011160" cy="1198880"/>
          </a:xfrm>
          <a:prstGeom prst="rect">
            <a:avLst/>
          </a:prstGeom>
          <a:noFill/>
          <a:ln w="3175">
            <a:solidFill>
              <a:schemeClr val="tx1"/>
            </a:solidFill>
          </a:ln>
        </p:spPr>
        <p:txBody>
          <a:bodyPr wrap="square" rtlCol="0" anchor="t">
            <a:spAutoFit/>
          </a:bodyPr>
          <a:p>
            <a:r>
              <a:rPr lang="zh-CN" altLang="en-US"/>
              <a:t>结果中，</a:t>
            </a:r>
            <a:r>
              <a:rPr lang="en-US" altLang="zh-CN"/>
              <a:t>jmp short s</a:t>
            </a:r>
            <a:r>
              <a:rPr lang="zh-CN" altLang="en-US"/>
              <a:t>被编译成了</a:t>
            </a:r>
            <a:r>
              <a:rPr lang="en-US" altLang="zh-CN"/>
              <a:t>EB00 </a:t>
            </a:r>
            <a:r>
              <a:rPr lang="zh-CN" altLang="en-US"/>
              <a:t>的机器码。</a:t>
            </a:r>
            <a:r>
              <a:rPr lang="en-US" altLang="zh-CN"/>
              <a:t>s</a:t>
            </a:r>
            <a:r>
              <a:rPr lang="zh-CN" altLang="en-US"/>
              <a:t>标号的地址不是</a:t>
            </a:r>
            <a:r>
              <a:rPr lang="en-US" altLang="zh-CN"/>
              <a:t>00</a:t>
            </a:r>
            <a:r>
              <a:rPr lang="zh-CN" altLang="en-US"/>
              <a:t>，因为</a:t>
            </a:r>
            <a:r>
              <a:rPr lang="en-US" altLang="zh-CN"/>
              <a:t>jmp short s</a:t>
            </a:r>
            <a:r>
              <a:rPr lang="zh-CN" altLang="en-US"/>
              <a:t>指令和</a:t>
            </a:r>
            <a:r>
              <a:rPr lang="en-US" altLang="zh-CN"/>
              <a:t>s</a:t>
            </a:r>
            <a:r>
              <a:rPr lang="zh-CN" altLang="en-US"/>
              <a:t>标号之间是相挨的，也就是说，</a:t>
            </a:r>
            <a:r>
              <a:rPr lang="en-US" altLang="zh-CN"/>
              <a:t>jmp short s</a:t>
            </a:r>
            <a:r>
              <a:rPr lang="zh-CN" altLang="en-US"/>
              <a:t>指令的下一条指令就是</a:t>
            </a:r>
            <a:r>
              <a:rPr lang="en-US" altLang="zh-CN"/>
              <a:t>s</a:t>
            </a:r>
            <a:r>
              <a:rPr lang="zh-CN" altLang="en-US"/>
              <a:t>标号所在的指令，所以，这里的</a:t>
            </a:r>
            <a:r>
              <a:rPr lang="en-US" altLang="zh-CN"/>
              <a:t>00</a:t>
            </a:r>
            <a:r>
              <a:rPr lang="zh-CN" altLang="en-US"/>
              <a:t>指的是正在执行的指令的下一条指令距离标号处指令的相对位移大小。</a:t>
            </a: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319490"/>
                                        </p:tgtEl>
                                        <p:attrNameLst>
                                          <p:attrName>style.visibility</p:attrName>
                                        </p:attrNameLst>
                                      </p:cBhvr>
                                      <p:to>
                                        <p:strVal val="visible"/>
                                      </p:to>
                                    </p:set>
                                    <p:anim calcmode="lin" valueType="num">
                                      <p:cBhvr>
                                        <p:cTn id="7" dur="500" fill="hold"/>
                                        <p:tgtEl>
                                          <p:spTgt spid="319490"/>
                                        </p:tgtEl>
                                        <p:attrNameLst>
                                          <p:attrName>ppt_x</p:attrName>
                                        </p:attrNameLst>
                                      </p:cBhvr>
                                      <p:tavLst>
                                        <p:tav tm="0">
                                          <p:val>
                                            <p:strVal val="#ppt_x-#ppt_w/2"/>
                                          </p:val>
                                        </p:tav>
                                        <p:tav tm="100000">
                                          <p:val>
                                            <p:strVal val="#ppt_x"/>
                                          </p:val>
                                        </p:tav>
                                      </p:tavLst>
                                    </p:anim>
                                    <p:anim calcmode="lin" valueType="num">
                                      <p:cBhvr>
                                        <p:cTn id="8" dur="500" fill="hold"/>
                                        <p:tgtEl>
                                          <p:spTgt spid="319490"/>
                                        </p:tgtEl>
                                        <p:attrNameLst>
                                          <p:attrName>ppt_y</p:attrName>
                                        </p:attrNameLst>
                                      </p:cBhvr>
                                      <p:tavLst>
                                        <p:tav tm="0">
                                          <p:val>
                                            <p:strVal val="#ppt_y"/>
                                          </p:val>
                                        </p:tav>
                                        <p:tav tm="100000">
                                          <p:val>
                                            <p:strVal val="#ppt_y"/>
                                          </p:val>
                                        </p:tav>
                                      </p:tavLst>
                                    </p:anim>
                                    <p:anim calcmode="lin" valueType="num">
                                      <p:cBhvr>
                                        <p:cTn id="9" dur="500" fill="hold"/>
                                        <p:tgtEl>
                                          <p:spTgt spid="319490"/>
                                        </p:tgtEl>
                                        <p:attrNameLst>
                                          <p:attrName>ppt_w</p:attrName>
                                        </p:attrNameLst>
                                      </p:cBhvr>
                                      <p:tavLst>
                                        <p:tav tm="0">
                                          <p:val>
                                            <p:fltVal val="0.000000"/>
                                          </p:val>
                                        </p:tav>
                                        <p:tav tm="100000">
                                          <p:val>
                                            <p:strVal val="#ppt_w"/>
                                          </p:val>
                                        </p:tav>
                                      </p:tavLst>
                                    </p:anim>
                                    <p:anim calcmode="lin" valueType="num">
                                      <p:cBhvr>
                                        <p:cTn id="10" dur="500" fill="hold"/>
                                        <p:tgtEl>
                                          <p:spTgt spid="31949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0"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131820" y="908685"/>
            <a:ext cx="1917700" cy="368300"/>
          </a:xfrm>
          <a:prstGeom prst="rect">
            <a:avLst/>
          </a:prstGeom>
          <a:noFill/>
        </p:spPr>
        <p:txBody>
          <a:bodyPr wrap="square" rtlCol="0" anchor="t">
            <a:spAutoFit/>
          </a:bodyPr>
          <a:p>
            <a:r>
              <a:rPr lang="zh-CN" altLang="en-US"/>
              <a:t>两个实验来验证：</a:t>
            </a:r>
            <a:endParaRPr lang="zh-CN" altLang="en-US"/>
          </a:p>
        </p:txBody>
      </p:sp>
      <p:sp>
        <p:nvSpPr>
          <p:cNvPr id="3" name="文本框 2"/>
          <p:cNvSpPr txBox="1"/>
          <p:nvPr/>
        </p:nvSpPr>
        <p:spPr>
          <a:xfrm>
            <a:off x="241300" y="1341120"/>
            <a:ext cx="3076575" cy="368300"/>
          </a:xfrm>
          <a:prstGeom prst="rect">
            <a:avLst/>
          </a:prstGeom>
          <a:noFill/>
        </p:spPr>
        <p:txBody>
          <a:bodyPr wrap="square" rtlCol="0" anchor="t">
            <a:spAutoFit/>
          </a:bodyPr>
          <a:p>
            <a:r>
              <a:rPr lang="zh-CN" altLang="en-US"/>
              <a:t>实验</a:t>
            </a:r>
            <a:r>
              <a:rPr lang="en-US" altLang="zh-CN"/>
              <a:t>1——</a:t>
            </a:r>
            <a:r>
              <a:rPr lang="zh-CN" altLang="en-US"/>
              <a:t>往前加机器码不变。</a:t>
            </a:r>
            <a:endParaRPr lang="zh-CN" altLang="en-US"/>
          </a:p>
        </p:txBody>
      </p:sp>
      <p:pic>
        <p:nvPicPr>
          <p:cNvPr id="4" name="图片 3"/>
          <p:cNvPicPr/>
          <p:nvPr/>
        </p:nvPicPr>
        <p:blipFill>
          <a:blip r:embed="rId1"/>
          <a:stretch>
            <a:fillRect/>
          </a:stretch>
        </p:blipFill>
        <p:spPr>
          <a:xfrm>
            <a:off x="611505" y="1844675"/>
            <a:ext cx="1981200" cy="2460625"/>
          </a:xfrm>
          <a:prstGeom prst="rect">
            <a:avLst/>
          </a:prstGeom>
        </p:spPr>
      </p:pic>
      <p:pic>
        <p:nvPicPr>
          <p:cNvPr id="5" name="图片 4"/>
          <p:cNvPicPr/>
          <p:nvPr/>
        </p:nvPicPr>
        <p:blipFill>
          <a:blip r:embed="rId2"/>
          <a:stretch>
            <a:fillRect/>
          </a:stretch>
        </p:blipFill>
        <p:spPr>
          <a:xfrm>
            <a:off x="611505" y="4523105"/>
            <a:ext cx="3042920" cy="1976120"/>
          </a:xfrm>
          <a:prstGeom prst="rect">
            <a:avLst/>
          </a:prstGeom>
        </p:spPr>
      </p:pic>
      <p:sp>
        <p:nvSpPr>
          <p:cNvPr id="6" name="文本框 5"/>
          <p:cNvSpPr txBox="1"/>
          <p:nvPr/>
        </p:nvSpPr>
        <p:spPr>
          <a:xfrm>
            <a:off x="5147945" y="1341120"/>
            <a:ext cx="3076575" cy="368300"/>
          </a:xfrm>
          <a:prstGeom prst="rect">
            <a:avLst/>
          </a:prstGeom>
          <a:noFill/>
        </p:spPr>
        <p:txBody>
          <a:bodyPr wrap="square" rtlCol="0" anchor="t">
            <a:spAutoFit/>
          </a:bodyPr>
          <a:p>
            <a:r>
              <a:rPr lang="zh-CN" altLang="en-US"/>
              <a:t>实验</a:t>
            </a:r>
            <a:r>
              <a:rPr lang="en-US" altLang="zh-CN"/>
              <a:t>2</a:t>
            </a:r>
            <a:r>
              <a:rPr lang="en-US" altLang="zh-CN"/>
              <a:t>——</a:t>
            </a:r>
            <a:r>
              <a:rPr lang="zh-CN" altLang="en-US"/>
              <a:t>往后加机器码改变。</a:t>
            </a:r>
            <a:endParaRPr lang="zh-CN" altLang="en-US"/>
          </a:p>
        </p:txBody>
      </p:sp>
      <p:pic>
        <p:nvPicPr>
          <p:cNvPr id="7" name="图片 6"/>
          <p:cNvPicPr/>
          <p:nvPr/>
        </p:nvPicPr>
        <p:blipFill>
          <a:blip r:embed="rId3"/>
          <a:stretch>
            <a:fillRect/>
          </a:stretch>
        </p:blipFill>
        <p:spPr>
          <a:xfrm>
            <a:off x="4211955" y="1772920"/>
            <a:ext cx="1684020" cy="2461260"/>
          </a:xfrm>
          <a:prstGeom prst="rect">
            <a:avLst/>
          </a:prstGeom>
        </p:spPr>
      </p:pic>
      <p:sp>
        <p:nvSpPr>
          <p:cNvPr id="8" name="文本框 7"/>
          <p:cNvSpPr txBox="1"/>
          <p:nvPr/>
        </p:nvSpPr>
        <p:spPr>
          <a:xfrm>
            <a:off x="6299835" y="1920240"/>
            <a:ext cx="2726055" cy="1761490"/>
          </a:xfrm>
          <a:prstGeom prst="rect">
            <a:avLst/>
          </a:prstGeom>
          <a:noFill/>
        </p:spPr>
        <p:txBody>
          <a:bodyPr wrap="square" rtlCol="0" anchor="t">
            <a:noAutofit/>
          </a:bodyPr>
          <a:p>
            <a:r>
              <a:rPr lang="zh-CN" altLang="en-US"/>
              <a:t>在指令后，标号前加上其他指令后，理论上来说，相对变大，机器指令会变为</a:t>
            </a:r>
            <a:r>
              <a:rPr lang="en-US" altLang="zh-CN"/>
              <a:t>EBxx</a:t>
            </a:r>
            <a:r>
              <a:rPr lang="zh-CN" altLang="en-US"/>
              <a:t>，其中</a:t>
            </a:r>
            <a:r>
              <a:rPr lang="en-US" altLang="zh-CN"/>
              <a:t>xx</a:t>
            </a:r>
            <a:r>
              <a:rPr lang="zh-CN" altLang="en-US"/>
              <a:t>是比</a:t>
            </a:r>
            <a:r>
              <a:rPr lang="en-US" altLang="zh-CN"/>
              <a:t>00</a:t>
            </a:r>
            <a:r>
              <a:rPr lang="zh-CN" altLang="en-US"/>
              <a:t>更大的数。</a:t>
            </a:r>
            <a:endParaRPr lang="zh-CN" altLang="en-US"/>
          </a:p>
        </p:txBody>
      </p:sp>
      <p:pic>
        <p:nvPicPr>
          <p:cNvPr id="9" name="图片 8"/>
          <p:cNvPicPr/>
          <p:nvPr/>
        </p:nvPicPr>
        <p:blipFill>
          <a:blip r:embed="rId4"/>
          <a:stretch>
            <a:fillRect/>
          </a:stretch>
        </p:blipFill>
        <p:spPr>
          <a:xfrm>
            <a:off x="4211955" y="4523105"/>
            <a:ext cx="3301365" cy="2032000"/>
          </a:xfrm>
          <a:prstGeom prst="rect">
            <a:avLst/>
          </a:prstGeom>
        </p:spPr>
      </p:pic>
      <p:sp>
        <p:nvSpPr>
          <p:cNvPr id="10" name="文本框 9"/>
          <p:cNvSpPr txBox="1"/>
          <p:nvPr/>
        </p:nvSpPr>
        <p:spPr>
          <a:xfrm>
            <a:off x="7587615" y="4509135"/>
            <a:ext cx="1556385" cy="2030095"/>
          </a:xfrm>
          <a:prstGeom prst="rect">
            <a:avLst/>
          </a:prstGeom>
          <a:noFill/>
        </p:spPr>
        <p:txBody>
          <a:bodyPr wrap="square" rtlCol="0" anchor="t">
            <a:spAutoFit/>
          </a:bodyPr>
          <a:p>
            <a:r>
              <a:rPr lang="zh-CN" altLang="en-US"/>
              <a:t>可以得到，</a:t>
            </a:r>
            <a:r>
              <a:rPr lang="en-US" altLang="zh-CN"/>
              <a:t>jmp short s</a:t>
            </a:r>
            <a:r>
              <a:rPr lang="zh-CN" altLang="en-US"/>
              <a:t>指令编译成机器码后，包含的是下一条指令到标号之间的相对位移大小。</a:t>
            </a:r>
            <a:endParaRPr lang="zh-CN" alt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7" name="Rectangle 3"/>
          <p:cNvSpPr>
            <a:spLocks noGrp="1"/>
          </p:cNvSpPr>
          <p:nvPr>
            <p:ph type="body" idx="4294967295"/>
          </p:nvPr>
        </p:nvSpPr>
        <p:spPr>
          <a:xfrm>
            <a:off x="1116013" y="2060575"/>
            <a:ext cx="7312025" cy="1873250"/>
          </a:xfrm>
        </p:spPr>
        <p:txBody>
          <a:bodyPr vert="horz" wrap="square" lIns="91440" tIns="45720" rIns="91440" bIns="45720" anchor="t" anchorCtr="0"/>
          <a:p>
            <a:pPr eaLnBrk="1" hangingPunct="1">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在满足一定条件下，程序转移到目标地址继续执行</a:t>
            </a:r>
            <a:endParaRPr lang="zh-CN" altLang="en-US" sz="2400"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Ø"/>
            </a:pPr>
            <a:endParaRPr lang="zh-CN" altLang="en-US" sz="2400"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Ø"/>
            </a:pPr>
            <a:r>
              <a:rPr lang="zh-CN" altLang="en-US" sz="2400" dirty="0">
                <a:solidFill>
                  <a:srgbClr val="FF0000"/>
                </a:solidFill>
                <a:latin typeface="宋体" panose="02010600030101010101" pitchFamily="2" charset="-122"/>
                <a:ea typeface="宋体" panose="02010600030101010101" pitchFamily="2" charset="-122"/>
              </a:rPr>
              <a:t>条件转移指令均为段内短转移，即转移范围为：</a:t>
            </a:r>
            <a:endParaRPr lang="zh-CN" altLang="en-US" sz="2400" dirty="0">
              <a:solidFill>
                <a:srgbClr val="FF0000"/>
              </a:solidFill>
              <a:latin typeface="宋体" panose="02010600030101010101" pitchFamily="2" charset="-122"/>
              <a:ea typeface="宋体" panose="02010600030101010101" pitchFamily="2" charset="-122"/>
            </a:endParaRPr>
          </a:p>
          <a:p>
            <a:pPr eaLnBrk="1" hangingPunct="1">
              <a:buNone/>
            </a:pPr>
            <a:r>
              <a:rPr lang="zh-CN" altLang="en-US" sz="2400" dirty="0">
                <a:solidFill>
                  <a:srgbClr val="FF0000"/>
                </a:solidFill>
                <a:latin typeface="宋体" panose="02010600030101010101" pitchFamily="2" charset="-122"/>
                <a:ea typeface="宋体" panose="02010600030101010101" pitchFamily="2" charset="-122"/>
              </a:rPr>
              <a:t>              </a:t>
            </a:r>
            <a:r>
              <a:rPr lang="en-US" altLang="zh-CN" sz="2400" dirty="0">
                <a:solidFill>
                  <a:srgbClr val="FF0000"/>
                </a:solidFill>
                <a:latin typeface="宋体" panose="02010600030101010101" pitchFamily="2" charset="-122"/>
                <a:ea typeface="宋体" panose="02010600030101010101" pitchFamily="2" charset="-122"/>
              </a:rPr>
              <a:t>-128------+127</a:t>
            </a:r>
            <a:endParaRPr lang="en-US" altLang="zh-CN" sz="2400" dirty="0">
              <a:solidFill>
                <a:srgbClr val="FF0000"/>
              </a:solidFill>
              <a:latin typeface="宋体" panose="02010600030101010101" pitchFamily="2" charset="-122"/>
              <a:ea typeface="宋体" panose="02010600030101010101" pitchFamily="2" charset="-122"/>
            </a:endParaRPr>
          </a:p>
        </p:txBody>
      </p:sp>
      <p:sp>
        <p:nvSpPr>
          <p:cNvPr id="151555" name="Rectangle 2"/>
          <p:cNvSpPr>
            <a:spLocks noGrp="1"/>
          </p:cNvSpPr>
          <p:nvPr/>
        </p:nvSpPr>
        <p:spPr>
          <a:xfrm>
            <a:off x="1674813" y="127000"/>
            <a:ext cx="3041650" cy="563563"/>
          </a:xfrm>
          <a:prstGeom prst="rect">
            <a:avLst/>
          </a:prstGeom>
          <a:noFill/>
          <a:ln w="9525">
            <a:noFill/>
          </a:ln>
        </p:spPr>
        <p:txBody>
          <a:bodyPr anchor="ctr" anchorCtr="0"/>
          <a:p>
            <a:pPr>
              <a:buFont typeface="Wingdings" panose="05000000000000000000" pitchFamily="2" charset="2"/>
            </a:pPr>
            <a:r>
              <a:rPr lang="zh-CN" altLang="en-US" sz="3600" b="1" dirty="0">
                <a:solidFill>
                  <a:schemeClr val="bg1"/>
                </a:solidFill>
                <a:latin typeface="宋体" panose="02010600030101010101" pitchFamily="2" charset="-122"/>
                <a:ea typeface="宋体" panose="02010600030101010101" pitchFamily="2" charset="-122"/>
              </a:rPr>
              <a:t>条件转移指令</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54627">
                                            <p:txEl>
                                              <p:charRg st="0" end="23"/>
                                            </p:txEl>
                                          </p:spTgt>
                                        </p:tgtEl>
                                        <p:attrNameLst>
                                          <p:attrName>style.visibility</p:attrName>
                                        </p:attrNameLst>
                                      </p:cBhvr>
                                      <p:to>
                                        <p:strVal val="visible"/>
                                      </p:to>
                                    </p:set>
                                    <p:animEffect transition="in" filter="blinds(horizontal)">
                                      <p:cBhvr>
                                        <p:cTn id="7" dur="500"/>
                                        <p:tgtEl>
                                          <p:spTgt spid="154627">
                                            <p:txEl>
                                              <p:charRg st="0" end="2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4627">
                                            <p:txEl>
                                              <p:charRg st="24" end="46"/>
                                            </p:txEl>
                                          </p:spTgt>
                                        </p:tgtEl>
                                        <p:attrNameLst>
                                          <p:attrName>style.visibility</p:attrName>
                                        </p:attrNameLst>
                                      </p:cBhvr>
                                      <p:to>
                                        <p:strVal val="visible"/>
                                      </p:to>
                                    </p:set>
                                    <p:animEffect transition="in" filter="wipe(left)">
                                      <p:cBhvr>
                                        <p:cTn id="12" dur="500"/>
                                        <p:tgtEl>
                                          <p:spTgt spid="154627">
                                            <p:txEl>
                                              <p:charRg st="24" end="46"/>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54627">
                                            <p:txEl>
                                              <p:charRg st="46" end="75"/>
                                            </p:txEl>
                                          </p:spTgt>
                                        </p:tgtEl>
                                        <p:attrNameLst>
                                          <p:attrName>style.visibility</p:attrName>
                                        </p:attrNameLst>
                                      </p:cBhvr>
                                      <p:to>
                                        <p:strVal val="visible"/>
                                      </p:to>
                                    </p:set>
                                    <p:animEffect transition="in" filter="wipe(left)">
                                      <p:cBhvr>
                                        <p:cTn id="16" dur="500"/>
                                        <p:tgtEl>
                                          <p:spTgt spid="154627">
                                            <p:txEl>
                                              <p:charRg st="46" end="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9490" name="Rectangle 2"/>
          <p:cNvSpPr/>
          <p:nvPr/>
        </p:nvSpPr>
        <p:spPr>
          <a:xfrm>
            <a:off x="831850" y="955675"/>
            <a:ext cx="5775325" cy="479425"/>
          </a:xfrm>
          <a:prstGeom prst="rect">
            <a:avLst/>
          </a:prstGeom>
          <a:noFill/>
          <a:ln w="9525">
            <a:noFill/>
          </a:ln>
        </p:spPr>
        <p:txBody>
          <a:bodyPr wrap="none">
            <a:spAutoFit/>
          </a:bodyPr>
          <a:p>
            <a:pPr>
              <a:lnSpc>
                <a:spcPct val="90000"/>
              </a:lnSpc>
              <a:spcBef>
                <a:spcPct val="20000"/>
              </a:spcBef>
              <a:buFont typeface="Wingdings" panose="05000000000000000000" pitchFamily="2" charset="2"/>
            </a:pPr>
            <a:r>
              <a:rPr lang="zh-CN" altLang="en-US" sz="2800" b="1" dirty="0">
                <a:solidFill>
                  <a:srgbClr val="6600CC"/>
                </a:solidFill>
                <a:latin typeface="宋体" panose="02010600030101010101" pitchFamily="2" charset="-122"/>
                <a:ea typeface="宋体" panose="02010600030101010101" pitchFamily="2" charset="-122"/>
              </a:rPr>
              <a:t>（</a:t>
            </a:r>
            <a:r>
              <a:rPr lang="en-US" altLang="zh-CN" sz="2800" b="1" dirty="0">
                <a:solidFill>
                  <a:srgbClr val="6600CC"/>
                </a:solidFill>
                <a:latin typeface="宋体" panose="02010600030101010101" pitchFamily="2" charset="-122"/>
                <a:ea typeface="宋体" panose="02010600030101010101" pitchFamily="2" charset="-122"/>
              </a:rPr>
              <a:t>1</a:t>
            </a:r>
            <a:r>
              <a:rPr lang="zh-CN" altLang="en-US" sz="2800" b="1" dirty="0">
                <a:solidFill>
                  <a:srgbClr val="6600CC"/>
                </a:solidFill>
                <a:latin typeface="宋体" panose="02010600030101010101" pitchFamily="2" charset="-122"/>
                <a:ea typeface="宋体" panose="02010600030101010101" pitchFamily="2" charset="-122"/>
              </a:rPr>
              <a:t>）以单个状态标志作为转移条件</a:t>
            </a:r>
            <a:endParaRPr lang="zh-CN" altLang="en-US" sz="2800" b="1" dirty="0">
              <a:solidFill>
                <a:srgbClr val="6600CC"/>
              </a:solidFill>
              <a:latin typeface="宋体" panose="02010600030101010101" pitchFamily="2" charset="-122"/>
              <a:ea typeface="宋体" panose="02010600030101010101" pitchFamily="2" charset="-122"/>
            </a:endParaRPr>
          </a:p>
        </p:txBody>
      </p:sp>
      <p:grpSp>
        <p:nvGrpSpPr>
          <p:cNvPr id="2" name="Group 3"/>
          <p:cNvGrpSpPr/>
          <p:nvPr/>
        </p:nvGrpSpPr>
        <p:grpSpPr>
          <a:xfrm>
            <a:off x="1289050" y="1743075"/>
            <a:ext cx="2509838" cy="2692400"/>
            <a:chOff x="0" y="0"/>
            <a:chExt cx="1581" cy="1696"/>
          </a:xfrm>
        </p:grpSpPr>
        <p:grpSp>
          <p:nvGrpSpPr>
            <p:cNvPr id="152662" name="Group 4"/>
            <p:cNvGrpSpPr/>
            <p:nvPr/>
          </p:nvGrpSpPr>
          <p:grpSpPr>
            <a:xfrm>
              <a:off x="0" y="0"/>
              <a:ext cx="1581" cy="1696"/>
              <a:chOff x="0" y="0"/>
              <a:chExt cx="1581" cy="1696"/>
            </a:xfrm>
          </p:grpSpPr>
          <p:sp>
            <p:nvSpPr>
              <p:cNvPr id="152664" name="Rectangle 5"/>
              <p:cNvSpPr/>
              <p:nvPr/>
            </p:nvSpPr>
            <p:spPr>
              <a:xfrm>
                <a:off x="48" y="0"/>
                <a:ext cx="1533" cy="248"/>
              </a:xfrm>
              <a:prstGeom prst="rect">
                <a:avLst/>
              </a:prstGeom>
              <a:noFill/>
              <a:ln w="9525">
                <a:noFill/>
              </a:ln>
            </p:spPr>
            <p:txBody>
              <a:bodyPr wrap="none">
                <a:spAutoFit/>
              </a:bodyPr>
              <a:p>
                <a:pPr>
                  <a:lnSpc>
                    <a:spcPct val="90000"/>
                  </a:lnSpc>
                  <a:spcBef>
                    <a:spcPct val="20000"/>
                  </a:spcBef>
                  <a:buFont typeface="Wingdings" panose="05000000000000000000" pitchFamily="2" charset="2"/>
                </a:pPr>
                <a:r>
                  <a:rPr lang="zh-CN" altLang="en-US" sz="2200" b="1" dirty="0">
                    <a:latin typeface="宋体" panose="02010600030101010101" pitchFamily="2" charset="-122"/>
                    <a:ea typeface="宋体" panose="02010600030101010101" pitchFamily="2" charset="-122"/>
                  </a:rPr>
                  <a:t>助记符  转移条件</a:t>
                </a:r>
                <a:endParaRPr lang="zh-CN" altLang="en-US" sz="2200" b="1" dirty="0">
                  <a:latin typeface="宋体" panose="02010600030101010101" pitchFamily="2" charset="-122"/>
                  <a:ea typeface="宋体" panose="02010600030101010101" pitchFamily="2" charset="-122"/>
                </a:endParaRPr>
              </a:p>
            </p:txBody>
          </p:sp>
          <p:sp>
            <p:nvSpPr>
              <p:cNvPr id="152665" name="Rectangle 6"/>
              <p:cNvSpPr/>
              <p:nvPr/>
            </p:nvSpPr>
            <p:spPr>
              <a:xfrm>
                <a:off x="192" y="278"/>
                <a:ext cx="294" cy="1408"/>
              </a:xfrm>
              <a:prstGeom prst="rect">
                <a:avLst/>
              </a:prstGeom>
              <a:noFill/>
              <a:ln w="9525">
                <a:noFill/>
              </a:ln>
            </p:spPr>
            <p:txBody>
              <a:bodyPr wrap="none">
                <a:spAutoFit/>
              </a:bodyPr>
              <a:p>
                <a:pPr>
                  <a:lnSpc>
                    <a:spcPct val="90000"/>
                  </a:lnSpc>
                  <a:spcBef>
                    <a:spcPct val="20000"/>
                  </a:spcBef>
                  <a:buFont typeface="Wingdings" panose="05000000000000000000" pitchFamily="2" charset="2"/>
                </a:pPr>
                <a:endParaRPr lang="zh-CN" altLang="en-US" sz="2200" b="1" dirty="0">
                  <a:solidFill>
                    <a:srgbClr val="FF0000"/>
                  </a:solidFill>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J</a:t>
                </a:r>
                <a:r>
                  <a:rPr lang="en-US" altLang="zh-CN" sz="2200" b="1" dirty="0">
                    <a:solidFill>
                      <a:srgbClr val="FF0000"/>
                    </a:solidFill>
                    <a:latin typeface="宋体" panose="02010600030101010101" pitchFamily="2" charset="-122"/>
                    <a:ea typeface="宋体" panose="02010600030101010101" pitchFamily="2" charset="-122"/>
                  </a:rPr>
                  <a:t>S</a:t>
                </a:r>
                <a:endParaRPr lang="en-US" altLang="zh-CN" sz="2200" b="1" dirty="0">
                  <a:solidFill>
                    <a:srgbClr val="FF0000"/>
                  </a:solidFill>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J</a:t>
                </a:r>
                <a:r>
                  <a:rPr lang="en-US" altLang="zh-CN" sz="2200" b="1" dirty="0">
                    <a:solidFill>
                      <a:srgbClr val="FF0000"/>
                    </a:solidFill>
                    <a:latin typeface="宋体" panose="02010600030101010101" pitchFamily="2" charset="-122"/>
                    <a:ea typeface="宋体" panose="02010600030101010101" pitchFamily="2" charset="-122"/>
                  </a:rPr>
                  <a:t>O</a:t>
                </a:r>
                <a:endParaRPr lang="en-US" altLang="zh-CN" sz="2200" b="1" dirty="0">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J</a:t>
                </a:r>
                <a:r>
                  <a:rPr lang="en-US" altLang="zh-CN" sz="2200" b="1" dirty="0">
                    <a:solidFill>
                      <a:srgbClr val="FF0000"/>
                    </a:solidFill>
                    <a:latin typeface="宋体" panose="02010600030101010101" pitchFamily="2" charset="-122"/>
                    <a:ea typeface="宋体" panose="02010600030101010101" pitchFamily="2" charset="-122"/>
                  </a:rPr>
                  <a:t>P</a:t>
                </a:r>
                <a:endParaRPr lang="en-US" altLang="zh-CN" sz="2200" b="1" dirty="0">
                  <a:solidFill>
                    <a:srgbClr val="FF0000"/>
                  </a:solidFill>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J</a:t>
                </a:r>
                <a:r>
                  <a:rPr lang="en-US" altLang="zh-CN" sz="2200" b="1" dirty="0">
                    <a:solidFill>
                      <a:srgbClr val="FF0000"/>
                    </a:solidFill>
                    <a:latin typeface="宋体" panose="02010600030101010101" pitchFamily="2" charset="-122"/>
                    <a:ea typeface="宋体" panose="02010600030101010101" pitchFamily="2" charset="-122"/>
                  </a:rPr>
                  <a:t>C</a:t>
                </a:r>
                <a:endParaRPr lang="en-US" altLang="zh-CN" sz="2200" b="1" dirty="0">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endParaRPr lang="zh-CN" altLang="en-US" sz="2200" b="1" dirty="0">
                  <a:solidFill>
                    <a:srgbClr val="FF0000"/>
                  </a:solidFill>
                  <a:latin typeface="宋体" panose="02010600030101010101" pitchFamily="2" charset="-122"/>
                  <a:ea typeface="宋体" panose="02010600030101010101" pitchFamily="2" charset="-122"/>
                </a:endParaRPr>
              </a:p>
            </p:txBody>
          </p:sp>
          <p:sp>
            <p:nvSpPr>
              <p:cNvPr id="152666" name="Rectangle 7"/>
              <p:cNvSpPr/>
              <p:nvPr/>
            </p:nvSpPr>
            <p:spPr>
              <a:xfrm>
                <a:off x="912" y="288"/>
                <a:ext cx="549" cy="1408"/>
              </a:xfrm>
              <a:prstGeom prst="rect">
                <a:avLst/>
              </a:prstGeom>
              <a:noFill/>
              <a:ln w="9525">
                <a:noFill/>
              </a:ln>
            </p:spPr>
            <p:txBody>
              <a:bodyPr>
                <a:spAutoFit/>
              </a:bodyPr>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ZF=1</a:t>
                </a:r>
                <a:endParaRPr lang="en-US" altLang="zh-CN" sz="2200" b="1" dirty="0">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SF=1</a:t>
                </a:r>
                <a:endParaRPr lang="en-US" altLang="zh-CN" sz="2200" b="1" dirty="0">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OF=1</a:t>
                </a:r>
                <a:endParaRPr lang="en-US" altLang="zh-CN" sz="2200" b="1" dirty="0">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PF=1</a:t>
                </a:r>
                <a:endParaRPr lang="en-US" altLang="zh-CN" sz="2200" b="1" dirty="0">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CF=1</a:t>
                </a:r>
                <a:endParaRPr lang="en-US" altLang="zh-CN" sz="2200" b="1" dirty="0">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endParaRPr lang="zh-CN" altLang="en-US" sz="2200" b="1" dirty="0">
                  <a:latin typeface="宋体" panose="02010600030101010101" pitchFamily="2" charset="-122"/>
                  <a:ea typeface="宋体" panose="02010600030101010101" pitchFamily="2" charset="-122"/>
                </a:endParaRPr>
              </a:p>
            </p:txBody>
          </p:sp>
          <p:sp>
            <p:nvSpPr>
              <p:cNvPr id="152667" name="Rectangle 8"/>
              <p:cNvSpPr/>
              <p:nvPr/>
            </p:nvSpPr>
            <p:spPr>
              <a:xfrm>
                <a:off x="0" y="0"/>
                <a:ext cx="1536" cy="1488"/>
              </a:xfrm>
              <a:prstGeom prst="rect">
                <a:avLst/>
              </a:prstGeom>
              <a:noFill/>
              <a:ln w="28575" cap="flat" cmpd="sng">
                <a:solidFill>
                  <a:schemeClr val="tx1"/>
                </a:solidFill>
                <a:prstDash val="solid"/>
                <a:miter/>
                <a:headEnd type="none" w="med" len="med"/>
                <a:tailEnd type="none" w="med" len="med"/>
              </a:ln>
            </p:spPr>
            <p:txBody>
              <a:bodyPr anchor="ctr" anchorCtr="0">
                <a:spAutoFit/>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68" name="Line 9"/>
              <p:cNvSpPr/>
              <p:nvPr/>
            </p:nvSpPr>
            <p:spPr>
              <a:xfrm>
                <a:off x="0" y="528"/>
                <a:ext cx="1536" cy="0"/>
              </a:xfrm>
              <a:prstGeom prst="line">
                <a:avLst/>
              </a:prstGeom>
              <a:ln w="28575" cap="flat" cmpd="sng">
                <a:solidFill>
                  <a:schemeClr val="tx1"/>
                </a:solidFill>
                <a:prstDash val="solid"/>
                <a:headEnd type="none" w="med" len="med"/>
                <a:tailEnd type="none" w="med" len="med"/>
              </a:ln>
            </p:spPr>
          </p:sp>
          <p:sp>
            <p:nvSpPr>
              <p:cNvPr id="152669" name="Line 10"/>
              <p:cNvSpPr/>
              <p:nvPr/>
            </p:nvSpPr>
            <p:spPr>
              <a:xfrm>
                <a:off x="720" y="0"/>
                <a:ext cx="0" cy="1488"/>
              </a:xfrm>
              <a:prstGeom prst="line">
                <a:avLst/>
              </a:prstGeom>
              <a:ln w="28575" cap="flat" cmpd="sng">
                <a:solidFill>
                  <a:schemeClr val="tx1"/>
                </a:solidFill>
                <a:prstDash val="solid"/>
                <a:headEnd type="none" w="med" len="med"/>
                <a:tailEnd type="none" w="med" len="med"/>
              </a:ln>
            </p:spPr>
          </p:sp>
          <p:sp>
            <p:nvSpPr>
              <p:cNvPr id="152670" name="Line 11"/>
              <p:cNvSpPr/>
              <p:nvPr/>
            </p:nvSpPr>
            <p:spPr>
              <a:xfrm>
                <a:off x="0" y="288"/>
                <a:ext cx="1536" cy="0"/>
              </a:xfrm>
              <a:prstGeom prst="line">
                <a:avLst/>
              </a:prstGeom>
              <a:ln w="28575" cap="flat" cmpd="sng">
                <a:solidFill>
                  <a:schemeClr val="tx1"/>
                </a:solidFill>
                <a:prstDash val="solid"/>
                <a:headEnd type="none" w="med" len="med"/>
                <a:tailEnd type="none" w="med" len="med"/>
              </a:ln>
            </p:spPr>
          </p:sp>
          <p:sp>
            <p:nvSpPr>
              <p:cNvPr id="152671" name="Line 12"/>
              <p:cNvSpPr/>
              <p:nvPr/>
            </p:nvSpPr>
            <p:spPr>
              <a:xfrm>
                <a:off x="0" y="768"/>
                <a:ext cx="1536" cy="0"/>
              </a:xfrm>
              <a:prstGeom prst="line">
                <a:avLst/>
              </a:prstGeom>
              <a:ln w="28575" cap="flat" cmpd="sng">
                <a:solidFill>
                  <a:schemeClr val="tx1"/>
                </a:solidFill>
                <a:prstDash val="solid"/>
                <a:headEnd type="none" w="med" len="med"/>
                <a:tailEnd type="none" w="med" len="med"/>
              </a:ln>
            </p:spPr>
          </p:sp>
          <p:sp>
            <p:nvSpPr>
              <p:cNvPr id="152672" name="Line 13"/>
              <p:cNvSpPr/>
              <p:nvPr/>
            </p:nvSpPr>
            <p:spPr>
              <a:xfrm>
                <a:off x="0" y="1008"/>
                <a:ext cx="1536" cy="0"/>
              </a:xfrm>
              <a:prstGeom prst="line">
                <a:avLst/>
              </a:prstGeom>
              <a:ln w="28575" cap="flat" cmpd="sng">
                <a:solidFill>
                  <a:schemeClr val="tx1"/>
                </a:solidFill>
                <a:prstDash val="solid"/>
                <a:headEnd type="none" w="med" len="med"/>
                <a:tailEnd type="none" w="med" len="med"/>
              </a:ln>
            </p:spPr>
          </p:sp>
          <p:sp>
            <p:nvSpPr>
              <p:cNvPr id="152673" name="Line 14"/>
              <p:cNvSpPr/>
              <p:nvPr/>
            </p:nvSpPr>
            <p:spPr>
              <a:xfrm>
                <a:off x="0" y="1200"/>
                <a:ext cx="1536" cy="0"/>
              </a:xfrm>
              <a:prstGeom prst="line">
                <a:avLst/>
              </a:prstGeom>
              <a:ln w="28575" cap="flat" cmpd="sng">
                <a:solidFill>
                  <a:schemeClr val="tx1"/>
                </a:solidFill>
                <a:prstDash val="solid"/>
                <a:headEnd type="none" w="med" len="med"/>
                <a:tailEnd type="none" w="med" len="med"/>
              </a:ln>
            </p:spPr>
          </p:sp>
        </p:grpSp>
        <p:sp>
          <p:nvSpPr>
            <p:cNvPr id="152663" name="Rectangle 15"/>
            <p:cNvSpPr/>
            <p:nvPr/>
          </p:nvSpPr>
          <p:spPr>
            <a:xfrm>
              <a:off x="48" y="278"/>
              <a:ext cx="650" cy="248"/>
            </a:xfrm>
            <a:prstGeom prst="rect">
              <a:avLst/>
            </a:prstGeom>
            <a:noFill/>
            <a:ln w="9525">
              <a:noFill/>
            </a:ln>
          </p:spPr>
          <p:txBody>
            <a:bodyPr wrap="none">
              <a:spAutoFit/>
            </a:bodyPr>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J</a:t>
              </a:r>
              <a:r>
                <a:rPr lang="en-US" altLang="zh-CN" sz="2200" b="1" dirty="0">
                  <a:solidFill>
                    <a:srgbClr val="FF0000"/>
                  </a:solidFill>
                  <a:latin typeface="宋体" panose="02010600030101010101" pitchFamily="2" charset="-122"/>
                  <a:ea typeface="宋体" panose="02010600030101010101" pitchFamily="2" charset="-122"/>
                </a:rPr>
                <a:t>Z </a:t>
              </a:r>
              <a:r>
                <a:rPr lang="en-US" altLang="zh-CN" sz="2200" b="1" dirty="0">
                  <a:solidFill>
                    <a:schemeClr val="tx2"/>
                  </a:solidFill>
                  <a:latin typeface="宋体" panose="02010600030101010101" pitchFamily="2" charset="-122"/>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J</a:t>
              </a:r>
              <a:r>
                <a:rPr lang="en-US" altLang="zh-CN" sz="2200" b="1" dirty="0">
                  <a:solidFill>
                    <a:srgbClr val="FF0000"/>
                  </a:solidFill>
                  <a:latin typeface="宋体" panose="02010600030101010101" pitchFamily="2" charset="-122"/>
                  <a:ea typeface="宋体" panose="02010600030101010101" pitchFamily="2" charset="-122"/>
                </a:rPr>
                <a:t>E</a:t>
              </a:r>
              <a:endParaRPr lang="en-US" altLang="zh-CN" sz="2200" b="1" dirty="0">
                <a:solidFill>
                  <a:srgbClr val="FF0000"/>
                </a:solidFill>
                <a:latin typeface="宋体" panose="02010600030101010101" pitchFamily="2" charset="-122"/>
                <a:ea typeface="宋体" panose="02010600030101010101" pitchFamily="2" charset="-122"/>
              </a:endParaRPr>
            </a:p>
          </p:txBody>
        </p:sp>
      </p:grpSp>
      <p:grpSp>
        <p:nvGrpSpPr>
          <p:cNvPr id="4" name="Group 16"/>
          <p:cNvGrpSpPr/>
          <p:nvPr/>
        </p:nvGrpSpPr>
        <p:grpSpPr>
          <a:xfrm>
            <a:off x="4870450" y="1743075"/>
            <a:ext cx="2586038" cy="2692400"/>
            <a:chOff x="0" y="0"/>
            <a:chExt cx="1629" cy="1696"/>
          </a:xfrm>
        </p:grpSpPr>
        <p:sp>
          <p:nvSpPr>
            <p:cNvPr id="152651" name="Rectangle 17"/>
            <p:cNvSpPr/>
            <p:nvPr/>
          </p:nvSpPr>
          <p:spPr>
            <a:xfrm>
              <a:off x="96" y="0"/>
              <a:ext cx="1533" cy="248"/>
            </a:xfrm>
            <a:prstGeom prst="rect">
              <a:avLst/>
            </a:prstGeom>
            <a:noFill/>
            <a:ln w="9525">
              <a:noFill/>
            </a:ln>
          </p:spPr>
          <p:txBody>
            <a:bodyPr wrap="none">
              <a:spAutoFit/>
            </a:bodyPr>
            <a:p>
              <a:pPr>
                <a:lnSpc>
                  <a:spcPct val="90000"/>
                </a:lnSpc>
                <a:spcBef>
                  <a:spcPct val="20000"/>
                </a:spcBef>
                <a:buFont typeface="Wingdings" panose="05000000000000000000" pitchFamily="2" charset="2"/>
              </a:pPr>
              <a:r>
                <a:rPr lang="zh-CN" altLang="en-US" sz="2200" b="1" dirty="0">
                  <a:latin typeface="宋体" panose="02010600030101010101" pitchFamily="2" charset="-122"/>
                  <a:ea typeface="宋体" panose="02010600030101010101" pitchFamily="2" charset="-122"/>
                </a:rPr>
                <a:t>助记符  转移条件</a:t>
              </a:r>
              <a:endParaRPr lang="zh-CN" altLang="en-US" sz="2200" b="1" dirty="0">
                <a:latin typeface="宋体" panose="02010600030101010101" pitchFamily="2" charset="-122"/>
                <a:ea typeface="宋体" panose="02010600030101010101" pitchFamily="2" charset="-122"/>
              </a:endParaRPr>
            </a:p>
          </p:txBody>
        </p:sp>
        <p:sp>
          <p:nvSpPr>
            <p:cNvPr id="152652" name="Rectangle 18"/>
            <p:cNvSpPr/>
            <p:nvPr/>
          </p:nvSpPr>
          <p:spPr>
            <a:xfrm>
              <a:off x="240" y="278"/>
              <a:ext cx="383" cy="1408"/>
            </a:xfrm>
            <a:prstGeom prst="rect">
              <a:avLst/>
            </a:prstGeom>
            <a:noFill/>
            <a:ln w="9525">
              <a:noFill/>
            </a:ln>
          </p:spPr>
          <p:txBody>
            <a:bodyPr wrap="none">
              <a:spAutoFit/>
            </a:bodyPr>
            <a:p>
              <a:pPr>
                <a:lnSpc>
                  <a:spcPct val="90000"/>
                </a:lnSpc>
                <a:spcBef>
                  <a:spcPct val="20000"/>
                </a:spcBef>
                <a:buFont typeface="Wingdings" panose="05000000000000000000" pitchFamily="2" charset="2"/>
              </a:pPr>
              <a:endParaRPr lang="zh-CN" altLang="en-US" sz="2200" b="1" dirty="0">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J</a:t>
              </a:r>
              <a:r>
                <a:rPr lang="en-US" altLang="zh-CN" sz="2200" b="1" dirty="0">
                  <a:solidFill>
                    <a:srgbClr val="FF0000"/>
                  </a:solidFill>
                  <a:latin typeface="宋体" panose="02010600030101010101" pitchFamily="2" charset="-122"/>
                  <a:ea typeface="宋体" panose="02010600030101010101" pitchFamily="2" charset="-122"/>
                </a:rPr>
                <a:t>NS</a:t>
              </a:r>
              <a:endParaRPr lang="en-US" altLang="zh-CN" sz="2200" b="1" dirty="0">
                <a:solidFill>
                  <a:srgbClr val="FF0000"/>
                </a:solidFill>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J</a:t>
              </a:r>
              <a:r>
                <a:rPr lang="en-US" altLang="zh-CN" sz="2200" b="1" dirty="0">
                  <a:solidFill>
                    <a:srgbClr val="FF0000"/>
                  </a:solidFill>
                  <a:latin typeface="宋体" panose="02010600030101010101" pitchFamily="2" charset="-122"/>
                  <a:ea typeface="宋体" panose="02010600030101010101" pitchFamily="2" charset="-122"/>
                </a:rPr>
                <a:t>NO</a:t>
              </a:r>
              <a:endParaRPr lang="en-US" altLang="zh-CN" sz="2200" b="1" dirty="0">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J</a:t>
              </a:r>
              <a:r>
                <a:rPr lang="en-US" altLang="zh-CN" sz="2200" b="1" dirty="0">
                  <a:solidFill>
                    <a:srgbClr val="FF0000"/>
                  </a:solidFill>
                  <a:latin typeface="宋体" panose="02010600030101010101" pitchFamily="2" charset="-122"/>
                  <a:ea typeface="宋体" panose="02010600030101010101" pitchFamily="2" charset="-122"/>
                </a:rPr>
                <a:t>NP</a:t>
              </a:r>
              <a:endParaRPr lang="en-US" altLang="zh-CN" sz="2200" b="1" dirty="0">
                <a:solidFill>
                  <a:srgbClr val="FF0000"/>
                </a:solidFill>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J</a:t>
              </a:r>
              <a:r>
                <a:rPr lang="en-US" altLang="zh-CN" sz="2200" b="1" dirty="0">
                  <a:solidFill>
                    <a:srgbClr val="FF0000"/>
                  </a:solidFill>
                  <a:latin typeface="宋体" panose="02010600030101010101" pitchFamily="2" charset="-122"/>
                  <a:ea typeface="宋体" panose="02010600030101010101" pitchFamily="2" charset="-122"/>
                </a:rPr>
                <a:t>NC</a:t>
              </a:r>
              <a:endParaRPr lang="en-US" altLang="zh-CN" sz="2200" b="1" dirty="0">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endParaRPr lang="zh-CN" altLang="en-US" sz="2200" b="1" dirty="0">
                <a:solidFill>
                  <a:srgbClr val="FF0000"/>
                </a:solidFill>
                <a:latin typeface="宋体" panose="02010600030101010101" pitchFamily="2" charset="-122"/>
                <a:ea typeface="宋体" panose="02010600030101010101" pitchFamily="2" charset="-122"/>
              </a:endParaRPr>
            </a:p>
          </p:txBody>
        </p:sp>
        <p:sp>
          <p:nvSpPr>
            <p:cNvPr id="152653" name="Rectangle 19"/>
            <p:cNvSpPr/>
            <p:nvPr/>
          </p:nvSpPr>
          <p:spPr>
            <a:xfrm>
              <a:off x="960" y="288"/>
              <a:ext cx="549" cy="1408"/>
            </a:xfrm>
            <a:prstGeom prst="rect">
              <a:avLst/>
            </a:prstGeom>
            <a:noFill/>
            <a:ln w="9525">
              <a:noFill/>
            </a:ln>
          </p:spPr>
          <p:txBody>
            <a:bodyPr>
              <a:spAutoFit/>
            </a:bodyPr>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ZF=0</a:t>
              </a:r>
              <a:endParaRPr lang="en-US" altLang="zh-CN" sz="2200" b="1" dirty="0">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SF=0</a:t>
              </a:r>
              <a:endParaRPr lang="en-US" altLang="zh-CN" sz="2200" b="1" dirty="0">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OF=0</a:t>
              </a:r>
              <a:endParaRPr lang="en-US" altLang="zh-CN" sz="2200" b="1" dirty="0">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PF=0</a:t>
              </a:r>
              <a:endParaRPr lang="en-US" altLang="zh-CN" sz="2200" b="1" dirty="0">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CF=0</a:t>
              </a:r>
              <a:endParaRPr lang="en-US" altLang="zh-CN" sz="2200" b="1" dirty="0">
                <a:latin typeface="宋体" panose="02010600030101010101" pitchFamily="2" charset="-122"/>
                <a:ea typeface="宋体" panose="02010600030101010101" pitchFamily="2" charset="-122"/>
              </a:endParaRPr>
            </a:p>
            <a:p>
              <a:pPr>
                <a:lnSpc>
                  <a:spcPct val="90000"/>
                </a:lnSpc>
                <a:spcBef>
                  <a:spcPct val="20000"/>
                </a:spcBef>
                <a:buFont typeface="Wingdings" panose="05000000000000000000" pitchFamily="2" charset="2"/>
              </a:pPr>
              <a:endParaRPr lang="zh-CN" altLang="en-US" sz="2200" b="1" dirty="0">
                <a:latin typeface="宋体" panose="02010600030101010101" pitchFamily="2" charset="-122"/>
                <a:ea typeface="宋体" panose="02010600030101010101" pitchFamily="2" charset="-122"/>
              </a:endParaRPr>
            </a:p>
          </p:txBody>
        </p:sp>
        <p:sp>
          <p:nvSpPr>
            <p:cNvPr id="152654" name="Rectangle 20"/>
            <p:cNvSpPr/>
            <p:nvPr/>
          </p:nvSpPr>
          <p:spPr>
            <a:xfrm>
              <a:off x="48" y="0"/>
              <a:ext cx="1536" cy="1488"/>
            </a:xfrm>
            <a:prstGeom prst="rect">
              <a:avLst/>
            </a:prstGeom>
            <a:noFill/>
            <a:ln w="28575" cap="flat" cmpd="sng">
              <a:solidFill>
                <a:schemeClr val="tx1"/>
              </a:solidFill>
              <a:prstDash val="solid"/>
              <a:miter/>
              <a:headEnd type="none" w="med" len="med"/>
              <a:tailEnd type="none" w="med" len="med"/>
            </a:ln>
          </p:spPr>
          <p:txBody>
            <a:bodyPr anchor="ctr" anchorCtr="0">
              <a:spAutoFit/>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55" name="Line 21"/>
            <p:cNvSpPr/>
            <p:nvPr/>
          </p:nvSpPr>
          <p:spPr>
            <a:xfrm>
              <a:off x="48" y="528"/>
              <a:ext cx="1536" cy="0"/>
            </a:xfrm>
            <a:prstGeom prst="line">
              <a:avLst/>
            </a:prstGeom>
            <a:ln w="28575" cap="flat" cmpd="sng">
              <a:solidFill>
                <a:schemeClr val="tx1"/>
              </a:solidFill>
              <a:prstDash val="solid"/>
              <a:headEnd type="none" w="med" len="med"/>
              <a:tailEnd type="none" w="med" len="med"/>
            </a:ln>
          </p:spPr>
        </p:sp>
        <p:sp>
          <p:nvSpPr>
            <p:cNvPr id="152656" name="Line 22"/>
            <p:cNvSpPr/>
            <p:nvPr/>
          </p:nvSpPr>
          <p:spPr>
            <a:xfrm>
              <a:off x="816" y="0"/>
              <a:ext cx="0" cy="1488"/>
            </a:xfrm>
            <a:prstGeom prst="line">
              <a:avLst/>
            </a:prstGeom>
            <a:ln w="28575" cap="flat" cmpd="sng">
              <a:solidFill>
                <a:schemeClr val="tx1"/>
              </a:solidFill>
              <a:prstDash val="solid"/>
              <a:headEnd type="none" w="med" len="med"/>
              <a:tailEnd type="none" w="med" len="med"/>
            </a:ln>
          </p:spPr>
        </p:sp>
        <p:sp>
          <p:nvSpPr>
            <p:cNvPr id="152657" name="Line 23"/>
            <p:cNvSpPr/>
            <p:nvPr/>
          </p:nvSpPr>
          <p:spPr>
            <a:xfrm>
              <a:off x="48" y="288"/>
              <a:ext cx="1536" cy="0"/>
            </a:xfrm>
            <a:prstGeom prst="line">
              <a:avLst/>
            </a:prstGeom>
            <a:ln w="28575" cap="flat" cmpd="sng">
              <a:solidFill>
                <a:schemeClr val="tx1"/>
              </a:solidFill>
              <a:prstDash val="solid"/>
              <a:headEnd type="none" w="med" len="med"/>
              <a:tailEnd type="none" w="med" len="med"/>
            </a:ln>
          </p:spPr>
        </p:sp>
        <p:sp>
          <p:nvSpPr>
            <p:cNvPr id="152658" name="Line 24"/>
            <p:cNvSpPr/>
            <p:nvPr/>
          </p:nvSpPr>
          <p:spPr>
            <a:xfrm>
              <a:off x="48" y="768"/>
              <a:ext cx="1536" cy="0"/>
            </a:xfrm>
            <a:prstGeom prst="line">
              <a:avLst/>
            </a:prstGeom>
            <a:ln w="28575" cap="flat" cmpd="sng">
              <a:solidFill>
                <a:schemeClr val="tx1"/>
              </a:solidFill>
              <a:prstDash val="solid"/>
              <a:headEnd type="none" w="med" len="med"/>
              <a:tailEnd type="none" w="med" len="med"/>
            </a:ln>
          </p:spPr>
        </p:sp>
        <p:sp>
          <p:nvSpPr>
            <p:cNvPr id="152659" name="Line 25"/>
            <p:cNvSpPr/>
            <p:nvPr/>
          </p:nvSpPr>
          <p:spPr>
            <a:xfrm>
              <a:off x="48" y="1008"/>
              <a:ext cx="1536" cy="0"/>
            </a:xfrm>
            <a:prstGeom prst="line">
              <a:avLst/>
            </a:prstGeom>
            <a:ln w="28575" cap="flat" cmpd="sng">
              <a:solidFill>
                <a:schemeClr val="tx1"/>
              </a:solidFill>
              <a:prstDash val="solid"/>
              <a:headEnd type="none" w="med" len="med"/>
              <a:tailEnd type="none" w="med" len="med"/>
            </a:ln>
          </p:spPr>
        </p:sp>
        <p:sp>
          <p:nvSpPr>
            <p:cNvPr id="152660" name="Line 26"/>
            <p:cNvSpPr/>
            <p:nvPr/>
          </p:nvSpPr>
          <p:spPr>
            <a:xfrm>
              <a:off x="48" y="1200"/>
              <a:ext cx="1536" cy="0"/>
            </a:xfrm>
            <a:prstGeom prst="line">
              <a:avLst/>
            </a:prstGeom>
            <a:ln w="28575" cap="flat" cmpd="sng">
              <a:solidFill>
                <a:schemeClr val="tx1"/>
              </a:solidFill>
              <a:prstDash val="solid"/>
              <a:headEnd type="none" w="med" len="med"/>
              <a:tailEnd type="none" w="med" len="med"/>
            </a:ln>
          </p:spPr>
        </p:sp>
        <p:sp>
          <p:nvSpPr>
            <p:cNvPr id="152661" name="Rectangle 27"/>
            <p:cNvSpPr/>
            <p:nvPr/>
          </p:nvSpPr>
          <p:spPr>
            <a:xfrm>
              <a:off x="0" y="278"/>
              <a:ext cx="828" cy="248"/>
            </a:xfrm>
            <a:prstGeom prst="rect">
              <a:avLst/>
            </a:prstGeom>
            <a:noFill/>
            <a:ln w="9525">
              <a:noFill/>
            </a:ln>
          </p:spPr>
          <p:txBody>
            <a:bodyPr wrap="none">
              <a:spAutoFit/>
            </a:bodyPr>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J</a:t>
              </a:r>
              <a:r>
                <a:rPr lang="en-US" altLang="zh-CN" sz="2200" b="1" dirty="0">
                  <a:solidFill>
                    <a:srgbClr val="FF0000"/>
                  </a:solidFill>
                  <a:latin typeface="宋体" panose="02010600030101010101" pitchFamily="2" charset="-122"/>
                  <a:ea typeface="宋体" panose="02010600030101010101" pitchFamily="2" charset="-122"/>
                </a:rPr>
                <a:t>NZ </a:t>
              </a:r>
              <a:r>
                <a:rPr lang="en-US" altLang="zh-CN" sz="2200" b="1" dirty="0">
                  <a:solidFill>
                    <a:schemeClr val="tx2"/>
                  </a:solidFill>
                  <a:latin typeface="宋体" panose="02010600030101010101" pitchFamily="2" charset="-122"/>
                  <a:ea typeface="宋体" panose="02010600030101010101" pitchFamily="2" charset="-122"/>
                </a:rPr>
                <a:t>/</a:t>
              </a:r>
              <a:r>
                <a:rPr lang="en-US" altLang="zh-CN" sz="2200" b="1" dirty="0">
                  <a:latin typeface="宋体" panose="02010600030101010101" pitchFamily="2" charset="-122"/>
                  <a:ea typeface="宋体" panose="02010600030101010101" pitchFamily="2" charset="-122"/>
                </a:rPr>
                <a:t>J</a:t>
              </a:r>
              <a:r>
                <a:rPr lang="en-US" altLang="zh-CN" sz="2200" b="1" dirty="0">
                  <a:solidFill>
                    <a:srgbClr val="FF0000"/>
                  </a:solidFill>
                  <a:latin typeface="宋体" panose="02010600030101010101" pitchFamily="2" charset="-122"/>
                  <a:ea typeface="宋体" panose="02010600030101010101" pitchFamily="2" charset="-122"/>
                </a:rPr>
                <a:t>NE</a:t>
              </a:r>
              <a:endParaRPr lang="en-US" altLang="zh-CN" sz="2200" b="1" dirty="0">
                <a:solidFill>
                  <a:srgbClr val="FF0000"/>
                </a:solidFill>
                <a:latin typeface="宋体" panose="02010600030101010101" pitchFamily="2" charset="-122"/>
                <a:ea typeface="宋体" panose="02010600030101010101" pitchFamily="2" charset="-122"/>
              </a:endParaRPr>
            </a:p>
          </p:txBody>
        </p:sp>
      </p:grpSp>
      <p:sp>
        <p:nvSpPr>
          <p:cNvPr id="319516" name="Rectangle 28"/>
          <p:cNvSpPr/>
          <p:nvPr/>
        </p:nvSpPr>
        <p:spPr>
          <a:xfrm>
            <a:off x="879475" y="4246563"/>
            <a:ext cx="5237163" cy="479425"/>
          </a:xfrm>
          <a:prstGeom prst="rect">
            <a:avLst/>
          </a:prstGeom>
          <a:noFill/>
          <a:ln w="9525">
            <a:noFill/>
          </a:ln>
        </p:spPr>
        <p:txBody>
          <a:bodyPr wrap="none">
            <a:spAutoFit/>
          </a:bodyPr>
          <a:p>
            <a:pPr>
              <a:lnSpc>
                <a:spcPct val="90000"/>
              </a:lnSpc>
              <a:spcBef>
                <a:spcPct val="20000"/>
              </a:spcBef>
              <a:buFont typeface="Wingdings" panose="05000000000000000000" pitchFamily="2" charset="2"/>
            </a:pPr>
            <a:r>
              <a:rPr lang="zh-CN" altLang="en-US" sz="2800" b="1" dirty="0">
                <a:solidFill>
                  <a:srgbClr val="6600CC"/>
                </a:solidFill>
                <a:latin typeface="宋体" panose="02010600030101010101" pitchFamily="2" charset="-122"/>
                <a:ea typeface="宋体" panose="02010600030101010101" pitchFamily="2" charset="-122"/>
              </a:rPr>
              <a:t>（</a:t>
            </a:r>
            <a:r>
              <a:rPr lang="en-US" altLang="zh-CN" sz="2800" b="1" dirty="0">
                <a:solidFill>
                  <a:srgbClr val="6600CC"/>
                </a:solidFill>
                <a:latin typeface="宋体" panose="02010600030101010101" pitchFamily="2" charset="-122"/>
                <a:ea typeface="宋体" panose="02010600030101010101" pitchFamily="2" charset="-122"/>
              </a:rPr>
              <a:t>2</a:t>
            </a:r>
            <a:r>
              <a:rPr lang="zh-CN" altLang="en-US" sz="2800" b="1" dirty="0">
                <a:solidFill>
                  <a:srgbClr val="6600CC"/>
                </a:solidFill>
                <a:latin typeface="宋体" panose="02010600030101010101" pitchFamily="2" charset="-122"/>
                <a:ea typeface="宋体" panose="02010600030101010101" pitchFamily="2" charset="-122"/>
              </a:rPr>
              <a:t>）以</a:t>
            </a:r>
            <a:r>
              <a:rPr lang="en-US" altLang="zh-CN" sz="2800" b="1" dirty="0">
                <a:solidFill>
                  <a:srgbClr val="6600CC"/>
                </a:solidFill>
                <a:latin typeface="宋体" panose="02010600030101010101" pitchFamily="2" charset="-122"/>
                <a:ea typeface="宋体" panose="02010600030101010101" pitchFamily="2" charset="-122"/>
              </a:rPr>
              <a:t>CX</a:t>
            </a:r>
            <a:r>
              <a:rPr lang="zh-CN" altLang="en-US" sz="2800" b="1" dirty="0">
                <a:solidFill>
                  <a:srgbClr val="6600CC"/>
                </a:solidFill>
                <a:latin typeface="宋体" panose="02010600030101010101" pitchFamily="2" charset="-122"/>
                <a:ea typeface="宋体" panose="02010600030101010101" pitchFamily="2" charset="-122"/>
              </a:rPr>
              <a:t>的值为</a:t>
            </a:r>
            <a:r>
              <a:rPr lang="en-US" altLang="zh-CN" sz="2800" b="1" dirty="0">
                <a:solidFill>
                  <a:srgbClr val="6600CC"/>
                </a:solidFill>
                <a:latin typeface="宋体" panose="02010600030101010101" pitchFamily="2" charset="-122"/>
                <a:ea typeface="宋体" panose="02010600030101010101" pitchFamily="2" charset="-122"/>
              </a:rPr>
              <a:t>0</a:t>
            </a:r>
            <a:r>
              <a:rPr lang="zh-CN" altLang="en-US" sz="2800" b="1" dirty="0">
                <a:solidFill>
                  <a:srgbClr val="6600CC"/>
                </a:solidFill>
                <a:latin typeface="宋体" panose="02010600030101010101" pitchFamily="2" charset="-122"/>
                <a:ea typeface="宋体" panose="02010600030101010101" pitchFamily="2" charset="-122"/>
              </a:rPr>
              <a:t>作为转移条件</a:t>
            </a:r>
            <a:endParaRPr lang="zh-CN" altLang="en-US" sz="2800" b="1" dirty="0">
              <a:solidFill>
                <a:srgbClr val="6600CC"/>
              </a:solidFill>
              <a:latin typeface="宋体" panose="02010600030101010101" pitchFamily="2" charset="-122"/>
              <a:ea typeface="宋体" panose="02010600030101010101" pitchFamily="2" charset="-122"/>
            </a:endParaRPr>
          </a:p>
        </p:txBody>
      </p:sp>
      <p:grpSp>
        <p:nvGrpSpPr>
          <p:cNvPr id="5" name="Group 96"/>
          <p:cNvGrpSpPr/>
          <p:nvPr/>
        </p:nvGrpSpPr>
        <p:grpSpPr>
          <a:xfrm>
            <a:off x="2395538" y="5019675"/>
            <a:ext cx="4010025" cy="946150"/>
            <a:chOff x="1509" y="3162"/>
            <a:chExt cx="2526" cy="596"/>
          </a:xfrm>
        </p:grpSpPr>
        <p:sp>
          <p:nvSpPr>
            <p:cNvPr id="152584" name="Rectangle 29"/>
            <p:cNvSpPr/>
            <p:nvPr/>
          </p:nvSpPr>
          <p:spPr>
            <a:xfrm>
              <a:off x="1935" y="3224"/>
              <a:ext cx="579" cy="230"/>
            </a:xfrm>
            <a:prstGeom prst="rect">
              <a:avLst/>
            </a:prstGeom>
            <a:noFill/>
            <a:ln w="9525">
              <a:noFill/>
            </a:ln>
          </p:spPr>
          <p:txBody>
            <a:bodyPr wrap="none" lIns="0" tIns="0" rIns="0" bIns="0">
              <a:spAutoFit/>
            </a:bodyPr>
            <a:p>
              <a:pPr>
                <a:buFont typeface="Wingdings" panose="05000000000000000000" pitchFamily="2" charset="2"/>
              </a:pPr>
              <a:r>
                <a:rPr lang="zh-CN" altLang="en-US" sz="2400" b="1" dirty="0">
                  <a:solidFill>
                    <a:srgbClr val="000000"/>
                  </a:solidFill>
                  <a:latin typeface="宋体" panose="02010600030101010101" pitchFamily="2" charset="-122"/>
                  <a:ea typeface="宋体" panose="02010600030101010101" pitchFamily="2" charset="-122"/>
                </a:rPr>
                <a:t>助记符</a:t>
              </a:r>
              <a:endParaRPr lang="zh-CN" altLang="en-US" sz="2400" b="1" dirty="0">
                <a:latin typeface="宋体" panose="02010600030101010101" pitchFamily="2" charset="-122"/>
                <a:ea typeface="宋体" panose="02010600030101010101" pitchFamily="2" charset="-122"/>
              </a:endParaRPr>
            </a:p>
          </p:txBody>
        </p:sp>
        <p:sp>
          <p:nvSpPr>
            <p:cNvPr id="152585" name="Rectangle 30"/>
            <p:cNvSpPr/>
            <p:nvPr/>
          </p:nvSpPr>
          <p:spPr>
            <a:xfrm>
              <a:off x="3107" y="3224"/>
              <a:ext cx="772" cy="230"/>
            </a:xfrm>
            <a:prstGeom prst="rect">
              <a:avLst/>
            </a:prstGeom>
            <a:noFill/>
            <a:ln w="9525">
              <a:noFill/>
            </a:ln>
          </p:spPr>
          <p:txBody>
            <a:bodyPr wrap="none" lIns="0" tIns="0" rIns="0" bIns="0">
              <a:spAutoFit/>
            </a:bodyPr>
            <a:p>
              <a:pPr>
                <a:buFont typeface="Wingdings" panose="05000000000000000000" pitchFamily="2" charset="2"/>
              </a:pPr>
              <a:r>
                <a:rPr lang="zh-CN" altLang="en-US" sz="2400" b="1" dirty="0">
                  <a:solidFill>
                    <a:srgbClr val="000000"/>
                  </a:solidFill>
                  <a:latin typeface="宋体" panose="02010600030101010101" pitchFamily="2" charset="-122"/>
                  <a:ea typeface="宋体" panose="02010600030101010101" pitchFamily="2" charset="-122"/>
                </a:rPr>
                <a:t>转移条件</a:t>
              </a:r>
              <a:endParaRPr lang="zh-CN" altLang="en-US" sz="2400" b="1" dirty="0">
                <a:latin typeface="宋体" panose="02010600030101010101" pitchFamily="2" charset="-122"/>
                <a:ea typeface="宋体" panose="02010600030101010101" pitchFamily="2" charset="-122"/>
              </a:endParaRPr>
            </a:p>
          </p:txBody>
        </p:sp>
        <p:sp>
          <p:nvSpPr>
            <p:cNvPr id="152586" name="Rectangle 31"/>
            <p:cNvSpPr/>
            <p:nvPr/>
          </p:nvSpPr>
          <p:spPr>
            <a:xfrm>
              <a:off x="1509" y="3162"/>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587" name="Line 32"/>
            <p:cNvSpPr/>
            <p:nvPr/>
          </p:nvSpPr>
          <p:spPr>
            <a:xfrm>
              <a:off x="1509" y="3162"/>
              <a:ext cx="2" cy="0"/>
            </a:xfrm>
            <a:prstGeom prst="line">
              <a:avLst/>
            </a:prstGeom>
            <a:ln w="0" cap="flat" cmpd="sng">
              <a:solidFill>
                <a:srgbClr val="000000"/>
              </a:solidFill>
              <a:prstDash val="solid"/>
              <a:headEnd type="none" w="med" len="med"/>
              <a:tailEnd type="none" w="med" len="med"/>
            </a:ln>
          </p:spPr>
        </p:sp>
        <p:sp>
          <p:nvSpPr>
            <p:cNvPr id="152588" name="Line 33"/>
            <p:cNvSpPr/>
            <p:nvPr/>
          </p:nvSpPr>
          <p:spPr>
            <a:xfrm>
              <a:off x="1509" y="3162"/>
              <a:ext cx="0" cy="3"/>
            </a:xfrm>
            <a:prstGeom prst="line">
              <a:avLst/>
            </a:prstGeom>
            <a:ln w="0" cap="flat" cmpd="sng">
              <a:solidFill>
                <a:srgbClr val="000000"/>
              </a:solidFill>
              <a:prstDash val="solid"/>
              <a:headEnd type="none" w="med" len="med"/>
              <a:tailEnd type="none" w="med" len="med"/>
            </a:ln>
          </p:spPr>
        </p:sp>
        <p:sp>
          <p:nvSpPr>
            <p:cNvPr id="152589" name="Rectangle 34"/>
            <p:cNvSpPr/>
            <p:nvPr/>
          </p:nvSpPr>
          <p:spPr>
            <a:xfrm>
              <a:off x="1509" y="3162"/>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590" name="Line 35"/>
            <p:cNvSpPr/>
            <p:nvPr/>
          </p:nvSpPr>
          <p:spPr>
            <a:xfrm>
              <a:off x="1509" y="3162"/>
              <a:ext cx="2" cy="0"/>
            </a:xfrm>
            <a:prstGeom prst="line">
              <a:avLst/>
            </a:prstGeom>
            <a:ln w="0" cap="flat" cmpd="sng">
              <a:solidFill>
                <a:srgbClr val="000000"/>
              </a:solidFill>
              <a:prstDash val="solid"/>
              <a:headEnd type="none" w="med" len="med"/>
              <a:tailEnd type="none" w="med" len="med"/>
            </a:ln>
          </p:spPr>
        </p:sp>
        <p:sp>
          <p:nvSpPr>
            <p:cNvPr id="152591" name="Line 36"/>
            <p:cNvSpPr/>
            <p:nvPr/>
          </p:nvSpPr>
          <p:spPr>
            <a:xfrm>
              <a:off x="1509" y="3162"/>
              <a:ext cx="0" cy="3"/>
            </a:xfrm>
            <a:prstGeom prst="line">
              <a:avLst/>
            </a:prstGeom>
            <a:ln w="0" cap="flat" cmpd="sng">
              <a:solidFill>
                <a:srgbClr val="000000"/>
              </a:solidFill>
              <a:prstDash val="solid"/>
              <a:headEnd type="none" w="med" len="med"/>
              <a:tailEnd type="none" w="med" len="med"/>
            </a:ln>
          </p:spPr>
        </p:sp>
        <p:sp>
          <p:nvSpPr>
            <p:cNvPr id="152592" name="Rectangle 37"/>
            <p:cNvSpPr/>
            <p:nvPr/>
          </p:nvSpPr>
          <p:spPr>
            <a:xfrm>
              <a:off x="1511" y="3162"/>
              <a:ext cx="1386"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593" name="Line 38"/>
            <p:cNvSpPr/>
            <p:nvPr/>
          </p:nvSpPr>
          <p:spPr>
            <a:xfrm>
              <a:off x="1511" y="3162"/>
              <a:ext cx="1386" cy="0"/>
            </a:xfrm>
            <a:prstGeom prst="line">
              <a:avLst/>
            </a:prstGeom>
            <a:ln w="0" cap="flat" cmpd="sng">
              <a:solidFill>
                <a:srgbClr val="000000"/>
              </a:solidFill>
              <a:prstDash val="solid"/>
              <a:headEnd type="none" w="med" len="med"/>
              <a:tailEnd type="none" w="med" len="med"/>
            </a:ln>
          </p:spPr>
        </p:sp>
        <p:sp>
          <p:nvSpPr>
            <p:cNvPr id="152594" name="Rectangle 39"/>
            <p:cNvSpPr/>
            <p:nvPr/>
          </p:nvSpPr>
          <p:spPr>
            <a:xfrm>
              <a:off x="2897" y="3162"/>
              <a:ext cx="3"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595" name="Line 40"/>
            <p:cNvSpPr/>
            <p:nvPr/>
          </p:nvSpPr>
          <p:spPr>
            <a:xfrm>
              <a:off x="2897" y="3162"/>
              <a:ext cx="3" cy="0"/>
            </a:xfrm>
            <a:prstGeom prst="line">
              <a:avLst/>
            </a:prstGeom>
            <a:ln w="0" cap="flat" cmpd="sng">
              <a:solidFill>
                <a:srgbClr val="000000"/>
              </a:solidFill>
              <a:prstDash val="solid"/>
              <a:headEnd type="none" w="med" len="med"/>
              <a:tailEnd type="none" w="med" len="med"/>
            </a:ln>
          </p:spPr>
        </p:sp>
        <p:sp>
          <p:nvSpPr>
            <p:cNvPr id="152596" name="Line 41"/>
            <p:cNvSpPr/>
            <p:nvPr/>
          </p:nvSpPr>
          <p:spPr>
            <a:xfrm>
              <a:off x="2897" y="3162"/>
              <a:ext cx="0" cy="3"/>
            </a:xfrm>
            <a:prstGeom prst="line">
              <a:avLst/>
            </a:prstGeom>
            <a:ln w="0" cap="flat" cmpd="sng">
              <a:solidFill>
                <a:srgbClr val="000000"/>
              </a:solidFill>
              <a:prstDash val="solid"/>
              <a:headEnd type="none" w="med" len="med"/>
              <a:tailEnd type="none" w="med" len="med"/>
            </a:ln>
          </p:spPr>
        </p:sp>
        <p:sp>
          <p:nvSpPr>
            <p:cNvPr id="152597" name="Rectangle 42"/>
            <p:cNvSpPr/>
            <p:nvPr/>
          </p:nvSpPr>
          <p:spPr>
            <a:xfrm>
              <a:off x="2900" y="3162"/>
              <a:ext cx="113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598" name="Line 43"/>
            <p:cNvSpPr/>
            <p:nvPr/>
          </p:nvSpPr>
          <p:spPr>
            <a:xfrm>
              <a:off x="2900" y="3162"/>
              <a:ext cx="1132" cy="0"/>
            </a:xfrm>
            <a:prstGeom prst="line">
              <a:avLst/>
            </a:prstGeom>
            <a:ln w="0" cap="flat" cmpd="sng">
              <a:solidFill>
                <a:srgbClr val="000000"/>
              </a:solidFill>
              <a:prstDash val="solid"/>
              <a:headEnd type="none" w="med" len="med"/>
              <a:tailEnd type="none" w="med" len="med"/>
            </a:ln>
          </p:spPr>
        </p:sp>
        <p:sp>
          <p:nvSpPr>
            <p:cNvPr id="152599" name="Rectangle 44"/>
            <p:cNvSpPr/>
            <p:nvPr/>
          </p:nvSpPr>
          <p:spPr>
            <a:xfrm>
              <a:off x="4032" y="3162"/>
              <a:ext cx="3"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00" name="Line 45"/>
            <p:cNvSpPr/>
            <p:nvPr/>
          </p:nvSpPr>
          <p:spPr>
            <a:xfrm>
              <a:off x="4032" y="3162"/>
              <a:ext cx="3" cy="0"/>
            </a:xfrm>
            <a:prstGeom prst="line">
              <a:avLst/>
            </a:prstGeom>
            <a:ln w="0" cap="flat" cmpd="sng">
              <a:solidFill>
                <a:srgbClr val="000000"/>
              </a:solidFill>
              <a:prstDash val="solid"/>
              <a:headEnd type="none" w="med" len="med"/>
              <a:tailEnd type="none" w="med" len="med"/>
            </a:ln>
          </p:spPr>
        </p:sp>
        <p:sp>
          <p:nvSpPr>
            <p:cNvPr id="152601" name="Line 46"/>
            <p:cNvSpPr/>
            <p:nvPr/>
          </p:nvSpPr>
          <p:spPr>
            <a:xfrm>
              <a:off x="4032" y="3162"/>
              <a:ext cx="0" cy="3"/>
            </a:xfrm>
            <a:prstGeom prst="line">
              <a:avLst/>
            </a:prstGeom>
            <a:ln w="0" cap="flat" cmpd="sng">
              <a:solidFill>
                <a:srgbClr val="000000"/>
              </a:solidFill>
              <a:prstDash val="solid"/>
              <a:headEnd type="none" w="med" len="med"/>
              <a:tailEnd type="none" w="med" len="med"/>
            </a:ln>
          </p:spPr>
        </p:sp>
        <p:sp>
          <p:nvSpPr>
            <p:cNvPr id="152602" name="Rectangle 47"/>
            <p:cNvSpPr/>
            <p:nvPr/>
          </p:nvSpPr>
          <p:spPr>
            <a:xfrm>
              <a:off x="4032" y="3162"/>
              <a:ext cx="3"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03" name="Line 48"/>
            <p:cNvSpPr/>
            <p:nvPr/>
          </p:nvSpPr>
          <p:spPr>
            <a:xfrm>
              <a:off x="4032" y="3162"/>
              <a:ext cx="3" cy="0"/>
            </a:xfrm>
            <a:prstGeom prst="line">
              <a:avLst/>
            </a:prstGeom>
            <a:ln w="0" cap="flat" cmpd="sng">
              <a:solidFill>
                <a:srgbClr val="000000"/>
              </a:solidFill>
              <a:prstDash val="solid"/>
              <a:headEnd type="none" w="med" len="med"/>
              <a:tailEnd type="none" w="med" len="med"/>
            </a:ln>
          </p:spPr>
        </p:sp>
        <p:sp>
          <p:nvSpPr>
            <p:cNvPr id="152604" name="Line 49"/>
            <p:cNvSpPr/>
            <p:nvPr/>
          </p:nvSpPr>
          <p:spPr>
            <a:xfrm>
              <a:off x="4032" y="3162"/>
              <a:ext cx="0" cy="3"/>
            </a:xfrm>
            <a:prstGeom prst="line">
              <a:avLst/>
            </a:prstGeom>
            <a:ln w="0" cap="flat" cmpd="sng">
              <a:solidFill>
                <a:srgbClr val="000000"/>
              </a:solidFill>
              <a:prstDash val="solid"/>
              <a:headEnd type="none" w="med" len="med"/>
              <a:tailEnd type="none" w="med" len="med"/>
            </a:ln>
          </p:spPr>
        </p:sp>
        <p:sp>
          <p:nvSpPr>
            <p:cNvPr id="152605" name="Rectangle 50"/>
            <p:cNvSpPr/>
            <p:nvPr/>
          </p:nvSpPr>
          <p:spPr>
            <a:xfrm>
              <a:off x="1509" y="3165"/>
              <a:ext cx="2" cy="308"/>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06" name="Line 51"/>
            <p:cNvSpPr/>
            <p:nvPr/>
          </p:nvSpPr>
          <p:spPr>
            <a:xfrm>
              <a:off x="1509" y="3165"/>
              <a:ext cx="0" cy="308"/>
            </a:xfrm>
            <a:prstGeom prst="line">
              <a:avLst/>
            </a:prstGeom>
            <a:ln w="0" cap="flat" cmpd="sng">
              <a:solidFill>
                <a:srgbClr val="000000"/>
              </a:solidFill>
              <a:prstDash val="solid"/>
              <a:headEnd type="none" w="med" len="med"/>
              <a:tailEnd type="none" w="med" len="med"/>
            </a:ln>
          </p:spPr>
        </p:sp>
        <p:sp>
          <p:nvSpPr>
            <p:cNvPr id="152607" name="Rectangle 52"/>
            <p:cNvSpPr/>
            <p:nvPr/>
          </p:nvSpPr>
          <p:spPr>
            <a:xfrm>
              <a:off x="2897" y="3165"/>
              <a:ext cx="3" cy="308"/>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08" name="Line 53"/>
            <p:cNvSpPr/>
            <p:nvPr/>
          </p:nvSpPr>
          <p:spPr>
            <a:xfrm>
              <a:off x="2897" y="3165"/>
              <a:ext cx="0" cy="308"/>
            </a:xfrm>
            <a:prstGeom prst="line">
              <a:avLst/>
            </a:prstGeom>
            <a:ln w="0" cap="flat" cmpd="sng">
              <a:solidFill>
                <a:srgbClr val="000000"/>
              </a:solidFill>
              <a:prstDash val="solid"/>
              <a:headEnd type="none" w="med" len="med"/>
              <a:tailEnd type="none" w="med" len="med"/>
            </a:ln>
          </p:spPr>
        </p:sp>
        <p:sp>
          <p:nvSpPr>
            <p:cNvPr id="152609" name="Rectangle 54"/>
            <p:cNvSpPr/>
            <p:nvPr/>
          </p:nvSpPr>
          <p:spPr>
            <a:xfrm>
              <a:off x="4032" y="3165"/>
              <a:ext cx="3" cy="308"/>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10" name="Line 55"/>
            <p:cNvSpPr/>
            <p:nvPr/>
          </p:nvSpPr>
          <p:spPr>
            <a:xfrm>
              <a:off x="4032" y="3165"/>
              <a:ext cx="0" cy="308"/>
            </a:xfrm>
            <a:prstGeom prst="line">
              <a:avLst/>
            </a:prstGeom>
            <a:ln w="0" cap="flat" cmpd="sng">
              <a:solidFill>
                <a:srgbClr val="000000"/>
              </a:solidFill>
              <a:prstDash val="solid"/>
              <a:headEnd type="none" w="med" len="med"/>
              <a:tailEnd type="none" w="med" len="med"/>
            </a:ln>
          </p:spPr>
        </p:sp>
        <p:sp>
          <p:nvSpPr>
            <p:cNvPr id="152611" name="Rectangle 56"/>
            <p:cNvSpPr/>
            <p:nvPr/>
          </p:nvSpPr>
          <p:spPr>
            <a:xfrm>
              <a:off x="1967" y="3515"/>
              <a:ext cx="388" cy="230"/>
            </a:xfrm>
            <a:prstGeom prst="rect">
              <a:avLst/>
            </a:prstGeom>
            <a:noFill/>
            <a:ln w="9525">
              <a:noFill/>
            </a:ln>
          </p:spPr>
          <p:txBody>
            <a:bodyPr wrap="none" lIns="0" tIns="0" rIns="0" bIns="0">
              <a:spAutoFit/>
            </a:bodyPr>
            <a:p>
              <a:pPr>
                <a:buFont typeface="Wingdings" panose="05000000000000000000" pitchFamily="2" charset="2"/>
              </a:pPr>
              <a:r>
                <a:rPr lang="en-US" altLang="zh-CN" sz="2400" b="1" dirty="0">
                  <a:solidFill>
                    <a:srgbClr val="FF0000"/>
                  </a:solidFill>
                  <a:latin typeface="宋体" panose="02010600030101010101" pitchFamily="2" charset="-122"/>
                  <a:ea typeface="宋体" panose="02010600030101010101" pitchFamily="2" charset="-122"/>
                </a:rPr>
                <a:t>JCXZ</a:t>
              </a:r>
              <a:endParaRPr lang="en-US" altLang="zh-CN" sz="2400" b="1" dirty="0">
                <a:latin typeface="宋体" panose="02010600030101010101" pitchFamily="2" charset="-122"/>
                <a:ea typeface="宋体" panose="02010600030101010101" pitchFamily="2" charset="-122"/>
              </a:endParaRPr>
            </a:p>
          </p:txBody>
        </p:sp>
        <p:sp>
          <p:nvSpPr>
            <p:cNvPr id="152612" name="Rectangle 57"/>
            <p:cNvSpPr/>
            <p:nvPr/>
          </p:nvSpPr>
          <p:spPr>
            <a:xfrm>
              <a:off x="3238" y="3515"/>
              <a:ext cx="388" cy="230"/>
            </a:xfrm>
            <a:prstGeom prst="rect">
              <a:avLst/>
            </a:prstGeom>
            <a:noFill/>
            <a:ln w="9525">
              <a:noFill/>
            </a:ln>
          </p:spPr>
          <p:txBody>
            <a:bodyPr wrap="none" lIns="0" tIns="0" rIns="0" bIns="0">
              <a:spAutoFit/>
            </a:bodyPr>
            <a:p>
              <a:pPr>
                <a:buFont typeface="Wingdings" panose="05000000000000000000" pitchFamily="2" charset="2"/>
              </a:pPr>
              <a:r>
                <a:rPr lang="en-US" altLang="zh-CN" sz="2400" b="1" dirty="0">
                  <a:solidFill>
                    <a:srgbClr val="000000"/>
                  </a:solidFill>
                  <a:latin typeface="宋体" panose="02010600030101010101" pitchFamily="2" charset="-122"/>
                  <a:ea typeface="宋体" panose="02010600030101010101" pitchFamily="2" charset="-122"/>
                </a:rPr>
                <a:t>CX=0</a:t>
              </a:r>
              <a:endParaRPr lang="en-US" altLang="zh-CN" sz="2400" b="1" dirty="0">
                <a:latin typeface="宋体" panose="02010600030101010101" pitchFamily="2" charset="-122"/>
                <a:ea typeface="宋体" panose="02010600030101010101" pitchFamily="2" charset="-122"/>
              </a:endParaRPr>
            </a:p>
          </p:txBody>
        </p:sp>
        <p:sp>
          <p:nvSpPr>
            <p:cNvPr id="152613" name="Rectangle 58"/>
            <p:cNvSpPr/>
            <p:nvPr/>
          </p:nvSpPr>
          <p:spPr>
            <a:xfrm>
              <a:off x="1509" y="3473"/>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14" name="Line 59"/>
            <p:cNvSpPr/>
            <p:nvPr/>
          </p:nvSpPr>
          <p:spPr>
            <a:xfrm>
              <a:off x="1509" y="3473"/>
              <a:ext cx="2" cy="0"/>
            </a:xfrm>
            <a:prstGeom prst="line">
              <a:avLst/>
            </a:prstGeom>
            <a:ln w="0" cap="flat" cmpd="sng">
              <a:solidFill>
                <a:srgbClr val="000000"/>
              </a:solidFill>
              <a:prstDash val="solid"/>
              <a:headEnd type="none" w="med" len="med"/>
              <a:tailEnd type="none" w="med" len="med"/>
            </a:ln>
          </p:spPr>
        </p:sp>
        <p:sp>
          <p:nvSpPr>
            <p:cNvPr id="152615" name="Line 60"/>
            <p:cNvSpPr/>
            <p:nvPr/>
          </p:nvSpPr>
          <p:spPr>
            <a:xfrm>
              <a:off x="1509" y="3473"/>
              <a:ext cx="0" cy="3"/>
            </a:xfrm>
            <a:prstGeom prst="line">
              <a:avLst/>
            </a:prstGeom>
            <a:ln w="0" cap="flat" cmpd="sng">
              <a:solidFill>
                <a:srgbClr val="000000"/>
              </a:solidFill>
              <a:prstDash val="solid"/>
              <a:headEnd type="none" w="med" len="med"/>
              <a:tailEnd type="none" w="med" len="med"/>
            </a:ln>
          </p:spPr>
        </p:sp>
        <p:sp>
          <p:nvSpPr>
            <p:cNvPr id="152616" name="Rectangle 61"/>
            <p:cNvSpPr/>
            <p:nvPr/>
          </p:nvSpPr>
          <p:spPr>
            <a:xfrm>
              <a:off x="1511" y="3473"/>
              <a:ext cx="1386"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17" name="Line 62"/>
            <p:cNvSpPr/>
            <p:nvPr/>
          </p:nvSpPr>
          <p:spPr>
            <a:xfrm>
              <a:off x="1511" y="3473"/>
              <a:ext cx="1386" cy="0"/>
            </a:xfrm>
            <a:prstGeom prst="line">
              <a:avLst/>
            </a:prstGeom>
            <a:ln w="0" cap="flat" cmpd="sng">
              <a:solidFill>
                <a:srgbClr val="000000"/>
              </a:solidFill>
              <a:prstDash val="solid"/>
              <a:headEnd type="none" w="med" len="med"/>
              <a:tailEnd type="none" w="med" len="med"/>
            </a:ln>
          </p:spPr>
        </p:sp>
        <p:sp>
          <p:nvSpPr>
            <p:cNvPr id="152618" name="Rectangle 63"/>
            <p:cNvSpPr/>
            <p:nvPr/>
          </p:nvSpPr>
          <p:spPr>
            <a:xfrm>
              <a:off x="2897" y="3473"/>
              <a:ext cx="3"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19" name="Line 64"/>
            <p:cNvSpPr/>
            <p:nvPr/>
          </p:nvSpPr>
          <p:spPr>
            <a:xfrm>
              <a:off x="2897" y="3473"/>
              <a:ext cx="3" cy="0"/>
            </a:xfrm>
            <a:prstGeom prst="line">
              <a:avLst/>
            </a:prstGeom>
            <a:ln w="0" cap="flat" cmpd="sng">
              <a:solidFill>
                <a:srgbClr val="000000"/>
              </a:solidFill>
              <a:prstDash val="solid"/>
              <a:headEnd type="none" w="med" len="med"/>
              <a:tailEnd type="none" w="med" len="med"/>
            </a:ln>
          </p:spPr>
        </p:sp>
        <p:sp>
          <p:nvSpPr>
            <p:cNvPr id="152620" name="Line 65"/>
            <p:cNvSpPr/>
            <p:nvPr/>
          </p:nvSpPr>
          <p:spPr>
            <a:xfrm>
              <a:off x="2897" y="3473"/>
              <a:ext cx="0" cy="3"/>
            </a:xfrm>
            <a:prstGeom prst="line">
              <a:avLst/>
            </a:prstGeom>
            <a:ln w="0" cap="flat" cmpd="sng">
              <a:solidFill>
                <a:srgbClr val="000000"/>
              </a:solidFill>
              <a:prstDash val="solid"/>
              <a:headEnd type="none" w="med" len="med"/>
              <a:tailEnd type="none" w="med" len="med"/>
            </a:ln>
          </p:spPr>
        </p:sp>
        <p:sp>
          <p:nvSpPr>
            <p:cNvPr id="152621" name="Rectangle 66"/>
            <p:cNvSpPr/>
            <p:nvPr/>
          </p:nvSpPr>
          <p:spPr>
            <a:xfrm>
              <a:off x="2900" y="3473"/>
              <a:ext cx="113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22" name="Line 67"/>
            <p:cNvSpPr/>
            <p:nvPr/>
          </p:nvSpPr>
          <p:spPr>
            <a:xfrm>
              <a:off x="2900" y="3473"/>
              <a:ext cx="1132" cy="0"/>
            </a:xfrm>
            <a:prstGeom prst="line">
              <a:avLst/>
            </a:prstGeom>
            <a:ln w="0" cap="flat" cmpd="sng">
              <a:solidFill>
                <a:srgbClr val="000000"/>
              </a:solidFill>
              <a:prstDash val="solid"/>
              <a:headEnd type="none" w="med" len="med"/>
              <a:tailEnd type="none" w="med" len="med"/>
            </a:ln>
          </p:spPr>
        </p:sp>
        <p:sp>
          <p:nvSpPr>
            <p:cNvPr id="152623" name="Rectangle 68"/>
            <p:cNvSpPr/>
            <p:nvPr/>
          </p:nvSpPr>
          <p:spPr>
            <a:xfrm>
              <a:off x="4032" y="3473"/>
              <a:ext cx="3"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24" name="Line 69"/>
            <p:cNvSpPr/>
            <p:nvPr/>
          </p:nvSpPr>
          <p:spPr>
            <a:xfrm>
              <a:off x="4032" y="3473"/>
              <a:ext cx="3" cy="0"/>
            </a:xfrm>
            <a:prstGeom prst="line">
              <a:avLst/>
            </a:prstGeom>
            <a:ln w="0" cap="flat" cmpd="sng">
              <a:solidFill>
                <a:srgbClr val="000000"/>
              </a:solidFill>
              <a:prstDash val="solid"/>
              <a:headEnd type="none" w="med" len="med"/>
              <a:tailEnd type="none" w="med" len="med"/>
            </a:ln>
          </p:spPr>
        </p:sp>
        <p:sp>
          <p:nvSpPr>
            <p:cNvPr id="152625" name="Line 70"/>
            <p:cNvSpPr/>
            <p:nvPr/>
          </p:nvSpPr>
          <p:spPr>
            <a:xfrm>
              <a:off x="4032" y="3473"/>
              <a:ext cx="0" cy="3"/>
            </a:xfrm>
            <a:prstGeom prst="line">
              <a:avLst/>
            </a:prstGeom>
            <a:ln w="0" cap="flat" cmpd="sng">
              <a:solidFill>
                <a:srgbClr val="000000"/>
              </a:solidFill>
              <a:prstDash val="solid"/>
              <a:headEnd type="none" w="med" len="med"/>
              <a:tailEnd type="none" w="med" len="med"/>
            </a:ln>
          </p:spPr>
        </p:sp>
        <p:sp>
          <p:nvSpPr>
            <p:cNvPr id="152626" name="Rectangle 71"/>
            <p:cNvSpPr/>
            <p:nvPr/>
          </p:nvSpPr>
          <p:spPr>
            <a:xfrm>
              <a:off x="1509" y="3476"/>
              <a:ext cx="2" cy="280"/>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27" name="Line 72"/>
            <p:cNvSpPr/>
            <p:nvPr/>
          </p:nvSpPr>
          <p:spPr>
            <a:xfrm>
              <a:off x="1509" y="3476"/>
              <a:ext cx="0" cy="280"/>
            </a:xfrm>
            <a:prstGeom prst="line">
              <a:avLst/>
            </a:prstGeom>
            <a:ln w="0" cap="flat" cmpd="sng">
              <a:solidFill>
                <a:srgbClr val="000000"/>
              </a:solidFill>
              <a:prstDash val="solid"/>
              <a:headEnd type="none" w="med" len="med"/>
              <a:tailEnd type="none" w="med" len="med"/>
            </a:ln>
          </p:spPr>
        </p:sp>
        <p:sp>
          <p:nvSpPr>
            <p:cNvPr id="152628" name="Rectangle 73"/>
            <p:cNvSpPr/>
            <p:nvPr/>
          </p:nvSpPr>
          <p:spPr>
            <a:xfrm>
              <a:off x="1509" y="3756"/>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29" name="Line 74"/>
            <p:cNvSpPr/>
            <p:nvPr/>
          </p:nvSpPr>
          <p:spPr>
            <a:xfrm>
              <a:off x="1509" y="3756"/>
              <a:ext cx="2" cy="0"/>
            </a:xfrm>
            <a:prstGeom prst="line">
              <a:avLst/>
            </a:prstGeom>
            <a:ln w="0" cap="flat" cmpd="sng">
              <a:solidFill>
                <a:srgbClr val="000000"/>
              </a:solidFill>
              <a:prstDash val="solid"/>
              <a:headEnd type="none" w="med" len="med"/>
              <a:tailEnd type="none" w="med" len="med"/>
            </a:ln>
          </p:spPr>
        </p:sp>
        <p:sp>
          <p:nvSpPr>
            <p:cNvPr id="152630" name="Line 75"/>
            <p:cNvSpPr/>
            <p:nvPr/>
          </p:nvSpPr>
          <p:spPr>
            <a:xfrm>
              <a:off x="1509" y="3756"/>
              <a:ext cx="0" cy="2"/>
            </a:xfrm>
            <a:prstGeom prst="line">
              <a:avLst/>
            </a:prstGeom>
            <a:ln w="0" cap="flat" cmpd="sng">
              <a:solidFill>
                <a:srgbClr val="000000"/>
              </a:solidFill>
              <a:prstDash val="solid"/>
              <a:headEnd type="none" w="med" len="med"/>
              <a:tailEnd type="none" w="med" len="med"/>
            </a:ln>
          </p:spPr>
        </p:sp>
        <p:sp>
          <p:nvSpPr>
            <p:cNvPr id="152631" name="Rectangle 76"/>
            <p:cNvSpPr/>
            <p:nvPr/>
          </p:nvSpPr>
          <p:spPr>
            <a:xfrm>
              <a:off x="1509" y="3756"/>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32" name="Line 77"/>
            <p:cNvSpPr/>
            <p:nvPr/>
          </p:nvSpPr>
          <p:spPr>
            <a:xfrm>
              <a:off x="1509" y="3756"/>
              <a:ext cx="2" cy="0"/>
            </a:xfrm>
            <a:prstGeom prst="line">
              <a:avLst/>
            </a:prstGeom>
            <a:ln w="0" cap="flat" cmpd="sng">
              <a:solidFill>
                <a:srgbClr val="000000"/>
              </a:solidFill>
              <a:prstDash val="solid"/>
              <a:headEnd type="none" w="med" len="med"/>
              <a:tailEnd type="none" w="med" len="med"/>
            </a:ln>
          </p:spPr>
        </p:sp>
        <p:sp>
          <p:nvSpPr>
            <p:cNvPr id="152633" name="Line 78"/>
            <p:cNvSpPr/>
            <p:nvPr/>
          </p:nvSpPr>
          <p:spPr>
            <a:xfrm>
              <a:off x="1509" y="3756"/>
              <a:ext cx="0" cy="2"/>
            </a:xfrm>
            <a:prstGeom prst="line">
              <a:avLst/>
            </a:prstGeom>
            <a:ln w="0" cap="flat" cmpd="sng">
              <a:solidFill>
                <a:srgbClr val="000000"/>
              </a:solidFill>
              <a:prstDash val="solid"/>
              <a:headEnd type="none" w="med" len="med"/>
              <a:tailEnd type="none" w="med" len="med"/>
            </a:ln>
          </p:spPr>
        </p:sp>
        <p:sp>
          <p:nvSpPr>
            <p:cNvPr id="152634" name="Rectangle 79"/>
            <p:cNvSpPr/>
            <p:nvPr/>
          </p:nvSpPr>
          <p:spPr>
            <a:xfrm>
              <a:off x="1511" y="3756"/>
              <a:ext cx="1386"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35" name="Line 80"/>
            <p:cNvSpPr/>
            <p:nvPr/>
          </p:nvSpPr>
          <p:spPr>
            <a:xfrm>
              <a:off x="1511" y="3756"/>
              <a:ext cx="1386" cy="0"/>
            </a:xfrm>
            <a:prstGeom prst="line">
              <a:avLst/>
            </a:prstGeom>
            <a:ln w="0" cap="flat" cmpd="sng">
              <a:solidFill>
                <a:srgbClr val="000000"/>
              </a:solidFill>
              <a:prstDash val="solid"/>
              <a:headEnd type="none" w="med" len="med"/>
              <a:tailEnd type="none" w="med" len="med"/>
            </a:ln>
          </p:spPr>
        </p:sp>
        <p:sp>
          <p:nvSpPr>
            <p:cNvPr id="152636" name="Rectangle 81"/>
            <p:cNvSpPr/>
            <p:nvPr/>
          </p:nvSpPr>
          <p:spPr>
            <a:xfrm>
              <a:off x="2897" y="3476"/>
              <a:ext cx="3" cy="280"/>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37" name="Line 82"/>
            <p:cNvSpPr/>
            <p:nvPr/>
          </p:nvSpPr>
          <p:spPr>
            <a:xfrm>
              <a:off x="2897" y="3476"/>
              <a:ext cx="0" cy="280"/>
            </a:xfrm>
            <a:prstGeom prst="line">
              <a:avLst/>
            </a:prstGeom>
            <a:ln w="0" cap="flat" cmpd="sng">
              <a:solidFill>
                <a:srgbClr val="000000"/>
              </a:solidFill>
              <a:prstDash val="solid"/>
              <a:headEnd type="none" w="med" len="med"/>
              <a:tailEnd type="none" w="med" len="med"/>
            </a:ln>
          </p:spPr>
        </p:sp>
        <p:sp>
          <p:nvSpPr>
            <p:cNvPr id="152638" name="Rectangle 83"/>
            <p:cNvSpPr/>
            <p:nvPr/>
          </p:nvSpPr>
          <p:spPr>
            <a:xfrm>
              <a:off x="2897" y="3756"/>
              <a:ext cx="3"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39" name="Line 84"/>
            <p:cNvSpPr/>
            <p:nvPr/>
          </p:nvSpPr>
          <p:spPr>
            <a:xfrm>
              <a:off x="2897" y="3756"/>
              <a:ext cx="3" cy="0"/>
            </a:xfrm>
            <a:prstGeom prst="line">
              <a:avLst/>
            </a:prstGeom>
            <a:ln w="0" cap="flat" cmpd="sng">
              <a:solidFill>
                <a:srgbClr val="000000"/>
              </a:solidFill>
              <a:prstDash val="solid"/>
              <a:headEnd type="none" w="med" len="med"/>
              <a:tailEnd type="none" w="med" len="med"/>
            </a:ln>
          </p:spPr>
        </p:sp>
        <p:sp>
          <p:nvSpPr>
            <p:cNvPr id="152640" name="Line 85"/>
            <p:cNvSpPr/>
            <p:nvPr/>
          </p:nvSpPr>
          <p:spPr>
            <a:xfrm>
              <a:off x="2897" y="3756"/>
              <a:ext cx="0" cy="2"/>
            </a:xfrm>
            <a:prstGeom prst="line">
              <a:avLst/>
            </a:prstGeom>
            <a:ln w="0" cap="flat" cmpd="sng">
              <a:solidFill>
                <a:srgbClr val="000000"/>
              </a:solidFill>
              <a:prstDash val="solid"/>
              <a:headEnd type="none" w="med" len="med"/>
              <a:tailEnd type="none" w="med" len="med"/>
            </a:ln>
          </p:spPr>
        </p:sp>
        <p:sp>
          <p:nvSpPr>
            <p:cNvPr id="152641" name="Rectangle 86"/>
            <p:cNvSpPr/>
            <p:nvPr/>
          </p:nvSpPr>
          <p:spPr>
            <a:xfrm>
              <a:off x="2900" y="3756"/>
              <a:ext cx="113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42" name="Line 87"/>
            <p:cNvSpPr/>
            <p:nvPr/>
          </p:nvSpPr>
          <p:spPr>
            <a:xfrm>
              <a:off x="2900" y="3756"/>
              <a:ext cx="1132" cy="0"/>
            </a:xfrm>
            <a:prstGeom prst="line">
              <a:avLst/>
            </a:prstGeom>
            <a:ln w="0" cap="flat" cmpd="sng">
              <a:solidFill>
                <a:srgbClr val="000000"/>
              </a:solidFill>
              <a:prstDash val="solid"/>
              <a:headEnd type="none" w="med" len="med"/>
              <a:tailEnd type="none" w="med" len="med"/>
            </a:ln>
          </p:spPr>
        </p:sp>
        <p:sp>
          <p:nvSpPr>
            <p:cNvPr id="152643" name="Rectangle 88"/>
            <p:cNvSpPr/>
            <p:nvPr/>
          </p:nvSpPr>
          <p:spPr>
            <a:xfrm>
              <a:off x="4032" y="3476"/>
              <a:ext cx="3" cy="280"/>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44" name="Line 89"/>
            <p:cNvSpPr/>
            <p:nvPr/>
          </p:nvSpPr>
          <p:spPr>
            <a:xfrm>
              <a:off x="4032" y="3476"/>
              <a:ext cx="0" cy="280"/>
            </a:xfrm>
            <a:prstGeom prst="line">
              <a:avLst/>
            </a:prstGeom>
            <a:ln w="0" cap="flat" cmpd="sng">
              <a:solidFill>
                <a:srgbClr val="000000"/>
              </a:solidFill>
              <a:prstDash val="solid"/>
              <a:headEnd type="none" w="med" len="med"/>
              <a:tailEnd type="none" w="med" len="med"/>
            </a:ln>
          </p:spPr>
        </p:sp>
        <p:sp>
          <p:nvSpPr>
            <p:cNvPr id="152645" name="Rectangle 90"/>
            <p:cNvSpPr/>
            <p:nvPr/>
          </p:nvSpPr>
          <p:spPr>
            <a:xfrm>
              <a:off x="4032" y="3756"/>
              <a:ext cx="3"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46" name="Line 91"/>
            <p:cNvSpPr/>
            <p:nvPr/>
          </p:nvSpPr>
          <p:spPr>
            <a:xfrm>
              <a:off x="4032" y="3756"/>
              <a:ext cx="3" cy="0"/>
            </a:xfrm>
            <a:prstGeom prst="line">
              <a:avLst/>
            </a:prstGeom>
            <a:ln w="0" cap="flat" cmpd="sng">
              <a:solidFill>
                <a:srgbClr val="000000"/>
              </a:solidFill>
              <a:prstDash val="solid"/>
              <a:headEnd type="none" w="med" len="med"/>
              <a:tailEnd type="none" w="med" len="med"/>
            </a:ln>
          </p:spPr>
        </p:sp>
        <p:sp>
          <p:nvSpPr>
            <p:cNvPr id="152647" name="Line 92"/>
            <p:cNvSpPr/>
            <p:nvPr/>
          </p:nvSpPr>
          <p:spPr>
            <a:xfrm>
              <a:off x="4032" y="3756"/>
              <a:ext cx="0" cy="2"/>
            </a:xfrm>
            <a:prstGeom prst="line">
              <a:avLst/>
            </a:prstGeom>
            <a:ln w="0" cap="flat" cmpd="sng">
              <a:solidFill>
                <a:srgbClr val="000000"/>
              </a:solidFill>
              <a:prstDash val="solid"/>
              <a:headEnd type="none" w="med" len="med"/>
              <a:tailEnd type="none" w="med" len="med"/>
            </a:ln>
          </p:spPr>
        </p:sp>
        <p:sp>
          <p:nvSpPr>
            <p:cNvPr id="152648" name="Rectangle 93"/>
            <p:cNvSpPr/>
            <p:nvPr/>
          </p:nvSpPr>
          <p:spPr>
            <a:xfrm>
              <a:off x="4032" y="3756"/>
              <a:ext cx="3"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2649" name="Line 94"/>
            <p:cNvSpPr/>
            <p:nvPr/>
          </p:nvSpPr>
          <p:spPr>
            <a:xfrm>
              <a:off x="4032" y="3756"/>
              <a:ext cx="3" cy="0"/>
            </a:xfrm>
            <a:prstGeom prst="line">
              <a:avLst/>
            </a:prstGeom>
            <a:ln w="0" cap="flat" cmpd="sng">
              <a:solidFill>
                <a:srgbClr val="000000"/>
              </a:solidFill>
              <a:prstDash val="solid"/>
              <a:headEnd type="none" w="med" len="med"/>
              <a:tailEnd type="none" w="med" len="med"/>
            </a:ln>
          </p:spPr>
        </p:sp>
        <p:sp>
          <p:nvSpPr>
            <p:cNvPr id="152650" name="Line 95"/>
            <p:cNvSpPr/>
            <p:nvPr/>
          </p:nvSpPr>
          <p:spPr>
            <a:xfrm>
              <a:off x="4032" y="3756"/>
              <a:ext cx="0" cy="2"/>
            </a:xfrm>
            <a:prstGeom prst="line">
              <a:avLst/>
            </a:prstGeom>
            <a:ln w="0" cap="flat" cmpd="sng">
              <a:solidFill>
                <a:srgbClr val="000000"/>
              </a:solidFill>
              <a:prstDash val="solid"/>
              <a:headEnd type="none" w="med" len="med"/>
              <a:tailEnd type="none" w="med" len="med"/>
            </a:ln>
          </p:spPr>
        </p:sp>
      </p:grpSp>
      <p:sp>
        <p:nvSpPr>
          <p:cNvPr id="152583" name="Rectangle 2"/>
          <p:cNvSpPr>
            <a:spLocks noGrp="1"/>
          </p:cNvSpPr>
          <p:nvPr/>
        </p:nvSpPr>
        <p:spPr>
          <a:xfrm>
            <a:off x="1674813" y="127000"/>
            <a:ext cx="3041650" cy="563563"/>
          </a:xfrm>
          <a:prstGeom prst="rect">
            <a:avLst/>
          </a:prstGeom>
          <a:noFill/>
          <a:ln w="9525">
            <a:noFill/>
          </a:ln>
        </p:spPr>
        <p:txBody>
          <a:bodyPr anchor="ctr" anchorCtr="0"/>
          <a:p>
            <a:pPr>
              <a:buFont typeface="Wingdings" panose="05000000000000000000" pitchFamily="2" charset="2"/>
            </a:pPr>
            <a:r>
              <a:rPr lang="zh-CN" altLang="en-US" sz="3600" b="1" dirty="0">
                <a:solidFill>
                  <a:schemeClr val="bg1"/>
                </a:solidFill>
                <a:latin typeface="宋体" panose="02010600030101010101" pitchFamily="2" charset="-122"/>
                <a:ea typeface="宋体" panose="02010600030101010101" pitchFamily="2" charset="-122"/>
              </a:rPr>
              <a:t>四种转移条件</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319490"/>
                                        </p:tgtEl>
                                        <p:attrNameLst>
                                          <p:attrName>style.visibility</p:attrName>
                                        </p:attrNameLst>
                                      </p:cBhvr>
                                      <p:to>
                                        <p:strVal val="visible"/>
                                      </p:to>
                                    </p:set>
                                    <p:anim calcmode="lin" valueType="num">
                                      <p:cBhvr>
                                        <p:cTn id="7" dur="500" fill="hold"/>
                                        <p:tgtEl>
                                          <p:spTgt spid="319490"/>
                                        </p:tgtEl>
                                        <p:attrNameLst>
                                          <p:attrName>ppt_x</p:attrName>
                                        </p:attrNameLst>
                                      </p:cBhvr>
                                      <p:tavLst>
                                        <p:tav tm="0">
                                          <p:val>
                                            <p:strVal val="#ppt_x-#ppt_w/2"/>
                                          </p:val>
                                        </p:tav>
                                        <p:tav tm="100000">
                                          <p:val>
                                            <p:strVal val="#ppt_x"/>
                                          </p:val>
                                        </p:tav>
                                      </p:tavLst>
                                    </p:anim>
                                    <p:anim calcmode="lin" valueType="num">
                                      <p:cBhvr>
                                        <p:cTn id="8" dur="500" fill="hold"/>
                                        <p:tgtEl>
                                          <p:spTgt spid="319490"/>
                                        </p:tgtEl>
                                        <p:attrNameLst>
                                          <p:attrName>ppt_y</p:attrName>
                                        </p:attrNameLst>
                                      </p:cBhvr>
                                      <p:tavLst>
                                        <p:tav tm="0">
                                          <p:val>
                                            <p:strVal val="#ppt_y"/>
                                          </p:val>
                                        </p:tav>
                                        <p:tav tm="100000">
                                          <p:val>
                                            <p:strVal val="#ppt_y"/>
                                          </p:val>
                                        </p:tav>
                                      </p:tavLst>
                                    </p:anim>
                                    <p:anim calcmode="lin" valueType="num">
                                      <p:cBhvr>
                                        <p:cTn id="9" dur="500" fill="hold"/>
                                        <p:tgtEl>
                                          <p:spTgt spid="319490"/>
                                        </p:tgtEl>
                                        <p:attrNameLst>
                                          <p:attrName>ppt_w</p:attrName>
                                        </p:attrNameLst>
                                      </p:cBhvr>
                                      <p:tavLst>
                                        <p:tav tm="0">
                                          <p:val>
                                            <p:fltVal val="0.000000"/>
                                          </p:val>
                                        </p:tav>
                                        <p:tav tm="100000">
                                          <p:val>
                                            <p:strVal val="#ppt_w"/>
                                          </p:val>
                                        </p:tav>
                                      </p:tavLst>
                                    </p:anim>
                                    <p:anim calcmode="lin" valueType="num">
                                      <p:cBhvr>
                                        <p:cTn id="10" dur="500" fill="hold"/>
                                        <p:tgtEl>
                                          <p:spTgt spid="319490"/>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8" presetClass="entr" presetSubtype="6"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strips(downRigh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6"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strips(downRigh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7" presetClass="entr" presetSubtype="8" fill="hold" grpId="0" nodeType="clickEffect">
                                  <p:stCondLst>
                                    <p:cond delay="0"/>
                                  </p:stCondLst>
                                  <p:childTnLst>
                                    <p:set>
                                      <p:cBhvr>
                                        <p:cTn id="24" dur="1" fill="hold">
                                          <p:stCondLst>
                                            <p:cond delay="0"/>
                                          </p:stCondLst>
                                        </p:cTn>
                                        <p:tgtEl>
                                          <p:spTgt spid="319516"/>
                                        </p:tgtEl>
                                        <p:attrNameLst>
                                          <p:attrName>style.visibility</p:attrName>
                                        </p:attrNameLst>
                                      </p:cBhvr>
                                      <p:to>
                                        <p:strVal val="visible"/>
                                      </p:to>
                                    </p:set>
                                    <p:anim calcmode="lin" valueType="num">
                                      <p:cBhvr>
                                        <p:cTn id="25" dur="500" fill="hold"/>
                                        <p:tgtEl>
                                          <p:spTgt spid="319516"/>
                                        </p:tgtEl>
                                        <p:attrNameLst>
                                          <p:attrName>ppt_x</p:attrName>
                                        </p:attrNameLst>
                                      </p:cBhvr>
                                      <p:tavLst>
                                        <p:tav tm="0">
                                          <p:val>
                                            <p:strVal val="#ppt_x-#ppt_w/2"/>
                                          </p:val>
                                        </p:tav>
                                        <p:tav tm="100000">
                                          <p:val>
                                            <p:strVal val="#ppt_x"/>
                                          </p:val>
                                        </p:tav>
                                      </p:tavLst>
                                    </p:anim>
                                    <p:anim calcmode="lin" valueType="num">
                                      <p:cBhvr>
                                        <p:cTn id="26" dur="500" fill="hold"/>
                                        <p:tgtEl>
                                          <p:spTgt spid="319516"/>
                                        </p:tgtEl>
                                        <p:attrNameLst>
                                          <p:attrName>ppt_y</p:attrName>
                                        </p:attrNameLst>
                                      </p:cBhvr>
                                      <p:tavLst>
                                        <p:tav tm="0">
                                          <p:val>
                                            <p:strVal val="#ppt_y"/>
                                          </p:val>
                                        </p:tav>
                                        <p:tav tm="100000">
                                          <p:val>
                                            <p:strVal val="#ppt_y"/>
                                          </p:val>
                                        </p:tav>
                                      </p:tavLst>
                                    </p:anim>
                                    <p:anim calcmode="lin" valueType="num">
                                      <p:cBhvr>
                                        <p:cTn id="27" dur="500" fill="hold"/>
                                        <p:tgtEl>
                                          <p:spTgt spid="319516"/>
                                        </p:tgtEl>
                                        <p:attrNameLst>
                                          <p:attrName>ppt_w</p:attrName>
                                        </p:attrNameLst>
                                      </p:cBhvr>
                                      <p:tavLst>
                                        <p:tav tm="0">
                                          <p:val>
                                            <p:fltVal val="0.000000"/>
                                          </p:val>
                                        </p:tav>
                                        <p:tav tm="100000">
                                          <p:val>
                                            <p:strVal val="#ppt_w"/>
                                          </p:val>
                                        </p:tav>
                                      </p:tavLst>
                                    </p:anim>
                                    <p:anim calcmode="lin" valueType="num">
                                      <p:cBhvr>
                                        <p:cTn id="28" dur="500" fill="hold"/>
                                        <p:tgtEl>
                                          <p:spTgt spid="319516"/>
                                        </p:tgtEl>
                                        <p:attrNameLst>
                                          <p:attrName>ppt_h</p:attrName>
                                        </p:attrNameLst>
                                      </p:cBhvr>
                                      <p:tavLst>
                                        <p:tav tm="0">
                                          <p:val>
                                            <p:strVal val="#ppt_h"/>
                                          </p:val>
                                        </p:tav>
                                        <p:tav tm="100000">
                                          <p:val>
                                            <p:strVal val="#ppt_h"/>
                                          </p:val>
                                        </p:tav>
                                      </p:tavLst>
                                    </p:anim>
                                  </p:childTnLst>
                                </p:cTn>
                              </p:par>
                            </p:childTnLst>
                          </p:cTn>
                        </p:par>
                        <p:par>
                          <p:cTn id="29" fill="hold">
                            <p:stCondLst>
                              <p:cond delay="500"/>
                            </p:stCondLst>
                            <p:childTnLst>
                              <p:par>
                                <p:cTn id="30" presetID="5" presetClass="entr" presetSubtype="10" fill="hold"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checkerboard(across)">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0" grpId="0"/>
      <p:bldP spid="319516"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0514" name="Rectangle 2">
            <a:hlinkClick r:id="rId1" action="ppaction://hlinksldjump"/>
          </p:cNvPr>
          <p:cNvSpPr/>
          <p:nvPr/>
        </p:nvSpPr>
        <p:spPr>
          <a:xfrm>
            <a:off x="644525" y="1597025"/>
            <a:ext cx="7578725" cy="479425"/>
          </a:xfrm>
          <a:prstGeom prst="rect">
            <a:avLst/>
          </a:prstGeom>
          <a:noFill/>
          <a:ln w="9525">
            <a:noFill/>
          </a:ln>
        </p:spPr>
        <p:txBody>
          <a:bodyPr wrap="none">
            <a:spAutoFit/>
          </a:bodyPr>
          <a:p>
            <a:pPr>
              <a:lnSpc>
                <a:spcPct val="90000"/>
              </a:lnSpc>
              <a:spcBef>
                <a:spcPct val="20000"/>
              </a:spcBef>
              <a:buFont typeface="Wingdings" panose="05000000000000000000" pitchFamily="2" charset="2"/>
            </a:pPr>
            <a:r>
              <a:rPr lang="zh-CN" altLang="en-US" sz="2800" b="1" dirty="0">
                <a:solidFill>
                  <a:srgbClr val="6600CC"/>
                </a:solidFill>
                <a:latin typeface="宋体" panose="02010600030101010101" pitchFamily="2" charset="-122"/>
                <a:ea typeface="宋体" panose="02010600030101010101" pitchFamily="2" charset="-122"/>
              </a:rPr>
              <a:t>（</a:t>
            </a:r>
            <a:r>
              <a:rPr lang="en-US" altLang="zh-CN" sz="2800" b="1" dirty="0">
                <a:solidFill>
                  <a:srgbClr val="6600CC"/>
                </a:solidFill>
                <a:latin typeface="宋体" panose="02010600030101010101" pitchFamily="2" charset="-122"/>
                <a:ea typeface="宋体" panose="02010600030101010101" pitchFamily="2" charset="-122"/>
              </a:rPr>
              <a:t>3</a:t>
            </a:r>
            <a:r>
              <a:rPr lang="zh-CN" altLang="en-US" sz="2800" b="1" dirty="0">
                <a:solidFill>
                  <a:srgbClr val="6600CC"/>
                </a:solidFill>
                <a:latin typeface="宋体" panose="02010600030101010101" pitchFamily="2" charset="-122"/>
                <a:ea typeface="宋体" panose="02010600030101010101" pitchFamily="2" charset="-122"/>
              </a:rPr>
              <a:t>）以两个无符号数比较的结果作为转移条件</a:t>
            </a:r>
            <a:endParaRPr lang="zh-CN" altLang="en-US" sz="2800" b="1" dirty="0">
              <a:solidFill>
                <a:srgbClr val="6600CC"/>
              </a:solidFill>
              <a:latin typeface="宋体" panose="02010600030101010101" pitchFamily="2" charset="-122"/>
              <a:ea typeface="宋体" panose="02010600030101010101" pitchFamily="2" charset="-122"/>
            </a:endParaRPr>
          </a:p>
        </p:txBody>
      </p:sp>
      <p:grpSp>
        <p:nvGrpSpPr>
          <p:cNvPr id="2" name="Group 3"/>
          <p:cNvGrpSpPr/>
          <p:nvPr/>
        </p:nvGrpSpPr>
        <p:grpSpPr>
          <a:xfrm>
            <a:off x="1077913" y="2590800"/>
            <a:ext cx="7389812" cy="2420938"/>
            <a:chOff x="679" y="1632"/>
            <a:chExt cx="4655" cy="1525"/>
          </a:xfrm>
        </p:grpSpPr>
        <p:sp>
          <p:nvSpPr>
            <p:cNvPr id="153606" name="Rectangle 4"/>
            <p:cNvSpPr/>
            <p:nvPr/>
          </p:nvSpPr>
          <p:spPr>
            <a:xfrm>
              <a:off x="1142" y="1694"/>
              <a:ext cx="531"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助记符</a:t>
              </a:r>
              <a:endParaRPr lang="zh-CN" altLang="en-US" sz="2200" b="1" dirty="0">
                <a:latin typeface="宋体" panose="02010600030101010101" pitchFamily="2" charset="-122"/>
                <a:ea typeface="宋体" panose="02010600030101010101" pitchFamily="2" charset="-122"/>
              </a:endParaRPr>
            </a:p>
          </p:txBody>
        </p:sp>
        <p:sp>
          <p:nvSpPr>
            <p:cNvPr id="153607" name="Rectangle 5"/>
            <p:cNvSpPr/>
            <p:nvPr/>
          </p:nvSpPr>
          <p:spPr>
            <a:xfrm>
              <a:off x="1644" y="1684"/>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FF"/>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3608" name="Rectangle 6"/>
            <p:cNvSpPr/>
            <p:nvPr/>
          </p:nvSpPr>
          <p:spPr>
            <a:xfrm>
              <a:off x="2408" y="1694"/>
              <a:ext cx="708"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转移条件</a:t>
              </a:r>
              <a:endParaRPr lang="zh-CN" altLang="en-US" sz="2200" b="1" dirty="0">
                <a:latin typeface="宋体" panose="02010600030101010101" pitchFamily="2" charset="-122"/>
                <a:ea typeface="宋体" panose="02010600030101010101" pitchFamily="2" charset="-122"/>
              </a:endParaRPr>
            </a:p>
          </p:txBody>
        </p:sp>
        <p:sp>
          <p:nvSpPr>
            <p:cNvPr id="153609" name="Rectangle 7"/>
            <p:cNvSpPr/>
            <p:nvPr/>
          </p:nvSpPr>
          <p:spPr>
            <a:xfrm>
              <a:off x="3076" y="1684"/>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3610" name="Rectangle 8"/>
            <p:cNvSpPr/>
            <p:nvPr/>
          </p:nvSpPr>
          <p:spPr>
            <a:xfrm>
              <a:off x="4324" y="1638"/>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3611" name="Rectangle 9"/>
            <p:cNvSpPr/>
            <p:nvPr/>
          </p:nvSpPr>
          <p:spPr>
            <a:xfrm>
              <a:off x="679" y="1632"/>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12" name="Line 10"/>
            <p:cNvSpPr/>
            <p:nvPr/>
          </p:nvSpPr>
          <p:spPr>
            <a:xfrm>
              <a:off x="679" y="1632"/>
              <a:ext cx="0" cy="3"/>
            </a:xfrm>
            <a:prstGeom prst="line">
              <a:avLst/>
            </a:prstGeom>
            <a:ln w="0" cap="flat" cmpd="sng">
              <a:solidFill>
                <a:srgbClr val="000000"/>
              </a:solidFill>
              <a:prstDash val="solid"/>
              <a:headEnd type="none" w="med" len="med"/>
              <a:tailEnd type="none" w="med" len="med"/>
            </a:ln>
          </p:spPr>
        </p:sp>
        <p:sp>
          <p:nvSpPr>
            <p:cNvPr id="153613" name="Rectangle 11"/>
            <p:cNvSpPr/>
            <p:nvPr/>
          </p:nvSpPr>
          <p:spPr>
            <a:xfrm>
              <a:off x="679" y="1632"/>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14" name="Line 12"/>
            <p:cNvSpPr/>
            <p:nvPr/>
          </p:nvSpPr>
          <p:spPr>
            <a:xfrm>
              <a:off x="679" y="1632"/>
              <a:ext cx="2" cy="0"/>
            </a:xfrm>
            <a:prstGeom prst="line">
              <a:avLst/>
            </a:prstGeom>
            <a:ln w="0" cap="flat" cmpd="sng">
              <a:solidFill>
                <a:srgbClr val="000000"/>
              </a:solidFill>
              <a:prstDash val="solid"/>
              <a:headEnd type="none" w="med" len="med"/>
              <a:tailEnd type="none" w="med" len="med"/>
            </a:ln>
          </p:spPr>
        </p:sp>
        <p:sp>
          <p:nvSpPr>
            <p:cNvPr id="153615" name="Line 13"/>
            <p:cNvSpPr/>
            <p:nvPr/>
          </p:nvSpPr>
          <p:spPr>
            <a:xfrm>
              <a:off x="679" y="1632"/>
              <a:ext cx="0" cy="2"/>
            </a:xfrm>
            <a:prstGeom prst="line">
              <a:avLst/>
            </a:prstGeom>
            <a:ln w="0" cap="flat" cmpd="sng">
              <a:solidFill>
                <a:srgbClr val="000000"/>
              </a:solidFill>
              <a:prstDash val="solid"/>
              <a:headEnd type="none" w="med" len="med"/>
              <a:tailEnd type="none" w="med" len="med"/>
            </a:ln>
          </p:spPr>
        </p:sp>
        <p:sp>
          <p:nvSpPr>
            <p:cNvPr id="153616" name="Rectangle 14"/>
            <p:cNvSpPr/>
            <p:nvPr/>
          </p:nvSpPr>
          <p:spPr>
            <a:xfrm>
              <a:off x="681" y="1632"/>
              <a:ext cx="1425"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17" name="Line 15"/>
            <p:cNvSpPr/>
            <p:nvPr/>
          </p:nvSpPr>
          <p:spPr>
            <a:xfrm>
              <a:off x="681" y="1632"/>
              <a:ext cx="1425" cy="0"/>
            </a:xfrm>
            <a:prstGeom prst="line">
              <a:avLst/>
            </a:prstGeom>
            <a:ln w="0" cap="flat" cmpd="sng">
              <a:solidFill>
                <a:srgbClr val="000000"/>
              </a:solidFill>
              <a:prstDash val="solid"/>
              <a:headEnd type="none" w="med" len="med"/>
              <a:tailEnd type="none" w="med" len="med"/>
            </a:ln>
          </p:spPr>
        </p:sp>
        <p:sp>
          <p:nvSpPr>
            <p:cNvPr id="153618" name="Rectangle 16"/>
            <p:cNvSpPr/>
            <p:nvPr/>
          </p:nvSpPr>
          <p:spPr>
            <a:xfrm>
              <a:off x="2106" y="1634"/>
              <a:ext cx="1" cy="1"/>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19" name="Line 17"/>
            <p:cNvSpPr/>
            <p:nvPr/>
          </p:nvSpPr>
          <p:spPr>
            <a:xfrm>
              <a:off x="2106" y="1634"/>
              <a:ext cx="1" cy="0"/>
            </a:xfrm>
            <a:prstGeom prst="line">
              <a:avLst/>
            </a:prstGeom>
            <a:ln w="0" cap="flat" cmpd="sng">
              <a:solidFill>
                <a:srgbClr val="000000"/>
              </a:solidFill>
              <a:prstDash val="solid"/>
              <a:headEnd type="none" w="med" len="med"/>
              <a:tailEnd type="none" w="med" len="med"/>
            </a:ln>
          </p:spPr>
        </p:sp>
        <p:sp>
          <p:nvSpPr>
            <p:cNvPr id="153620" name="Rectangle 18"/>
            <p:cNvSpPr/>
            <p:nvPr/>
          </p:nvSpPr>
          <p:spPr>
            <a:xfrm>
              <a:off x="2106" y="1632"/>
              <a:ext cx="1"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21" name="Line 19"/>
            <p:cNvSpPr/>
            <p:nvPr/>
          </p:nvSpPr>
          <p:spPr>
            <a:xfrm>
              <a:off x="2106" y="1632"/>
              <a:ext cx="1" cy="0"/>
            </a:xfrm>
            <a:prstGeom prst="line">
              <a:avLst/>
            </a:prstGeom>
            <a:ln w="0" cap="flat" cmpd="sng">
              <a:solidFill>
                <a:srgbClr val="000000"/>
              </a:solidFill>
              <a:prstDash val="solid"/>
              <a:headEnd type="none" w="med" len="med"/>
              <a:tailEnd type="none" w="med" len="med"/>
            </a:ln>
          </p:spPr>
        </p:sp>
        <p:sp>
          <p:nvSpPr>
            <p:cNvPr id="153622" name="Line 20"/>
            <p:cNvSpPr/>
            <p:nvPr/>
          </p:nvSpPr>
          <p:spPr>
            <a:xfrm>
              <a:off x="2106" y="1632"/>
              <a:ext cx="0" cy="2"/>
            </a:xfrm>
            <a:prstGeom prst="line">
              <a:avLst/>
            </a:prstGeom>
            <a:ln w="0" cap="flat" cmpd="sng">
              <a:solidFill>
                <a:srgbClr val="000000"/>
              </a:solidFill>
              <a:prstDash val="solid"/>
              <a:headEnd type="none" w="med" len="med"/>
              <a:tailEnd type="none" w="med" len="med"/>
            </a:ln>
          </p:spPr>
        </p:sp>
        <p:sp>
          <p:nvSpPr>
            <p:cNvPr id="153623" name="Rectangle 21"/>
            <p:cNvSpPr/>
            <p:nvPr/>
          </p:nvSpPr>
          <p:spPr>
            <a:xfrm>
              <a:off x="2107" y="1632"/>
              <a:ext cx="1271"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24" name="Line 22"/>
            <p:cNvSpPr/>
            <p:nvPr/>
          </p:nvSpPr>
          <p:spPr>
            <a:xfrm>
              <a:off x="2107" y="1632"/>
              <a:ext cx="1271" cy="0"/>
            </a:xfrm>
            <a:prstGeom prst="line">
              <a:avLst/>
            </a:prstGeom>
            <a:ln w="0" cap="flat" cmpd="sng">
              <a:solidFill>
                <a:srgbClr val="000000"/>
              </a:solidFill>
              <a:prstDash val="solid"/>
              <a:headEnd type="none" w="med" len="med"/>
              <a:tailEnd type="none" w="med" len="med"/>
            </a:ln>
          </p:spPr>
        </p:sp>
        <p:sp>
          <p:nvSpPr>
            <p:cNvPr id="153625" name="Rectangle 23"/>
            <p:cNvSpPr/>
            <p:nvPr/>
          </p:nvSpPr>
          <p:spPr>
            <a:xfrm>
              <a:off x="3378" y="1634"/>
              <a:ext cx="2" cy="1"/>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26" name="Line 24"/>
            <p:cNvSpPr/>
            <p:nvPr/>
          </p:nvSpPr>
          <p:spPr>
            <a:xfrm>
              <a:off x="3378" y="1634"/>
              <a:ext cx="2" cy="0"/>
            </a:xfrm>
            <a:prstGeom prst="line">
              <a:avLst/>
            </a:prstGeom>
            <a:ln w="0" cap="flat" cmpd="sng">
              <a:solidFill>
                <a:srgbClr val="000000"/>
              </a:solidFill>
              <a:prstDash val="solid"/>
              <a:headEnd type="none" w="med" len="med"/>
              <a:tailEnd type="none" w="med" len="med"/>
            </a:ln>
          </p:spPr>
        </p:sp>
        <p:sp>
          <p:nvSpPr>
            <p:cNvPr id="153627" name="Rectangle 25"/>
            <p:cNvSpPr/>
            <p:nvPr/>
          </p:nvSpPr>
          <p:spPr>
            <a:xfrm>
              <a:off x="3378" y="1632"/>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28" name="Line 26"/>
            <p:cNvSpPr/>
            <p:nvPr/>
          </p:nvSpPr>
          <p:spPr>
            <a:xfrm>
              <a:off x="3378" y="1632"/>
              <a:ext cx="2" cy="0"/>
            </a:xfrm>
            <a:prstGeom prst="line">
              <a:avLst/>
            </a:prstGeom>
            <a:ln w="0" cap="flat" cmpd="sng">
              <a:solidFill>
                <a:srgbClr val="000000"/>
              </a:solidFill>
              <a:prstDash val="solid"/>
              <a:headEnd type="none" w="med" len="med"/>
              <a:tailEnd type="none" w="med" len="med"/>
            </a:ln>
          </p:spPr>
        </p:sp>
        <p:sp>
          <p:nvSpPr>
            <p:cNvPr id="153629" name="Line 27"/>
            <p:cNvSpPr/>
            <p:nvPr/>
          </p:nvSpPr>
          <p:spPr>
            <a:xfrm>
              <a:off x="3378" y="1632"/>
              <a:ext cx="0" cy="2"/>
            </a:xfrm>
            <a:prstGeom prst="line">
              <a:avLst/>
            </a:prstGeom>
            <a:ln w="0" cap="flat" cmpd="sng">
              <a:solidFill>
                <a:srgbClr val="000000"/>
              </a:solidFill>
              <a:prstDash val="solid"/>
              <a:headEnd type="none" w="med" len="med"/>
              <a:tailEnd type="none" w="med" len="med"/>
            </a:ln>
          </p:spPr>
        </p:sp>
        <p:sp>
          <p:nvSpPr>
            <p:cNvPr id="153630" name="Rectangle 28"/>
            <p:cNvSpPr/>
            <p:nvPr/>
          </p:nvSpPr>
          <p:spPr>
            <a:xfrm>
              <a:off x="3380" y="1632"/>
              <a:ext cx="1890"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31" name="Line 29"/>
            <p:cNvSpPr/>
            <p:nvPr/>
          </p:nvSpPr>
          <p:spPr>
            <a:xfrm>
              <a:off x="3380" y="1632"/>
              <a:ext cx="1890" cy="0"/>
            </a:xfrm>
            <a:prstGeom prst="line">
              <a:avLst/>
            </a:prstGeom>
            <a:ln w="0" cap="flat" cmpd="sng">
              <a:solidFill>
                <a:srgbClr val="000000"/>
              </a:solidFill>
              <a:prstDash val="solid"/>
              <a:headEnd type="none" w="med" len="med"/>
              <a:tailEnd type="none" w="med" len="med"/>
            </a:ln>
          </p:spPr>
        </p:sp>
        <p:sp>
          <p:nvSpPr>
            <p:cNvPr id="153632" name="Rectangle 30"/>
            <p:cNvSpPr/>
            <p:nvPr/>
          </p:nvSpPr>
          <p:spPr>
            <a:xfrm>
              <a:off x="5270" y="1632"/>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33" name="Line 31"/>
            <p:cNvSpPr/>
            <p:nvPr/>
          </p:nvSpPr>
          <p:spPr>
            <a:xfrm>
              <a:off x="5270" y="1632"/>
              <a:ext cx="0" cy="3"/>
            </a:xfrm>
            <a:prstGeom prst="line">
              <a:avLst/>
            </a:prstGeom>
            <a:ln w="0" cap="flat" cmpd="sng">
              <a:solidFill>
                <a:srgbClr val="000000"/>
              </a:solidFill>
              <a:prstDash val="solid"/>
              <a:headEnd type="none" w="med" len="med"/>
              <a:tailEnd type="none" w="med" len="med"/>
            </a:ln>
          </p:spPr>
        </p:sp>
        <p:sp>
          <p:nvSpPr>
            <p:cNvPr id="153634" name="Rectangle 32"/>
            <p:cNvSpPr/>
            <p:nvPr/>
          </p:nvSpPr>
          <p:spPr>
            <a:xfrm>
              <a:off x="5270" y="1632"/>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35" name="Line 33"/>
            <p:cNvSpPr/>
            <p:nvPr/>
          </p:nvSpPr>
          <p:spPr>
            <a:xfrm>
              <a:off x="5270" y="1632"/>
              <a:ext cx="2" cy="0"/>
            </a:xfrm>
            <a:prstGeom prst="line">
              <a:avLst/>
            </a:prstGeom>
            <a:ln w="0" cap="flat" cmpd="sng">
              <a:solidFill>
                <a:srgbClr val="000000"/>
              </a:solidFill>
              <a:prstDash val="solid"/>
              <a:headEnd type="none" w="med" len="med"/>
              <a:tailEnd type="none" w="med" len="med"/>
            </a:ln>
          </p:spPr>
        </p:sp>
        <p:sp>
          <p:nvSpPr>
            <p:cNvPr id="153636" name="Line 34"/>
            <p:cNvSpPr/>
            <p:nvPr/>
          </p:nvSpPr>
          <p:spPr>
            <a:xfrm>
              <a:off x="5270" y="1632"/>
              <a:ext cx="0" cy="2"/>
            </a:xfrm>
            <a:prstGeom prst="line">
              <a:avLst/>
            </a:prstGeom>
            <a:ln w="0" cap="flat" cmpd="sng">
              <a:solidFill>
                <a:srgbClr val="000000"/>
              </a:solidFill>
              <a:prstDash val="solid"/>
              <a:headEnd type="none" w="med" len="med"/>
              <a:tailEnd type="none" w="med" len="med"/>
            </a:ln>
          </p:spPr>
        </p:sp>
        <p:sp>
          <p:nvSpPr>
            <p:cNvPr id="153637" name="Rectangle 35"/>
            <p:cNvSpPr/>
            <p:nvPr/>
          </p:nvSpPr>
          <p:spPr>
            <a:xfrm>
              <a:off x="679" y="1635"/>
              <a:ext cx="2" cy="301"/>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38" name="Line 36"/>
            <p:cNvSpPr/>
            <p:nvPr/>
          </p:nvSpPr>
          <p:spPr>
            <a:xfrm>
              <a:off x="679" y="1635"/>
              <a:ext cx="0" cy="301"/>
            </a:xfrm>
            <a:prstGeom prst="line">
              <a:avLst/>
            </a:prstGeom>
            <a:ln w="0" cap="flat" cmpd="sng">
              <a:solidFill>
                <a:srgbClr val="000000"/>
              </a:solidFill>
              <a:prstDash val="solid"/>
              <a:headEnd type="none" w="med" len="med"/>
              <a:tailEnd type="none" w="med" len="med"/>
            </a:ln>
          </p:spPr>
        </p:sp>
        <p:sp>
          <p:nvSpPr>
            <p:cNvPr id="153639" name="Rectangle 37"/>
            <p:cNvSpPr/>
            <p:nvPr/>
          </p:nvSpPr>
          <p:spPr>
            <a:xfrm>
              <a:off x="2106" y="1635"/>
              <a:ext cx="1" cy="301"/>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40" name="Line 38"/>
            <p:cNvSpPr/>
            <p:nvPr/>
          </p:nvSpPr>
          <p:spPr>
            <a:xfrm>
              <a:off x="2106" y="1635"/>
              <a:ext cx="0" cy="301"/>
            </a:xfrm>
            <a:prstGeom prst="line">
              <a:avLst/>
            </a:prstGeom>
            <a:ln w="0" cap="flat" cmpd="sng">
              <a:solidFill>
                <a:srgbClr val="000000"/>
              </a:solidFill>
              <a:prstDash val="solid"/>
              <a:headEnd type="none" w="med" len="med"/>
              <a:tailEnd type="none" w="med" len="med"/>
            </a:ln>
          </p:spPr>
        </p:sp>
        <p:sp>
          <p:nvSpPr>
            <p:cNvPr id="153641" name="Rectangle 39"/>
            <p:cNvSpPr/>
            <p:nvPr/>
          </p:nvSpPr>
          <p:spPr>
            <a:xfrm>
              <a:off x="3378" y="1635"/>
              <a:ext cx="2" cy="301"/>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42" name="Line 40"/>
            <p:cNvSpPr/>
            <p:nvPr/>
          </p:nvSpPr>
          <p:spPr>
            <a:xfrm>
              <a:off x="3378" y="1635"/>
              <a:ext cx="0" cy="301"/>
            </a:xfrm>
            <a:prstGeom prst="line">
              <a:avLst/>
            </a:prstGeom>
            <a:ln w="0" cap="flat" cmpd="sng">
              <a:solidFill>
                <a:srgbClr val="000000"/>
              </a:solidFill>
              <a:prstDash val="solid"/>
              <a:headEnd type="none" w="med" len="med"/>
              <a:tailEnd type="none" w="med" len="med"/>
            </a:ln>
          </p:spPr>
        </p:sp>
        <p:sp>
          <p:nvSpPr>
            <p:cNvPr id="153643" name="Rectangle 41"/>
            <p:cNvSpPr/>
            <p:nvPr/>
          </p:nvSpPr>
          <p:spPr>
            <a:xfrm>
              <a:off x="5270" y="1635"/>
              <a:ext cx="2" cy="301"/>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44" name="Line 42"/>
            <p:cNvSpPr/>
            <p:nvPr/>
          </p:nvSpPr>
          <p:spPr>
            <a:xfrm>
              <a:off x="5270" y="1635"/>
              <a:ext cx="0" cy="301"/>
            </a:xfrm>
            <a:prstGeom prst="line">
              <a:avLst/>
            </a:prstGeom>
            <a:ln w="0" cap="flat" cmpd="sng">
              <a:solidFill>
                <a:srgbClr val="000000"/>
              </a:solidFill>
              <a:prstDash val="solid"/>
              <a:headEnd type="none" w="med" len="med"/>
              <a:tailEnd type="none" w="med" len="med"/>
            </a:ln>
          </p:spPr>
        </p:sp>
        <p:sp>
          <p:nvSpPr>
            <p:cNvPr id="153645" name="Rectangle 43"/>
            <p:cNvSpPr/>
            <p:nvPr/>
          </p:nvSpPr>
          <p:spPr>
            <a:xfrm>
              <a:off x="1031" y="1989"/>
              <a:ext cx="178"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JA</a:t>
              </a:r>
              <a:endParaRPr lang="en-US" altLang="zh-CN" sz="2200" b="1" dirty="0">
                <a:latin typeface="宋体" panose="02010600030101010101" pitchFamily="2" charset="-122"/>
                <a:ea typeface="宋体" panose="02010600030101010101" pitchFamily="2" charset="-122"/>
              </a:endParaRPr>
            </a:p>
          </p:txBody>
        </p:sp>
        <p:sp>
          <p:nvSpPr>
            <p:cNvPr id="153646" name="Rectangle 44"/>
            <p:cNvSpPr/>
            <p:nvPr/>
          </p:nvSpPr>
          <p:spPr>
            <a:xfrm>
              <a:off x="1238" y="1998"/>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
          <p:nvSpPr>
            <p:cNvPr id="153647" name="Rectangle 45"/>
            <p:cNvSpPr/>
            <p:nvPr/>
          </p:nvSpPr>
          <p:spPr>
            <a:xfrm>
              <a:off x="1323" y="1989"/>
              <a:ext cx="356"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JNBE</a:t>
              </a:r>
              <a:endParaRPr lang="en-US" altLang="zh-CN" sz="2200" b="1" dirty="0">
                <a:latin typeface="宋体" panose="02010600030101010101" pitchFamily="2" charset="-122"/>
                <a:ea typeface="宋体" panose="02010600030101010101" pitchFamily="2" charset="-122"/>
              </a:endParaRPr>
            </a:p>
          </p:txBody>
        </p:sp>
        <p:sp>
          <p:nvSpPr>
            <p:cNvPr id="153648" name="Rectangle 46"/>
            <p:cNvSpPr/>
            <p:nvPr/>
          </p:nvSpPr>
          <p:spPr>
            <a:xfrm>
              <a:off x="1755" y="1989"/>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FF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3649" name="Rectangle 47"/>
            <p:cNvSpPr/>
            <p:nvPr/>
          </p:nvSpPr>
          <p:spPr>
            <a:xfrm>
              <a:off x="2349" y="1958"/>
              <a:ext cx="178"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CF</a:t>
              </a:r>
              <a:endParaRPr lang="en-US" altLang="zh-CN" sz="2200" b="1" dirty="0">
                <a:latin typeface="宋体" panose="02010600030101010101" pitchFamily="2" charset="-122"/>
                <a:ea typeface="宋体" panose="02010600030101010101" pitchFamily="2" charset="-122"/>
              </a:endParaRPr>
            </a:p>
          </p:txBody>
        </p:sp>
        <p:sp>
          <p:nvSpPr>
            <p:cNvPr id="153650" name="Rectangle 48"/>
            <p:cNvSpPr/>
            <p:nvPr/>
          </p:nvSpPr>
          <p:spPr>
            <a:xfrm>
              <a:off x="2574" y="1967"/>
              <a:ext cx="177"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
          <p:nvSpPr>
            <p:cNvPr id="153651" name="Rectangle 49"/>
            <p:cNvSpPr/>
            <p:nvPr/>
          </p:nvSpPr>
          <p:spPr>
            <a:xfrm>
              <a:off x="2741" y="1958"/>
              <a:ext cx="356"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ZF=0</a:t>
              </a:r>
              <a:endParaRPr lang="en-US" altLang="zh-CN" sz="2200" b="1" dirty="0">
                <a:latin typeface="宋体" panose="02010600030101010101" pitchFamily="2" charset="-122"/>
                <a:ea typeface="宋体" panose="02010600030101010101" pitchFamily="2" charset="-122"/>
              </a:endParaRPr>
            </a:p>
          </p:txBody>
        </p:sp>
        <p:sp>
          <p:nvSpPr>
            <p:cNvPr id="153652" name="Rectangle 50"/>
            <p:cNvSpPr/>
            <p:nvPr/>
          </p:nvSpPr>
          <p:spPr>
            <a:xfrm>
              <a:off x="3137" y="1958"/>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3655" name="Rectangle 53"/>
            <p:cNvSpPr/>
            <p:nvPr/>
          </p:nvSpPr>
          <p:spPr>
            <a:xfrm>
              <a:off x="3560" y="1967"/>
              <a:ext cx="1442" cy="213"/>
            </a:xfrm>
            <a:prstGeom prst="rect">
              <a:avLst/>
            </a:prstGeom>
            <a:noFill/>
            <a:ln w="9525">
              <a:noFill/>
            </a:ln>
          </p:spPr>
          <p:txBody>
            <a:bodyPr wrap="squar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不小于或者不等于</a:t>
              </a:r>
              <a:endParaRPr lang="zh-CN" altLang="en-US" sz="2200" b="1" dirty="0">
                <a:latin typeface="宋体" panose="02010600030101010101" pitchFamily="2" charset="-122"/>
                <a:ea typeface="宋体" panose="02010600030101010101" pitchFamily="2" charset="-122"/>
              </a:endParaRPr>
            </a:p>
          </p:txBody>
        </p:sp>
        <p:sp>
          <p:nvSpPr>
            <p:cNvPr id="153656" name="Rectangle 54"/>
            <p:cNvSpPr/>
            <p:nvPr/>
          </p:nvSpPr>
          <p:spPr>
            <a:xfrm>
              <a:off x="4953" y="1958"/>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3657" name="Rectangle 55"/>
            <p:cNvSpPr/>
            <p:nvPr/>
          </p:nvSpPr>
          <p:spPr>
            <a:xfrm>
              <a:off x="679" y="1936"/>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58" name="Line 56"/>
            <p:cNvSpPr/>
            <p:nvPr/>
          </p:nvSpPr>
          <p:spPr>
            <a:xfrm>
              <a:off x="679" y="1936"/>
              <a:ext cx="0" cy="3"/>
            </a:xfrm>
            <a:prstGeom prst="line">
              <a:avLst/>
            </a:prstGeom>
            <a:ln w="0" cap="flat" cmpd="sng">
              <a:solidFill>
                <a:srgbClr val="000000"/>
              </a:solidFill>
              <a:prstDash val="solid"/>
              <a:headEnd type="none" w="med" len="med"/>
              <a:tailEnd type="none" w="med" len="med"/>
            </a:ln>
          </p:spPr>
        </p:sp>
        <p:sp>
          <p:nvSpPr>
            <p:cNvPr id="153659" name="Rectangle 57"/>
            <p:cNvSpPr/>
            <p:nvPr/>
          </p:nvSpPr>
          <p:spPr>
            <a:xfrm>
              <a:off x="681" y="1936"/>
              <a:ext cx="1425"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60" name="Line 58"/>
            <p:cNvSpPr/>
            <p:nvPr/>
          </p:nvSpPr>
          <p:spPr>
            <a:xfrm>
              <a:off x="681" y="1936"/>
              <a:ext cx="1425" cy="0"/>
            </a:xfrm>
            <a:prstGeom prst="line">
              <a:avLst/>
            </a:prstGeom>
            <a:ln w="0" cap="flat" cmpd="sng">
              <a:solidFill>
                <a:srgbClr val="000000"/>
              </a:solidFill>
              <a:prstDash val="solid"/>
              <a:headEnd type="none" w="med" len="med"/>
              <a:tailEnd type="none" w="med" len="med"/>
            </a:ln>
          </p:spPr>
        </p:sp>
        <p:sp>
          <p:nvSpPr>
            <p:cNvPr id="153661" name="Rectangle 59"/>
            <p:cNvSpPr/>
            <p:nvPr/>
          </p:nvSpPr>
          <p:spPr>
            <a:xfrm>
              <a:off x="2106" y="1936"/>
              <a:ext cx="1"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62" name="Line 60"/>
            <p:cNvSpPr/>
            <p:nvPr/>
          </p:nvSpPr>
          <p:spPr>
            <a:xfrm>
              <a:off x="2106" y="1936"/>
              <a:ext cx="0" cy="3"/>
            </a:xfrm>
            <a:prstGeom prst="line">
              <a:avLst/>
            </a:prstGeom>
            <a:ln w="0" cap="flat" cmpd="sng">
              <a:solidFill>
                <a:srgbClr val="000000"/>
              </a:solidFill>
              <a:prstDash val="solid"/>
              <a:headEnd type="none" w="med" len="med"/>
              <a:tailEnd type="none" w="med" len="med"/>
            </a:ln>
          </p:spPr>
        </p:sp>
        <p:sp>
          <p:nvSpPr>
            <p:cNvPr id="153663" name="Rectangle 61"/>
            <p:cNvSpPr/>
            <p:nvPr/>
          </p:nvSpPr>
          <p:spPr>
            <a:xfrm>
              <a:off x="2107" y="1936"/>
              <a:ext cx="1271"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64" name="Line 62"/>
            <p:cNvSpPr/>
            <p:nvPr/>
          </p:nvSpPr>
          <p:spPr>
            <a:xfrm>
              <a:off x="2107" y="1936"/>
              <a:ext cx="1271" cy="0"/>
            </a:xfrm>
            <a:prstGeom prst="line">
              <a:avLst/>
            </a:prstGeom>
            <a:ln w="0" cap="flat" cmpd="sng">
              <a:solidFill>
                <a:srgbClr val="000000"/>
              </a:solidFill>
              <a:prstDash val="solid"/>
              <a:headEnd type="none" w="med" len="med"/>
              <a:tailEnd type="none" w="med" len="med"/>
            </a:ln>
          </p:spPr>
        </p:sp>
        <p:sp>
          <p:nvSpPr>
            <p:cNvPr id="153665" name="Rectangle 63"/>
            <p:cNvSpPr/>
            <p:nvPr/>
          </p:nvSpPr>
          <p:spPr>
            <a:xfrm>
              <a:off x="3378" y="1936"/>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66" name="Line 64"/>
            <p:cNvSpPr/>
            <p:nvPr/>
          </p:nvSpPr>
          <p:spPr>
            <a:xfrm>
              <a:off x="3378" y="1936"/>
              <a:ext cx="0" cy="3"/>
            </a:xfrm>
            <a:prstGeom prst="line">
              <a:avLst/>
            </a:prstGeom>
            <a:ln w="0" cap="flat" cmpd="sng">
              <a:solidFill>
                <a:srgbClr val="000000"/>
              </a:solidFill>
              <a:prstDash val="solid"/>
              <a:headEnd type="none" w="med" len="med"/>
              <a:tailEnd type="none" w="med" len="med"/>
            </a:ln>
          </p:spPr>
        </p:sp>
        <p:sp>
          <p:nvSpPr>
            <p:cNvPr id="153667" name="Rectangle 65"/>
            <p:cNvSpPr/>
            <p:nvPr/>
          </p:nvSpPr>
          <p:spPr>
            <a:xfrm>
              <a:off x="3380" y="1936"/>
              <a:ext cx="1890"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68" name="Line 66"/>
            <p:cNvSpPr/>
            <p:nvPr/>
          </p:nvSpPr>
          <p:spPr>
            <a:xfrm>
              <a:off x="3380" y="1936"/>
              <a:ext cx="1890" cy="0"/>
            </a:xfrm>
            <a:prstGeom prst="line">
              <a:avLst/>
            </a:prstGeom>
            <a:ln w="0" cap="flat" cmpd="sng">
              <a:solidFill>
                <a:srgbClr val="000000"/>
              </a:solidFill>
              <a:prstDash val="solid"/>
              <a:headEnd type="none" w="med" len="med"/>
              <a:tailEnd type="none" w="med" len="med"/>
            </a:ln>
          </p:spPr>
        </p:sp>
        <p:sp>
          <p:nvSpPr>
            <p:cNvPr id="153669" name="Rectangle 67"/>
            <p:cNvSpPr/>
            <p:nvPr/>
          </p:nvSpPr>
          <p:spPr>
            <a:xfrm>
              <a:off x="5270" y="1936"/>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70" name="Line 68"/>
            <p:cNvSpPr/>
            <p:nvPr/>
          </p:nvSpPr>
          <p:spPr>
            <a:xfrm>
              <a:off x="5270" y="1936"/>
              <a:ext cx="0" cy="3"/>
            </a:xfrm>
            <a:prstGeom prst="line">
              <a:avLst/>
            </a:prstGeom>
            <a:ln w="0" cap="flat" cmpd="sng">
              <a:solidFill>
                <a:srgbClr val="000000"/>
              </a:solidFill>
              <a:prstDash val="solid"/>
              <a:headEnd type="none" w="med" len="med"/>
              <a:tailEnd type="none" w="med" len="med"/>
            </a:ln>
          </p:spPr>
        </p:sp>
        <p:sp>
          <p:nvSpPr>
            <p:cNvPr id="153671" name="Rectangle 69"/>
            <p:cNvSpPr/>
            <p:nvPr/>
          </p:nvSpPr>
          <p:spPr>
            <a:xfrm>
              <a:off x="679" y="1939"/>
              <a:ext cx="2" cy="30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72" name="Line 70"/>
            <p:cNvSpPr/>
            <p:nvPr/>
          </p:nvSpPr>
          <p:spPr>
            <a:xfrm>
              <a:off x="679" y="1939"/>
              <a:ext cx="0" cy="302"/>
            </a:xfrm>
            <a:prstGeom prst="line">
              <a:avLst/>
            </a:prstGeom>
            <a:ln w="0" cap="flat" cmpd="sng">
              <a:solidFill>
                <a:srgbClr val="000000"/>
              </a:solidFill>
              <a:prstDash val="solid"/>
              <a:headEnd type="none" w="med" len="med"/>
              <a:tailEnd type="none" w="med" len="med"/>
            </a:ln>
          </p:spPr>
        </p:sp>
        <p:sp>
          <p:nvSpPr>
            <p:cNvPr id="153673" name="Rectangle 71"/>
            <p:cNvSpPr/>
            <p:nvPr/>
          </p:nvSpPr>
          <p:spPr>
            <a:xfrm>
              <a:off x="2106" y="1939"/>
              <a:ext cx="1" cy="30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74" name="Line 72"/>
            <p:cNvSpPr/>
            <p:nvPr/>
          </p:nvSpPr>
          <p:spPr>
            <a:xfrm>
              <a:off x="2106" y="1939"/>
              <a:ext cx="0" cy="302"/>
            </a:xfrm>
            <a:prstGeom prst="line">
              <a:avLst/>
            </a:prstGeom>
            <a:ln w="0" cap="flat" cmpd="sng">
              <a:solidFill>
                <a:srgbClr val="000000"/>
              </a:solidFill>
              <a:prstDash val="solid"/>
              <a:headEnd type="none" w="med" len="med"/>
              <a:tailEnd type="none" w="med" len="med"/>
            </a:ln>
          </p:spPr>
        </p:sp>
        <p:sp>
          <p:nvSpPr>
            <p:cNvPr id="153675" name="Rectangle 73"/>
            <p:cNvSpPr/>
            <p:nvPr/>
          </p:nvSpPr>
          <p:spPr>
            <a:xfrm>
              <a:off x="3378" y="1939"/>
              <a:ext cx="2" cy="30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76" name="Line 74"/>
            <p:cNvSpPr/>
            <p:nvPr/>
          </p:nvSpPr>
          <p:spPr>
            <a:xfrm>
              <a:off x="3378" y="1939"/>
              <a:ext cx="0" cy="302"/>
            </a:xfrm>
            <a:prstGeom prst="line">
              <a:avLst/>
            </a:prstGeom>
            <a:ln w="0" cap="flat" cmpd="sng">
              <a:solidFill>
                <a:srgbClr val="000000"/>
              </a:solidFill>
              <a:prstDash val="solid"/>
              <a:headEnd type="none" w="med" len="med"/>
              <a:tailEnd type="none" w="med" len="med"/>
            </a:ln>
          </p:spPr>
        </p:sp>
        <p:sp>
          <p:nvSpPr>
            <p:cNvPr id="153677" name="Rectangle 75"/>
            <p:cNvSpPr/>
            <p:nvPr/>
          </p:nvSpPr>
          <p:spPr>
            <a:xfrm>
              <a:off x="5270" y="1939"/>
              <a:ext cx="2" cy="30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78" name="Line 76"/>
            <p:cNvSpPr/>
            <p:nvPr/>
          </p:nvSpPr>
          <p:spPr>
            <a:xfrm>
              <a:off x="5270" y="1939"/>
              <a:ext cx="0" cy="302"/>
            </a:xfrm>
            <a:prstGeom prst="line">
              <a:avLst/>
            </a:prstGeom>
            <a:ln w="0" cap="flat" cmpd="sng">
              <a:solidFill>
                <a:srgbClr val="000000"/>
              </a:solidFill>
              <a:prstDash val="solid"/>
              <a:headEnd type="none" w="med" len="med"/>
              <a:tailEnd type="none" w="med" len="med"/>
            </a:ln>
          </p:spPr>
        </p:sp>
        <p:sp>
          <p:nvSpPr>
            <p:cNvPr id="153679" name="Rectangle 77"/>
            <p:cNvSpPr/>
            <p:nvPr/>
          </p:nvSpPr>
          <p:spPr>
            <a:xfrm>
              <a:off x="824" y="2294"/>
              <a:ext cx="267"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JAE</a:t>
              </a:r>
              <a:endParaRPr lang="en-US" altLang="zh-CN" sz="2200" b="1" dirty="0">
                <a:latin typeface="宋体" panose="02010600030101010101" pitchFamily="2" charset="-122"/>
                <a:ea typeface="宋体" panose="02010600030101010101" pitchFamily="2" charset="-122"/>
              </a:endParaRPr>
            </a:p>
          </p:txBody>
        </p:sp>
        <p:sp>
          <p:nvSpPr>
            <p:cNvPr id="153680" name="Rectangle 78"/>
            <p:cNvSpPr/>
            <p:nvPr/>
          </p:nvSpPr>
          <p:spPr>
            <a:xfrm>
              <a:off x="1143" y="2303"/>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
          <p:nvSpPr>
            <p:cNvPr id="153681" name="Rectangle 79"/>
            <p:cNvSpPr/>
            <p:nvPr/>
          </p:nvSpPr>
          <p:spPr>
            <a:xfrm>
              <a:off x="1229" y="2294"/>
              <a:ext cx="267"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JNB</a:t>
              </a:r>
              <a:endParaRPr lang="en-US" altLang="zh-CN" sz="2200" b="1" dirty="0">
                <a:latin typeface="宋体" panose="02010600030101010101" pitchFamily="2" charset="-122"/>
                <a:ea typeface="宋体" panose="02010600030101010101" pitchFamily="2" charset="-122"/>
              </a:endParaRPr>
            </a:p>
          </p:txBody>
        </p:sp>
        <p:sp>
          <p:nvSpPr>
            <p:cNvPr id="153682" name="Rectangle 80"/>
            <p:cNvSpPr/>
            <p:nvPr/>
          </p:nvSpPr>
          <p:spPr>
            <a:xfrm>
              <a:off x="1548" y="2303"/>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
          <p:nvSpPr>
            <p:cNvPr id="153683" name="Rectangle 81"/>
            <p:cNvSpPr/>
            <p:nvPr/>
          </p:nvSpPr>
          <p:spPr>
            <a:xfrm>
              <a:off x="1633" y="2294"/>
              <a:ext cx="267"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JNC</a:t>
              </a:r>
              <a:endParaRPr lang="en-US" altLang="zh-CN" sz="2200" b="1" dirty="0">
                <a:latin typeface="宋体" panose="02010600030101010101" pitchFamily="2" charset="-122"/>
                <a:ea typeface="宋体" panose="02010600030101010101" pitchFamily="2" charset="-122"/>
              </a:endParaRPr>
            </a:p>
          </p:txBody>
        </p:sp>
        <p:sp>
          <p:nvSpPr>
            <p:cNvPr id="153684" name="Rectangle 82"/>
            <p:cNvSpPr/>
            <p:nvPr/>
          </p:nvSpPr>
          <p:spPr>
            <a:xfrm>
              <a:off x="1962" y="2294"/>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FF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3685" name="Rectangle 83"/>
            <p:cNvSpPr/>
            <p:nvPr/>
          </p:nvSpPr>
          <p:spPr>
            <a:xfrm>
              <a:off x="2539" y="2247"/>
              <a:ext cx="356"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CF=0</a:t>
              </a:r>
              <a:endParaRPr lang="en-US" altLang="zh-CN" sz="2200" b="1" dirty="0">
                <a:latin typeface="宋体" panose="02010600030101010101" pitchFamily="2" charset="-122"/>
                <a:ea typeface="宋体" panose="02010600030101010101" pitchFamily="2" charset="-122"/>
              </a:endParaRPr>
            </a:p>
          </p:txBody>
        </p:sp>
        <p:sp>
          <p:nvSpPr>
            <p:cNvPr id="153686" name="Rectangle 84"/>
            <p:cNvSpPr/>
            <p:nvPr/>
          </p:nvSpPr>
          <p:spPr>
            <a:xfrm>
              <a:off x="2946" y="2247"/>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3687" name="Rectangle 85"/>
            <p:cNvSpPr/>
            <p:nvPr/>
          </p:nvSpPr>
          <p:spPr>
            <a:xfrm>
              <a:off x="3609" y="2251"/>
              <a:ext cx="884" cy="213"/>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大于或等于</a:t>
              </a:r>
              <a:endParaRPr lang="zh-CN" altLang="en-US" sz="2200" b="1" dirty="0">
                <a:latin typeface="宋体" panose="02010600030101010101" pitchFamily="2" charset="-122"/>
                <a:ea typeface="宋体" panose="02010600030101010101" pitchFamily="2" charset="-122"/>
              </a:endParaRPr>
            </a:p>
          </p:txBody>
        </p:sp>
        <p:sp>
          <p:nvSpPr>
            <p:cNvPr id="153692" name="Rectangle 90"/>
            <p:cNvSpPr/>
            <p:nvPr/>
          </p:nvSpPr>
          <p:spPr>
            <a:xfrm>
              <a:off x="5245" y="2263"/>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3693" name="Rectangle 91"/>
            <p:cNvSpPr/>
            <p:nvPr/>
          </p:nvSpPr>
          <p:spPr>
            <a:xfrm>
              <a:off x="679" y="2241"/>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94" name="Line 92"/>
            <p:cNvSpPr/>
            <p:nvPr/>
          </p:nvSpPr>
          <p:spPr>
            <a:xfrm>
              <a:off x="679" y="2241"/>
              <a:ext cx="0" cy="3"/>
            </a:xfrm>
            <a:prstGeom prst="line">
              <a:avLst/>
            </a:prstGeom>
            <a:ln w="0" cap="flat" cmpd="sng">
              <a:solidFill>
                <a:srgbClr val="000000"/>
              </a:solidFill>
              <a:prstDash val="solid"/>
              <a:headEnd type="none" w="med" len="med"/>
              <a:tailEnd type="none" w="med" len="med"/>
            </a:ln>
          </p:spPr>
        </p:sp>
        <p:sp>
          <p:nvSpPr>
            <p:cNvPr id="153695" name="Rectangle 93"/>
            <p:cNvSpPr/>
            <p:nvPr/>
          </p:nvSpPr>
          <p:spPr>
            <a:xfrm>
              <a:off x="681" y="2241"/>
              <a:ext cx="1425"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96" name="Line 94"/>
            <p:cNvSpPr/>
            <p:nvPr/>
          </p:nvSpPr>
          <p:spPr>
            <a:xfrm>
              <a:off x="681" y="2241"/>
              <a:ext cx="1425" cy="0"/>
            </a:xfrm>
            <a:prstGeom prst="line">
              <a:avLst/>
            </a:prstGeom>
            <a:ln w="0" cap="flat" cmpd="sng">
              <a:solidFill>
                <a:srgbClr val="000000"/>
              </a:solidFill>
              <a:prstDash val="solid"/>
              <a:headEnd type="none" w="med" len="med"/>
              <a:tailEnd type="none" w="med" len="med"/>
            </a:ln>
          </p:spPr>
        </p:sp>
        <p:sp>
          <p:nvSpPr>
            <p:cNvPr id="153697" name="Rectangle 95"/>
            <p:cNvSpPr/>
            <p:nvPr/>
          </p:nvSpPr>
          <p:spPr>
            <a:xfrm>
              <a:off x="2106" y="2241"/>
              <a:ext cx="1"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98" name="Line 96"/>
            <p:cNvSpPr/>
            <p:nvPr/>
          </p:nvSpPr>
          <p:spPr>
            <a:xfrm>
              <a:off x="2106" y="2241"/>
              <a:ext cx="0" cy="3"/>
            </a:xfrm>
            <a:prstGeom prst="line">
              <a:avLst/>
            </a:prstGeom>
            <a:ln w="0" cap="flat" cmpd="sng">
              <a:solidFill>
                <a:srgbClr val="000000"/>
              </a:solidFill>
              <a:prstDash val="solid"/>
              <a:headEnd type="none" w="med" len="med"/>
              <a:tailEnd type="none" w="med" len="med"/>
            </a:ln>
          </p:spPr>
        </p:sp>
        <p:sp>
          <p:nvSpPr>
            <p:cNvPr id="153699" name="Rectangle 97"/>
            <p:cNvSpPr/>
            <p:nvPr/>
          </p:nvSpPr>
          <p:spPr>
            <a:xfrm>
              <a:off x="2107" y="2241"/>
              <a:ext cx="1271"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00" name="Line 98"/>
            <p:cNvSpPr/>
            <p:nvPr/>
          </p:nvSpPr>
          <p:spPr>
            <a:xfrm>
              <a:off x="2107" y="2241"/>
              <a:ext cx="1271" cy="0"/>
            </a:xfrm>
            <a:prstGeom prst="line">
              <a:avLst/>
            </a:prstGeom>
            <a:ln w="0" cap="flat" cmpd="sng">
              <a:solidFill>
                <a:srgbClr val="000000"/>
              </a:solidFill>
              <a:prstDash val="solid"/>
              <a:headEnd type="none" w="med" len="med"/>
              <a:tailEnd type="none" w="med" len="med"/>
            </a:ln>
          </p:spPr>
        </p:sp>
        <p:sp>
          <p:nvSpPr>
            <p:cNvPr id="153701" name="Rectangle 99"/>
            <p:cNvSpPr/>
            <p:nvPr/>
          </p:nvSpPr>
          <p:spPr>
            <a:xfrm>
              <a:off x="3378" y="2241"/>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02" name="Line 100"/>
            <p:cNvSpPr/>
            <p:nvPr/>
          </p:nvSpPr>
          <p:spPr>
            <a:xfrm>
              <a:off x="3378" y="2241"/>
              <a:ext cx="0" cy="3"/>
            </a:xfrm>
            <a:prstGeom prst="line">
              <a:avLst/>
            </a:prstGeom>
            <a:ln w="0" cap="flat" cmpd="sng">
              <a:solidFill>
                <a:srgbClr val="000000"/>
              </a:solidFill>
              <a:prstDash val="solid"/>
              <a:headEnd type="none" w="med" len="med"/>
              <a:tailEnd type="none" w="med" len="med"/>
            </a:ln>
          </p:spPr>
        </p:sp>
        <p:sp>
          <p:nvSpPr>
            <p:cNvPr id="153703" name="Rectangle 101"/>
            <p:cNvSpPr/>
            <p:nvPr/>
          </p:nvSpPr>
          <p:spPr>
            <a:xfrm>
              <a:off x="3380" y="2241"/>
              <a:ext cx="1890"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04" name="Line 102"/>
            <p:cNvSpPr/>
            <p:nvPr/>
          </p:nvSpPr>
          <p:spPr>
            <a:xfrm>
              <a:off x="3380" y="2241"/>
              <a:ext cx="1890" cy="0"/>
            </a:xfrm>
            <a:prstGeom prst="line">
              <a:avLst/>
            </a:prstGeom>
            <a:ln w="0" cap="flat" cmpd="sng">
              <a:solidFill>
                <a:srgbClr val="000000"/>
              </a:solidFill>
              <a:prstDash val="solid"/>
              <a:headEnd type="none" w="med" len="med"/>
              <a:tailEnd type="none" w="med" len="med"/>
            </a:ln>
          </p:spPr>
        </p:sp>
        <p:sp>
          <p:nvSpPr>
            <p:cNvPr id="153705" name="Rectangle 103"/>
            <p:cNvSpPr/>
            <p:nvPr/>
          </p:nvSpPr>
          <p:spPr>
            <a:xfrm>
              <a:off x="5270" y="2241"/>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06" name="Line 104"/>
            <p:cNvSpPr/>
            <p:nvPr/>
          </p:nvSpPr>
          <p:spPr>
            <a:xfrm>
              <a:off x="5270" y="2241"/>
              <a:ext cx="0" cy="3"/>
            </a:xfrm>
            <a:prstGeom prst="line">
              <a:avLst/>
            </a:prstGeom>
            <a:ln w="0" cap="flat" cmpd="sng">
              <a:solidFill>
                <a:srgbClr val="000000"/>
              </a:solidFill>
              <a:prstDash val="solid"/>
              <a:headEnd type="none" w="med" len="med"/>
              <a:tailEnd type="none" w="med" len="med"/>
            </a:ln>
          </p:spPr>
        </p:sp>
        <p:sp>
          <p:nvSpPr>
            <p:cNvPr id="153707" name="Rectangle 105"/>
            <p:cNvSpPr/>
            <p:nvPr/>
          </p:nvSpPr>
          <p:spPr>
            <a:xfrm>
              <a:off x="679" y="2244"/>
              <a:ext cx="2" cy="301"/>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08" name="Line 106"/>
            <p:cNvSpPr/>
            <p:nvPr/>
          </p:nvSpPr>
          <p:spPr>
            <a:xfrm>
              <a:off x="679" y="2244"/>
              <a:ext cx="0" cy="301"/>
            </a:xfrm>
            <a:prstGeom prst="line">
              <a:avLst/>
            </a:prstGeom>
            <a:ln w="0" cap="flat" cmpd="sng">
              <a:solidFill>
                <a:srgbClr val="000000"/>
              </a:solidFill>
              <a:prstDash val="solid"/>
              <a:headEnd type="none" w="med" len="med"/>
              <a:tailEnd type="none" w="med" len="med"/>
            </a:ln>
          </p:spPr>
        </p:sp>
        <p:sp>
          <p:nvSpPr>
            <p:cNvPr id="153709" name="Rectangle 107"/>
            <p:cNvSpPr/>
            <p:nvPr/>
          </p:nvSpPr>
          <p:spPr>
            <a:xfrm>
              <a:off x="2106" y="2244"/>
              <a:ext cx="1" cy="301"/>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10" name="Line 108"/>
            <p:cNvSpPr/>
            <p:nvPr/>
          </p:nvSpPr>
          <p:spPr>
            <a:xfrm>
              <a:off x="2106" y="2244"/>
              <a:ext cx="0" cy="301"/>
            </a:xfrm>
            <a:prstGeom prst="line">
              <a:avLst/>
            </a:prstGeom>
            <a:ln w="0" cap="flat" cmpd="sng">
              <a:solidFill>
                <a:srgbClr val="000000"/>
              </a:solidFill>
              <a:prstDash val="solid"/>
              <a:headEnd type="none" w="med" len="med"/>
              <a:tailEnd type="none" w="med" len="med"/>
            </a:ln>
          </p:spPr>
        </p:sp>
        <p:sp>
          <p:nvSpPr>
            <p:cNvPr id="153711" name="Rectangle 109"/>
            <p:cNvSpPr/>
            <p:nvPr/>
          </p:nvSpPr>
          <p:spPr>
            <a:xfrm>
              <a:off x="3378" y="2244"/>
              <a:ext cx="2" cy="301"/>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12" name="Line 110"/>
            <p:cNvSpPr/>
            <p:nvPr/>
          </p:nvSpPr>
          <p:spPr>
            <a:xfrm>
              <a:off x="3378" y="2244"/>
              <a:ext cx="0" cy="301"/>
            </a:xfrm>
            <a:prstGeom prst="line">
              <a:avLst/>
            </a:prstGeom>
            <a:ln w="0" cap="flat" cmpd="sng">
              <a:solidFill>
                <a:srgbClr val="000000"/>
              </a:solidFill>
              <a:prstDash val="solid"/>
              <a:headEnd type="none" w="med" len="med"/>
              <a:tailEnd type="none" w="med" len="med"/>
            </a:ln>
          </p:spPr>
        </p:sp>
        <p:sp>
          <p:nvSpPr>
            <p:cNvPr id="153713" name="Rectangle 111"/>
            <p:cNvSpPr/>
            <p:nvPr/>
          </p:nvSpPr>
          <p:spPr>
            <a:xfrm>
              <a:off x="5270" y="2244"/>
              <a:ext cx="2" cy="301"/>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14" name="Line 112"/>
            <p:cNvSpPr/>
            <p:nvPr/>
          </p:nvSpPr>
          <p:spPr>
            <a:xfrm>
              <a:off x="5270" y="2244"/>
              <a:ext cx="0" cy="301"/>
            </a:xfrm>
            <a:prstGeom prst="line">
              <a:avLst/>
            </a:prstGeom>
            <a:ln w="0" cap="flat" cmpd="sng">
              <a:solidFill>
                <a:srgbClr val="000000"/>
              </a:solidFill>
              <a:prstDash val="solid"/>
              <a:headEnd type="none" w="med" len="med"/>
              <a:tailEnd type="none" w="med" len="med"/>
            </a:ln>
          </p:spPr>
        </p:sp>
        <p:sp>
          <p:nvSpPr>
            <p:cNvPr id="153715" name="Rectangle 113"/>
            <p:cNvSpPr/>
            <p:nvPr/>
          </p:nvSpPr>
          <p:spPr>
            <a:xfrm>
              <a:off x="885" y="2598"/>
              <a:ext cx="178"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JB</a:t>
              </a:r>
              <a:endParaRPr lang="en-US" altLang="zh-CN" sz="2200" b="1" dirty="0">
                <a:latin typeface="宋体" panose="02010600030101010101" pitchFamily="2" charset="-122"/>
                <a:ea typeface="宋体" panose="02010600030101010101" pitchFamily="2" charset="-122"/>
              </a:endParaRPr>
            </a:p>
          </p:txBody>
        </p:sp>
        <p:sp>
          <p:nvSpPr>
            <p:cNvPr id="153716" name="Rectangle 114"/>
            <p:cNvSpPr/>
            <p:nvPr/>
          </p:nvSpPr>
          <p:spPr>
            <a:xfrm>
              <a:off x="1082" y="2607"/>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
          <p:nvSpPr>
            <p:cNvPr id="153717" name="Rectangle 115"/>
            <p:cNvSpPr/>
            <p:nvPr/>
          </p:nvSpPr>
          <p:spPr>
            <a:xfrm>
              <a:off x="1168" y="2598"/>
              <a:ext cx="356"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JNAE</a:t>
              </a:r>
              <a:endParaRPr lang="en-US" altLang="zh-CN" sz="2200" b="1" dirty="0">
                <a:latin typeface="宋体" panose="02010600030101010101" pitchFamily="2" charset="-122"/>
                <a:ea typeface="宋体" panose="02010600030101010101" pitchFamily="2" charset="-122"/>
              </a:endParaRPr>
            </a:p>
          </p:txBody>
        </p:sp>
        <p:sp>
          <p:nvSpPr>
            <p:cNvPr id="153718" name="Rectangle 116"/>
            <p:cNvSpPr/>
            <p:nvPr/>
          </p:nvSpPr>
          <p:spPr>
            <a:xfrm>
              <a:off x="1609" y="2607"/>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
          <p:nvSpPr>
            <p:cNvPr id="153719" name="Rectangle 117"/>
            <p:cNvSpPr/>
            <p:nvPr/>
          </p:nvSpPr>
          <p:spPr>
            <a:xfrm>
              <a:off x="1694" y="2598"/>
              <a:ext cx="178"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JC</a:t>
              </a:r>
              <a:endParaRPr lang="en-US" altLang="zh-CN" sz="2200" b="1" dirty="0">
                <a:latin typeface="宋体" panose="02010600030101010101" pitchFamily="2" charset="-122"/>
                <a:ea typeface="宋体" panose="02010600030101010101" pitchFamily="2" charset="-122"/>
              </a:endParaRPr>
            </a:p>
          </p:txBody>
        </p:sp>
        <p:sp>
          <p:nvSpPr>
            <p:cNvPr id="153720" name="Rectangle 118"/>
            <p:cNvSpPr/>
            <p:nvPr/>
          </p:nvSpPr>
          <p:spPr>
            <a:xfrm>
              <a:off x="1901" y="2598"/>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FF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3721" name="Rectangle 119"/>
            <p:cNvSpPr/>
            <p:nvPr/>
          </p:nvSpPr>
          <p:spPr>
            <a:xfrm>
              <a:off x="2539" y="2552"/>
              <a:ext cx="356"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CF=1</a:t>
              </a:r>
              <a:endParaRPr lang="en-US" altLang="zh-CN" sz="2200" b="1" dirty="0">
                <a:latin typeface="宋体" panose="02010600030101010101" pitchFamily="2" charset="-122"/>
                <a:ea typeface="宋体" panose="02010600030101010101" pitchFamily="2" charset="-122"/>
              </a:endParaRPr>
            </a:p>
          </p:txBody>
        </p:sp>
        <p:sp>
          <p:nvSpPr>
            <p:cNvPr id="153722" name="Rectangle 120"/>
            <p:cNvSpPr/>
            <p:nvPr/>
          </p:nvSpPr>
          <p:spPr>
            <a:xfrm>
              <a:off x="2946" y="2552"/>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3723" name="Rectangle 121"/>
            <p:cNvSpPr/>
            <p:nvPr/>
          </p:nvSpPr>
          <p:spPr>
            <a:xfrm>
              <a:off x="3609" y="2576"/>
              <a:ext cx="354" cy="213"/>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小于</a:t>
              </a:r>
              <a:endParaRPr lang="zh-CN" altLang="en-US" sz="2200" b="1" dirty="0">
                <a:latin typeface="宋体" panose="02010600030101010101" pitchFamily="2" charset="-122"/>
                <a:ea typeface="宋体" panose="02010600030101010101" pitchFamily="2" charset="-122"/>
              </a:endParaRPr>
            </a:p>
          </p:txBody>
        </p:sp>
        <p:sp>
          <p:nvSpPr>
            <p:cNvPr id="153728" name="Rectangle 126"/>
            <p:cNvSpPr/>
            <p:nvPr/>
          </p:nvSpPr>
          <p:spPr>
            <a:xfrm>
              <a:off x="5245" y="2567"/>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3729" name="Rectangle 127"/>
            <p:cNvSpPr/>
            <p:nvPr/>
          </p:nvSpPr>
          <p:spPr>
            <a:xfrm>
              <a:off x="679" y="2545"/>
              <a:ext cx="2" cy="4"/>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30" name="Line 128"/>
            <p:cNvSpPr/>
            <p:nvPr/>
          </p:nvSpPr>
          <p:spPr>
            <a:xfrm>
              <a:off x="679" y="2545"/>
              <a:ext cx="0" cy="4"/>
            </a:xfrm>
            <a:prstGeom prst="line">
              <a:avLst/>
            </a:prstGeom>
            <a:ln w="0" cap="flat" cmpd="sng">
              <a:solidFill>
                <a:srgbClr val="000000"/>
              </a:solidFill>
              <a:prstDash val="solid"/>
              <a:headEnd type="none" w="med" len="med"/>
              <a:tailEnd type="none" w="med" len="med"/>
            </a:ln>
          </p:spPr>
        </p:sp>
        <p:sp>
          <p:nvSpPr>
            <p:cNvPr id="153731" name="Rectangle 129"/>
            <p:cNvSpPr/>
            <p:nvPr/>
          </p:nvSpPr>
          <p:spPr>
            <a:xfrm>
              <a:off x="681" y="2545"/>
              <a:ext cx="1425"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32" name="Line 130"/>
            <p:cNvSpPr/>
            <p:nvPr/>
          </p:nvSpPr>
          <p:spPr>
            <a:xfrm>
              <a:off x="681" y="2545"/>
              <a:ext cx="1425" cy="0"/>
            </a:xfrm>
            <a:prstGeom prst="line">
              <a:avLst/>
            </a:prstGeom>
            <a:ln w="0" cap="flat" cmpd="sng">
              <a:solidFill>
                <a:srgbClr val="000000"/>
              </a:solidFill>
              <a:prstDash val="solid"/>
              <a:headEnd type="none" w="med" len="med"/>
              <a:tailEnd type="none" w="med" len="med"/>
            </a:ln>
          </p:spPr>
        </p:sp>
        <p:sp>
          <p:nvSpPr>
            <p:cNvPr id="153733" name="Rectangle 131"/>
            <p:cNvSpPr/>
            <p:nvPr/>
          </p:nvSpPr>
          <p:spPr>
            <a:xfrm>
              <a:off x="2106" y="2545"/>
              <a:ext cx="1" cy="4"/>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34" name="Line 132"/>
            <p:cNvSpPr/>
            <p:nvPr/>
          </p:nvSpPr>
          <p:spPr>
            <a:xfrm>
              <a:off x="2106" y="2545"/>
              <a:ext cx="0" cy="4"/>
            </a:xfrm>
            <a:prstGeom prst="line">
              <a:avLst/>
            </a:prstGeom>
            <a:ln w="0" cap="flat" cmpd="sng">
              <a:solidFill>
                <a:srgbClr val="000000"/>
              </a:solidFill>
              <a:prstDash val="solid"/>
              <a:headEnd type="none" w="med" len="med"/>
              <a:tailEnd type="none" w="med" len="med"/>
            </a:ln>
          </p:spPr>
        </p:sp>
        <p:sp>
          <p:nvSpPr>
            <p:cNvPr id="153735" name="Rectangle 133"/>
            <p:cNvSpPr/>
            <p:nvPr/>
          </p:nvSpPr>
          <p:spPr>
            <a:xfrm>
              <a:off x="2107" y="2545"/>
              <a:ext cx="1271"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36" name="Line 134"/>
            <p:cNvSpPr/>
            <p:nvPr/>
          </p:nvSpPr>
          <p:spPr>
            <a:xfrm>
              <a:off x="2107" y="2545"/>
              <a:ext cx="1271" cy="0"/>
            </a:xfrm>
            <a:prstGeom prst="line">
              <a:avLst/>
            </a:prstGeom>
            <a:ln w="0" cap="flat" cmpd="sng">
              <a:solidFill>
                <a:srgbClr val="000000"/>
              </a:solidFill>
              <a:prstDash val="solid"/>
              <a:headEnd type="none" w="med" len="med"/>
              <a:tailEnd type="none" w="med" len="med"/>
            </a:ln>
          </p:spPr>
        </p:sp>
        <p:sp>
          <p:nvSpPr>
            <p:cNvPr id="153737" name="Rectangle 135"/>
            <p:cNvSpPr/>
            <p:nvPr/>
          </p:nvSpPr>
          <p:spPr>
            <a:xfrm>
              <a:off x="3378" y="2545"/>
              <a:ext cx="2" cy="4"/>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38" name="Line 136"/>
            <p:cNvSpPr/>
            <p:nvPr/>
          </p:nvSpPr>
          <p:spPr>
            <a:xfrm>
              <a:off x="3378" y="2545"/>
              <a:ext cx="0" cy="4"/>
            </a:xfrm>
            <a:prstGeom prst="line">
              <a:avLst/>
            </a:prstGeom>
            <a:ln w="0" cap="flat" cmpd="sng">
              <a:solidFill>
                <a:srgbClr val="000000"/>
              </a:solidFill>
              <a:prstDash val="solid"/>
              <a:headEnd type="none" w="med" len="med"/>
              <a:tailEnd type="none" w="med" len="med"/>
            </a:ln>
          </p:spPr>
        </p:sp>
        <p:sp>
          <p:nvSpPr>
            <p:cNvPr id="153739" name="Rectangle 137"/>
            <p:cNvSpPr/>
            <p:nvPr/>
          </p:nvSpPr>
          <p:spPr>
            <a:xfrm>
              <a:off x="3380" y="2545"/>
              <a:ext cx="1890"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40" name="Line 138"/>
            <p:cNvSpPr/>
            <p:nvPr/>
          </p:nvSpPr>
          <p:spPr>
            <a:xfrm>
              <a:off x="3380" y="2545"/>
              <a:ext cx="1890" cy="0"/>
            </a:xfrm>
            <a:prstGeom prst="line">
              <a:avLst/>
            </a:prstGeom>
            <a:ln w="0" cap="flat" cmpd="sng">
              <a:solidFill>
                <a:srgbClr val="000000"/>
              </a:solidFill>
              <a:prstDash val="solid"/>
              <a:headEnd type="none" w="med" len="med"/>
              <a:tailEnd type="none" w="med" len="med"/>
            </a:ln>
          </p:spPr>
        </p:sp>
        <p:sp>
          <p:nvSpPr>
            <p:cNvPr id="153741" name="Rectangle 139"/>
            <p:cNvSpPr/>
            <p:nvPr/>
          </p:nvSpPr>
          <p:spPr>
            <a:xfrm>
              <a:off x="5270" y="2545"/>
              <a:ext cx="2" cy="4"/>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42" name="Line 140"/>
            <p:cNvSpPr/>
            <p:nvPr/>
          </p:nvSpPr>
          <p:spPr>
            <a:xfrm>
              <a:off x="5270" y="2545"/>
              <a:ext cx="0" cy="4"/>
            </a:xfrm>
            <a:prstGeom prst="line">
              <a:avLst/>
            </a:prstGeom>
            <a:ln w="0" cap="flat" cmpd="sng">
              <a:solidFill>
                <a:srgbClr val="000000"/>
              </a:solidFill>
              <a:prstDash val="solid"/>
              <a:headEnd type="none" w="med" len="med"/>
              <a:tailEnd type="none" w="med" len="med"/>
            </a:ln>
          </p:spPr>
        </p:sp>
        <p:sp>
          <p:nvSpPr>
            <p:cNvPr id="153743" name="Rectangle 141"/>
            <p:cNvSpPr/>
            <p:nvPr/>
          </p:nvSpPr>
          <p:spPr>
            <a:xfrm>
              <a:off x="679" y="2549"/>
              <a:ext cx="2" cy="30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44" name="Line 142"/>
            <p:cNvSpPr/>
            <p:nvPr/>
          </p:nvSpPr>
          <p:spPr>
            <a:xfrm>
              <a:off x="679" y="2549"/>
              <a:ext cx="0" cy="302"/>
            </a:xfrm>
            <a:prstGeom prst="line">
              <a:avLst/>
            </a:prstGeom>
            <a:ln w="0" cap="flat" cmpd="sng">
              <a:solidFill>
                <a:srgbClr val="000000"/>
              </a:solidFill>
              <a:prstDash val="solid"/>
              <a:headEnd type="none" w="med" len="med"/>
              <a:tailEnd type="none" w="med" len="med"/>
            </a:ln>
          </p:spPr>
        </p:sp>
        <p:sp>
          <p:nvSpPr>
            <p:cNvPr id="153745" name="Rectangle 143"/>
            <p:cNvSpPr/>
            <p:nvPr/>
          </p:nvSpPr>
          <p:spPr>
            <a:xfrm>
              <a:off x="2106" y="2549"/>
              <a:ext cx="1" cy="30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46" name="Line 144"/>
            <p:cNvSpPr/>
            <p:nvPr/>
          </p:nvSpPr>
          <p:spPr>
            <a:xfrm>
              <a:off x="2106" y="2549"/>
              <a:ext cx="0" cy="302"/>
            </a:xfrm>
            <a:prstGeom prst="line">
              <a:avLst/>
            </a:prstGeom>
            <a:ln w="0" cap="flat" cmpd="sng">
              <a:solidFill>
                <a:srgbClr val="000000"/>
              </a:solidFill>
              <a:prstDash val="solid"/>
              <a:headEnd type="none" w="med" len="med"/>
              <a:tailEnd type="none" w="med" len="med"/>
            </a:ln>
          </p:spPr>
        </p:sp>
        <p:sp>
          <p:nvSpPr>
            <p:cNvPr id="153747" name="Rectangle 145"/>
            <p:cNvSpPr/>
            <p:nvPr/>
          </p:nvSpPr>
          <p:spPr>
            <a:xfrm>
              <a:off x="3378" y="2549"/>
              <a:ext cx="2" cy="30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48" name="Line 146"/>
            <p:cNvSpPr/>
            <p:nvPr/>
          </p:nvSpPr>
          <p:spPr>
            <a:xfrm>
              <a:off x="3378" y="2549"/>
              <a:ext cx="0" cy="302"/>
            </a:xfrm>
            <a:prstGeom prst="line">
              <a:avLst/>
            </a:prstGeom>
            <a:ln w="0" cap="flat" cmpd="sng">
              <a:solidFill>
                <a:srgbClr val="000000"/>
              </a:solidFill>
              <a:prstDash val="solid"/>
              <a:headEnd type="none" w="med" len="med"/>
              <a:tailEnd type="none" w="med" len="med"/>
            </a:ln>
          </p:spPr>
        </p:sp>
        <p:sp>
          <p:nvSpPr>
            <p:cNvPr id="153749" name="Rectangle 147"/>
            <p:cNvSpPr/>
            <p:nvPr/>
          </p:nvSpPr>
          <p:spPr>
            <a:xfrm>
              <a:off x="5270" y="2549"/>
              <a:ext cx="2" cy="30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50" name="Line 148"/>
            <p:cNvSpPr/>
            <p:nvPr/>
          </p:nvSpPr>
          <p:spPr>
            <a:xfrm>
              <a:off x="5270" y="2549"/>
              <a:ext cx="0" cy="302"/>
            </a:xfrm>
            <a:prstGeom prst="line">
              <a:avLst/>
            </a:prstGeom>
            <a:ln w="0" cap="flat" cmpd="sng">
              <a:solidFill>
                <a:srgbClr val="000000"/>
              </a:solidFill>
              <a:prstDash val="solid"/>
              <a:headEnd type="none" w="med" len="med"/>
              <a:tailEnd type="none" w="med" len="med"/>
            </a:ln>
          </p:spPr>
        </p:sp>
        <p:sp>
          <p:nvSpPr>
            <p:cNvPr id="153751" name="Rectangle 149"/>
            <p:cNvSpPr/>
            <p:nvPr/>
          </p:nvSpPr>
          <p:spPr>
            <a:xfrm>
              <a:off x="1031" y="2903"/>
              <a:ext cx="267"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JBE</a:t>
              </a:r>
              <a:endParaRPr lang="en-US" altLang="zh-CN" sz="2200" b="1" dirty="0">
                <a:latin typeface="宋体" panose="02010600030101010101" pitchFamily="2" charset="-122"/>
                <a:ea typeface="宋体" panose="02010600030101010101" pitchFamily="2" charset="-122"/>
              </a:endParaRPr>
            </a:p>
          </p:txBody>
        </p:sp>
        <p:sp>
          <p:nvSpPr>
            <p:cNvPr id="153752" name="Rectangle 150"/>
            <p:cNvSpPr/>
            <p:nvPr/>
          </p:nvSpPr>
          <p:spPr>
            <a:xfrm>
              <a:off x="1341" y="2912"/>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
          <p:nvSpPr>
            <p:cNvPr id="153753" name="Rectangle 151"/>
            <p:cNvSpPr/>
            <p:nvPr/>
          </p:nvSpPr>
          <p:spPr>
            <a:xfrm>
              <a:off x="1427" y="2903"/>
              <a:ext cx="267"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JNA</a:t>
              </a:r>
              <a:endParaRPr lang="en-US" altLang="zh-CN" sz="2200" b="1" dirty="0">
                <a:latin typeface="宋体" panose="02010600030101010101" pitchFamily="2" charset="-122"/>
                <a:ea typeface="宋体" panose="02010600030101010101" pitchFamily="2" charset="-122"/>
              </a:endParaRPr>
            </a:p>
          </p:txBody>
        </p:sp>
        <p:sp>
          <p:nvSpPr>
            <p:cNvPr id="153754" name="Rectangle 152"/>
            <p:cNvSpPr/>
            <p:nvPr/>
          </p:nvSpPr>
          <p:spPr>
            <a:xfrm>
              <a:off x="1755" y="2903"/>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FF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3755" name="Rectangle 153"/>
            <p:cNvSpPr/>
            <p:nvPr/>
          </p:nvSpPr>
          <p:spPr>
            <a:xfrm>
              <a:off x="2349" y="2872"/>
              <a:ext cx="178"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CF</a:t>
              </a:r>
              <a:endParaRPr lang="en-US" altLang="zh-CN" sz="2200" b="1" dirty="0">
                <a:latin typeface="宋体" panose="02010600030101010101" pitchFamily="2" charset="-122"/>
                <a:ea typeface="宋体" panose="02010600030101010101" pitchFamily="2" charset="-122"/>
              </a:endParaRPr>
            </a:p>
          </p:txBody>
        </p:sp>
        <p:sp>
          <p:nvSpPr>
            <p:cNvPr id="153756" name="Rectangle 154"/>
            <p:cNvSpPr/>
            <p:nvPr/>
          </p:nvSpPr>
          <p:spPr>
            <a:xfrm>
              <a:off x="2574" y="2881"/>
              <a:ext cx="177"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
          <p:nvSpPr>
            <p:cNvPr id="153757" name="Rectangle 155"/>
            <p:cNvSpPr/>
            <p:nvPr/>
          </p:nvSpPr>
          <p:spPr>
            <a:xfrm>
              <a:off x="2741" y="2872"/>
              <a:ext cx="356"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ZF=1</a:t>
              </a:r>
              <a:endParaRPr lang="en-US" altLang="zh-CN" sz="2200" b="1" dirty="0">
                <a:latin typeface="宋体" panose="02010600030101010101" pitchFamily="2" charset="-122"/>
                <a:ea typeface="宋体" panose="02010600030101010101" pitchFamily="2" charset="-122"/>
              </a:endParaRPr>
            </a:p>
          </p:txBody>
        </p:sp>
        <p:sp>
          <p:nvSpPr>
            <p:cNvPr id="153758" name="Rectangle 156"/>
            <p:cNvSpPr/>
            <p:nvPr/>
          </p:nvSpPr>
          <p:spPr>
            <a:xfrm>
              <a:off x="3137" y="2872"/>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3759" name="Rectangle 157"/>
            <p:cNvSpPr/>
            <p:nvPr/>
          </p:nvSpPr>
          <p:spPr>
            <a:xfrm>
              <a:off x="3609" y="2881"/>
              <a:ext cx="884" cy="213"/>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小于或等于</a:t>
              </a:r>
              <a:endParaRPr lang="zh-CN" altLang="en-US" sz="2200" b="1" dirty="0">
                <a:latin typeface="宋体" panose="02010600030101010101" pitchFamily="2" charset="-122"/>
                <a:ea typeface="宋体" panose="02010600030101010101" pitchFamily="2" charset="-122"/>
              </a:endParaRPr>
            </a:p>
          </p:txBody>
        </p:sp>
        <p:sp>
          <p:nvSpPr>
            <p:cNvPr id="153762" name="Rectangle 160"/>
            <p:cNvSpPr/>
            <p:nvPr/>
          </p:nvSpPr>
          <p:spPr>
            <a:xfrm>
              <a:off x="4953" y="2872"/>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3763" name="Rectangle 161"/>
            <p:cNvSpPr/>
            <p:nvPr/>
          </p:nvSpPr>
          <p:spPr>
            <a:xfrm>
              <a:off x="679" y="2851"/>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64" name="Line 162"/>
            <p:cNvSpPr/>
            <p:nvPr/>
          </p:nvSpPr>
          <p:spPr>
            <a:xfrm>
              <a:off x="679" y="2851"/>
              <a:ext cx="0" cy="3"/>
            </a:xfrm>
            <a:prstGeom prst="line">
              <a:avLst/>
            </a:prstGeom>
            <a:ln w="0" cap="flat" cmpd="sng">
              <a:solidFill>
                <a:srgbClr val="000000"/>
              </a:solidFill>
              <a:prstDash val="solid"/>
              <a:headEnd type="none" w="med" len="med"/>
              <a:tailEnd type="none" w="med" len="med"/>
            </a:ln>
          </p:spPr>
        </p:sp>
        <p:sp>
          <p:nvSpPr>
            <p:cNvPr id="153765" name="Rectangle 163"/>
            <p:cNvSpPr/>
            <p:nvPr/>
          </p:nvSpPr>
          <p:spPr>
            <a:xfrm>
              <a:off x="681" y="2851"/>
              <a:ext cx="1425"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66" name="Line 164"/>
            <p:cNvSpPr/>
            <p:nvPr/>
          </p:nvSpPr>
          <p:spPr>
            <a:xfrm>
              <a:off x="681" y="2851"/>
              <a:ext cx="1425" cy="0"/>
            </a:xfrm>
            <a:prstGeom prst="line">
              <a:avLst/>
            </a:prstGeom>
            <a:ln w="0" cap="flat" cmpd="sng">
              <a:solidFill>
                <a:srgbClr val="000000"/>
              </a:solidFill>
              <a:prstDash val="solid"/>
              <a:headEnd type="none" w="med" len="med"/>
              <a:tailEnd type="none" w="med" len="med"/>
            </a:ln>
          </p:spPr>
        </p:sp>
        <p:sp>
          <p:nvSpPr>
            <p:cNvPr id="153767" name="Rectangle 165"/>
            <p:cNvSpPr/>
            <p:nvPr/>
          </p:nvSpPr>
          <p:spPr>
            <a:xfrm>
              <a:off x="2106" y="2851"/>
              <a:ext cx="1"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68" name="Line 166"/>
            <p:cNvSpPr/>
            <p:nvPr/>
          </p:nvSpPr>
          <p:spPr>
            <a:xfrm>
              <a:off x="2106" y="2851"/>
              <a:ext cx="0" cy="3"/>
            </a:xfrm>
            <a:prstGeom prst="line">
              <a:avLst/>
            </a:prstGeom>
            <a:ln w="0" cap="flat" cmpd="sng">
              <a:solidFill>
                <a:srgbClr val="000000"/>
              </a:solidFill>
              <a:prstDash val="solid"/>
              <a:headEnd type="none" w="med" len="med"/>
              <a:tailEnd type="none" w="med" len="med"/>
            </a:ln>
          </p:spPr>
        </p:sp>
        <p:sp>
          <p:nvSpPr>
            <p:cNvPr id="153769" name="Rectangle 167"/>
            <p:cNvSpPr/>
            <p:nvPr/>
          </p:nvSpPr>
          <p:spPr>
            <a:xfrm>
              <a:off x="2107" y="2851"/>
              <a:ext cx="1271"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70" name="Line 168"/>
            <p:cNvSpPr/>
            <p:nvPr/>
          </p:nvSpPr>
          <p:spPr>
            <a:xfrm>
              <a:off x="2107" y="2851"/>
              <a:ext cx="1271" cy="0"/>
            </a:xfrm>
            <a:prstGeom prst="line">
              <a:avLst/>
            </a:prstGeom>
            <a:ln w="0" cap="flat" cmpd="sng">
              <a:solidFill>
                <a:srgbClr val="000000"/>
              </a:solidFill>
              <a:prstDash val="solid"/>
              <a:headEnd type="none" w="med" len="med"/>
              <a:tailEnd type="none" w="med" len="med"/>
            </a:ln>
          </p:spPr>
        </p:sp>
        <p:sp>
          <p:nvSpPr>
            <p:cNvPr id="153771" name="Rectangle 169"/>
            <p:cNvSpPr/>
            <p:nvPr/>
          </p:nvSpPr>
          <p:spPr>
            <a:xfrm>
              <a:off x="3378" y="2851"/>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72" name="Line 170"/>
            <p:cNvSpPr/>
            <p:nvPr/>
          </p:nvSpPr>
          <p:spPr>
            <a:xfrm>
              <a:off x="3378" y="2851"/>
              <a:ext cx="0" cy="3"/>
            </a:xfrm>
            <a:prstGeom prst="line">
              <a:avLst/>
            </a:prstGeom>
            <a:ln w="0" cap="flat" cmpd="sng">
              <a:solidFill>
                <a:srgbClr val="000000"/>
              </a:solidFill>
              <a:prstDash val="solid"/>
              <a:headEnd type="none" w="med" len="med"/>
              <a:tailEnd type="none" w="med" len="med"/>
            </a:ln>
          </p:spPr>
        </p:sp>
        <p:sp>
          <p:nvSpPr>
            <p:cNvPr id="153773" name="Rectangle 171"/>
            <p:cNvSpPr/>
            <p:nvPr/>
          </p:nvSpPr>
          <p:spPr>
            <a:xfrm>
              <a:off x="3380" y="2851"/>
              <a:ext cx="1890"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74" name="Line 172"/>
            <p:cNvSpPr/>
            <p:nvPr/>
          </p:nvSpPr>
          <p:spPr>
            <a:xfrm>
              <a:off x="3288" y="2851"/>
              <a:ext cx="1890" cy="0"/>
            </a:xfrm>
            <a:prstGeom prst="line">
              <a:avLst/>
            </a:prstGeom>
            <a:ln w="0" cap="flat" cmpd="sng">
              <a:solidFill>
                <a:srgbClr val="000000"/>
              </a:solidFill>
              <a:prstDash val="solid"/>
              <a:headEnd type="none" w="med" len="med"/>
              <a:tailEnd type="none" w="med" len="med"/>
            </a:ln>
          </p:spPr>
        </p:sp>
        <p:sp>
          <p:nvSpPr>
            <p:cNvPr id="153775" name="Rectangle 173"/>
            <p:cNvSpPr/>
            <p:nvPr/>
          </p:nvSpPr>
          <p:spPr>
            <a:xfrm>
              <a:off x="5270" y="2851"/>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76" name="Line 174"/>
            <p:cNvSpPr/>
            <p:nvPr/>
          </p:nvSpPr>
          <p:spPr>
            <a:xfrm>
              <a:off x="5270" y="2851"/>
              <a:ext cx="0" cy="3"/>
            </a:xfrm>
            <a:prstGeom prst="line">
              <a:avLst/>
            </a:prstGeom>
            <a:ln w="0" cap="flat" cmpd="sng">
              <a:solidFill>
                <a:srgbClr val="000000"/>
              </a:solidFill>
              <a:prstDash val="solid"/>
              <a:headEnd type="none" w="med" len="med"/>
              <a:tailEnd type="none" w="med" len="med"/>
            </a:ln>
          </p:spPr>
        </p:sp>
        <p:sp>
          <p:nvSpPr>
            <p:cNvPr id="153777" name="Rectangle 175"/>
            <p:cNvSpPr/>
            <p:nvPr/>
          </p:nvSpPr>
          <p:spPr>
            <a:xfrm>
              <a:off x="679" y="2854"/>
              <a:ext cx="2" cy="301"/>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78" name="Line 176"/>
            <p:cNvSpPr/>
            <p:nvPr/>
          </p:nvSpPr>
          <p:spPr>
            <a:xfrm>
              <a:off x="679" y="2854"/>
              <a:ext cx="0" cy="301"/>
            </a:xfrm>
            <a:prstGeom prst="line">
              <a:avLst/>
            </a:prstGeom>
            <a:ln w="0" cap="flat" cmpd="sng">
              <a:solidFill>
                <a:srgbClr val="000000"/>
              </a:solidFill>
              <a:prstDash val="solid"/>
              <a:headEnd type="none" w="med" len="med"/>
              <a:tailEnd type="none" w="med" len="med"/>
            </a:ln>
          </p:spPr>
        </p:sp>
        <p:sp>
          <p:nvSpPr>
            <p:cNvPr id="153779" name="Rectangle 177"/>
            <p:cNvSpPr/>
            <p:nvPr/>
          </p:nvSpPr>
          <p:spPr>
            <a:xfrm>
              <a:off x="679" y="3155"/>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80" name="Line 178"/>
            <p:cNvSpPr/>
            <p:nvPr/>
          </p:nvSpPr>
          <p:spPr>
            <a:xfrm>
              <a:off x="679" y="3155"/>
              <a:ext cx="2" cy="0"/>
            </a:xfrm>
            <a:prstGeom prst="line">
              <a:avLst/>
            </a:prstGeom>
            <a:ln w="0" cap="flat" cmpd="sng">
              <a:solidFill>
                <a:srgbClr val="000000"/>
              </a:solidFill>
              <a:prstDash val="solid"/>
              <a:headEnd type="none" w="med" len="med"/>
              <a:tailEnd type="none" w="med" len="med"/>
            </a:ln>
          </p:spPr>
        </p:sp>
        <p:sp>
          <p:nvSpPr>
            <p:cNvPr id="153781" name="Line 179"/>
            <p:cNvSpPr/>
            <p:nvPr/>
          </p:nvSpPr>
          <p:spPr>
            <a:xfrm>
              <a:off x="679" y="3155"/>
              <a:ext cx="0" cy="2"/>
            </a:xfrm>
            <a:prstGeom prst="line">
              <a:avLst/>
            </a:prstGeom>
            <a:ln w="0" cap="flat" cmpd="sng">
              <a:solidFill>
                <a:srgbClr val="000000"/>
              </a:solidFill>
              <a:prstDash val="solid"/>
              <a:headEnd type="none" w="med" len="med"/>
              <a:tailEnd type="none" w="med" len="med"/>
            </a:ln>
          </p:spPr>
        </p:sp>
        <p:sp>
          <p:nvSpPr>
            <p:cNvPr id="153782" name="Rectangle 180"/>
            <p:cNvSpPr/>
            <p:nvPr/>
          </p:nvSpPr>
          <p:spPr>
            <a:xfrm>
              <a:off x="679" y="3155"/>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83" name="Line 181"/>
            <p:cNvSpPr/>
            <p:nvPr/>
          </p:nvSpPr>
          <p:spPr>
            <a:xfrm>
              <a:off x="679" y="3155"/>
              <a:ext cx="2" cy="0"/>
            </a:xfrm>
            <a:prstGeom prst="line">
              <a:avLst/>
            </a:prstGeom>
            <a:ln w="0" cap="flat" cmpd="sng">
              <a:solidFill>
                <a:srgbClr val="000000"/>
              </a:solidFill>
              <a:prstDash val="solid"/>
              <a:headEnd type="none" w="med" len="med"/>
              <a:tailEnd type="none" w="med" len="med"/>
            </a:ln>
          </p:spPr>
        </p:sp>
        <p:sp>
          <p:nvSpPr>
            <p:cNvPr id="153784" name="Line 182"/>
            <p:cNvSpPr/>
            <p:nvPr/>
          </p:nvSpPr>
          <p:spPr>
            <a:xfrm>
              <a:off x="679" y="3155"/>
              <a:ext cx="0" cy="2"/>
            </a:xfrm>
            <a:prstGeom prst="line">
              <a:avLst/>
            </a:prstGeom>
            <a:ln w="0" cap="flat" cmpd="sng">
              <a:solidFill>
                <a:srgbClr val="000000"/>
              </a:solidFill>
              <a:prstDash val="solid"/>
              <a:headEnd type="none" w="med" len="med"/>
              <a:tailEnd type="none" w="med" len="med"/>
            </a:ln>
          </p:spPr>
        </p:sp>
        <p:sp>
          <p:nvSpPr>
            <p:cNvPr id="153785" name="Rectangle 183"/>
            <p:cNvSpPr/>
            <p:nvPr/>
          </p:nvSpPr>
          <p:spPr>
            <a:xfrm>
              <a:off x="681" y="3155"/>
              <a:ext cx="1425"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86" name="Line 184"/>
            <p:cNvSpPr/>
            <p:nvPr/>
          </p:nvSpPr>
          <p:spPr>
            <a:xfrm>
              <a:off x="681" y="3155"/>
              <a:ext cx="1425" cy="0"/>
            </a:xfrm>
            <a:prstGeom prst="line">
              <a:avLst/>
            </a:prstGeom>
            <a:ln w="0" cap="flat" cmpd="sng">
              <a:solidFill>
                <a:srgbClr val="000000"/>
              </a:solidFill>
              <a:prstDash val="solid"/>
              <a:headEnd type="none" w="med" len="med"/>
              <a:tailEnd type="none" w="med" len="med"/>
            </a:ln>
          </p:spPr>
        </p:sp>
        <p:sp>
          <p:nvSpPr>
            <p:cNvPr id="153787" name="Rectangle 185"/>
            <p:cNvSpPr/>
            <p:nvPr/>
          </p:nvSpPr>
          <p:spPr>
            <a:xfrm>
              <a:off x="2106" y="2854"/>
              <a:ext cx="1" cy="301"/>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88" name="Line 186"/>
            <p:cNvSpPr/>
            <p:nvPr/>
          </p:nvSpPr>
          <p:spPr>
            <a:xfrm>
              <a:off x="2106" y="2854"/>
              <a:ext cx="0" cy="301"/>
            </a:xfrm>
            <a:prstGeom prst="line">
              <a:avLst/>
            </a:prstGeom>
            <a:ln w="0" cap="flat" cmpd="sng">
              <a:solidFill>
                <a:srgbClr val="000000"/>
              </a:solidFill>
              <a:prstDash val="solid"/>
              <a:headEnd type="none" w="med" len="med"/>
              <a:tailEnd type="none" w="med" len="med"/>
            </a:ln>
          </p:spPr>
        </p:sp>
        <p:sp>
          <p:nvSpPr>
            <p:cNvPr id="153789" name="Rectangle 187"/>
            <p:cNvSpPr/>
            <p:nvPr/>
          </p:nvSpPr>
          <p:spPr>
            <a:xfrm>
              <a:off x="2106" y="3155"/>
              <a:ext cx="1"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90" name="Line 188"/>
            <p:cNvSpPr/>
            <p:nvPr/>
          </p:nvSpPr>
          <p:spPr>
            <a:xfrm>
              <a:off x="2106" y="3155"/>
              <a:ext cx="1" cy="0"/>
            </a:xfrm>
            <a:prstGeom prst="line">
              <a:avLst/>
            </a:prstGeom>
            <a:ln w="0" cap="flat" cmpd="sng">
              <a:solidFill>
                <a:srgbClr val="000000"/>
              </a:solidFill>
              <a:prstDash val="solid"/>
              <a:headEnd type="none" w="med" len="med"/>
              <a:tailEnd type="none" w="med" len="med"/>
            </a:ln>
          </p:spPr>
        </p:sp>
        <p:sp>
          <p:nvSpPr>
            <p:cNvPr id="153791" name="Line 189"/>
            <p:cNvSpPr/>
            <p:nvPr/>
          </p:nvSpPr>
          <p:spPr>
            <a:xfrm>
              <a:off x="2106" y="3155"/>
              <a:ext cx="0" cy="2"/>
            </a:xfrm>
            <a:prstGeom prst="line">
              <a:avLst/>
            </a:prstGeom>
            <a:ln w="0" cap="flat" cmpd="sng">
              <a:solidFill>
                <a:srgbClr val="000000"/>
              </a:solidFill>
              <a:prstDash val="solid"/>
              <a:headEnd type="none" w="med" len="med"/>
              <a:tailEnd type="none" w="med" len="med"/>
            </a:ln>
          </p:spPr>
        </p:sp>
        <p:sp>
          <p:nvSpPr>
            <p:cNvPr id="153792" name="Rectangle 190"/>
            <p:cNvSpPr/>
            <p:nvPr/>
          </p:nvSpPr>
          <p:spPr>
            <a:xfrm>
              <a:off x="2107" y="3155"/>
              <a:ext cx="1271"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93" name="Line 191"/>
            <p:cNvSpPr/>
            <p:nvPr/>
          </p:nvSpPr>
          <p:spPr>
            <a:xfrm>
              <a:off x="2107" y="3155"/>
              <a:ext cx="1271" cy="0"/>
            </a:xfrm>
            <a:prstGeom prst="line">
              <a:avLst/>
            </a:prstGeom>
            <a:ln w="0" cap="flat" cmpd="sng">
              <a:solidFill>
                <a:srgbClr val="000000"/>
              </a:solidFill>
              <a:prstDash val="solid"/>
              <a:headEnd type="none" w="med" len="med"/>
              <a:tailEnd type="none" w="med" len="med"/>
            </a:ln>
          </p:spPr>
        </p:sp>
        <p:sp>
          <p:nvSpPr>
            <p:cNvPr id="153794" name="Rectangle 192"/>
            <p:cNvSpPr/>
            <p:nvPr/>
          </p:nvSpPr>
          <p:spPr>
            <a:xfrm>
              <a:off x="3378" y="2854"/>
              <a:ext cx="2" cy="301"/>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95" name="Line 193"/>
            <p:cNvSpPr/>
            <p:nvPr/>
          </p:nvSpPr>
          <p:spPr>
            <a:xfrm>
              <a:off x="3378" y="2854"/>
              <a:ext cx="0" cy="301"/>
            </a:xfrm>
            <a:prstGeom prst="line">
              <a:avLst/>
            </a:prstGeom>
            <a:ln w="0" cap="flat" cmpd="sng">
              <a:solidFill>
                <a:srgbClr val="000000"/>
              </a:solidFill>
              <a:prstDash val="solid"/>
              <a:headEnd type="none" w="med" len="med"/>
              <a:tailEnd type="none" w="med" len="med"/>
            </a:ln>
          </p:spPr>
        </p:sp>
        <p:sp>
          <p:nvSpPr>
            <p:cNvPr id="153796" name="Rectangle 194"/>
            <p:cNvSpPr/>
            <p:nvPr/>
          </p:nvSpPr>
          <p:spPr>
            <a:xfrm>
              <a:off x="3378" y="3155"/>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797" name="Line 195"/>
            <p:cNvSpPr/>
            <p:nvPr/>
          </p:nvSpPr>
          <p:spPr>
            <a:xfrm>
              <a:off x="3378" y="3155"/>
              <a:ext cx="2" cy="0"/>
            </a:xfrm>
            <a:prstGeom prst="line">
              <a:avLst/>
            </a:prstGeom>
            <a:ln w="0" cap="flat" cmpd="sng">
              <a:solidFill>
                <a:srgbClr val="000000"/>
              </a:solidFill>
              <a:prstDash val="solid"/>
              <a:headEnd type="none" w="med" len="med"/>
              <a:tailEnd type="none" w="med" len="med"/>
            </a:ln>
          </p:spPr>
        </p:sp>
        <p:sp>
          <p:nvSpPr>
            <p:cNvPr id="153798" name="Line 196"/>
            <p:cNvSpPr/>
            <p:nvPr/>
          </p:nvSpPr>
          <p:spPr>
            <a:xfrm>
              <a:off x="3378" y="3155"/>
              <a:ext cx="0" cy="2"/>
            </a:xfrm>
            <a:prstGeom prst="line">
              <a:avLst/>
            </a:prstGeom>
            <a:ln w="0" cap="flat" cmpd="sng">
              <a:solidFill>
                <a:srgbClr val="000000"/>
              </a:solidFill>
              <a:prstDash val="solid"/>
              <a:headEnd type="none" w="med" len="med"/>
              <a:tailEnd type="none" w="med" len="med"/>
            </a:ln>
          </p:spPr>
        </p:sp>
        <p:sp>
          <p:nvSpPr>
            <p:cNvPr id="153799" name="Rectangle 197"/>
            <p:cNvSpPr/>
            <p:nvPr/>
          </p:nvSpPr>
          <p:spPr>
            <a:xfrm>
              <a:off x="3380" y="3155"/>
              <a:ext cx="1890"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800" name="Line 198"/>
            <p:cNvSpPr/>
            <p:nvPr/>
          </p:nvSpPr>
          <p:spPr>
            <a:xfrm>
              <a:off x="3380" y="3155"/>
              <a:ext cx="1890" cy="0"/>
            </a:xfrm>
            <a:prstGeom prst="line">
              <a:avLst/>
            </a:prstGeom>
            <a:ln w="0" cap="flat" cmpd="sng">
              <a:solidFill>
                <a:srgbClr val="000000"/>
              </a:solidFill>
              <a:prstDash val="solid"/>
              <a:headEnd type="none" w="med" len="med"/>
              <a:tailEnd type="none" w="med" len="med"/>
            </a:ln>
          </p:spPr>
        </p:sp>
        <p:sp>
          <p:nvSpPr>
            <p:cNvPr id="153801" name="Rectangle 199"/>
            <p:cNvSpPr/>
            <p:nvPr/>
          </p:nvSpPr>
          <p:spPr>
            <a:xfrm>
              <a:off x="5270" y="2854"/>
              <a:ext cx="2" cy="301"/>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802" name="Line 200"/>
            <p:cNvSpPr/>
            <p:nvPr/>
          </p:nvSpPr>
          <p:spPr>
            <a:xfrm>
              <a:off x="5270" y="2854"/>
              <a:ext cx="0" cy="301"/>
            </a:xfrm>
            <a:prstGeom prst="line">
              <a:avLst/>
            </a:prstGeom>
            <a:ln w="0" cap="flat" cmpd="sng">
              <a:solidFill>
                <a:srgbClr val="000000"/>
              </a:solidFill>
              <a:prstDash val="solid"/>
              <a:headEnd type="none" w="med" len="med"/>
              <a:tailEnd type="none" w="med" len="med"/>
            </a:ln>
          </p:spPr>
        </p:sp>
        <p:sp>
          <p:nvSpPr>
            <p:cNvPr id="153803" name="Rectangle 201"/>
            <p:cNvSpPr/>
            <p:nvPr/>
          </p:nvSpPr>
          <p:spPr>
            <a:xfrm>
              <a:off x="5270" y="3155"/>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804" name="Line 202"/>
            <p:cNvSpPr/>
            <p:nvPr/>
          </p:nvSpPr>
          <p:spPr>
            <a:xfrm>
              <a:off x="5270" y="3155"/>
              <a:ext cx="2" cy="0"/>
            </a:xfrm>
            <a:prstGeom prst="line">
              <a:avLst/>
            </a:prstGeom>
            <a:ln w="0" cap="flat" cmpd="sng">
              <a:solidFill>
                <a:srgbClr val="000000"/>
              </a:solidFill>
              <a:prstDash val="solid"/>
              <a:headEnd type="none" w="med" len="med"/>
              <a:tailEnd type="none" w="med" len="med"/>
            </a:ln>
          </p:spPr>
        </p:sp>
        <p:sp>
          <p:nvSpPr>
            <p:cNvPr id="153805" name="Line 203"/>
            <p:cNvSpPr/>
            <p:nvPr/>
          </p:nvSpPr>
          <p:spPr>
            <a:xfrm>
              <a:off x="5270" y="3155"/>
              <a:ext cx="0" cy="2"/>
            </a:xfrm>
            <a:prstGeom prst="line">
              <a:avLst/>
            </a:prstGeom>
            <a:ln w="0" cap="flat" cmpd="sng">
              <a:solidFill>
                <a:srgbClr val="000000"/>
              </a:solidFill>
              <a:prstDash val="solid"/>
              <a:headEnd type="none" w="med" len="med"/>
              <a:tailEnd type="none" w="med" len="med"/>
            </a:ln>
          </p:spPr>
        </p:sp>
      </p:grpSp>
      <p:sp>
        <p:nvSpPr>
          <p:cNvPr id="153604" name="Rectangle 204"/>
          <p:cNvSpPr/>
          <p:nvPr/>
        </p:nvSpPr>
        <p:spPr>
          <a:xfrm>
            <a:off x="8366125" y="5008563"/>
            <a:ext cx="3175" cy="3175"/>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3605" name="Line 205"/>
          <p:cNvSpPr/>
          <p:nvPr/>
        </p:nvSpPr>
        <p:spPr>
          <a:xfrm>
            <a:off x="8366125" y="5008563"/>
            <a:ext cx="3175" cy="0"/>
          </a:xfrm>
          <a:prstGeom prst="line">
            <a:avLst/>
          </a:prstGeom>
          <a:ln w="0" cap="flat" cmpd="sng">
            <a:solidFill>
              <a:srgbClr val="000000"/>
            </a:solidFill>
            <a:prstDash val="solid"/>
            <a:headEnd type="none" w="med" len="med"/>
            <a:tailEnd type="none" w="med" len="med"/>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320514"/>
                                        </p:tgtEl>
                                        <p:attrNameLst>
                                          <p:attrName>style.visibility</p:attrName>
                                        </p:attrNameLst>
                                      </p:cBhvr>
                                      <p:to>
                                        <p:strVal val="visible"/>
                                      </p:to>
                                    </p:set>
                                    <p:anim calcmode="lin" valueType="num">
                                      <p:cBhvr>
                                        <p:cTn id="7" dur="500" fill="hold"/>
                                        <p:tgtEl>
                                          <p:spTgt spid="320514"/>
                                        </p:tgtEl>
                                        <p:attrNameLst>
                                          <p:attrName>ppt_x</p:attrName>
                                        </p:attrNameLst>
                                      </p:cBhvr>
                                      <p:tavLst>
                                        <p:tav tm="0">
                                          <p:val>
                                            <p:strVal val="#ppt_x-#ppt_w/2"/>
                                          </p:val>
                                        </p:tav>
                                        <p:tav tm="100000">
                                          <p:val>
                                            <p:strVal val="#ppt_x"/>
                                          </p:val>
                                        </p:tav>
                                      </p:tavLst>
                                    </p:anim>
                                    <p:anim calcmode="lin" valueType="num">
                                      <p:cBhvr>
                                        <p:cTn id="8" dur="500" fill="hold"/>
                                        <p:tgtEl>
                                          <p:spTgt spid="320514"/>
                                        </p:tgtEl>
                                        <p:attrNameLst>
                                          <p:attrName>ppt_y</p:attrName>
                                        </p:attrNameLst>
                                      </p:cBhvr>
                                      <p:tavLst>
                                        <p:tav tm="0">
                                          <p:val>
                                            <p:strVal val="#ppt_y"/>
                                          </p:val>
                                        </p:tav>
                                        <p:tav tm="100000">
                                          <p:val>
                                            <p:strVal val="#ppt_y"/>
                                          </p:val>
                                        </p:tav>
                                      </p:tavLst>
                                    </p:anim>
                                    <p:anim calcmode="lin" valueType="num">
                                      <p:cBhvr>
                                        <p:cTn id="9" dur="500" fill="hold"/>
                                        <p:tgtEl>
                                          <p:spTgt spid="320514"/>
                                        </p:tgtEl>
                                        <p:attrNameLst>
                                          <p:attrName>ppt_w</p:attrName>
                                        </p:attrNameLst>
                                      </p:cBhvr>
                                      <p:tavLst>
                                        <p:tav tm="0">
                                          <p:val>
                                            <p:fltVal val="0.000000"/>
                                          </p:val>
                                        </p:tav>
                                        <p:tav tm="100000">
                                          <p:val>
                                            <p:strVal val="#ppt_w"/>
                                          </p:val>
                                        </p:tav>
                                      </p:tavLst>
                                    </p:anim>
                                    <p:anim calcmode="lin" valueType="num">
                                      <p:cBhvr>
                                        <p:cTn id="10" dur="500" fill="hold"/>
                                        <p:tgtEl>
                                          <p:spTgt spid="320514"/>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checkerboard(across)">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4"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42" name="Rectangle 2">
            <a:hlinkClick r:id="rId1" action="ppaction://hlinksldjump"/>
          </p:cNvPr>
          <p:cNvSpPr/>
          <p:nvPr/>
        </p:nvSpPr>
        <p:spPr>
          <a:xfrm>
            <a:off x="860425" y="1585913"/>
            <a:ext cx="7707313" cy="534987"/>
          </a:xfrm>
          <a:prstGeom prst="rect">
            <a:avLst/>
          </a:prstGeom>
          <a:noFill/>
          <a:ln w="9525">
            <a:noFill/>
          </a:ln>
        </p:spPr>
        <p:txBody>
          <a:bodyPr wrap="none">
            <a:spAutoFit/>
          </a:bodyPr>
          <a:p>
            <a:pPr>
              <a:lnSpc>
                <a:spcPct val="90000"/>
              </a:lnSpc>
              <a:spcBef>
                <a:spcPct val="20000"/>
              </a:spcBef>
              <a:buFont typeface="Wingdings" panose="05000000000000000000" pitchFamily="2" charset="2"/>
            </a:pPr>
            <a:r>
              <a:rPr lang="zh-CN" altLang="en-US" sz="3200" b="1" dirty="0">
                <a:solidFill>
                  <a:srgbClr val="6600CC"/>
                </a:solidFill>
                <a:latin typeface="宋体" panose="02010600030101010101" pitchFamily="2" charset="-122"/>
                <a:ea typeface="宋体" panose="02010600030101010101" pitchFamily="2" charset="-122"/>
              </a:rPr>
              <a:t>（</a:t>
            </a:r>
            <a:r>
              <a:rPr lang="en-US" altLang="zh-CN" sz="3200" b="1" dirty="0">
                <a:solidFill>
                  <a:srgbClr val="6600CC"/>
                </a:solidFill>
                <a:latin typeface="宋体" panose="02010600030101010101" pitchFamily="2" charset="-122"/>
                <a:ea typeface="宋体" panose="02010600030101010101" pitchFamily="2" charset="-122"/>
              </a:rPr>
              <a:t>4</a:t>
            </a:r>
            <a:r>
              <a:rPr lang="zh-CN" altLang="en-US" sz="3200" b="1" dirty="0">
                <a:solidFill>
                  <a:srgbClr val="6600CC"/>
                </a:solidFill>
                <a:latin typeface="宋体" panose="02010600030101010101" pitchFamily="2" charset="-122"/>
                <a:ea typeface="宋体" panose="02010600030101010101" pitchFamily="2" charset="-122"/>
              </a:rPr>
              <a:t>）</a:t>
            </a:r>
            <a:r>
              <a:rPr lang="zh-CN" altLang="en-US" sz="2800" b="1" dirty="0">
                <a:solidFill>
                  <a:srgbClr val="6600CC"/>
                </a:solidFill>
                <a:latin typeface="宋体" panose="02010600030101010101" pitchFamily="2" charset="-122"/>
                <a:ea typeface="宋体" panose="02010600030101010101" pitchFamily="2" charset="-122"/>
              </a:rPr>
              <a:t>以两个有符号数比较的结果作为转移条件</a:t>
            </a:r>
            <a:endParaRPr lang="zh-CN" altLang="en-US" sz="2800" b="1" dirty="0">
              <a:solidFill>
                <a:srgbClr val="6600CC"/>
              </a:solidFill>
              <a:latin typeface="宋体" panose="02010600030101010101" pitchFamily="2" charset="-122"/>
              <a:ea typeface="宋体" panose="02010600030101010101" pitchFamily="2" charset="-122"/>
            </a:endParaRPr>
          </a:p>
        </p:txBody>
      </p:sp>
      <p:grpSp>
        <p:nvGrpSpPr>
          <p:cNvPr id="2" name="Group 3"/>
          <p:cNvGrpSpPr/>
          <p:nvPr/>
        </p:nvGrpSpPr>
        <p:grpSpPr>
          <a:xfrm>
            <a:off x="1038225" y="2743200"/>
            <a:ext cx="7296150" cy="2238375"/>
            <a:chOff x="654" y="1728"/>
            <a:chExt cx="4596" cy="1410"/>
          </a:xfrm>
        </p:grpSpPr>
        <p:grpSp>
          <p:nvGrpSpPr>
            <p:cNvPr id="154628" name="Group 4"/>
            <p:cNvGrpSpPr/>
            <p:nvPr/>
          </p:nvGrpSpPr>
          <p:grpSpPr>
            <a:xfrm>
              <a:off x="654" y="1728"/>
              <a:ext cx="4596" cy="1410"/>
              <a:chOff x="654" y="1728"/>
              <a:chExt cx="4596" cy="1410"/>
            </a:xfrm>
          </p:grpSpPr>
          <p:sp>
            <p:nvSpPr>
              <p:cNvPr id="154651" name="Rectangle 5"/>
              <p:cNvSpPr/>
              <p:nvPr/>
            </p:nvSpPr>
            <p:spPr>
              <a:xfrm>
                <a:off x="912" y="1784"/>
                <a:ext cx="531"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助记符</a:t>
                </a:r>
                <a:endParaRPr lang="zh-CN" altLang="en-US" sz="2200" b="1" dirty="0">
                  <a:latin typeface="宋体" panose="02010600030101010101" pitchFamily="2" charset="-122"/>
                  <a:ea typeface="宋体" panose="02010600030101010101" pitchFamily="2" charset="-122"/>
                </a:endParaRPr>
              </a:p>
            </p:txBody>
          </p:sp>
          <p:sp>
            <p:nvSpPr>
              <p:cNvPr id="154652" name="Rectangle 6"/>
              <p:cNvSpPr/>
              <p:nvPr/>
            </p:nvSpPr>
            <p:spPr>
              <a:xfrm>
                <a:off x="1426" y="1779"/>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FF"/>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4653" name="Rectangle 7"/>
              <p:cNvSpPr/>
              <p:nvPr/>
            </p:nvSpPr>
            <p:spPr>
              <a:xfrm>
                <a:off x="2199" y="1784"/>
                <a:ext cx="708"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转移条件</a:t>
                </a:r>
                <a:endParaRPr lang="zh-CN" altLang="en-US" sz="2200" b="1" dirty="0">
                  <a:latin typeface="宋体" panose="02010600030101010101" pitchFamily="2" charset="-122"/>
                  <a:ea typeface="宋体" panose="02010600030101010101" pitchFamily="2" charset="-122"/>
                </a:endParaRPr>
              </a:p>
            </p:txBody>
          </p:sp>
          <p:sp>
            <p:nvSpPr>
              <p:cNvPr id="154654" name="Rectangle 8"/>
              <p:cNvSpPr/>
              <p:nvPr/>
            </p:nvSpPr>
            <p:spPr>
              <a:xfrm>
                <a:off x="2884" y="1779"/>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4655" name="Rectangle 9"/>
              <p:cNvSpPr/>
              <p:nvPr/>
            </p:nvSpPr>
            <p:spPr>
              <a:xfrm>
                <a:off x="4324" y="1766"/>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4656" name="Rectangle 10"/>
              <p:cNvSpPr/>
              <p:nvPr/>
            </p:nvSpPr>
            <p:spPr>
              <a:xfrm>
                <a:off x="654" y="1728"/>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57" name="Line 11"/>
              <p:cNvSpPr/>
              <p:nvPr/>
            </p:nvSpPr>
            <p:spPr>
              <a:xfrm>
                <a:off x="654" y="1728"/>
                <a:ext cx="2" cy="0"/>
              </a:xfrm>
              <a:prstGeom prst="line">
                <a:avLst/>
              </a:prstGeom>
              <a:ln w="0" cap="flat" cmpd="sng">
                <a:solidFill>
                  <a:srgbClr val="000000"/>
                </a:solidFill>
                <a:prstDash val="solid"/>
                <a:headEnd type="none" w="med" len="med"/>
                <a:tailEnd type="none" w="med" len="med"/>
              </a:ln>
            </p:spPr>
          </p:sp>
          <p:sp>
            <p:nvSpPr>
              <p:cNvPr id="154658" name="Line 12"/>
              <p:cNvSpPr/>
              <p:nvPr/>
            </p:nvSpPr>
            <p:spPr>
              <a:xfrm>
                <a:off x="654" y="1728"/>
                <a:ext cx="0" cy="2"/>
              </a:xfrm>
              <a:prstGeom prst="line">
                <a:avLst/>
              </a:prstGeom>
              <a:ln w="0" cap="flat" cmpd="sng">
                <a:solidFill>
                  <a:srgbClr val="000000"/>
                </a:solidFill>
                <a:prstDash val="solid"/>
                <a:headEnd type="none" w="med" len="med"/>
                <a:tailEnd type="none" w="med" len="med"/>
              </a:ln>
            </p:spPr>
          </p:sp>
          <p:sp>
            <p:nvSpPr>
              <p:cNvPr id="154659" name="Rectangle 13"/>
              <p:cNvSpPr/>
              <p:nvPr/>
            </p:nvSpPr>
            <p:spPr>
              <a:xfrm>
                <a:off x="654" y="1728"/>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60" name="Line 14"/>
              <p:cNvSpPr/>
              <p:nvPr/>
            </p:nvSpPr>
            <p:spPr>
              <a:xfrm>
                <a:off x="654" y="1728"/>
                <a:ext cx="2" cy="0"/>
              </a:xfrm>
              <a:prstGeom prst="line">
                <a:avLst/>
              </a:prstGeom>
              <a:ln w="0" cap="flat" cmpd="sng">
                <a:solidFill>
                  <a:srgbClr val="000000"/>
                </a:solidFill>
                <a:prstDash val="solid"/>
                <a:headEnd type="none" w="med" len="med"/>
                <a:tailEnd type="none" w="med" len="med"/>
              </a:ln>
            </p:spPr>
          </p:sp>
          <p:sp>
            <p:nvSpPr>
              <p:cNvPr id="154661" name="Line 15"/>
              <p:cNvSpPr/>
              <p:nvPr/>
            </p:nvSpPr>
            <p:spPr>
              <a:xfrm>
                <a:off x="654" y="1728"/>
                <a:ext cx="0" cy="2"/>
              </a:xfrm>
              <a:prstGeom prst="line">
                <a:avLst/>
              </a:prstGeom>
              <a:ln w="0" cap="flat" cmpd="sng">
                <a:solidFill>
                  <a:srgbClr val="000000"/>
                </a:solidFill>
                <a:prstDash val="solid"/>
                <a:headEnd type="none" w="med" len="med"/>
                <a:tailEnd type="none" w="med" len="med"/>
              </a:ln>
            </p:spPr>
          </p:sp>
          <p:sp>
            <p:nvSpPr>
              <p:cNvPr id="154662" name="Rectangle 16"/>
              <p:cNvSpPr/>
              <p:nvPr/>
            </p:nvSpPr>
            <p:spPr>
              <a:xfrm>
                <a:off x="656" y="1728"/>
                <a:ext cx="1026"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63" name="Line 17"/>
              <p:cNvSpPr/>
              <p:nvPr/>
            </p:nvSpPr>
            <p:spPr>
              <a:xfrm>
                <a:off x="656" y="1728"/>
                <a:ext cx="1026" cy="0"/>
              </a:xfrm>
              <a:prstGeom prst="line">
                <a:avLst/>
              </a:prstGeom>
              <a:ln w="0" cap="flat" cmpd="sng">
                <a:solidFill>
                  <a:srgbClr val="000000"/>
                </a:solidFill>
                <a:prstDash val="solid"/>
                <a:headEnd type="none" w="med" len="med"/>
                <a:tailEnd type="none" w="med" len="med"/>
              </a:ln>
            </p:spPr>
          </p:sp>
          <p:sp>
            <p:nvSpPr>
              <p:cNvPr id="154664" name="Rectangle 18"/>
              <p:cNvSpPr/>
              <p:nvPr/>
            </p:nvSpPr>
            <p:spPr>
              <a:xfrm>
                <a:off x="1682" y="1728"/>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65" name="Line 19"/>
              <p:cNvSpPr/>
              <p:nvPr/>
            </p:nvSpPr>
            <p:spPr>
              <a:xfrm>
                <a:off x="1682" y="1728"/>
                <a:ext cx="2" cy="0"/>
              </a:xfrm>
              <a:prstGeom prst="line">
                <a:avLst/>
              </a:prstGeom>
              <a:ln w="0" cap="flat" cmpd="sng">
                <a:solidFill>
                  <a:srgbClr val="000000"/>
                </a:solidFill>
                <a:prstDash val="solid"/>
                <a:headEnd type="none" w="med" len="med"/>
                <a:tailEnd type="none" w="med" len="med"/>
              </a:ln>
            </p:spPr>
          </p:sp>
          <p:sp>
            <p:nvSpPr>
              <p:cNvPr id="154666" name="Line 20"/>
              <p:cNvSpPr/>
              <p:nvPr/>
            </p:nvSpPr>
            <p:spPr>
              <a:xfrm>
                <a:off x="1682" y="1728"/>
                <a:ext cx="0" cy="2"/>
              </a:xfrm>
              <a:prstGeom prst="line">
                <a:avLst/>
              </a:prstGeom>
              <a:ln w="0" cap="flat" cmpd="sng">
                <a:solidFill>
                  <a:srgbClr val="000000"/>
                </a:solidFill>
                <a:prstDash val="solid"/>
                <a:headEnd type="none" w="med" len="med"/>
                <a:tailEnd type="none" w="med" len="med"/>
              </a:ln>
            </p:spPr>
          </p:sp>
          <p:sp>
            <p:nvSpPr>
              <p:cNvPr id="154667" name="Rectangle 21"/>
              <p:cNvSpPr/>
              <p:nvPr/>
            </p:nvSpPr>
            <p:spPr>
              <a:xfrm>
                <a:off x="1684" y="1728"/>
                <a:ext cx="1715"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68" name="Line 22"/>
              <p:cNvSpPr/>
              <p:nvPr/>
            </p:nvSpPr>
            <p:spPr>
              <a:xfrm>
                <a:off x="1684" y="1728"/>
                <a:ext cx="1715" cy="0"/>
              </a:xfrm>
              <a:prstGeom prst="line">
                <a:avLst/>
              </a:prstGeom>
              <a:ln w="0" cap="flat" cmpd="sng">
                <a:solidFill>
                  <a:srgbClr val="000000"/>
                </a:solidFill>
                <a:prstDash val="solid"/>
                <a:headEnd type="none" w="med" len="med"/>
                <a:tailEnd type="none" w="med" len="med"/>
              </a:ln>
            </p:spPr>
          </p:sp>
          <p:sp>
            <p:nvSpPr>
              <p:cNvPr id="154669" name="Rectangle 23"/>
              <p:cNvSpPr/>
              <p:nvPr/>
            </p:nvSpPr>
            <p:spPr>
              <a:xfrm>
                <a:off x="3399" y="1728"/>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70" name="Line 24"/>
              <p:cNvSpPr/>
              <p:nvPr/>
            </p:nvSpPr>
            <p:spPr>
              <a:xfrm>
                <a:off x="3399" y="1728"/>
                <a:ext cx="2" cy="0"/>
              </a:xfrm>
              <a:prstGeom prst="line">
                <a:avLst/>
              </a:prstGeom>
              <a:ln w="0" cap="flat" cmpd="sng">
                <a:solidFill>
                  <a:srgbClr val="000000"/>
                </a:solidFill>
                <a:prstDash val="solid"/>
                <a:headEnd type="none" w="med" len="med"/>
                <a:tailEnd type="none" w="med" len="med"/>
              </a:ln>
            </p:spPr>
          </p:sp>
          <p:sp>
            <p:nvSpPr>
              <p:cNvPr id="154671" name="Line 25"/>
              <p:cNvSpPr/>
              <p:nvPr/>
            </p:nvSpPr>
            <p:spPr>
              <a:xfrm>
                <a:off x="3399" y="1728"/>
                <a:ext cx="0" cy="2"/>
              </a:xfrm>
              <a:prstGeom prst="line">
                <a:avLst/>
              </a:prstGeom>
              <a:ln w="0" cap="flat" cmpd="sng">
                <a:solidFill>
                  <a:srgbClr val="000000"/>
                </a:solidFill>
                <a:prstDash val="solid"/>
                <a:headEnd type="none" w="med" len="med"/>
                <a:tailEnd type="none" w="med" len="med"/>
              </a:ln>
            </p:spPr>
          </p:sp>
          <p:sp>
            <p:nvSpPr>
              <p:cNvPr id="154672" name="Rectangle 26"/>
              <p:cNvSpPr/>
              <p:nvPr/>
            </p:nvSpPr>
            <p:spPr>
              <a:xfrm>
                <a:off x="3401" y="1728"/>
                <a:ext cx="1847"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73" name="Line 27"/>
              <p:cNvSpPr/>
              <p:nvPr/>
            </p:nvSpPr>
            <p:spPr>
              <a:xfrm>
                <a:off x="3401" y="1728"/>
                <a:ext cx="1847" cy="0"/>
              </a:xfrm>
              <a:prstGeom prst="line">
                <a:avLst/>
              </a:prstGeom>
              <a:ln w="0" cap="flat" cmpd="sng">
                <a:solidFill>
                  <a:srgbClr val="000000"/>
                </a:solidFill>
                <a:prstDash val="solid"/>
                <a:headEnd type="none" w="med" len="med"/>
                <a:tailEnd type="none" w="med" len="med"/>
              </a:ln>
            </p:spPr>
          </p:sp>
          <p:sp>
            <p:nvSpPr>
              <p:cNvPr id="154674" name="Rectangle 28"/>
              <p:cNvSpPr/>
              <p:nvPr/>
            </p:nvSpPr>
            <p:spPr>
              <a:xfrm>
                <a:off x="5248" y="1728"/>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75" name="Line 29"/>
              <p:cNvSpPr/>
              <p:nvPr/>
            </p:nvSpPr>
            <p:spPr>
              <a:xfrm>
                <a:off x="5248" y="1728"/>
                <a:ext cx="2" cy="0"/>
              </a:xfrm>
              <a:prstGeom prst="line">
                <a:avLst/>
              </a:prstGeom>
              <a:ln w="0" cap="flat" cmpd="sng">
                <a:solidFill>
                  <a:srgbClr val="000000"/>
                </a:solidFill>
                <a:prstDash val="solid"/>
                <a:headEnd type="none" w="med" len="med"/>
                <a:tailEnd type="none" w="med" len="med"/>
              </a:ln>
            </p:spPr>
          </p:sp>
          <p:sp>
            <p:nvSpPr>
              <p:cNvPr id="154676" name="Line 30"/>
              <p:cNvSpPr/>
              <p:nvPr/>
            </p:nvSpPr>
            <p:spPr>
              <a:xfrm>
                <a:off x="5248" y="1728"/>
                <a:ext cx="0" cy="2"/>
              </a:xfrm>
              <a:prstGeom prst="line">
                <a:avLst/>
              </a:prstGeom>
              <a:ln w="0" cap="flat" cmpd="sng">
                <a:solidFill>
                  <a:srgbClr val="000000"/>
                </a:solidFill>
                <a:prstDash val="solid"/>
                <a:headEnd type="none" w="med" len="med"/>
                <a:tailEnd type="none" w="med" len="med"/>
              </a:ln>
            </p:spPr>
          </p:sp>
          <p:sp>
            <p:nvSpPr>
              <p:cNvPr id="154677" name="Rectangle 31"/>
              <p:cNvSpPr/>
              <p:nvPr/>
            </p:nvSpPr>
            <p:spPr>
              <a:xfrm>
                <a:off x="5248" y="1728"/>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78" name="Line 32"/>
              <p:cNvSpPr/>
              <p:nvPr/>
            </p:nvSpPr>
            <p:spPr>
              <a:xfrm>
                <a:off x="5248" y="1728"/>
                <a:ext cx="2" cy="0"/>
              </a:xfrm>
              <a:prstGeom prst="line">
                <a:avLst/>
              </a:prstGeom>
              <a:ln w="0" cap="flat" cmpd="sng">
                <a:solidFill>
                  <a:srgbClr val="000000"/>
                </a:solidFill>
                <a:prstDash val="solid"/>
                <a:headEnd type="none" w="med" len="med"/>
                <a:tailEnd type="none" w="med" len="med"/>
              </a:ln>
            </p:spPr>
          </p:sp>
          <p:sp>
            <p:nvSpPr>
              <p:cNvPr id="154679" name="Line 33"/>
              <p:cNvSpPr/>
              <p:nvPr/>
            </p:nvSpPr>
            <p:spPr>
              <a:xfrm>
                <a:off x="5248" y="1728"/>
                <a:ext cx="0" cy="2"/>
              </a:xfrm>
              <a:prstGeom prst="line">
                <a:avLst/>
              </a:prstGeom>
              <a:ln w="0" cap="flat" cmpd="sng">
                <a:solidFill>
                  <a:srgbClr val="000000"/>
                </a:solidFill>
                <a:prstDash val="solid"/>
                <a:headEnd type="none" w="med" len="med"/>
                <a:tailEnd type="none" w="med" len="med"/>
              </a:ln>
            </p:spPr>
          </p:sp>
          <p:sp>
            <p:nvSpPr>
              <p:cNvPr id="154680" name="Rectangle 34"/>
              <p:cNvSpPr/>
              <p:nvPr/>
            </p:nvSpPr>
            <p:spPr>
              <a:xfrm>
                <a:off x="654" y="1730"/>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81" name="Line 35"/>
              <p:cNvSpPr/>
              <p:nvPr/>
            </p:nvSpPr>
            <p:spPr>
              <a:xfrm>
                <a:off x="654" y="1730"/>
                <a:ext cx="0" cy="279"/>
              </a:xfrm>
              <a:prstGeom prst="line">
                <a:avLst/>
              </a:prstGeom>
              <a:ln w="0" cap="flat" cmpd="sng">
                <a:solidFill>
                  <a:srgbClr val="000000"/>
                </a:solidFill>
                <a:prstDash val="solid"/>
                <a:headEnd type="none" w="med" len="med"/>
                <a:tailEnd type="none" w="med" len="med"/>
              </a:ln>
            </p:spPr>
          </p:sp>
          <p:sp>
            <p:nvSpPr>
              <p:cNvPr id="154682" name="Rectangle 36"/>
              <p:cNvSpPr/>
              <p:nvPr/>
            </p:nvSpPr>
            <p:spPr>
              <a:xfrm>
                <a:off x="1682" y="1730"/>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83" name="Line 37"/>
              <p:cNvSpPr/>
              <p:nvPr/>
            </p:nvSpPr>
            <p:spPr>
              <a:xfrm>
                <a:off x="1682" y="1730"/>
                <a:ext cx="0" cy="279"/>
              </a:xfrm>
              <a:prstGeom prst="line">
                <a:avLst/>
              </a:prstGeom>
              <a:ln w="0" cap="flat" cmpd="sng">
                <a:solidFill>
                  <a:srgbClr val="000000"/>
                </a:solidFill>
                <a:prstDash val="solid"/>
                <a:headEnd type="none" w="med" len="med"/>
                <a:tailEnd type="none" w="med" len="med"/>
              </a:ln>
            </p:spPr>
          </p:sp>
          <p:sp>
            <p:nvSpPr>
              <p:cNvPr id="154684" name="Rectangle 38"/>
              <p:cNvSpPr/>
              <p:nvPr/>
            </p:nvSpPr>
            <p:spPr>
              <a:xfrm>
                <a:off x="3399" y="1730"/>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85" name="Line 39"/>
              <p:cNvSpPr/>
              <p:nvPr/>
            </p:nvSpPr>
            <p:spPr>
              <a:xfrm>
                <a:off x="3399" y="1730"/>
                <a:ext cx="0" cy="279"/>
              </a:xfrm>
              <a:prstGeom prst="line">
                <a:avLst/>
              </a:prstGeom>
              <a:ln w="0" cap="flat" cmpd="sng">
                <a:solidFill>
                  <a:srgbClr val="000000"/>
                </a:solidFill>
                <a:prstDash val="solid"/>
                <a:headEnd type="none" w="med" len="med"/>
                <a:tailEnd type="none" w="med" len="med"/>
              </a:ln>
            </p:spPr>
          </p:sp>
          <p:sp>
            <p:nvSpPr>
              <p:cNvPr id="154686" name="Rectangle 40"/>
              <p:cNvSpPr/>
              <p:nvPr/>
            </p:nvSpPr>
            <p:spPr>
              <a:xfrm>
                <a:off x="5248" y="1730"/>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87" name="Line 41"/>
              <p:cNvSpPr/>
              <p:nvPr/>
            </p:nvSpPr>
            <p:spPr>
              <a:xfrm>
                <a:off x="5248" y="1730"/>
                <a:ext cx="0" cy="279"/>
              </a:xfrm>
              <a:prstGeom prst="line">
                <a:avLst/>
              </a:prstGeom>
              <a:ln w="0" cap="flat" cmpd="sng">
                <a:solidFill>
                  <a:srgbClr val="000000"/>
                </a:solidFill>
                <a:prstDash val="solid"/>
                <a:headEnd type="none" w="med" len="med"/>
                <a:tailEnd type="none" w="med" len="med"/>
              </a:ln>
            </p:spPr>
          </p:sp>
          <p:sp>
            <p:nvSpPr>
              <p:cNvPr id="154688" name="Rectangle 42"/>
              <p:cNvSpPr/>
              <p:nvPr/>
            </p:nvSpPr>
            <p:spPr>
              <a:xfrm>
                <a:off x="799" y="2061"/>
                <a:ext cx="178"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JG</a:t>
                </a:r>
                <a:endParaRPr lang="en-US" altLang="zh-CN" sz="2200" b="1" dirty="0">
                  <a:latin typeface="宋体" panose="02010600030101010101" pitchFamily="2" charset="-122"/>
                  <a:ea typeface="宋体" panose="02010600030101010101" pitchFamily="2" charset="-122"/>
                </a:endParaRPr>
              </a:p>
            </p:txBody>
          </p:sp>
          <p:sp>
            <p:nvSpPr>
              <p:cNvPr id="154689" name="Rectangle 43"/>
              <p:cNvSpPr/>
              <p:nvPr/>
            </p:nvSpPr>
            <p:spPr>
              <a:xfrm>
                <a:off x="1017" y="2066"/>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
            <p:nvSpPr>
              <p:cNvPr id="154690" name="Rectangle 44"/>
              <p:cNvSpPr/>
              <p:nvPr/>
            </p:nvSpPr>
            <p:spPr>
              <a:xfrm>
                <a:off x="1102" y="2061"/>
                <a:ext cx="356"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JNLE</a:t>
                </a:r>
                <a:endParaRPr lang="en-US" altLang="zh-CN" sz="2200" b="1" dirty="0">
                  <a:latin typeface="宋体" panose="02010600030101010101" pitchFamily="2" charset="-122"/>
                  <a:ea typeface="宋体" panose="02010600030101010101" pitchFamily="2" charset="-122"/>
                </a:endParaRPr>
              </a:p>
            </p:txBody>
          </p:sp>
          <p:sp>
            <p:nvSpPr>
              <p:cNvPr id="154691" name="Rectangle 45"/>
              <p:cNvSpPr/>
              <p:nvPr/>
            </p:nvSpPr>
            <p:spPr>
              <a:xfrm>
                <a:off x="1539" y="2061"/>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FF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4692" name="Rectangle 46"/>
              <p:cNvSpPr/>
              <p:nvPr/>
            </p:nvSpPr>
            <p:spPr>
              <a:xfrm>
                <a:off x="1781" y="2066"/>
                <a:ext cx="177"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
            <p:nvSpPr>
              <p:cNvPr id="154693" name="Rectangle 47"/>
              <p:cNvSpPr/>
              <p:nvPr/>
            </p:nvSpPr>
            <p:spPr>
              <a:xfrm>
                <a:off x="1952" y="2061"/>
                <a:ext cx="178"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SF</a:t>
                </a:r>
                <a:endParaRPr lang="en-US" altLang="zh-CN" sz="2200" b="1" dirty="0">
                  <a:latin typeface="宋体" panose="02010600030101010101" pitchFamily="2" charset="-122"/>
                  <a:ea typeface="宋体" panose="02010600030101010101" pitchFamily="2" charset="-122"/>
                </a:endParaRPr>
              </a:p>
            </p:txBody>
          </p:sp>
          <p:sp>
            <p:nvSpPr>
              <p:cNvPr id="154694" name="Rectangle 48"/>
              <p:cNvSpPr/>
              <p:nvPr/>
            </p:nvSpPr>
            <p:spPr>
              <a:xfrm>
                <a:off x="2151" y="2066"/>
                <a:ext cx="177"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
            <p:nvSpPr>
              <p:cNvPr id="154695" name="Rectangle 49"/>
              <p:cNvSpPr/>
              <p:nvPr/>
            </p:nvSpPr>
            <p:spPr>
              <a:xfrm>
                <a:off x="2322" y="2061"/>
                <a:ext cx="178"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OF</a:t>
                </a:r>
                <a:endParaRPr lang="en-US" altLang="zh-CN" sz="2200" b="1" dirty="0">
                  <a:latin typeface="宋体" panose="02010600030101010101" pitchFamily="2" charset="-122"/>
                  <a:ea typeface="宋体" panose="02010600030101010101" pitchFamily="2" charset="-122"/>
                </a:endParaRPr>
              </a:p>
            </p:txBody>
          </p:sp>
          <p:sp>
            <p:nvSpPr>
              <p:cNvPr id="154696" name="Rectangle 50"/>
              <p:cNvSpPr/>
              <p:nvPr/>
            </p:nvSpPr>
            <p:spPr>
              <a:xfrm>
                <a:off x="2559" y="2066"/>
                <a:ext cx="177"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
            <p:nvSpPr>
              <p:cNvPr id="154697" name="Rectangle 51"/>
              <p:cNvSpPr/>
              <p:nvPr/>
            </p:nvSpPr>
            <p:spPr>
              <a:xfrm>
                <a:off x="2730" y="2066"/>
                <a:ext cx="177"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
            <p:nvSpPr>
              <p:cNvPr id="154698" name="Rectangle 52"/>
              <p:cNvSpPr/>
              <p:nvPr/>
            </p:nvSpPr>
            <p:spPr>
              <a:xfrm>
                <a:off x="2902" y="2061"/>
                <a:ext cx="356"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ZF=0</a:t>
                </a:r>
                <a:endParaRPr lang="en-US" altLang="zh-CN" sz="2200" b="1" dirty="0">
                  <a:latin typeface="宋体" panose="02010600030101010101" pitchFamily="2" charset="-122"/>
                  <a:ea typeface="宋体" panose="02010600030101010101" pitchFamily="2" charset="-122"/>
                </a:endParaRPr>
              </a:p>
            </p:txBody>
          </p:sp>
          <p:sp>
            <p:nvSpPr>
              <p:cNvPr id="154699" name="Rectangle 53"/>
              <p:cNvSpPr/>
              <p:nvPr/>
            </p:nvSpPr>
            <p:spPr>
              <a:xfrm>
                <a:off x="3302" y="2061"/>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4700" name="Rectangle 54"/>
              <p:cNvSpPr/>
              <p:nvPr/>
            </p:nvSpPr>
            <p:spPr>
              <a:xfrm>
                <a:off x="3682" y="2066"/>
                <a:ext cx="354"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大于</a:t>
                </a:r>
                <a:endParaRPr lang="zh-CN" altLang="en-US" sz="2200" b="1" dirty="0">
                  <a:latin typeface="宋体" panose="02010600030101010101" pitchFamily="2" charset="-122"/>
                  <a:ea typeface="宋体" panose="02010600030101010101" pitchFamily="2" charset="-122"/>
                </a:endParaRPr>
              </a:p>
            </p:txBody>
          </p:sp>
          <p:sp>
            <p:nvSpPr>
              <p:cNvPr id="154701" name="Rectangle 55"/>
              <p:cNvSpPr/>
              <p:nvPr/>
            </p:nvSpPr>
            <p:spPr>
              <a:xfrm>
                <a:off x="4025" y="2066"/>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FF"/>
                    </a:solidFill>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
            <p:nvSpPr>
              <p:cNvPr id="154702" name="Rectangle 56"/>
              <p:cNvSpPr/>
              <p:nvPr/>
            </p:nvSpPr>
            <p:spPr>
              <a:xfrm>
                <a:off x="4110" y="2066"/>
                <a:ext cx="885"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不小于等于</a:t>
                </a:r>
                <a:endParaRPr lang="zh-CN" altLang="en-US" sz="2200" b="1" dirty="0">
                  <a:latin typeface="宋体" panose="02010600030101010101" pitchFamily="2" charset="-122"/>
                  <a:ea typeface="宋体" panose="02010600030101010101" pitchFamily="2" charset="-122"/>
                </a:endParaRPr>
              </a:p>
            </p:txBody>
          </p:sp>
          <p:sp>
            <p:nvSpPr>
              <p:cNvPr id="154703" name="Rectangle 57"/>
              <p:cNvSpPr/>
              <p:nvPr/>
            </p:nvSpPr>
            <p:spPr>
              <a:xfrm>
                <a:off x="4966" y="2061"/>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4704" name="Rectangle 58"/>
              <p:cNvSpPr/>
              <p:nvPr/>
            </p:nvSpPr>
            <p:spPr>
              <a:xfrm>
                <a:off x="654" y="2009"/>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05" name="Line 59"/>
              <p:cNvSpPr/>
              <p:nvPr/>
            </p:nvSpPr>
            <p:spPr>
              <a:xfrm>
                <a:off x="654" y="2009"/>
                <a:ext cx="2" cy="0"/>
              </a:xfrm>
              <a:prstGeom prst="line">
                <a:avLst/>
              </a:prstGeom>
              <a:ln w="0" cap="flat" cmpd="sng">
                <a:solidFill>
                  <a:srgbClr val="000000"/>
                </a:solidFill>
                <a:prstDash val="solid"/>
                <a:headEnd type="none" w="med" len="med"/>
                <a:tailEnd type="none" w="med" len="med"/>
              </a:ln>
            </p:spPr>
          </p:sp>
          <p:sp>
            <p:nvSpPr>
              <p:cNvPr id="154706" name="Line 60"/>
              <p:cNvSpPr/>
              <p:nvPr/>
            </p:nvSpPr>
            <p:spPr>
              <a:xfrm>
                <a:off x="654" y="2009"/>
                <a:ext cx="0" cy="3"/>
              </a:xfrm>
              <a:prstGeom prst="line">
                <a:avLst/>
              </a:prstGeom>
              <a:ln w="0" cap="flat" cmpd="sng">
                <a:solidFill>
                  <a:srgbClr val="000000"/>
                </a:solidFill>
                <a:prstDash val="solid"/>
                <a:headEnd type="none" w="med" len="med"/>
                <a:tailEnd type="none" w="med" len="med"/>
              </a:ln>
            </p:spPr>
          </p:sp>
          <p:sp>
            <p:nvSpPr>
              <p:cNvPr id="154707" name="Rectangle 61"/>
              <p:cNvSpPr/>
              <p:nvPr/>
            </p:nvSpPr>
            <p:spPr>
              <a:xfrm>
                <a:off x="656" y="2009"/>
                <a:ext cx="1026"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08" name="Line 62"/>
              <p:cNvSpPr/>
              <p:nvPr/>
            </p:nvSpPr>
            <p:spPr>
              <a:xfrm>
                <a:off x="656" y="2009"/>
                <a:ext cx="1026" cy="0"/>
              </a:xfrm>
              <a:prstGeom prst="line">
                <a:avLst/>
              </a:prstGeom>
              <a:ln w="0" cap="flat" cmpd="sng">
                <a:solidFill>
                  <a:srgbClr val="000000"/>
                </a:solidFill>
                <a:prstDash val="solid"/>
                <a:headEnd type="none" w="med" len="med"/>
                <a:tailEnd type="none" w="med" len="med"/>
              </a:ln>
            </p:spPr>
          </p:sp>
          <p:sp>
            <p:nvSpPr>
              <p:cNvPr id="154709" name="Rectangle 63"/>
              <p:cNvSpPr/>
              <p:nvPr/>
            </p:nvSpPr>
            <p:spPr>
              <a:xfrm>
                <a:off x="1682" y="2009"/>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10" name="Line 64"/>
              <p:cNvSpPr/>
              <p:nvPr/>
            </p:nvSpPr>
            <p:spPr>
              <a:xfrm>
                <a:off x="1682" y="2009"/>
                <a:ext cx="2" cy="0"/>
              </a:xfrm>
              <a:prstGeom prst="line">
                <a:avLst/>
              </a:prstGeom>
              <a:ln w="0" cap="flat" cmpd="sng">
                <a:solidFill>
                  <a:srgbClr val="000000"/>
                </a:solidFill>
                <a:prstDash val="solid"/>
                <a:headEnd type="none" w="med" len="med"/>
                <a:tailEnd type="none" w="med" len="med"/>
              </a:ln>
            </p:spPr>
          </p:sp>
          <p:sp>
            <p:nvSpPr>
              <p:cNvPr id="154711" name="Line 65"/>
              <p:cNvSpPr/>
              <p:nvPr/>
            </p:nvSpPr>
            <p:spPr>
              <a:xfrm>
                <a:off x="1682" y="2009"/>
                <a:ext cx="0" cy="3"/>
              </a:xfrm>
              <a:prstGeom prst="line">
                <a:avLst/>
              </a:prstGeom>
              <a:ln w="0" cap="flat" cmpd="sng">
                <a:solidFill>
                  <a:srgbClr val="000000"/>
                </a:solidFill>
                <a:prstDash val="solid"/>
                <a:headEnd type="none" w="med" len="med"/>
                <a:tailEnd type="none" w="med" len="med"/>
              </a:ln>
            </p:spPr>
          </p:sp>
          <p:sp>
            <p:nvSpPr>
              <p:cNvPr id="154712" name="Rectangle 66"/>
              <p:cNvSpPr/>
              <p:nvPr/>
            </p:nvSpPr>
            <p:spPr>
              <a:xfrm>
                <a:off x="1684" y="2009"/>
                <a:ext cx="1715"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13" name="Line 67"/>
              <p:cNvSpPr/>
              <p:nvPr/>
            </p:nvSpPr>
            <p:spPr>
              <a:xfrm>
                <a:off x="1684" y="2009"/>
                <a:ext cx="1715" cy="0"/>
              </a:xfrm>
              <a:prstGeom prst="line">
                <a:avLst/>
              </a:prstGeom>
              <a:ln w="0" cap="flat" cmpd="sng">
                <a:solidFill>
                  <a:srgbClr val="000000"/>
                </a:solidFill>
                <a:prstDash val="solid"/>
                <a:headEnd type="none" w="med" len="med"/>
                <a:tailEnd type="none" w="med" len="med"/>
              </a:ln>
            </p:spPr>
          </p:sp>
          <p:sp>
            <p:nvSpPr>
              <p:cNvPr id="154714" name="Rectangle 68"/>
              <p:cNvSpPr/>
              <p:nvPr/>
            </p:nvSpPr>
            <p:spPr>
              <a:xfrm>
                <a:off x="3399" y="2009"/>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15" name="Line 69"/>
              <p:cNvSpPr/>
              <p:nvPr/>
            </p:nvSpPr>
            <p:spPr>
              <a:xfrm>
                <a:off x="3399" y="2009"/>
                <a:ext cx="2" cy="0"/>
              </a:xfrm>
              <a:prstGeom prst="line">
                <a:avLst/>
              </a:prstGeom>
              <a:ln w="0" cap="flat" cmpd="sng">
                <a:solidFill>
                  <a:srgbClr val="000000"/>
                </a:solidFill>
                <a:prstDash val="solid"/>
                <a:headEnd type="none" w="med" len="med"/>
                <a:tailEnd type="none" w="med" len="med"/>
              </a:ln>
            </p:spPr>
          </p:sp>
          <p:sp>
            <p:nvSpPr>
              <p:cNvPr id="154716" name="Line 70"/>
              <p:cNvSpPr/>
              <p:nvPr/>
            </p:nvSpPr>
            <p:spPr>
              <a:xfrm>
                <a:off x="3399" y="2009"/>
                <a:ext cx="0" cy="3"/>
              </a:xfrm>
              <a:prstGeom prst="line">
                <a:avLst/>
              </a:prstGeom>
              <a:ln w="0" cap="flat" cmpd="sng">
                <a:solidFill>
                  <a:srgbClr val="000000"/>
                </a:solidFill>
                <a:prstDash val="solid"/>
                <a:headEnd type="none" w="med" len="med"/>
                <a:tailEnd type="none" w="med" len="med"/>
              </a:ln>
            </p:spPr>
          </p:sp>
          <p:sp>
            <p:nvSpPr>
              <p:cNvPr id="154717" name="Rectangle 71"/>
              <p:cNvSpPr/>
              <p:nvPr/>
            </p:nvSpPr>
            <p:spPr>
              <a:xfrm>
                <a:off x="3401" y="2009"/>
                <a:ext cx="1847"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18" name="Line 72"/>
              <p:cNvSpPr/>
              <p:nvPr/>
            </p:nvSpPr>
            <p:spPr>
              <a:xfrm>
                <a:off x="3401" y="2009"/>
                <a:ext cx="1847" cy="0"/>
              </a:xfrm>
              <a:prstGeom prst="line">
                <a:avLst/>
              </a:prstGeom>
              <a:ln w="0" cap="flat" cmpd="sng">
                <a:solidFill>
                  <a:srgbClr val="000000"/>
                </a:solidFill>
                <a:prstDash val="solid"/>
                <a:headEnd type="none" w="med" len="med"/>
                <a:tailEnd type="none" w="med" len="med"/>
              </a:ln>
            </p:spPr>
          </p:sp>
          <p:sp>
            <p:nvSpPr>
              <p:cNvPr id="154719" name="Rectangle 73"/>
              <p:cNvSpPr/>
              <p:nvPr/>
            </p:nvSpPr>
            <p:spPr>
              <a:xfrm>
                <a:off x="5248" y="2009"/>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20" name="Line 74"/>
              <p:cNvSpPr/>
              <p:nvPr/>
            </p:nvSpPr>
            <p:spPr>
              <a:xfrm>
                <a:off x="5248" y="2009"/>
                <a:ext cx="2" cy="0"/>
              </a:xfrm>
              <a:prstGeom prst="line">
                <a:avLst/>
              </a:prstGeom>
              <a:ln w="0" cap="flat" cmpd="sng">
                <a:solidFill>
                  <a:srgbClr val="000000"/>
                </a:solidFill>
                <a:prstDash val="solid"/>
                <a:headEnd type="none" w="med" len="med"/>
                <a:tailEnd type="none" w="med" len="med"/>
              </a:ln>
            </p:spPr>
          </p:sp>
          <p:sp>
            <p:nvSpPr>
              <p:cNvPr id="154721" name="Line 75"/>
              <p:cNvSpPr/>
              <p:nvPr/>
            </p:nvSpPr>
            <p:spPr>
              <a:xfrm>
                <a:off x="5248" y="2009"/>
                <a:ext cx="0" cy="3"/>
              </a:xfrm>
              <a:prstGeom prst="line">
                <a:avLst/>
              </a:prstGeom>
              <a:ln w="0" cap="flat" cmpd="sng">
                <a:solidFill>
                  <a:srgbClr val="000000"/>
                </a:solidFill>
                <a:prstDash val="solid"/>
                <a:headEnd type="none" w="med" len="med"/>
                <a:tailEnd type="none" w="med" len="med"/>
              </a:ln>
            </p:spPr>
          </p:sp>
          <p:sp>
            <p:nvSpPr>
              <p:cNvPr id="154722" name="Rectangle 76"/>
              <p:cNvSpPr/>
              <p:nvPr/>
            </p:nvSpPr>
            <p:spPr>
              <a:xfrm>
                <a:off x="654" y="2012"/>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23" name="Line 77"/>
              <p:cNvSpPr/>
              <p:nvPr/>
            </p:nvSpPr>
            <p:spPr>
              <a:xfrm>
                <a:off x="654" y="2012"/>
                <a:ext cx="0" cy="279"/>
              </a:xfrm>
              <a:prstGeom prst="line">
                <a:avLst/>
              </a:prstGeom>
              <a:ln w="0" cap="flat" cmpd="sng">
                <a:solidFill>
                  <a:srgbClr val="000000"/>
                </a:solidFill>
                <a:prstDash val="solid"/>
                <a:headEnd type="none" w="med" len="med"/>
                <a:tailEnd type="none" w="med" len="med"/>
              </a:ln>
            </p:spPr>
          </p:sp>
          <p:sp>
            <p:nvSpPr>
              <p:cNvPr id="154724" name="Rectangle 78"/>
              <p:cNvSpPr/>
              <p:nvPr/>
            </p:nvSpPr>
            <p:spPr>
              <a:xfrm>
                <a:off x="1682" y="2012"/>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25" name="Line 79"/>
              <p:cNvSpPr/>
              <p:nvPr/>
            </p:nvSpPr>
            <p:spPr>
              <a:xfrm>
                <a:off x="1682" y="2012"/>
                <a:ext cx="0" cy="279"/>
              </a:xfrm>
              <a:prstGeom prst="line">
                <a:avLst/>
              </a:prstGeom>
              <a:ln w="0" cap="flat" cmpd="sng">
                <a:solidFill>
                  <a:srgbClr val="000000"/>
                </a:solidFill>
                <a:prstDash val="solid"/>
                <a:headEnd type="none" w="med" len="med"/>
                <a:tailEnd type="none" w="med" len="med"/>
              </a:ln>
            </p:spPr>
          </p:sp>
          <p:sp>
            <p:nvSpPr>
              <p:cNvPr id="154726" name="Rectangle 80"/>
              <p:cNvSpPr/>
              <p:nvPr/>
            </p:nvSpPr>
            <p:spPr>
              <a:xfrm>
                <a:off x="3399" y="2012"/>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27" name="Line 81"/>
              <p:cNvSpPr/>
              <p:nvPr/>
            </p:nvSpPr>
            <p:spPr>
              <a:xfrm>
                <a:off x="3399" y="2012"/>
                <a:ext cx="0" cy="279"/>
              </a:xfrm>
              <a:prstGeom prst="line">
                <a:avLst/>
              </a:prstGeom>
              <a:ln w="0" cap="flat" cmpd="sng">
                <a:solidFill>
                  <a:srgbClr val="000000"/>
                </a:solidFill>
                <a:prstDash val="solid"/>
                <a:headEnd type="none" w="med" len="med"/>
                <a:tailEnd type="none" w="med" len="med"/>
              </a:ln>
            </p:spPr>
          </p:sp>
          <p:sp>
            <p:nvSpPr>
              <p:cNvPr id="154728" name="Rectangle 82"/>
              <p:cNvSpPr/>
              <p:nvPr/>
            </p:nvSpPr>
            <p:spPr>
              <a:xfrm>
                <a:off x="5248" y="2012"/>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29" name="Line 83"/>
              <p:cNvSpPr/>
              <p:nvPr/>
            </p:nvSpPr>
            <p:spPr>
              <a:xfrm>
                <a:off x="5248" y="2012"/>
                <a:ext cx="0" cy="279"/>
              </a:xfrm>
              <a:prstGeom prst="line">
                <a:avLst/>
              </a:prstGeom>
              <a:ln w="0" cap="flat" cmpd="sng">
                <a:solidFill>
                  <a:srgbClr val="000000"/>
                </a:solidFill>
                <a:prstDash val="solid"/>
                <a:headEnd type="none" w="med" len="med"/>
                <a:tailEnd type="none" w="med" len="med"/>
              </a:ln>
            </p:spPr>
          </p:sp>
          <p:sp>
            <p:nvSpPr>
              <p:cNvPr id="154730" name="Rectangle 84"/>
              <p:cNvSpPr/>
              <p:nvPr/>
            </p:nvSpPr>
            <p:spPr>
              <a:xfrm>
                <a:off x="799" y="2343"/>
                <a:ext cx="267"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JGE</a:t>
                </a:r>
                <a:endParaRPr lang="en-US" altLang="zh-CN" sz="2200" b="1" dirty="0">
                  <a:latin typeface="宋体" panose="02010600030101010101" pitchFamily="2" charset="-122"/>
                  <a:ea typeface="宋体" panose="02010600030101010101" pitchFamily="2" charset="-122"/>
                </a:endParaRPr>
              </a:p>
            </p:txBody>
          </p:sp>
          <p:sp>
            <p:nvSpPr>
              <p:cNvPr id="154731" name="Rectangle 85"/>
              <p:cNvSpPr/>
              <p:nvPr/>
            </p:nvSpPr>
            <p:spPr>
              <a:xfrm>
                <a:off x="1131" y="2348"/>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
            <p:nvSpPr>
              <p:cNvPr id="154732" name="Rectangle 86"/>
              <p:cNvSpPr/>
              <p:nvPr/>
            </p:nvSpPr>
            <p:spPr>
              <a:xfrm>
                <a:off x="1216" y="2343"/>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a:t>
                </a:r>
                <a:endParaRPr lang="en-US" altLang="zh-CN" sz="2200" b="1" dirty="0">
                  <a:latin typeface="宋体" panose="02010600030101010101" pitchFamily="2" charset="-122"/>
                  <a:ea typeface="宋体" panose="02010600030101010101" pitchFamily="2" charset="-122"/>
                </a:endParaRPr>
              </a:p>
            </p:txBody>
          </p:sp>
          <p:sp>
            <p:nvSpPr>
              <p:cNvPr id="154733" name="Rectangle 87"/>
              <p:cNvSpPr/>
              <p:nvPr/>
            </p:nvSpPr>
            <p:spPr>
              <a:xfrm>
                <a:off x="1301" y="2343"/>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N</a:t>
                </a:r>
                <a:endParaRPr lang="en-US" altLang="zh-CN" sz="2200" b="1" dirty="0">
                  <a:latin typeface="宋体" panose="02010600030101010101" pitchFamily="2" charset="-122"/>
                  <a:ea typeface="宋体" panose="02010600030101010101" pitchFamily="2" charset="-122"/>
                </a:endParaRPr>
              </a:p>
            </p:txBody>
          </p:sp>
          <p:sp>
            <p:nvSpPr>
              <p:cNvPr id="154734" name="Rectangle 88"/>
              <p:cNvSpPr/>
              <p:nvPr/>
            </p:nvSpPr>
            <p:spPr>
              <a:xfrm>
                <a:off x="1425" y="2343"/>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L</a:t>
                </a:r>
                <a:endParaRPr lang="en-US" altLang="zh-CN" sz="2200" b="1" dirty="0">
                  <a:latin typeface="宋体" panose="02010600030101010101" pitchFamily="2" charset="-122"/>
                  <a:ea typeface="宋体" panose="02010600030101010101" pitchFamily="2" charset="-122"/>
                </a:endParaRPr>
              </a:p>
            </p:txBody>
          </p:sp>
          <p:sp>
            <p:nvSpPr>
              <p:cNvPr id="154735" name="Rectangle 89"/>
              <p:cNvSpPr/>
              <p:nvPr/>
            </p:nvSpPr>
            <p:spPr>
              <a:xfrm>
                <a:off x="1539" y="2343"/>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FF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4736" name="Rectangle 90"/>
              <p:cNvSpPr/>
              <p:nvPr/>
            </p:nvSpPr>
            <p:spPr>
              <a:xfrm>
                <a:off x="2146" y="2343"/>
                <a:ext cx="178"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SF</a:t>
                </a:r>
                <a:endParaRPr lang="en-US" altLang="zh-CN" sz="2200" b="1" dirty="0">
                  <a:latin typeface="宋体" panose="02010600030101010101" pitchFamily="2" charset="-122"/>
                  <a:ea typeface="宋体" panose="02010600030101010101" pitchFamily="2" charset="-122"/>
                </a:endParaRPr>
              </a:p>
            </p:txBody>
          </p:sp>
          <p:sp>
            <p:nvSpPr>
              <p:cNvPr id="154737" name="Rectangle 91"/>
              <p:cNvSpPr/>
              <p:nvPr/>
            </p:nvSpPr>
            <p:spPr>
              <a:xfrm>
                <a:off x="2346" y="2348"/>
                <a:ext cx="177"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
            <p:nvSpPr>
              <p:cNvPr id="154738" name="Rectangle 92"/>
              <p:cNvSpPr/>
              <p:nvPr/>
            </p:nvSpPr>
            <p:spPr>
              <a:xfrm>
                <a:off x="2517" y="2343"/>
                <a:ext cx="356"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OF=0</a:t>
                </a:r>
                <a:endParaRPr lang="en-US" altLang="zh-CN" sz="2200" b="1" dirty="0">
                  <a:latin typeface="宋体" panose="02010600030101010101" pitchFamily="2" charset="-122"/>
                  <a:ea typeface="宋体" panose="02010600030101010101" pitchFamily="2" charset="-122"/>
                </a:endParaRPr>
              </a:p>
            </p:txBody>
          </p:sp>
          <p:sp>
            <p:nvSpPr>
              <p:cNvPr id="154739" name="Rectangle 93"/>
              <p:cNvSpPr/>
              <p:nvPr/>
            </p:nvSpPr>
            <p:spPr>
              <a:xfrm>
                <a:off x="2936" y="2343"/>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4740" name="Rectangle 94"/>
              <p:cNvSpPr/>
              <p:nvPr/>
            </p:nvSpPr>
            <p:spPr>
              <a:xfrm>
                <a:off x="3682" y="2348"/>
                <a:ext cx="708"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大于等于</a:t>
                </a:r>
                <a:endParaRPr lang="zh-CN" altLang="en-US" sz="2200" b="1" dirty="0">
                  <a:latin typeface="宋体" panose="02010600030101010101" pitchFamily="2" charset="-122"/>
                  <a:ea typeface="宋体" panose="02010600030101010101" pitchFamily="2" charset="-122"/>
                </a:endParaRPr>
              </a:p>
            </p:txBody>
          </p:sp>
          <p:sp>
            <p:nvSpPr>
              <p:cNvPr id="154741" name="Rectangle 95"/>
              <p:cNvSpPr/>
              <p:nvPr/>
            </p:nvSpPr>
            <p:spPr>
              <a:xfrm>
                <a:off x="4368" y="2348"/>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FF"/>
                    </a:solidFill>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
            <p:nvSpPr>
              <p:cNvPr id="154742" name="Rectangle 96"/>
              <p:cNvSpPr/>
              <p:nvPr/>
            </p:nvSpPr>
            <p:spPr>
              <a:xfrm>
                <a:off x="4452" y="2348"/>
                <a:ext cx="531"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不小于</a:t>
                </a:r>
                <a:endParaRPr lang="zh-CN" altLang="en-US" sz="2200" b="1" dirty="0">
                  <a:latin typeface="宋体" panose="02010600030101010101" pitchFamily="2" charset="-122"/>
                  <a:ea typeface="宋体" panose="02010600030101010101" pitchFamily="2" charset="-122"/>
                </a:endParaRPr>
              </a:p>
            </p:txBody>
          </p:sp>
          <p:sp>
            <p:nvSpPr>
              <p:cNvPr id="154743" name="Rectangle 97"/>
              <p:cNvSpPr/>
              <p:nvPr/>
            </p:nvSpPr>
            <p:spPr>
              <a:xfrm>
                <a:off x="4966" y="2343"/>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4744" name="Rectangle 98"/>
              <p:cNvSpPr/>
              <p:nvPr/>
            </p:nvSpPr>
            <p:spPr>
              <a:xfrm>
                <a:off x="654" y="2291"/>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45" name="Line 99"/>
              <p:cNvSpPr/>
              <p:nvPr/>
            </p:nvSpPr>
            <p:spPr>
              <a:xfrm>
                <a:off x="654" y="2291"/>
                <a:ext cx="2" cy="0"/>
              </a:xfrm>
              <a:prstGeom prst="line">
                <a:avLst/>
              </a:prstGeom>
              <a:ln w="0" cap="flat" cmpd="sng">
                <a:solidFill>
                  <a:srgbClr val="000000"/>
                </a:solidFill>
                <a:prstDash val="solid"/>
                <a:headEnd type="none" w="med" len="med"/>
                <a:tailEnd type="none" w="med" len="med"/>
              </a:ln>
            </p:spPr>
          </p:sp>
          <p:sp>
            <p:nvSpPr>
              <p:cNvPr id="154746" name="Line 100"/>
              <p:cNvSpPr/>
              <p:nvPr/>
            </p:nvSpPr>
            <p:spPr>
              <a:xfrm>
                <a:off x="654" y="2291"/>
                <a:ext cx="0" cy="3"/>
              </a:xfrm>
              <a:prstGeom prst="line">
                <a:avLst/>
              </a:prstGeom>
              <a:ln w="0" cap="flat" cmpd="sng">
                <a:solidFill>
                  <a:srgbClr val="000000"/>
                </a:solidFill>
                <a:prstDash val="solid"/>
                <a:headEnd type="none" w="med" len="med"/>
                <a:tailEnd type="none" w="med" len="med"/>
              </a:ln>
            </p:spPr>
          </p:sp>
          <p:sp>
            <p:nvSpPr>
              <p:cNvPr id="154747" name="Rectangle 101"/>
              <p:cNvSpPr/>
              <p:nvPr/>
            </p:nvSpPr>
            <p:spPr>
              <a:xfrm>
                <a:off x="656" y="2291"/>
                <a:ext cx="1026"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48" name="Line 102"/>
              <p:cNvSpPr/>
              <p:nvPr/>
            </p:nvSpPr>
            <p:spPr>
              <a:xfrm>
                <a:off x="656" y="2291"/>
                <a:ext cx="1026" cy="0"/>
              </a:xfrm>
              <a:prstGeom prst="line">
                <a:avLst/>
              </a:prstGeom>
              <a:ln w="0" cap="flat" cmpd="sng">
                <a:solidFill>
                  <a:srgbClr val="000000"/>
                </a:solidFill>
                <a:prstDash val="solid"/>
                <a:headEnd type="none" w="med" len="med"/>
                <a:tailEnd type="none" w="med" len="med"/>
              </a:ln>
            </p:spPr>
          </p:sp>
          <p:sp>
            <p:nvSpPr>
              <p:cNvPr id="154749" name="Rectangle 103"/>
              <p:cNvSpPr/>
              <p:nvPr/>
            </p:nvSpPr>
            <p:spPr>
              <a:xfrm>
                <a:off x="1682" y="2291"/>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50" name="Line 104"/>
              <p:cNvSpPr/>
              <p:nvPr/>
            </p:nvSpPr>
            <p:spPr>
              <a:xfrm>
                <a:off x="1682" y="2291"/>
                <a:ext cx="2" cy="0"/>
              </a:xfrm>
              <a:prstGeom prst="line">
                <a:avLst/>
              </a:prstGeom>
              <a:ln w="0" cap="flat" cmpd="sng">
                <a:solidFill>
                  <a:srgbClr val="000000"/>
                </a:solidFill>
                <a:prstDash val="solid"/>
                <a:headEnd type="none" w="med" len="med"/>
                <a:tailEnd type="none" w="med" len="med"/>
              </a:ln>
            </p:spPr>
          </p:sp>
          <p:sp>
            <p:nvSpPr>
              <p:cNvPr id="154751" name="Line 105"/>
              <p:cNvSpPr/>
              <p:nvPr/>
            </p:nvSpPr>
            <p:spPr>
              <a:xfrm>
                <a:off x="1682" y="2291"/>
                <a:ext cx="0" cy="3"/>
              </a:xfrm>
              <a:prstGeom prst="line">
                <a:avLst/>
              </a:prstGeom>
              <a:ln w="0" cap="flat" cmpd="sng">
                <a:solidFill>
                  <a:srgbClr val="000000"/>
                </a:solidFill>
                <a:prstDash val="solid"/>
                <a:headEnd type="none" w="med" len="med"/>
                <a:tailEnd type="none" w="med" len="med"/>
              </a:ln>
            </p:spPr>
          </p:sp>
          <p:sp>
            <p:nvSpPr>
              <p:cNvPr id="154752" name="Rectangle 106"/>
              <p:cNvSpPr/>
              <p:nvPr/>
            </p:nvSpPr>
            <p:spPr>
              <a:xfrm>
                <a:off x="1684" y="2291"/>
                <a:ext cx="1715"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53" name="Line 107"/>
              <p:cNvSpPr/>
              <p:nvPr/>
            </p:nvSpPr>
            <p:spPr>
              <a:xfrm>
                <a:off x="1684" y="2291"/>
                <a:ext cx="1715" cy="0"/>
              </a:xfrm>
              <a:prstGeom prst="line">
                <a:avLst/>
              </a:prstGeom>
              <a:ln w="0" cap="flat" cmpd="sng">
                <a:solidFill>
                  <a:srgbClr val="000000"/>
                </a:solidFill>
                <a:prstDash val="solid"/>
                <a:headEnd type="none" w="med" len="med"/>
                <a:tailEnd type="none" w="med" len="med"/>
              </a:ln>
            </p:spPr>
          </p:sp>
          <p:sp>
            <p:nvSpPr>
              <p:cNvPr id="154754" name="Rectangle 108"/>
              <p:cNvSpPr/>
              <p:nvPr/>
            </p:nvSpPr>
            <p:spPr>
              <a:xfrm>
                <a:off x="3399" y="2291"/>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55" name="Line 109"/>
              <p:cNvSpPr/>
              <p:nvPr/>
            </p:nvSpPr>
            <p:spPr>
              <a:xfrm>
                <a:off x="3399" y="2291"/>
                <a:ext cx="2" cy="0"/>
              </a:xfrm>
              <a:prstGeom prst="line">
                <a:avLst/>
              </a:prstGeom>
              <a:ln w="0" cap="flat" cmpd="sng">
                <a:solidFill>
                  <a:srgbClr val="000000"/>
                </a:solidFill>
                <a:prstDash val="solid"/>
                <a:headEnd type="none" w="med" len="med"/>
                <a:tailEnd type="none" w="med" len="med"/>
              </a:ln>
            </p:spPr>
          </p:sp>
          <p:sp>
            <p:nvSpPr>
              <p:cNvPr id="154756" name="Line 110"/>
              <p:cNvSpPr/>
              <p:nvPr/>
            </p:nvSpPr>
            <p:spPr>
              <a:xfrm>
                <a:off x="3399" y="2291"/>
                <a:ext cx="0" cy="3"/>
              </a:xfrm>
              <a:prstGeom prst="line">
                <a:avLst/>
              </a:prstGeom>
              <a:ln w="0" cap="flat" cmpd="sng">
                <a:solidFill>
                  <a:srgbClr val="000000"/>
                </a:solidFill>
                <a:prstDash val="solid"/>
                <a:headEnd type="none" w="med" len="med"/>
                <a:tailEnd type="none" w="med" len="med"/>
              </a:ln>
            </p:spPr>
          </p:sp>
          <p:sp>
            <p:nvSpPr>
              <p:cNvPr id="154757" name="Rectangle 111"/>
              <p:cNvSpPr/>
              <p:nvPr/>
            </p:nvSpPr>
            <p:spPr>
              <a:xfrm>
                <a:off x="3401" y="2291"/>
                <a:ext cx="1847"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58" name="Line 112"/>
              <p:cNvSpPr/>
              <p:nvPr/>
            </p:nvSpPr>
            <p:spPr>
              <a:xfrm>
                <a:off x="3401" y="2291"/>
                <a:ext cx="1847" cy="0"/>
              </a:xfrm>
              <a:prstGeom prst="line">
                <a:avLst/>
              </a:prstGeom>
              <a:ln w="0" cap="flat" cmpd="sng">
                <a:solidFill>
                  <a:srgbClr val="000000"/>
                </a:solidFill>
                <a:prstDash val="solid"/>
                <a:headEnd type="none" w="med" len="med"/>
                <a:tailEnd type="none" w="med" len="med"/>
              </a:ln>
            </p:spPr>
          </p:sp>
          <p:sp>
            <p:nvSpPr>
              <p:cNvPr id="154759" name="Rectangle 113"/>
              <p:cNvSpPr/>
              <p:nvPr/>
            </p:nvSpPr>
            <p:spPr>
              <a:xfrm>
                <a:off x="5248" y="2291"/>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60" name="Line 114"/>
              <p:cNvSpPr/>
              <p:nvPr/>
            </p:nvSpPr>
            <p:spPr>
              <a:xfrm>
                <a:off x="5248" y="2291"/>
                <a:ext cx="2" cy="0"/>
              </a:xfrm>
              <a:prstGeom prst="line">
                <a:avLst/>
              </a:prstGeom>
              <a:ln w="0" cap="flat" cmpd="sng">
                <a:solidFill>
                  <a:srgbClr val="000000"/>
                </a:solidFill>
                <a:prstDash val="solid"/>
                <a:headEnd type="none" w="med" len="med"/>
                <a:tailEnd type="none" w="med" len="med"/>
              </a:ln>
            </p:spPr>
          </p:sp>
          <p:sp>
            <p:nvSpPr>
              <p:cNvPr id="154761" name="Line 115"/>
              <p:cNvSpPr/>
              <p:nvPr/>
            </p:nvSpPr>
            <p:spPr>
              <a:xfrm>
                <a:off x="5248" y="2291"/>
                <a:ext cx="0" cy="3"/>
              </a:xfrm>
              <a:prstGeom prst="line">
                <a:avLst/>
              </a:prstGeom>
              <a:ln w="0" cap="flat" cmpd="sng">
                <a:solidFill>
                  <a:srgbClr val="000000"/>
                </a:solidFill>
                <a:prstDash val="solid"/>
                <a:headEnd type="none" w="med" len="med"/>
                <a:tailEnd type="none" w="med" len="med"/>
              </a:ln>
            </p:spPr>
          </p:sp>
          <p:sp>
            <p:nvSpPr>
              <p:cNvPr id="154762" name="Rectangle 116"/>
              <p:cNvSpPr/>
              <p:nvPr/>
            </p:nvSpPr>
            <p:spPr>
              <a:xfrm>
                <a:off x="654" y="2294"/>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63" name="Line 117"/>
              <p:cNvSpPr/>
              <p:nvPr/>
            </p:nvSpPr>
            <p:spPr>
              <a:xfrm>
                <a:off x="654" y="2294"/>
                <a:ext cx="0" cy="279"/>
              </a:xfrm>
              <a:prstGeom prst="line">
                <a:avLst/>
              </a:prstGeom>
              <a:ln w="0" cap="flat" cmpd="sng">
                <a:solidFill>
                  <a:srgbClr val="000000"/>
                </a:solidFill>
                <a:prstDash val="solid"/>
                <a:headEnd type="none" w="med" len="med"/>
                <a:tailEnd type="none" w="med" len="med"/>
              </a:ln>
            </p:spPr>
          </p:sp>
          <p:sp>
            <p:nvSpPr>
              <p:cNvPr id="154764" name="Rectangle 118"/>
              <p:cNvSpPr/>
              <p:nvPr/>
            </p:nvSpPr>
            <p:spPr>
              <a:xfrm>
                <a:off x="1682" y="2294"/>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65" name="Line 119"/>
              <p:cNvSpPr/>
              <p:nvPr/>
            </p:nvSpPr>
            <p:spPr>
              <a:xfrm>
                <a:off x="1682" y="2294"/>
                <a:ext cx="0" cy="279"/>
              </a:xfrm>
              <a:prstGeom prst="line">
                <a:avLst/>
              </a:prstGeom>
              <a:ln w="0" cap="flat" cmpd="sng">
                <a:solidFill>
                  <a:srgbClr val="000000"/>
                </a:solidFill>
                <a:prstDash val="solid"/>
                <a:headEnd type="none" w="med" len="med"/>
                <a:tailEnd type="none" w="med" len="med"/>
              </a:ln>
            </p:spPr>
          </p:sp>
          <p:sp>
            <p:nvSpPr>
              <p:cNvPr id="154766" name="Rectangle 120"/>
              <p:cNvSpPr/>
              <p:nvPr/>
            </p:nvSpPr>
            <p:spPr>
              <a:xfrm>
                <a:off x="3399" y="2294"/>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67" name="Line 121"/>
              <p:cNvSpPr/>
              <p:nvPr/>
            </p:nvSpPr>
            <p:spPr>
              <a:xfrm>
                <a:off x="3399" y="2294"/>
                <a:ext cx="0" cy="279"/>
              </a:xfrm>
              <a:prstGeom prst="line">
                <a:avLst/>
              </a:prstGeom>
              <a:ln w="0" cap="flat" cmpd="sng">
                <a:solidFill>
                  <a:srgbClr val="000000"/>
                </a:solidFill>
                <a:prstDash val="solid"/>
                <a:headEnd type="none" w="med" len="med"/>
                <a:tailEnd type="none" w="med" len="med"/>
              </a:ln>
            </p:spPr>
          </p:sp>
          <p:sp>
            <p:nvSpPr>
              <p:cNvPr id="154768" name="Rectangle 122"/>
              <p:cNvSpPr/>
              <p:nvPr/>
            </p:nvSpPr>
            <p:spPr>
              <a:xfrm>
                <a:off x="5248" y="2294"/>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69" name="Line 123"/>
              <p:cNvSpPr/>
              <p:nvPr/>
            </p:nvSpPr>
            <p:spPr>
              <a:xfrm>
                <a:off x="5248" y="2294"/>
                <a:ext cx="0" cy="279"/>
              </a:xfrm>
              <a:prstGeom prst="line">
                <a:avLst/>
              </a:prstGeom>
              <a:ln w="0" cap="flat" cmpd="sng">
                <a:solidFill>
                  <a:srgbClr val="000000"/>
                </a:solidFill>
                <a:prstDash val="solid"/>
                <a:headEnd type="none" w="med" len="med"/>
                <a:tailEnd type="none" w="med" len="med"/>
              </a:ln>
            </p:spPr>
          </p:sp>
          <p:sp>
            <p:nvSpPr>
              <p:cNvPr id="154770" name="Rectangle 124"/>
              <p:cNvSpPr/>
              <p:nvPr/>
            </p:nvSpPr>
            <p:spPr>
              <a:xfrm>
                <a:off x="799" y="2624"/>
                <a:ext cx="178"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JL</a:t>
                </a:r>
                <a:endParaRPr lang="en-US" altLang="zh-CN" sz="2200" b="1" dirty="0">
                  <a:latin typeface="宋体" panose="02010600030101010101" pitchFamily="2" charset="-122"/>
                  <a:ea typeface="宋体" panose="02010600030101010101" pitchFamily="2" charset="-122"/>
                </a:endParaRPr>
              </a:p>
            </p:txBody>
          </p:sp>
          <p:sp>
            <p:nvSpPr>
              <p:cNvPr id="154771" name="Rectangle 125"/>
              <p:cNvSpPr/>
              <p:nvPr/>
            </p:nvSpPr>
            <p:spPr>
              <a:xfrm>
                <a:off x="999" y="2629"/>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
            <p:nvSpPr>
              <p:cNvPr id="154772" name="Rectangle 126"/>
              <p:cNvSpPr/>
              <p:nvPr/>
            </p:nvSpPr>
            <p:spPr>
              <a:xfrm>
                <a:off x="1083" y="2624"/>
                <a:ext cx="356"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JNGE</a:t>
                </a:r>
                <a:endParaRPr lang="en-US" altLang="zh-CN" sz="2200" b="1" dirty="0">
                  <a:latin typeface="宋体" panose="02010600030101010101" pitchFamily="2" charset="-122"/>
                  <a:ea typeface="宋体" panose="02010600030101010101" pitchFamily="2" charset="-122"/>
                </a:endParaRPr>
              </a:p>
            </p:txBody>
          </p:sp>
          <p:sp>
            <p:nvSpPr>
              <p:cNvPr id="154773" name="Rectangle 127"/>
              <p:cNvSpPr/>
              <p:nvPr/>
            </p:nvSpPr>
            <p:spPr>
              <a:xfrm>
                <a:off x="1539" y="2624"/>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FF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4774" name="Rectangle 128"/>
              <p:cNvSpPr/>
              <p:nvPr/>
            </p:nvSpPr>
            <p:spPr>
              <a:xfrm>
                <a:off x="2146" y="2624"/>
                <a:ext cx="178"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SF</a:t>
                </a:r>
                <a:endParaRPr lang="en-US" altLang="zh-CN" sz="2200" b="1" dirty="0">
                  <a:latin typeface="宋体" panose="02010600030101010101" pitchFamily="2" charset="-122"/>
                  <a:ea typeface="宋体" panose="02010600030101010101" pitchFamily="2" charset="-122"/>
                </a:endParaRPr>
              </a:p>
            </p:txBody>
          </p:sp>
          <p:sp>
            <p:nvSpPr>
              <p:cNvPr id="154775" name="Rectangle 129"/>
              <p:cNvSpPr/>
              <p:nvPr/>
            </p:nvSpPr>
            <p:spPr>
              <a:xfrm>
                <a:off x="2346" y="2629"/>
                <a:ext cx="177"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
            <p:nvSpPr>
              <p:cNvPr id="154776" name="Rectangle 130"/>
              <p:cNvSpPr/>
              <p:nvPr/>
            </p:nvSpPr>
            <p:spPr>
              <a:xfrm>
                <a:off x="2517" y="2624"/>
                <a:ext cx="356"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OF=1</a:t>
                </a:r>
                <a:endParaRPr lang="en-US" altLang="zh-CN" sz="2200" b="1" dirty="0">
                  <a:latin typeface="宋体" panose="02010600030101010101" pitchFamily="2" charset="-122"/>
                  <a:ea typeface="宋体" panose="02010600030101010101" pitchFamily="2" charset="-122"/>
                </a:endParaRPr>
              </a:p>
            </p:txBody>
          </p:sp>
          <p:sp>
            <p:nvSpPr>
              <p:cNvPr id="154777" name="Rectangle 131"/>
              <p:cNvSpPr/>
              <p:nvPr/>
            </p:nvSpPr>
            <p:spPr>
              <a:xfrm>
                <a:off x="2936" y="2624"/>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4778" name="Rectangle 132"/>
              <p:cNvSpPr/>
              <p:nvPr/>
            </p:nvSpPr>
            <p:spPr>
              <a:xfrm>
                <a:off x="3682" y="2629"/>
                <a:ext cx="354"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小于</a:t>
                </a:r>
                <a:endParaRPr lang="zh-CN" altLang="en-US" sz="2200" b="1" dirty="0">
                  <a:latin typeface="宋体" panose="02010600030101010101" pitchFamily="2" charset="-122"/>
                  <a:ea typeface="宋体" panose="02010600030101010101" pitchFamily="2" charset="-122"/>
                </a:endParaRPr>
              </a:p>
            </p:txBody>
          </p:sp>
          <p:sp>
            <p:nvSpPr>
              <p:cNvPr id="154779" name="Rectangle 133"/>
              <p:cNvSpPr/>
              <p:nvPr/>
            </p:nvSpPr>
            <p:spPr>
              <a:xfrm>
                <a:off x="4025" y="2629"/>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FF"/>
                    </a:solidFill>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
            <p:nvSpPr>
              <p:cNvPr id="154780" name="Rectangle 134"/>
              <p:cNvSpPr/>
              <p:nvPr/>
            </p:nvSpPr>
            <p:spPr>
              <a:xfrm>
                <a:off x="4110" y="2629"/>
                <a:ext cx="885"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不大于等于</a:t>
                </a:r>
                <a:endParaRPr lang="zh-CN" altLang="en-US" sz="2200" b="1" dirty="0">
                  <a:latin typeface="宋体" panose="02010600030101010101" pitchFamily="2" charset="-122"/>
                  <a:ea typeface="宋体" panose="02010600030101010101" pitchFamily="2" charset="-122"/>
                </a:endParaRPr>
              </a:p>
            </p:txBody>
          </p:sp>
          <p:sp>
            <p:nvSpPr>
              <p:cNvPr id="154781" name="Rectangle 135"/>
              <p:cNvSpPr/>
              <p:nvPr/>
            </p:nvSpPr>
            <p:spPr>
              <a:xfrm>
                <a:off x="4966" y="2624"/>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4782" name="Rectangle 136"/>
              <p:cNvSpPr/>
              <p:nvPr/>
            </p:nvSpPr>
            <p:spPr>
              <a:xfrm>
                <a:off x="654" y="2573"/>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83" name="Line 137"/>
              <p:cNvSpPr/>
              <p:nvPr/>
            </p:nvSpPr>
            <p:spPr>
              <a:xfrm>
                <a:off x="654" y="2573"/>
                <a:ext cx="2" cy="0"/>
              </a:xfrm>
              <a:prstGeom prst="line">
                <a:avLst/>
              </a:prstGeom>
              <a:ln w="0" cap="flat" cmpd="sng">
                <a:solidFill>
                  <a:srgbClr val="000000"/>
                </a:solidFill>
                <a:prstDash val="solid"/>
                <a:headEnd type="none" w="med" len="med"/>
                <a:tailEnd type="none" w="med" len="med"/>
              </a:ln>
            </p:spPr>
          </p:sp>
          <p:sp>
            <p:nvSpPr>
              <p:cNvPr id="154784" name="Line 138"/>
              <p:cNvSpPr/>
              <p:nvPr/>
            </p:nvSpPr>
            <p:spPr>
              <a:xfrm>
                <a:off x="654" y="2573"/>
                <a:ext cx="0" cy="2"/>
              </a:xfrm>
              <a:prstGeom prst="line">
                <a:avLst/>
              </a:prstGeom>
              <a:ln w="0" cap="flat" cmpd="sng">
                <a:solidFill>
                  <a:srgbClr val="000000"/>
                </a:solidFill>
                <a:prstDash val="solid"/>
                <a:headEnd type="none" w="med" len="med"/>
                <a:tailEnd type="none" w="med" len="med"/>
              </a:ln>
            </p:spPr>
          </p:sp>
          <p:sp>
            <p:nvSpPr>
              <p:cNvPr id="154785" name="Rectangle 139"/>
              <p:cNvSpPr/>
              <p:nvPr/>
            </p:nvSpPr>
            <p:spPr>
              <a:xfrm>
                <a:off x="656" y="2573"/>
                <a:ext cx="1026"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86" name="Line 140"/>
              <p:cNvSpPr/>
              <p:nvPr/>
            </p:nvSpPr>
            <p:spPr>
              <a:xfrm>
                <a:off x="656" y="2573"/>
                <a:ext cx="1026" cy="0"/>
              </a:xfrm>
              <a:prstGeom prst="line">
                <a:avLst/>
              </a:prstGeom>
              <a:ln w="0" cap="flat" cmpd="sng">
                <a:solidFill>
                  <a:srgbClr val="000000"/>
                </a:solidFill>
                <a:prstDash val="solid"/>
                <a:headEnd type="none" w="med" len="med"/>
                <a:tailEnd type="none" w="med" len="med"/>
              </a:ln>
            </p:spPr>
          </p:sp>
          <p:sp>
            <p:nvSpPr>
              <p:cNvPr id="154787" name="Rectangle 141"/>
              <p:cNvSpPr/>
              <p:nvPr/>
            </p:nvSpPr>
            <p:spPr>
              <a:xfrm>
                <a:off x="1682" y="2573"/>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88" name="Line 142"/>
              <p:cNvSpPr/>
              <p:nvPr/>
            </p:nvSpPr>
            <p:spPr>
              <a:xfrm>
                <a:off x="1682" y="2573"/>
                <a:ext cx="2" cy="0"/>
              </a:xfrm>
              <a:prstGeom prst="line">
                <a:avLst/>
              </a:prstGeom>
              <a:ln w="0" cap="flat" cmpd="sng">
                <a:solidFill>
                  <a:srgbClr val="000000"/>
                </a:solidFill>
                <a:prstDash val="solid"/>
                <a:headEnd type="none" w="med" len="med"/>
                <a:tailEnd type="none" w="med" len="med"/>
              </a:ln>
            </p:spPr>
          </p:sp>
          <p:sp>
            <p:nvSpPr>
              <p:cNvPr id="154789" name="Line 143"/>
              <p:cNvSpPr/>
              <p:nvPr/>
            </p:nvSpPr>
            <p:spPr>
              <a:xfrm>
                <a:off x="1682" y="2573"/>
                <a:ext cx="0" cy="2"/>
              </a:xfrm>
              <a:prstGeom prst="line">
                <a:avLst/>
              </a:prstGeom>
              <a:ln w="0" cap="flat" cmpd="sng">
                <a:solidFill>
                  <a:srgbClr val="000000"/>
                </a:solidFill>
                <a:prstDash val="solid"/>
                <a:headEnd type="none" w="med" len="med"/>
                <a:tailEnd type="none" w="med" len="med"/>
              </a:ln>
            </p:spPr>
          </p:sp>
          <p:sp>
            <p:nvSpPr>
              <p:cNvPr id="154790" name="Rectangle 144"/>
              <p:cNvSpPr/>
              <p:nvPr/>
            </p:nvSpPr>
            <p:spPr>
              <a:xfrm>
                <a:off x="1684" y="2573"/>
                <a:ext cx="1715"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91" name="Line 145"/>
              <p:cNvSpPr/>
              <p:nvPr/>
            </p:nvSpPr>
            <p:spPr>
              <a:xfrm>
                <a:off x="1684" y="2573"/>
                <a:ext cx="1715" cy="0"/>
              </a:xfrm>
              <a:prstGeom prst="line">
                <a:avLst/>
              </a:prstGeom>
              <a:ln w="0" cap="flat" cmpd="sng">
                <a:solidFill>
                  <a:srgbClr val="000000"/>
                </a:solidFill>
                <a:prstDash val="solid"/>
                <a:headEnd type="none" w="med" len="med"/>
                <a:tailEnd type="none" w="med" len="med"/>
              </a:ln>
            </p:spPr>
          </p:sp>
          <p:sp>
            <p:nvSpPr>
              <p:cNvPr id="154792" name="Rectangle 146"/>
              <p:cNvSpPr/>
              <p:nvPr/>
            </p:nvSpPr>
            <p:spPr>
              <a:xfrm>
                <a:off x="3399" y="2573"/>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93" name="Line 147"/>
              <p:cNvSpPr/>
              <p:nvPr/>
            </p:nvSpPr>
            <p:spPr>
              <a:xfrm>
                <a:off x="3399" y="2573"/>
                <a:ext cx="2" cy="0"/>
              </a:xfrm>
              <a:prstGeom prst="line">
                <a:avLst/>
              </a:prstGeom>
              <a:ln w="0" cap="flat" cmpd="sng">
                <a:solidFill>
                  <a:srgbClr val="000000"/>
                </a:solidFill>
                <a:prstDash val="solid"/>
                <a:headEnd type="none" w="med" len="med"/>
                <a:tailEnd type="none" w="med" len="med"/>
              </a:ln>
            </p:spPr>
          </p:sp>
          <p:sp>
            <p:nvSpPr>
              <p:cNvPr id="154794" name="Line 148"/>
              <p:cNvSpPr/>
              <p:nvPr/>
            </p:nvSpPr>
            <p:spPr>
              <a:xfrm>
                <a:off x="3399" y="2573"/>
                <a:ext cx="0" cy="2"/>
              </a:xfrm>
              <a:prstGeom prst="line">
                <a:avLst/>
              </a:prstGeom>
              <a:ln w="0" cap="flat" cmpd="sng">
                <a:solidFill>
                  <a:srgbClr val="000000"/>
                </a:solidFill>
                <a:prstDash val="solid"/>
                <a:headEnd type="none" w="med" len="med"/>
                <a:tailEnd type="none" w="med" len="med"/>
              </a:ln>
            </p:spPr>
          </p:sp>
          <p:sp>
            <p:nvSpPr>
              <p:cNvPr id="154795" name="Rectangle 149"/>
              <p:cNvSpPr/>
              <p:nvPr/>
            </p:nvSpPr>
            <p:spPr>
              <a:xfrm>
                <a:off x="3401" y="2573"/>
                <a:ext cx="1847"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96" name="Line 150"/>
              <p:cNvSpPr/>
              <p:nvPr/>
            </p:nvSpPr>
            <p:spPr>
              <a:xfrm>
                <a:off x="3401" y="2573"/>
                <a:ext cx="1847" cy="0"/>
              </a:xfrm>
              <a:prstGeom prst="line">
                <a:avLst/>
              </a:prstGeom>
              <a:ln w="0" cap="flat" cmpd="sng">
                <a:solidFill>
                  <a:srgbClr val="000000"/>
                </a:solidFill>
                <a:prstDash val="solid"/>
                <a:headEnd type="none" w="med" len="med"/>
                <a:tailEnd type="none" w="med" len="med"/>
              </a:ln>
            </p:spPr>
          </p:sp>
          <p:sp>
            <p:nvSpPr>
              <p:cNvPr id="154797" name="Rectangle 151"/>
              <p:cNvSpPr/>
              <p:nvPr/>
            </p:nvSpPr>
            <p:spPr>
              <a:xfrm>
                <a:off x="5248" y="2573"/>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798" name="Line 152"/>
              <p:cNvSpPr/>
              <p:nvPr/>
            </p:nvSpPr>
            <p:spPr>
              <a:xfrm>
                <a:off x="5248" y="2573"/>
                <a:ext cx="2" cy="0"/>
              </a:xfrm>
              <a:prstGeom prst="line">
                <a:avLst/>
              </a:prstGeom>
              <a:ln w="0" cap="flat" cmpd="sng">
                <a:solidFill>
                  <a:srgbClr val="000000"/>
                </a:solidFill>
                <a:prstDash val="solid"/>
                <a:headEnd type="none" w="med" len="med"/>
                <a:tailEnd type="none" w="med" len="med"/>
              </a:ln>
            </p:spPr>
          </p:sp>
          <p:sp>
            <p:nvSpPr>
              <p:cNvPr id="154799" name="Line 153"/>
              <p:cNvSpPr/>
              <p:nvPr/>
            </p:nvSpPr>
            <p:spPr>
              <a:xfrm>
                <a:off x="5248" y="2573"/>
                <a:ext cx="0" cy="2"/>
              </a:xfrm>
              <a:prstGeom prst="line">
                <a:avLst/>
              </a:prstGeom>
              <a:ln w="0" cap="flat" cmpd="sng">
                <a:solidFill>
                  <a:srgbClr val="000000"/>
                </a:solidFill>
                <a:prstDash val="solid"/>
                <a:headEnd type="none" w="med" len="med"/>
                <a:tailEnd type="none" w="med" len="med"/>
              </a:ln>
            </p:spPr>
          </p:sp>
          <p:sp>
            <p:nvSpPr>
              <p:cNvPr id="154800" name="Rectangle 154"/>
              <p:cNvSpPr/>
              <p:nvPr/>
            </p:nvSpPr>
            <p:spPr>
              <a:xfrm>
                <a:off x="654" y="2575"/>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801" name="Line 155"/>
              <p:cNvSpPr/>
              <p:nvPr/>
            </p:nvSpPr>
            <p:spPr>
              <a:xfrm>
                <a:off x="654" y="2575"/>
                <a:ext cx="0" cy="279"/>
              </a:xfrm>
              <a:prstGeom prst="line">
                <a:avLst/>
              </a:prstGeom>
              <a:ln w="0" cap="flat" cmpd="sng">
                <a:solidFill>
                  <a:srgbClr val="000000"/>
                </a:solidFill>
                <a:prstDash val="solid"/>
                <a:headEnd type="none" w="med" len="med"/>
                <a:tailEnd type="none" w="med" len="med"/>
              </a:ln>
            </p:spPr>
          </p:sp>
          <p:sp>
            <p:nvSpPr>
              <p:cNvPr id="154802" name="Rectangle 156"/>
              <p:cNvSpPr/>
              <p:nvPr/>
            </p:nvSpPr>
            <p:spPr>
              <a:xfrm>
                <a:off x="1682" y="2575"/>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803" name="Line 157"/>
              <p:cNvSpPr/>
              <p:nvPr/>
            </p:nvSpPr>
            <p:spPr>
              <a:xfrm>
                <a:off x="1682" y="2575"/>
                <a:ext cx="0" cy="279"/>
              </a:xfrm>
              <a:prstGeom prst="line">
                <a:avLst/>
              </a:prstGeom>
              <a:ln w="0" cap="flat" cmpd="sng">
                <a:solidFill>
                  <a:srgbClr val="000000"/>
                </a:solidFill>
                <a:prstDash val="solid"/>
                <a:headEnd type="none" w="med" len="med"/>
                <a:tailEnd type="none" w="med" len="med"/>
              </a:ln>
            </p:spPr>
          </p:sp>
          <p:sp>
            <p:nvSpPr>
              <p:cNvPr id="154804" name="Rectangle 158"/>
              <p:cNvSpPr/>
              <p:nvPr/>
            </p:nvSpPr>
            <p:spPr>
              <a:xfrm>
                <a:off x="3399" y="2575"/>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805" name="Line 159"/>
              <p:cNvSpPr/>
              <p:nvPr/>
            </p:nvSpPr>
            <p:spPr>
              <a:xfrm>
                <a:off x="3399" y="2575"/>
                <a:ext cx="0" cy="279"/>
              </a:xfrm>
              <a:prstGeom prst="line">
                <a:avLst/>
              </a:prstGeom>
              <a:ln w="0" cap="flat" cmpd="sng">
                <a:solidFill>
                  <a:srgbClr val="000000"/>
                </a:solidFill>
                <a:prstDash val="solid"/>
                <a:headEnd type="none" w="med" len="med"/>
                <a:tailEnd type="none" w="med" len="med"/>
              </a:ln>
            </p:spPr>
          </p:sp>
          <p:sp>
            <p:nvSpPr>
              <p:cNvPr id="154806" name="Rectangle 160"/>
              <p:cNvSpPr/>
              <p:nvPr/>
            </p:nvSpPr>
            <p:spPr>
              <a:xfrm>
                <a:off x="5248" y="2575"/>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807" name="Line 161"/>
              <p:cNvSpPr/>
              <p:nvPr/>
            </p:nvSpPr>
            <p:spPr>
              <a:xfrm>
                <a:off x="5248" y="2575"/>
                <a:ext cx="0" cy="279"/>
              </a:xfrm>
              <a:prstGeom prst="line">
                <a:avLst/>
              </a:prstGeom>
              <a:ln w="0" cap="flat" cmpd="sng">
                <a:solidFill>
                  <a:srgbClr val="000000"/>
                </a:solidFill>
                <a:prstDash val="solid"/>
                <a:headEnd type="none" w="med" len="med"/>
                <a:tailEnd type="none" w="med" len="med"/>
              </a:ln>
            </p:spPr>
          </p:sp>
          <p:sp>
            <p:nvSpPr>
              <p:cNvPr id="154808" name="Rectangle 162"/>
              <p:cNvSpPr/>
              <p:nvPr/>
            </p:nvSpPr>
            <p:spPr>
              <a:xfrm>
                <a:off x="799" y="2906"/>
                <a:ext cx="267"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JLE</a:t>
                </a:r>
                <a:endParaRPr lang="en-US" altLang="zh-CN" sz="2200" b="1" dirty="0">
                  <a:latin typeface="宋体" panose="02010600030101010101" pitchFamily="2" charset="-122"/>
                  <a:ea typeface="宋体" panose="02010600030101010101" pitchFamily="2" charset="-122"/>
                </a:endParaRPr>
              </a:p>
            </p:txBody>
          </p:sp>
          <p:sp>
            <p:nvSpPr>
              <p:cNvPr id="154809" name="Rectangle 163"/>
              <p:cNvSpPr/>
              <p:nvPr/>
            </p:nvSpPr>
            <p:spPr>
              <a:xfrm>
                <a:off x="1112" y="2911"/>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
            <p:nvSpPr>
              <p:cNvPr id="154810" name="Rectangle 164"/>
              <p:cNvSpPr/>
              <p:nvPr/>
            </p:nvSpPr>
            <p:spPr>
              <a:xfrm>
                <a:off x="1197" y="2906"/>
                <a:ext cx="267"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FF0000"/>
                    </a:solidFill>
                    <a:latin typeface="宋体" panose="02010600030101010101" pitchFamily="2" charset="-122"/>
                    <a:ea typeface="宋体" panose="02010600030101010101" pitchFamily="2" charset="-122"/>
                  </a:rPr>
                  <a:t>JNG</a:t>
                </a:r>
                <a:endParaRPr lang="en-US" altLang="zh-CN" sz="2200" b="1" dirty="0">
                  <a:latin typeface="宋体" panose="02010600030101010101" pitchFamily="2" charset="-122"/>
                  <a:ea typeface="宋体" panose="02010600030101010101" pitchFamily="2" charset="-122"/>
                </a:endParaRPr>
              </a:p>
            </p:txBody>
          </p:sp>
          <p:sp>
            <p:nvSpPr>
              <p:cNvPr id="154811" name="Rectangle 165"/>
              <p:cNvSpPr/>
              <p:nvPr/>
            </p:nvSpPr>
            <p:spPr>
              <a:xfrm>
                <a:off x="1539" y="2906"/>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FF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4812" name="Rectangle 166"/>
              <p:cNvSpPr/>
              <p:nvPr/>
            </p:nvSpPr>
            <p:spPr>
              <a:xfrm>
                <a:off x="1781" y="2911"/>
                <a:ext cx="177"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
            <p:nvSpPr>
              <p:cNvPr id="154813" name="Rectangle 167"/>
              <p:cNvSpPr/>
              <p:nvPr/>
            </p:nvSpPr>
            <p:spPr>
              <a:xfrm>
                <a:off x="1952" y="2906"/>
                <a:ext cx="178"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SF</a:t>
                </a:r>
                <a:endParaRPr lang="en-US" altLang="zh-CN" sz="2200" b="1" dirty="0">
                  <a:latin typeface="宋体" panose="02010600030101010101" pitchFamily="2" charset="-122"/>
                  <a:ea typeface="宋体" panose="02010600030101010101" pitchFamily="2" charset="-122"/>
                </a:endParaRPr>
              </a:p>
            </p:txBody>
          </p:sp>
          <p:sp>
            <p:nvSpPr>
              <p:cNvPr id="154814" name="Rectangle 168"/>
              <p:cNvSpPr/>
              <p:nvPr/>
            </p:nvSpPr>
            <p:spPr>
              <a:xfrm>
                <a:off x="2151" y="2911"/>
                <a:ext cx="177"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
            <p:nvSpPr>
              <p:cNvPr id="154815" name="Rectangle 169"/>
              <p:cNvSpPr/>
              <p:nvPr/>
            </p:nvSpPr>
            <p:spPr>
              <a:xfrm>
                <a:off x="2322" y="2906"/>
                <a:ext cx="178"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OF</a:t>
                </a:r>
                <a:endParaRPr lang="en-US" altLang="zh-CN" sz="2200" b="1" dirty="0">
                  <a:latin typeface="宋体" panose="02010600030101010101" pitchFamily="2" charset="-122"/>
                  <a:ea typeface="宋体" panose="02010600030101010101" pitchFamily="2" charset="-122"/>
                </a:endParaRPr>
              </a:p>
            </p:txBody>
          </p:sp>
          <p:sp>
            <p:nvSpPr>
              <p:cNvPr id="154816" name="Rectangle 170"/>
              <p:cNvSpPr/>
              <p:nvPr/>
            </p:nvSpPr>
            <p:spPr>
              <a:xfrm>
                <a:off x="2559" y="2911"/>
                <a:ext cx="177"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
            <p:nvSpPr>
              <p:cNvPr id="154817" name="Rectangle 171"/>
              <p:cNvSpPr/>
              <p:nvPr/>
            </p:nvSpPr>
            <p:spPr>
              <a:xfrm>
                <a:off x="2730" y="2911"/>
                <a:ext cx="177"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a:t>
                </a:r>
                <a:endParaRPr lang="zh-CN" altLang="en-US" sz="2200" b="1" dirty="0">
                  <a:latin typeface="宋体" panose="02010600030101010101" pitchFamily="2" charset="-122"/>
                  <a:ea typeface="宋体" panose="02010600030101010101" pitchFamily="2" charset="-122"/>
                </a:endParaRPr>
              </a:p>
            </p:txBody>
          </p:sp>
          <p:sp>
            <p:nvSpPr>
              <p:cNvPr id="154818" name="Rectangle 172"/>
              <p:cNvSpPr/>
              <p:nvPr/>
            </p:nvSpPr>
            <p:spPr>
              <a:xfrm>
                <a:off x="2902" y="2906"/>
                <a:ext cx="356"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00"/>
                    </a:solidFill>
                    <a:latin typeface="宋体" panose="02010600030101010101" pitchFamily="2" charset="-122"/>
                    <a:ea typeface="宋体" panose="02010600030101010101" pitchFamily="2" charset="-122"/>
                  </a:rPr>
                  <a:t>ZF=1</a:t>
                </a:r>
                <a:endParaRPr lang="en-US" altLang="zh-CN" sz="2200" b="1" dirty="0">
                  <a:latin typeface="宋体" panose="02010600030101010101" pitchFamily="2" charset="-122"/>
                  <a:ea typeface="宋体" panose="02010600030101010101" pitchFamily="2" charset="-122"/>
                </a:endParaRPr>
              </a:p>
            </p:txBody>
          </p:sp>
          <p:sp>
            <p:nvSpPr>
              <p:cNvPr id="154819" name="Rectangle 173"/>
              <p:cNvSpPr/>
              <p:nvPr/>
            </p:nvSpPr>
            <p:spPr>
              <a:xfrm>
                <a:off x="3302" y="2906"/>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4820" name="Rectangle 174"/>
              <p:cNvSpPr/>
              <p:nvPr/>
            </p:nvSpPr>
            <p:spPr>
              <a:xfrm>
                <a:off x="3682" y="2911"/>
                <a:ext cx="708"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小于等于</a:t>
                </a:r>
                <a:endParaRPr lang="zh-CN" altLang="en-US" sz="2200" b="1" dirty="0">
                  <a:latin typeface="宋体" panose="02010600030101010101" pitchFamily="2" charset="-122"/>
                  <a:ea typeface="宋体" panose="02010600030101010101" pitchFamily="2" charset="-122"/>
                </a:endParaRPr>
              </a:p>
            </p:txBody>
          </p:sp>
          <p:sp>
            <p:nvSpPr>
              <p:cNvPr id="154821" name="Rectangle 175"/>
              <p:cNvSpPr/>
              <p:nvPr/>
            </p:nvSpPr>
            <p:spPr>
              <a:xfrm>
                <a:off x="4368" y="2911"/>
                <a:ext cx="89" cy="211"/>
              </a:xfrm>
              <a:prstGeom prst="rect">
                <a:avLst/>
              </a:prstGeom>
              <a:noFill/>
              <a:ln w="9525">
                <a:noFill/>
              </a:ln>
            </p:spPr>
            <p:txBody>
              <a:bodyPr wrap="none" lIns="0" tIns="0" rIns="0" bIns="0">
                <a:spAutoFit/>
              </a:bodyPr>
              <a:p>
                <a:pPr>
                  <a:buFont typeface="Wingdings" panose="05000000000000000000" pitchFamily="2" charset="2"/>
                </a:pPr>
                <a:r>
                  <a:rPr lang="en-US" altLang="zh-CN" sz="2200" b="1" dirty="0">
                    <a:solidFill>
                      <a:srgbClr val="0000FF"/>
                    </a:solidFill>
                    <a:latin typeface="宋体" panose="02010600030101010101" pitchFamily="2" charset="-122"/>
                    <a:ea typeface="宋体" panose="02010600030101010101" pitchFamily="2" charset="-122"/>
                  </a:rPr>
                  <a:t>/</a:t>
                </a:r>
                <a:endParaRPr lang="en-US" altLang="zh-CN" sz="2200" b="1" dirty="0">
                  <a:latin typeface="宋体" panose="02010600030101010101" pitchFamily="2" charset="-122"/>
                  <a:ea typeface="宋体" panose="02010600030101010101" pitchFamily="2" charset="-122"/>
                </a:endParaRPr>
              </a:p>
            </p:txBody>
          </p:sp>
          <p:sp>
            <p:nvSpPr>
              <p:cNvPr id="154822" name="Rectangle 176"/>
              <p:cNvSpPr/>
              <p:nvPr/>
            </p:nvSpPr>
            <p:spPr>
              <a:xfrm>
                <a:off x="4452" y="2911"/>
                <a:ext cx="531"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不大于</a:t>
                </a:r>
                <a:endParaRPr lang="zh-CN" altLang="en-US" sz="2200" b="1" dirty="0">
                  <a:latin typeface="宋体" panose="02010600030101010101" pitchFamily="2" charset="-122"/>
                  <a:ea typeface="宋体" panose="02010600030101010101" pitchFamily="2" charset="-122"/>
                </a:endParaRPr>
              </a:p>
            </p:txBody>
          </p:sp>
          <p:sp>
            <p:nvSpPr>
              <p:cNvPr id="154823" name="Rectangle 177"/>
              <p:cNvSpPr/>
              <p:nvPr/>
            </p:nvSpPr>
            <p:spPr>
              <a:xfrm>
                <a:off x="4966" y="2906"/>
                <a:ext cx="89" cy="211"/>
              </a:xfrm>
              <a:prstGeom prst="rect">
                <a:avLst/>
              </a:prstGeom>
              <a:noFill/>
              <a:ln w="9525">
                <a:noFill/>
              </a:ln>
            </p:spPr>
            <p:txBody>
              <a:bodyPr wrap="none" lIns="0" tIns="0" rIns="0" bIns="0">
                <a:spAutoFit/>
              </a:bodyPr>
              <a:p>
                <a:pPr>
                  <a:buFont typeface="Wingdings" panose="05000000000000000000" pitchFamily="2" charset="2"/>
                </a:pPr>
                <a:r>
                  <a:rPr lang="zh-CN" altLang="en-US" sz="2200" b="1" dirty="0">
                    <a:solidFill>
                      <a:srgbClr val="000000"/>
                    </a:solidFill>
                    <a:latin typeface="宋体" panose="02010600030101010101" pitchFamily="2" charset="-122"/>
                    <a:ea typeface="宋体" panose="02010600030101010101" pitchFamily="2" charset="-122"/>
                  </a:rPr>
                  <a:t> </a:t>
                </a:r>
                <a:endParaRPr lang="zh-CN" altLang="en-US" sz="2200" b="1" dirty="0">
                  <a:latin typeface="宋体" panose="02010600030101010101" pitchFamily="2" charset="-122"/>
                  <a:ea typeface="宋体" panose="02010600030101010101" pitchFamily="2" charset="-122"/>
                </a:endParaRPr>
              </a:p>
            </p:txBody>
          </p:sp>
          <p:sp>
            <p:nvSpPr>
              <p:cNvPr id="154824" name="Rectangle 178"/>
              <p:cNvSpPr/>
              <p:nvPr/>
            </p:nvSpPr>
            <p:spPr>
              <a:xfrm>
                <a:off x="654" y="2854"/>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825" name="Line 179"/>
              <p:cNvSpPr/>
              <p:nvPr/>
            </p:nvSpPr>
            <p:spPr>
              <a:xfrm>
                <a:off x="654" y="2854"/>
                <a:ext cx="2" cy="0"/>
              </a:xfrm>
              <a:prstGeom prst="line">
                <a:avLst/>
              </a:prstGeom>
              <a:ln w="0" cap="flat" cmpd="sng">
                <a:solidFill>
                  <a:srgbClr val="000000"/>
                </a:solidFill>
                <a:prstDash val="solid"/>
                <a:headEnd type="none" w="med" len="med"/>
                <a:tailEnd type="none" w="med" len="med"/>
              </a:ln>
            </p:spPr>
          </p:sp>
          <p:sp>
            <p:nvSpPr>
              <p:cNvPr id="154826" name="Line 180"/>
              <p:cNvSpPr/>
              <p:nvPr/>
            </p:nvSpPr>
            <p:spPr>
              <a:xfrm>
                <a:off x="654" y="2854"/>
                <a:ext cx="0" cy="3"/>
              </a:xfrm>
              <a:prstGeom prst="line">
                <a:avLst/>
              </a:prstGeom>
              <a:ln w="0" cap="flat" cmpd="sng">
                <a:solidFill>
                  <a:srgbClr val="000000"/>
                </a:solidFill>
                <a:prstDash val="solid"/>
                <a:headEnd type="none" w="med" len="med"/>
                <a:tailEnd type="none" w="med" len="med"/>
              </a:ln>
            </p:spPr>
          </p:sp>
          <p:sp>
            <p:nvSpPr>
              <p:cNvPr id="154827" name="Rectangle 181"/>
              <p:cNvSpPr/>
              <p:nvPr/>
            </p:nvSpPr>
            <p:spPr>
              <a:xfrm>
                <a:off x="656" y="2854"/>
                <a:ext cx="1026"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828" name="Line 182"/>
              <p:cNvSpPr/>
              <p:nvPr/>
            </p:nvSpPr>
            <p:spPr>
              <a:xfrm>
                <a:off x="656" y="2854"/>
                <a:ext cx="1026" cy="0"/>
              </a:xfrm>
              <a:prstGeom prst="line">
                <a:avLst/>
              </a:prstGeom>
              <a:ln w="0" cap="flat" cmpd="sng">
                <a:solidFill>
                  <a:srgbClr val="000000"/>
                </a:solidFill>
                <a:prstDash val="solid"/>
                <a:headEnd type="none" w="med" len="med"/>
                <a:tailEnd type="none" w="med" len="med"/>
              </a:ln>
            </p:spPr>
          </p:sp>
          <p:sp>
            <p:nvSpPr>
              <p:cNvPr id="154829" name="Rectangle 183"/>
              <p:cNvSpPr/>
              <p:nvPr/>
            </p:nvSpPr>
            <p:spPr>
              <a:xfrm>
                <a:off x="1682" y="2854"/>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830" name="Line 184"/>
              <p:cNvSpPr/>
              <p:nvPr/>
            </p:nvSpPr>
            <p:spPr>
              <a:xfrm>
                <a:off x="1682" y="2854"/>
                <a:ext cx="2" cy="0"/>
              </a:xfrm>
              <a:prstGeom prst="line">
                <a:avLst/>
              </a:prstGeom>
              <a:ln w="0" cap="flat" cmpd="sng">
                <a:solidFill>
                  <a:srgbClr val="000000"/>
                </a:solidFill>
                <a:prstDash val="solid"/>
                <a:headEnd type="none" w="med" len="med"/>
                <a:tailEnd type="none" w="med" len="med"/>
              </a:ln>
            </p:spPr>
          </p:sp>
          <p:sp>
            <p:nvSpPr>
              <p:cNvPr id="154831" name="Line 185"/>
              <p:cNvSpPr/>
              <p:nvPr/>
            </p:nvSpPr>
            <p:spPr>
              <a:xfrm>
                <a:off x="1682" y="2854"/>
                <a:ext cx="0" cy="3"/>
              </a:xfrm>
              <a:prstGeom prst="line">
                <a:avLst/>
              </a:prstGeom>
              <a:ln w="0" cap="flat" cmpd="sng">
                <a:solidFill>
                  <a:srgbClr val="000000"/>
                </a:solidFill>
                <a:prstDash val="solid"/>
                <a:headEnd type="none" w="med" len="med"/>
                <a:tailEnd type="none" w="med" len="med"/>
              </a:ln>
            </p:spPr>
          </p:sp>
          <p:sp>
            <p:nvSpPr>
              <p:cNvPr id="154832" name="Rectangle 186"/>
              <p:cNvSpPr/>
              <p:nvPr/>
            </p:nvSpPr>
            <p:spPr>
              <a:xfrm>
                <a:off x="1684" y="2854"/>
                <a:ext cx="1715"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833" name="Line 187"/>
              <p:cNvSpPr/>
              <p:nvPr/>
            </p:nvSpPr>
            <p:spPr>
              <a:xfrm>
                <a:off x="1684" y="2854"/>
                <a:ext cx="1715" cy="0"/>
              </a:xfrm>
              <a:prstGeom prst="line">
                <a:avLst/>
              </a:prstGeom>
              <a:ln w="0" cap="flat" cmpd="sng">
                <a:solidFill>
                  <a:srgbClr val="000000"/>
                </a:solidFill>
                <a:prstDash val="solid"/>
                <a:headEnd type="none" w="med" len="med"/>
                <a:tailEnd type="none" w="med" len="med"/>
              </a:ln>
            </p:spPr>
          </p:sp>
          <p:sp>
            <p:nvSpPr>
              <p:cNvPr id="154834" name="Rectangle 188"/>
              <p:cNvSpPr/>
              <p:nvPr/>
            </p:nvSpPr>
            <p:spPr>
              <a:xfrm>
                <a:off x="3399" y="2854"/>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835" name="Line 189"/>
              <p:cNvSpPr/>
              <p:nvPr/>
            </p:nvSpPr>
            <p:spPr>
              <a:xfrm>
                <a:off x="3399" y="2854"/>
                <a:ext cx="2" cy="0"/>
              </a:xfrm>
              <a:prstGeom prst="line">
                <a:avLst/>
              </a:prstGeom>
              <a:ln w="0" cap="flat" cmpd="sng">
                <a:solidFill>
                  <a:srgbClr val="000000"/>
                </a:solidFill>
                <a:prstDash val="solid"/>
                <a:headEnd type="none" w="med" len="med"/>
                <a:tailEnd type="none" w="med" len="med"/>
              </a:ln>
            </p:spPr>
          </p:sp>
          <p:sp>
            <p:nvSpPr>
              <p:cNvPr id="154836" name="Line 190"/>
              <p:cNvSpPr/>
              <p:nvPr/>
            </p:nvSpPr>
            <p:spPr>
              <a:xfrm>
                <a:off x="3399" y="2854"/>
                <a:ext cx="0" cy="3"/>
              </a:xfrm>
              <a:prstGeom prst="line">
                <a:avLst/>
              </a:prstGeom>
              <a:ln w="0" cap="flat" cmpd="sng">
                <a:solidFill>
                  <a:srgbClr val="000000"/>
                </a:solidFill>
                <a:prstDash val="solid"/>
                <a:headEnd type="none" w="med" len="med"/>
                <a:tailEnd type="none" w="med" len="med"/>
              </a:ln>
            </p:spPr>
          </p:sp>
          <p:sp>
            <p:nvSpPr>
              <p:cNvPr id="154837" name="Rectangle 191"/>
              <p:cNvSpPr/>
              <p:nvPr/>
            </p:nvSpPr>
            <p:spPr>
              <a:xfrm>
                <a:off x="3401" y="2854"/>
                <a:ext cx="1847"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838" name="Line 192"/>
              <p:cNvSpPr/>
              <p:nvPr/>
            </p:nvSpPr>
            <p:spPr>
              <a:xfrm>
                <a:off x="3401" y="2854"/>
                <a:ext cx="1847" cy="0"/>
              </a:xfrm>
              <a:prstGeom prst="line">
                <a:avLst/>
              </a:prstGeom>
              <a:ln w="0" cap="flat" cmpd="sng">
                <a:solidFill>
                  <a:srgbClr val="000000"/>
                </a:solidFill>
                <a:prstDash val="solid"/>
                <a:headEnd type="none" w="med" len="med"/>
                <a:tailEnd type="none" w="med" len="med"/>
              </a:ln>
            </p:spPr>
          </p:sp>
          <p:sp>
            <p:nvSpPr>
              <p:cNvPr id="154839" name="Rectangle 193"/>
              <p:cNvSpPr/>
              <p:nvPr/>
            </p:nvSpPr>
            <p:spPr>
              <a:xfrm>
                <a:off x="5248" y="2854"/>
                <a:ext cx="2" cy="3"/>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840" name="Line 194"/>
              <p:cNvSpPr/>
              <p:nvPr/>
            </p:nvSpPr>
            <p:spPr>
              <a:xfrm>
                <a:off x="5248" y="2854"/>
                <a:ext cx="2" cy="0"/>
              </a:xfrm>
              <a:prstGeom prst="line">
                <a:avLst/>
              </a:prstGeom>
              <a:ln w="0" cap="flat" cmpd="sng">
                <a:solidFill>
                  <a:srgbClr val="000000"/>
                </a:solidFill>
                <a:prstDash val="solid"/>
                <a:headEnd type="none" w="med" len="med"/>
                <a:tailEnd type="none" w="med" len="med"/>
              </a:ln>
            </p:spPr>
          </p:sp>
          <p:sp>
            <p:nvSpPr>
              <p:cNvPr id="154841" name="Line 195"/>
              <p:cNvSpPr/>
              <p:nvPr/>
            </p:nvSpPr>
            <p:spPr>
              <a:xfrm>
                <a:off x="5248" y="2854"/>
                <a:ext cx="0" cy="3"/>
              </a:xfrm>
              <a:prstGeom prst="line">
                <a:avLst/>
              </a:prstGeom>
              <a:ln w="0" cap="flat" cmpd="sng">
                <a:solidFill>
                  <a:srgbClr val="000000"/>
                </a:solidFill>
                <a:prstDash val="solid"/>
                <a:headEnd type="none" w="med" len="med"/>
                <a:tailEnd type="none" w="med" len="med"/>
              </a:ln>
            </p:spPr>
          </p:sp>
          <p:sp>
            <p:nvSpPr>
              <p:cNvPr id="154842" name="Rectangle 196"/>
              <p:cNvSpPr/>
              <p:nvPr/>
            </p:nvSpPr>
            <p:spPr>
              <a:xfrm>
                <a:off x="654" y="2857"/>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843" name="Line 197"/>
              <p:cNvSpPr/>
              <p:nvPr/>
            </p:nvSpPr>
            <p:spPr>
              <a:xfrm>
                <a:off x="654" y="2857"/>
                <a:ext cx="0" cy="279"/>
              </a:xfrm>
              <a:prstGeom prst="line">
                <a:avLst/>
              </a:prstGeom>
              <a:ln w="0" cap="flat" cmpd="sng">
                <a:solidFill>
                  <a:srgbClr val="000000"/>
                </a:solidFill>
                <a:prstDash val="solid"/>
                <a:headEnd type="none" w="med" len="med"/>
                <a:tailEnd type="none" w="med" len="med"/>
              </a:ln>
            </p:spPr>
          </p:sp>
          <p:sp>
            <p:nvSpPr>
              <p:cNvPr id="154844" name="Rectangle 198"/>
              <p:cNvSpPr/>
              <p:nvPr/>
            </p:nvSpPr>
            <p:spPr>
              <a:xfrm>
                <a:off x="654" y="3136"/>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845" name="Line 199"/>
              <p:cNvSpPr/>
              <p:nvPr/>
            </p:nvSpPr>
            <p:spPr>
              <a:xfrm>
                <a:off x="654" y="3136"/>
                <a:ext cx="2" cy="0"/>
              </a:xfrm>
              <a:prstGeom prst="line">
                <a:avLst/>
              </a:prstGeom>
              <a:ln w="0" cap="flat" cmpd="sng">
                <a:solidFill>
                  <a:srgbClr val="000000"/>
                </a:solidFill>
                <a:prstDash val="solid"/>
                <a:headEnd type="none" w="med" len="med"/>
                <a:tailEnd type="none" w="med" len="med"/>
              </a:ln>
            </p:spPr>
          </p:sp>
          <p:sp>
            <p:nvSpPr>
              <p:cNvPr id="154846" name="Line 200"/>
              <p:cNvSpPr/>
              <p:nvPr/>
            </p:nvSpPr>
            <p:spPr>
              <a:xfrm>
                <a:off x="654" y="3136"/>
                <a:ext cx="0" cy="2"/>
              </a:xfrm>
              <a:prstGeom prst="line">
                <a:avLst/>
              </a:prstGeom>
              <a:ln w="0" cap="flat" cmpd="sng">
                <a:solidFill>
                  <a:srgbClr val="000000"/>
                </a:solidFill>
                <a:prstDash val="solid"/>
                <a:headEnd type="none" w="med" len="med"/>
                <a:tailEnd type="none" w="med" len="med"/>
              </a:ln>
            </p:spPr>
          </p:sp>
          <p:sp>
            <p:nvSpPr>
              <p:cNvPr id="154847" name="Rectangle 201"/>
              <p:cNvSpPr/>
              <p:nvPr/>
            </p:nvSpPr>
            <p:spPr>
              <a:xfrm>
                <a:off x="654" y="3136"/>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848" name="Line 202"/>
              <p:cNvSpPr/>
              <p:nvPr/>
            </p:nvSpPr>
            <p:spPr>
              <a:xfrm>
                <a:off x="654" y="3136"/>
                <a:ext cx="2" cy="0"/>
              </a:xfrm>
              <a:prstGeom prst="line">
                <a:avLst/>
              </a:prstGeom>
              <a:ln w="0" cap="flat" cmpd="sng">
                <a:solidFill>
                  <a:srgbClr val="000000"/>
                </a:solidFill>
                <a:prstDash val="solid"/>
                <a:headEnd type="none" w="med" len="med"/>
                <a:tailEnd type="none" w="med" len="med"/>
              </a:ln>
            </p:spPr>
          </p:sp>
          <p:sp>
            <p:nvSpPr>
              <p:cNvPr id="154849" name="Line 203"/>
              <p:cNvSpPr/>
              <p:nvPr/>
            </p:nvSpPr>
            <p:spPr>
              <a:xfrm>
                <a:off x="654" y="3136"/>
                <a:ext cx="0" cy="2"/>
              </a:xfrm>
              <a:prstGeom prst="line">
                <a:avLst/>
              </a:prstGeom>
              <a:ln w="0" cap="flat" cmpd="sng">
                <a:solidFill>
                  <a:srgbClr val="000000"/>
                </a:solidFill>
                <a:prstDash val="solid"/>
                <a:headEnd type="none" w="med" len="med"/>
                <a:tailEnd type="none" w="med" len="med"/>
              </a:ln>
            </p:spPr>
          </p:sp>
          <p:sp>
            <p:nvSpPr>
              <p:cNvPr id="154850" name="Rectangle 204"/>
              <p:cNvSpPr/>
              <p:nvPr/>
            </p:nvSpPr>
            <p:spPr>
              <a:xfrm>
                <a:off x="656" y="3136"/>
                <a:ext cx="1026"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grpSp>
        <p:sp>
          <p:nvSpPr>
            <p:cNvPr id="154629" name="Line 205"/>
            <p:cNvSpPr/>
            <p:nvPr/>
          </p:nvSpPr>
          <p:spPr>
            <a:xfrm>
              <a:off x="656" y="3136"/>
              <a:ext cx="1026" cy="0"/>
            </a:xfrm>
            <a:prstGeom prst="line">
              <a:avLst/>
            </a:prstGeom>
            <a:ln w="0" cap="flat" cmpd="sng">
              <a:solidFill>
                <a:srgbClr val="000000"/>
              </a:solidFill>
              <a:prstDash val="solid"/>
              <a:headEnd type="none" w="med" len="med"/>
              <a:tailEnd type="none" w="med" len="med"/>
            </a:ln>
          </p:spPr>
        </p:sp>
        <p:sp>
          <p:nvSpPr>
            <p:cNvPr id="154630" name="Rectangle 206"/>
            <p:cNvSpPr/>
            <p:nvPr/>
          </p:nvSpPr>
          <p:spPr>
            <a:xfrm>
              <a:off x="1682" y="2857"/>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31" name="Line 207"/>
            <p:cNvSpPr/>
            <p:nvPr/>
          </p:nvSpPr>
          <p:spPr>
            <a:xfrm>
              <a:off x="1682" y="2857"/>
              <a:ext cx="0" cy="279"/>
            </a:xfrm>
            <a:prstGeom prst="line">
              <a:avLst/>
            </a:prstGeom>
            <a:ln w="0" cap="flat" cmpd="sng">
              <a:solidFill>
                <a:srgbClr val="000000"/>
              </a:solidFill>
              <a:prstDash val="solid"/>
              <a:headEnd type="none" w="med" len="med"/>
              <a:tailEnd type="none" w="med" len="med"/>
            </a:ln>
          </p:spPr>
        </p:sp>
        <p:sp>
          <p:nvSpPr>
            <p:cNvPr id="154632" name="Rectangle 208"/>
            <p:cNvSpPr/>
            <p:nvPr/>
          </p:nvSpPr>
          <p:spPr>
            <a:xfrm>
              <a:off x="1682" y="3136"/>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33" name="Line 209"/>
            <p:cNvSpPr/>
            <p:nvPr/>
          </p:nvSpPr>
          <p:spPr>
            <a:xfrm>
              <a:off x="1682" y="3136"/>
              <a:ext cx="0" cy="2"/>
            </a:xfrm>
            <a:prstGeom prst="line">
              <a:avLst/>
            </a:prstGeom>
            <a:ln w="0" cap="flat" cmpd="sng">
              <a:solidFill>
                <a:srgbClr val="000000"/>
              </a:solidFill>
              <a:prstDash val="solid"/>
              <a:headEnd type="none" w="med" len="med"/>
              <a:tailEnd type="none" w="med" len="med"/>
            </a:ln>
          </p:spPr>
        </p:sp>
        <p:sp>
          <p:nvSpPr>
            <p:cNvPr id="154634" name="Rectangle 210"/>
            <p:cNvSpPr/>
            <p:nvPr/>
          </p:nvSpPr>
          <p:spPr>
            <a:xfrm>
              <a:off x="1684" y="3136"/>
              <a:ext cx="1715"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35" name="Line 211"/>
            <p:cNvSpPr/>
            <p:nvPr/>
          </p:nvSpPr>
          <p:spPr>
            <a:xfrm>
              <a:off x="1684" y="3136"/>
              <a:ext cx="1715" cy="0"/>
            </a:xfrm>
            <a:prstGeom prst="line">
              <a:avLst/>
            </a:prstGeom>
            <a:ln w="0" cap="flat" cmpd="sng">
              <a:solidFill>
                <a:srgbClr val="000000"/>
              </a:solidFill>
              <a:prstDash val="solid"/>
              <a:headEnd type="none" w="med" len="med"/>
              <a:tailEnd type="none" w="med" len="med"/>
            </a:ln>
          </p:spPr>
        </p:sp>
        <p:sp>
          <p:nvSpPr>
            <p:cNvPr id="154636" name="Rectangle 212"/>
            <p:cNvSpPr/>
            <p:nvPr/>
          </p:nvSpPr>
          <p:spPr>
            <a:xfrm>
              <a:off x="3399" y="2857"/>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37" name="Line 213"/>
            <p:cNvSpPr/>
            <p:nvPr/>
          </p:nvSpPr>
          <p:spPr>
            <a:xfrm>
              <a:off x="3399" y="2857"/>
              <a:ext cx="0" cy="279"/>
            </a:xfrm>
            <a:prstGeom prst="line">
              <a:avLst/>
            </a:prstGeom>
            <a:ln w="0" cap="flat" cmpd="sng">
              <a:solidFill>
                <a:srgbClr val="000000"/>
              </a:solidFill>
              <a:prstDash val="solid"/>
              <a:headEnd type="none" w="med" len="med"/>
              <a:tailEnd type="none" w="med" len="med"/>
            </a:ln>
          </p:spPr>
        </p:sp>
        <p:sp>
          <p:nvSpPr>
            <p:cNvPr id="154638" name="Rectangle 214"/>
            <p:cNvSpPr/>
            <p:nvPr/>
          </p:nvSpPr>
          <p:spPr>
            <a:xfrm>
              <a:off x="3399" y="3136"/>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39" name="Line 215"/>
            <p:cNvSpPr/>
            <p:nvPr/>
          </p:nvSpPr>
          <p:spPr>
            <a:xfrm>
              <a:off x="3399" y="3136"/>
              <a:ext cx="2" cy="0"/>
            </a:xfrm>
            <a:prstGeom prst="line">
              <a:avLst/>
            </a:prstGeom>
            <a:ln w="0" cap="flat" cmpd="sng">
              <a:solidFill>
                <a:srgbClr val="000000"/>
              </a:solidFill>
              <a:prstDash val="solid"/>
              <a:headEnd type="none" w="med" len="med"/>
              <a:tailEnd type="none" w="med" len="med"/>
            </a:ln>
          </p:spPr>
        </p:sp>
        <p:sp>
          <p:nvSpPr>
            <p:cNvPr id="154640" name="Line 216"/>
            <p:cNvSpPr/>
            <p:nvPr/>
          </p:nvSpPr>
          <p:spPr>
            <a:xfrm>
              <a:off x="3399" y="3136"/>
              <a:ext cx="0" cy="2"/>
            </a:xfrm>
            <a:prstGeom prst="line">
              <a:avLst/>
            </a:prstGeom>
            <a:ln w="0" cap="flat" cmpd="sng">
              <a:solidFill>
                <a:srgbClr val="000000"/>
              </a:solidFill>
              <a:prstDash val="solid"/>
              <a:headEnd type="none" w="med" len="med"/>
              <a:tailEnd type="none" w="med" len="med"/>
            </a:ln>
          </p:spPr>
        </p:sp>
        <p:sp>
          <p:nvSpPr>
            <p:cNvPr id="154641" name="Rectangle 217"/>
            <p:cNvSpPr/>
            <p:nvPr/>
          </p:nvSpPr>
          <p:spPr>
            <a:xfrm>
              <a:off x="3401" y="3136"/>
              <a:ext cx="1847"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42" name="Line 218"/>
            <p:cNvSpPr/>
            <p:nvPr/>
          </p:nvSpPr>
          <p:spPr>
            <a:xfrm>
              <a:off x="3401" y="3136"/>
              <a:ext cx="1847" cy="0"/>
            </a:xfrm>
            <a:prstGeom prst="line">
              <a:avLst/>
            </a:prstGeom>
            <a:ln w="0" cap="flat" cmpd="sng">
              <a:solidFill>
                <a:srgbClr val="000000"/>
              </a:solidFill>
              <a:prstDash val="solid"/>
              <a:headEnd type="none" w="med" len="med"/>
              <a:tailEnd type="none" w="med" len="med"/>
            </a:ln>
          </p:spPr>
        </p:sp>
        <p:sp>
          <p:nvSpPr>
            <p:cNvPr id="154643" name="Rectangle 219"/>
            <p:cNvSpPr/>
            <p:nvPr/>
          </p:nvSpPr>
          <p:spPr>
            <a:xfrm>
              <a:off x="5248" y="2857"/>
              <a:ext cx="2" cy="279"/>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44" name="Line 220"/>
            <p:cNvSpPr/>
            <p:nvPr/>
          </p:nvSpPr>
          <p:spPr>
            <a:xfrm>
              <a:off x="5248" y="2857"/>
              <a:ext cx="0" cy="279"/>
            </a:xfrm>
            <a:prstGeom prst="line">
              <a:avLst/>
            </a:prstGeom>
            <a:ln w="0" cap="flat" cmpd="sng">
              <a:solidFill>
                <a:srgbClr val="000000"/>
              </a:solidFill>
              <a:prstDash val="solid"/>
              <a:headEnd type="none" w="med" len="med"/>
              <a:tailEnd type="none" w="med" len="med"/>
            </a:ln>
          </p:spPr>
        </p:sp>
        <p:sp>
          <p:nvSpPr>
            <p:cNvPr id="154645" name="Rectangle 221"/>
            <p:cNvSpPr/>
            <p:nvPr/>
          </p:nvSpPr>
          <p:spPr>
            <a:xfrm>
              <a:off x="5248" y="3136"/>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46" name="Line 222"/>
            <p:cNvSpPr/>
            <p:nvPr/>
          </p:nvSpPr>
          <p:spPr>
            <a:xfrm>
              <a:off x="5248" y="3136"/>
              <a:ext cx="2" cy="0"/>
            </a:xfrm>
            <a:prstGeom prst="line">
              <a:avLst/>
            </a:prstGeom>
            <a:ln w="0" cap="flat" cmpd="sng">
              <a:solidFill>
                <a:srgbClr val="000000"/>
              </a:solidFill>
              <a:prstDash val="solid"/>
              <a:headEnd type="none" w="med" len="med"/>
              <a:tailEnd type="none" w="med" len="med"/>
            </a:ln>
          </p:spPr>
        </p:sp>
        <p:sp>
          <p:nvSpPr>
            <p:cNvPr id="154647" name="Line 223"/>
            <p:cNvSpPr/>
            <p:nvPr/>
          </p:nvSpPr>
          <p:spPr>
            <a:xfrm>
              <a:off x="5248" y="3136"/>
              <a:ext cx="0" cy="2"/>
            </a:xfrm>
            <a:prstGeom prst="line">
              <a:avLst/>
            </a:prstGeom>
            <a:ln w="0" cap="flat" cmpd="sng">
              <a:solidFill>
                <a:srgbClr val="000000"/>
              </a:solidFill>
              <a:prstDash val="solid"/>
              <a:headEnd type="none" w="med" len="med"/>
              <a:tailEnd type="none" w="med" len="med"/>
            </a:ln>
          </p:spPr>
        </p:sp>
        <p:sp>
          <p:nvSpPr>
            <p:cNvPr id="154648" name="Rectangle 224"/>
            <p:cNvSpPr/>
            <p:nvPr/>
          </p:nvSpPr>
          <p:spPr>
            <a:xfrm>
              <a:off x="5248" y="3136"/>
              <a:ext cx="2" cy="2"/>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54649" name="Line 225"/>
            <p:cNvSpPr/>
            <p:nvPr/>
          </p:nvSpPr>
          <p:spPr>
            <a:xfrm>
              <a:off x="5248" y="3136"/>
              <a:ext cx="2" cy="0"/>
            </a:xfrm>
            <a:prstGeom prst="line">
              <a:avLst/>
            </a:prstGeom>
            <a:ln w="0" cap="flat" cmpd="sng">
              <a:solidFill>
                <a:srgbClr val="000000"/>
              </a:solidFill>
              <a:prstDash val="solid"/>
              <a:headEnd type="none" w="med" len="med"/>
              <a:tailEnd type="none" w="med" len="med"/>
            </a:ln>
          </p:spPr>
        </p:sp>
        <p:sp>
          <p:nvSpPr>
            <p:cNvPr id="154650" name="Line 226"/>
            <p:cNvSpPr/>
            <p:nvPr/>
          </p:nvSpPr>
          <p:spPr>
            <a:xfrm>
              <a:off x="5248" y="3136"/>
              <a:ext cx="0" cy="2"/>
            </a:xfrm>
            <a:prstGeom prst="line">
              <a:avLst/>
            </a:prstGeom>
            <a:ln w="0" cap="flat" cmpd="sng">
              <a:solidFill>
                <a:srgbClr val="000000"/>
              </a:solidFill>
              <a:prstDash val="solid"/>
              <a:headEnd type="none" w="med" len="med"/>
              <a:tailEnd type="none" w="med" len="med"/>
            </a:ln>
          </p:spPr>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368642"/>
                                        </p:tgtEl>
                                        <p:attrNameLst>
                                          <p:attrName>style.visibility</p:attrName>
                                        </p:attrNameLst>
                                      </p:cBhvr>
                                      <p:to>
                                        <p:strVal val="visible"/>
                                      </p:to>
                                    </p:set>
                                    <p:anim calcmode="lin" valueType="num">
                                      <p:cBhvr>
                                        <p:cTn id="7" dur="500" fill="hold"/>
                                        <p:tgtEl>
                                          <p:spTgt spid="368642"/>
                                        </p:tgtEl>
                                        <p:attrNameLst>
                                          <p:attrName>ppt_x</p:attrName>
                                        </p:attrNameLst>
                                      </p:cBhvr>
                                      <p:tavLst>
                                        <p:tav tm="0">
                                          <p:val>
                                            <p:strVal val="#ppt_x-#ppt_w/2"/>
                                          </p:val>
                                        </p:tav>
                                        <p:tav tm="100000">
                                          <p:val>
                                            <p:strVal val="#ppt_x"/>
                                          </p:val>
                                        </p:tav>
                                      </p:tavLst>
                                    </p:anim>
                                    <p:anim calcmode="lin" valueType="num">
                                      <p:cBhvr>
                                        <p:cTn id="8" dur="500" fill="hold"/>
                                        <p:tgtEl>
                                          <p:spTgt spid="368642"/>
                                        </p:tgtEl>
                                        <p:attrNameLst>
                                          <p:attrName>ppt_y</p:attrName>
                                        </p:attrNameLst>
                                      </p:cBhvr>
                                      <p:tavLst>
                                        <p:tav tm="0">
                                          <p:val>
                                            <p:strVal val="#ppt_y"/>
                                          </p:val>
                                        </p:tav>
                                        <p:tav tm="100000">
                                          <p:val>
                                            <p:strVal val="#ppt_y"/>
                                          </p:val>
                                        </p:tav>
                                      </p:tavLst>
                                    </p:anim>
                                    <p:anim calcmode="lin" valueType="num">
                                      <p:cBhvr>
                                        <p:cTn id="9" dur="500" fill="hold"/>
                                        <p:tgtEl>
                                          <p:spTgt spid="368642"/>
                                        </p:tgtEl>
                                        <p:attrNameLst>
                                          <p:attrName>ppt_w</p:attrName>
                                        </p:attrNameLst>
                                      </p:cBhvr>
                                      <p:tavLst>
                                        <p:tav tm="0">
                                          <p:val>
                                            <p:fltVal val="0.000000"/>
                                          </p:val>
                                        </p:tav>
                                        <p:tav tm="100000">
                                          <p:val>
                                            <p:strVal val="#ppt_w"/>
                                          </p:val>
                                        </p:tav>
                                      </p:tavLst>
                                    </p:anim>
                                    <p:anim calcmode="lin" valueType="num">
                                      <p:cBhvr>
                                        <p:cTn id="10" dur="500" fill="hold"/>
                                        <p:tgtEl>
                                          <p:spTgt spid="368642"/>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checkerboard(across)">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2"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AutoShape 8"/>
          <p:cNvSpPr/>
          <p:nvPr/>
        </p:nvSpPr>
        <p:spPr>
          <a:xfrm>
            <a:off x="468313" y="1125538"/>
            <a:ext cx="2870200" cy="457200"/>
          </a:xfrm>
          <a:prstGeom prst="flowChartAlternateProcess">
            <a:avLst/>
          </a:prstGeom>
          <a:noFill/>
          <a:ln w="28575" cap="flat" cmpd="sng">
            <a:solidFill>
              <a:schemeClr val="accent1"/>
            </a:solidFill>
            <a:prstDash val="solid"/>
            <a:miter/>
            <a:headEnd type="none" w="med" len="med"/>
            <a:tailEnd type="none" w="med" len="med"/>
          </a:ln>
        </p:spPr>
        <p:txBody>
          <a:bodyPr/>
          <a:p>
            <a:pPr eaLnBrk="0" hangingPunct="0">
              <a:lnSpc>
                <a:spcPct val="90000"/>
              </a:lnSpc>
              <a:buFont typeface="Wingdings" panose="05000000000000000000" pitchFamily="2" charset="2"/>
            </a:pP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例</a:t>
            </a:r>
            <a:r>
              <a:rPr lang="en-US" altLang="zh-CN" sz="2400" b="1" dirty="0">
                <a:latin typeface="宋体" panose="02010600030101010101" pitchFamily="2" charset="-122"/>
                <a:ea typeface="宋体" panose="02010600030101010101" pitchFamily="2" charset="-122"/>
              </a:rPr>
              <a:t>】JZ/JNZ</a:t>
            </a:r>
            <a:r>
              <a:rPr lang="zh-CN" altLang="en-US" sz="2400" b="1" dirty="0">
                <a:latin typeface="宋体" panose="02010600030101010101" pitchFamily="2" charset="-122"/>
                <a:ea typeface="宋体" panose="02010600030101010101" pitchFamily="2" charset="-122"/>
              </a:rPr>
              <a:t>指令</a:t>
            </a:r>
            <a:endParaRPr lang="zh-CN" altLang="en-US" sz="2400" b="1" dirty="0">
              <a:latin typeface="宋体" panose="02010600030101010101" pitchFamily="2" charset="-122"/>
              <a:ea typeface="宋体" panose="02010600030101010101" pitchFamily="2" charset="-122"/>
            </a:endParaRPr>
          </a:p>
        </p:txBody>
      </p:sp>
      <p:sp>
        <p:nvSpPr>
          <p:cNvPr id="155651" name="Rectangle 9"/>
          <p:cNvSpPr txBox="1"/>
          <p:nvPr/>
        </p:nvSpPr>
        <p:spPr>
          <a:xfrm>
            <a:off x="674688" y="1773238"/>
            <a:ext cx="7696200" cy="4648200"/>
          </a:xfrm>
          <a:prstGeom prst="rect">
            <a:avLst/>
          </a:prstGeom>
          <a:solidFill>
            <a:schemeClr val="bg1"/>
          </a:solidFill>
          <a:ln w="9525">
            <a:noFill/>
          </a:ln>
        </p:spPr>
        <p:txBody>
          <a:bodyPr/>
          <a:p>
            <a:pPr defTabSz="914400" eaLnBrk="0" hangingPunct="0">
              <a:lnSpc>
                <a:spcPct val="110000"/>
              </a:lnSpc>
              <a:buClr>
                <a:schemeClr val="hlink"/>
              </a:buClr>
              <a:buFont typeface="Wingdings" panose="05000000000000000000" pitchFamily="2" charset="2"/>
              <a:tabLst>
                <a:tab pos="1520825" algn="l"/>
              </a:tabLst>
            </a:pPr>
            <a:r>
              <a:rPr lang="en-US" altLang="zh-CN" sz="2400" b="1" dirty="0">
                <a:solidFill>
                  <a:schemeClr val="accent2"/>
                </a:solidFill>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test al,80h	</a:t>
            </a:r>
            <a:r>
              <a:rPr lang="zh-CN" altLang="en-US" sz="2400" b="1" dirty="0">
                <a:latin typeface="宋体" panose="02010600030101010101" pitchFamily="2" charset="-122"/>
                <a:ea typeface="宋体" panose="02010600030101010101" pitchFamily="2" charset="-122"/>
              </a:rPr>
              <a:t>；测试最高位</a:t>
            </a:r>
            <a:endParaRPr lang="zh-CN" altLang="en-US" sz="2400" b="1" dirty="0">
              <a:latin typeface="宋体" panose="02010600030101010101" pitchFamily="2" charset="-122"/>
              <a:ea typeface="宋体" panose="02010600030101010101" pitchFamily="2" charset="-122"/>
            </a:endParaRPr>
          </a:p>
          <a:p>
            <a:pPr defTabSz="914400" eaLnBrk="0" hangingPunct="0">
              <a:lnSpc>
                <a:spcPct val="110000"/>
              </a:lnSpc>
              <a:buClr>
                <a:schemeClr val="hlink"/>
              </a:buClr>
              <a:buFont typeface="Wingdings" panose="05000000000000000000" pitchFamily="2" charset="2"/>
              <a:tabLst>
                <a:tab pos="1520825" algn="l"/>
              </a:tabLst>
            </a:pP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jz next0	</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D7</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0</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ZF</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），转移</a:t>
            </a:r>
            <a:endParaRPr lang="zh-CN" altLang="en-US" sz="2400" b="1" dirty="0">
              <a:latin typeface="宋体" panose="02010600030101010101" pitchFamily="2" charset="-122"/>
              <a:ea typeface="宋体" panose="02010600030101010101" pitchFamily="2" charset="-122"/>
            </a:endParaRPr>
          </a:p>
          <a:p>
            <a:pPr defTabSz="914400" eaLnBrk="0" hangingPunct="0">
              <a:lnSpc>
                <a:spcPct val="110000"/>
              </a:lnSpc>
              <a:buClr>
                <a:schemeClr val="hlink"/>
              </a:buClr>
              <a:buFont typeface="Wingdings" panose="05000000000000000000" pitchFamily="2" charset="2"/>
              <a:tabLst>
                <a:tab pos="1520825" algn="l"/>
              </a:tabLst>
            </a:pP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mov ah,0ffh	</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D7</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，顺序执行</a:t>
            </a:r>
            <a:endParaRPr lang="zh-CN" altLang="en-US" sz="2400" b="1" dirty="0">
              <a:latin typeface="宋体" panose="02010600030101010101" pitchFamily="2" charset="-122"/>
              <a:ea typeface="宋体" panose="02010600030101010101" pitchFamily="2" charset="-122"/>
            </a:endParaRPr>
          </a:p>
          <a:p>
            <a:pPr defTabSz="914400" eaLnBrk="0" hangingPunct="0">
              <a:lnSpc>
                <a:spcPct val="110000"/>
              </a:lnSpc>
              <a:buClr>
                <a:schemeClr val="hlink"/>
              </a:buClr>
              <a:buFont typeface="Wingdings" panose="05000000000000000000" pitchFamily="2" charset="2"/>
              <a:tabLst>
                <a:tab pos="1520825" algn="l"/>
              </a:tabLst>
            </a:pP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jmp done	</a:t>
            </a:r>
            <a:r>
              <a:rPr lang="zh-CN" altLang="en-US" sz="2400" b="1" dirty="0">
                <a:latin typeface="宋体" panose="02010600030101010101" pitchFamily="2" charset="-122"/>
                <a:ea typeface="宋体" panose="02010600030101010101" pitchFamily="2" charset="-122"/>
              </a:rPr>
              <a:t>；无条件转向</a:t>
            </a:r>
            <a:endParaRPr lang="zh-CN" altLang="en-US" sz="2400" b="1" dirty="0">
              <a:latin typeface="宋体" panose="02010600030101010101" pitchFamily="2" charset="-122"/>
              <a:ea typeface="宋体" panose="02010600030101010101" pitchFamily="2" charset="-122"/>
            </a:endParaRPr>
          </a:p>
          <a:p>
            <a:pPr defTabSz="914400" eaLnBrk="0" hangingPunct="0">
              <a:lnSpc>
                <a:spcPct val="110000"/>
              </a:lnSpc>
              <a:buClr>
                <a:schemeClr val="hlink"/>
              </a:buClr>
              <a:buFont typeface="Wingdings" panose="05000000000000000000" pitchFamily="2" charset="2"/>
              <a:tabLst>
                <a:tab pos="1520825" algn="l"/>
              </a:tabLst>
            </a:pPr>
            <a:r>
              <a:rPr lang="en-US" altLang="zh-CN" sz="2400" b="1" dirty="0">
                <a:latin typeface="宋体" panose="02010600030101010101" pitchFamily="2" charset="-122"/>
                <a:ea typeface="宋体" panose="02010600030101010101" pitchFamily="2" charset="-122"/>
              </a:rPr>
              <a:t>next0:	mov ah,0</a:t>
            </a:r>
            <a:endParaRPr lang="en-US" altLang="zh-CN" sz="2400" b="1" dirty="0">
              <a:latin typeface="宋体" panose="02010600030101010101" pitchFamily="2" charset="-122"/>
              <a:ea typeface="宋体" panose="02010600030101010101" pitchFamily="2" charset="-122"/>
            </a:endParaRPr>
          </a:p>
          <a:p>
            <a:pPr defTabSz="914400" eaLnBrk="0" hangingPunct="0">
              <a:lnSpc>
                <a:spcPct val="110000"/>
              </a:lnSpc>
              <a:buClr>
                <a:schemeClr val="hlink"/>
              </a:buClr>
              <a:buFont typeface="Wingdings" panose="05000000000000000000" pitchFamily="2" charset="2"/>
              <a:tabLst>
                <a:tab pos="1520825" algn="l"/>
              </a:tabLst>
            </a:pPr>
            <a:r>
              <a:rPr lang="en-US" altLang="zh-CN" sz="2400" b="1" dirty="0">
                <a:latin typeface="宋体" panose="02010600030101010101" pitchFamily="2" charset="-122"/>
                <a:ea typeface="宋体" panose="02010600030101010101" pitchFamily="2" charset="-122"/>
              </a:rPr>
              <a:t>done:	...</a:t>
            </a:r>
            <a:endParaRPr lang="en-US" altLang="zh-CN" sz="2400" b="1" dirty="0">
              <a:latin typeface="宋体" panose="02010600030101010101" pitchFamily="2" charset="-122"/>
              <a:ea typeface="宋体" panose="02010600030101010101" pitchFamily="2" charset="-122"/>
            </a:endParaRPr>
          </a:p>
          <a:p>
            <a:pPr defTabSz="914400" eaLnBrk="0" hangingPunct="0">
              <a:lnSpc>
                <a:spcPct val="110000"/>
              </a:lnSpc>
              <a:buClr>
                <a:schemeClr val="hlink"/>
              </a:buClr>
              <a:buFont typeface="Wingdings" panose="05000000000000000000" pitchFamily="2" charset="2"/>
              <a:tabLst>
                <a:tab pos="1520825" algn="l"/>
              </a:tabLst>
            </a:pPr>
            <a:r>
              <a:rPr lang="en-US" altLang="zh-CN" sz="2400" b="1" dirty="0">
                <a:latin typeface="宋体" panose="02010600030101010101" pitchFamily="2" charset="-122"/>
                <a:ea typeface="宋体" panose="02010600030101010101" pitchFamily="2" charset="-122"/>
              </a:rPr>
              <a:t>	test al,80h	</a:t>
            </a:r>
            <a:r>
              <a:rPr lang="zh-CN" altLang="en-US" sz="2400" b="1" dirty="0">
                <a:latin typeface="宋体" panose="02010600030101010101" pitchFamily="2" charset="-122"/>
                <a:ea typeface="宋体" panose="02010600030101010101" pitchFamily="2" charset="-122"/>
              </a:rPr>
              <a:t>；测试最高位</a:t>
            </a:r>
            <a:endParaRPr lang="zh-CN" altLang="en-US" sz="2400" b="1" dirty="0">
              <a:latin typeface="宋体" panose="02010600030101010101" pitchFamily="2" charset="-122"/>
              <a:ea typeface="宋体" panose="02010600030101010101" pitchFamily="2" charset="-122"/>
            </a:endParaRPr>
          </a:p>
          <a:p>
            <a:pPr defTabSz="914400" eaLnBrk="0" hangingPunct="0">
              <a:lnSpc>
                <a:spcPct val="110000"/>
              </a:lnSpc>
              <a:buClr>
                <a:schemeClr val="hlink"/>
              </a:buClr>
              <a:buFont typeface="Wingdings" panose="05000000000000000000" pitchFamily="2" charset="2"/>
              <a:tabLst>
                <a:tab pos="1520825" algn="l"/>
              </a:tabLst>
            </a:pP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jnz next1	</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D7</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ZF</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0</a:t>
            </a:r>
            <a:r>
              <a:rPr lang="zh-CN" altLang="en-US" sz="2400" b="1" dirty="0">
                <a:latin typeface="宋体" panose="02010600030101010101" pitchFamily="2" charset="-122"/>
                <a:ea typeface="宋体" panose="02010600030101010101" pitchFamily="2" charset="-122"/>
              </a:rPr>
              <a:t>），转移</a:t>
            </a:r>
            <a:endParaRPr lang="zh-CN" altLang="en-US" sz="2400" b="1" dirty="0">
              <a:latin typeface="宋体" panose="02010600030101010101" pitchFamily="2" charset="-122"/>
              <a:ea typeface="宋体" panose="02010600030101010101" pitchFamily="2" charset="-122"/>
            </a:endParaRPr>
          </a:p>
          <a:p>
            <a:pPr defTabSz="914400" eaLnBrk="0" hangingPunct="0">
              <a:lnSpc>
                <a:spcPct val="110000"/>
              </a:lnSpc>
              <a:buClr>
                <a:schemeClr val="hlink"/>
              </a:buClr>
              <a:buFont typeface="Wingdings" panose="05000000000000000000" pitchFamily="2" charset="2"/>
              <a:tabLst>
                <a:tab pos="1520825" algn="l"/>
              </a:tabLst>
            </a:pP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mov ah,0	</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D7</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0</a:t>
            </a:r>
            <a:r>
              <a:rPr lang="zh-CN" altLang="en-US" sz="2400" b="1" dirty="0">
                <a:latin typeface="宋体" panose="02010600030101010101" pitchFamily="2" charset="-122"/>
                <a:ea typeface="宋体" panose="02010600030101010101" pitchFamily="2" charset="-122"/>
              </a:rPr>
              <a:t>，顺序执行</a:t>
            </a:r>
            <a:endParaRPr lang="zh-CN" altLang="en-US" sz="2400" b="1" dirty="0">
              <a:latin typeface="宋体" panose="02010600030101010101" pitchFamily="2" charset="-122"/>
              <a:ea typeface="宋体" panose="02010600030101010101" pitchFamily="2" charset="-122"/>
            </a:endParaRPr>
          </a:p>
          <a:p>
            <a:pPr defTabSz="914400" eaLnBrk="0" hangingPunct="0">
              <a:lnSpc>
                <a:spcPct val="110000"/>
              </a:lnSpc>
              <a:buClr>
                <a:schemeClr val="hlink"/>
              </a:buClr>
              <a:buFont typeface="Wingdings" panose="05000000000000000000" pitchFamily="2" charset="2"/>
              <a:tabLst>
                <a:tab pos="1520825" algn="l"/>
              </a:tabLst>
            </a:pP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jmp done	</a:t>
            </a:r>
            <a:r>
              <a:rPr lang="zh-CN" altLang="en-US" sz="2400" b="1" dirty="0">
                <a:latin typeface="宋体" panose="02010600030101010101" pitchFamily="2" charset="-122"/>
                <a:ea typeface="宋体" panose="02010600030101010101" pitchFamily="2" charset="-122"/>
              </a:rPr>
              <a:t>；无条件转向</a:t>
            </a:r>
            <a:endParaRPr lang="zh-CN" altLang="en-US" sz="2400" b="1" dirty="0">
              <a:latin typeface="宋体" panose="02010600030101010101" pitchFamily="2" charset="-122"/>
              <a:ea typeface="宋体" panose="02010600030101010101" pitchFamily="2" charset="-122"/>
            </a:endParaRPr>
          </a:p>
          <a:p>
            <a:pPr defTabSz="914400" eaLnBrk="0" hangingPunct="0">
              <a:lnSpc>
                <a:spcPct val="110000"/>
              </a:lnSpc>
              <a:buClr>
                <a:schemeClr val="hlink"/>
              </a:buClr>
              <a:buFont typeface="Wingdings" panose="05000000000000000000" pitchFamily="2" charset="2"/>
              <a:tabLst>
                <a:tab pos="1520825" algn="l"/>
              </a:tabLst>
            </a:pPr>
            <a:r>
              <a:rPr lang="en-US" altLang="zh-CN" sz="2400" b="1" dirty="0">
                <a:latin typeface="宋体" panose="02010600030101010101" pitchFamily="2" charset="-122"/>
                <a:ea typeface="宋体" panose="02010600030101010101" pitchFamily="2" charset="-122"/>
              </a:rPr>
              <a:t>next1:	mov ah,0ffh</a:t>
            </a:r>
            <a:endParaRPr lang="en-US" altLang="zh-CN" sz="2400" b="1" dirty="0">
              <a:latin typeface="宋体" panose="02010600030101010101" pitchFamily="2" charset="-122"/>
              <a:ea typeface="宋体" panose="02010600030101010101" pitchFamily="2" charset="-122"/>
            </a:endParaRPr>
          </a:p>
          <a:p>
            <a:pPr defTabSz="914400" eaLnBrk="0" hangingPunct="0">
              <a:lnSpc>
                <a:spcPct val="110000"/>
              </a:lnSpc>
              <a:buClr>
                <a:schemeClr val="hlink"/>
              </a:buClr>
              <a:buFont typeface="Wingdings" panose="05000000000000000000" pitchFamily="2" charset="2"/>
              <a:tabLst>
                <a:tab pos="1520825" algn="l"/>
              </a:tabLst>
            </a:pPr>
            <a:r>
              <a:rPr lang="en-US" altLang="zh-CN" sz="2400" b="1" dirty="0">
                <a:latin typeface="宋体" panose="02010600030101010101" pitchFamily="2" charset="-122"/>
                <a:ea typeface="宋体" panose="02010600030101010101" pitchFamily="2" charset="-122"/>
              </a:rPr>
              <a:t>done:	...</a:t>
            </a:r>
            <a:endParaRPr lang="en-US" altLang="zh-CN" sz="2400" b="1" dirty="0">
              <a:latin typeface="宋体" panose="02010600030101010101" pitchFamily="2" charset="-122"/>
              <a:ea typeface="宋体" panose="02010600030101010101" pitchFamily="2" charset="-122"/>
            </a:endParaRPr>
          </a:p>
        </p:txBody>
      </p:sp>
      <p:cxnSp>
        <p:nvCxnSpPr>
          <p:cNvPr id="155652" name="直接连接符 11"/>
          <p:cNvCxnSpPr/>
          <p:nvPr/>
        </p:nvCxnSpPr>
        <p:spPr>
          <a:xfrm>
            <a:off x="522288" y="4221163"/>
            <a:ext cx="7848600" cy="0"/>
          </a:xfrm>
          <a:prstGeom prst="line">
            <a:avLst/>
          </a:prstGeom>
          <a:ln w="38100" cap="flat" cmpd="sng">
            <a:solidFill>
              <a:schemeClr val="tx1"/>
            </a:solidFill>
            <a:prstDash val="solid"/>
            <a:headEnd type="none" w="med" len="med"/>
            <a:tailEnd type="none" w="med" len="med"/>
          </a:ln>
        </p:spPr>
      </p:cxn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矩形 1"/>
          <p:cNvSpPr/>
          <p:nvPr/>
        </p:nvSpPr>
        <p:spPr>
          <a:xfrm>
            <a:off x="1187450" y="2060575"/>
            <a:ext cx="6697663" cy="4438650"/>
          </a:xfrm>
          <a:prstGeom prst="rect">
            <a:avLst/>
          </a:prstGeom>
          <a:noFill/>
          <a:ln w="9525">
            <a:noFill/>
          </a:ln>
        </p:spPr>
        <p:txBody>
          <a:bodyPr>
            <a:spAutoFit/>
          </a:bodyPr>
          <a:p>
            <a:pPr eaLnBrk="0" hangingPunct="0">
              <a:lnSpc>
                <a:spcPct val="150000"/>
              </a:lnSpc>
              <a:buFont typeface="Wingdings" panose="05000000000000000000" pitchFamily="2" charset="2"/>
            </a:pPr>
            <a:r>
              <a:rPr lang="zh-CN" altLang="en-US" sz="2400" b="1" dirty="0">
                <a:latin typeface="宋体" panose="02010600030101010101" pitchFamily="2" charset="-122"/>
                <a:ea typeface="宋体" panose="02010600030101010101" pitchFamily="2" charset="-122"/>
              </a:rPr>
              <a:t>；计算</a:t>
            </a:r>
            <a:r>
              <a:rPr lang="en-US" altLang="zh-CN" sz="2400" b="1" dirty="0">
                <a:latin typeface="宋体" panose="02010600030101010101" pitchFamily="2" charset="-122"/>
                <a:ea typeface="宋体" panose="02010600030101010101" pitchFamily="2" charset="-122"/>
              </a:rPr>
              <a:t>|X</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Y|</a:t>
            </a:r>
            <a:r>
              <a:rPr lang="zh-CN" altLang="en-US" sz="2400" b="1" dirty="0">
                <a:latin typeface="宋体" panose="02010600030101010101" pitchFamily="2" charset="-122"/>
                <a:ea typeface="宋体" panose="02010600030101010101" pitchFamily="2" charset="-122"/>
              </a:rPr>
              <a:t>（绝对值）</a:t>
            </a:r>
            <a:endParaRPr lang="zh-CN" altLang="en-US" sz="24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X</a:t>
            </a:r>
            <a:r>
              <a:rPr lang="zh-CN" altLang="en-US" sz="2400" b="1" dirty="0">
                <a:latin typeface="宋体" panose="02010600030101010101" pitchFamily="2" charset="-122"/>
                <a:ea typeface="宋体" panose="02010600030101010101" pitchFamily="2" charset="-122"/>
              </a:rPr>
              <a:t>和</a:t>
            </a:r>
            <a:r>
              <a:rPr lang="en-US" altLang="zh-CN" sz="2400" b="1" dirty="0">
                <a:latin typeface="宋体" panose="02010600030101010101" pitchFamily="2" charset="-122"/>
                <a:ea typeface="宋体" panose="02010600030101010101" pitchFamily="2" charset="-122"/>
              </a:rPr>
              <a:t>Y</a:t>
            </a:r>
            <a:r>
              <a:rPr lang="zh-CN" altLang="en-US" sz="2400" b="1" dirty="0">
                <a:latin typeface="宋体" panose="02010600030101010101" pitchFamily="2" charset="-122"/>
                <a:ea typeface="宋体" panose="02010600030101010101" pitchFamily="2" charset="-122"/>
              </a:rPr>
              <a:t>为存放于</a:t>
            </a:r>
            <a:r>
              <a:rPr lang="en-US" altLang="zh-CN" sz="2400" b="1" dirty="0">
                <a:latin typeface="宋体" panose="02010600030101010101" pitchFamily="2" charset="-122"/>
                <a:ea typeface="宋体" panose="02010600030101010101" pitchFamily="2" charset="-122"/>
              </a:rPr>
              <a:t>X</a:t>
            </a:r>
            <a:r>
              <a:rPr lang="zh-CN" altLang="en-US" sz="2400" b="1" dirty="0">
                <a:latin typeface="宋体" panose="02010600030101010101" pitchFamily="2" charset="-122"/>
                <a:ea typeface="宋体" panose="02010600030101010101" pitchFamily="2" charset="-122"/>
              </a:rPr>
              <a:t>单元和</a:t>
            </a:r>
            <a:r>
              <a:rPr lang="en-US" altLang="zh-CN" sz="2400" b="1" dirty="0">
                <a:latin typeface="宋体" panose="02010600030101010101" pitchFamily="2" charset="-122"/>
                <a:ea typeface="宋体" panose="02010600030101010101" pitchFamily="2" charset="-122"/>
              </a:rPr>
              <a:t>Y</a:t>
            </a:r>
            <a:r>
              <a:rPr lang="zh-CN" altLang="en-US" sz="2400" b="1" dirty="0">
                <a:latin typeface="宋体" panose="02010600030101010101" pitchFamily="2" charset="-122"/>
                <a:ea typeface="宋体" panose="02010600030101010101" pitchFamily="2" charset="-122"/>
              </a:rPr>
              <a:t>单元的</a:t>
            </a:r>
            <a:r>
              <a:rPr lang="en-US" altLang="zh-CN" sz="2400" b="1" dirty="0">
                <a:latin typeface="宋体" panose="02010600030101010101" pitchFamily="2" charset="-122"/>
                <a:ea typeface="宋体" panose="02010600030101010101" pitchFamily="2" charset="-122"/>
              </a:rPr>
              <a:t>16</a:t>
            </a:r>
            <a:r>
              <a:rPr lang="zh-CN" altLang="en-US" sz="2400" b="1" dirty="0">
                <a:latin typeface="宋体" panose="02010600030101010101" pitchFamily="2" charset="-122"/>
                <a:ea typeface="宋体" panose="02010600030101010101" pitchFamily="2" charset="-122"/>
              </a:rPr>
              <a:t>位操作数</a:t>
            </a:r>
            <a:endParaRPr lang="zh-CN" altLang="en-US" sz="24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zh-CN" altLang="en-US" sz="2400" b="1" dirty="0">
                <a:latin typeface="宋体" panose="02010600030101010101" pitchFamily="2" charset="-122"/>
                <a:ea typeface="宋体" panose="02010600030101010101" pitchFamily="2" charset="-122"/>
              </a:rPr>
              <a:t>；结果存入</a:t>
            </a:r>
            <a:r>
              <a:rPr lang="en-US" altLang="zh-CN" sz="2400" b="1" dirty="0">
                <a:latin typeface="宋体" panose="02010600030101010101" pitchFamily="2" charset="-122"/>
                <a:ea typeface="宋体" panose="02010600030101010101" pitchFamily="2" charset="-122"/>
              </a:rPr>
              <a:t>result</a:t>
            </a:r>
            <a:endParaRPr lang="en-US" altLang="zh-CN" sz="24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400" b="1" dirty="0">
                <a:latin typeface="宋体" panose="02010600030101010101" pitchFamily="2" charset="-122"/>
                <a:ea typeface="宋体" panose="02010600030101010101" pitchFamily="2" charset="-122"/>
              </a:rPr>
              <a:t>	 mov ax,X</a:t>
            </a:r>
            <a:endParaRPr lang="en-US" altLang="zh-CN" sz="24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400" b="1" dirty="0">
                <a:latin typeface="宋体" panose="02010600030101010101" pitchFamily="2" charset="-122"/>
                <a:ea typeface="宋体" panose="02010600030101010101" pitchFamily="2" charset="-122"/>
              </a:rPr>
              <a:t>	 sub ax,Y</a:t>
            </a:r>
            <a:endParaRPr lang="en-US" altLang="zh-CN" sz="24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400" b="1" dirty="0">
                <a:latin typeface="宋体" panose="02010600030101010101" pitchFamily="2" charset="-122"/>
                <a:ea typeface="宋体" panose="02010600030101010101" pitchFamily="2" charset="-122"/>
              </a:rPr>
              <a:t>	 jns nonneg</a:t>
            </a:r>
            <a:endParaRPr lang="en-US" altLang="zh-CN" sz="24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400" b="1" dirty="0">
                <a:latin typeface="宋体" panose="02010600030101010101" pitchFamily="2" charset="-122"/>
                <a:ea typeface="宋体" panose="02010600030101010101" pitchFamily="2" charset="-122"/>
              </a:rPr>
              <a:t>	 neg ax	</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neg</a:t>
            </a:r>
            <a:r>
              <a:rPr lang="zh-CN" altLang="en-US" sz="2400" b="1" dirty="0">
                <a:latin typeface="宋体" panose="02010600030101010101" pitchFamily="2" charset="-122"/>
                <a:ea typeface="宋体" panose="02010600030101010101" pitchFamily="2" charset="-122"/>
              </a:rPr>
              <a:t>是求补指令</a:t>
            </a:r>
            <a:endParaRPr lang="zh-CN" altLang="en-US" sz="24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400" b="1" dirty="0">
                <a:latin typeface="宋体" panose="02010600030101010101" pitchFamily="2" charset="-122"/>
                <a:ea typeface="宋体" panose="02010600030101010101" pitchFamily="2" charset="-122"/>
              </a:rPr>
              <a:t>nonneg:mov result,ax</a:t>
            </a:r>
            <a:endParaRPr lang="en-US" altLang="zh-CN" sz="2400" b="1" dirty="0">
              <a:latin typeface="宋体" panose="02010600030101010101" pitchFamily="2" charset="-122"/>
              <a:ea typeface="宋体" panose="02010600030101010101" pitchFamily="2" charset="-122"/>
            </a:endParaRPr>
          </a:p>
        </p:txBody>
      </p:sp>
      <p:sp>
        <p:nvSpPr>
          <p:cNvPr id="156675" name="矩形 2"/>
          <p:cNvSpPr/>
          <p:nvPr/>
        </p:nvSpPr>
        <p:spPr>
          <a:xfrm>
            <a:off x="971550" y="1412875"/>
            <a:ext cx="2954338" cy="461963"/>
          </a:xfrm>
          <a:prstGeom prst="rect">
            <a:avLst/>
          </a:prstGeom>
          <a:noFill/>
          <a:ln w="9525">
            <a:noFill/>
          </a:ln>
        </p:spPr>
        <p:txBody>
          <a:bodyPr wrap="none">
            <a:spAutoFit/>
          </a:bodyPr>
          <a:p>
            <a:pPr eaLnBrk="0" hangingPunct="0">
              <a:buFont typeface="Wingdings" panose="05000000000000000000" pitchFamily="2" charset="2"/>
            </a:pP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例</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JS/JNS</a:t>
            </a:r>
            <a:r>
              <a:rPr lang="zh-CN" altLang="en-US" sz="2400" b="1" dirty="0">
                <a:latin typeface="宋体" panose="02010600030101010101" pitchFamily="2" charset="-122"/>
                <a:ea typeface="宋体" panose="02010600030101010101" pitchFamily="2" charset="-122"/>
              </a:rPr>
              <a:t>指令</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矩形 1"/>
          <p:cNvSpPr/>
          <p:nvPr/>
        </p:nvSpPr>
        <p:spPr>
          <a:xfrm>
            <a:off x="1116013" y="1916113"/>
            <a:ext cx="6102350" cy="4438650"/>
          </a:xfrm>
          <a:prstGeom prst="rect">
            <a:avLst/>
          </a:prstGeom>
          <a:noFill/>
          <a:ln w="9525">
            <a:noFill/>
          </a:ln>
        </p:spPr>
        <p:txBody>
          <a:bodyPr>
            <a:spAutoFit/>
          </a:bodyPr>
          <a:p>
            <a:pPr defTabSz="914400" eaLnBrk="0" hangingPunct="0">
              <a:lnSpc>
                <a:spcPct val="150000"/>
              </a:lnSpc>
              <a:buFont typeface="Wingdings" panose="05000000000000000000" pitchFamily="2" charset="2"/>
              <a:tabLst>
                <a:tab pos="1720850" algn="l"/>
              </a:tabLst>
            </a:pPr>
            <a:r>
              <a:rPr lang="zh-CN" altLang="en-US" sz="2400" b="1" dirty="0">
                <a:latin typeface="宋体" panose="02010600030101010101" pitchFamily="2" charset="-122"/>
                <a:ea typeface="宋体" panose="02010600030101010101" pitchFamily="2" charset="-122"/>
              </a:rPr>
              <a:t>计算</a:t>
            </a:r>
            <a:r>
              <a:rPr lang="en-US" altLang="zh-CN" sz="2400" b="1" dirty="0">
                <a:latin typeface="宋体" panose="02010600030101010101" pitchFamily="2" charset="-122"/>
                <a:ea typeface="宋体" panose="02010600030101010101" pitchFamily="2" charset="-122"/>
              </a:rPr>
              <a:t>X</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Y</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720850" algn="l"/>
              </a:tabLst>
            </a:pP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X</a:t>
            </a:r>
            <a:r>
              <a:rPr lang="zh-CN" altLang="en-US" sz="2400" b="1" dirty="0">
                <a:latin typeface="宋体" panose="02010600030101010101" pitchFamily="2" charset="-122"/>
                <a:ea typeface="宋体" panose="02010600030101010101" pitchFamily="2" charset="-122"/>
              </a:rPr>
              <a:t>和</a:t>
            </a:r>
            <a:r>
              <a:rPr lang="en-US" altLang="zh-CN" sz="2400" b="1" dirty="0">
                <a:latin typeface="宋体" panose="02010600030101010101" pitchFamily="2" charset="-122"/>
                <a:ea typeface="宋体" panose="02010600030101010101" pitchFamily="2" charset="-122"/>
              </a:rPr>
              <a:t>Y</a:t>
            </a:r>
            <a:r>
              <a:rPr lang="zh-CN" altLang="en-US" sz="2400" b="1" dirty="0">
                <a:latin typeface="宋体" panose="02010600030101010101" pitchFamily="2" charset="-122"/>
                <a:ea typeface="宋体" panose="02010600030101010101" pitchFamily="2" charset="-122"/>
              </a:rPr>
              <a:t>为存放于</a:t>
            </a:r>
            <a:r>
              <a:rPr lang="en-US" altLang="zh-CN" sz="2400" b="1" dirty="0">
                <a:latin typeface="宋体" panose="02010600030101010101" pitchFamily="2" charset="-122"/>
                <a:ea typeface="宋体" panose="02010600030101010101" pitchFamily="2" charset="-122"/>
              </a:rPr>
              <a:t>X</a:t>
            </a:r>
            <a:r>
              <a:rPr lang="zh-CN" altLang="en-US" sz="2400" b="1" dirty="0">
                <a:latin typeface="宋体" panose="02010600030101010101" pitchFamily="2" charset="-122"/>
                <a:ea typeface="宋体" panose="02010600030101010101" pitchFamily="2" charset="-122"/>
              </a:rPr>
              <a:t>单元和</a:t>
            </a:r>
            <a:r>
              <a:rPr lang="en-US" altLang="zh-CN" sz="2400" b="1" dirty="0">
                <a:latin typeface="宋体" panose="02010600030101010101" pitchFamily="2" charset="-122"/>
                <a:ea typeface="宋体" panose="02010600030101010101" pitchFamily="2" charset="-122"/>
              </a:rPr>
              <a:t>Y</a:t>
            </a:r>
            <a:r>
              <a:rPr lang="zh-CN" altLang="en-US" sz="2400" b="1" dirty="0">
                <a:latin typeface="宋体" panose="02010600030101010101" pitchFamily="2" charset="-122"/>
                <a:ea typeface="宋体" panose="02010600030101010101" pitchFamily="2" charset="-122"/>
              </a:rPr>
              <a:t>单元的</a:t>
            </a:r>
            <a:r>
              <a:rPr lang="en-US" altLang="zh-CN" sz="2400" b="1" dirty="0">
                <a:latin typeface="宋体" panose="02010600030101010101" pitchFamily="2" charset="-122"/>
                <a:ea typeface="宋体" panose="02010600030101010101" pitchFamily="2" charset="-122"/>
              </a:rPr>
              <a:t>16</a:t>
            </a:r>
            <a:r>
              <a:rPr lang="zh-CN" altLang="en-US" sz="2400" b="1" dirty="0">
                <a:latin typeface="宋体" panose="02010600030101010101" pitchFamily="2" charset="-122"/>
                <a:ea typeface="宋体" panose="02010600030101010101" pitchFamily="2" charset="-122"/>
              </a:rPr>
              <a:t>位操作数</a:t>
            </a:r>
            <a:endParaRPr lang="zh-CN" altLang="en-US" sz="2400" b="1" dirty="0">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720850" algn="l"/>
              </a:tabLst>
            </a:pPr>
            <a:r>
              <a:rPr lang="zh-CN" altLang="en-US" sz="2400" b="1" dirty="0">
                <a:latin typeface="宋体" panose="02010600030101010101" pitchFamily="2" charset="-122"/>
                <a:ea typeface="宋体" panose="02010600030101010101" pitchFamily="2" charset="-122"/>
              </a:rPr>
              <a:t>；若溢出，则转移到</a:t>
            </a:r>
            <a:r>
              <a:rPr lang="en-US" altLang="zh-CN" sz="2400" b="1" dirty="0">
                <a:latin typeface="宋体" panose="02010600030101010101" pitchFamily="2" charset="-122"/>
                <a:ea typeface="宋体" panose="02010600030101010101" pitchFamily="2" charset="-122"/>
              </a:rPr>
              <a:t>overflow</a:t>
            </a:r>
            <a:r>
              <a:rPr lang="zh-CN" altLang="en-US" sz="2400" b="1" dirty="0">
                <a:latin typeface="宋体" panose="02010600030101010101" pitchFamily="2" charset="-122"/>
                <a:ea typeface="宋体" panose="02010600030101010101" pitchFamily="2" charset="-122"/>
              </a:rPr>
              <a:t>处理</a:t>
            </a:r>
            <a:endParaRPr lang="zh-CN" altLang="en-US" sz="2400" b="1" dirty="0">
              <a:solidFill>
                <a:schemeClr val="accent2"/>
              </a:solidFill>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720850" algn="l"/>
              </a:tabLst>
            </a:pPr>
            <a:r>
              <a:rPr lang="zh-CN" altLang="en-US" sz="2400" b="1" dirty="0">
                <a:solidFill>
                  <a:schemeClr val="accent2"/>
                </a:solidFill>
                <a:latin typeface="宋体" panose="02010600030101010101" pitchFamily="2" charset="-122"/>
                <a:ea typeface="宋体" panose="02010600030101010101" pitchFamily="2" charset="-122"/>
              </a:rPr>
              <a:t>	</a:t>
            </a:r>
            <a:r>
              <a:rPr lang="en-US" altLang="zh-CN" sz="2400" b="1" dirty="0">
                <a:solidFill>
                  <a:schemeClr val="accent2"/>
                </a:solidFill>
                <a:latin typeface="宋体" panose="02010600030101010101" pitchFamily="2" charset="-122"/>
                <a:ea typeface="宋体" panose="02010600030101010101" pitchFamily="2" charset="-122"/>
              </a:rPr>
              <a:t>mov ax,X</a:t>
            </a:r>
            <a:endParaRPr lang="en-US" altLang="zh-CN" sz="2400" b="1" dirty="0">
              <a:solidFill>
                <a:schemeClr val="accent2"/>
              </a:solidFill>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720850" algn="l"/>
              </a:tabLst>
            </a:pPr>
            <a:r>
              <a:rPr lang="en-US" altLang="zh-CN" sz="2400" b="1" dirty="0">
                <a:solidFill>
                  <a:schemeClr val="accent2"/>
                </a:solidFill>
                <a:latin typeface="宋体" panose="02010600030101010101" pitchFamily="2" charset="-122"/>
                <a:ea typeface="宋体" panose="02010600030101010101" pitchFamily="2" charset="-122"/>
              </a:rPr>
              <a:t>	sub ax,Y</a:t>
            </a:r>
            <a:endParaRPr lang="en-US" altLang="zh-CN" sz="2400" b="1" dirty="0">
              <a:solidFill>
                <a:schemeClr val="accent2"/>
              </a:solidFill>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720850" algn="l"/>
              </a:tabLst>
            </a:pPr>
            <a:r>
              <a:rPr lang="en-US" altLang="zh-CN" sz="2400" b="1" dirty="0">
                <a:solidFill>
                  <a:schemeClr val="accent2"/>
                </a:solidFill>
                <a:latin typeface="宋体" panose="02010600030101010101" pitchFamily="2" charset="-122"/>
                <a:ea typeface="宋体" panose="02010600030101010101" pitchFamily="2" charset="-122"/>
              </a:rPr>
              <a:t>	</a:t>
            </a:r>
            <a:r>
              <a:rPr lang="en-US" altLang="zh-CN" sz="2400" b="1" dirty="0">
                <a:solidFill>
                  <a:schemeClr val="tx2"/>
                </a:solidFill>
                <a:latin typeface="宋体" panose="02010600030101010101" pitchFamily="2" charset="-122"/>
                <a:ea typeface="宋体" panose="02010600030101010101" pitchFamily="2" charset="-122"/>
              </a:rPr>
              <a:t>jo overflow</a:t>
            </a:r>
            <a:endParaRPr lang="en-US" altLang="zh-CN" sz="2400" b="1" dirty="0">
              <a:solidFill>
                <a:schemeClr val="tx2"/>
              </a:solidFill>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720850" algn="l"/>
              </a:tabLst>
            </a:pPr>
            <a:r>
              <a:rPr lang="en-US" altLang="zh-CN" sz="2400" b="1" dirty="0">
                <a:solidFill>
                  <a:schemeClr val="accent2"/>
                </a:solidFill>
                <a:latin typeface="宋体" panose="02010600030101010101" pitchFamily="2" charset="-122"/>
                <a:ea typeface="宋体" panose="02010600030101010101" pitchFamily="2" charset="-122"/>
              </a:rPr>
              <a:t>	...	</a:t>
            </a:r>
            <a:r>
              <a:rPr lang="zh-CN" altLang="en-US" sz="2400" b="1" dirty="0">
                <a:solidFill>
                  <a:schemeClr val="accent2"/>
                </a:solidFill>
                <a:latin typeface="宋体" panose="02010600030101010101" pitchFamily="2" charset="-122"/>
                <a:ea typeface="宋体" panose="02010600030101010101" pitchFamily="2" charset="-122"/>
              </a:rPr>
              <a:t>；无溢出，结果正确</a:t>
            </a:r>
            <a:endParaRPr lang="zh-CN" altLang="en-US" sz="2400" b="1" dirty="0">
              <a:solidFill>
                <a:schemeClr val="accent2"/>
              </a:solidFill>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720850" algn="l"/>
              </a:tabLst>
            </a:pPr>
            <a:r>
              <a:rPr lang="en-US" altLang="zh-CN" sz="2400" b="1" dirty="0">
                <a:solidFill>
                  <a:schemeClr val="tx2"/>
                </a:solidFill>
                <a:latin typeface="宋体" panose="02010600030101010101" pitchFamily="2" charset="-122"/>
                <a:ea typeface="宋体" panose="02010600030101010101" pitchFamily="2" charset="-122"/>
              </a:rPr>
              <a:t>overflow:	</a:t>
            </a:r>
            <a:r>
              <a:rPr lang="en-US" altLang="zh-CN" sz="2400" b="1" dirty="0">
                <a:solidFill>
                  <a:schemeClr val="accent2"/>
                </a:solidFill>
                <a:latin typeface="宋体" panose="02010600030101010101" pitchFamily="2" charset="-122"/>
                <a:ea typeface="宋体" panose="02010600030101010101" pitchFamily="2" charset="-122"/>
              </a:rPr>
              <a:t>...	</a:t>
            </a:r>
            <a:r>
              <a:rPr lang="zh-CN" altLang="en-US" sz="2400" b="1" dirty="0">
                <a:solidFill>
                  <a:schemeClr val="accent2"/>
                </a:solidFill>
                <a:latin typeface="宋体" panose="02010600030101010101" pitchFamily="2" charset="-122"/>
                <a:ea typeface="宋体" panose="02010600030101010101" pitchFamily="2" charset="-122"/>
              </a:rPr>
              <a:t>；有溢出处理</a:t>
            </a:r>
            <a:endParaRPr lang="zh-CN" altLang="en-US" sz="2400" b="1" dirty="0">
              <a:solidFill>
                <a:schemeClr val="accent2"/>
              </a:solidFill>
              <a:latin typeface="宋体" panose="02010600030101010101" pitchFamily="2" charset="-122"/>
              <a:ea typeface="宋体" panose="02010600030101010101" pitchFamily="2" charset="-122"/>
            </a:endParaRPr>
          </a:p>
        </p:txBody>
      </p:sp>
      <p:sp>
        <p:nvSpPr>
          <p:cNvPr id="157699" name="矩形 2"/>
          <p:cNvSpPr/>
          <p:nvPr/>
        </p:nvSpPr>
        <p:spPr>
          <a:xfrm>
            <a:off x="755650" y="1268413"/>
            <a:ext cx="2954338" cy="461962"/>
          </a:xfrm>
          <a:prstGeom prst="rect">
            <a:avLst/>
          </a:prstGeom>
          <a:noFill/>
          <a:ln w="9525">
            <a:noFill/>
          </a:ln>
        </p:spPr>
        <p:txBody>
          <a:bodyPr wrap="none">
            <a:spAutoFit/>
          </a:bodyPr>
          <a:p>
            <a:pPr eaLnBrk="0" hangingPunct="0">
              <a:buFont typeface="Wingdings" panose="05000000000000000000" pitchFamily="2" charset="2"/>
            </a:pP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例</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JO/JNO</a:t>
            </a:r>
            <a:r>
              <a:rPr lang="zh-CN" altLang="en-US" sz="2400" b="1" dirty="0">
                <a:latin typeface="宋体" panose="02010600030101010101" pitchFamily="2" charset="-122"/>
                <a:ea typeface="宋体" panose="02010600030101010101" pitchFamily="2" charset="-122"/>
              </a:rPr>
              <a:t>指令</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矩形 1"/>
          <p:cNvSpPr/>
          <p:nvPr/>
        </p:nvSpPr>
        <p:spPr>
          <a:xfrm>
            <a:off x="323850" y="1628775"/>
            <a:ext cx="4679950" cy="4708525"/>
          </a:xfrm>
          <a:prstGeom prst="rect">
            <a:avLst/>
          </a:prstGeom>
          <a:noFill/>
          <a:ln w="9525">
            <a:noFill/>
          </a:ln>
        </p:spPr>
        <p:txBody>
          <a:bodyPr>
            <a:spAutoFit/>
          </a:bodyPr>
          <a:p>
            <a:pPr defTabSz="914400" eaLnBrk="0" hangingPunct="0">
              <a:lnSpc>
                <a:spcPct val="150000"/>
              </a:lnSpc>
              <a:buFont typeface="Wingdings" panose="05000000000000000000" pitchFamily="2" charset="2"/>
              <a:tabLst>
                <a:tab pos="1520825" algn="l"/>
                <a:tab pos="3710305" algn="l"/>
              </a:tabLst>
            </a:pPr>
            <a:r>
              <a:rPr lang="zh-CN" altLang="en-US" sz="2000" b="1" dirty="0">
                <a:latin typeface="宋体" panose="02010600030101010101" pitchFamily="2" charset="-122"/>
                <a:ea typeface="宋体" panose="02010600030101010101" pitchFamily="2" charset="-122"/>
              </a:rPr>
              <a:t>记录</a:t>
            </a:r>
            <a:r>
              <a:rPr lang="en-US" altLang="zh-CN" sz="2000" b="1" dirty="0">
                <a:latin typeface="宋体" panose="02010600030101010101" pitchFamily="2" charset="-122"/>
                <a:ea typeface="宋体" panose="02010600030101010101" pitchFamily="2" charset="-122"/>
              </a:rPr>
              <a:t>BX</a:t>
            </a:r>
            <a:r>
              <a:rPr lang="zh-CN" altLang="en-US" sz="2000" b="1" dirty="0">
                <a:latin typeface="宋体" panose="02010600030101010101" pitchFamily="2" charset="-122"/>
                <a:ea typeface="宋体" panose="02010600030101010101" pitchFamily="2" charset="-122"/>
              </a:rPr>
              <a:t>中</a:t>
            </a:r>
            <a:r>
              <a:rPr lang="en-US" altLang="zh-CN" sz="2000" b="1"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的个数</a:t>
            </a:r>
            <a:endParaRPr lang="zh-CN" altLang="en-US" sz="2000" b="1" dirty="0">
              <a:solidFill>
                <a:schemeClr val="accent2"/>
              </a:solidFill>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520825" algn="l"/>
                <a:tab pos="3710305" algn="l"/>
              </a:tabLst>
            </a:pPr>
            <a:r>
              <a:rPr lang="zh-CN" altLang="en-US" sz="2000" b="1" dirty="0">
                <a:solidFill>
                  <a:schemeClr val="accent2"/>
                </a:solidFill>
                <a:latin typeface="宋体" panose="02010600030101010101" pitchFamily="2" charset="-122"/>
                <a:ea typeface="宋体" panose="02010600030101010101" pitchFamily="2" charset="-122"/>
              </a:rPr>
              <a:t>       </a:t>
            </a:r>
            <a:r>
              <a:rPr lang="en-US" altLang="zh-CN" sz="2000" b="1" dirty="0">
                <a:solidFill>
                  <a:schemeClr val="tx2"/>
                </a:solidFill>
                <a:latin typeface="宋体" panose="02010600030101010101" pitchFamily="2" charset="-122"/>
                <a:ea typeface="宋体" panose="02010600030101010101" pitchFamily="2" charset="-122"/>
              </a:rPr>
              <a:t>xor al,al</a:t>
            </a:r>
            <a:r>
              <a:rPr lang="zh-CN" altLang="en-US" sz="2000" b="1" dirty="0">
                <a:solidFill>
                  <a:schemeClr val="tx2"/>
                </a:solidFill>
                <a:latin typeface="宋体" panose="02010600030101010101" pitchFamily="2" charset="-122"/>
                <a:ea typeface="宋体" panose="02010600030101010101" pitchFamily="2" charset="-122"/>
              </a:rPr>
              <a:t>；</a:t>
            </a:r>
            <a:r>
              <a:rPr lang="en-US" altLang="zh-CN" sz="2000" b="1" dirty="0">
                <a:solidFill>
                  <a:schemeClr val="tx2"/>
                </a:solidFill>
                <a:latin typeface="宋体" panose="02010600030101010101" pitchFamily="2" charset="-122"/>
                <a:ea typeface="宋体" panose="02010600030101010101" pitchFamily="2" charset="-122"/>
              </a:rPr>
              <a:t>AL</a:t>
            </a:r>
            <a:r>
              <a:rPr lang="zh-CN" altLang="en-US" sz="2000" b="1" dirty="0">
                <a:solidFill>
                  <a:schemeClr val="tx2"/>
                </a:solidFill>
                <a:latin typeface="宋体" panose="02010600030101010101" pitchFamily="2" charset="-122"/>
                <a:ea typeface="宋体" panose="02010600030101010101" pitchFamily="2" charset="-122"/>
              </a:rPr>
              <a:t>＝</a:t>
            </a:r>
            <a:r>
              <a:rPr lang="en-US" altLang="zh-CN" sz="2000" b="1" dirty="0">
                <a:solidFill>
                  <a:schemeClr val="tx2"/>
                </a:solidFill>
                <a:latin typeface="宋体" panose="02010600030101010101" pitchFamily="2" charset="-122"/>
                <a:ea typeface="宋体" panose="02010600030101010101" pitchFamily="2" charset="-122"/>
              </a:rPr>
              <a:t>0</a:t>
            </a:r>
            <a:r>
              <a:rPr lang="zh-CN" altLang="en-US" sz="2000" b="1" dirty="0">
                <a:solidFill>
                  <a:schemeClr val="tx2"/>
                </a:solidFill>
                <a:latin typeface="宋体" panose="02010600030101010101" pitchFamily="2" charset="-122"/>
                <a:ea typeface="宋体" panose="02010600030101010101" pitchFamily="2" charset="-122"/>
              </a:rPr>
              <a:t>，</a:t>
            </a:r>
            <a:r>
              <a:rPr lang="en-US" altLang="zh-CN" sz="2000" b="1" dirty="0">
                <a:solidFill>
                  <a:schemeClr val="tx2"/>
                </a:solidFill>
                <a:latin typeface="宋体" panose="02010600030101010101" pitchFamily="2" charset="-122"/>
                <a:ea typeface="宋体" panose="02010600030101010101" pitchFamily="2" charset="-122"/>
              </a:rPr>
              <a:t>CF</a:t>
            </a:r>
            <a:r>
              <a:rPr lang="zh-CN" altLang="en-US" sz="2000" b="1" dirty="0">
                <a:solidFill>
                  <a:schemeClr val="tx2"/>
                </a:solidFill>
                <a:latin typeface="宋体" panose="02010600030101010101" pitchFamily="2" charset="-122"/>
                <a:ea typeface="宋体" panose="02010600030101010101" pitchFamily="2" charset="-122"/>
              </a:rPr>
              <a:t>＝</a:t>
            </a:r>
            <a:r>
              <a:rPr lang="en-US" altLang="zh-CN" sz="2000" b="1" dirty="0">
                <a:solidFill>
                  <a:schemeClr val="tx2"/>
                </a:solidFill>
                <a:latin typeface="宋体" panose="02010600030101010101" pitchFamily="2" charset="-122"/>
                <a:ea typeface="宋体" panose="02010600030101010101" pitchFamily="2" charset="-122"/>
              </a:rPr>
              <a:t>0</a:t>
            </a:r>
            <a:endParaRPr lang="en-US" altLang="zh-CN" sz="2000" b="1" dirty="0">
              <a:solidFill>
                <a:schemeClr val="tx2"/>
              </a:solidFill>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520825" algn="l"/>
                <a:tab pos="3710305" algn="l"/>
              </a:tabLst>
            </a:pPr>
            <a:r>
              <a:rPr lang="en-US" altLang="zh-CN" sz="2000" b="1" dirty="0">
                <a:solidFill>
                  <a:schemeClr val="accent2"/>
                </a:solidFill>
                <a:latin typeface="宋体" panose="02010600030101010101" pitchFamily="2" charset="-122"/>
                <a:ea typeface="宋体" panose="02010600030101010101" pitchFamily="2" charset="-122"/>
              </a:rPr>
              <a:t>again: test bx,</a:t>
            </a:r>
            <a:r>
              <a:rPr lang="en-US" altLang="zh-CN" sz="2000" b="1" dirty="0">
                <a:solidFill>
                  <a:schemeClr val="tx2"/>
                </a:solidFill>
                <a:latin typeface="宋体" panose="02010600030101010101" pitchFamily="2" charset="-122"/>
                <a:ea typeface="宋体" panose="02010600030101010101" pitchFamily="2" charset="-122"/>
              </a:rPr>
              <a:t>0ffffh </a:t>
            </a:r>
            <a:r>
              <a:rPr lang="zh-CN" altLang="en-US" sz="2000" b="1" dirty="0">
                <a:latin typeface="宋体" panose="02010600030101010101" pitchFamily="2" charset="-122"/>
                <a:ea typeface="宋体" panose="02010600030101010101" pitchFamily="2" charset="-122"/>
              </a:rPr>
              <a:t>；等价于</a:t>
            </a:r>
            <a:r>
              <a:rPr lang="zh-CN" altLang="en-US" sz="2000" b="1" dirty="0">
                <a:solidFill>
                  <a:schemeClr val="accent2"/>
                </a:solidFill>
                <a:latin typeface="宋体" panose="02010600030101010101" pitchFamily="2" charset="-122"/>
                <a:ea typeface="宋体" panose="02010600030101010101" pitchFamily="2" charset="-122"/>
              </a:rPr>
              <a:t> </a:t>
            </a:r>
            <a:endParaRPr lang="en-US" altLang="zh-CN" sz="2000" b="1" dirty="0">
              <a:solidFill>
                <a:schemeClr val="accent2"/>
              </a:solidFill>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520825" algn="l"/>
                <a:tab pos="3710305" algn="l"/>
              </a:tabLst>
            </a:pPr>
            <a:r>
              <a:rPr lang="en-US" altLang="zh-CN" sz="2000" b="1" dirty="0">
                <a:solidFill>
                  <a:schemeClr val="accent2"/>
                </a:solidFill>
                <a:latin typeface="宋体" panose="02010600030101010101" pitchFamily="2" charset="-122"/>
                <a:ea typeface="宋体" panose="02010600030101010101" pitchFamily="2" charset="-122"/>
              </a:rPr>
              <a:t>                      </a:t>
            </a:r>
            <a:r>
              <a:rPr lang="zh-CN" altLang="en-US" sz="2000" b="1" dirty="0">
                <a:solidFill>
                  <a:schemeClr val="accent2"/>
                </a:solidFill>
                <a:latin typeface="宋体" panose="02010600030101010101" pitchFamily="2" charset="-122"/>
                <a:ea typeface="宋体" panose="02010600030101010101" pitchFamily="2" charset="-122"/>
              </a:rPr>
              <a:t>；</a:t>
            </a:r>
            <a:r>
              <a:rPr lang="en-US" altLang="zh-CN" sz="2000" b="1" dirty="0">
                <a:solidFill>
                  <a:schemeClr val="accent2"/>
                </a:solidFill>
                <a:latin typeface="宋体" panose="02010600030101010101" pitchFamily="2" charset="-122"/>
                <a:ea typeface="宋体" panose="02010600030101010101" pitchFamily="2" charset="-122"/>
              </a:rPr>
              <a:t>cmp bx,0</a:t>
            </a:r>
            <a:endParaRPr lang="en-US" altLang="zh-CN" sz="2000" b="1" dirty="0">
              <a:solidFill>
                <a:schemeClr val="accent2"/>
              </a:solidFill>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520825" algn="l"/>
                <a:tab pos="3710305" algn="l"/>
              </a:tabLst>
            </a:pPr>
            <a:r>
              <a:rPr lang="en-US" altLang="zh-CN" sz="2000" b="1" dirty="0">
                <a:solidFill>
                  <a:schemeClr val="accent2"/>
                </a:solidFill>
                <a:latin typeface="宋体" panose="02010600030101010101" pitchFamily="2" charset="-122"/>
                <a:ea typeface="宋体" panose="02010600030101010101" pitchFamily="2" charset="-122"/>
              </a:rPr>
              <a:t>       </a:t>
            </a:r>
            <a:r>
              <a:rPr lang="en-US" altLang="zh-CN" sz="2000" b="1" dirty="0">
                <a:solidFill>
                  <a:schemeClr val="tx2"/>
                </a:solidFill>
                <a:latin typeface="宋体" panose="02010600030101010101" pitchFamily="2" charset="-122"/>
                <a:ea typeface="宋体" panose="02010600030101010101" pitchFamily="2" charset="-122"/>
              </a:rPr>
              <a:t>je next</a:t>
            </a:r>
            <a:endParaRPr lang="en-US" altLang="zh-CN" sz="2000" b="1" dirty="0">
              <a:solidFill>
                <a:schemeClr val="tx2"/>
              </a:solidFill>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520825" algn="l"/>
                <a:tab pos="3710305" algn="l"/>
              </a:tabLst>
            </a:pPr>
            <a:r>
              <a:rPr lang="en-US" altLang="zh-CN" sz="2000" b="1" dirty="0">
                <a:solidFill>
                  <a:schemeClr val="accent2"/>
                </a:solidFill>
                <a:latin typeface="宋体" panose="02010600030101010101" pitchFamily="2" charset="-122"/>
                <a:ea typeface="宋体" panose="02010600030101010101" pitchFamily="2" charset="-122"/>
              </a:rPr>
              <a:t>       shl bx,1</a:t>
            </a:r>
            <a:endParaRPr lang="en-US" altLang="zh-CN" sz="2000" b="1" dirty="0">
              <a:solidFill>
                <a:schemeClr val="accent2"/>
              </a:solidFill>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520825" algn="l"/>
                <a:tab pos="3710305" algn="l"/>
              </a:tabLst>
            </a:pPr>
            <a:r>
              <a:rPr lang="en-US" altLang="zh-CN" sz="2000" b="1" dirty="0">
                <a:solidFill>
                  <a:schemeClr val="accent2"/>
                </a:solidFill>
                <a:latin typeface="宋体" panose="02010600030101010101" pitchFamily="2" charset="-122"/>
                <a:ea typeface="宋体" panose="02010600030101010101" pitchFamily="2" charset="-122"/>
              </a:rPr>
              <a:t>       </a:t>
            </a:r>
            <a:r>
              <a:rPr lang="en-US" altLang="zh-CN" sz="2000" b="1" dirty="0">
                <a:solidFill>
                  <a:schemeClr val="tx2"/>
                </a:solidFill>
                <a:latin typeface="宋体" panose="02010600030101010101" pitchFamily="2" charset="-122"/>
                <a:ea typeface="宋体" panose="02010600030101010101" pitchFamily="2" charset="-122"/>
              </a:rPr>
              <a:t>jnc again</a:t>
            </a:r>
            <a:endParaRPr lang="en-US" altLang="zh-CN" sz="2000" b="1" dirty="0">
              <a:solidFill>
                <a:schemeClr val="tx2"/>
              </a:solidFill>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520825" algn="l"/>
                <a:tab pos="3710305" algn="l"/>
              </a:tabLst>
            </a:pPr>
            <a:r>
              <a:rPr lang="en-US" altLang="zh-CN" sz="2000" b="1" dirty="0">
                <a:solidFill>
                  <a:schemeClr val="accent2"/>
                </a:solidFill>
                <a:latin typeface="宋体" panose="02010600030101010101" pitchFamily="2" charset="-122"/>
                <a:ea typeface="宋体" panose="02010600030101010101" pitchFamily="2" charset="-122"/>
              </a:rPr>
              <a:t>       inc al</a:t>
            </a:r>
            <a:endParaRPr lang="en-US" altLang="zh-CN" sz="2000" b="1" dirty="0">
              <a:solidFill>
                <a:schemeClr val="accent2"/>
              </a:solidFill>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520825" algn="l"/>
                <a:tab pos="3710305" algn="l"/>
              </a:tabLst>
            </a:pPr>
            <a:r>
              <a:rPr lang="en-US" altLang="zh-CN" sz="2000" b="1" dirty="0">
                <a:solidFill>
                  <a:schemeClr val="accent2"/>
                </a:solidFill>
                <a:latin typeface="宋体" panose="02010600030101010101" pitchFamily="2" charset="-122"/>
                <a:ea typeface="宋体" panose="02010600030101010101" pitchFamily="2" charset="-122"/>
              </a:rPr>
              <a:t>       jmp again</a:t>
            </a:r>
            <a:endParaRPr lang="en-US" altLang="zh-CN" sz="2000" b="1" dirty="0">
              <a:solidFill>
                <a:schemeClr val="accent2"/>
              </a:solidFill>
              <a:latin typeface="宋体" panose="02010600030101010101" pitchFamily="2" charset="-122"/>
              <a:ea typeface="宋体" panose="02010600030101010101" pitchFamily="2" charset="-122"/>
            </a:endParaRPr>
          </a:p>
          <a:p>
            <a:pPr defTabSz="914400" eaLnBrk="0" hangingPunct="0">
              <a:lnSpc>
                <a:spcPct val="150000"/>
              </a:lnSpc>
              <a:buFont typeface="Wingdings" panose="05000000000000000000" pitchFamily="2" charset="2"/>
              <a:tabLst>
                <a:tab pos="1520825" algn="l"/>
                <a:tab pos="3710305" algn="l"/>
              </a:tabLst>
            </a:pPr>
            <a:r>
              <a:rPr lang="en-US" altLang="zh-CN" sz="2000" b="1" dirty="0">
                <a:solidFill>
                  <a:schemeClr val="tx2"/>
                </a:solidFill>
                <a:latin typeface="宋体" panose="02010600030101010101" pitchFamily="2" charset="-122"/>
                <a:ea typeface="宋体" panose="02010600030101010101" pitchFamily="2" charset="-122"/>
              </a:rPr>
              <a:t>next:</a:t>
            </a:r>
            <a:r>
              <a:rPr lang="en-US" altLang="zh-CN" sz="2000" b="1" dirty="0">
                <a:solidFill>
                  <a:schemeClr val="accent2"/>
                </a:solidFill>
                <a:latin typeface="宋体" panose="02010600030101010101" pitchFamily="2" charset="-122"/>
                <a:ea typeface="宋体" panose="02010600030101010101" pitchFamily="2" charset="-122"/>
              </a:rPr>
              <a:t>  ...</a:t>
            </a:r>
            <a:r>
              <a:rPr lang="zh-CN" altLang="en-US" sz="2000" b="1" dirty="0">
                <a:solidFill>
                  <a:schemeClr val="accent2"/>
                </a:solidFill>
                <a:latin typeface="宋体" panose="02010600030101010101" pitchFamily="2" charset="-122"/>
                <a:ea typeface="宋体" panose="02010600030101010101" pitchFamily="2" charset="-122"/>
              </a:rPr>
              <a:t>；</a:t>
            </a:r>
            <a:r>
              <a:rPr lang="en-US" altLang="zh-CN" sz="2000" b="1" dirty="0">
                <a:solidFill>
                  <a:schemeClr val="accent2"/>
                </a:solidFill>
                <a:latin typeface="宋体" panose="02010600030101010101" pitchFamily="2" charset="-122"/>
                <a:ea typeface="宋体" panose="02010600030101010101" pitchFamily="2" charset="-122"/>
              </a:rPr>
              <a:t>AL</a:t>
            </a:r>
            <a:r>
              <a:rPr lang="zh-CN" altLang="en-US" sz="2000" b="1" dirty="0">
                <a:solidFill>
                  <a:schemeClr val="accent2"/>
                </a:solidFill>
                <a:latin typeface="宋体" panose="02010600030101010101" pitchFamily="2" charset="-122"/>
                <a:ea typeface="宋体" panose="02010600030101010101" pitchFamily="2" charset="-122"/>
              </a:rPr>
              <a:t>保存</a:t>
            </a:r>
            <a:r>
              <a:rPr lang="en-US" altLang="zh-CN" sz="2000" b="1" dirty="0">
                <a:solidFill>
                  <a:schemeClr val="accent2"/>
                </a:solidFill>
                <a:latin typeface="宋体" panose="02010600030101010101" pitchFamily="2" charset="-122"/>
                <a:ea typeface="宋体" panose="02010600030101010101" pitchFamily="2" charset="-122"/>
              </a:rPr>
              <a:t>1</a:t>
            </a:r>
            <a:r>
              <a:rPr lang="zh-CN" altLang="en-US" sz="2000" b="1" dirty="0">
                <a:solidFill>
                  <a:schemeClr val="accent2"/>
                </a:solidFill>
                <a:latin typeface="宋体" panose="02010600030101010101" pitchFamily="2" charset="-122"/>
                <a:ea typeface="宋体" panose="02010600030101010101" pitchFamily="2" charset="-122"/>
              </a:rPr>
              <a:t>的个数</a:t>
            </a:r>
            <a:endParaRPr lang="zh-CN" altLang="en-US" sz="2000" b="1" dirty="0">
              <a:solidFill>
                <a:schemeClr val="accent2"/>
              </a:solidFill>
              <a:latin typeface="宋体" panose="02010600030101010101" pitchFamily="2" charset="-122"/>
              <a:ea typeface="宋体" panose="02010600030101010101" pitchFamily="2" charset="-122"/>
            </a:endParaRPr>
          </a:p>
        </p:txBody>
      </p:sp>
      <p:sp>
        <p:nvSpPr>
          <p:cNvPr id="158723" name="矩形 2"/>
          <p:cNvSpPr/>
          <p:nvPr/>
        </p:nvSpPr>
        <p:spPr>
          <a:xfrm>
            <a:off x="971550" y="1022350"/>
            <a:ext cx="2663825" cy="461963"/>
          </a:xfrm>
          <a:prstGeom prst="rect">
            <a:avLst/>
          </a:prstGeom>
          <a:noFill/>
          <a:ln w="9525">
            <a:noFill/>
          </a:ln>
        </p:spPr>
        <p:txBody>
          <a:bodyPr wrap="none">
            <a:spAutoFit/>
          </a:bodyPr>
          <a:p>
            <a:pPr eaLnBrk="0" hangingPunct="0">
              <a:buFont typeface="Wingdings" panose="05000000000000000000" pitchFamily="2" charset="2"/>
            </a:pP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例</a:t>
            </a:r>
            <a:r>
              <a:rPr lang="en-US" altLang="zh-CN" sz="2400" b="1" dirty="0">
                <a:latin typeface="宋体" panose="02010600030101010101" pitchFamily="2" charset="-122"/>
                <a:ea typeface="宋体" panose="02010600030101010101" pitchFamily="2" charset="-122"/>
              </a:rPr>
              <a:t>】JC/JNC</a:t>
            </a:r>
            <a:r>
              <a:rPr lang="zh-CN" altLang="en-US" sz="2400" b="1" dirty="0">
                <a:latin typeface="宋体" panose="02010600030101010101" pitchFamily="2" charset="-122"/>
                <a:ea typeface="宋体" panose="02010600030101010101" pitchFamily="2" charset="-122"/>
              </a:rPr>
              <a:t>指令</a:t>
            </a:r>
            <a:endParaRPr lang="zh-CN" altLang="en-US" sz="2400" b="1" dirty="0">
              <a:latin typeface="宋体" panose="02010600030101010101" pitchFamily="2" charset="-122"/>
              <a:ea typeface="宋体" panose="02010600030101010101" pitchFamily="2" charset="-122"/>
            </a:endParaRPr>
          </a:p>
        </p:txBody>
      </p:sp>
      <p:sp>
        <p:nvSpPr>
          <p:cNvPr id="158724" name="矩形 3"/>
          <p:cNvSpPr/>
          <p:nvPr/>
        </p:nvSpPr>
        <p:spPr>
          <a:xfrm>
            <a:off x="5184775" y="2089150"/>
            <a:ext cx="4067175" cy="3786188"/>
          </a:xfrm>
          <a:prstGeom prst="rect">
            <a:avLst/>
          </a:prstGeom>
          <a:noFill/>
          <a:ln w="9525">
            <a:noFill/>
          </a:ln>
        </p:spPr>
        <p:txBody>
          <a:bodyPr>
            <a:spAutoFit/>
          </a:bodyPr>
          <a:p>
            <a:pPr eaLnBrk="0" hangingPunct="0">
              <a:lnSpc>
                <a:spcPct val="150000"/>
              </a:lnSpc>
              <a:buFont typeface="Wingdings" panose="05000000000000000000" pitchFamily="2" charset="2"/>
            </a:pPr>
            <a:r>
              <a:rPr lang="en-US" altLang="zh-CN" sz="2000" b="1" dirty="0">
                <a:latin typeface="宋体" panose="02010600030101010101" pitchFamily="2" charset="-122"/>
                <a:ea typeface="宋体" panose="02010600030101010101" pitchFamily="2" charset="-122"/>
              </a:rPr>
              <a:t>       xor al,al</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AL</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0</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CF</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0</a:t>
            </a:r>
            <a:endParaRPr lang="en-US" altLang="zh-CN" sz="20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000" b="1" dirty="0">
                <a:latin typeface="宋体" panose="02010600030101010101" pitchFamily="2" charset="-122"/>
                <a:ea typeface="宋体" panose="02010600030101010101" pitchFamily="2" charset="-122"/>
              </a:rPr>
              <a:t>again: cmp bx,0</a:t>
            </a:r>
            <a:endParaRPr lang="en-US" altLang="zh-CN" sz="20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000" b="1" dirty="0">
                <a:latin typeface="宋体" panose="02010600030101010101" pitchFamily="2" charset="-122"/>
                <a:ea typeface="宋体" panose="02010600030101010101" pitchFamily="2" charset="-122"/>
              </a:rPr>
              <a:t>	jz next</a:t>
            </a:r>
            <a:endParaRPr lang="en-US" altLang="zh-CN" sz="20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000" b="1" dirty="0">
                <a:latin typeface="宋体" panose="02010600030101010101" pitchFamily="2" charset="-122"/>
                <a:ea typeface="宋体" panose="02010600030101010101" pitchFamily="2" charset="-122"/>
              </a:rPr>
              <a:t>	shl bx,1</a:t>
            </a:r>
            <a:r>
              <a:rPr lang="zh-CN" altLang="en-US" sz="2000" b="1" dirty="0">
                <a:latin typeface="宋体" panose="02010600030101010101" pitchFamily="2" charset="-122"/>
                <a:ea typeface="宋体" panose="02010600030101010101" pitchFamily="2" charset="-122"/>
              </a:rPr>
              <a:t>；也可使用   </a:t>
            </a:r>
            <a:endParaRPr lang="en-US" altLang="zh-CN" sz="20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000" b="1" dirty="0">
                <a:latin typeface="宋体" panose="02010600030101010101" pitchFamily="2" charset="-122"/>
                <a:ea typeface="宋体" panose="02010600030101010101" pitchFamily="2" charset="-122"/>
              </a:rPr>
              <a:t>               </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shr bx,1</a:t>
            </a:r>
            <a:endParaRPr lang="en-US" altLang="zh-CN" sz="20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000" b="1" dirty="0">
                <a:latin typeface="宋体" panose="02010600030101010101" pitchFamily="2" charset="-122"/>
                <a:ea typeface="宋体" panose="02010600030101010101" pitchFamily="2" charset="-122"/>
              </a:rPr>
              <a:t>	adc al,0</a:t>
            </a:r>
            <a:endParaRPr lang="en-US" altLang="zh-CN" sz="20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000" b="1" dirty="0">
                <a:latin typeface="宋体" panose="02010600030101010101" pitchFamily="2" charset="-122"/>
                <a:ea typeface="宋体" panose="02010600030101010101" pitchFamily="2" charset="-122"/>
              </a:rPr>
              <a:t>	jmp again</a:t>
            </a:r>
            <a:endParaRPr lang="en-US" altLang="zh-CN" sz="2000" b="1" dirty="0">
              <a:latin typeface="宋体" panose="02010600030101010101" pitchFamily="2" charset="-122"/>
              <a:ea typeface="宋体" panose="02010600030101010101" pitchFamily="2" charset="-122"/>
            </a:endParaRPr>
          </a:p>
          <a:p>
            <a:pPr eaLnBrk="0" hangingPunct="0">
              <a:lnSpc>
                <a:spcPct val="150000"/>
              </a:lnSpc>
              <a:buFont typeface="Wingdings" panose="05000000000000000000" pitchFamily="2" charset="2"/>
            </a:pPr>
            <a:r>
              <a:rPr lang="en-US" altLang="zh-CN" sz="2000" b="1" dirty="0">
                <a:latin typeface="宋体" panose="02010600030101010101" pitchFamily="2" charset="-122"/>
                <a:ea typeface="宋体" panose="02010600030101010101" pitchFamily="2" charset="-122"/>
              </a:rPr>
              <a:t>next:	...</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AL</a:t>
            </a:r>
            <a:r>
              <a:rPr lang="zh-CN" altLang="en-US" sz="2000" b="1" dirty="0">
                <a:latin typeface="宋体" panose="02010600030101010101" pitchFamily="2" charset="-122"/>
                <a:ea typeface="宋体" panose="02010600030101010101" pitchFamily="2" charset="-122"/>
              </a:rPr>
              <a:t>保存</a:t>
            </a:r>
            <a:r>
              <a:rPr lang="en-US" altLang="zh-CN" sz="2000" b="1"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的个数</a:t>
            </a:r>
            <a:endParaRPr lang="zh-CN" altLang="en-US" sz="2000" b="1" dirty="0">
              <a:latin typeface="宋体" panose="02010600030101010101" pitchFamily="2" charset="-122"/>
              <a:ea typeface="宋体" panose="02010600030101010101" pitchFamily="2" charset="-122"/>
            </a:endParaRPr>
          </a:p>
        </p:txBody>
      </p:sp>
      <p:cxnSp>
        <p:nvCxnSpPr>
          <p:cNvPr id="158725" name="直接连接符 5"/>
          <p:cNvCxnSpPr/>
          <p:nvPr/>
        </p:nvCxnSpPr>
        <p:spPr>
          <a:xfrm>
            <a:off x="5003800" y="1484313"/>
            <a:ext cx="0" cy="5257800"/>
          </a:xfrm>
          <a:prstGeom prst="line">
            <a:avLst/>
          </a:prstGeom>
          <a:ln w="38100" cap="flat" cmpd="sng">
            <a:solidFill>
              <a:schemeClr val="tx1"/>
            </a:solidFill>
            <a:prstDash val="solid"/>
            <a:headEnd type="none" w="med" len="med"/>
            <a:tailEnd type="none" w="med" len="med"/>
          </a:ln>
        </p:spPr>
      </p:cxnSp>
      <p:sp>
        <p:nvSpPr>
          <p:cNvPr id="158726" name="左右箭头 6"/>
          <p:cNvSpPr/>
          <p:nvPr/>
        </p:nvSpPr>
        <p:spPr>
          <a:xfrm>
            <a:off x="4140200" y="4011613"/>
            <a:ext cx="1439863" cy="288925"/>
          </a:xfrm>
          <a:prstGeom prst="leftRightArrow">
            <a:avLst>
              <a:gd name="adj1" fmla="val 50000"/>
              <a:gd name="adj2" fmla="val 49512"/>
            </a:avLst>
          </a:prstGeom>
          <a:solidFill>
            <a:schemeClr val="accent1"/>
          </a:solidFill>
          <a:ln w="9525" cap="flat" cmpd="sng">
            <a:solidFill>
              <a:schemeClr val="tx1"/>
            </a:solidFill>
            <a:prstDash val="solid"/>
            <a:round/>
            <a:headEnd type="none" w="med" len="med"/>
            <a:tailEnd type="none" w="med" len="med"/>
          </a:ln>
        </p:spPr>
        <p:txBody>
          <a:bodyPr/>
          <a:p>
            <a:pPr eaLnBrk="0" hangingPunct="0"/>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3"/>
          <p:cNvSpPr>
            <a:spLocks noGrp="1"/>
          </p:cNvSpPr>
          <p:nvPr>
            <p:ph type="body" idx="4294967295"/>
          </p:nvPr>
        </p:nvSpPr>
        <p:spPr>
          <a:xfrm>
            <a:off x="1187450" y="1700213"/>
            <a:ext cx="6845300" cy="2190750"/>
          </a:xfrm>
        </p:spPr>
        <p:txBody>
          <a:bodyPr vert="horz" wrap="square" lIns="91440" tIns="45720" rIns="91440" bIns="45720" anchor="t" anchorCtr="0"/>
          <a:p>
            <a:pPr eaLnBrk="1" hangingPunct="1">
              <a:lnSpc>
                <a:spcPct val="120000"/>
              </a:lnSpc>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循环范围：</a:t>
            </a:r>
            <a:endParaRPr lang="zh-CN" altLang="en-US" sz="2400" dirty="0">
              <a:latin typeface="宋体" panose="02010600030101010101" pitchFamily="2" charset="-122"/>
              <a:ea typeface="宋体" panose="02010600030101010101" pitchFamily="2" charset="-122"/>
            </a:endParaRPr>
          </a:p>
          <a:p>
            <a:pPr marL="457200" lvl="1" indent="0" eaLnBrk="1" hangingPunct="1">
              <a:lnSpc>
                <a:spcPct val="120000"/>
              </a:lnSpc>
              <a:buNone/>
            </a:pPr>
            <a:r>
              <a:rPr lang="zh-CN" altLang="en-US" dirty="0">
                <a:latin typeface="宋体" panose="02010600030101010101" pitchFamily="2" charset="-122"/>
                <a:ea typeface="宋体" panose="02010600030101010101" pitchFamily="2" charset="-122"/>
              </a:rPr>
              <a:t>以当前</a:t>
            </a:r>
            <a:r>
              <a:rPr lang="en-US" altLang="zh-CN" dirty="0">
                <a:latin typeface="宋体" panose="02010600030101010101" pitchFamily="2" charset="-122"/>
                <a:ea typeface="宋体" panose="02010600030101010101" pitchFamily="2" charset="-122"/>
              </a:rPr>
              <a:t>IP</a:t>
            </a:r>
            <a:r>
              <a:rPr lang="zh-CN" altLang="en-US" dirty="0">
                <a:latin typeface="宋体" panose="02010600030101010101" pitchFamily="2" charset="-122"/>
                <a:ea typeface="宋体" panose="02010600030101010101" pitchFamily="2" charset="-122"/>
              </a:rPr>
              <a:t>为中心的-128～+127范围内循环。</a:t>
            </a:r>
            <a:endParaRPr lang="zh-CN" altLang="en-US" dirty="0">
              <a:latin typeface="宋体" panose="02010600030101010101" pitchFamily="2" charset="-122"/>
              <a:ea typeface="宋体" panose="02010600030101010101" pitchFamily="2" charset="-122"/>
            </a:endParaRPr>
          </a:p>
          <a:p>
            <a:pPr eaLnBrk="1" hangingPunct="1">
              <a:lnSpc>
                <a:spcPct val="120000"/>
              </a:lnSpc>
              <a:spcBef>
                <a:spcPct val="45000"/>
              </a:spcBef>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循环次数由</a:t>
            </a:r>
            <a:r>
              <a:rPr lang="en-US" altLang="zh-CN" sz="2400" dirty="0">
                <a:latin typeface="宋体" panose="02010600030101010101" pitchFamily="2" charset="-122"/>
                <a:ea typeface="宋体" panose="02010600030101010101" pitchFamily="2" charset="-122"/>
              </a:rPr>
              <a:t>CX</a:t>
            </a:r>
            <a:r>
              <a:rPr lang="zh-CN" altLang="en-US" sz="2400" dirty="0">
                <a:latin typeface="宋体" panose="02010600030101010101" pitchFamily="2" charset="-122"/>
                <a:ea typeface="宋体" panose="02010600030101010101" pitchFamily="2" charset="-122"/>
              </a:rPr>
              <a:t>寄存器指定。</a:t>
            </a:r>
            <a:endParaRPr lang="zh-CN" altLang="en-US" sz="2400" dirty="0">
              <a:latin typeface="宋体" panose="02010600030101010101" pitchFamily="2" charset="-122"/>
              <a:ea typeface="宋体" panose="02010600030101010101" pitchFamily="2" charset="-122"/>
            </a:endParaRPr>
          </a:p>
          <a:p>
            <a:pPr eaLnBrk="1" hangingPunct="1">
              <a:lnSpc>
                <a:spcPct val="120000"/>
              </a:lnSpc>
              <a:spcBef>
                <a:spcPct val="45000"/>
              </a:spcBef>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循环指令：</a:t>
            </a:r>
            <a:endParaRPr lang="zh-CN" altLang="en-US" sz="2400" dirty="0">
              <a:latin typeface="宋体" panose="02010600030101010101" pitchFamily="2" charset="-122"/>
              <a:ea typeface="宋体" panose="02010600030101010101" pitchFamily="2" charset="-122"/>
            </a:endParaRPr>
          </a:p>
        </p:txBody>
      </p:sp>
      <p:sp>
        <p:nvSpPr>
          <p:cNvPr id="158723" name="Text Box 4"/>
          <p:cNvSpPr txBox="1"/>
          <p:nvPr/>
        </p:nvSpPr>
        <p:spPr>
          <a:xfrm>
            <a:off x="2298700" y="4325938"/>
            <a:ext cx="1855788" cy="1570037"/>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宋体" panose="02010600030101010101" pitchFamily="2" charset="-122"/>
                <a:ea typeface="宋体" panose="02010600030101010101" pitchFamily="2" charset="-122"/>
              </a:rPr>
              <a:t>LOOP        </a:t>
            </a:r>
            <a:endParaRPr lang="en-US" altLang="zh-CN" sz="2400" b="1" dirty="0">
              <a:latin typeface="宋体" panose="02010600030101010101" pitchFamily="2" charset="-122"/>
              <a:ea typeface="宋体" panose="02010600030101010101" pitchFamily="2" charset="-122"/>
            </a:endParaRPr>
          </a:p>
          <a:p>
            <a:pPr eaLnBrk="0" hangingPunct="0">
              <a:spcBef>
                <a:spcPct val="50000"/>
              </a:spcBef>
              <a:buFont typeface="Wingdings" panose="05000000000000000000" pitchFamily="2" charset="2"/>
            </a:pPr>
            <a:r>
              <a:rPr lang="en-US" altLang="zh-CN" sz="2400" b="1" dirty="0">
                <a:latin typeface="宋体" panose="02010600030101010101" pitchFamily="2" charset="-122"/>
                <a:ea typeface="宋体" panose="02010600030101010101" pitchFamily="2" charset="-122"/>
              </a:rPr>
              <a:t>*LOOPZ      </a:t>
            </a:r>
            <a:endParaRPr lang="en-US" altLang="zh-CN" sz="2400" b="1" dirty="0">
              <a:latin typeface="宋体" panose="02010600030101010101" pitchFamily="2" charset="-122"/>
              <a:ea typeface="宋体" panose="02010600030101010101" pitchFamily="2" charset="-122"/>
            </a:endParaRPr>
          </a:p>
          <a:p>
            <a:pPr eaLnBrk="0" hangingPunct="0">
              <a:spcBef>
                <a:spcPct val="50000"/>
              </a:spcBef>
              <a:buFont typeface="Wingdings" panose="05000000000000000000" pitchFamily="2" charset="2"/>
            </a:pPr>
            <a:r>
              <a:rPr lang="en-US" altLang="zh-CN" sz="2400" b="1" dirty="0">
                <a:latin typeface="宋体" panose="02010600030101010101" pitchFamily="2" charset="-122"/>
                <a:ea typeface="宋体" panose="02010600030101010101" pitchFamily="2" charset="-122"/>
              </a:rPr>
              <a:t>*LOOPNZ</a:t>
            </a:r>
            <a:endParaRPr lang="en-US" altLang="zh-CN" sz="2400" b="1" dirty="0">
              <a:latin typeface="宋体" panose="02010600030101010101" pitchFamily="2" charset="-122"/>
              <a:ea typeface="宋体" panose="02010600030101010101" pitchFamily="2" charset="-122"/>
            </a:endParaRPr>
          </a:p>
        </p:txBody>
      </p:sp>
      <p:sp>
        <p:nvSpPr>
          <p:cNvPr id="158724" name="AutoShape 5"/>
          <p:cNvSpPr/>
          <p:nvPr/>
        </p:nvSpPr>
        <p:spPr>
          <a:xfrm>
            <a:off x="1993900" y="4554538"/>
            <a:ext cx="228600" cy="1143000"/>
          </a:xfrm>
          <a:prstGeom prst="leftBrace">
            <a:avLst>
              <a:gd name="adj1" fmla="val 41342"/>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宋体" panose="02010600030101010101" pitchFamily="2" charset="-122"/>
              <a:ea typeface="宋体" panose="02010600030101010101" pitchFamily="2" charset="-122"/>
            </a:endParaRPr>
          </a:p>
        </p:txBody>
      </p:sp>
      <p:sp>
        <p:nvSpPr>
          <p:cNvPr id="158725" name="Line 6"/>
          <p:cNvSpPr/>
          <p:nvPr/>
        </p:nvSpPr>
        <p:spPr>
          <a:xfrm>
            <a:off x="3433763" y="4554538"/>
            <a:ext cx="720725" cy="0"/>
          </a:xfrm>
          <a:prstGeom prst="line">
            <a:avLst/>
          </a:prstGeom>
          <a:ln w="25400" cap="sq" cmpd="sng">
            <a:solidFill>
              <a:srgbClr val="FF6600"/>
            </a:solidFill>
            <a:prstDash val="solid"/>
            <a:headEnd type="none" w="med" len="med"/>
            <a:tailEnd type="triangle" w="lg" len="lg"/>
          </a:ln>
        </p:spPr>
      </p:sp>
      <p:sp>
        <p:nvSpPr>
          <p:cNvPr id="158726" name="Text Box 7"/>
          <p:cNvSpPr txBox="1"/>
          <p:nvPr/>
        </p:nvSpPr>
        <p:spPr>
          <a:xfrm>
            <a:off x="4254500" y="4322763"/>
            <a:ext cx="2449513"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宋体" panose="02010600030101010101" pitchFamily="2" charset="-122"/>
                <a:ea typeface="宋体" panose="02010600030101010101" pitchFamily="2" charset="-122"/>
              </a:rPr>
              <a:t>无条件循环指令</a:t>
            </a:r>
            <a:endParaRPr lang="zh-CN" altLang="en-US" sz="2400" b="1" dirty="0">
              <a:latin typeface="宋体" panose="02010600030101010101" pitchFamily="2" charset="-122"/>
              <a:ea typeface="宋体" panose="02010600030101010101" pitchFamily="2" charset="-122"/>
            </a:endParaRPr>
          </a:p>
        </p:txBody>
      </p:sp>
      <p:sp>
        <p:nvSpPr>
          <p:cNvPr id="158727" name="Text Box 8"/>
          <p:cNvSpPr txBox="1"/>
          <p:nvPr/>
        </p:nvSpPr>
        <p:spPr>
          <a:xfrm>
            <a:off x="4441825" y="5145088"/>
            <a:ext cx="2449513"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宋体" panose="02010600030101010101" pitchFamily="2" charset="-122"/>
                <a:ea typeface="宋体" panose="02010600030101010101" pitchFamily="2" charset="-122"/>
              </a:rPr>
              <a:t>条件循环指令</a:t>
            </a:r>
            <a:endParaRPr lang="zh-CN" altLang="en-US" sz="2400" b="1" dirty="0">
              <a:latin typeface="宋体" panose="02010600030101010101" pitchFamily="2" charset="-122"/>
              <a:ea typeface="宋体" panose="02010600030101010101" pitchFamily="2" charset="-122"/>
            </a:endParaRPr>
          </a:p>
        </p:txBody>
      </p:sp>
      <p:sp>
        <p:nvSpPr>
          <p:cNvPr id="158728" name="AutoShape 9"/>
          <p:cNvSpPr/>
          <p:nvPr/>
        </p:nvSpPr>
        <p:spPr>
          <a:xfrm>
            <a:off x="4111625" y="4986338"/>
            <a:ext cx="142875" cy="792162"/>
          </a:xfrm>
          <a:prstGeom prst="rightBrace">
            <a:avLst>
              <a:gd name="adj1" fmla="val 45844"/>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宋体" panose="02010600030101010101" pitchFamily="2" charset="-122"/>
              <a:ea typeface="宋体" panose="02010600030101010101" pitchFamily="2" charset="-122"/>
            </a:endParaRPr>
          </a:p>
        </p:txBody>
      </p:sp>
      <p:sp>
        <p:nvSpPr>
          <p:cNvPr id="159753" name="Rectangle 2"/>
          <p:cNvSpPr>
            <a:spLocks noGrp="1"/>
          </p:cNvSpPr>
          <p:nvPr/>
        </p:nvSpPr>
        <p:spPr>
          <a:xfrm>
            <a:off x="1778000" y="144463"/>
            <a:ext cx="4926013" cy="563562"/>
          </a:xfrm>
          <a:prstGeom prst="rect">
            <a:avLst/>
          </a:prstGeom>
          <a:noFill/>
          <a:ln w="9525">
            <a:noFill/>
          </a:ln>
        </p:spPr>
        <p:txBody>
          <a:bodyPr anchor="ctr" anchorCtr="0"/>
          <a:p>
            <a:pPr>
              <a:buFont typeface="Wingdings" panose="05000000000000000000" pitchFamily="2" charset="2"/>
            </a:pPr>
            <a:r>
              <a:rPr lang="en-US" altLang="zh-CN" sz="3600" b="1" dirty="0">
                <a:solidFill>
                  <a:schemeClr val="bg1"/>
                </a:solidFill>
                <a:latin typeface="宋体" panose="02010600030101010101" pitchFamily="2" charset="-122"/>
                <a:ea typeface="宋体" panose="02010600030101010101" pitchFamily="2" charset="-122"/>
              </a:rPr>
              <a:t>3.4.5.2 </a:t>
            </a:r>
            <a:r>
              <a:rPr lang="zh-CN" altLang="en-US" sz="3600" b="1" dirty="0">
                <a:solidFill>
                  <a:schemeClr val="bg1"/>
                </a:solidFill>
                <a:latin typeface="宋体" panose="02010600030101010101" pitchFamily="2" charset="-122"/>
                <a:ea typeface="宋体" panose="02010600030101010101" pitchFamily="2" charset="-122"/>
              </a:rPr>
              <a:t>循环控制指令</a:t>
            </a:r>
            <a:endParaRPr lang="zh-CN" altLang="en-US" sz="3600" b="1"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8722">
                                            <p:txEl>
                                              <p:charRg st="0" end="6"/>
                                            </p:txEl>
                                          </p:spTgt>
                                        </p:tgtEl>
                                        <p:attrNameLst>
                                          <p:attrName>style.visibility</p:attrName>
                                        </p:attrNameLst>
                                      </p:cBhvr>
                                      <p:to>
                                        <p:strVal val="visible"/>
                                      </p:to>
                                    </p:set>
                                    <p:animEffect transition="in" filter="wipe(left)">
                                      <p:cBhvr>
                                        <p:cTn id="7" dur="500"/>
                                        <p:tgtEl>
                                          <p:spTgt spid="158722">
                                            <p:txEl>
                                              <p:charRg st="0" end="6"/>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8722">
                                            <p:txEl>
                                              <p:charRg st="6" end="31"/>
                                            </p:txEl>
                                          </p:spTgt>
                                        </p:tgtEl>
                                        <p:attrNameLst>
                                          <p:attrName>style.visibility</p:attrName>
                                        </p:attrNameLst>
                                      </p:cBhvr>
                                      <p:to>
                                        <p:strVal val="visible"/>
                                      </p:to>
                                    </p:set>
                                    <p:animEffect transition="in" filter="wipe(left)">
                                      <p:cBhvr>
                                        <p:cTn id="11" dur="500"/>
                                        <p:tgtEl>
                                          <p:spTgt spid="158722">
                                            <p:txEl>
                                              <p:charRg st="6" end="3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58722">
                                            <p:txEl>
                                              <p:charRg st="31" end="45"/>
                                            </p:txEl>
                                          </p:spTgt>
                                        </p:tgtEl>
                                        <p:attrNameLst>
                                          <p:attrName>style.visibility</p:attrName>
                                        </p:attrNameLst>
                                      </p:cBhvr>
                                      <p:to>
                                        <p:strVal val="visible"/>
                                      </p:to>
                                    </p:set>
                                    <p:animEffect transition="in" filter="wipe(left)">
                                      <p:cBhvr>
                                        <p:cTn id="16" dur="500"/>
                                        <p:tgtEl>
                                          <p:spTgt spid="158722">
                                            <p:txEl>
                                              <p:charRg st="31" end="4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58722">
                                            <p:txEl>
                                              <p:charRg st="45" end="51"/>
                                            </p:txEl>
                                          </p:spTgt>
                                        </p:tgtEl>
                                        <p:attrNameLst>
                                          <p:attrName>style.visibility</p:attrName>
                                        </p:attrNameLst>
                                      </p:cBhvr>
                                      <p:to>
                                        <p:strVal val="visible"/>
                                      </p:to>
                                    </p:set>
                                    <p:animEffect transition="in" filter="wipe(left)">
                                      <p:cBhvr>
                                        <p:cTn id="21" dur="500"/>
                                        <p:tgtEl>
                                          <p:spTgt spid="158722">
                                            <p:txEl>
                                              <p:charRg st="45" end="5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58723"/>
                                        </p:tgtEl>
                                        <p:attrNameLst>
                                          <p:attrName>style.visibility</p:attrName>
                                        </p:attrNameLst>
                                      </p:cBhvr>
                                      <p:to>
                                        <p:strVal val="visible"/>
                                      </p:to>
                                    </p:set>
                                    <p:anim calcmode="lin" valueType="num">
                                      <p:cBhvr>
                                        <p:cTn id="26" dur="500" fill="hold"/>
                                        <p:tgtEl>
                                          <p:spTgt spid="158723"/>
                                        </p:tgtEl>
                                        <p:attrNameLst>
                                          <p:attrName>ppt_x</p:attrName>
                                        </p:attrNameLst>
                                      </p:cBhvr>
                                      <p:tavLst>
                                        <p:tav tm="0">
                                          <p:val>
                                            <p:strVal val="#ppt_x"/>
                                          </p:val>
                                        </p:tav>
                                        <p:tav tm="100000">
                                          <p:val>
                                            <p:strVal val="#ppt_x"/>
                                          </p:val>
                                        </p:tav>
                                      </p:tavLst>
                                    </p:anim>
                                    <p:anim calcmode="lin" valueType="num">
                                      <p:cBhvr>
                                        <p:cTn id="27" dur="500" fill="hold"/>
                                        <p:tgtEl>
                                          <p:spTgt spid="158723"/>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58724"/>
                                        </p:tgtEl>
                                        <p:attrNameLst>
                                          <p:attrName>style.visibility</p:attrName>
                                        </p:attrNameLst>
                                      </p:cBhvr>
                                      <p:to>
                                        <p:strVal val="visible"/>
                                      </p:to>
                                    </p:set>
                                    <p:anim calcmode="lin" valueType="num">
                                      <p:cBhvr>
                                        <p:cTn id="30" dur="500" fill="hold"/>
                                        <p:tgtEl>
                                          <p:spTgt spid="158724"/>
                                        </p:tgtEl>
                                        <p:attrNameLst>
                                          <p:attrName>ppt_x</p:attrName>
                                        </p:attrNameLst>
                                      </p:cBhvr>
                                      <p:tavLst>
                                        <p:tav tm="0">
                                          <p:val>
                                            <p:strVal val="#ppt_x"/>
                                          </p:val>
                                        </p:tav>
                                        <p:tav tm="100000">
                                          <p:val>
                                            <p:strVal val="#ppt_x"/>
                                          </p:val>
                                        </p:tav>
                                      </p:tavLst>
                                    </p:anim>
                                    <p:anim calcmode="lin" valueType="num">
                                      <p:cBhvr>
                                        <p:cTn id="31" dur="500" fill="hold"/>
                                        <p:tgtEl>
                                          <p:spTgt spid="15872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58725"/>
                                        </p:tgtEl>
                                        <p:attrNameLst>
                                          <p:attrName>style.visibility</p:attrName>
                                        </p:attrNameLst>
                                      </p:cBhvr>
                                      <p:to>
                                        <p:strVal val="visible"/>
                                      </p:to>
                                    </p:set>
                                    <p:animEffect transition="in" filter="wipe(left)">
                                      <p:cBhvr>
                                        <p:cTn id="36" dur="500"/>
                                        <p:tgtEl>
                                          <p:spTgt spid="158725"/>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158726"/>
                                        </p:tgtEl>
                                        <p:attrNameLst>
                                          <p:attrName>style.visibility</p:attrName>
                                        </p:attrNameLst>
                                      </p:cBhvr>
                                      <p:to>
                                        <p:strVal val="visible"/>
                                      </p:to>
                                    </p:set>
                                    <p:animEffect transition="in" filter="wipe(left)">
                                      <p:cBhvr>
                                        <p:cTn id="40" dur="500"/>
                                        <p:tgtEl>
                                          <p:spTgt spid="15872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158728"/>
                                        </p:tgtEl>
                                        <p:attrNameLst>
                                          <p:attrName>style.visibility</p:attrName>
                                        </p:attrNameLst>
                                      </p:cBhvr>
                                      <p:to>
                                        <p:strVal val="visible"/>
                                      </p:to>
                                    </p:set>
                                    <p:animEffect transition="in" filter="wipe(up)">
                                      <p:cBhvr>
                                        <p:cTn id="45" dur="500"/>
                                        <p:tgtEl>
                                          <p:spTgt spid="158728"/>
                                        </p:tgtEl>
                                      </p:cBhvr>
                                    </p:animEffect>
                                  </p:childTnLst>
                                </p:cTn>
                              </p:par>
                            </p:childTnLst>
                          </p:cTn>
                        </p:par>
                        <p:par>
                          <p:cTn id="46" fill="hold">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158727"/>
                                        </p:tgtEl>
                                        <p:attrNameLst>
                                          <p:attrName>style.visibility</p:attrName>
                                        </p:attrNameLst>
                                      </p:cBhvr>
                                      <p:to>
                                        <p:strVal val="visible"/>
                                      </p:to>
                                    </p:set>
                                    <p:animEffect transition="in" filter="wipe(left)">
                                      <p:cBhvr>
                                        <p:cTn id="49" dur="500"/>
                                        <p:tgtEl>
                                          <p:spTgt spid="158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p:bldP spid="158724" grpId="0" animBg="1"/>
      <p:bldP spid="158726" grpId="0"/>
      <p:bldP spid="158727" grpId="0"/>
      <p:bldP spid="158728"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2"/>
          <p:cNvSpPr>
            <a:spLocks noGrp="1"/>
          </p:cNvSpPr>
          <p:nvPr>
            <p:ph type="title" idx="4294967295"/>
          </p:nvPr>
        </p:nvSpPr>
        <p:spPr>
          <a:xfrm>
            <a:off x="1160463" y="1087438"/>
            <a:ext cx="3779837" cy="563562"/>
          </a:xfrm>
        </p:spPr>
        <p:txBody>
          <a:bodyPr vert="horz" wrap="square" lIns="91440" tIns="45720" rIns="91440" bIns="45720" anchor="ctr" anchorCtr="0"/>
          <a:p>
            <a:pPr eaLnBrk="1" hangingPunct="1"/>
            <a:r>
              <a:rPr lang="zh-CN" altLang="en-US" dirty="0">
                <a:solidFill>
                  <a:srgbClr val="000033"/>
                </a:solidFill>
                <a:ea typeface="宋体" panose="02010600030101010101" pitchFamily="2" charset="-122"/>
              </a:rPr>
              <a:t>（</a:t>
            </a:r>
            <a:r>
              <a:rPr lang="en-US" altLang="zh-CN" dirty="0">
                <a:solidFill>
                  <a:srgbClr val="000033"/>
                </a:solidFill>
                <a:ea typeface="宋体" panose="02010600030101010101" pitchFamily="2" charset="-122"/>
              </a:rPr>
              <a:t>1</a:t>
            </a:r>
            <a:r>
              <a:rPr lang="zh-CN" altLang="en-US" dirty="0">
                <a:solidFill>
                  <a:srgbClr val="000033"/>
                </a:solidFill>
                <a:ea typeface="宋体" panose="02010600030101010101" pitchFamily="2" charset="-122"/>
              </a:rPr>
              <a:t>）无条件循环指令</a:t>
            </a:r>
            <a:endParaRPr lang="zh-CN" altLang="en-US" dirty="0">
              <a:solidFill>
                <a:srgbClr val="000033"/>
              </a:solidFill>
              <a:ea typeface="宋体" panose="02010600030101010101" pitchFamily="2" charset="-122"/>
            </a:endParaRPr>
          </a:p>
        </p:txBody>
      </p:sp>
      <p:sp>
        <p:nvSpPr>
          <p:cNvPr id="159747" name="Rectangle 3"/>
          <p:cNvSpPr>
            <a:spLocks noGrp="1"/>
          </p:cNvSpPr>
          <p:nvPr>
            <p:ph type="body" idx="4294967295"/>
          </p:nvPr>
        </p:nvSpPr>
        <p:spPr>
          <a:xfrm>
            <a:off x="1403350" y="1989138"/>
            <a:ext cx="4321175" cy="3527425"/>
          </a:xfrm>
        </p:spPr>
        <p:txBody>
          <a:bodyPr vert="horz" wrap="square" lIns="91440" tIns="45720" rIns="91440" bIns="45720" anchor="t" anchorCtr="0"/>
          <a:p>
            <a:pPr eaLnBrk="1" hangingPunct="1">
              <a:spcAft>
                <a:spcPct val="20000"/>
              </a:spcAft>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格式：</a:t>
            </a:r>
            <a:endParaRPr lang="zh-CN" altLang="en-US" sz="2400" dirty="0">
              <a:latin typeface="宋体" panose="02010600030101010101" pitchFamily="2" charset="-122"/>
              <a:ea typeface="宋体" panose="02010600030101010101" pitchFamily="2" charset="-122"/>
            </a:endParaRPr>
          </a:p>
          <a:p>
            <a:pPr eaLnBrk="1" hangingPunct="1">
              <a:spcBef>
                <a:spcPct val="30000"/>
              </a:spcBef>
              <a:spcAft>
                <a:spcPct val="30000"/>
              </a:spcAft>
              <a:buNone/>
            </a:pPr>
            <a:r>
              <a:rPr lang="en-US" altLang="zh-CN" sz="2400" dirty="0">
                <a:latin typeface="宋体" panose="02010600030101010101" pitchFamily="2" charset="-122"/>
                <a:ea typeface="宋体" panose="02010600030101010101" pitchFamily="2" charset="-122"/>
              </a:rPr>
              <a:t>       LOOP  LABEL</a:t>
            </a:r>
            <a:endParaRPr lang="en-US" altLang="zh-CN" sz="2400"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循环条件：</a:t>
            </a:r>
            <a:endParaRPr lang="zh-CN" altLang="en-US"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CX ≠ 0</a:t>
            </a:r>
            <a:endParaRPr lang="en-US" altLang="zh-CN" sz="2400"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操作： </a:t>
            </a:r>
            <a:endParaRPr lang="zh-CN" altLang="en-US" sz="2400" dirty="0">
              <a:latin typeface="宋体" panose="02010600030101010101" pitchFamily="2" charset="-122"/>
              <a:ea typeface="宋体" panose="02010600030101010101" pitchFamily="2" charset="-122"/>
            </a:endParaRPr>
          </a:p>
          <a:p>
            <a:pPr eaLnBrk="1" hangingPunct="1">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DEC  CX</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JNZ   </a:t>
            </a:r>
            <a:r>
              <a:rPr lang="zh-CN" altLang="en-US" sz="2400" dirty="0">
                <a:latin typeface="宋体" panose="02010600030101010101" pitchFamily="2" charset="-122"/>
                <a:ea typeface="宋体" panose="02010600030101010101" pitchFamily="2" charset="-122"/>
              </a:rPr>
              <a:t>符号地址</a:t>
            </a:r>
            <a:endParaRPr lang="zh-CN" altLang="en-US" sz="2400" dirty="0">
              <a:latin typeface="宋体" panose="02010600030101010101" pitchFamily="2" charset="-122"/>
              <a:ea typeface="宋体" panose="02010600030101010101" pitchFamily="2" charset="-122"/>
            </a:endParaRPr>
          </a:p>
        </p:txBody>
      </p:sp>
      <p:sp>
        <p:nvSpPr>
          <p:cNvPr id="159748" name="AutoShape 4"/>
          <p:cNvSpPr/>
          <p:nvPr/>
        </p:nvSpPr>
        <p:spPr>
          <a:xfrm>
            <a:off x="2411413" y="4581525"/>
            <a:ext cx="152400" cy="685800"/>
          </a:xfrm>
          <a:prstGeom prst="leftBrace">
            <a:avLst>
              <a:gd name="adj1" fmla="val 37500"/>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9747">
                                            <p:txEl>
                                              <p:charRg st="0" end="4"/>
                                            </p:txEl>
                                          </p:spTgt>
                                        </p:tgtEl>
                                        <p:attrNameLst>
                                          <p:attrName>style.visibility</p:attrName>
                                        </p:attrNameLst>
                                      </p:cBhvr>
                                      <p:to>
                                        <p:strVal val="visible"/>
                                      </p:to>
                                    </p:set>
                                    <p:animEffect transition="in" filter="wipe(left)">
                                      <p:cBhvr>
                                        <p:cTn id="7" dur="500"/>
                                        <p:tgtEl>
                                          <p:spTgt spid="159747">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9747">
                                            <p:txEl>
                                              <p:charRg st="4" end="23"/>
                                            </p:txEl>
                                          </p:spTgt>
                                        </p:tgtEl>
                                        <p:attrNameLst>
                                          <p:attrName>style.visibility</p:attrName>
                                        </p:attrNameLst>
                                      </p:cBhvr>
                                      <p:to>
                                        <p:strVal val="visible"/>
                                      </p:to>
                                    </p:set>
                                    <p:animEffect transition="in" filter="wipe(left)">
                                      <p:cBhvr>
                                        <p:cTn id="11" dur="500"/>
                                        <p:tgtEl>
                                          <p:spTgt spid="159747">
                                            <p:txEl>
                                              <p:charRg st="4" end="2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59747">
                                            <p:txEl>
                                              <p:charRg st="23" end="29"/>
                                            </p:txEl>
                                          </p:spTgt>
                                        </p:tgtEl>
                                        <p:attrNameLst>
                                          <p:attrName>style.visibility</p:attrName>
                                        </p:attrNameLst>
                                      </p:cBhvr>
                                      <p:to>
                                        <p:strVal val="visible"/>
                                      </p:to>
                                    </p:set>
                                    <p:animEffect transition="in" filter="wipe(left)">
                                      <p:cBhvr>
                                        <p:cTn id="16" dur="500"/>
                                        <p:tgtEl>
                                          <p:spTgt spid="159747">
                                            <p:txEl>
                                              <p:charRg st="23" end="29"/>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59747">
                                            <p:txEl>
                                              <p:charRg st="29" end="44"/>
                                            </p:txEl>
                                          </p:spTgt>
                                        </p:tgtEl>
                                        <p:attrNameLst>
                                          <p:attrName>style.visibility</p:attrName>
                                        </p:attrNameLst>
                                      </p:cBhvr>
                                      <p:to>
                                        <p:strVal val="visible"/>
                                      </p:to>
                                    </p:set>
                                    <p:animEffect transition="in" filter="wipe(left)">
                                      <p:cBhvr>
                                        <p:cTn id="20" dur="500"/>
                                        <p:tgtEl>
                                          <p:spTgt spid="159747">
                                            <p:txEl>
                                              <p:charRg st="29" end="4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59747">
                                            <p:txEl>
                                              <p:charRg st="44" end="49"/>
                                            </p:txEl>
                                          </p:spTgt>
                                        </p:tgtEl>
                                        <p:attrNameLst>
                                          <p:attrName>style.visibility</p:attrName>
                                        </p:attrNameLst>
                                      </p:cBhvr>
                                      <p:to>
                                        <p:strVal val="visible"/>
                                      </p:to>
                                    </p:set>
                                    <p:animEffect transition="in" filter="wipe(left)">
                                      <p:cBhvr>
                                        <p:cTn id="25" dur="500"/>
                                        <p:tgtEl>
                                          <p:spTgt spid="159747">
                                            <p:txEl>
                                              <p:charRg st="44" end="49"/>
                                            </p:txEl>
                                          </p:spTgt>
                                        </p:tgtEl>
                                      </p:cBhvr>
                                    </p:animEffect>
                                  </p:childTnLst>
                                </p:cTn>
                              </p:par>
                            </p:childTnLst>
                          </p:cTn>
                        </p:par>
                        <p:par>
                          <p:cTn id="26" fill="hold">
                            <p:stCondLst>
                              <p:cond delay="500"/>
                            </p:stCondLst>
                            <p:childTnLst>
                              <p:par>
                                <p:cTn id="27" presetID="18" presetClass="entr" presetSubtype="6" fill="hold" nodeType="afterEffect">
                                  <p:stCondLst>
                                    <p:cond delay="500"/>
                                  </p:stCondLst>
                                  <p:childTnLst>
                                    <p:set>
                                      <p:cBhvr>
                                        <p:cTn id="28" dur="1" fill="hold">
                                          <p:stCondLst>
                                            <p:cond delay="0"/>
                                          </p:stCondLst>
                                        </p:cTn>
                                        <p:tgtEl>
                                          <p:spTgt spid="159747">
                                            <p:txEl>
                                              <p:charRg st="49" end="65"/>
                                            </p:txEl>
                                          </p:spTgt>
                                        </p:tgtEl>
                                        <p:attrNameLst>
                                          <p:attrName>style.visibility</p:attrName>
                                        </p:attrNameLst>
                                      </p:cBhvr>
                                      <p:to>
                                        <p:strVal val="visible"/>
                                      </p:to>
                                    </p:set>
                                    <p:animEffect transition="in" filter="strips(downRight)">
                                      <p:cBhvr>
                                        <p:cTn id="29" dur="500"/>
                                        <p:tgtEl>
                                          <p:spTgt spid="159747">
                                            <p:txEl>
                                              <p:charRg st="49" end="65"/>
                                            </p:txEl>
                                          </p:spTgt>
                                        </p:tgtEl>
                                      </p:cBhvr>
                                    </p:animEffect>
                                  </p:childTnLst>
                                </p:cTn>
                              </p:par>
                            </p:childTnLst>
                          </p:cTn>
                        </p:par>
                        <p:par>
                          <p:cTn id="30" fill="hold">
                            <p:stCondLst>
                              <p:cond delay="1500"/>
                            </p:stCondLst>
                            <p:childTnLst>
                              <p:par>
                                <p:cTn id="31" presetID="18" presetClass="entr" presetSubtype="6" fill="hold" nodeType="afterEffect">
                                  <p:stCondLst>
                                    <p:cond delay="0"/>
                                  </p:stCondLst>
                                  <p:childTnLst>
                                    <p:set>
                                      <p:cBhvr>
                                        <p:cTn id="32" dur="1" fill="hold">
                                          <p:stCondLst>
                                            <p:cond delay="0"/>
                                          </p:stCondLst>
                                        </p:cTn>
                                        <p:tgtEl>
                                          <p:spTgt spid="159747">
                                            <p:txEl>
                                              <p:charRg st="65" end="84"/>
                                            </p:txEl>
                                          </p:spTgt>
                                        </p:tgtEl>
                                        <p:attrNameLst>
                                          <p:attrName>style.visibility</p:attrName>
                                        </p:attrNameLst>
                                      </p:cBhvr>
                                      <p:to>
                                        <p:strVal val="visible"/>
                                      </p:to>
                                    </p:set>
                                    <p:animEffect transition="in" filter="strips(downRight)">
                                      <p:cBhvr>
                                        <p:cTn id="33" dur="500"/>
                                        <p:tgtEl>
                                          <p:spTgt spid="159747">
                                            <p:txEl>
                                              <p:charRg st="65" end="84"/>
                                            </p:txEl>
                                          </p:spTgt>
                                        </p:tgtEl>
                                      </p:cBhvr>
                                    </p:animEffect>
                                  </p:childTnLst>
                                </p:cTn>
                              </p:par>
                            </p:childTnLst>
                          </p:cTn>
                        </p:par>
                        <p:par>
                          <p:cTn id="34" fill="hold">
                            <p:stCondLst>
                              <p:cond delay="2000"/>
                            </p:stCondLst>
                            <p:childTnLst>
                              <p:par>
                                <p:cTn id="35" presetID="18" presetClass="entr" presetSubtype="12" fill="hold" grpId="0" nodeType="afterEffect">
                                  <p:stCondLst>
                                    <p:cond delay="0"/>
                                  </p:stCondLst>
                                  <p:childTnLst>
                                    <p:set>
                                      <p:cBhvr>
                                        <p:cTn id="36" dur="1" fill="hold">
                                          <p:stCondLst>
                                            <p:cond delay="0"/>
                                          </p:stCondLst>
                                        </p:cTn>
                                        <p:tgtEl>
                                          <p:spTgt spid="159748"/>
                                        </p:tgtEl>
                                        <p:attrNameLst>
                                          <p:attrName>style.visibility</p:attrName>
                                        </p:attrNameLst>
                                      </p:cBhvr>
                                      <p:to>
                                        <p:strVal val="visible"/>
                                      </p:to>
                                    </p:set>
                                    <p:animEffect transition="in" filter="strips(downLeft)">
                                      <p:cBhvr>
                                        <p:cTn id="37" dur="500"/>
                                        <p:tgtEl>
                                          <p:spTgt spid="159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8"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矩形 1"/>
          <p:cNvSpPr/>
          <p:nvPr/>
        </p:nvSpPr>
        <p:spPr>
          <a:xfrm>
            <a:off x="755650" y="1916113"/>
            <a:ext cx="3041650" cy="2124075"/>
          </a:xfrm>
          <a:prstGeom prst="rect">
            <a:avLst/>
          </a:prstGeom>
          <a:noFill/>
          <a:ln w="19050" cap="flat" cmpd="sng">
            <a:solidFill>
              <a:schemeClr val="tx1"/>
            </a:solidFill>
            <a:prstDash val="solid"/>
            <a:miter/>
            <a:headEnd type="none" w="med" len="med"/>
            <a:tailEnd type="none" w="med" len="med"/>
          </a:ln>
        </p:spPr>
        <p:txBody>
          <a:bodyPr>
            <a:spAutoFit/>
          </a:bodyPr>
          <a:p>
            <a:pPr eaLnBrk="0" hangingPunct="0">
              <a:lnSpc>
                <a:spcPct val="110000"/>
              </a:lnSpc>
              <a:buFont typeface="Wingdings" panose="05000000000000000000" pitchFamily="2" charset="2"/>
            </a:pPr>
            <a:r>
              <a:rPr lang="zh-CN" altLang="en-US" sz="2400" b="1" dirty="0">
                <a:latin typeface="宋体" panose="02010600030101010101" pitchFamily="2" charset="-122"/>
                <a:ea typeface="宋体" panose="02010600030101010101" pitchFamily="2" charset="-122"/>
              </a:rPr>
              <a:t>格式：</a:t>
            </a:r>
            <a:endParaRPr lang="zh-CN" altLang="en-US" sz="2400" b="1" dirty="0">
              <a:latin typeface="宋体" panose="02010600030101010101" pitchFamily="2" charset="-122"/>
              <a:ea typeface="宋体" panose="02010600030101010101" pitchFamily="2" charset="-122"/>
            </a:endParaRPr>
          </a:p>
          <a:p>
            <a:pPr eaLnBrk="0" hangingPunct="0">
              <a:lnSpc>
                <a:spcPct val="110000"/>
              </a:lnSpc>
              <a:buFont typeface="Wingdings" panose="05000000000000000000" pitchFamily="2" charset="2"/>
            </a:pP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LOOPZ  LABEL</a:t>
            </a:r>
            <a:endParaRPr lang="en-US" altLang="zh-CN" sz="2400" b="1" dirty="0">
              <a:latin typeface="宋体" panose="02010600030101010101" pitchFamily="2" charset="-122"/>
              <a:ea typeface="宋体" panose="02010600030101010101" pitchFamily="2" charset="-122"/>
            </a:endParaRPr>
          </a:p>
          <a:p>
            <a:pPr eaLnBrk="0" hangingPunct="0">
              <a:lnSpc>
                <a:spcPct val="110000"/>
              </a:lnSpc>
              <a:buFont typeface="Wingdings" panose="05000000000000000000" pitchFamily="2" charset="2"/>
            </a:pPr>
            <a:r>
              <a:rPr lang="en-US" altLang="zh-CN" sz="2400" b="1" dirty="0">
                <a:latin typeface="宋体" panose="02010600030101010101" pitchFamily="2" charset="-122"/>
                <a:ea typeface="宋体" panose="02010600030101010101" pitchFamily="2" charset="-122"/>
              </a:rPr>
              <a:t>    LOOPE  LABEL</a:t>
            </a:r>
            <a:endParaRPr lang="en-US" altLang="zh-CN" sz="2400" b="1" dirty="0">
              <a:latin typeface="宋体" panose="02010600030101010101" pitchFamily="2" charset="-122"/>
              <a:ea typeface="宋体" panose="02010600030101010101" pitchFamily="2" charset="-122"/>
            </a:endParaRPr>
          </a:p>
          <a:p>
            <a:pPr eaLnBrk="0" hangingPunct="0">
              <a:lnSpc>
                <a:spcPct val="110000"/>
              </a:lnSpc>
              <a:buFont typeface="Wingdings" panose="05000000000000000000" pitchFamily="2" charset="2"/>
            </a:pPr>
            <a:r>
              <a:rPr lang="zh-CN" altLang="en-US" sz="2400" b="1" dirty="0">
                <a:latin typeface="宋体" panose="02010600030101010101" pitchFamily="2" charset="-122"/>
                <a:ea typeface="宋体" panose="02010600030101010101" pitchFamily="2" charset="-122"/>
              </a:rPr>
              <a:t>循环条件：</a:t>
            </a:r>
            <a:endParaRPr lang="zh-CN" altLang="en-US" sz="2400" b="1" dirty="0">
              <a:latin typeface="宋体" panose="02010600030101010101" pitchFamily="2" charset="-122"/>
              <a:ea typeface="宋体" panose="02010600030101010101" pitchFamily="2" charset="-122"/>
            </a:endParaRPr>
          </a:p>
          <a:p>
            <a:pPr eaLnBrk="0" hangingPunct="0">
              <a:lnSpc>
                <a:spcPct val="110000"/>
              </a:lnSpc>
              <a:buFont typeface="Wingdings" panose="05000000000000000000" pitchFamily="2" charset="2"/>
            </a:pP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CX ≠ 0   </a:t>
            </a:r>
            <a:r>
              <a:rPr lang="en-US" altLang="zh-CN" sz="2400" b="1" dirty="0">
                <a:solidFill>
                  <a:srgbClr val="FF0000"/>
                </a:solidFill>
                <a:latin typeface="宋体" panose="02010600030101010101" pitchFamily="2" charset="-122"/>
                <a:ea typeface="宋体" panose="02010600030101010101" pitchFamily="2" charset="-122"/>
              </a:rPr>
              <a:t>ZF=1</a:t>
            </a:r>
            <a:endParaRPr lang="en-US" altLang="zh-CN" sz="2400" b="1" dirty="0">
              <a:solidFill>
                <a:srgbClr val="FF0000"/>
              </a:solidFill>
              <a:latin typeface="宋体" panose="02010600030101010101" pitchFamily="2" charset="-122"/>
              <a:ea typeface="宋体" panose="02010600030101010101" pitchFamily="2" charset="-122"/>
            </a:endParaRPr>
          </a:p>
        </p:txBody>
      </p:sp>
      <p:sp>
        <p:nvSpPr>
          <p:cNvPr id="161795" name="矩形 2"/>
          <p:cNvSpPr/>
          <p:nvPr/>
        </p:nvSpPr>
        <p:spPr>
          <a:xfrm>
            <a:off x="5076825" y="1916113"/>
            <a:ext cx="3095625" cy="2124075"/>
          </a:xfrm>
          <a:prstGeom prst="rect">
            <a:avLst/>
          </a:prstGeom>
          <a:noFill/>
          <a:ln w="19050" cap="flat" cmpd="sng">
            <a:solidFill>
              <a:schemeClr val="tx1"/>
            </a:solidFill>
            <a:prstDash val="solid"/>
            <a:miter/>
            <a:headEnd type="none" w="med" len="med"/>
            <a:tailEnd type="none" w="med" len="med"/>
          </a:ln>
        </p:spPr>
        <p:txBody>
          <a:bodyPr>
            <a:spAutoFit/>
          </a:bodyPr>
          <a:p>
            <a:pPr eaLnBrk="0" hangingPunct="0">
              <a:lnSpc>
                <a:spcPct val="110000"/>
              </a:lnSpc>
              <a:buFont typeface="Wingdings" panose="05000000000000000000" pitchFamily="2" charset="2"/>
            </a:pPr>
            <a:r>
              <a:rPr lang="zh-CN" altLang="en-US" sz="2400" b="1" dirty="0">
                <a:latin typeface="宋体" panose="02010600030101010101" pitchFamily="2" charset="-122"/>
                <a:ea typeface="宋体" panose="02010600030101010101" pitchFamily="2" charset="-122"/>
              </a:rPr>
              <a:t>格式：</a:t>
            </a:r>
            <a:endParaRPr lang="zh-CN" altLang="en-US" sz="2400" b="1" dirty="0">
              <a:latin typeface="宋体" panose="02010600030101010101" pitchFamily="2" charset="-122"/>
              <a:ea typeface="宋体" panose="02010600030101010101" pitchFamily="2" charset="-122"/>
            </a:endParaRPr>
          </a:p>
          <a:p>
            <a:pPr eaLnBrk="0" hangingPunct="0">
              <a:lnSpc>
                <a:spcPct val="110000"/>
              </a:lnSpc>
              <a:buFont typeface="Wingdings" panose="05000000000000000000" pitchFamily="2" charset="2"/>
            </a:pP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LOOPNZ  LABEL</a:t>
            </a:r>
            <a:endParaRPr lang="en-US" altLang="zh-CN" sz="2400" b="1" dirty="0">
              <a:latin typeface="宋体" panose="02010600030101010101" pitchFamily="2" charset="-122"/>
              <a:ea typeface="宋体" panose="02010600030101010101" pitchFamily="2" charset="-122"/>
            </a:endParaRPr>
          </a:p>
          <a:p>
            <a:pPr eaLnBrk="0" hangingPunct="0">
              <a:lnSpc>
                <a:spcPct val="110000"/>
              </a:lnSpc>
              <a:buFont typeface="Wingdings" panose="05000000000000000000" pitchFamily="2" charset="2"/>
            </a:pPr>
            <a:r>
              <a:rPr lang="en-US" altLang="zh-CN" sz="2400" b="1" dirty="0">
                <a:latin typeface="宋体" panose="02010600030101010101" pitchFamily="2" charset="-122"/>
                <a:ea typeface="宋体" panose="02010600030101010101" pitchFamily="2" charset="-122"/>
              </a:rPr>
              <a:t>    LOOPNE  LABEL</a:t>
            </a:r>
            <a:endParaRPr lang="en-US" altLang="zh-CN" sz="2400" b="1" dirty="0">
              <a:latin typeface="宋体" panose="02010600030101010101" pitchFamily="2" charset="-122"/>
              <a:ea typeface="宋体" panose="02010600030101010101" pitchFamily="2" charset="-122"/>
            </a:endParaRPr>
          </a:p>
          <a:p>
            <a:pPr eaLnBrk="0" hangingPunct="0">
              <a:lnSpc>
                <a:spcPct val="110000"/>
              </a:lnSpc>
              <a:buFont typeface="Wingdings" panose="05000000000000000000" pitchFamily="2" charset="2"/>
            </a:pPr>
            <a:r>
              <a:rPr lang="zh-CN" altLang="en-US" sz="2400" b="1" dirty="0">
                <a:latin typeface="宋体" panose="02010600030101010101" pitchFamily="2" charset="-122"/>
                <a:ea typeface="宋体" panose="02010600030101010101" pitchFamily="2" charset="-122"/>
              </a:rPr>
              <a:t>循环条件：</a:t>
            </a:r>
            <a:endParaRPr lang="zh-CN" altLang="en-US" sz="2400" b="1" dirty="0">
              <a:latin typeface="宋体" panose="02010600030101010101" pitchFamily="2" charset="-122"/>
              <a:ea typeface="宋体" panose="02010600030101010101" pitchFamily="2" charset="-122"/>
            </a:endParaRPr>
          </a:p>
          <a:p>
            <a:pPr eaLnBrk="0" hangingPunct="0">
              <a:lnSpc>
                <a:spcPct val="110000"/>
              </a:lnSpc>
              <a:buFont typeface="Wingdings" panose="05000000000000000000" pitchFamily="2" charset="2"/>
            </a:pP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CX ≠ 0   </a:t>
            </a:r>
            <a:r>
              <a:rPr lang="en-US" altLang="zh-CN" sz="2400" b="1" dirty="0">
                <a:solidFill>
                  <a:srgbClr val="FF0000"/>
                </a:solidFill>
                <a:latin typeface="宋体" panose="02010600030101010101" pitchFamily="2" charset="-122"/>
                <a:ea typeface="宋体" panose="02010600030101010101" pitchFamily="2" charset="-122"/>
              </a:rPr>
              <a:t>ZF=0</a:t>
            </a:r>
            <a:endParaRPr lang="en-US" altLang="zh-CN" sz="2400" b="1" dirty="0">
              <a:solidFill>
                <a:srgbClr val="FF0000"/>
              </a:solidFill>
              <a:latin typeface="宋体" panose="02010600030101010101" pitchFamily="2" charset="-122"/>
              <a:ea typeface="宋体" panose="02010600030101010101" pitchFamily="2" charset="-122"/>
            </a:endParaRPr>
          </a:p>
        </p:txBody>
      </p:sp>
      <p:sp>
        <p:nvSpPr>
          <p:cNvPr id="4" name="Text Box 7"/>
          <p:cNvSpPr txBox="1"/>
          <p:nvPr/>
        </p:nvSpPr>
        <p:spPr>
          <a:xfrm>
            <a:off x="900113" y="4581525"/>
            <a:ext cx="7100887" cy="1327150"/>
          </a:xfrm>
          <a:prstGeom prst="rect">
            <a:avLst/>
          </a:prstGeom>
          <a:solidFill>
            <a:srgbClr val="CCFF99"/>
          </a:solidFill>
          <a:ln w="38100" cap="flat" cmpd="dbl">
            <a:solidFill>
              <a:srgbClr val="00CC99"/>
            </a:solidFill>
            <a:prstDash val="solid"/>
            <a:miter/>
            <a:headEnd type="none" w="med" len="med"/>
            <a:tailEnd type="none" w="med" len="med"/>
          </a:ln>
        </p:spPr>
        <p:txBody>
          <a:bodyPr>
            <a:spAutoFit/>
          </a:bodyPr>
          <a:p>
            <a:pPr algn="just">
              <a:lnSpc>
                <a:spcPct val="140000"/>
              </a:lnSpc>
              <a:spcBef>
                <a:spcPct val="50000"/>
              </a:spcBef>
              <a:buFont typeface="Wingdings" panose="05000000000000000000" pitchFamily="2" charset="2"/>
            </a:pPr>
            <a:r>
              <a:rPr lang="zh-CN" altLang="en-US" sz="2800" b="1" i="1" dirty="0">
                <a:solidFill>
                  <a:srgbClr val="FF3300"/>
                </a:solidFill>
                <a:latin typeface="Times New Roman" panose="02020603050405020304" pitchFamily="18" charset="0"/>
                <a:ea typeface="宋体" panose="02010600030101010101" pitchFamily="2" charset="-122"/>
              </a:rPr>
              <a:t>功能</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_x000B__x000C_"/>
              </a:rPr>
              <a:t>CX</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_x000B__x000C_"/>
              </a:rPr>
              <a:t>1</a:t>
            </a:r>
            <a:r>
              <a:rPr lang="en-US" altLang="zh-CN" sz="2800" dirty="0">
                <a:latin typeface="Times New Roman" panose="02020603050405020304" pitchFamily="18" charset="0"/>
                <a:ea typeface="PMingLiU" pitchFamily="18" charset="-120"/>
              </a:rPr>
              <a:t>→CX</a:t>
            </a:r>
            <a:r>
              <a:rPr lang="zh-CN" altLang="en-US" sz="2800" dirty="0">
                <a:latin typeface="Times New Roman" panose="02020603050405020304" pitchFamily="18" charset="0"/>
                <a:ea typeface="宋体" panose="02010600030101010101" pitchFamily="2" charset="-122"/>
              </a:rPr>
              <a:t>，若</a:t>
            </a:r>
            <a:r>
              <a:rPr lang="en-US" altLang="zh-CN" sz="2800" b="1" dirty="0">
                <a:solidFill>
                  <a:srgbClr val="FF3300"/>
                </a:solidFill>
                <a:latin typeface="Times New Roman" panose="02020603050405020304" pitchFamily="18" charset="0"/>
                <a:ea typeface="_x000B__x000C_"/>
              </a:rPr>
              <a:t>CX</a:t>
            </a:r>
            <a:r>
              <a:rPr lang="en-US" altLang="zh-CN" sz="2800" b="1" dirty="0">
                <a:solidFill>
                  <a:srgbClr val="FF3300"/>
                </a:solidFill>
                <a:latin typeface="Times New Roman" panose="02020603050405020304" pitchFamily="18" charset="0"/>
                <a:ea typeface="宋体" panose="02010600030101010101" pitchFamily="2" charset="-122"/>
              </a:rPr>
              <a:t>≠</a:t>
            </a:r>
            <a:r>
              <a:rPr lang="en-US" altLang="zh-CN" sz="2800" b="1" dirty="0">
                <a:solidFill>
                  <a:srgbClr val="FF3300"/>
                </a:solidFill>
                <a:latin typeface="Times New Roman" panose="02020603050405020304" pitchFamily="18" charset="0"/>
                <a:ea typeface="_x000B__x000C_"/>
              </a:rPr>
              <a:t>0</a:t>
            </a:r>
            <a:r>
              <a:rPr lang="zh-CN" altLang="en-US" sz="2800" b="1" dirty="0">
                <a:solidFill>
                  <a:srgbClr val="0000FF"/>
                </a:solidFill>
                <a:latin typeface="Times New Roman" panose="02020603050405020304" pitchFamily="18" charset="0"/>
                <a:ea typeface="宋体" panose="02010600030101010101" pitchFamily="2" charset="-122"/>
              </a:rPr>
              <a:t>且</a:t>
            </a:r>
            <a:r>
              <a:rPr lang="en-US" altLang="zh-CN" sz="2800" b="1" dirty="0">
                <a:solidFill>
                  <a:srgbClr val="FF3300"/>
                </a:solidFill>
                <a:latin typeface="Times New Roman" panose="02020603050405020304" pitchFamily="18" charset="0"/>
                <a:ea typeface="_x000B__x000C_"/>
              </a:rPr>
              <a:t>ZF=1</a:t>
            </a:r>
            <a:r>
              <a:rPr lang="zh-CN" altLang="en-US" sz="2800" dirty="0">
                <a:latin typeface="Times New Roman" panose="02020603050405020304" pitchFamily="18" charset="0"/>
                <a:ea typeface="宋体" panose="02010600030101010101" pitchFamily="2" charset="-122"/>
              </a:rPr>
              <a:t>则转移至目标，否则停止循环</a:t>
            </a:r>
            <a:r>
              <a:rPr lang="en-US" altLang="zh-CN" sz="2800" dirty="0">
                <a:latin typeface="Times New Roman" panose="02020603050405020304" pitchFamily="18" charset="0"/>
                <a:ea typeface="_x000B__x000C_"/>
              </a:rPr>
              <a:t>(CX=0</a:t>
            </a:r>
            <a:r>
              <a:rPr lang="zh-CN" altLang="en-US" sz="2800" dirty="0">
                <a:latin typeface="Times New Roman" panose="02020603050405020304" pitchFamily="18" charset="0"/>
                <a:ea typeface="宋体" panose="02010600030101010101" pitchFamily="2" charset="-122"/>
              </a:rPr>
              <a:t>或</a:t>
            </a:r>
            <a:r>
              <a:rPr lang="en-US" altLang="zh-CN" sz="2800" dirty="0">
                <a:latin typeface="Times New Roman" panose="02020603050405020304" pitchFamily="18" charset="0"/>
                <a:ea typeface="_x000B__x000C_"/>
              </a:rPr>
              <a:t>ZF=0)</a:t>
            </a:r>
            <a:r>
              <a:rPr lang="zh-CN" altLang="en-US" sz="2800" dirty="0">
                <a:latin typeface="Times New Roman" panose="02020603050405020304" pitchFamily="18" charset="0"/>
                <a:ea typeface="宋体" panose="02010600030101010101" pitchFamily="2" charset="-122"/>
              </a:rPr>
              <a:t>。</a:t>
            </a:r>
            <a:endParaRPr lang="zh-CN" altLang="en-US" dirty="0">
              <a:latin typeface="Arial" panose="020B0604020202020204" pitchFamily="34" charset="0"/>
              <a:ea typeface="宋体" panose="02010600030101010101" pitchFamily="2" charset="-122"/>
            </a:endParaRPr>
          </a:p>
        </p:txBody>
      </p:sp>
      <p:sp>
        <p:nvSpPr>
          <p:cNvPr id="161797" name="矩形 4"/>
          <p:cNvSpPr/>
          <p:nvPr/>
        </p:nvSpPr>
        <p:spPr>
          <a:xfrm>
            <a:off x="539750" y="1112838"/>
            <a:ext cx="3257550" cy="523875"/>
          </a:xfrm>
          <a:prstGeom prst="rect">
            <a:avLst/>
          </a:prstGeom>
          <a:noFill/>
          <a:ln w="9525">
            <a:noFill/>
          </a:ln>
        </p:spPr>
        <p:txBody>
          <a:bodyPr wrap="none">
            <a:spAutoFit/>
          </a:bodyPr>
          <a:p>
            <a:pPr eaLnBrk="0" hangingPunct="0">
              <a:buFont typeface="Wingdings" panose="05000000000000000000" pitchFamily="2" charset="2"/>
            </a:pP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2</a:t>
            </a:r>
            <a:r>
              <a:rPr lang="zh-CN" altLang="en-US" sz="2800" b="1" dirty="0">
                <a:latin typeface="宋体" panose="02010600030101010101" pitchFamily="2" charset="-122"/>
                <a:ea typeface="宋体" panose="02010600030101010101" pitchFamily="2" charset="-122"/>
              </a:rPr>
              <a:t>）条件循环指令</a:t>
            </a:r>
            <a:endParaRPr lang="zh-CN" altLang="en-US" sz="2800" b="1" dirty="0">
              <a:latin typeface="宋体" panose="02010600030101010101" pitchFamily="2" charset="-122"/>
              <a:ea typeface="宋体" panose="02010600030101010101" pitchFamily="2" charset="-122"/>
            </a:endParaRPr>
          </a:p>
        </p:txBody>
      </p:sp>
      <p:sp>
        <p:nvSpPr>
          <p:cNvPr id="161798" name="线形标注 1 5"/>
          <p:cNvSpPr/>
          <p:nvPr/>
        </p:nvSpPr>
        <p:spPr>
          <a:xfrm>
            <a:off x="2700338" y="6151563"/>
            <a:ext cx="2016125" cy="595312"/>
          </a:xfrm>
          <a:prstGeom prst="borderCallout1">
            <a:avLst>
              <a:gd name="adj1" fmla="val 18750"/>
              <a:gd name="adj2" fmla="val -8333"/>
              <a:gd name="adj3" fmla="val -169977"/>
              <a:gd name="adj4" fmla="val 10954"/>
            </a:avLst>
          </a:prstGeom>
          <a:solidFill>
            <a:schemeClr val="accent1"/>
          </a:solidFill>
          <a:ln w="9525" cap="flat" cmpd="sng">
            <a:solidFill>
              <a:schemeClr val="tx1"/>
            </a:solidFill>
            <a:prstDash val="solid"/>
            <a:round/>
            <a:headEnd type="none" w="med" len="med"/>
            <a:tailEnd type="none" w="med" len="med"/>
          </a:ln>
        </p:spPr>
        <p:txBody>
          <a:bodyPr/>
          <a:p>
            <a:pPr eaLnBrk="0" hangingPunct="0"/>
            <a:r>
              <a:rPr lang="zh-CN" altLang="en-US" sz="2400" dirty="0">
                <a:latin typeface="宋体" panose="02010600030101010101" pitchFamily="2" charset="-122"/>
                <a:ea typeface="宋体" panose="02010600030101010101" pitchFamily="2" charset="-122"/>
              </a:rPr>
              <a:t>不影响标志位</a:t>
            </a:r>
            <a:endParaRPr lang="zh-CN" altLang="en-US" sz="2400"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 2"/>
          <p:cNvSpPr/>
          <p:nvPr/>
        </p:nvSpPr>
        <p:spPr>
          <a:xfrm>
            <a:off x="1042988" y="1027113"/>
            <a:ext cx="4146550" cy="519112"/>
          </a:xfrm>
          <a:prstGeom prst="rect">
            <a:avLst/>
          </a:prstGeom>
          <a:noFill/>
          <a:ln w="9525">
            <a:noFill/>
          </a:ln>
        </p:spPr>
        <p:txBody>
          <a:bodyPr wrap="none">
            <a:spAutoFit/>
          </a:bodyPr>
          <a:p>
            <a:pPr lvl="1" eaLnBrk="1" hangingPunct="1">
              <a:spcBef>
                <a:spcPts val="600"/>
              </a:spcBef>
              <a:spcAft>
                <a:spcPct val="30000"/>
              </a:spcAft>
              <a:buFont typeface="Wingdings" panose="05000000000000000000" pitchFamily="2" charset="2"/>
            </a:pPr>
            <a:r>
              <a:rPr lang="en-US" altLang="zh-CN" sz="2800" b="1" dirty="0">
                <a:solidFill>
                  <a:srgbClr val="FF3300"/>
                </a:solidFill>
                <a:latin typeface="Times New Roman" panose="02020603050405020304" pitchFamily="18" charset="0"/>
                <a:ea typeface="楷体_GB2312" pitchFamily="49" charset="-122"/>
              </a:rPr>
              <a:t>LOOP</a:t>
            </a:r>
            <a:r>
              <a:rPr lang="en-US" altLang="zh-CN" sz="2800" b="1" dirty="0">
                <a:solidFill>
                  <a:srgbClr val="6600CC"/>
                </a:solidFill>
                <a:latin typeface="Times New Roman" panose="02020603050405020304" pitchFamily="18" charset="0"/>
                <a:ea typeface="楷体_GB2312" pitchFamily="49" charset="-122"/>
              </a:rPr>
              <a:t>xx</a:t>
            </a:r>
            <a:r>
              <a:rPr lang="zh-CN" altLang="en-US" sz="2800" b="1" dirty="0">
                <a:latin typeface="Times New Roman" panose="02020603050405020304" pitchFamily="18" charset="0"/>
                <a:ea typeface="楷体_GB2312" pitchFamily="49" charset="-122"/>
              </a:rPr>
              <a:t>　　</a:t>
            </a:r>
            <a:r>
              <a:rPr lang="zh-CN" altLang="en-US" sz="2800" b="1" dirty="0">
                <a:latin typeface="Times New Roman" panose="02020603050405020304" pitchFamily="18" charset="0"/>
                <a:ea typeface="宋体" panose="02010600030101010101" pitchFamily="2" charset="-122"/>
              </a:rPr>
              <a:t>目标地址</a:t>
            </a:r>
            <a:endParaRPr lang="zh-CN" altLang="en-US" sz="2800" b="1" dirty="0">
              <a:latin typeface="Times New Roman" panose="02020603050405020304" pitchFamily="18" charset="0"/>
              <a:ea typeface="宋体" panose="02010600030101010101" pitchFamily="2" charset="-122"/>
            </a:endParaRPr>
          </a:p>
        </p:txBody>
      </p:sp>
      <p:grpSp>
        <p:nvGrpSpPr>
          <p:cNvPr id="2" name="Group 10"/>
          <p:cNvGrpSpPr/>
          <p:nvPr/>
        </p:nvGrpSpPr>
        <p:grpSpPr>
          <a:xfrm>
            <a:off x="1042988" y="1484313"/>
            <a:ext cx="6769100" cy="1981200"/>
            <a:chOff x="0" y="0"/>
            <a:chExt cx="4216" cy="1163"/>
          </a:xfrm>
        </p:grpSpPr>
        <p:sp>
          <p:nvSpPr>
            <p:cNvPr id="162823" name="Rectangle 11"/>
            <p:cNvSpPr/>
            <p:nvPr/>
          </p:nvSpPr>
          <p:spPr>
            <a:xfrm>
              <a:off x="316" y="58"/>
              <a:ext cx="522"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zh-CN" altLang="en-US" sz="2200" b="1" dirty="0">
                  <a:solidFill>
                    <a:srgbClr val="0000FF"/>
                  </a:solidFill>
                  <a:latin typeface="宋体" panose="02010600030101010101" pitchFamily="2" charset="-122"/>
                  <a:ea typeface="宋体" panose="02010600030101010101" pitchFamily="2" charset="-122"/>
                </a:rPr>
                <a:t>助记符</a:t>
              </a:r>
              <a:endParaRPr lang="zh-CN" altLang="en-US" sz="2800" dirty="0">
                <a:latin typeface="Times New Roman" panose="02020603050405020304" pitchFamily="18" charset="0"/>
                <a:ea typeface="宋体" panose="02010600030101010101" pitchFamily="2" charset="-122"/>
              </a:endParaRPr>
            </a:p>
          </p:txBody>
        </p:sp>
        <p:sp>
          <p:nvSpPr>
            <p:cNvPr id="162824" name="Rectangle 12"/>
            <p:cNvSpPr/>
            <p:nvPr/>
          </p:nvSpPr>
          <p:spPr>
            <a:xfrm>
              <a:off x="1507" y="58"/>
              <a:ext cx="696"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zh-CN" altLang="en-US" sz="2200" b="1" dirty="0">
                  <a:solidFill>
                    <a:srgbClr val="0000FF"/>
                  </a:solidFill>
                  <a:latin typeface="宋体" panose="02010600030101010101" pitchFamily="2" charset="-122"/>
                  <a:ea typeface="宋体" panose="02010600030101010101" pitchFamily="2" charset="-122"/>
                </a:rPr>
                <a:t>转移条件</a:t>
              </a:r>
              <a:endParaRPr lang="zh-CN" altLang="en-US" sz="2800" dirty="0">
                <a:latin typeface="Times New Roman" panose="02020603050405020304" pitchFamily="18" charset="0"/>
                <a:ea typeface="宋体" panose="02010600030101010101" pitchFamily="2" charset="-122"/>
              </a:endParaRPr>
            </a:p>
          </p:txBody>
        </p:sp>
        <p:sp>
          <p:nvSpPr>
            <p:cNvPr id="162825" name="Rectangle 13"/>
            <p:cNvSpPr/>
            <p:nvPr/>
          </p:nvSpPr>
          <p:spPr>
            <a:xfrm>
              <a:off x="2976" y="58"/>
              <a:ext cx="870"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zh-CN" altLang="en-US" sz="2200" b="1" dirty="0">
                  <a:solidFill>
                    <a:srgbClr val="0000FF"/>
                  </a:solidFill>
                  <a:latin typeface="宋体" panose="02010600030101010101" pitchFamily="2" charset="-122"/>
                  <a:ea typeface="宋体" panose="02010600030101010101" pitchFamily="2" charset="-122"/>
                </a:rPr>
                <a:t>不转移条件</a:t>
              </a:r>
              <a:endParaRPr lang="zh-CN" altLang="en-US" sz="2800" dirty="0">
                <a:latin typeface="Times New Roman" panose="02020603050405020304" pitchFamily="18" charset="0"/>
                <a:ea typeface="宋体" panose="02010600030101010101" pitchFamily="2" charset="-122"/>
              </a:endParaRPr>
            </a:p>
          </p:txBody>
        </p:sp>
        <p:sp>
          <p:nvSpPr>
            <p:cNvPr id="162826" name="Line 14"/>
            <p:cNvSpPr/>
            <p:nvPr/>
          </p:nvSpPr>
          <p:spPr>
            <a:xfrm>
              <a:off x="0" y="0"/>
              <a:ext cx="2" cy="1"/>
            </a:xfrm>
            <a:prstGeom prst="line">
              <a:avLst/>
            </a:prstGeom>
            <a:ln w="0" cap="flat" cmpd="sng">
              <a:solidFill>
                <a:srgbClr val="000000"/>
              </a:solidFill>
              <a:prstDash val="solid"/>
              <a:headEnd type="none" w="med" len="med"/>
              <a:tailEnd type="none" w="med" len="med"/>
            </a:ln>
          </p:spPr>
        </p:sp>
        <p:sp>
          <p:nvSpPr>
            <p:cNvPr id="162827" name="Line 15"/>
            <p:cNvSpPr/>
            <p:nvPr/>
          </p:nvSpPr>
          <p:spPr>
            <a:xfrm>
              <a:off x="0" y="0"/>
              <a:ext cx="1" cy="2"/>
            </a:xfrm>
            <a:prstGeom prst="line">
              <a:avLst/>
            </a:prstGeom>
            <a:ln w="0" cap="flat" cmpd="sng">
              <a:solidFill>
                <a:srgbClr val="000000"/>
              </a:solidFill>
              <a:prstDash val="solid"/>
              <a:headEnd type="none" w="med" len="med"/>
              <a:tailEnd type="none" w="med" len="med"/>
            </a:ln>
          </p:spPr>
        </p:sp>
        <p:sp>
          <p:nvSpPr>
            <p:cNvPr id="162828" name="Line 16"/>
            <p:cNvSpPr/>
            <p:nvPr/>
          </p:nvSpPr>
          <p:spPr>
            <a:xfrm>
              <a:off x="0" y="0"/>
              <a:ext cx="2" cy="1"/>
            </a:xfrm>
            <a:prstGeom prst="line">
              <a:avLst/>
            </a:prstGeom>
            <a:ln w="0" cap="flat" cmpd="sng">
              <a:solidFill>
                <a:srgbClr val="000000"/>
              </a:solidFill>
              <a:prstDash val="solid"/>
              <a:headEnd type="none" w="med" len="med"/>
              <a:tailEnd type="none" w="med" len="med"/>
            </a:ln>
          </p:spPr>
        </p:sp>
        <p:sp>
          <p:nvSpPr>
            <p:cNvPr id="162829" name="Line 17"/>
            <p:cNvSpPr/>
            <p:nvPr/>
          </p:nvSpPr>
          <p:spPr>
            <a:xfrm>
              <a:off x="0" y="0"/>
              <a:ext cx="1" cy="2"/>
            </a:xfrm>
            <a:prstGeom prst="line">
              <a:avLst/>
            </a:prstGeom>
            <a:ln w="0" cap="flat" cmpd="sng">
              <a:solidFill>
                <a:srgbClr val="000000"/>
              </a:solidFill>
              <a:prstDash val="solid"/>
              <a:headEnd type="none" w="med" len="med"/>
              <a:tailEnd type="none" w="med" len="med"/>
            </a:ln>
          </p:spPr>
        </p:sp>
        <p:sp>
          <p:nvSpPr>
            <p:cNvPr id="162830" name="Line 18"/>
            <p:cNvSpPr/>
            <p:nvPr/>
          </p:nvSpPr>
          <p:spPr>
            <a:xfrm>
              <a:off x="2" y="0"/>
              <a:ext cx="1115" cy="1"/>
            </a:xfrm>
            <a:prstGeom prst="line">
              <a:avLst/>
            </a:prstGeom>
            <a:ln w="0" cap="flat" cmpd="sng">
              <a:solidFill>
                <a:srgbClr val="000000"/>
              </a:solidFill>
              <a:prstDash val="solid"/>
              <a:headEnd type="none" w="med" len="med"/>
              <a:tailEnd type="none" w="med" len="med"/>
            </a:ln>
          </p:spPr>
        </p:sp>
        <p:sp>
          <p:nvSpPr>
            <p:cNvPr id="162831" name="Line 19"/>
            <p:cNvSpPr/>
            <p:nvPr/>
          </p:nvSpPr>
          <p:spPr>
            <a:xfrm>
              <a:off x="1117" y="0"/>
              <a:ext cx="2" cy="1"/>
            </a:xfrm>
            <a:prstGeom prst="line">
              <a:avLst/>
            </a:prstGeom>
            <a:ln w="0" cap="flat" cmpd="sng">
              <a:solidFill>
                <a:srgbClr val="000000"/>
              </a:solidFill>
              <a:prstDash val="solid"/>
              <a:headEnd type="none" w="med" len="med"/>
              <a:tailEnd type="none" w="med" len="med"/>
            </a:ln>
          </p:spPr>
        </p:sp>
        <p:sp>
          <p:nvSpPr>
            <p:cNvPr id="162832" name="Line 20"/>
            <p:cNvSpPr/>
            <p:nvPr/>
          </p:nvSpPr>
          <p:spPr>
            <a:xfrm>
              <a:off x="1117" y="0"/>
              <a:ext cx="1" cy="2"/>
            </a:xfrm>
            <a:prstGeom prst="line">
              <a:avLst/>
            </a:prstGeom>
            <a:ln w="0" cap="flat" cmpd="sng">
              <a:solidFill>
                <a:srgbClr val="000000"/>
              </a:solidFill>
              <a:prstDash val="solid"/>
              <a:headEnd type="none" w="med" len="med"/>
              <a:tailEnd type="none" w="med" len="med"/>
            </a:ln>
          </p:spPr>
        </p:sp>
        <p:sp>
          <p:nvSpPr>
            <p:cNvPr id="162833" name="Line 21"/>
            <p:cNvSpPr/>
            <p:nvPr/>
          </p:nvSpPr>
          <p:spPr>
            <a:xfrm>
              <a:off x="1119" y="0"/>
              <a:ext cx="1424" cy="1"/>
            </a:xfrm>
            <a:prstGeom prst="line">
              <a:avLst/>
            </a:prstGeom>
            <a:ln w="0" cap="flat" cmpd="sng">
              <a:solidFill>
                <a:srgbClr val="000000"/>
              </a:solidFill>
              <a:prstDash val="solid"/>
              <a:headEnd type="none" w="med" len="med"/>
              <a:tailEnd type="none" w="med" len="med"/>
            </a:ln>
          </p:spPr>
        </p:sp>
        <p:sp>
          <p:nvSpPr>
            <p:cNvPr id="162834" name="Line 22"/>
            <p:cNvSpPr/>
            <p:nvPr/>
          </p:nvSpPr>
          <p:spPr>
            <a:xfrm>
              <a:off x="2543" y="0"/>
              <a:ext cx="2" cy="1"/>
            </a:xfrm>
            <a:prstGeom prst="line">
              <a:avLst/>
            </a:prstGeom>
            <a:ln w="0" cap="flat" cmpd="sng">
              <a:solidFill>
                <a:srgbClr val="000000"/>
              </a:solidFill>
              <a:prstDash val="solid"/>
              <a:headEnd type="none" w="med" len="med"/>
              <a:tailEnd type="none" w="med" len="med"/>
            </a:ln>
          </p:spPr>
        </p:sp>
        <p:sp>
          <p:nvSpPr>
            <p:cNvPr id="162835" name="Line 23"/>
            <p:cNvSpPr/>
            <p:nvPr/>
          </p:nvSpPr>
          <p:spPr>
            <a:xfrm>
              <a:off x="2543" y="0"/>
              <a:ext cx="1" cy="2"/>
            </a:xfrm>
            <a:prstGeom prst="line">
              <a:avLst/>
            </a:prstGeom>
            <a:ln w="0" cap="flat" cmpd="sng">
              <a:solidFill>
                <a:srgbClr val="000000"/>
              </a:solidFill>
              <a:prstDash val="solid"/>
              <a:headEnd type="none" w="med" len="med"/>
              <a:tailEnd type="none" w="med" len="med"/>
            </a:ln>
          </p:spPr>
        </p:sp>
        <p:sp>
          <p:nvSpPr>
            <p:cNvPr id="162836" name="Line 24"/>
            <p:cNvSpPr/>
            <p:nvPr/>
          </p:nvSpPr>
          <p:spPr>
            <a:xfrm>
              <a:off x="2545" y="0"/>
              <a:ext cx="1669" cy="1"/>
            </a:xfrm>
            <a:prstGeom prst="line">
              <a:avLst/>
            </a:prstGeom>
            <a:ln w="0" cap="flat" cmpd="sng">
              <a:solidFill>
                <a:srgbClr val="000000"/>
              </a:solidFill>
              <a:prstDash val="solid"/>
              <a:headEnd type="none" w="med" len="med"/>
              <a:tailEnd type="none" w="med" len="med"/>
            </a:ln>
          </p:spPr>
        </p:sp>
        <p:sp>
          <p:nvSpPr>
            <p:cNvPr id="162837" name="Line 25"/>
            <p:cNvSpPr/>
            <p:nvPr/>
          </p:nvSpPr>
          <p:spPr>
            <a:xfrm>
              <a:off x="4214" y="0"/>
              <a:ext cx="2" cy="1"/>
            </a:xfrm>
            <a:prstGeom prst="line">
              <a:avLst/>
            </a:prstGeom>
            <a:ln w="0" cap="flat" cmpd="sng">
              <a:solidFill>
                <a:srgbClr val="000000"/>
              </a:solidFill>
              <a:prstDash val="solid"/>
              <a:headEnd type="none" w="med" len="med"/>
              <a:tailEnd type="none" w="med" len="med"/>
            </a:ln>
          </p:spPr>
        </p:sp>
        <p:sp>
          <p:nvSpPr>
            <p:cNvPr id="162838" name="Line 26"/>
            <p:cNvSpPr/>
            <p:nvPr/>
          </p:nvSpPr>
          <p:spPr>
            <a:xfrm>
              <a:off x="4214" y="0"/>
              <a:ext cx="1" cy="2"/>
            </a:xfrm>
            <a:prstGeom prst="line">
              <a:avLst/>
            </a:prstGeom>
            <a:ln w="0" cap="flat" cmpd="sng">
              <a:solidFill>
                <a:srgbClr val="000000"/>
              </a:solidFill>
              <a:prstDash val="solid"/>
              <a:headEnd type="none" w="med" len="med"/>
              <a:tailEnd type="none" w="med" len="med"/>
            </a:ln>
          </p:spPr>
        </p:sp>
        <p:sp>
          <p:nvSpPr>
            <p:cNvPr id="162839" name="Line 27"/>
            <p:cNvSpPr/>
            <p:nvPr/>
          </p:nvSpPr>
          <p:spPr>
            <a:xfrm>
              <a:off x="4214" y="0"/>
              <a:ext cx="2" cy="1"/>
            </a:xfrm>
            <a:prstGeom prst="line">
              <a:avLst/>
            </a:prstGeom>
            <a:ln w="0" cap="flat" cmpd="sng">
              <a:solidFill>
                <a:srgbClr val="000000"/>
              </a:solidFill>
              <a:prstDash val="solid"/>
              <a:headEnd type="none" w="med" len="med"/>
              <a:tailEnd type="none" w="med" len="med"/>
            </a:ln>
          </p:spPr>
        </p:sp>
        <p:sp>
          <p:nvSpPr>
            <p:cNvPr id="162840" name="Line 28"/>
            <p:cNvSpPr/>
            <p:nvPr/>
          </p:nvSpPr>
          <p:spPr>
            <a:xfrm>
              <a:off x="4214" y="0"/>
              <a:ext cx="1" cy="2"/>
            </a:xfrm>
            <a:prstGeom prst="line">
              <a:avLst/>
            </a:prstGeom>
            <a:ln w="0" cap="flat" cmpd="sng">
              <a:solidFill>
                <a:srgbClr val="000000"/>
              </a:solidFill>
              <a:prstDash val="solid"/>
              <a:headEnd type="none" w="med" len="med"/>
              <a:tailEnd type="none" w="med" len="med"/>
            </a:ln>
          </p:spPr>
        </p:sp>
        <p:sp>
          <p:nvSpPr>
            <p:cNvPr id="162841" name="Line 29"/>
            <p:cNvSpPr/>
            <p:nvPr/>
          </p:nvSpPr>
          <p:spPr>
            <a:xfrm>
              <a:off x="0" y="2"/>
              <a:ext cx="1" cy="288"/>
            </a:xfrm>
            <a:prstGeom prst="line">
              <a:avLst/>
            </a:prstGeom>
            <a:ln w="0" cap="flat" cmpd="sng">
              <a:solidFill>
                <a:srgbClr val="000000"/>
              </a:solidFill>
              <a:prstDash val="solid"/>
              <a:headEnd type="none" w="med" len="med"/>
              <a:tailEnd type="none" w="med" len="med"/>
            </a:ln>
          </p:spPr>
        </p:sp>
        <p:sp>
          <p:nvSpPr>
            <p:cNvPr id="162842" name="Rectangle 30"/>
            <p:cNvSpPr/>
            <p:nvPr/>
          </p:nvSpPr>
          <p:spPr>
            <a:xfrm>
              <a:off x="1117" y="2"/>
              <a:ext cx="2" cy="288"/>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62843" name="Line 31"/>
            <p:cNvSpPr/>
            <p:nvPr/>
          </p:nvSpPr>
          <p:spPr>
            <a:xfrm>
              <a:off x="1117" y="2"/>
              <a:ext cx="1" cy="288"/>
            </a:xfrm>
            <a:prstGeom prst="line">
              <a:avLst/>
            </a:prstGeom>
            <a:ln w="0" cap="flat" cmpd="sng">
              <a:solidFill>
                <a:srgbClr val="000000"/>
              </a:solidFill>
              <a:prstDash val="solid"/>
              <a:headEnd type="none" w="med" len="med"/>
              <a:tailEnd type="none" w="med" len="med"/>
            </a:ln>
          </p:spPr>
        </p:sp>
        <p:sp>
          <p:nvSpPr>
            <p:cNvPr id="162844" name="Line 32"/>
            <p:cNvSpPr/>
            <p:nvPr/>
          </p:nvSpPr>
          <p:spPr>
            <a:xfrm>
              <a:off x="2543" y="2"/>
              <a:ext cx="1" cy="288"/>
            </a:xfrm>
            <a:prstGeom prst="line">
              <a:avLst/>
            </a:prstGeom>
            <a:ln w="0" cap="flat" cmpd="sng">
              <a:solidFill>
                <a:srgbClr val="000000"/>
              </a:solidFill>
              <a:prstDash val="solid"/>
              <a:headEnd type="none" w="med" len="med"/>
              <a:tailEnd type="none" w="med" len="med"/>
            </a:ln>
          </p:spPr>
        </p:sp>
        <p:sp>
          <p:nvSpPr>
            <p:cNvPr id="162845" name="Line 33"/>
            <p:cNvSpPr/>
            <p:nvPr/>
          </p:nvSpPr>
          <p:spPr>
            <a:xfrm>
              <a:off x="4214" y="2"/>
              <a:ext cx="1" cy="288"/>
            </a:xfrm>
            <a:prstGeom prst="line">
              <a:avLst/>
            </a:prstGeom>
            <a:ln w="0" cap="flat" cmpd="sng">
              <a:solidFill>
                <a:srgbClr val="000000"/>
              </a:solidFill>
              <a:prstDash val="solid"/>
              <a:headEnd type="none" w="med" len="med"/>
              <a:tailEnd type="none" w="med" len="med"/>
            </a:ln>
          </p:spPr>
        </p:sp>
        <p:sp>
          <p:nvSpPr>
            <p:cNvPr id="162846" name="Rectangle 34"/>
            <p:cNvSpPr/>
            <p:nvPr/>
          </p:nvSpPr>
          <p:spPr>
            <a:xfrm>
              <a:off x="328" y="329"/>
              <a:ext cx="494"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solidFill>
                    <a:srgbClr val="FF3300"/>
                  </a:solidFill>
                  <a:latin typeface="Times New Roman" panose="02020603050405020304" pitchFamily="18" charset="0"/>
                  <a:ea typeface="宋体" panose="02010600030101010101" pitchFamily="2" charset="-122"/>
                </a:rPr>
                <a:t>LOOP</a:t>
              </a:r>
              <a:endParaRPr lang="en-US" altLang="zh-CN" sz="2800" dirty="0">
                <a:solidFill>
                  <a:srgbClr val="FF3300"/>
                </a:solidFill>
                <a:latin typeface="Times New Roman" panose="02020603050405020304" pitchFamily="18" charset="0"/>
                <a:ea typeface="宋体" panose="02010600030101010101" pitchFamily="2" charset="-122"/>
              </a:endParaRPr>
            </a:p>
          </p:txBody>
        </p:sp>
        <p:sp>
          <p:nvSpPr>
            <p:cNvPr id="162847" name="Rectangle 35"/>
            <p:cNvSpPr/>
            <p:nvPr/>
          </p:nvSpPr>
          <p:spPr>
            <a:xfrm>
              <a:off x="1589" y="343"/>
              <a:ext cx="251"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latin typeface="Times New Roman" panose="02020603050405020304" pitchFamily="18" charset="0"/>
                  <a:ea typeface="宋体" panose="02010600030101010101" pitchFamily="2" charset="-122"/>
                </a:rPr>
                <a:t>CX</a:t>
              </a:r>
              <a:endParaRPr lang="en-US" altLang="zh-CN" sz="2800" dirty="0">
                <a:latin typeface="Times New Roman" panose="02020603050405020304" pitchFamily="18" charset="0"/>
                <a:ea typeface="宋体" panose="02010600030101010101" pitchFamily="2" charset="-122"/>
              </a:endParaRPr>
            </a:p>
          </p:txBody>
        </p:sp>
        <p:sp>
          <p:nvSpPr>
            <p:cNvPr id="162848" name="Rectangle 36"/>
            <p:cNvSpPr/>
            <p:nvPr/>
          </p:nvSpPr>
          <p:spPr>
            <a:xfrm>
              <a:off x="1825" y="348"/>
              <a:ext cx="174"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zh-CN" altLang="en-US" sz="2200" b="1" dirty="0">
                  <a:latin typeface="宋体" panose="02010600030101010101" pitchFamily="2" charset="-122"/>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62849" name="Rectangle 37"/>
            <p:cNvSpPr/>
            <p:nvPr/>
          </p:nvSpPr>
          <p:spPr>
            <a:xfrm>
              <a:off x="1989" y="348"/>
              <a:ext cx="87"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0</a:t>
              </a:r>
              <a:endParaRPr lang="en-US" altLang="zh-CN" sz="2800" dirty="0">
                <a:latin typeface="Times New Roman" panose="02020603050405020304" pitchFamily="18" charset="0"/>
                <a:ea typeface="宋体" panose="02010600030101010101" pitchFamily="2" charset="-122"/>
              </a:endParaRPr>
            </a:p>
          </p:txBody>
        </p:sp>
        <p:sp>
          <p:nvSpPr>
            <p:cNvPr id="162850" name="Rectangle 38"/>
            <p:cNvSpPr/>
            <p:nvPr/>
          </p:nvSpPr>
          <p:spPr>
            <a:xfrm>
              <a:off x="3174" y="329"/>
              <a:ext cx="437"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latin typeface="Times New Roman" panose="02020603050405020304" pitchFamily="18" charset="0"/>
                  <a:ea typeface="宋体" panose="02010600030101010101" pitchFamily="2" charset="-122"/>
                </a:rPr>
                <a:t>CX=0</a:t>
              </a:r>
              <a:endParaRPr lang="en-US" altLang="zh-CN" sz="2800" dirty="0">
                <a:latin typeface="Times New Roman" panose="02020603050405020304" pitchFamily="18" charset="0"/>
                <a:ea typeface="宋体" panose="02010600030101010101" pitchFamily="2" charset="-122"/>
              </a:endParaRPr>
            </a:p>
          </p:txBody>
        </p:sp>
        <p:sp>
          <p:nvSpPr>
            <p:cNvPr id="162851" name="Line 39"/>
            <p:cNvSpPr/>
            <p:nvPr/>
          </p:nvSpPr>
          <p:spPr>
            <a:xfrm>
              <a:off x="0" y="290"/>
              <a:ext cx="2" cy="1"/>
            </a:xfrm>
            <a:prstGeom prst="line">
              <a:avLst/>
            </a:prstGeom>
            <a:ln w="0" cap="flat" cmpd="sng">
              <a:solidFill>
                <a:srgbClr val="000000"/>
              </a:solidFill>
              <a:prstDash val="solid"/>
              <a:headEnd type="none" w="med" len="med"/>
              <a:tailEnd type="none" w="med" len="med"/>
            </a:ln>
          </p:spPr>
        </p:sp>
        <p:sp>
          <p:nvSpPr>
            <p:cNvPr id="162852" name="Line 40"/>
            <p:cNvSpPr/>
            <p:nvPr/>
          </p:nvSpPr>
          <p:spPr>
            <a:xfrm>
              <a:off x="0" y="290"/>
              <a:ext cx="1" cy="2"/>
            </a:xfrm>
            <a:prstGeom prst="line">
              <a:avLst/>
            </a:prstGeom>
            <a:ln w="0" cap="flat" cmpd="sng">
              <a:solidFill>
                <a:srgbClr val="000000"/>
              </a:solidFill>
              <a:prstDash val="solid"/>
              <a:headEnd type="none" w="med" len="med"/>
              <a:tailEnd type="none" w="med" len="med"/>
            </a:ln>
          </p:spPr>
        </p:sp>
        <p:sp>
          <p:nvSpPr>
            <p:cNvPr id="162853" name="Line 41"/>
            <p:cNvSpPr/>
            <p:nvPr/>
          </p:nvSpPr>
          <p:spPr>
            <a:xfrm>
              <a:off x="2" y="290"/>
              <a:ext cx="1115" cy="1"/>
            </a:xfrm>
            <a:prstGeom prst="line">
              <a:avLst/>
            </a:prstGeom>
            <a:ln w="0" cap="flat" cmpd="sng">
              <a:solidFill>
                <a:srgbClr val="000000"/>
              </a:solidFill>
              <a:prstDash val="solid"/>
              <a:headEnd type="none" w="med" len="med"/>
              <a:tailEnd type="none" w="med" len="med"/>
            </a:ln>
          </p:spPr>
        </p:sp>
        <p:sp>
          <p:nvSpPr>
            <p:cNvPr id="162854" name="Line 42"/>
            <p:cNvSpPr/>
            <p:nvPr/>
          </p:nvSpPr>
          <p:spPr>
            <a:xfrm>
              <a:off x="1117" y="290"/>
              <a:ext cx="2" cy="1"/>
            </a:xfrm>
            <a:prstGeom prst="line">
              <a:avLst/>
            </a:prstGeom>
            <a:ln w="0" cap="flat" cmpd="sng">
              <a:solidFill>
                <a:srgbClr val="000000"/>
              </a:solidFill>
              <a:prstDash val="solid"/>
              <a:headEnd type="none" w="med" len="med"/>
              <a:tailEnd type="none" w="med" len="med"/>
            </a:ln>
          </p:spPr>
        </p:sp>
        <p:sp>
          <p:nvSpPr>
            <p:cNvPr id="162855" name="Line 43"/>
            <p:cNvSpPr/>
            <p:nvPr/>
          </p:nvSpPr>
          <p:spPr>
            <a:xfrm>
              <a:off x="1117" y="290"/>
              <a:ext cx="1" cy="2"/>
            </a:xfrm>
            <a:prstGeom prst="line">
              <a:avLst/>
            </a:prstGeom>
            <a:ln w="0" cap="flat" cmpd="sng">
              <a:solidFill>
                <a:srgbClr val="000000"/>
              </a:solidFill>
              <a:prstDash val="solid"/>
              <a:headEnd type="none" w="med" len="med"/>
              <a:tailEnd type="none" w="med" len="med"/>
            </a:ln>
          </p:spPr>
        </p:sp>
        <p:sp>
          <p:nvSpPr>
            <p:cNvPr id="162856" name="Line 44"/>
            <p:cNvSpPr/>
            <p:nvPr/>
          </p:nvSpPr>
          <p:spPr>
            <a:xfrm>
              <a:off x="1119" y="290"/>
              <a:ext cx="1424" cy="1"/>
            </a:xfrm>
            <a:prstGeom prst="line">
              <a:avLst/>
            </a:prstGeom>
            <a:ln w="0" cap="flat" cmpd="sng">
              <a:solidFill>
                <a:srgbClr val="000000"/>
              </a:solidFill>
              <a:prstDash val="solid"/>
              <a:headEnd type="none" w="med" len="med"/>
              <a:tailEnd type="none" w="med" len="med"/>
            </a:ln>
          </p:spPr>
        </p:sp>
        <p:sp>
          <p:nvSpPr>
            <p:cNvPr id="162857" name="Line 45"/>
            <p:cNvSpPr/>
            <p:nvPr/>
          </p:nvSpPr>
          <p:spPr>
            <a:xfrm>
              <a:off x="2543" y="290"/>
              <a:ext cx="2" cy="1"/>
            </a:xfrm>
            <a:prstGeom prst="line">
              <a:avLst/>
            </a:prstGeom>
            <a:ln w="0" cap="flat" cmpd="sng">
              <a:solidFill>
                <a:srgbClr val="000000"/>
              </a:solidFill>
              <a:prstDash val="solid"/>
              <a:headEnd type="none" w="med" len="med"/>
              <a:tailEnd type="none" w="med" len="med"/>
            </a:ln>
          </p:spPr>
        </p:sp>
        <p:sp>
          <p:nvSpPr>
            <p:cNvPr id="162858" name="Line 46"/>
            <p:cNvSpPr/>
            <p:nvPr/>
          </p:nvSpPr>
          <p:spPr>
            <a:xfrm>
              <a:off x="2543" y="290"/>
              <a:ext cx="1" cy="2"/>
            </a:xfrm>
            <a:prstGeom prst="line">
              <a:avLst/>
            </a:prstGeom>
            <a:ln w="0" cap="flat" cmpd="sng">
              <a:solidFill>
                <a:srgbClr val="000000"/>
              </a:solidFill>
              <a:prstDash val="solid"/>
              <a:headEnd type="none" w="med" len="med"/>
              <a:tailEnd type="none" w="med" len="med"/>
            </a:ln>
          </p:spPr>
        </p:sp>
        <p:sp>
          <p:nvSpPr>
            <p:cNvPr id="162859" name="Line 47"/>
            <p:cNvSpPr/>
            <p:nvPr/>
          </p:nvSpPr>
          <p:spPr>
            <a:xfrm>
              <a:off x="2545" y="290"/>
              <a:ext cx="1669" cy="1"/>
            </a:xfrm>
            <a:prstGeom prst="line">
              <a:avLst/>
            </a:prstGeom>
            <a:ln w="0" cap="flat" cmpd="sng">
              <a:solidFill>
                <a:srgbClr val="000000"/>
              </a:solidFill>
              <a:prstDash val="solid"/>
              <a:headEnd type="none" w="med" len="med"/>
              <a:tailEnd type="none" w="med" len="med"/>
            </a:ln>
          </p:spPr>
        </p:sp>
        <p:sp>
          <p:nvSpPr>
            <p:cNvPr id="162860" name="Line 48"/>
            <p:cNvSpPr/>
            <p:nvPr/>
          </p:nvSpPr>
          <p:spPr>
            <a:xfrm>
              <a:off x="4214" y="290"/>
              <a:ext cx="2" cy="1"/>
            </a:xfrm>
            <a:prstGeom prst="line">
              <a:avLst/>
            </a:prstGeom>
            <a:ln w="0" cap="flat" cmpd="sng">
              <a:solidFill>
                <a:srgbClr val="000000"/>
              </a:solidFill>
              <a:prstDash val="solid"/>
              <a:headEnd type="none" w="med" len="med"/>
              <a:tailEnd type="none" w="med" len="med"/>
            </a:ln>
          </p:spPr>
        </p:sp>
        <p:sp>
          <p:nvSpPr>
            <p:cNvPr id="162861" name="Line 49"/>
            <p:cNvSpPr/>
            <p:nvPr/>
          </p:nvSpPr>
          <p:spPr>
            <a:xfrm>
              <a:off x="4214" y="290"/>
              <a:ext cx="1" cy="2"/>
            </a:xfrm>
            <a:prstGeom prst="line">
              <a:avLst/>
            </a:prstGeom>
            <a:ln w="0" cap="flat" cmpd="sng">
              <a:solidFill>
                <a:srgbClr val="000000"/>
              </a:solidFill>
              <a:prstDash val="solid"/>
              <a:headEnd type="none" w="med" len="med"/>
              <a:tailEnd type="none" w="med" len="med"/>
            </a:ln>
          </p:spPr>
        </p:sp>
        <p:sp>
          <p:nvSpPr>
            <p:cNvPr id="162862" name="Line 50"/>
            <p:cNvSpPr/>
            <p:nvPr/>
          </p:nvSpPr>
          <p:spPr>
            <a:xfrm>
              <a:off x="0" y="292"/>
              <a:ext cx="1" cy="288"/>
            </a:xfrm>
            <a:prstGeom prst="line">
              <a:avLst/>
            </a:prstGeom>
            <a:ln w="0" cap="flat" cmpd="sng">
              <a:solidFill>
                <a:srgbClr val="000000"/>
              </a:solidFill>
              <a:prstDash val="solid"/>
              <a:headEnd type="none" w="med" len="med"/>
              <a:tailEnd type="none" w="med" len="med"/>
            </a:ln>
          </p:spPr>
        </p:sp>
        <p:sp>
          <p:nvSpPr>
            <p:cNvPr id="162863" name="Rectangle 51"/>
            <p:cNvSpPr/>
            <p:nvPr/>
          </p:nvSpPr>
          <p:spPr>
            <a:xfrm>
              <a:off x="1117" y="292"/>
              <a:ext cx="2" cy="288"/>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62864" name="Line 52"/>
            <p:cNvSpPr/>
            <p:nvPr/>
          </p:nvSpPr>
          <p:spPr>
            <a:xfrm>
              <a:off x="1117" y="292"/>
              <a:ext cx="1" cy="288"/>
            </a:xfrm>
            <a:prstGeom prst="line">
              <a:avLst/>
            </a:prstGeom>
            <a:ln w="0" cap="flat" cmpd="sng">
              <a:solidFill>
                <a:srgbClr val="000000"/>
              </a:solidFill>
              <a:prstDash val="solid"/>
              <a:headEnd type="none" w="med" len="med"/>
              <a:tailEnd type="none" w="med" len="med"/>
            </a:ln>
          </p:spPr>
        </p:sp>
        <p:sp>
          <p:nvSpPr>
            <p:cNvPr id="162865" name="Line 53"/>
            <p:cNvSpPr/>
            <p:nvPr/>
          </p:nvSpPr>
          <p:spPr>
            <a:xfrm>
              <a:off x="2543" y="292"/>
              <a:ext cx="1" cy="288"/>
            </a:xfrm>
            <a:prstGeom prst="line">
              <a:avLst/>
            </a:prstGeom>
            <a:ln w="0" cap="flat" cmpd="sng">
              <a:solidFill>
                <a:srgbClr val="000000"/>
              </a:solidFill>
              <a:prstDash val="solid"/>
              <a:headEnd type="none" w="med" len="med"/>
              <a:tailEnd type="none" w="med" len="med"/>
            </a:ln>
          </p:spPr>
        </p:sp>
        <p:sp>
          <p:nvSpPr>
            <p:cNvPr id="162866" name="Line 54"/>
            <p:cNvSpPr/>
            <p:nvPr/>
          </p:nvSpPr>
          <p:spPr>
            <a:xfrm>
              <a:off x="4214" y="292"/>
              <a:ext cx="1" cy="288"/>
            </a:xfrm>
            <a:prstGeom prst="line">
              <a:avLst/>
            </a:prstGeom>
            <a:ln w="0" cap="flat" cmpd="sng">
              <a:solidFill>
                <a:srgbClr val="000000"/>
              </a:solidFill>
              <a:prstDash val="solid"/>
              <a:headEnd type="none" w="med" len="med"/>
              <a:tailEnd type="none" w="med" len="med"/>
            </a:ln>
          </p:spPr>
        </p:sp>
        <p:sp>
          <p:nvSpPr>
            <p:cNvPr id="162867" name="Rectangle 55"/>
            <p:cNvSpPr/>
            <p:nvPr/>
          </p:nvSpPr>
          <p:spPr>
            <a:xfrm>
              <a:off x="273" y="619"/>
              <a:ext cx="609"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solidFill>
                    <a:srgbClr val="FF3300"/>
                  </a:solidFill>
                  <a:latin typeface="Times New Roman" panose="02020603050405020304" pitchFamily="18" charset="0"/>
                  <a:ea typeface="宋体" panose="02010600030101010101" pitchFamily="2" charset="-122"/>
                </a:rPr>
                <a:t>LOOP</a:t>
              </a:r>
              <a:r>
                <a:rPr lang="en-US" altLang="zh-CN" sz="2200" b="1" dirty="0">
                  <a:solidFill>
                    <a:srgbClr val="6600CC"/>
                  </a:solidFill>
                  <a:latin typeface="Times New Roman" panose="02020603050405020304" pitchFamily="18" charset="0"/>
                  <a:ea typeface="宋体" panose="02010600030101010101" pitchFamily="2" charset="-122"/>
                </a:rPr>
                <a:t>Z</a:t>
              </a:r>
              <a:endParaRPr lang="en-US" altLang="zh-CN" sz="2800" dirty="0">
                <a:solidFill>
                  <a:srgbClr val="6600CC"/>
                </a:solidFill>
                <a:latin typeface="Times New Roman" panose="02020603050405020304" pitchFamily="18" charset="0"/>
                <a:ea typeface="宋体" panose="02010600030101010101" pitchFamily="2" charset="-122"/>
              </a:endParaRPr>
            </a:p>
          </p:txBody>
        </p:sp>
        <p:sp>
          <p:nvSpPr>
            <p:cNvPr id="162868" name="Rectangle 56"/>
            <p:cNvSpPr/>
            <p:nvPr/>
          </p:nvSpPr>
          <p:spPr>
            <a:xfrm>
              <a:off x="1282" y="633"/>
              <a:ext cx="252"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latin typeface="Times New Roman" panose="02020603050405020304" pitchFamily="18" charset="0"/>
                  <a:ea typeface="宋体" panose="02010600030101010101" pitchFamily="2" charset="-122"/>
                </a:rPr>
                <a:t>CX</a:t>
              </a:r>
              <a:endParaRPr lang="en-US" altLang="zh-CN" sz="2800" dirty="0">
                <a:latin typeface="Times New Roman" panose="02020603050405020304" pitchFamily="18" charset="0"/>
                <a:ea typeface="宋体" panose="02010600030101010101" pitchFamily="2" charset="-122"/>
              </a:endParaRPr>
            </a:p>
          </p:txBody>
        </p:sp>
        <p:sp>
          <p:nvSpPr>
            <p:cNvPr id="162869" name="Rectangle 57"/>
            <p:cNvSpPr/>
            <p:nvPr/>
          </p:nvSpPr>
          <p:spPr>
            <a:xfrm>
              <a:off x="1518" y="639"/>
              <a:ext cx="174"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zh-CN" altLang="en-US" sz="2200" b="1" dirty="0">
                  <a:latin typeface="宋体" panose="02010600030101010101" pitchFamily="2" charset="-122"/>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62870" name="Rectangle 58"/>
            <p:cNvSpPr/>
            <p:nvPr/>
          </p:nvSpPr>
          <p:spPr>
            <a:xfrm>
              <a:off x="1682" y="639"/>
              <a:ext cx="87"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0</a:t>
              </a:r>
              <a:endParaRPr lang="en-US" altLang="zh-CN" sz="2800" dirty="0">
                <a:latin typeface="Times New Roman" panose="02020603050405020304" pitchFamily="18" charset="0"/>
                <a:ea typeface="宋体" panose="02010600030101010101" pitchFamily="2" charset="-122"/>
              </a:endParaRPr>
            </a:p>
          </p:txBody>
        </p:sp>
        <p:sp>
          <p:nvSpPr>
            <p:cNvPr id="162871" name="Rectangle 59"/>
            <p:cNvSpPr/>
            <p:nvPr/>
          </p:nvSpPr>
          <p:spPr>
            <a:xfrm>
              <a:off x="1805" y="639"/>
              <a:ext cx="174"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zh-CN" altLang="en-US" sz="2200" b="1" dirty="0">
                  <a:latin typeface="宋体" panose="02010600030101010101" pitchFamily="2" charset="-122"/>
                  <a:ea typeface="宋体" panose="02010600030101010101" pitchFamily="2" charset="-122"/>
                </a:rPr>
                <a:t>且</a:t>
              </a:r>
              <a:endParaRPr lang="zh-CN" altLang="en-US" sz="2800" dirty="0">
                <a:latin typeface="Times New Roman" panose="02020603050405020304" pitchFamily="18" charset="0"/>
                <a:ea typeface="宋体" panose="02010600030101010101" pitchFamily="2" charset="-122"/>
              </a:endParaRPr>
            </a:p>
          </p:txBody>
        </p:sp>
        <p:sp>
          <p:nvSpPr>
            <p:cNvPr id="162872" name="Rectangle 60"/>
            <p:cNvSpPr/>
            <p:nvPr/>
          </p:nvSpPr>
          <p:spPr>
            <a:xfrm>
              <a:off x="2010" y="633"/>
              <a:ext cx="223"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latin typeface="Times New Roman" panose="02020603050405020304" pitchFamily="18" charset="0"/>
                  <a:ea typeface="宋体" panose="02010600030101010101" pitchFamily="2" charset="-122"/>
                </a:rPr>
                <a:t>ZF</a:t>
              </a:r>
              <a:endParaRPr lang="en-US" altLang="zh-CN" sz="2800" dirty="0">
                <a:latin typeface="Times New Roman" panose="02020603050405020304" pitchFamily="18" charset="0"/>
                <a:ea typeface="宋体" panose="02010600030101010101" pitchFamily="2" charset="-122"/>
              </a:endParaRPr>
            </a:p>
          </p:txBody>
        </p:sp>
        <p:sp>
          <p:nvSpPr>
            <p:cNvPr id="162873" name="Rectangle 61"/>
            <p:cNvSpPr/>
            <p:nvPr/>
          </p:nvSpPr>
          <p:spPr>
            <a:xfrm>
              <a:off x="2215" y="639"/>
              <a:ext cx="174"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latin typeface="宋体" panose="02010600030101010101" pitchFamily="2" charset="-122"/>
                  <a:ea typeface="宋体" panose="02010600030101010101" pitchFamily="2" charset="-122"/>
                </a:rPr>
                <a:t>=1</a:t>
              </a:r>
              <a:endParaRPr lang="en-US" altLang="zh-CN" sz="2800" dirty="0">
                <a:latin typeface="Times New Roman" panose="02020603050405020304" pitchFamily="18" charset="0"/>
                <a:ea typeface="宋体" panose="02010600030101010101" pitchFamily="2" charset="-122"/>
              </a:endParaRPr>
            </a:p>
          </p:txBody>
        </p:sp>
        <p:sp>
          <p:nvSpPr>
            <p:cNvPr id="162874" name="Rectangle 62"/>
            <p:cNvSpPr/>
            <p:nvPr/>
          </p:nvSpPr>
          <p:spPr>
            <a:xfrm>
              <a:off x="2861" y="633"/>
              <a:ext cx="437"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latin typeface="Times New Roman" panose="02020603050405020304" pitchFamily="18" charset="0"/>
                  <a:ea typeface="宋体" panose="02010600030101010101" pitchFamily="2" charset="-122"/>
                </a:rPr>
                <a:t>CX=0</a:t>
              </a:r>
              <a:endParaRPr lang="en-US" altLang="zh-CN" sz="2800" dirty="0">
                <a:latin typeface="Times New Roman" panose="02020603050405020304" pitchFamily="18" charset="0"/>
                <a:ea typeface="宋体" panose="02010600030101010101" pitchFamily="2" charset="-122"/>
              </a:endParaRPr>
            </a:p>
          </p:txBody>
        </p:sp>
        <p:sp>
          <p:nvSpPr>
            <p:cNvPr id="162875" name="Rectangle 63"/>
            <p:cNvSpPr/>
            <p:nvPr/>
          </p:nvSpPr>
          <p:spPr>
            <a:xfrm>
              <a:off x="3313" y="639"/>
              <a:ext cx="174"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zh-CN" altLang="en-US" sz="2200" b="1" dirty="0">
                  <a:latin typeface="宋体" panose="02010600030101010101" pitchFamily="2" charset="-122"/>
                  <a:ea typeface="宋体" panose="02010600030101010101" pitchFamily="2" charset="-122"/>
                </a:rPr>
                <a:t>或</a:t>
              </a:r>
              <a:endParaRPr lang="zh-CN" altLang="en-US" sz="2800" dirty="0">
                <a:latin typeface="Times New Roman" panose="02020603050405020304" pitchFamily="18" charset="0"/>
                <a:ea typeface="宋体" panose="02010600030101010101" pitchFamily="2" charset="-122"/>
              </a:endParaRPr>
            </a:p>
          </p:txBody>
        </p:sp>
        <p:sp>
          <p:nvSpPr>
            <p:cNvPr id="162876" name="Rectangle 64"/>
            <p:cNvSpPr/>
            <p:nvPr/>
          </p:nvSpPr>
          <p:spPr>
            <a:xfrm>
              <a:off x="3518" y="633"/>
              <a:ext cx="408"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latin typeface="Times New Roman" panose="02020603050405020304" pitchFamily="18" charset="0"/>
                  <a:ea typeface="宋体" panose="02010600030101010101" pitchFamily="2" charset="-122"/>
                </a:rPr>
                <a:t>ZF=0</a:t>
              </a:r>
              <a:endParaRPr lang="en-US" altLang="zh-CN" sz="2800" dirty="0">
                <a:latin typeface="Times New Roman" panose="02020603050405020304" pitchFamily="18" charset="0"/>
                <a:ea typeface="宋体" panose="02010600030101010101" pitchFamily="2" charset="-122"/>
              </a:endParaRPr>
            </a:p>
          </p:txBody>
        </p:sp>
        <p:sp>
          <p:nvSpPr>
            <p:cNvPr id="162877" name="Line 65"/>
            <p:cNvSpPr/>
            <p:nvPr/>
          </p:nvSpPr>
          <p:spPr>
            <a:xfrm>
              <a:off x="0" y="580"/>
              <a:ext cx="2" cy="1"/>
            </a:xfrm>
            <a:prstGeom prst="line">
              <a:avLst/>
            </a:prstGeom>
            <a:ln w="0" cap="flat" cmpd="sng">
              <a:solidFill>
                <a:srgbClr val="000000"/>
              </a:solidFill>
              <a:prstDash val="solid"/>
              <a:headEnd type="none" w="med" len="med"/>
              <a:tailEnd type="none" w="med" len="med"/>
            </a:ln>
          </p:spPr>
        </p:sp>
        <p:sp>
          <p:nvSpPr>
            <p:cNvPr id="162878" name="Line 66"/>
            <p:cNvSpPr/>
            <p:nvPr/>
          </p:nvSpPr>
          <p:spPr>
            <a:xfrm>
              <a:off x="0" y="580"/>
              <a:ext cx="1" cy="3"/>
            </a:xfrm>
            <a:prstGeom prst="line">
              <a:avLst/>
            </a:prstGeom>
            <a:ln w="0" cap="flat" cmpd="sng">
              <a:solidFill>
                <a:srgbClr val="000000"/>
              </a:solidFill>
              <a:prstDash val="solid"/>
              <a:headEnd type="none" w="med" len="med"/>
              <a:tailEnd type="none" w="med" len="med"/>
            </a:ln>
          </p:spPr>
        </p:sp>
        <p:sp>
          <p:nvSpPr>
            <p:cNvPr id="162879" name="Line 67"/>
            <p:cNvSpPr/>
            <p:nvPr/>
          </p:nvSpPr>
          <p:spPr>
            <a:xfrm>
              <a:off x="2" y="580"/>
              <a:ext cx="1115" cy="1"/>
            </a:xfrm>
            <a:prstGeom prst="line">
              <a:avLst/>
            </a:prstGeom>
            <a:ln w="0" cap="flat" cmpd="sng">
              <a:solidFill>
                <a:srgbClr val="000000"/>
              </a:solidFill>
              <a:prstDash val="solid"/>
              <a:headEnd type="none" w="med" len="med"/>
              <a:tailEnd type="none" w="med" len="med"/>
            </a:ln>
          </p:spPr>
        </p:sp>
        <p:sp>
          <p:nvSpPr>
            <p:cNvPr id="162880" name="Line 68"/>
            <p:cNvSpPr/>
            <p:nvPr/>
          </p:nvSpPr>
          <p:spPr>
            <a:xfrm>
              <a:off x="1117" y="580"/>
              <a:ext cx="2" cy="1"/>
            </a:xfrm>
            <a:prstGeom prst="line">
              <a:avLst/>
            </a:prstGeom>
            <a:ln w="0" cap="flat" cmpd="sng">
              <a:solidFill>
                <a:srgbClr val="000000"/>
              </a:solidFill>
              <a:prstDash val="solid"/>
              <a:headEnd type="none" w="med" len="med"/>
              <a:tailEnd type="none" w="med" len="med"/>
            </a:ln>
          </p:spPr>
        </p:sp>
        <p:sp>
          <p:nvSpPr>
            <p:cNvPr id="162881" name="Line 69"/>
            <p:cNvSpPr/>
            <p:nvPr/>
          </p:nvSpPr>
          <p:spPr>
            <a:xfrm>
              <a:off x="1117" y="580"/>
              <a:ext cx="1" cy="3"/>
            </a:xfrm>
            <a:prstGeom prst="line">
              <a:avLst/>
            </a:prstGeom>
            <a:ln w="0" cap="flat" cmpd="sng">
              <a:solidFill>
                <a:srgbClr val="000000"/>
              </a:solidFill>
              <a:prstDash val="solid"/>
              <a:headEnd type="none" w="med" len="med"/>
              <a:tailEnd type="none" w="med" len="med"/>
            </a:ln>
          </p:spPr>
        </p:sp>
        <p:sp>
          <p:nvSpPr>
            <p:cNvPr id="162882" name="Line 70"/>
            <p:cNvSpPr/>
            <p:nvPr/>
          </p:nvSpPr>
          <p:spPr>
            <a:xfrm>
              <a:off x="1119" y="580"/>
              <a:ext cx="1424" cy="1"/>
            </a:xfrm>
            <a:prstGeom prst="line">
              <a:avLst/>
            </a:prstGeom>
            <a:ln w="0" cap="flat" cmpd="sng">
              <a:solidFill>
                <a:srgbClr val="000000"/>
              </a:solidFill>
              <a:prstDash val="solid"/>
              <a:headEnd type="none" w="med" len="med"/>
              <a:tailEnd type="none" w="med" len="med"/>
            </a:ln>
          </p:spPr>
        </p:sp>
        <p:sp>
          <p:nvSpPr>
            <p:cNvPr id="162883" name="Line 71"/>
            <p:cNvSpPr/>
            <p:nvPr/>
          </p:nvSpPr>
          <p:spPr>
            <a:xfrm>
              <a:off x="2543" y="580"/>
              <a:ext cx="2" cy="1"/>
            </a:xfrm>
            <a:prstGeom prst="line">
              <a:avLst/>
            </a:prstGeom>
            <a:ln w="0" cap="flat" cmpd="sng">
              <a:solidFill>
                <a:srgbClr val="000000"/>
              </a:solidFill>
              <a:prstDash val="solid"/>
              <a:headEnd type="none" w="med" len="med"/>
              <a:tailEnd type="none" w="med" len="med"/>
            </a:ln>
          </p:spPr>
        </p:sp>
        <p:sp>
          <p:nvSpPr>
            <p:cNvPr id="162884" name="Line 72"/>
            <p:cNvSpPr/>
            <p:nvPr/>
          </p:nvSpPr>
          <p:spPr>
            <a:xfrm>
              <a:off x="2543" y="580"/>
              <a:ext cx="1" cy="3"/>
            </a:xfrm>
            <a:prstGeom prst="line">
              <a:avLst/>
            </a:prstGeom>
            <a:ln w="0" cap="flat" cmpd="sng">
              <a:solidFill>
                <a:srgbClr val="000000"/>
              </a:solidFill>
              <a:prstDash val="solid"/>
              <a:headEnd type="none" w="med" len="med"/>
              <a:tailEnd type="none" w="med" len="med"/>
            </a:ln>
          </p:spPr>
        </p:sp>
        <p:sp>
          <p:nvSpPr>
            <p:cNvPr id="162885" name="Line 73"/>
            <p:cNvSpPr/>
            <p:nvPr/>
          </p:nvSpPr>
          <p:spPr>
            <a:xfrm>
              <a:off x="2545" y="580"/>
              <a:ext cx="1669" cy="1"/>
            </a:xfrm>
            <a:prstGeom prst="line">
              <a:avLst/>
            </a:prstGeom>
            <a:ln w="0" cap="flat" cmpd="sng">
              <a:solidFill>
                <a:srgbClr val="000000"/>
              </a:solidFill>
              <a:prstDash val="solid"/>
              <a:headEnd type="none" w="med" len="med"/>
              <a:tailEnd type="none" w="med" len="med"/>
            </a:ln>
          </p:spPr>
        </p:sp>
        <p:sp>
          <p:nvSpPr>
            <p:cNvPr id="162886" name="Line 74"/>
            <p:cNvSpPr/>
            <p:nvPr/>
          </p:nvSpPr>
          <p:spPr>
            <a:xfrm>
              <a:off x="4214" y="580"/>
              <a:ext cx="2" cy="1"/>
            </a:xfrm>
            <a:prstGeom prst="line">
              <a:avLst/>
            </a:prstGeom>
            <a:ln w="0" cap="flat" cmpd="sng">
              <a:solidFill>
                <a:srgbClr val="000000"/>
              </a:solidFill>
              <a:prstDash val="solid"/>
              <a:headEnd type="none" w="med" len="med"/>
              <a:tailEnd type="none" w="med" len="med"/>
            </a:ln>
          </p:spPr>
        </p:sp>
        <p:sp>
          <p:nvSpPr>
            <p:cNvPr id="162887" name="Line 75"/>
            <p:cNvSpPr/>
            <p:nvPr/>
          </p:nvSpPr>
          <p:spPr>
            <a:xfrm>
              <a:off x="4214" y="580"/>
              <a:ext cx="1" cy="3"/>
            </a:xfrm>
            <a:prstGeom prst="line">
              <a:avLst/>
            </a:prstGeom>
            <a:ln w="0" cap="flat" cmpd="sng">
              <a:solidFill>
                <a:srgbClr val="000000"/>
              </a:solidFill>
              <a:prstDash val="solid"/>
              <a:headEnd type="none" w="med" len="med"/>
              <a:tailEnd type="none" w="med" len="med"/>
            </a:ln>
          </p:spPr>
        </p:sp>
        <p:sp>
          <p:nvSpPr>
            <p:cNvPr id="162888" name="Line 76"/>
            <p:cNvSpPr/>
            <p:nvPr/>
          </p:nvSpPr>
          <p:spPr>
            <a:xfrm>
              <a:off x="0" y="583"/>
              <a:ext cx="1" cy="287"/>
            </a:xfrm>
            <a:prstGeom prst="line">
              <a:avLst/>
            </a:prstGeom>
            <a:ln w="0" cap="flat" cmpd="sng">
              <a:solidFill>
                <a:srgbClr val="000000"/>
              </a:solidFill>
              <a:prstDash val="solid"/>
              <a:headEnd type="none" w="med" len="med"/>
              <a:tailEnd type="none" w="med" len="med"/>
            </a:ln>
          </p:spPr>
        </p:sp>
        <p:sp>
          <p:nvSpPr>
            <p:cNvPr id="162889" name="Rectangle 77"/>
            <p:cNvSpPr/>
            <p:nvPr/>
          </p:nvSpPr>
          <p:spPr>
            <a:xfrm>
              <a:off x="1117" y="583"/>
              <a:ext cx="2" cy="287"/>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62890" name="Line 78"/>
            <p:cNvSpPr/>
            <p:nvPr/>
          </p:nvSpPr>
          <p:spPr>
            <a:xfrm>
              <a:off x="1117" y="583"/>
              <a:ext cx="1" cy="287"/>
            </a:xfrm>
            <a:prstGeom prst="line">
              <a:avLst/>
            </a:prstGeom>
            <a:ln w="0" cap="flat" cmpd="sng">
              <a:solidFill>
                <a:srgbClr val="000000"/>
              </a:solidFill>
              <a:prstDash val="solid"/>
              <a:headEnd type="none" w="med" len="med"/>
              <a:tailEnd type="none" w="med" len="med"/>
            </a:ln>
          </p:spPr>
        </p:sp>
        <p:sp>
          <p:nvSpPr>
            <p:cNvPr id="162891" name="Line 79"/>
            <p:cNvSpPr/>
            <p:nvPr/>
          </p:nvSpPr>
          <p:spPr>
            <a:xfrm>
              <a:off x="2543" y="583"/>
              <a:ext cx="1" cy="287"/>
            </a:xfrm>
            <a:prstGeom prst="line">
              <a:avLst/>
            </a:prstGeom>
            <a:ln w="0" cap="flat" cmpd="sng">
              <a:solidFill>
                <a:srgbClr val="000000"/>
              </a:solidFill>
              <a:prstDash val="solid"/>
              <a:headEnd type="none" w="med" len="med"/>
              <a:tailEnd type="none" w="med" len="med"/>
            </a:ln>
          </p:spPr>
        </p:sp>
        <p:sp>
          <p:nvSpPr>
            <p:cNvPr id="162892" name="Line 80"/>
            <p:cNvSpPr/>
            <p:nvPr/>
          </p:nvSpPr>
          <p:spPr>
            <a:xfrm>
              <a:off x="4214" y="583"/>
              <a:ext cx="1" cy="287"/>
            </a:xfrm>
            <a:prstGeom prst="line">
              <a:avLst/>
            </a:prstGeom>
            <a:ln w="0" cap="flat" cmpd="sng">
              <a:solidFill>
                <a:srgbClr val="000000"/>
              </a:solidFill>
              <a:prstDash val="solid"/>
              <a:headEnd type="none" w="med" len="med"/>
              <a:tailEnd type="none" w="med" len="med"/>
            </a:ln>
          </p:spPr>
        </p:sp>
        <p:sp>
          <p:nvSpPr>
            <p:cNvPr id="162893" name="Rectangle 81"/>
            <p:cNvSpPr/>
            <p:nvPr/>
          </p:nvSpPr>
          <p:spPr>
            <a:xfrm>
              <a:off x="214" y="909"/>
              <a:ext cx="734"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solidFill>
                    <a:srgbClr val="FF3300"/>
                  </a:solidFill>
                  <a:latin typeface="Times New Roman" panose="02020603050405020304" pitchFamily="18" charset="0"/>
                  <a:ea typeface="宋体" panose="02010600030101010101" pitchFamily="2" charset="-122"/>
                </a:rPr>
                <a:t>LOOP</a:t>
              </a:r>
              <a:r>
                <a:rPr lang="en-US" altLang="zh-CN" sz="2200" b="1" dirty="0">
                  <a:solidFill>
                    <a:srgbClr val="6600CC"/>
                  </a:solidFill>
                  <a:latin typeface="Times New Roman" panose="02020603050405020304" pitchFamily="18" charset="0"/>
                  <a:ea typeface="宋体" panose="02010600030101010101" pitchFamily="2" charset="-122"/>
                </a:rPr>
                <a:t>NZ</a:t>
              </a:r>
              <a:endParaRPr lang="en-US" altLang="zh-CN" sz="2800" dirty="0">
                <a:solidFill>
                  <a:srgbClr val="6600CC"/>
                </a:solidFill>
                <a:latin typeface="Times New Roman" panose="02020603050405020304" pitchFamily="18" charset="0"/>
                <a:ea typeface="宋体" panose="02010600030101010101" pitchFamily="2" charset="-122"/>
              </a:endParaRPr>
            </a:p>
          </p:txBody>
        </p:sp>
        <p:sp>
          <p:nvSpPr>
            <p:cNvPr id="162894" name="Rectangle 82"/>
            <p:cNvSpPr/>
            <p:nvPr/>
          </p:nvSpPr>
          <p:spPr>
            <a:xfrm>
              <a:off x="1277" y="923"/>
              <a:ext cx="252"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latin typeface="Times New Roman" panose="02020603050405020304" pitchFamily="18" charset="0"/>
                  <a:ea typeface="宋体" panose="02010600030101010101" pitchFamily="2" charset="-122"/>
                </a:rPr>
                <a:t>CX</a:t>
              </a:r>
              <a:endParaRPr lang="en-US" altLang="zh-CN" sz="2800" dirty="0">
                <a:latin typeface="Times New Roman" panose="02020603050405020304" pitchFamily="18" charset="0"/>
                <a:ea typeface="宋体" panose="02010600030101010101" pitchFamily="2" charset="-122"/>
              </a:endParaRPr>
            </a:p>
          </p:txBody>
        </p:sp>
        <p:sp>
          <p:nvSpPr>
            <p:cNvPr id="162895" name="Rectangle 83"/>
            <p:cNvSpPr/>
            <p:nvPr/>
          </p:nvSpPr>
          <p:spPr>
            <a:xfrm>
              <a:off x="1513" y="929"/>
              <a:ext cx="174"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zh-CN" altLang="en-US" sz="2200" b="1" dirty="0">
                  <a:latin typeface="宋体" panose="02010600030101010101" pitchFamily="2" charset="-122"/>
                  <a:ea typeface="宋体" panose="02010600030101010101" pitchFamily="2" charset="-122"/>
                </a:rPr>
                <a:t>≠</a:t>
              </a:r>
              <a:endParaRPr lang="zh-CN" altLang="en-US" sz="2800" dirty="0">
                <a:latin typeface="Times New Roman" panose="02020603050405020304" pitchFamily="18" charset="0"/>
                <a:ea typeface="宋体" panose="02010600030101010101" pitchFamily="2" charset="-122"/>
              </a:endParaRPr>
            </a:p>
          </p:txBody>
        </p:sp>
        <p:sp>
          <p:nvSpPr>
            <p:cNvPr id="162896" name="Rectangle 84"/>
            <p:cNvSpPr/>
            <p:nvPr/>
          </p:nvSpPr>
          <p:spPr>
            <a:xfrm>
              <a:off x="1678" y="923"/>
              <a:ext cx="87"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latin typeface="Times New Roman" panose="02020603050405020304" pitchFamily="18" charset="0"/>
                  <a:ea typeface="宋体" panose="02010600030101010101" pitchFamily="2" charset="-122"/>
                </a:rPr>
                <a:t>0</a:t>
              </a:r>
              <a:endParaRPr lang="en-US" altLang="zh-CN" sz="2800" dirty="0">
                <a:latin typeface="Times New Roman" panose="02020603050405020304" pitchFamily="18" charset="0"/>
                <a:ea typeface="宋体" panose="02010600030101010101" pitchFamily="2" charset="-122"/>
              </a:endParaRPr>
            </a:p>
          </p:txBody>
        </p:sp>
        <p:sp>
          <p:nvSpPr>
            <p:cNvPr id="162897" name="Rectangle 85"/>
            <p:cNvSpPr/>
            <p:nvPr/>
          </p:nvSpPr>
          <p:spPr>
            <a:xfrm>
              <a:off x="1800" y="929"/>
              <a:ext cx="174"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zh-CN" altLang="en-US" sz="2200" b="1" dirty="0">
                  <a:latin typeface="宋体" panose="02010600030101010101" pitchFamily="2" charset="-122"/>
                  <a:ea typeface="宋体" panose="02010600030101010101" pitchFamily="2" charset="-122"/>
                </a:rPr>
                <a:t>且</a:t>
              </a:r>
              <a:endParaRPr lang="zh-CN" altLang="en-US" sz="2800" dirty="0">
                <a:latin typeface="Times New Roman" panose="02020603050405020304" pitchFamily="18" charset="0"/>
                <a:ea typeface="宋体" panose="02010600030101010101" pitchFamily="2" charset="-122"/>
              </a:endParaRPr>
            </a:p>
          </p:txBody>
        </p:sp>
        <p:sp>
          <p:nvSpPr>
            <p:cNvPr id="162898" name="Rectangle 86"/>
            <p:cNvSpPr/>
            <p:nvPr/>
          </p:nvSpPr>
          <p:spPr>
            <a:xfrm>
              <a:off x="2005" y="923"/>
              <a:ext cx="409"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latin typeface="Times New Roman" panose="02020603050405020304" pitchFamily="18" charset="0"/>
                  <a:ea typeface="宋体" panose="02010600030101010101" pitchFamily="2" charset="-122"/>
                </a:rPr>
                <a:t>ZF=0</a:t>
              </a:r>
              <a:endParaRPr lang="en-US" altLang="zh-CN" sz="2800" dirty="0">
                <a:latin typeface="Times New Roman" panose="02020603050405020304" pitchFamily="18" charset="0"/>
                <a:ea typeface="宋体" panose="02010600030101010101" pitchFamily="2" charset="-122"/>
              </a:endParaRPr>
            </a:p>
          </p:txBody>
        </p:sp>
        <p:sp>
          <p:nvSpPr>
            <p:cNvPr id="162899" name="Rectangle 87"/>
            <p:cNvSpPr/>
            <p:nvPr/>
          </p:nvSpPr>
          <p:spPr>
            <a:xfrm>
              <a:off x="2861" y="923"/>
              <a:ext cx="437"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latin typeface="Times New Roman" panose="02020603050405020304" pitchFamily="18" charset="0"/>
                  <a:ea typeface="宋体" panose="02010600030101010101" pitchFamily="2" charset="-122"/>
                </a:rPr>
                <a:t>CX=0</a:t>
              </a:r>
              <a:endParaRPr lang="en-US" altLang="zh-CN" sz="2800" dirty="0">
                <a:latin typeface="Times New Roman" panose="02020603050405020304" pitchFamily="18" charset="0"/>
                <a:ea typeface="宋体" panose="02010600030101010101" pitchFamily="2" charset="-122"/>
              </a:endParaRPr>
            </a:p>
          </p:txBody>
        </p:sp>
        <p:sp>
          <p:nvSpPr>
            <p:cNvPr id="162900" name="Rectangle 88"/>
            <p:cNvSpPr/>
            <p:nvPr/>
          </p:nvSpPr>
          <p:spPr>
            <a:xfrm>
              <a:off x="3313" y="929"/>
              <a:ext cx="174"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zh-CN" altLang="en-US" sz="2200" b="1" dirty="0">
                  <a:latin typeface="宋体" panose="02010600030101010101" pitchFamily="2" charset="-122"/>
                  <a:ea typeface="宋体" panose="02010600030101010101" pitchFamily="2" charset="-122"/>
                </a:rPr>
                <a:t>或</a:t>
              </a:r>
              <a:endParaRPr lang="zh-CN" altLang="en-US" sz="2800" dirty="0">
                <a:latin typeface="Times New Roman" panose="02020603050405020304" pitchFamily="18" charset="0"/>
                <a:ea typeface="宋体" panose="02010600030101010101" pitchFamily="2" charset="-122"/>
              </a:endParaRPr>
            </a:p>
          </p:txBody>
        </p:sp>
        <p:sp>
          <p:nvSpPr>
            <p:cNvPr id="162901" name="Rectangle 89"/>
            <p:cNvSpPr/>
            <p:nvPr/>
          </p:nvSpPr>
          <p:spPr>
            <a:xfrm>
              <a:off x="3518" y="923"/>
              <a:ext cx="408" cy="177"/>
            </a:xfrm>
            <a:prstGeom prst="rect">
              <a:avLst/>
            </a:prstGeom>
            <a:noFill/>
            <a:ln w="9525">
              <a:noFill/>
            </a:ln>
          </p:spPr>
          <p:txBody>
            <a:bodyPr wrap="none" lIns="0" tIns="0" rIns="0" bIns="0">
              <a:spAutoFit/>
            </a:bodyPr>
            <a:p>
              <a:pPr>
                <a:lnSpc>
                  <a:spcPct val="90000"/>
                </a:lnSpc>
                <a:spcBef>
                  <a:spcPct val="20000"/>
                </a:spcBef>
                <a:buFont typeface="Wingdings" panose="05000000000000000000" pitchFamily="2" charset="2"/>
              </a:pPr>
              <a:r>
                <a:rPr lang="en-US" altLang="zh-CN" sz="2200" b="1" dirty="0">
                  <a:latin typeface="Times New Roman" panose="02020603050405020304" pitchFamily="18" charset="0"/>
                  <a:ea typeface="宋体" panose="02010600030101010101" pitchFamily="2" charset="-122"/>
                </a:rPr>
                <a:t>ZF=1</a:t>
              </a:r>
              <a:endParaRPr lang="en-US" altLang="zh-CN" sz="2800" dirty="0">
                <a:latin typeface="Times New Roman" panose="02020603050405020304" pitchFamily="18" charset="0"/>
                <a:ea typeface="宋体" panose="02010600030101010101" pitchFamily="2" charset="-122"/>
              </a:endParaRPr>
            </a:p>
          </p:txBody>
        </p:sp>
        <p:sp>
          <p:nvSpPr>
            <p:cNvPr id="162902" name="Line 90"/>
            <p:cNvSpPr/>
            <p:nvPr/>
          </p:nvSpPr>
          <p:spPr>
            <a:xfrm>
              <a:off x="0" y="870"/>
              <a:ext cx="2" cy="1"/>
            </a:xfrm>
            <a:prstGeom prst="line">
              <a:avLst/>
            </a:prstGeom>
            <a:ln w="0" cap="flat" cmpd="sng">
              <a:solidFill>
                <a:srgbClr val="000000"/>
              </a:solidFill>
              <a:prstDash val="solid"/>
              <a:headEnd type="none" w="med" len="med"/>
              <a:tailEnd type="none" w="med" len="med"/>
            </a:ln>
          </p:spPr>
        </p:sp>
        <p:sp>
          <p:nvSpPr>
            <p:cNvPr id="162903" name="Line 91"/>
            <p:cNvSpPr/>
            <p:nvPr/>
          </p:nvSpPr>
          <p:spPr>
            <a:xfrm>
              <a:off x="0" y="870"/>
              <a:ext cx="1" cy="3"/>
            </a:xfrm>
            <a:prstGeom prst="line">
              <a:avLst/>
            </a:prstGeom>
            <a:ln w="0" cap="flat" cmpd="sng">
              <a:solidFill>
                <a:srgbClr val="000000"/>
              </a:solidFill>
              <a:prstDash val="solid"/>
              <a:headEnd type="none" w="med" len="med"/>
              <a:tailEnd type="none" w="med" len="med"/>
            </a:ln>
          </p:spPr>
        </p:sp>
        <p:sp>
          <p:nvSpPr>
            <p:cNvPr id="162904" name="Line 92"/>
            <p:cNvSpPr/>
            <p:nvPr/>
          </p:nvSpPr>
          <p:spPr>
            <a:xfrm>
              <a:off x="2" y="870"/>
              <a:ext cx="1115" cy="1"/>
            </a:xfrm>
            <a:prstGeom prst="line">
              <a:avLst/>
            </a:prstGeom>
            <a:ln w="0" cap="flat" cmpd="sng">
              <a:solidFill>
                <a:srgbClr val="000000"/>
              </a:solidFill>
              <a:prstDash val="solid"/>
              <a:headEnd type="none" w="med" len="med"/>
              <a:tailEnd type="none" w="med" len="med"/>
            </a:ln>
          </p:spPr>
        </p:sp>
        <p:sp>
          <p:nvSpPr>
            <p:cNvPr id="162905" name="Line 93"/>
            <p:cNvSpPr/>
            <p:nvPr/>
          </p:nvSpPr>
          <p:spPr>
            <a:xfrm>
              <a:off x="1117" y="870"/>
              <a:ext cx="2" cy="1"/>
            </a:xfrm>
            <a:prstGeom prst="line">
              <a:avLst/>
            </a:prstGeom>
            <a:ln w="0" cap="flat" cmpd="sng">
              <a:solidFill>
                <a:srgbClr val="000000"/>
              </a:solidFill>
              <a:prstDash val="solid"/>
              <a:headEnd type="none" w="med" len="med"/>
              <a:tailEnd type="none" w="med" len="med"/>
            </a:ln>
          </p:spPr>
        </p:sp>
        <p:sp>
          <p:nvSpPr>
            <p:cNvPr id="162906" name="Line 94"/>
            <p:cNvSpPr/>
            <p:nvPr/>
          </p:nvSpPr>
          <p:spPr>
            <a:xfrm>
              <a:off x="1117" y="870"/>
              <a:ext cx="1" cy="3"/>
            </a:xfrm>
            <a:prstGeom prst="line">
              <a:avLst/>
            </a:prstGeom>
            <a:ln w="0" cap="flat" cmpd="sng">
              <a:solidFill>
                <a:srgbClr val="000000"/>
              </a:solidFill>
              <a:prstDash val="solid"/>
              <a:headEnd type="none" w="med" len="med"/>
              <a:tailEnd type="none" w="med" len="med"/>
            </a:ln>
          </p:spPr>
        </p:sp>
        <p:sp>
          <p:nvSpPr>
            <p:cNvPr id="162907" name="Line 95"/>
            <p:cNvSpPr/>
            <p:nvPr/>
          </p:nvSpPr>
          <p:spPr>
            <a:xfrm>
              <a:off x="1119" y="870"/>
              <a:ext cx="1424" cy="1"/>
            </a:xfrm>
            <a:prstGeom prst="line">
              <a:avLst/>
            </a:prstGeom>
            <a:ln w="0" cap="flat" cmpd="sng">
              <a:solidFill>
                <a:srgbClr val="000000"/>
              </a:solidFill>
              <a:prstDash val="solid"/>
              <a:headEnd type="none" w="med" len="med"/>
              <a:tailEnd type="none" w="med" len="med"/>
            </a:ln>
          </p:spPr>
        </p:sp>
        <p:sp>
          <p:nvSpPr>
            <p:cNvPr id="162908" name="Line 96"/>
            <p:cNvSpPr/>
            <p:nvPr/>
          </p:nvSpPr>
          <p:spPr>
            <a:xfrm>
              <a:off x="2543" y="870"/>
              <a:ext cx="2" cy="1"/>
            </a:xfrm>
            <a:prstGeom prst="line">
              <a:avLst/>
            </a:prstGeom>
            <a:ln w="0" cap="flat" cmpd="sng">
              <a:solidFill>
                <a:srgbClr val="000000"/>
              </a:solidFill>
              <a:prstDash val="solid"/>
              <a:headEnd type="none" w="med" len="med"/>
              <a:tailEnd type="none" w="med" len="med"/>
            </a:ln>
          </p:spPr>
        </p:sp>
        <p:sp>
          <p:nvSpPr>
            <p:cNvPr id="162909" name="Line 97"/>
            <p:cNvSpPr/>
            <p:nvPr/>
          </p:nvSpPr>
          <p:spPr>
            <a:xfrm>
              <a:off x="2543" y="870"/>
              <a:ext cx="1" cy="3"/>
            </a:xfrm>
            <a:prstGeom prst="line">
              <a:avLst/>
            </a:prstGeom>
            <a:ln w="0" cap="flat" cmpd="sng">
              <a:solidFill>
                <a:srgbClr val="000000"/>
              </a:solidFill>
              <a:prstDash val="solid"/>
              <a:headEnd type="none" w="med" len="med"/>
              <a:tailEnd type="none" w="med" len="med"/>
            </a:ln>
          </p:spPr>
        </p:sp>
        <p:sp>
          <p:nvSpPr>
            <p:cNvPr id="162910" name="Line 98"/>
            <p:cNvSpPr/>
            <p:nvPr/>
          </p:nvSpPr>
          <p:spPr>
            <a:xfrm>
              <a:off x="2545" y="870"/>
              <a:ext cx="1669" cy="1"/>
            </a:xfrm>
            <a:prstGeom prst="line">
              <a:avLst/>
            </a:prstGeom>
            <a:ln w="0" cap="flat" cmpd="sng">
              <a:solidFill>
                <a:srgbClr val="000000"/>
              </a:solidFill>
              <a:prstDash val="solid"/>
              <a:headEnd type="none" w="med" len="med"/>
              <a:tailEnd type="none" w="med" len="med"/>
            </a:ln>
          </p:spPr>
        </p:sp>
        <p:sp>
          <p:nvSpPr>
            <p:cNvPr id="162911" name="Line 99"/>
            <p:cNvSpPr/>
            <p:nvPr/>
          </p:nvSpPr>
          <p:spPr>
            <a:xfrm>
              <a:off x="4214" y="870"/>
              <a:ext cx="2" cy="1"/>
            </a:xfrm>
            <a:prstGeom prst="line">
              <a:avLst/>
            </a:prstGeom>
            <a:ln w="0" cap="flat" cmpd="sng">
              <a:solidFill>
                <a:srgbClr val="000000"/>
              </a:solidFill>
              <a:prstDash val="solid"/>
              <a:headEnd type="none" w="med" len="med"/>
              <a:tailEnd type="none" w="med" len="med"/>
            </a:ln>
          </p:spPr>
        </p:sp>
        <p:sp>
          <p:nvSpPr>
            <p:cNvPr id="162912" name="Line 100"/>
            <p:cNvSpPr/>
            <p:nvPr/>
          </p:nvSpPr>
          <p:spPr>
            <a:xfrm>
              <a:off x="4214" y="870"/>
              <a:ext cx="1" cy="3"/>
            </a:xfrm>
            <a:prstGeom prst="line">
              <a:avLst/>
            </a:prstGeom>
            <a:ln w="0" cap="flat" cmpd="sng">
              <a:solidFill>
                <a:srgbClr val="000000"/>
              </a:solidFill>
              <a:prstDash val="solid"/>
              <a:headEnd type="none" w="med" len="med"/>
              <a:tailEnd type="none" w="med" len="med"/>
            </a:ln>
          </p:spPr>
        </p:sp>
        <p:sp>
          <p:nvSpPr>
            <p:cNvPr id="162913" name="Line 101"/>
            <p:cNvSpPr/>
            <p:nvPr/>
          </p:nvSpPr>
          <p:spPr>
            <a:xfrm>
              <a:off x="0" y="873"/>
              <a:ext cx="1" cy="287"/>
            </a:xfrm>
            <a:prstGeom prst="line">
              <a:avLst/>
            </a:prstGeom>
            <a:ln w="0" cap="flat" cmpd="sng">
              <a:solidFill>
                <a:srgbClr val="000000"/>
              </a:solidFill>
              <a:prstDash val="solid"/>
              <a:headEnd type="none" w="med" len="med"/>
              <a:tailEnd type="none" w="med" len="med"/>
            </a:ln>
          </p:spPr>
        </p:sp>
        <p:sp>
          <p:nvSpPr>
            <p:cNvPr id="162914" name="Line 102"/>
            <p:cNvSpPr/>
            <p:nvPr/>
          </p:nvSpPr>
          <p:spPr>
            <a:xfrm>
              <a:off x="0" y="1160"/>
              <a:ext cx="2" cy="1"/>
            </a:xfrm>
            <a:prstGeom prst="line">
              <a:avLst/>
            </a:prstGeom>
            <a:ln w="0" cap="flat" cmpd="sng">
              <a:solidFill>
                <a:srgbClr val="000000"/>
              </a:solidFill>
              <a:prstDash val="solid"/>
              <a:headEnd type="none" w="med" len="med"/>
              <a:tailEnd type="none" w="med" len="med"/>
            </a:ln>
          </p:spPr>
        </p:sp>
        <p:sp>
          <p:nvSpPr>
            <p:cNvPr id="162915" name="Line 103"/>
            <p:cNvSpPr/>
            <p:nvPr/>
          </p:nvSpPr>
          <p:spPr>
            <a:xfrm>
              <a:off x="0" y="1160"/>
              <a:ext cx="1" cy="3"/>
            </a:xfrm>
            <a:prstGeom prst="line">
              <a:avLst/>
            </a:prstGeom>
            <a:ln w="0" cap="flat" cmpd="sng">
              <a:solidFill>
                <a:srgbClr val="000000"/>
              </a:solidFill>
              <a:prstDash val="solid"/>
              <a:headEnd type="none" w="med" len="med"/>
              <a:tailEnd type="none" w="med" len="med"/>
            </a:ln>
          </p:spPr>
        </p:sp>
        <p:sp>
          <p:nvSpPr>
            <p:cNvPr id="162916" name="Line 104"/>
            <p:cNvSpPr/>
            <p:nvPr/>
          </p:nvSpPr>
          <p:spPr>
            <a:xfrm>
              <a:off x="0" y="1160"/>
              <a:ext cx="2" cy="1"/>
            </a:xfrm>
            <a:prstGeom prst="line">
              <a:avLst/>
            </a:prstGeom>
            <a:ln w="0" cap="flat" cmpd="sng">
              <a:solidFill>
                <a:srgbClr val="000000"/>
              </a:solidFill>
              <a:prstDash val="solid"/>
              <a:headEnd type="none" w="med" len="med"/>
              <a:tailEnd type="none" w="med" len="med"/>
            </a:ln>
          </p:spPr>
        </p:sp>
        <p:sp>
          <p:nvSpPr>
            <p:cNvPr id="162917" name="Line 105"/>
            <p:cNvSpPr/>
            <p:nvPr/>
          </p:nvSpPr>
          <p:spPr>
            <a:xfrm>
              <a:off x="0" y="1160"/>
              <a:ext cx="1" cy="3"/>
            </a:xfrm>
            <a:prstGeom prst="line">
              <a:avLst/>
            </a:prstGeom>
            <a:ln w="0" cap="flat" cmpd="sng">
              <a:solidFill>
                <a:srgbClr val="000000"/>
              </a:solidFill>
              <a:prstDash val="solid"/>
              <a:headEnd type="none" w="med" len="med"/>
              <a:tailEnd type="none" w="med" len="med"/>
            </a:ln>
          </p:spPr>
        </p:sp>
        <p:sp>
          <p:nvSpPr>
            <p:cNvPr id="162918" name="Line 106"/>
            <p:cNvSpPr/>
            <p:nvPr/>
          </p:nvSpPr>
          <p:spPr>
            <a:xfrm>
              <a:off x="2" y="1160"/>
              <a:ext cx="1115" cy="1"/>
            </a:xfrm>
            <a:prstGeom prst="line">
              <a:avLst/>
            </a:prstGeom>
            <a:ln w="0" cap="flat" cmpd="sng">
              <a:solidFill>
                <a:srgbClr val="000000"/>
              </a:solidFill>
              <a:prstDash val="solid"/>
              <a:headEnd type="none" w="med" len="med"/>
              <a:tailEnd type="none" w="med" len="med"/>
            </a:ln>
          </p:spPr>
        </p:sp>
        <p:sp>
          <p:nvSpPr>
            <p:cNvPr id="162919" name="Rectangle 107"/>
            <p:cNvSpPr/>
            <p:nvPr/>
          </p:nvSpPr>
          <p:spPr>
            <a:xfrm>
              <a:off x="1117" y="873"/>
              <a:ext cx="2" cy="287"/>
            </a:xfrm>
            <a:prstGeom prst="rect">
              <a:avLst/>
            </a:prstGeom>
            <a:solidFill>
              <a:srgbClr val="000000"/>
            </a:solidFill>
            <a:ln w="9525">
              <a:noFill/>
            </a:ln>
          </p:spPr>
          <p:txBody>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62920" name="Line 108"/>
            <p:cNvSpPr/>
            <p:nvPr/>
          </p:nvSpPr>
          <p:spPr>
            <a:xfrm>
              <a:off x="1117" y="873"/>
              <a:ext cx="1" cy="287"/>
            </a:xfrm>
            <a:prstGeom prst="line">
              <a:avLst/>
            </a:prstGeom>
            <a:ln w="0" cap="flat" cmpd="sng">
              <a:solidFill>
                <a:srgbClr val="000000"/>
              </a:solidFill>
              <a:prstDash val="solid"/>
              <a:headEnd type="none" w="med" len="med"/>
              <a:tailEnd type="none" w="med" len="med"/>
            </a:ln>
          </p:spPr>
        </p:sp>
        <p:sp>
          <p:nvSpPr>
            <p:cNvPr id="162921" name="Line 109"/>
            <p:cNvSpPr/>
            <p:nvPr/>
          </p:nvSpPr>
          <p:spPr>
            <a:xfrm>
              <a:off x="1117" y="1160"/>
              <a:ext cx="2" cy="1"/>
            </a:xfrm>
            <a:prstGeom prst="line">
              <a:avLst/>
            </a:prstGeom>
            <a:ln w="0" cap="flat" cmpd="sng">
              <a:solidFill>
                <a:srgbClr val="000000"/>
              </a:solidFill>
              <a:prstDash val="solid"/>
              <a:headEnd type="none" w="med" len="med"/>
              <a:tailEnd type="none" w="med" len="med"/>
            </a:ln>
          </p:spPr>
        </p:sp>
        <p:sp>
          <p:nvSpPr>
            <p:cNvPr id="162922" name="Line 110"/>
            <p:cNvSpPr/>
            <p:nvPr/>
          </p:nvSpPr>
          <p:spPr>
            <a:xfrm>
              <a:off x="1117" y="1160"/>
              <a:ext cx="1" cy="3"/>
            </a:xfrm>
            <a:prstGeom prst="line">
              <a:avLst/>
            </a:prstGeom>
            <a:ln w="0" cap="flat" cmpd="sng">
              <a:solidFill>
                <a:srgbClr val="000000"/>
              </a:solidFill>
              <a:prstDash val="solid"/>
              <a:headEnd type="none" w="med" len="med"/>
              <a:tailEnd type="none" w="med" len="med"/>
            </a:ln>
          </p:spPr>
        </p:sp>
        <p:sp>
          <p:nvSpPr>
            <p:cNvPr id="162923" name="Line 111"/>
            <p:cNvSpPr/>
            <p:nvPr/>
          </p:nvSpPr>
          <p:spPr>
            <a:xfrm>
              <a:off x="1119" y="1160"/>
              <a:ext cx="1424" cy="1"/>
            </a:xfrm>
            <a:prstGeom prst="line">
              <a:avLst/>
            </a:prstGeom>
            <a:ln w="0" cap="flat" cmpd="sng">
              <a:solidFill>
                <a:srgbClr val="000000"/>
              </a:solidFill>
              <a:prstDash val="solid"/>
              <a:headEnd type="none" w="med" len="med"/>
              <a:tailEnd type="none" w="med" len="med"/>
            </a:ln>
          </p:spPr>
        </p:sp>
        <p:sp>
          <p:nvSpPr>
            <p:cNvPr id="162924" name="Line 112"/>
            <p:cNvSpPr/>
            <p:nvPr/>
          </p:nvSpPr>
          <p:spPr>
            <a:xfrm>
              <a:off x="2543" y="873"/>
              <a:ext cx="1" cy="287"/>
            </a:xfrm>
            <a:prstGeom prst="line">
              <a:avLst/>
            </a:prstGeom>
            <a:ln w="0" cap="flat" cmpd="sng">
              <a:solidFill>
                <a:srgbClr val="000000"/>
              </a:solidFill>
              <a:prstDash val="solid"/>
              <a:headEnd type="none" w="med" len="med"/>
              <a:tailEnd type="none" w="med" len="med"/>
            </a:ln>
          </p:spPr>
        </p:sp>
        <p:sp>
          <p:nvSpPr>
            <p:cNvPr id="162925" name="Line 113"/>
            <p:cNvSpPr/>
            <p:nvPr/>
          </p:nvSpPr>
          <p:spPr>
            <a:xfrm>
              <a:off x="2543" y="1160"/>
              <a:ext cx="2" cy="1"/>
            </a:xfrm>
            <a:prstGeom prst="line">
              <a:avLst/>
            </a:prstGeom>
            <a:ln w="0" cap="flat" cmpd="sng">
              <a:solidFill>
                <a:srgbClr val="000000"/>
              </a:solidFill>
              <a:prstDash val="solid"/>
              <a:headEnd type="none" w="med" len="med"/>
              <a:tailEnd type="none" w="med" len="med"/>
            </a:ln>
          </p:spPr>
        </p:sp>
        <p:sp>
          <p:nvSpPr>
            <p:cNvPr id="162926" name="Line 114"/>
            <p:cNvSpPr/>
            <p:nvPr/>
          </p:nvSpPr>
          <p:spPr>
            <a:xfrm>
              <a:off x="2543" y="1160"/>
              <a:ext cx="1" cy="3"/>
            </a:xfrm>
            <a:prstGeom prst="line">
              <a:avLst/>
            </a:prstGeom>
            <a:ln w="0" cap="flat" cmpd="sng">
              <a:solidFill>
                <a:srgbClr val="000000"/>
              </a:solidFill>
              <a:prstDash val="solid"/>
              <a:headEnd type="none" w="med" len="med"/>
              <a:tailEnd type="none" w="med" len="med"/>
            </a:ln>
          </p:spPr>
        </p:sp>
        <p:sp>
          <p:nvSpPr>
            <p:cNvPr id="162927" name="Line 115"/>
            <p:cNvSpPr/>
            <p:nvPr/>
          </p:nvSpPr>
          <p:spPr>
            <a:xfrm>
              <a:off x="2545" y="1160"/>
              <a:ext cx="1669" cy="1"/>
            </a:xfrm>
            <a:prstGeom prst="line">
              <a:avLst/>
            </a:prstGeom>
            <a:ln w="0" cap="flat" cmpd="sng">
              <a:solidFill>
                <a:srgbClr val="000000"/>
              </a:solidFill>
              <a:prstDash val="solid"/>
              <a:headEnd type="none" w="med" len="med"/>
              <a:tailEnd type="none" w="med" len="med"/>
            </a:ln>
          </p:spPr>
        </p:sp>
        <p:sp>
          <p:nvSpPr>
            <p:cNvPr id="162928" name="Line 116"/>
            <p:cNvSpPr/>
            <p:nvPr/>
          </p:nvSpPr>
          <p:spPr>
            <a:xfrm>
              <a:off x="4214" y="873"/>
              <a:ext cx="1" cy="287"/>
            </a:xfrm>
            <a:prstGeom prst="line">
              <a:avLst/>
            </a:prstGeom>
            <a:ln w="0" cap="flat" cmpd="sng">
              <a:solidFill>
                <a:srgbClr val="000000"/>
              </a:solidFill>
              <a:prstDash val="solid"/>
              <a:headEnd type="none" w="med" len="med"/>
              <a:tailEnd type="none" w="med" len="med"/>
            </a:ln>
          </p:spPr>
        </p:sp>
        <p:sp>
          <p:nvSpPr>
            <p:cNvPr id="162929" name="Line 117"/>
            <p:cNvSpPr/>
            <p:nvPr/>
          </p:nvSpPr>
          <p:spPr>
            <a:xfrm>
              <a:off x="4214" y="1160"/>
              <a:ext cx="2" cy="1"/>
            </a:xfrm>
            <a:prstGeom prst="line">
              <a:avLst/>
            </a:prstGeom>
            <a:ln w="0" cap="flat" cmpd="sng">
              <a:solidFill>
                <a:srgbClr val="000000"/>
              </a:solidFill>
              <a:prstDash val="solid"/>
              <a:headEnd type="none" w="med" len="med"/>
              <a:tailEnd type="none" w="med" len="med"/>
            </a:ln>
          </p:spPr>
        </p:sp>
        <p:sp>
          <p:nvSpPr>
            <p:cNvPr id="162930" name="Line 118"/>
            <p:cNvSpPr/>
            <p:nvPr/>
          </p:nvSpPr>
          <p:spPr>
            <a:xfrm>
              <a:off x="4214" y="1160"/>
              <a:ext cx="1" cy="3"/>
            </a:xfrm>
            <a:prstGeom prst="line">
              <a:avLst/>
            </a:prstGeom>
            <a:ln w="0" cap="flat" cmpd="sng">
              <a:solidFill>
                <a:srgbClr val="000000"/>
              </a:solidFill>
              <a:prstDash val="solid"/>
              <a:headEnd type="none" w="med" len="med"/>
              <a:tailEnd type="none" w="med" len="med"/>
            </a:ln>
          </p:spPr>
        </p:sp>
        <p:sp>
          <p:nvSpPr>
            <p:cNvPr id="162931" name="Line 119"/>
            <p:cNvSpPr/>
            <p:nvPr/>
          </p:nvSpPr>
          <p:spPr>
            <a:xfrm>
              <a:off x="4214" y="1160"/>
              <a:ext cx="2" cy="1"/>
            </a:xfrm>
            <a:prstGeom prst="line">
              <a:avLst/>
            </a:prstGeom>
            <a:ln w="0" cap="flat" cmpd="sng">
              <a:solidFill>
                <a:srgbClr val="000000"/>
              </a:solidFill>
              <a:prstDash val="solid"/>
              <a:headEnd type="none" w="med" len="med"/>
              <a:tailEnd type="none" w="med" len="med"/>
            </a:ln>
          </p:spPr>
        </p:sp>
        <p:sp>
          <p:nvSpPr>
            <p:cNvPr id="162932" name="Line 120"/>
            <p:cNvSpPr/>
            <p:nvPr/>
          </p:nvSpPr>
          <p:spPr>
            <a:xfrm>
              <a:off x="4214" y="1160"/>
              <a:ext cx="1" cy="3"/>
            </a:xfrm>
            <a:prstGeom prst="line">
              <a:avLst/>
            </a:prstGeom>
            <a:ln w="0" cap="flat" cmpd="sng">
              <a:solidFill>
                <a:srgbClr val="000000"/>
              </a:solidFill>
              <a:prstDash val="solid"/>
              <a:headEnd type="none" w="med" len="med"/>
              <a:tailEnd type="none" w="med" len="med"/>
            </a:ln>
          </p:spPr>
        </p:sp>
      </p:grpSp>
      <p:sp>
        <p:nvSpPr>
          <p:cNvPr id="118" name="Oval 121"/>
          <p:cNvSpPr/>
          <p:nvPr/>
        </p:nvSpPr>
        <p:spPr>
          <a:xfrm>
            <a:off x="1119188" y="2017713"/>
            <a:ext cx="1752600" cy="457200"/>
          </a:xfrm>
          <a:prstGeom prst="ellipse">
            <a:avLst/>
          </a:prstGeom>
          <a:noFill/>
          <a:ln w="28575" cap="flat" cmpd="sng">
            <a:solidFill>
              <a:srgbClr val="9900FF"/>
            </a:solidFill>
            <a:prstDash val="solid"/>
            <a:headEnd type="none" w="med" len="med"/>
            <a:tailEnd type="none" w="med" len="med"/>
          </a:ln>
        </p:spPr>
        <p:txBody>
          <a:bodyPr wrap="none" anchor="ctr" anchorCtr="0">
            <a:spAutoFit/>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19" name="Rectangle 122"/>
          <p:cNvSpPr/>
          <p:nvPr/>
        </p:nvSpPr>
        <p:spPr>
          <a:xfrm>
            <a:off x="5157788" y="1484313"/>
            <a:ext cx="2667000" cy="1981200"/>
          </a:xfrm>
          <a:prstGeom prst="rect">
            <a:avLst/>
          </a:prstGeom>
          <a:solidFill>
            <a:srgbClr val="FFE9FF">
              <a:alpha val="50195"/>
            </a:srgbClr>
          </a:solidFill>
          <a:ln w="9525">
            <a:noFill/>
          </a:ln>
        </p:spPr>
        <p:txBody>
          <a:bodyPr anchor="ctr" anchorCtr="0">
            <a:spAutoFit/>
          </a:bodyPr>
          <a:p>
            <a:pPr>
              <a:buFont typeface="Wingdings" panose="05000000000000000000" pitchFamily="2" charset="2"/>
            </a:pPr>
            <a:endParaRPr lang="zh-CN" altLang="en-US" sz="2800" b="1" dirty="0">
              <a:latin typeface="Times New Roman" panose="02020603050405020304" pitchFamily="18" charset="0"/>
              <a:ea typeface="宋体" panose="02010600030101010101" pitchFamily="2" charset="-122"/>
            </a:endParaRPr>
          </a:p>
        </p:txBody>
      </p:sp>
      <p:sp>
        <p:nvSpPr>
          <p:cNvPr id="162822" name="矩形 119"/>
          <p:cNvSpPr/>
          <p:nvPr/>
        </p:nvSpPr>
        <p:spPr>
          <a:xfrm>
            <a:off x="323850" y="3767138"/>
            <a:ext cx="8243888" cy="2862262"/>
          </a:xfrm>
          <a:prstGeom prst="rect">
            <a:avLst/>
          </a:prstGeom>
          <a:noFill/>
          <a:ln w="9525">
            <a:noFill/>
          </a:ln>
        </p:spPr>
        <p:txBody>
          <a:bodyPr>
            <a:spAutoFit/>
          </a:bodyPr>
          <a:p>
            <a:pPr marL="342900" indent="-342900" eaLnBrk="0" hangingPunct="0">
              <a:lnSpc>
                <a:spcPct val="150000"/>
              </a:lnSpc>
              <a:buFont typeface="Wingdings" panose="05000000000000000000" pitchFamily="2" charset="2"/>
              <a:buChar char="Ø"/>
            </a:pPr>
            <a:r>
              <a:rPr lang="en-US" altLang="zh-CN" sz="2400" dirty="0">
                <a:latin typeface="宋体" panose="02010600030101010101" pitchFamily="2" charset="-122"/>
                <a:ea typeface="宋体" panose="02010600030101010101" pitchFamily="2" charset="-122"/>
              </a:rPr>
              <a:t>LOOP</a:t>
            </a:r>
            <a:r>
              <a:rPr lang="zh-CN" altLang="en-US" sz="2400" dirty="0">
                <a:latin typeface="宋体" panose="02010600030101010101" pitchFamily="2" charset="-122"/>
                <a:ea typeface="宋体" panose="02010600030101010101" pitchFamily="2" charset="-122"/>
              </a:rPr>
              <a:t>退出循环条件是（</a:t>
            </a:r>
            <a:r>
              <a:rPr lang="en-US" altLang="zh-CN" sz="2400" dirty="0">
                <a:latin typeface="宋体" panose="02010600030101010101" pitchFamily="2" charset="-122"/>
                <a:ea typeface="宋体" panose="02010600030101010101" pitchFamily="2" charset="-122"/>
              </a:rPr>
              <a:t>CX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 0</a:t>
            </a:r>
            <a:endParaRPr lang="en-US" altLang="zh-CN" sz="2400" dirty="0">
              <a:latin typeface="宋体" panose="02010600030101010101" pitchFamily="2" charset="-122"/>
              <a:ea typeface="宋体" panose="02010600030101010101" pitchFamily="2" charset="-122"/>
            </a:endParaRPr>
          </a:p>
          <a:p>
            <a:pPr marL="342900" indent="-342900" eaLnBrk="0" hangingPunct="0">
              <a:lnSpc>
                <a:spcPct val="150000"/>
              </a:lnSpc>
              <a:buFont typeface="Wingdings" panose="05000000000000000000" pitchFamily="2" charset="2"/>
              <a:buChar char="Ø"/>
            </a:pPr>
            <a:r>
              <a:rPr lang="en-US" altLang="zh-CN" sz="2400" dirty="0">
                <a:latin typeface="宋体" panose="02010600030101010101" pitchFamily="2" charset="-122"/>
                <a:ea typeface="宋体" panose="02010600030101010101" pitchFamily="2" charset="-122"/>
              </a:rPr>
              <a:t>LOOPZ</a:t>
            </a:r>
            <a:r>
              <a:rPr lang="zh-CN" altLang="en-US" sz="2400" dirty="0">
                <a:latin typeface="宋体" panose="02010600030101010101" pitchFamily="2" charset="-122"/>
                <a:ea typeface="宋体" panose="02010600030101010101" pitchFamily="2" charset="-122"/>
              </a:rPr>
              <a:t>和</a:t>
            </a:r>
            <a:r>
              <a:rPr lang="en-US" altLang="zh-CN" sz="2400" dirty="0">
                <a:latin typeface="宋体" panose="02010600030101010101" pitchFamily="2" charset="-122"/>
                <a:ea typeface="宋体" panose="02010600030101010101" pitchFamily="2" charset="-122"/>
              </a:rPr>
              <a:t>LOOPNZ</a:t>
            </a:r>
            <a:r>
              <a:rPr lang="zh-CN" altLang="en-US" sz="2400" dirty="0">
                <a:latin typeface="宋体" panose="02010600030101010101" pitchFamily="2" charset="-122"/>
                <a:ea typeface="宋体" panose="02010600030101010101" pitchFamily="2" charset="-122"/>
              </a:rPr>
              <a:t>提供了提前结束循环的可能，不一定要等到</a:t>
            </a:r>
            <a:r>
              <a:rPr lang="en-US" altLang="zh-CN" sz="2400" dirty="0">
                <a:latin typeface="宋体" panose="02010600030101010101" pitchFamily="2" charset="-122"/>
                <a:ea typeface="宋体" panose="02010600030101010101" pitchFamily="2" charset="-122"/>
              </a:rPr>
              <a:t>(CX)= 0</a:t>
            </a:r>
            <a:r>
              <a:rPr lang="zh-CN" altLang="en-US" sz="2400" dirty="0">
                <a:latin typeface="宋体" panose="02010600030101010101" pitchFamily="2" charset="-122"/>
                <a:ea typeface="宋体" panose="02010600030101010101" pitchFamily="2" charset="-122"/>
              </a:rPr>
              <a:t>才退出循环：</a:t>
            </a:r>
            <a:endParaRPr lang="en-US" altLang="zh-CN" sz="2400" dirty="0">
              <a:latin typeface="宋体" panose="02010600030101010101" pitchFamily="2" charset="-122"/>
              <a:ea typeface="宋体" panose="02010600030101010101" pitchFamily="2" charset="-122"/>
            </a:endParaRPr>
          </a:p>
          <a:p>
            <a:pPr marL="342900" indent="-342900" eaLnBrk="0" hangingPunct="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在串中查找字符，不相等时继续查找，使用指令</a:t>
            </a:r>
            <a:r>
              <a:rPr lang="en-US" altLang="zh-CN" sz="2400" dirty="0">
                <a:latin typeface="宋体" panose="02010600030101010101" pitchFamily="2" charset="-122"/>
                <a:ea typeface="宋体" panose="02010600030101010101" pitchFamily="2" charset="-122"/>
              </a:rPr>
              <a:t>LOOPNZ</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marL="342900" indent="-342900" eaLnBrk="0" hangingPunct="0">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比较两串时，当有字符不等就可退出，使用指令</a:t>
            </a:r>
            <a:r>
              <a:rPr lang="en-US" altLang="zh-CN" sz="2400" dirty="0">
                <a:latin typeface="宋体" panose="02010600030101010101" pitchFamily="2" charset="-122"/>
                <a:ea typeface="宋体" panose="02010600030101010101" pitchFamily="2" charset="-122"/>
              </a:rPr>
              <a:t>LOOPZ</a:t>
            </a:r>
            <a:r>
              <a:rPr lang="zh-CN" altLang="en-US"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Right)">
                                      <p:cBhvr>
                                        <p:cTn id="12" dur="500"/>
                                        <p:tgtEl>
                                          <p:spTgt spid="2"/>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19"/>
                                        </p:tgtEl>
                                        <p:attrNameLst>
                                          <p:attrName>style.visibility</p:attrName>
                                        </p:attrNameLst>
                                      </p:cBhvr>
                                      <p:to>
                                        <p:strVal val="visible"/>
                                      </p:to>
                                    </p:set>
                                    <p:animEffect transition="in" filter="blinds(horizontal)">
                                      <p:cBhvr>
                                        <p:cTn id="16" dur="500"/>
                                        <p:tgtEl>
                                          <p:spTgt spid="119"/>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12" fill="hold" grpId="0" nodeType="clickEffect">
                                  <p:stCondLst>
                                    <p:cond delay="0"/>
                                  </p:stCondLst>
                                  <p:childTnLst>
                                    <p:set>
                                      <p:cBhvr>
                                        <p:cTn id="20" dur="1" fill="hold">
                                          <p:stCondLst>
                                            <p:cond delay="0"/>
                                          </p:stCondLst>
                                        </p:cTn>
                                        <p:tgtEl>
                                          <p:spTgt spid="118"/>
                                        </p:tgtEl>
                                        <p:attrNameLst>
                                          <p:attrName>style.visibility</p:attrName>
                                        </p:attrNameLst>
                                      </p:cBhvr>
                                      <p:to>
                                        <p:strVal val="visible"/>
                                      </p:to>
                                    </p:set>
                                    <p:animEffect transition="in" filter="strips(downLeft)">
                                      <p:cBhvr>
                                        <p:cTn id="21"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8" grpId="0" animBg="1"/>
      <p:bldP spid="119" grpId="0"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Rectangle 7"/>
          <p:cNvSpPr/>
          <p:nvPr/>
        </p:nvSpPr>
        <p:spPr>
          <a:xfrm>
            <a:off x="5246688" y="6537325"/>
            <a:ext cx="3276600" cy="336550"/>
          </a:xfrm>
          <a:prstGeom prst="rect">
            <a:avLst/>
          </a:prstGeom>
          <a:solidFill>
            <a:schemeClr val="bg1"/>
          </a:solidFill>
          <a:ln w="9525">
            <a:noFill/>
          </a:ln>
        </p:spPr>
        <p:txBody>
          <a:bodyPr wrap="none" anchor="ctr" anchorCtr="0"/>
          <a:p>
            <a:pPr eaLnBrk="0" hangingPunct="0">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163843" name="AutoShape 8"/>
          <p:cNvSpPr/>
          <p:nvPr/>
        </p:nvSpPr>
        <p:spPr>
          <a:xfrm>
            <a:off x="611188" y="992188"/>
            <a:ext cx="3240087" cy="457200"/>
          </a:xfrm>
          <a:prstGeom prst="flowChartAlternateProcess">
            <a:avLst/>
          </a:prstGeom>
          <a:noFill/>
          <a:ln w="28575" cap="flat" cmpd="sng">
            <a:solidFill>
              <a:schemeClr val="bg1"/>
            </a:solidFill>
            <a:prstDash val="solid"/>
            <a:miter/>
            <a:headEnd type="none" w="med" len="med"/>
            <a:tailEnd type="none" w="med" len="med"/>
          </a:ln>
        </p:spPr>
        <p:txBody>
          <a:bodyPr/>
          <a:p>
            <a:pPr eaLnBrk="0" hangingPunct="0">
              <a:lnSpc>
                <a:spcPct val="90000"/>
              </a:lnSpc>
              <a:buFont typeface="Wingdings" panose="05000000000000000000" pitchFamily="2" charset="2"/>
            </a:pP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例</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记录空格个数</a:t>
            </a:r>
            <a:endParaRPr lang="zh-CN" altLang="en-US" sz="2400" b="1" dirty="0">
              <a:latin typeface="宋体" panose="02010600030101010101" pitchFamily="2" charset="-122"/>
              <a:ea typeface="宋体" panose="02010600030101010101" pitchFamily="2" charset="-122"/>
            </a:endParaRPr>
          </a:p>
        </p:txBody>
      </p:sp>
      <p:sp>
        <p:nvSpPr>
          <p:cNvPr id="163844" name="Rectangle 9"/>
          <p:cNvSpPr txBox="1"/>
          <p:nvPr/>
        </p:nvSpPr>
        <p:spPr>
          <a:xfrm>
            <a:off x="611188" y="1462088"/>
            <a:ext cx="7032625" cy="4754562"/>
          </a:xfrm>
          <a:prstGeom prst="rect">
            <a:avLst/>
          </a:prstGeom>
          <a:solidFill>
            <a:schemeClr val="bg1"/>
          </a:solidFill>
          <a:ln w="9525">
            <a:noFill/>
          </a:ln>
        </p:spPr>
        <p:txBody>
          <a:bodyPr/>
          <a:p>
            <a:pPr defTabSz="914400" eaLnBrk="0" hangingPunct="0">
              <a:spcBef>
                <a:spcPct val="20000"/>
              </a:spcBef>
              <a:buClr>
                <a:schemeClr val="hlink"/>
              </a:buClr>
              <a:buFont typeface="Wingdings" panose="05000000000000000000" pitchFamily="2" charset="2"/>
              <a:tabLst>
                <a:tab pos="1336675" algn="l"/>
                <a:tab pos="3583305" algn="l"/>
              </a:tabLst>
            </a:pPr>
            <a:r>
              <a:rPr lang="en-US" altLang="zh-CN" sz="2400" b="1" dirty="0">
                <a:solidFill>
                  <a:schemeClr val="accent2"/>
                </a:solidFill>
                <a:latin typeface="宋体" panose="02010600030101010101" pitchFamily="2" charset="-122"/>
                <a:ea typeface="宋体" panose="02010600030101010101" pitchFamily="2" charset="-122"/>
              </a:rPr>
              <a:t>	</a:t>
            </a:r>
            <a:r>
              <a:rPr lang="en-US" altLang="zh-CN" sz="2400" b="1" dirty="0">
                <a:solidFill>
                  <a:schemeClr val="tx2"/>
                </a:solidFill>
                <a:latin typeface="宋体" panose="02010600030101010101" pitchFamily="2" charset="-122"/>
                <a:ea typeface="宋体" panose="02010600030101010101" pitchFamily="2" charset="-122"/>
              </a:rPr>
              <a:t>mov cx,count</a:t>
            </a:r>
            <a:r>
              <a:rPr lang="en-US" altLang="zh-CN" sz="2400" b="1" dirty="0">
                <a:solidFill>
                  <a:schemeClr val="accent2"/>
                </a:solidFill>
                <a:latin typeface="宋体" panose="02010600030101010101" pitchFamily="2" charset="-122"/>
                <a:ea typeface="宋体" panose="02010600030101010101" pitchFamily="2" charset="-122"/>
              </a:rPr>
              <a:t>	</a:t>
            </a:r>
            <a:r>
              <a:rPr lang="zh-CN" altLang="en-US" sz="2400" b="1" dirty="0">
                <a:solidFill>
                  <a:schemeClr val="accent2"/>
                </a:solidFill>
                <a:latin typeface="宋体" panose="02010600030101010101" pitchFamily="2" charset="-122"/>
                <a:ea typeface="宋体" panose="02010600030101010101" pitchFamily="2" charset="-122"/>
              </a:rPr>
              <a:t>；设置循环次数</a:t>
            </a:r>
            <a:endParaRPr lang="zh-CN" altLang="en-US" sz="2400" b="1" dirty="0">
              <a:solidFill>
                <a:schemeClr val="accent2"/>
              </a:solidFill>
              <a:latin typeface="宋体" panose="02010600030101010101" pitchFamily="2" charset="-122"/>
              <a:ea typeface="宋体" panose="02010600030101010101" pitchFamily="2" charset="-122"/>
            </a:endParaRPr>
          </a:p>
          <a:p>
            <a:pPr defTabSz="914400" eaLnBrk="0" hangingPunct="0">
              <a:spcBef>
                <a:spcPct val="20000"/>
              </a:spcBef>
              <a:buClr>
                <a:schemeClr val="hlink"/>
              </a:buClr>
              <a:buFont typeface="Wingdings" panose="05000000000000000000" pitchFamily="2" charset="2"/>
              <a:tabLst>
                <a:tab pos="1336675" algn="l"/>
                <a:tab pos="3583305" algn="l"/>
              </a:tabLst>
            </a:pPr>
            <a:r>
              <a:rPr lang="zh-CN" altLang="en-US" sz="2400" b="1" dirty="0">
                <a:solidFill>
                  <a:schemeClr val="accent2"/>
                </a:solidFill>
                <a:latin typeface="宋体" panose="02010600030101010101" pitchFamily="2" charset="-122"/>
                <a:ea typeface="宋体" panose="02010600030101010101" pitchFamily="2" charset="-122"/>
              </a:rPr>
              <a:t>	</a:t>
            </a:r>
            <a:r>
              <a:rPr lang="en-US" altLang="zh-CN" sz="2400" b="1" dirty="0">
                <a:solidFill>
                  <a:schemeClr val="accent2"/>
                </a:solidFill>
                <a:latin typeface="宋体" panose="02010600030101010101" pitchFamily="2" charset="-122"/>
                <a:ea typeface="宋体" panose="02010600030101010101" pitchFamily="2" charset="-122"/>
              </a:rPr>
              <a:t>mov si,offset string</a:t>
            </a:r>
            <a:endParaRPr lang="en-US" altLang="zh-CN" sz="2400" b="1" dirty="0">
              <a:solidFill>
                <a:schemeClr val="accent2"/>
              </a:solidFill>
              <a:latin typeface="宋体" panose="02010600030101010101" pitchFamily="2" charset="-122"/>
              <a:ea typeface="宋体" panose="02010600030101010101" pitchFamily="2" charset="-122"/>
            </a:endParaRPr>
          </a:p>
          <a:p>
            <a:pPr defTabSz="914400" eaLnBrk="0" hangingPunct="0">
              <a:spcBef>
                <a:spcPct val="20000"/>
              </a:spcBef>
              <a:buClr>
                <a:schemeClr val="hlink"/>
              </a:buClr>
              <a:buFont typeface="Wingdings" panose="05000000000000000000" pitchFamily="2" charset="2"/>
              <a:tabLst>
                <a:tab pos="1336675" algn="l"/>
                <a:tab pos="3583305" algn="l"/>
              </a:tabLst>
            </a:pPr>
            <a:r>
              <a:rPr lang="en-US" altLang="zh-CN" sz="2400" b="1" dirty="0">
                <a:solidFill>
                  <a:schemeClr val="accent2"/>
                </a:solidFill>
                <a:latin typeface="宋体" panose="02010600030101010101" pitchFamily="2" charset="-122"/>
                <a:ea typeface="宋体" panose="02010600030101010101" pitchFamily="2" charset="-122"/>
              </a:rPr>
              <a:t>	xor bx,bx	</a:t>
            </a:r>
            <a:r>
              <a:rPr lang="zh-CN" altLang="en-US" sz="2400" b="1" dirty="0">
                <a:solidFill>
                  <a:schemeClr val="accent2"/>
                </a:solidFill>
                <a:latin typeface="宋体" panose="02010600030101010101" pitchFamily="2" charset="-122"/>
                <a:ea typeface="宋体" panose="02010600030101010101" pitchFamily="2" charset="-122"/>
              </a:rPr>
              <a:t>；</a:t>
            </a:r>
            <a:r>
              <a:rPr lang="en-US" altLang="zh-CN" sz="2400" b="1" dirty="0">
                <a:solidFill>
                  <a:schemeClr val="accent2"/>
                </a:solidFill>
                <a:latin typeface="宋体" panose="02010600030101010101" pitchFamily="2" charset="-122"/>
                <a:ea typeface="宋体" panose="02010600030101010101" pitchFamily="2" charset="-122"/>
              </a:rPr>
              <a:t>bx</a:t>
            </a:r>
            <a:r>
              <a:rPr lang="zh-CN" altLang="en-US" sz="2400" b="1" dirty="0">
                <a:solidFill>
                  <a:schemeClr val="accent2"/>
                </a:solidFill>
                <a:latin typeface="宋体" panose="02010600030101010101" pitchFamily="2" charset="-122"/>
                <a:ea typeface="宋体" panose="02010600030101010101" pitchFamily="2" charset="-122"/>
              </a:rPr>
              <a:t>＝</a:t>
            </a:r>
            <a:r>
              <a:rPr lang="en-US" altLang="zh-CN" sz="2400" b="1" dirty="0">
                <a:solidFill>
                  <a:schemeClr val="accent2"/>
                </a:solidFill>
                <a:latin typeface="宋体" panose="02010600030101010101" pitchFamily="2" charset="-122"/>
                <a:ea typeface="宋体" panose="02010600030101010101" pitchFamily="2" charset="-122"/>
              </a:rPr>
              <a:t>0</a:t>
            </a:r>
            <a:r>
              <a:rPr lang="zh-CN" altLang="en-US" sz="2400" b="1" dirty="0">
                <a:solidFill>
                  <a:schemeClr val="accent2"/>
                </a:solidFill>
                <a:latin typeface="宋体" panose="02010600030101010101" pitchFamily="2" charset="-122"/>
                <a:ea typeface="宋体" panose="02010600030101010101" pitchFamily="2" charset="-122"/>
              </a:rPr>
              <a:t>，记录空格数</a:t>
            </a:r>
            <a:endParaRPr lang="zh-CN" altLang="en-US" sz="2400" b="1" dirty="0">
              <a:solidFill>
                <a:schemeClr val="accent2"/>
              </a:solidFill>
              <a:latin typeface="宋体" panose="02010600030101010101" pitchFamily="2" charset="-122"/>
              <a:ea typeface="宋体" panose="02010600030101010101" pitchFamily="2" charset="-122"/>
            </a:endParaRPr>
          </a:p>
          <a:p>
            <a:pPr defTabSz="914400" eaLnBrk="0" hangingPunct="0">
              <a:spcBef>
                <a:spcPct val="20000"/>
              </a:spcBef>
              <a:buClr>
                <a:schemeClr val="hlink"/>
              </a:buClr>
              <a:buFont typeface="Wingdings" panose="05000000000000000000" pitchFamily="2" charset="2"/>
              <a:tabLst>
                <a:tab pos="1336675" algn="l"/>
                <a:tab pos="3583305" algn="l"/>
              </a:tabLst>
            </a:pPr>
            <a:r>
              <a:rPr lang="zh-CN" altLang="en-US" sz="2400" b="1" dirty="0">
                <a:solidFill>
                  <a:schemeClr val="accent2"/>
                </a:solidFill>
                <a:latin typeface="宋体" panose="02010600030101010101" pitchFamily="2" charset="-122"/>
                <a:ea typeface="宋体" panose="02010600030101010101" pitchFamily="2" charset="-122"/>
              </a:rPr>
              <a:t>	</a:t>
            </a:r>
            <a:r>
              <a:rPr lang="en-US" altLang="zh-CN" sz="2400" b="1" dirty="0">
                <a:solidFill>
                  <a:schemeClr val="tx2"/>
                </a:solidFill>
                <a:latin typeface="宋体" panose="02010600030101010101" pitchFamily="2" charset="-122"/>
                <a:ea typeface="宋体" panose="02010600030101010101" pitchFamily="2" charset="-122"/>
              </a:rPr>
              <a:t>jcxz done      </a:t>
            </a:r>
            <a:r>
              <a:rPr lang="zh-CN" altLang="en-US" sz="2400" b="1" dirty="0">
                <a:solidFill>
                  <a:schemeClr val="tx2"/>
                </a:solidFill>
                <a:latin typeface="宋体" panose="02010600030101010101" pitchFamily="2" charset="-122"/>
                <a:ea typeface="宋体" panose="02010600030101010101" pitchFamily="2" charset="-122"/>
              </a:rPr>
              <a:t>；如果长度为</a:t>
            </a:r>
            <a:r>
              <a:rPr lang="en-US" altLang="zh-CN" sz="2400" b="1" dirty="0">
                <a:solidFill>
                  <a:schemeClr val="tx2"/>
                </a:solidFill>
                <a:latin typeface="宋体" panose="02010600030101010101" pitchFamily="2" charset="-122"/>
                <a:ea typeface="宋体" panose="02010600030101010101" pitchFamily="2" charset="-122"/>
              </a:rPr>
              <a:t>0</a:t>
            </a:r>
            <a:r>
              <a:rPr lang="zh-CN" altLang="en-US" sz="2400" b="1" dirty="0">
                <a:solidFill>
                  <a:schemeClr val="tx2"/>
                </a:solidFill>
                <a:latin typeface="宋体" panose="02010600030101010101" pitchFamily="2" charset="-122"/>
                <a:ea typeface="宋体" panose="02010600030101010101" pitchFamily="2" charset="-122"/>
              </a:rPr>
              <a:t>，退出</a:t>
            </a:r>
            <a:endParaRPr lang="en-US" altLang="zh-CN" sz="2400" b="1" dirty="0">
              <a:solidFill>
                <a:schemeClr val="tx2"/>
              </a:solidFill>
              <a:latin typeface="宋体" panose="02010600030101010101" pitchFamily="2" charset="-122"/>
              <a:ea typeface="宋体" panose="02010600030101010101" pitchFamily="2" charset="-122"/>
            </a:endParaRPr>
          </a:p>
          <a:p>
            <a:pPr defTabSz="914400" eaLnBrk="0" hangingPunct="0">
              <a:spcBef>
                <a:spcPct val="20000"/>
              </a:spcBef>
              <a:buClr>
                <a:schemeClr val="hlink"/>
              </a:buClr>
              <a:buFont typeface="Wingdings" panose="05000000000000000000" pitchFamily="2" charset="2"/>
              <a:tabLst>
                <a:tab pos="1336675" algn="l"/>
                <a:tab pos="3583305" algn="l"/>
              </a:tabLst>
            </a:pPr>
            <a:r>
              <a:rPr lang="en-US" altLang="zh-CN" sz="2400" b="1" dirty="0">
                <a:solidFill>
                  <a:schemeClr val="accent2"/>
                </a:solidFill>
                <a:latin typeface="宋体" panose="02010600030101010101" pitchFamily="2" charset="-122"/>
                <a:ea typeface="宋体" panose="02010600030101010101" pitchFamily="2" charset="-122"/>
              </a:rPr>
              <a:t>	mov al,20h	</a:t>
            </a:r>
            <a:endParaRPr lang="en-US" altLang="zh-CN" sz="2400" b="1" dirty="0">
              <a:solidFill>
                <a:schemeClr val="accent2"/>
              </a:solidFill>
              <a:latin typeface="宋体" panose="02010600030101010101" pitchFamily="2" charset="-122"/>
              <a:ea typeface="宋体" panose="02010600030101010101" pitchFamily="2" charset="-122"/>
            </a:endParaRPr>
          </a:p>
          <a:p>
            <a:pPr defTabSz="914400" eaLnBrk="0" hangingPunct="0">
              <a:spcBef>
                <a:spcPct val="20000"/>
              </a:spcBef>
              <a:buClr>
                <a:schemeClr val="hlink"/>
              </a:buClr>
              <a:buFont typeface="Wingdings" panose="05000000000000000000" pitchFamily="2" charset="2"/>
              <a:tabLst>
                <a:tab pos="1336675" algn="l"/>
                <a:tab pos="3583305" algn="l"/>
              </a:tabLst>
            </a:pPr>
            <a:r>
              <a:rPr lang="en-US" altLang="zh-CN" sz="2400" b="1" dirty="0">
                <a:solidFill>
                  <a:schemeClr val="tx2"/>
                </a:solidFill>
                <a:latin typeface="宋体" panose="02010600030101010101" pitchFamily="2" charset="-122"/>
                <a:ea typeface="宋体" panose="02010600030101010101" pitchFamily="2" charset="-122"/>
              </a:rPr>
              <a:t>again:</a:t>
            </a:r>
            <a:r>
              <a:rPr lang="en-US" altLang="zh-CN" sz="2400" b="1" dirty="0">
                <a:solidFill>
                  <a:schemeClr val="accent2"/>
                </a:solidFill>
                <a:latin typeface="宋体" panose="02010600030101010101" pitchFamily="2" charset="-122"/>
                <a:ea typeface="宋体" panose="02010600030101010101" pitchFamily="2" charset="-122"/>
              </a:rPr>
              <a:t>	cmp al,es:[si]</a:t>
            </a:r>
            <a:endParaRPr lang="en-US" altLang="zh-CN" sz="2400" b="1" dirty="0">
              <a:solidFill>
                <a:schemeClr val="accent2"/>
              </a:solidFill>
              <a:latin typeface="宋体" panose="02010600030101010101" pitchFamily="2" charset="-122"/>
              <a:ea typeface="宋体" panose="02010600030101010101" pitchFamily="2" charset="-122"/>
            </a:endParaRPr>
          </a:p>
          <a:p>
            <a:pPr defTabSz="914400" eaLnBrk="0" hangingPunct="0">
              <a:spcBef>
                <a:spcPct val="20000"/>
              </a:spcBef>
              <a:buClr>
                <a:schemeClr val="hlink"/>
              </a:buClr>
              <a:buFont typeface="Wingdings" panose="05000000000000000000" pitchFamily="2" charset="2"/>
              <a:tabLst>
                <a:tab pos="1336675" algn="l"/>
                <a:tab pos="3583305" algn="l"/>
              </a:tabLst>
            </a:pPr>
            <a:r>
              <a:rPr lang="en-US" altLang="zh-CN" sz="2400" b="1" dirty="0">
                <a:solidFill>
                  <a:schemeClr val="accent2"/>
                </a:solidFill>
                <a:latin typeface="宋体" panose="02010600030101010101" pitchFamily="2" charset="-122"/>
                <a:ea typeface="宋体" panose="02010600030101010101" pitchFamily="2" charset="-122"/>
              </a:rPr>
              <a:t>	jnz next	</a:t>
            </a:r>
            <a:r>
              <a:rPr lang="zh-CN" altLang="en-US" sz="2400" b="1" dirty="0">
                <a:solidFill>
                  <a:schemeClr val="accent2"/>
                </a:solidFill>
                <a:latin typeface="宋体" panose="02010600030101010101" pitchFamily="2" charset="-122"/>
                <a:ea typeface="宋体" panose="02010600030101010101" pitchFamily="2" charset="-122"/>
              </a:rPr>
              <a:t>；</a:t>
            </a:r>
            <a:r>
              <a:rPr lang="en-US" altLang="zh-CN" sz="2400" b="1" dirty="0">
                <a:solidFill>
                  <a:schemeClr val="accent2"/>
                </a:solidFill>
                <a:latin typeface="宋体" panose="02010600030101010101" pitchFamily="2" charset="-122"/>
                <a:ea typeface="宋体" panose="02010600030101010101" pitchFamily="2" charset="-122"/>
              </a:rPr>
              <a:t>ZF</a:t>
            </a:r>
            <a:r>
              <a:rPr lang="zh-CN" altLang="en-US" sz="2400" b="1" dirty="0">
                <a:solidFill>
                  <a:schemeClr val="accent2"/>
                </a:solidFill>
                <a:latin typeface="宋体" panose="02010600030101010101" pitchFamily="2" charset="-122"/>
                <a:ea typeface="宋体" panose="02010600030101010101" pitchFamily="2" charset="-122"/>
              </a:rPr>
              <a:t>＝</a:t>
            </a:r>
            <a:r>
              <a:rPr lang="en-US" altLang="zh-CN" sz="2400" b="1" dirty="0">
                <a:solidFill>
                  <a:schemeClr val="accent2"/>
                </a:solidFill>
                <a:latin typeface="宋体" panose="02010600030101010101" pitchFamily="2" charset="-122"/>
                <a:ea typeface="宋体" panose="02010600030101010101" pitchFamily="2" charset="-122"/>
              </a:rPr>
              <a:t>0</a:t>
            </a:r>
            <a:r>
              <a:rPr lang="zh-CN" altLang="en-US" sz="2400" b="1" dirty="0">
                <a:solidFill>
                  <a:schemeClr val="accent2"/>
                </a:solidFill>
                <a:latin typeface="宋体" panose="02010600030101010101" pitchFamily="2" charset="-122"/>
                <a:ea typeface="宋体" panose="02010600030101010101" pitchFamily="2" charset="-122"/>
              </a:rPr>
              <a:t>非空格，转移</a:t>
            </a:r>
            <a:endParaRPr lang="zh-CN" altLang="en-US" sz="2400" b="1" dirty="0">
              <a:solidFill>
                <a:schemeClr val="accent2"/>
              </a:solidFill>
              <a:latin typeface="宋体" panose="02010600030101010101" pitchFamily="2" charset="-122"/>
              <a:ea typeface="宋体" panose="02010600030101010101" pitchFamily="2" charset="-122"/>
            </a:endParaRPr>
          </a:p>
          <a:p>
            <a:pPr defTabSz="914400" eaLnBrk="0" hangingPunct="0">
              <a:spcBef>
                <a:spcPct val="20000"/>
              </a:spcBef>
              <a:buClr>
                <a:schemeClr val="hlink"/>
              </a:buClr>
              <a:buFont typeface="Wingdings" panose="05000000000000000000" pitchFamily="2" charset="2"/>
              <a:tabLst>
                <a:tab pos="1336675" algn="l"/>
                <a:tab pos="3583305" algn="l"/>
              </a:tabLst>
            </a:pPr>
            <a:r>
              <a:rPr lang="zh-CN" altLang="en-US" sz="2400" b="1" dirty="0">
                <a:solidFill>
                  <a:schemeClr val="accent2"/>
                </a:solidFill>
                <a:latin typeface="宋体" panose="02010600030101010101" pitchFamily="2" charset="-122"/>
                <a:ea typeface="宋体" panose="02010600030101010101" pitchFamily="2" charset="-122"/>
              </a:rPr>
              <a:t>	</a:t>
            </a:r>
            <a:r>
              <a:rPr lang="en-US" altLang="zh-CN" sz="2400" b="1" dirty="0">
                <a:solidFill>
                  <a:schemeClr val="accent2"/>
                </a:solidFill>
                <a:latin typeface="宋体" panose="02010600030101010101" pitchFamily="2" charset="-122"/>
                <a:ea typeface="宋体" panose="02010600030101010101" pitchFamily="2" charset="-122"/>
              </a:rPr>
              <a:t>inc bx	</a:t>
            </a:r>
            <a:r>
              <a:rPr lang="zh-CN" altLang="en-US" sz="2400" b="1" dirty="0">
                <a:solidFill>
                  <a:schemeClr val="accent2"/>
                </a:solidFill>
                <a:latin typeface="宋体" panose="02010600030101010101" pitchFamily="2" charset="-122"/>
                <a:ea typeface="宋体" panose="02010600030101010101" pitchFamily="2" charset="-122"/>
              </a:rPr>
              <a:t>；</a:t>
            </a:r>
            <a:r>
              <a:rPr lang="en-US" altLang="zh-CN" sz="2400" b="1" dirty="0">
                <a:solidFill>
                  <a:schemeClr val="accent2"/>
                </a:solidFill>
                <a:latin typeface="宋体" panose="02010600030101010101" pitchFamily="2" charset="-122"/>
                <a:ea typeface="宋体" panose="02010600030101010101" pitchFamily="2" charset="-122"/>
              </a:rPr>
              <a:t>ZF=1</a:t>
            </a:r>
            <a:r>
              <a:rPr lang="zh-CN" altLang="en-US" sz="2400" b="1" dirty="0">
                <a:solidFill>
                  <a:schemeClr val="accent2"/>
                </a:solidFill>
                <a:latin typeface="宋体" panose="02010600030101010101" pitchFamily="2" charset="-122"/>
                <a:ea typeface="宋体" panose="02010600030101010101" pitchFamily="2" charset="-122"/>
              </a:rPr>
              <a:t>是空格，个数加</a:t>
            </a:r>
            <a:r>
              <a:rPr lang="en-US" altLang="zh-CN" sz="2400" b="1" dirty="0">
                <a:solidFill>
                  <a:schemeClr val="accent2"/>
                </a:solidFill>
                <a:latin typeface="宋体" panose="02010600030101010101" pitchFamily="2" charset="-122"/>
                <a:ea typeface="宋体" panose="02010600030101010101" pitchFamily="2" charset="-122"/>
              </a:rPr>
              <a:t>1</a:t>
            </a:r>
            <a:endParaRPr lang="en-US" altLang="zh-CN" sz="2400" b="1" dirty="0">
              <a:solidFill>
                <a:schemeClr val="accent2"/>
              </a:solidFill>
              <a:latin typeface="宋体" panose="02010600030101010101" pitchFamily="2" charset="-122"/>
              <a:ea typeface="宋体" panose="02010600030101010101" pitchFamily="2" charset="-122"/>
            </a:endParaRPr>
          </a:p>
          <a:p>
            <a:pPr defTabSz="914400" eaLnBrk="0" hangingPunct="0">
              <a:spcBef>
                <a:spcPct val="20000"/>
              </a:spcBef>
              <a:buClr>
                <a:schemeClr val="hlink"/>
              </a:buClr>
              <a:buFont typeface="Wingdings" panose="05000000000000000000" pitchFamily="2" charset="2"/>
              <a:tabLst>
                <a:tab pos="1336675" algn="l"/>
                <a:tab pos="3583305" algn="l"/>
              </a:tabLst>
            </a:pPr>
            <a:r>
              <a:rPr lang="en-US" altLang="zh-CN" sz="2400" b="1" dirty="0">
                <a:solidFill>
                  <a:schemeClr val="accent2"/>
                </a:solidFill>
                <a:latin typeface="宋体" panose="02010600030101010101" pitchFamily="2" charset="-122"/>
                <a:ea typeface="宋体" panose="02010600030101010101" pitchFamily="2" charset="-122"/>
              </a:rPr>
              <a:t>next:	inc si</a:t>
            </a:r>
            <a:endParaRPr lang="en-US" altLang="zh-CN" sz="2400" b="1" dirty="0">
              <a:solidFill>
                <a:schemeClr val="accent2"/>
              </a:solidFill>
              <a:latin typeface="宋体" panose="02010600030101010101" pitchFamily="2" charset="-122"/>
              <a:ea typeface="宋体" panose="02010600030101010101" pitchFamily="2" charset="-122"/>
            </a:endParaRPr>
          </a:p>
          <a:p>
            <a:pPr defTabSz="914400" eaLnBrk="0" hangingPunct="0">
              <a:spcBef>
                <a:spcPct val="20000"/>
              </a:spcBef>
              <a:buClr>
                <a:schemeClr val="hlink"/>
              </a:buClr>
              <a:buFont typeface="Wingdings" panose="05000000000000000000" pitchFamily="2" charset="2"/>
              <a:tabLst>
                <a:tab pos="1336675" algn="l"/>
                <a:tab pos="3583305" algn="l"/>
              </a:tabLst>
            </a:pPr>
            <a:r>
              <a:rPr lang="en-US" altLang="zh-CN" sz="2400" b="1" dirty="0">
                <a:solidFill>
                  <a:schemeClr val="accent2"/>
                </a:solidFill>
                <a:latin typeface="宋体" panose="02010600030101010101" pitchFamily="2" charset="-122"/>
                <a:ea typeface="宋体" panose="02010600030101010101" pitchFamily="2" charset="-122"/>
              </a:rPr>
              <a:t>	</a:t>
            </a:r>
            <a:r>
              <a:rPr lang="en-US" altLang="zh-CN" sz="2400" b="1" dirty="0">
                <a:solidFill>
                  <a:schemeClr val="tx2"/>
                </a:solidFill>
                <a:latin typeface="宋体" panose="02010600030101010101" pitchFamily="2" charset="-122"/>
                <a:ea typeface="宋体" panose="02010600030101010101" pitchFamily="2" charset="-122"/>
              </a:rPr>
              <a:t>loop again</a:t>
            </a:r>
            <a:endParaRPr lang="en-US" altLang="zh-CN" sz="2400" b="1" dirty="0">
              <a:solidFill>
                <a:schemeClr val="tx2"/>
              </a:solidFill>
              <a:latin typeface="宋体" panose="02010600030101010101" pitchFamily="2" charset="-122"/>
              <a:ea typeface="宋体" panose="02010600030101010101" pitchFamily="2" charset="-122"/>
            </a:endParaRPr>
          </a:p>
          <a:p>
            <a:pPr defTabSz="914400" eaLnBrk="0" hangingPunct="0">
              <a:spcBef>
                <a:spcPct val="20000"/>
              </a:spcBef>
              <a:buClr>
                <a:schemeClr val="hlink"/>
              </a:buClr>
              <a:buFont typeface="Wingdings" panose="05000000000000000000" pitchFamily="2" charset="2"/>
              <a:tabLst>
                <a:tab pos="1336675" algn="l"/>
                <a:tab pos="3583305" algn="l"/>
              </a:tabLst>
            </a:pPr>
            <a:r>
              <a:rPr lang="en-US" altLang="zh-CN" sz="2400" b="1" dirty="0">
                <a:solidFill>
                  <a:schemeClr val="accent2"/>
                </a:solidFill>
                <a:latin typeface="宋体" panose="02010600030101010101" pitchFamily="2" charset="-122"/>
                <a:ea typeface="宋体" panose="02010600030101010101" pitchFamily="2" charset="-122"/>
              </a:rPr>
              <a:t>	</a:t>
            </a:r>
            <a:r>
              <a:rPr lang="zh-CN" altLang="en-US" sz="2400" b="1" dirty="0">
                <a:solidFill>
                  <a:schemeClr val="accent2"/>
                </a:solidFill>
                <a:latin typeface="宋体" panose="02010600030101010101" pitchFamily="2" charset="-122"/>
                <a:ea typeface="宋体" panose="02010600030101010101" pitchFamily="2" charset="-122"/>
              </a:rPr>
              <a:t>；字符个数减</a:t>
            </a:r>
            <a:r>
              <a:rPr lang="en-US" altLang="zh-CN" sz="2400" b="1" dirty="0">
                <a:solidFill>
                  <a:schemeClr val="accent2"/>
                </a:solidFill>
                <a:latin typeface="宋体" panose="02010600030101010101" pitchFamily="2" charset="-122"/>
                <a:ea typeface="宋体" panose="02010600030101010101" pitchFamily="2" charset="-122"/>
              </a:rPr>
              <a:t>1</a:t>
            </a:r>
            <a:r>
              <a:rPr lang="zh-CN" altLang="en-US" sz="2400" b="1" dirty="0">
                <a:solidFill>
                  <a:schemeClr val="accent2"/>
                </a:solidFill>
                <a:latin typeface="宋体" panose="02010600030101010101" pitchFamily="2" charset="-122"/>
                <a:ea typeface="宋体" panose="02010600030101010101" pitchFamily="2" charset="-122"/>
              </a:rPr>
              <a:t>，不为</a:t>
            </a:r>
            <a:r>
              <a:rPr lang="en-US" altLang="zh-CN" sz="2400" b="1" dirty="0">
                <a:solidFill>
                  <a:schemeClr val="accent2"/>
                </a:solidFill>
                <a:latin typeface="宋体" panose="02010600030101010101" pitchFamily="2" charset="-122"/>
                <a:ea typeface="宋体" panose="02010600030101010101" pitchFamily="2" charset="-122"/>
              </a:rPr>
              <a:t>0</a:t>
            </a:r>
            <a:r>
              <a:rPr lang="zh-CN" altLang="en-US" sz="2400" b="1" dirty="0">
                <a:solidFill>
                  <a:schemeClr val="accent2"/>
                </a:solidFill>
                <a:latin typeface="宋体" panose="02010600030101010101" pitchFamily="2" charset="-122"/>
                <a:ea typeface="宋体" panose="02010600030101010101" pitchFamily="2" charset="-122"/>
              </a:rPr>
              <a:t>继续循环</a:t>
            </a:r>
            <a:endParaRPr lang="en-US" altLang="zh-CN" sz="2400" b="1" dirty="0">
              <a:solidFill>
                <a:schemeClr val="accent2"/>
              </a:solidFill>
              <a:latin typeface="宋体" panose="02010600030101010101" pitchFamily="2" charset="-122"/>
              <a:ea typeface="宋体" panose="02010600030101010101" pitchFamily="2" charset="-122"/>
            </a:endParaRPr>
          </a:p>
          <a:p>
            <a:pPr defTabSz="914400" eaLnBrk="0" hangingPunct="0">
              <a:spcBef>
                <a:spcPct val="20000"/>
              </a:spcBef>
              <a:buClr>
                <a:schemeClr val="hlink"/>
              </a:buClr>
              <a:buFont typeface="Wingdings" panose="05000000000000000000" pitchFamily="2" charset="2"/>
              <a:tabLst>
                <a:tab pos="1336675" algn="l"/>
                <a:tab pos="3583305" algn="l"/>
              </a:tabLst>
            </a:pPr>
            <a:r>
              <a:rPr lang="en-US" altLang="zh-CN" sz="2400" b="1" dirty="0">
                <a:solidFill>
                  <a:schemeClr val="accent2"/>
                </a:solidFill>
                <a:latin typeface="宋体" panose="02010600030101010101" pitchFamily="2" charset="-122"/>
                <a:ea typeface="宋体" panose="02010600030101010101" pitchFamily="2" charset="-122"/>
              </a:rPr>
              <a:t>done:    hlt</a:t>
            </a:r>
            <a:endParaRPr lang="zh-CN" altLang="en-US" sz="2400" b="1" dirty="0">
              <a:solidFill>
                <a:schemeClr val="accent2"/>
              </a:solidFill>
              <a:latin typeface="宋体" panose="02010600030101010101" pitchFamily="2" charset="-122"/>
              <a:ea typeface="宋体" panose="02010600030101010101" pitchFamily="2" charset="-122"/>
            </a:endParaRPr>
          </a:p>
        </p:txBody>
      </p:sp>
      <p:sp>
        <p:nvSpPr>
          <p:cNvPr id="163845" name="线形标注 1 16"/>
          <p:cNvSpPr/>
          <p:nvPr/>
        </p:nvSpPr>
        <p:spPr>
          <a:xfrm>
            <a:off x="5151438" y="5013325"/>
            <a:ext cx="1657350" cy="790575"/>
          </a:xfrm>
          <a:prstGeom prst="borderCallout1">
            <a:avLst>
              <a:gd name="adj1" fmla="val 60153"/>
              <a:gd name="adj2" fmla="val -5037"/>
              <a:gd name="adj3" fmla="val 72824"/>
              <a:gd name="adj4" fmla="val -81185"/>
            </a:avLst>
          </a:prstGeom>
          <a:solidFill>
            <a:schemeClr val="accent1"/>
          </a:solidFill>
          <a:ln w="9525" cap="flat" cmpd="sng">
            <a:solidFill>
              <a:schemeClr val="tx1"/>
            </a:solidFill>
            <a:prstDash val="solid"/>
            <a:round/>
            <a:headEnd type="none" w="med" len="med"/>
            <a:tailEnd type="none" w="med" len="med"/>
          </a:ln>
        </p:spPr>
        <p:txBody>
          <a:bodyPr/>
          <a:p>
            <a:pPr algn="just" eaLnBrk="0" hangingPunct="0">
              <a:buFont typeface="Wingdings" panose="05000000000000000000" pitchFamily="2" charset="2"/>
            </a:pPr>
            <a:r>
              <a:rPr lang="en-US" altLang="zh-CN" sz="2400" b="1" dirty="0">
                <a:solidFill>
                  <a:schemeClr val="tx2"/>
                </a:solidFill>
                <a:latin typeface="宋体" panose="02010600030101010101" pitchFamily="2" charset="-122"/>
                <a:ea typeface="宋体" panose="02010600030101010101" pitchFamily="2" charset="-122"/>
              </a:rPr>
              <a:t>dec cx</a:t>
            </a:r>
            <a:endParaRPr lang="en-US" altLang="zh-CN" sz="2400" b="1" dirty="0">
              <a:solidFill>
                <a:schemeClr val="tx2"/>
              </a:solidFill>
              <a:latin typeface="宋体" panose="02010600030101010101" pitchFamily="2" charset="-122"/>
              <a:ea typeface="宋体" panose="02010600030101010101" pitchFamily="2" charset="-122"/>
            </a:endParaRPr>
          </a:p>
          <a:p>
            <a:pPr algn="just" eaLnBrk="0" hangingPunct="0">
              <a:buFont typeface="Wingdings" panose="05000000000000000000" pitchFamily="2" charset="2"/>
            </a:pPr>
            <a:r>
              <a:rPr lang="en-US" altLang="zh-CN" sz="2400" b="1" dirty="0">
                <a:solidFill>
                  <a:schemeClr val="tx2"/>
                </a:solidFill>
                <a:latin typeface="宋体" panose="02010600030101010101" pitchFamily="2" charset="-122"/>
                <a:ea typeface="宋体" panose="02010600030101010101" pitchFamily="2" charset="-122"/>
              </a:rPr>
              <a:t>jnz again</a:t>
            </a:r>
            <a:endParaRPr lang="en-US" altLang="zh-CN" sz="2400" b="1" dirty="0">
              <a:solidFill>
                <a:schemeClr val="tx2"/>
              </a:solidFill>
              <a:latin typeface="宋体" panose="02010600030101010101" pitchFamily="2" charset="-122"/>
              <a:ea typeface="宋体" panose="02010600030101010101" pitchFamily="2" charset="-122"/>
            </a:endParaRPr>
          </a:p>
        </p:txBody>
      </p:sp>
      <p:sp>
        <p:nvSpPr>
          <p:cNvPr id="163846" name="矩形 19"/>
          <p:cNvSpPr/>
          <p:nvPr/>
        </p:nvSpPr>
        <p:spPr>
          <a:xfrm>
            <a:off x="107950" y="2781300"/>
            <a:ext cx="1511300" cy="863600"/>
          </a:xfrm>
          <a:prstGeom prst="rect">
            <a:avLst/>
          </a:prstGeom>
          <a:solidFill>
            <a:schemeClr val="accent1"/>
          </a:solidFill>
          <a:ln w="9525" cap="flat" cmpd="sng">
            <a:solidFill>
              <a:schemeClr val="tx1"/>
            </a:solidFill>
            <a:prstDash val="solid"/>
            <a:round/>
            <a:headEnd type="none" w="med" len="med"/>
            <a:tailEnd type="none" w="med" len="med"/>
          </a:ln>
        </p:spPr>
        <p:txBody>
          <a:bodyPr/>
          <a:p>
            <a:pPr eaLnBrk="0" hangingPunct="0">
              <a:buFont typeface="Wingdings" panose="05000000000000000000" pitchFamily="2" charset="2"/>
            </a:pPr>
            <a:r>
              <a:rPr lang="en-US" altLang="zh-CN" sz="2400" b="1" dirty="0">
                <a:latin typeface="宋体" panose="02010600030101010101" pitchFamily="2" charset="-122"/>
                <a:ea typeface="宋体" panose="02010600030101010101" pitchFamily="2" charset="-122"/>
              </a:rPr>
              <a:t>cmp cx,0</a:t>
            </a:r>
            <a:endParaRPr lang="en-US" altLang="zh-CN" sz="2400" b="1" dirty="0">
              <a:latin typeface="宋体" panose="02010600030101010101" pitchFamily="2" charset="-122"/>
              <a:ea typeface="宋体" panose="02010600030101010101" pitchFamily="2" charset="-122"/>
            </a:endParaRPr>
          </a:p>
          <a:p>
            <a:pPr eaLnBrk="0" hangingPunct="0">
              <a:buFont typeface="Wingdings" panose="05000000000000000000" pitchFamily="2" charset="2"/>
            </a:pPr>
            <a:r>
              <a:rPr lang="en-US" altLang="zh-CN" sz="2400" b="1" dirty="0">
                <a:latin typeface="宋体" panose="02010600030101010101" pitchFamily="2" charset="-122"/>
                <a:ea typeface="宋体" panose="02010600030101010101" pitchFamily="2" charset="-122"/>
              </a:rPr>
              <a:t>jz done</a:t>
            </a:r>
            <a:endParaRPr lang="en-US" altLang="zh-CN" sz="2400" b="1" dirty="0">
              <a:latin typeface="宋体" panose="02010600030101010101" pitchFamily="2" charset="-122"/>
              <a:ea typeface="宋体" panose="02010600030101010101" pitchFamily="2" charset="-122"/>
            </a:endParaRPr>
          </a:p>
        </p:txBody>
      </p:sp>
      <p:cxnSp>
        <p:nvCxnSpPr>
          <p:cNvPr id="163847" name="直接连接符 21"/>
          <p:cNvCxnSpPr/>
          <p:nvPr/>
        </p:nvCxnSpPr>
        <p:spPr>
          <a:xfrm flipV="1">
            <a:off x="1644650" y="3070225"/>
            <a:ext cx="431800" cy="144463"/>
          </a:xfrm>
          <a:prstGeom prst="line">
            <a:avLst/>
          </a:prstGeom>
          <a:ln w="9525" cap="flat" cmpd="sng">
            <a:solidFill>
              <a:schemeClr val="tx1"/>
            </a:solidFill>
            <a:prstDash val="solid"/>
            <a:headEnd type="none" w="med" len="med"/>
            <a:tailEnd type="none" w="med" len="med"/>
          </a:ln>
        </p:spPr>
      </p:cxn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2"/>
          <p:cNvSpPr>
            <a:spLocks noGrp="1"/>
          </p:cNvSpPr>
          <p:nvPr/>
        </p:nvSpPr>
        <p:spPr>
          <a:xfrm>
            <a:off x="1704975" y="150813"/>
            <a:ext cx="5316538" cy="563562"/>
          </a:xfrm>
          <a:prstGeom prst="rect">
            <a:avLst/>
          </a:prstGeom>
          <a:noFill/>
          <a:ln w="9525">
            <a:noFill/>
          </a:ln>
        </p:spPr>
        <p:txBody>
          <a:bodyPr anchor="ctr" anchorCtr="0"/>
          <a:p>
            <a:pPr>
              <a:buFont typeface="Wingdings" panose="05000000000000000000" pitchFamily="2" charset="2"/>
            </a:pPr>
            <a:r>
              <a:rPr lang="en-US" altLang="zh-CN" sz="3600" dirty="0">
                <a:solidFill>
                  <a:schemeClr val="bg1"/>
                </a:solidFill>
                <a:latin typeface="宋体" panose="02010600030101010101" pitchFamily="2" charset="-122"/>
                <a:ea typeface="宋体" panose="02010600030101010101" pitchFamily="2" charset="-122"/>
              </a:rPr>
              <a:t>3.4.5.3 </a:t>
            </a:r>
            <a:r>
              <a:rPr lang="zh-CN" altLang="en-US" sz="3600" dirty="0">
                <a:solidFill>
                  <a:schemeClr val="bg1"/>
                </a:solidFill>
                <a:latin typeface="宋体" panose="02010600030101010101" pitchFamily="2" charset="-122"/>
                <a:ea typeface="宋体" panose="02010600030101010101" pitchFamily="2" charset="-122"/>
              </a:rPr>
              <a:t>过程调用和返回</a:t>
            </a:r>
            <a:endParaRPr lang="zh-CN" altLang="en-US" sz="3600" dirty="0">
              <a:solidFill>
                <a:schemeClr val="bg1"/>
              </a:solidFill>
              <a:latin typeface="宋体" panose="02010600030101010101" pitchFamily="2" charset="-122"/>
              <a:ea typeface="宋体" panose="02010600030101010101" pitchFamily="2" charset="-122"/>
            </a:endParaRPr>
          </a:p>
        </p:txBody>
      </p:sp>
      <p:sp>
        <p:nvSpPr>
          <p:cNvPr id="164867" name="矩形 15"/>
          <p:cNvSpPr/>
          <p:nvPr/>
        </p:nvSpPr>
        <p:spPr>
          <a:xfrm>
            <a:off x="611188" y="1052513"/>
            <a:ext cx="7848600" cy="2862262"/>
          </a:xfrm>
          <a:prstGeom prst="rect">
            <a:avLst/>
          </a:prstGeom>
          <a:noFill/>
          <a:ln w="9525">
            <a:noFill/>
          </a:ln>
        </p:spPr>
        <p:txBody>
          <a:bodyPr>
            <a:spAutoFit/>
          </a:bodyPr>
          <a:p>
            <a:pPr marL="342900" indent="-342900" eaLnBrk="0" hangingPunct="0">
              <a:lnSpc>
                <a:spcPct val="150000"/>
              </a:lnSpc>
              <a:buFont typeface="Wingdings" panose="05000000000000000000" pitchFamily="2" charset="2"/>
              <a:buChar char="l"/>
            </a:pPr>
            <a:r>
              <a:rPr lang="zh-CN" altLang="en-US" sz="2400" b="1" dirty="0">
                <a:latin typeface="宋体" panose="02010600030101010101" pitchFamily="2" charset="-122"/>
                <a:ea typeface="宋体" panose="02010600030101010101" pitchFamily="2" charset="-122"/>
              </a:rPr>
              <a:t>子过程（程序）是完成特定功能的一段程序</a:t>
            </a:r>
            <a:endParaRPr lang="zh-CN" altLang="en-US" sz="2400" b="1" dirty="0">
              <a:latin typeface="宋体" panose="02010600030101010101" pitchFamily="2" charset="-122"/>
              <a:ea typeface="宋体" panose="02010600030101010101" pitchFamily="2" charset="-122"/>
            </a:endParaRPr>
          </a:p>
          <a:p>
            <a:pPr marL="342900" indent="-342900" eaLnBrk="0" hangingPunct="0">
              <a:lnSpc>
                <a:spcPct val="150000"/>
              </a:lnSpc>
              <a:buFont typeface="Wingdings" panose="05000000000000000000" pitchFamily="2" charset="2"/>
              <a:buChar char="l"/>
            </a:pPr>
            <a:r>
              <a:rPr lang="zh-CN" altLang="en-US" sz="2400" b="1" dirty="0">
                <a:latin typeface="宋体" panose="02010600030101010101" pitchFamily="2" charset="-122"/>
                <a:ea typeface="宋体" panose="02010600030101010101" pitchFamily="2" charset="-122"/>
              </a:rPr>
              <a:t>当主程序（调用程序）需要执行这个功能时，采用</a:t>
            </a:r>
            <a:r>
              <a:rPr lang="en-US" altLang="zh-CN" sz="2400" b="1" dirty="0">
                <a:solidFill>
                  <a:schemeClr val="tx2"/>
                </a:solidFill>
                <a:latin typeface="宋体" panose="02010600030101010101" pitchFamily="2" charset="-122"/>
                <a:ea typeface="宋体" panose="02010600030101010101" pitchFamily="2" charset="-122"/>
              </a:rPr>
              <a:t>CALL</a:t>
            </a:r>
            <a:r>
              <a:rPr lang="zh-CN" altLang="en-US" sz="2400" b="1" dirty="0">
                <a:latin typeface="宋体" panose="02010600030101010101" pitchFamily="2" charset="-122"/>
                <a:ea typeface="宋体" panose="02010600030101010101" pitchFamily="2" charset="-122"/>
              </a:rPr>
              <a:t>调用指令转移到该子程序的起始处执行</a:t>
            </a:r>
            <a:endParaRPr lang="zh-CN" altLang="en-US" sz="2400" b="1" dirty="0">
              <a:latin typeface="宋体" panose="02010600030101010101" pitchFamily="2" charset="-122"/>
              <a:ea typeface="宋体" panose="02010600030101010101" pitchFamily="2" charset="-122"/>
            </a:endParaRPr>
          </a:p>
          <a:p>
            <a:pPr marL="342900" indent="-342900" eaLnBrk="0" hangingPunct="0">
              <a:lnSpc>
                <a:spcPct val="150000"/>
              </a:lnSpc>
              <a:buFont typeface="Wingdings" panose="05000000000000000000" pitchFamily="2" charset="2"/>
              <a:buChar char="l"/>
            </a:pPr>
            <a:r>
              <a:rPr lang="zh-CN" altLang="en-US" sz="2400" b="1" dirty="0">
                <a:latin typeface="宋体" panose="02010600030101010101" pitchFamily="2" charset="-122"/>
                <a:ea typeface="宋体" panose="02010600030101010101" pitchFamily="2" charset="-122"/>
              </a:rPr>
              <a:t>当运行完子程序功能后，采用</a:t>
            </a:r>
            <a:r>
              <a:rPr lang="en-US" altLang="zh-CN" sz="2400" b="1" dirty="0">
                <a:solidFill>
                  <a:schemeClr val="tx2"/>
                </a:solidFill>
                <a:latin typeface="宋体" panose="02010600030101010101" pitchFamily="2" charset="-122"/>
                <a:ea typeface="宋体" panose="02010600030101010101" pitchFamily="2" charset="-122"/>
              </a:rPr>
              <a:t>RET</a:t>
            </a:r>
            <a:r>
              <a:rPr lang="zh-CN" altLang="en-US" sz="2400" b="1" dirty="0">
                <a:latin typeface="宋体" panose="02010600030101010101" pitchFamily="2" charset="-122"/>
                <a:ea typeface="宋体" panose="02010600030101010101" pitchFamily="2" charset="-122"/>
              </a:rPr>
              <a:t>返回指令回到主程序继续执行</a:t>
            </a:r>
            <a:endParaRPr lang="zh-CN" altLang="en-US" sz="2400" b="1" dirty="0">
              <a:latin typeface="宋体" panose="02010600030101010101" pitchFamily="2" charset="-122"/>
              <a:ea typeface="宋体" panose="02010600030101010101" pitchFamily="2" charset="-122"/>
            </a:endParaRPr>
          </a:p>
        </p:txBody>
      </p:sp>
      <p:grpSp>
        <p:nvGrpSpPr>
          <p:cNvPr id="164868" name="组合 16"/>
          <p:cNvGrpSpPr/>
          <p:nvPr/>
        </p:nvGrpSpPr>
        <p:grpSpPr>
          <a:xfrm>
            <a:off x="971550" y="3851275"/>
            <a:ext cx="6907213" cy="2862263"/>
            <a:chOff x="739935" y="1484784"/>
            <a:chExt cx="7937068" cy="6059761"/>
          </a:xfrm>
        </p:grpSpPr>
        <p:sp>
          <p:nvSpPr>
            <p:cNvPr id="164870" name="Text Box 3"/>
            <p:cNvSpPr txBox="1"/>
            <p:nvPr/>
          </p:nvSpPr>
          <p:spPr>
            <a:xfrm>
              <a:off x="739935" y="2168950"/>
              <a:ext cx="1951405" cy="5375595"/>
            </a:xfrm>
            <a:prstGeom prst="rect">
              <a:avLst/>
            </a:prstGeom>
            <a:noFill/>
            <a:ln w="19050" cap="sq" cmpd="sng">
              <a:solidFill>
                <a:schemeClr val="accent2"/>
              </a:solidFill>
              <a:prstDash val="solid"/>
              <a:miter/>
              <a:headEnd type="none" w="sm" len="sm"/>
              <a:tailEnd type="none" w="sm" len="sm"/>
            </a:ln>
          </p:spPr>
          <p:txBody>
            <a:bodyPr>
              <a:spAutoFit/>
            </a:bodyPr>
            <a:p>
              <a:pPr eaLnBrk="0" hangingPunct="0">
                <a:spcBef>
                  <a:spcPct val="50000"/>
                </a:spcBef>
                <a:buFont typeface="Wingdings" panose="05000000000000000000" pitchFamily="2" charset="2"/>
              </a:pPr>
              <a:endParaRPr lang="en-US" altLang="zh-CN" sz="2400" b="1" dirty="0">
                <a:solidFill>
                  <a:schemeClr val="bg2"/>
                </a:solidFill>
                <a:latin typeface="Times New Roman" panose="02020603050405020304" pitchFamily="18" charset="0"/>
                <a:ea typeface="宋体" panose="02010600030101010101" pitchFamily="2" charset="-122"/>
              </a:endParaRPr>
            </a:p>
            <a:p>
              <a:pPr eaLnBrk="0" hangingPunct="0">
                <a:spcBef>
                  <a:spcPct val="50000"/>
                </a:spcBef>
                <a:buFont typeface="Wingdings" panose="05000000000000000000" pitchFamily="2" charset="2"/>
              </a:pPr>
              <a:r>
                <a:rPr lang="en-US" altLang="zh-CN" b="1" dirty="0">
                  <a:solidFill>
                    <a:schemeClr val="tx2"/>
                  </a:solidFill>
                  <a:latin typeface="Times New Roman" panose="02020603050405020304" pitchFamily="18" charset="0"/>
                  <a:ea typeface="宋体" panose="02010600030101010101" pitchFamily="2" charset="-122"/>
                </a:rPr>
                <a:t>CALL label</a:t>
              </a:r>
              <a:endParaRPr lang="en-US" altLang="zh-CN" b="1" dirty="0">
                <a:solidFill>
                  <a:schemeClr val="tx2"/>
                </a:solidFill>
                <a:latin typeface="Times New Roman" panose="02020603050405020304" pitchFamily="18" charset="0"/>
                <a:ea typeface="宋体" panose="02010600030101010101" pitchFamily="2" charset="-122"/>
              </a:endParaRPr>
            </a:p>
            <a:p>
              <a:pPr eaLnBrk="0" hangingPunct="0">
                <a:spcBef>
                  <a:spcPct val="50000"/>
                </a:spcBef>
                <a:buFont typeface="Wingdings" panose="05000000000000000000" pitchFamily="2" charset="2"/>
              </a:pPr>
              <a:endParaRPr lang="en-US" altLang="zh-CN" sz="2400" b="1" dirty="0">
                <a:solidFill>
                  <a:schemeClr val="bg2"/>
                </a:solidFill>
                <a:latin typeface="Times New Roman" panose="02020603050405020304" pitchFamily="18" charset="0"/>
                <a:ea typeface="宋体" panose="02010600030101010101" pitchFamily="2" charset="-122"/>
              </a:endParaRPr>
            </a:p>
            <a:p>
              <a:pPr eaLnBrk="0" hangingPunct="0">
                <a:spcBef>
                  <a:spcPct val="50000"/>
                </a:spcBef>
                <a:buFont typeface="Wingdings" panose="05000000000000000000" pitchFamily="2" charset="2"/>
              </a:pPr>
              <a:endParaRPr lang="en-US" altLang="zh-CN" sz="2400" b="1" dirty="0">
                <a:solidFill>
                  <a:schemeClr val="bg2"/>
                </a:solidFill>
                <a:latin typeface="Times New Roman" panose="02020603050405020304" pitchFamily="18" charset="0"/>
                <a:ea typeface="宋体" panose="02010600030101010101" pitchFamily="2" charset="-122"/>
              </a:endParaRPr>
            </a:p>
            <a:p>
              <a:pPr eaLnBrk="0" hangingPunct="0">
                <a:spcBef>
                  <a:spcPct val="50000"/>
                </a:spcBef>
                <a:buFont typeface="Wingdings" panose="05000000000000000000" pitchFamily="2" charset="2"/>
              </a:pPr>
              <a:endParaRPr lang="zh-CN" altLang="zh-CN" sz="2400" b="1" dirty="0">
                <a:solidFill>
                  <a:schemeClr val="bg2"/>
                </a:solidFill>
                <a:latin typeface="Times New Roman" panose="02020603050405020304" pitchFamily="18" charset="0"/>
                <a:ea typeface="宋体" panose="02010600030101010101" pitchFamily="2" charset="-122"/>
              </a:endParaRPr>
            </a:p>
          </p:txBody>
        </p:sp>
        <p:sp>
          <p:nvSpPr>
            <p:cNvPr id="164871" name="Text Box 4"/>
            <p:cNvSpPr txBox="1"/>
            <p:nvPr/>
          </p:nvSpPr>
          <p:spPr>
            <a:xfrm>
              <a:off x="1331640" y="1484784"/>
              <a:ext cx="1295400" cy="519113"/>
            </a:xfrm>
            <a:prstGeom prst="rect">
              <a:avLst/>
            </a:prstGeom>
            <a:noFill/>
            <a:ln w="12700">
              <a:noFill/>
            </a:ln>
          </p:spPr>
          <p:txBody>
            <a:bodyPr>
              <a:spAutoFit/>
            </a:bodyPr>
            <a:p>
              <a:pPr eaLnBrk="0" hangingPunct="0">
                <a:spcBef>
                  <a:spcPct val="50000"/>
                </a:spcBef>
                <a:buFont typeface="Wingdings" panose="05000000000000000000" pitchFamily="2" charset="2"/>
              </a:pPr>
              <a:r>
                <a:rPr lang="zh-CN" altLang="en-US" b="1" dirty="0">
                  <a:latin typeface="Times New Roman" panose="02020603050405020304" pitchFamily="18" charset="0"/>
                  <a:ea typeface="宋体" panose="02010600030101010101" pitchFamily="2" charset="-122"/>
                </a:rPr>
                <a:t>主程序</a:t>
              </a:r>
              <a:endParaRPr lang="zh-CN" altLang="en-US" b="1" dirty="0">
                <a:latin typeface="Times New Roman" panose="02020603050405020304" pitchFamily="18" charset="0"/>
                <a:ea typeface="宋体" panose="02010600030101010101" pitchFamily="2" charset="-122"/>
              </a:endParaRPr>
            </a:p>
          </p:txBody>
        </p:sp>
        <p:sp>
          <p:nvSpPr>
            <p:cNvPr id="164872" name="Line 5"/>
            <p:cNvSpPr/>
            <p:nvPr/>
          </p:nvSpPr>
          <p:spPr>
            <a:xfrm>
              <a:off x="3585890" y="2170584"/>
              <a:ext cx="0" cy="1600200"/>
            </a:xfrm>
            <a:prstGeom prst="line">
              <a:avLst/>
            </a:prstGeom>
            <a:ln w="28575" cap="sq" cmpd="sng">
              <a:solidFill>
                <a:schemeClr val="tx2"/>
              </a:solidFill>
              <a:prstDash val="solid"/>
              <a:headEnd type="oval" w="med" len="med"/>
              <a:tailEnd type="triangle" w="med" len="med"/>
            </a:ln>
          </p:spPr>
        </p:sp>
        <p:sp>
          <p:nvSpPr>
            <p:cNvPr id="164873" name="Line 6"/>
            <p:cNvSpPr/>
            <p:nvPr/>
          </p:nvSpPr>
          <p:spPr>
            <a:xfrm>
              <a:off x="3585890" y="4075584"/>
              <a:ext cx="0" cy="1600200"/>
            </a:xfrm>
            <a:prstGeom prst="line">
              <a:avLst/>
            </a:prstGeom>
            <a:ln w="28575" cap="sq" cmpd="sng">
              <a:solidFill>
                <a:schemeClr val="tx2"/>
              </a:solidFill>
              <a:prstDash val="solid"/>
              <a:headEnd type="oval" w="med" len="med"/>
              <a:tailEnd type="triangle" w="med" len="med"/>
            </a:ln>
          </p:spPr>
        </p:sp>
        <p:sp>
          <p:nvSpPr>
            <p:cNvPr id="164874" name="Line 7"/>
            <p:cNvSpPr/>
            <p:nvPr/>
          </p:nvSpPr>
          <p:spPr>
            <a:xfrm>
              <a:off x="5795690" y="2856384"/>
              <a:ext cx="0" cy="2057400"/>
            </a:xfrm>
            <a:prstGeom prst="line">
              <a:avLst/>
            </a:prstGeom>
            <a:ln w="28575" cap="sq" cmpd="sng">
              <a:solidFill>
                <a:schemeClr val="tx2"/>
              </a:solidFill>
              <a:prstDash val="solid"/>
              <a:headEnd type="oval" w="med" len="med"/>
              <a:tailEnd type="triangle" w="med" len="med"/>
            </a:ln>
          </p:spPr>
        </p:sp>
        <p:sp>
          <p:nvSpPr>
            <p:cNvPr id="164875" name="Line 8"/>
            <p:cNvSpPr/>
            <p:nvPr/>
          </p:nvSpPr>
          <p:spPr>
            <a:xfrm flipV="1">
              <a:off x="3738290" y="2703984"/>
              <a:ext cx="1981200" cy="990600"/>
            </a:xfrm>
            <a:prstGeom prst="line">
              <a:avLst/>
            </a:prstGeom>
            <a:ln w="28575" cap="sq" cmpd="sng">
              <a:solidFill>
                <a:schemeClr val="tx2"/>
              </a:solidFill>
              <a:prstDash val="solid"/>
              <a:headEnd type="oval" w="med" len="med"/>
              <a:tailEnd type="triangle" w="med" len="med"/>
            </a:ln>
          </p:spPr>
        </p:sp>
        <p:sp>
          <p:nvSpPr>
            <p:cNvPr id="164876" name="Text Box 9"/>
            <p:cNvSpPr txBox="1"/>
            <p:nvPr/>
          </p:nvSpPr>
          <p:spPr>
            <a:xfrm>
              <a:off x="6024290" y="2557933"/>
              <a:ext cx="1447800" cy="3029881"/>
            </a:xfrm>
            <a:prstGeom prst="rect">
              <a:avLst/>
            </a:prstGeom>
            <a:noFill/>
            <a:ln w="19050" cap="sq" cmpd="sng">
              <a:solidFill>
                <a:schemeClr val="accent2"/>
              </a:solidFill>
              <a:prstDash val="solid"/>
              <a:miter/>
              <a:headEnd type="none" w="sm" len="sm"/>
              <a:tailEnd type="none" w="sm" len="sm"/>
            </a:ln>
          </p:spPr>
          <p:txBody>
            <a:bodyPr>
              <a:spAutoFit/>
            </a:bodyPr>
            <a:p>
              <a:pPr eaLnBrk="0" hangingPunct="0">
                <a:spcBef>
                  <a:spcPct val="50000"/>
                </a:spcBef>
                <a:buFont typeface="Wingdings" panose="05000000000000000000" pitchFamily="2" charset="2"/>
              </a:pPr>
              <a:endParaRPr lang="en-US" altLang="zh-CN" sz="2400" b="1" dirty="0">
                <a:solidFill>
                  <a:schemeClr val="bg2"/>
                </a:solidFill>
                <a:latin typeface="Times New Roman" panose="02020603050405020304" pitchFamily="18" charset="0"/>
                <a:ea typeface="宋体" panose="02010600030101010101" pitchFamily="2" charset="-122"/>
              </a:endParaRPr>
            </a:p>
            <a:p>
              <a:pPr eaLnBrk="0" hangingPunct="0">
                <a:spcBef>
                  <a:spcPct val="50000"/>
                </a:spcBef>
                <a:buFont typeface="Wingdings" panose="05000000000000000000" pitchFamily="2" charset="2"/>
              </a:pPr>
              <a:endParaRPr lang="zh-CN" altLang="zh-CN" sz="2400" b="1" dirty="0">
                <a:solidFill>
                  <a:schemeClr val="bg2"/>
                </a:solidFill>
                <a:latin typeface="Times New Roman" panose="02020603050405020304" pitchFamily="18" charset="0"/>
                <a:ea typeface="宋体" panose="02010600030101010101" pitchFamily="2" charset="-122"/>
              </a:endParaRPr>
            </a:p>
            <a:p>
              <a:pPr eaLnBrk="0" hangingPunct="0">
                <a:spcBef>
                  <a:spcPct val="50000"/>
                </a:spcBef>
                <a:buFont typeface="Wingdings" panose="05000000000000000000" pitchFamily="2" charset="2"/>
              </a:pPr>
              <a:r>
                <a:rPr lang="en-US" altLang="zh-CN" b="1" dirty="0">
                  <a:solidFill>
                    <a:schemeClr val="tx2"/>
                  </a:solidFill>
                  <a:latin typeface="Times New Roman" panose="02020603050405020304" pitchFamily="18" charset="0"/>
                  <a:ea typeface="宋体" panose="02010600030101010101" pitchFamily="2" charset="-122"/>
                </a:rPr>
                <a:t>RET</a:t>
              </a:r>
              <a:endParaRPr lang="en-US" altLang="zh-CN" b="1" dirty="0">
                <a:solidFill>
                  <a:schemeClr val="tx2"/>
                </a:solidFill>
                <a:latin typeface="Times New Roman" panose="02020603050405020304" pitchFamily="18" charset="0"/>
                <a:ea typeface="宋体" panose="02010600030101010101" pitchFamily="2" charset="-122"/>
              </a:endParaRPr>
            </a:p>
          </p:txBody>
        </p:sp>
        <p:sp>
          <p:nvSpPr>
            <p:cNvPr id="164877" name="Text Box 10"/>
            <p:cNvSpPr txBox="1"/>
            <p:nvPr/>
          </p:nvSpPr>
          <p:spPr>
            <a:xfrm>
              <a:off x="6176691" y="1843559"/>
              <a:ext cx="1295400" cy="519114"/>
            </a:xfrm>
            <a:prstGeom prst="rect">
              <a:avLst/>
            </a:prstGeom>
            <a:noFill/>
            <a:ln w="12700">
              <a:noFill/>
            </a:ln>
          </p:spPr>
          <p:txBody>
            <a:bodyPr>
              <a:spAutoFit/>
            </a:bodyPr>
            <a:p>
              <a:pPr eaLnBrk="0" hangingPunct="0">
                <a:spcBef>
                  <a:spcPct val="50000"/>
                </a:spcBef>
                <a:buFont typeface="Wingdings" panose="05000000000000000000" pitchFamily="2" charset="2"/>
              </a:pPr>
              <a:r>
                <a:rPr lang="zh-CN" altLang="en-US" b="1" dirty="0">
                  <a:latin typeface="Times New Roman" panose="02020603050405020304" pitchFamily="18" charset="0"/>
                  <a:ea typeface="宋体" panose="02010600030101010101" pitchFamily="2" charset="-122"/>
                </a:rPr>
                <a:t>子程序</a:t>
              </a:r>
              <a:endParaRPr lang="zh-CN" altLang="en-US" b="1" dirty="0">
                <a:latin typeface="Times New Roman" panose="02020603050405020304" pitchFamily="18" charset="0"/>
                <a:ea typeface="宋体" panose="02010600030101010101" pitchFamily="2" charset="-122"/>
              </a:endParaRPr>
            </a:p>
          </p:txBody>
        </p:sp>
        <p:sp>
          <p:nvSpPr>
            <p:cNvPr id="164878" name="Line 11"/>
            <p:cNvSpPr/>
            <p:nvPr/>
          </p:nvSpPr>
          <p:spPr>
            <a:xfrm flipH="1" flipV="1">
              <a:off x="3662090" y="4075584"/>
              <a:ext cx="1905000" cy="762000"/>
            </a:xfrm>
            <a:prstGeom prst="line">
              <a:avLst/>
            </a:prstGeom>
            <a:ln w="28575" cap="sq" cmpd="sng">
              <a:solidFill>
                <a:schemeClr val="tx2"/>
              </a:solidFill>
              <a:prstDash val="solid"/>
              <a:headEnd type="oval" w="med" len="med"/>
              <a:tailEnd type="triangle" w="med" len="med"/>
            </a:ln>
          </p:spPr>
        </p:sp>
        <p:sp>
          <p:nvSpPr>
            <p:cNvPr id="164879" name="AutoShape 12"/>
            <p:cNvSpPr/>
            <p:nvPr/>
          </p:nvSpPr>
          <p:spPr>
            <a:xfrm>
              <a:off x="4139928" y="5747221"/>
              <a:ext cx="4537075" cy="1368334"/>
            </a:xfrm>
            <a:prstGeom prst="accentCallout1">
              <a:avLst>
                <a:gd name="adj1" fmla="val 11921"/>
                <a:gd name="adj2" fmla="val -1681"/>
                <a:gd name="adj3" fmla="val -149065"/>
                <a:gd name="adj4" fmla="val -42282"/>
              </a:avLst>
            </a:prstGeom>
            <a:solidFill>
              <a:schemeClr val="accent1"/>
            </a:solidFill>
            <a:ln w="12700" cap="sq" cmpd="sng">
              <a:solidFill>
                <a:srgbClr val="0000CC"/>
              </a:solidFill>
              <a:prstDash val="solid"/>
              <a:miter/>
              <a:headEnd type="none" w="sm" len="sm"/>
              <a:tailEnd type="none" w="sm" len="sm"/>
            </a:ln>
          </p:spPr>
          <p:txBody>
            <a:bodyPr>
              <a:spAutoFit/>
            </a:bodyPr>
            <a:p>
              <a:pPr eaLnBrk="0" hangingPunct="0">
                <a:buFont typeface="Wingdings" panose="05000000000000000000" pitchFamily="2" charset="2"/>
              </a:pPr>
              <a:r>
                <a:rPr lang="zh-CN" altLang="en-US" b="1" dirty="0">
                  <a:latin typeface="Times New Roman" panose="02020603050405020304" pitchFamily="18" charset="0"/>
                  <a:ea typeface="宋体" panose="02010600030101010101" pitchFamily="2" charset="-122"/>
                </a:rPr>
                <a:t>回到</a:t>
              </a:r>
              <a:r>
                <a:rPr lang="en-US" altLang="zh-CN" b="1" dirty="0">
                  <a:latin typeface="Times New Roman" panose="02020603050405020304" pitchFamily="18" charset="0"/>
                  <a:ea typeface="宋体" panose="02010600030101010101" pitchFamily="2" charset="-122"/>
                </a:rPr>
                <a:t>CALL</a:t>
              </a:r>
              <a:r>
                <a:rPr lang="zh-CN" altLang="en-US" b="1" dirty="0">
                  <a:latin typeface="Times New Roman" panose="02020603050405020304" pitchFamily="18" charset="0"/>
                  <a:ea typeface="宋体" panose="02010600030101010101" pitchFamily="2" charset="-122"/>
                </a:rPr>
                <a:t>指令后的指令处</a:t>
              </a:r>
              <a:endParaRPr lang="zh-CN" altLang="en-US" b="1" dirty="0">
                <a:latin typeface="Times New Roman" panose="02020603050405020304" pitchFamily="18" charset="0"/>
                <a:ea typeface="宋体" panose="02010600030101010101" pitchFamily="2" charset="-122"/>
              </a:endParaRPr>
            </a:p>
            <a:p>
              <a:pPr eaLnBrk="0" hangingPunct="0">
                <a:buFont typeface="Wingdings" panose="05000000000000000000" pitchFamily="2" charset="2"/>
              </a:pP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返回地址（断点地址）</a:t>
              </a:r>
              <a:endParaRPr lang="zh-CN" altLang="en-US" b="1" dirty="0">
                <a:latin typeface="Times New Roman" panose="02020603050405020304" pitchFamily="18" charset="0"/>
                <a:ea typeface="宋体" panose="02010600030101010101" pitchFamily="2" charset="-122"/>
              </a:endParaRPr>
            </a:p>
          </p:txBody>
        </p:sp>
      </p:grpSp>
      <p:cxnSp>
        <p:nvCxnSpPr>
          <p:cNvPr id="164869" name="直接连接符 27"/>
          <p:cNvCxnSpPr/>
          <p:nvPr/>
        </p:nvCxnSpPr>
        <p:spPr>
          <a:xfrm>
            <a:off x="630238" y="3851275"/>
            <a:ext cx="7632700" cy="0"/>
          </a:xfrm>
          <a:prstGeom prst="line">
            <a:avLst/>
          </a:prstGeom>
          <a:ln w="38100" cap="flat" cmpd="sng">
            <a:solidFill>
              <a:schemeClr val="tx1"/>
            </a:solidFill>
            <a:prstDash val="solid"/>
            <a:headEnd type="none" w="med" len="med"/>
            <a:tailEnd type="none" w="med" len="med"/>
          </a:ln>
        </p:spPr>
      </p:cxnSp>
    </p:spTree>
  </p:cSld>
  <p:clrMapOvr>
    <a:masterClrMapping/>
  </p:clrMapOvr>
  <p:transition spd="slow"/>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2"/>
          <p:cNvSpPr>
            <a:spLocks noGrp="1"/>
          </p:cNvSpPr>
          <p:nvPr>
            <p:ph type="title" idx="4294967295"/>
          </p:nvPr>
        </p:nvSpPr>
        <p:spPr>
          <a:xfrm>
            <a:off x="684213" y="1052513"/>
            <a:ext cx="4032250" cy="563562"/>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00033"/>
                </a:solidFill>
                <a:ea typeface="宋体" panose="02010600030101010101" pitchFamily="2" charset="-122"/>
              </a:rPr>
              <a:t>调用指令的执行过程</a:t>
            </a:r>
            <a:endParaRPr lang="zh-CN" altLang="en-US" dirty="0">
              <a:solidFill>
                <a:srgbClr val="000033"/>
              </a:solidFill>
              <a:ea typeface="宋体" panose="02010600030101010101" pitchFamily="2" charset="-122"/>
            </a:endParaRPr>
          </a:p>
        </p:txBody>
      </p:sp>
      <p:sp>
        <p:nvSpPr>
          <p:cNvPr id="162819" name="Rectangle 3"/>
          <p:cNvSpPr>
            <a:spLocks noGrp="1"/>
          </p:cNvSpPr>
          <p:nvPr>
            <p:ph type="body" idx="4294967295"/>
          </p:nvPr>
        </p:nvSpPr>
        <p:spPr>
          <a:xfrm>
            <a:off x="720725" y="1700213"/>
            <a:ext cx="7991475" cy="2449512"/>
          </a:xfrm>
        </p:spPr>
        <p:txBody>
          <a:bodyPr vert="horz" wrap="square" lIns="91440" tIns="45720" rIns="91440" bIns="45720" anchor="t" anchorCtr="0"/>
          <a:p>
            <a:pPr eaLnBrk="1" hangingPunct="1">
              <a:lnSpc>
                <a:spcPct val="110000"/>
              </a:lnSpc>
              <a:buFont typeface="Wingdings" panose="05000000000000000000" pitchFamily="2" charset="2"/>
              <a:buChar char="l"/>
            </a:pPr>
            <a:r>
              <a:rPr lang="zh-CN" altLang="en-US" sz="2400" dirty="0">
                <a:ea typeface="宋体" panose="02010600030101010101" pitchFamily="2" charset="-122"/>
              </a:rPr>
              <a:t>保护断点；</a:t>
            </a:r>
            <a:endParaRPr lang="zh-CN" altLang="en-US" sz="2400" dirty="0">
              <a:ea typeface="宋体" panose="02010600030101010101" pitchFamily="2" charset="-122"/>
            </a:endParaRPr>
          </a:p>
          <a:p>
            <a:pPr marL="457200" lvl="1" indent="0" eaLnBrk="1" hangingPunct="1">
              <a:lnSpc>
                <a:spcPct val="110000"/>
              </a:lnSpc>
              <a:buNone/>
            </a:pPr>
            <a:r>
              <a:rPr lang="zh-CN" altLang="en-US" dirty="0">
                <a:ea typeface="宋体" panose="02010600030101010101" pitchFamily="2" charset="-122"/>
              </a:rPr>
              <a:t>将调用指令的下一条指令的地址（断点）压入堆栈。</a:t>
            </a:r>
            <a:endParaRPr lang="zh-CN" altLang="en-US" dirty="0">
              <a:ea typeface="宋体" panose="02010600030101010101" pitchFamily="2" charset="-122"/>
            </a:endParaRPr>
          </a:p>
          <a:p>
            <a:pPr eaLnBrk="1" hangingPunct="1">
              <a:lnSpc>
                <a:spcPct val="110000"/>
              </a:lnSpc>
              <a:buFont typeface="Wingdings" panose="05000000000000000000" pitchFamily="2" charset="2"/>
              <a:buChar char="l"/>
            </a:pPr>
            <a:r>
              <a:rPr lang="zh-CN" altLang="en-US" sz="2400" dirty="0">
                <a:ea typeface="宋体" panose="02010600030101010101" pitchFamily="2" charset="-122"/>
              </a:rPr>
              <a:t>获取子过程的入口地址：</a:t>
            </a:r>
            <a:r>
              <a:rPr lang="zh-CN" altLang="en-US" sz="2400" dirty="0">
                <a:solidFill>
                  <a:srgbClr val="FF0000"/>
                </a:solidFill>
                <a:ea typeface="宋体" panose="02010600030101010101" pitchFamily="2" charset="-122"/>
              </a:rPr>
              <a:t>子过程第1条指令的偏移地址</a:t>
            </a:r>
            <a:endParaRPr lang="zh-CN" altLang="en-US" sz="2400" dirty="0">
              <a:solidFill>
                <a:srgbClr val="FF0000"/>
              </a:solidFill>
              <a:ea typeface="宋体" panose="02010600030101010101" pitchFamily="2" charset="-122"/>
            </a:endParaRPr>
          </a:p>
          <a:p>
            <a:pPr eaLnBrk="1" hangingPunct="1">
              <a:lnSpc>
                <a:spcPct val="110000"/>
              </a:lnSpc>
              <a:buFont typeface="Wingdings" panose="05000000000000000000" pitchFamily="2" charset="2"/>
              <a:buChar char="l"/>
            </a:pPr>
            <a:r>
              <a:rPr lang="zh-CN" altLang="en-US" sz="2400" dirty="0">
                <a:ea typeface="宋体" panose="02010600030101010101" pitchFamily="2" charset="-122"/>
              </a:rPr>
              <a:t>执行子过程，含相应参数的保存及恢复；</a:t>
            </a:r>
            <a:endParaRPr lang="zh-CN" altLang="en-US" sz="2400" dirty="0">
              <a:ea typeface="宋体" panose="02010600030101010101" pitchFamily="2" charset="-122"/>
            </a:endParaRPr>
          </a:p>
          <a:p>
            <a:pPr eaLnBrk="1" hangingPunct="1">
              <a:lnSpc>
                <a:spcPct val="110000"/>
              </a:lnSpc>
              <a:buFont typeface="Wingdings" panose="05000000000000000000" pitchFamily="2" charset="2"/>
              <a:buChar char="l"/>
            </a:pPr>
            <a:r>
              <a:rPr lang="zh-CN" altLang="en-US" sz="2400" dirty="0">
                <a:ea typeface="宋体" panose="02010600030101010101" pitchFamily="2" charset="-122"/>
              </a:rPr>
              <a:t>恢复断点，返回原程序。将断点偏移地址由堆栈弹出。</a:t>
            </a:r>
            <a:endParaRPr lang="zh-CN" altLang="en-US" sz="2400" dirty="0">
              <a:ea typeface="宋体" panose="02010600030101010101" pitchFamily="2" charset="-122"/>
            </a:endParaRPr>
          </a:p>
        </p:txBody>
      </p:sp>
      <p:sp>
        <p:nvSpPr>
          <p:cNvPr id="165892" name="矩形 1"/>
          <p:cNvSpPr/>
          <p:nvPr/>
        </p:nvSpPr>
        <p:spPr>
          <a:xfrm>
            <a:off x="1547813" y="4437063"/>
            <a:ext cx="5184775" cy="2124075"/>
          </a:xfrm>
          <a:prstGeom prst="rect">
            <a:avLst/>
          </a:prstGeom>
          <a:noFill/>
          <a:ln w="19050" cap="flat" cmpd="sng">
            <a:solidFill>
              <a:schemeClr val="tx1"/>
            </a:solidFill>
            <a:prstDash val="solid"/>
            <a:miter/>
            <a:headEnd type="none" w="med" len="med"/>
            <a:tailEnd type="none" w="med" len="med"/>
          </a:ln>
        </p:spPr>
        <p:txBody>
          <a:bodyPr>
            <a:spAutoFit/>
          </a:bodyPr>
          <a:p>
            <a:pPr eaLnBrk="0" hangingPunct="0">
              <a:lnSpc>
                <a:spcPct val="110000"/>
              </a:lnSpc>
              <a:buFont typeface="Wingdings" panose="05000000000000000000" pitchFamily="2" charset="2"/>
            </a:pPr>
            <a:r>
              <a:rPr lang="en-US" altLang="zh-CN" sz="2000" b="1" dirty="0">
                <a:latin typeface="宋体" panose="02010600030101010101" pitchFamily="2" charset="-122"/>
                <a:ea typeface="宋体" panose="02010600030101010101" pitchFamily="2" charset="-122"/>
              </a:rPr>
              <a:t>CALL</a:t>
            </a:r>
            <a:r>
              <a:rPr lang="zh-CN" altLang="en-US" sz="2000" b="1" dirty="0">
                <a:latin typeface="宋体" panose="02010600030101010101" pitchFamily="2" charset="-122"/>
                <a:ea typeface="宋体" panose="02010600030101010101" pitchFamily="2" charset="-122"/>
              </a:rPr>
              <a:t>指令需要保存返回地址：</a:t>
            </a:r>
            <a:endParaRPr lang="zh-CN" altLang="en-US" sz="2000" b="1" dirty="0">
              <a:latin typeface="宋体" panose="02010600030101010101" pitchFamily="2" charset="-122"/>
              <a:ea typeface="宋体" panose="02010600030101010101" pitchFamily="2" charset="-122"/>
            </a:endParaRPr>
          </a:p>
          <a:p>
            <a:pPr eaLnBrk="0" hangingPunct="0">
              <a:lnSpc>
                <a:spcPct val="110000"/>
              </a:lnSpc>
              <a:buFont typeface="Wingdings" panose="05000000000000000000" pitchFamily="2" charset="2"/>
            </a:pPr>
            <a:r>
              <a:rPr lang="zh-CN" altLang="en-US" sz="2000" b="1" dirty="0">
                <a:latin typeface="宋体" panose="02010600030101010101" pitchFamily="2" charset="-122"/>
                <a:ea typeface="宋体" panose="02010600030101010101" pitchFamily="2" charset="-122"/>
              </a:rPr>
              <a:t>段内调用</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入栈偏移地址</a:t>
            </a:r>
            <a:r>
              <a:rPr lang="en-US" altLang="zh-CN" sz="2000" b="1" dirty="0">
                <a:latin typeface="宋体" panose="02010600030101010101" pitchFamily="2" charset="-122"/>
                <a:ea typeface="宋体" panose="02010600030101010101" pitchFamily="2" charset="-122"/>
              </a:rPr>
              <a:t>IP</a:t>
            </a:r>
            <a:endParaRPr lang="en-US" altLang="zh-CN" sz="2000" b="1" dirty="0">
              <a:latin typeface="宋体" panose="02010600030101010101" pitchFamily="2" charset="-122"/>
              <a:ea typeface="宋体" panose="02010600030101010101" pitchFamily="2" charset="-122"/>
            </a:endParaRPr>
          </a:p>
          <a:p>
            <a:pPr eaLnBrk="0" hangingPunct="0">
              <a:lnSpc>
                <a:spcPct val="110000"/>
              </a:lnSpc>
              <a:buFont typeface="Wingdings" panose="05000000000000000000" pitchFamily="2" charset="2"/>
            </a:pPr>
            <a:r>
              <a:rPr lang="en-US" altLang="zh-CN" sz="2000" b="1" dirty="0">
                <a:latin typeface="宋体" panose="02010600030101010101" pitchFamily="2" charset="-122"/>
                <a:ea typeface="宋体" panose="02010600030101010101" pitchFamily="2" charset="-122"/>
              </a:rPr>
              <a:t>		SP←SP</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SS:[SP]←IP</a:t>
            </a:r>
            <a:endParaRPr lang="en-US" altLang="zh-CN" sz="2000" b="1" dirty="0">
              <a:latin typeface="宋体" panose="02010600030101010101" pitchFamily="2" charset="-122"/>
              <a:ea typeface="宋体" panose="02010600030101010101" pitchFamily="2" charset="-122"/>
            </a:endParaRPr>
          </a:p>
          <a:p>
            <a:pPr eaLnBrk="0" hangingPunct="0">
              <a:lnSpc>
                <a:spcPct val="110000"/>
              </a:lnSpc>
              <a:buFont typeface="Wingdings" panose="05000000000000000000" pitchFamily="2" charset="2"/>
            </a:pPr>
            <a:r>
              <a:rPr lang="zh-CN" altLang="en-US" sz="2000" b="1" dirty="0">
                <a:latin typeface="宋体" panose="02010600030101010101" pitchFamily="2" charset="-122"/>
                <a:ea typeface="宋体" panose="02010600030101010101" pitchFamily="2" charset="-122"/>
              </a:rPr>
              <a:t>段间调用</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入栈偏移地址</a:t>
            </a:r>
            <a:r>
              <a:rPr lang="en-US" altLang="zh-CN" sz="2000" b="1" dirty="0">
                <a:latin typeface="宋体" panose="02010600030101010101" pitchFamily="2" charset="-122"/>
                <a:ea typeface="宋体" panose="02010600030101010101" pitchFamily="2" charset="-122"/>
              </a:rPr>
              <a:t>IP</a:t>
            </a:r>
            <a:r>
              <a:rPr lang="zh-CN" altLang="en-US" sz="2000" b="1" dirty="0">
                <a:latin typeface="宋体" panose="02010600030101010101" pitchFamily="2" charset="-122"/>
                <a:ea typeface="宋体" panose="02010600030101010101" pitchFamily="2" charset="-122"/>
              </a:rPr>
              <a:t>和段地址</a:t>
            </a:r>
            <a:r>
              <a:rPr lang="en-US" altLang="zh-CN" sz="2000" b="1" dirty="0">
                <a:latin typeface="宋体" panose="02010600030101010101" pitchFamily="2" charset="-122"/>
                <a:ea typeface="宋体" panose="02010600030101010101" pitchFamily="2" charset="-122"/>
              </a:rPr>
              <a:t>CS</a:t>
            </a:r>
            <a:endParaRPr lang="en-US" altLang="zh-CN" sz="2000" b="1" dirty="0">
              <a:latin typeface="宋体" panose="02010600030101010101" pitchFamily="2" charset="-122"/>
              <a:ea typeface="宋体" panose="02010600030101010101" pitchFamily="2" charset="-122"/>
            </a:endParaRPr>
          </a:p>
          <a:p>
            <a:pPr eaLnBrk="0" hangingPunct="0">
              <a:lnSpc>
                <a:spcPct val="110000"/>
              </a:lnSpc>
              <a:buFont typeface="Wingdings" panose="05000000000000000000" pitchFamily="2" charset="2"/>
            </a:pPr>
            <a:r>
              <a:rPr lang="en-US" altLang="zh-CN" sz="2000" b="1" dirty="0">
                <a:latin typeface="宋体" panose="02010600030101010101" pitchFamily="2" charset="-122"/>
                <a:ea typeface="宋体" panose="02010600030101010101" pitchFamily="2" charset="-122"/>
              </a:rPr>
              <a:t>		SP←SP</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SS:[SP]←IP</a:t>
            </a:r>
            <a:endParaRPr lang="en-US" altLang="zh-CN" sz="2000" b="1" dirty="0">
              <a:latin typeface="宋体" panose="02010600030101010101" pitchFamily="2" charset="-122"/>
              <a:ea typeface="宋体" panose="02010600030101010101" pitchFamily="2" charset="-122"/>
            </a:endParaRPr>
          </a:p>
          <a:p>
            <a:pPr eaLnBrk="0" hangingPunct="0">
              <a:lnSpc>
                <a:spcPct val="110000"/>
              </a:lnSpc>
              <a:buFont typeface="Wingdings" panose="05000000000000000000" pitchFamily="2" charset="2"/>
            </a:pPr>
            <a:r>
              <a:rPr lang="en-US" altLang="zh-CN" sz="2000" b="1" dirty="0">
                <a:latin typeface="宋体" panose="02010600030101010101" pitchFamily="2" charset="-122"/>
                <a:ea typeface="宋体" panose="02010600030101010101" pitchFamily="2" charset="-122"/>
              </a:rPr>
              <a:t>		SP←SP</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2</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SS:[SP]←CS</a:t>
            </a:r>
            <a:endParaRPr lang="en-US" altLang="zh-CN" sz="2000" b="1"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2819">
                                            <p:txEl>
                                              <p:charRg st="0" end="6"/>
                                            </p:txEl>
                                          </p:spTgt>
                                        </p:tgtEl>
                                        <p:attrNameLst>
                                          <p:attrName>style.visibility</p:attrName>
                                        </p:attrNameLst>
                                      </p:cBhvr>
                                      <p:to>
                                        <p:strVal val="visible"/>
                                      </p:to>
                                    </p:set>
                                    <p:animEffect transition="in" filter="wipe(left)">
                                      <p:cBhvr>
                                        <p:cTn id="7" dur="500"/>
                                        <p:tgtEl>
                                          <p:spTgt spid="162819">
                                            <p:txEl>
                                              <p:charRg st="0" end="6"/>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62819">
                                            <p:txEl>
                                              <p:charRg st="6" end="30"/>
                                            </p:txEl>
                                          </p:spTgt>
                                        </p:tgtEl>
                                        <p:attrNameLst>
                                          <p:attrName>style.visibility</p:attrName>
                                        </p:attrNameLst>
                                      </p:cBhvr>
                                      <p:to>
                                        <p:strVal val="visible"/>
                                      </p:to>
                                    </p:set>
                                    <p:animEffect transition="in" filter="wipe(left)">
                                      <p:cBhvr>
                                        <p:cTn id="11" dur="500"/>
                                        <p:tgtEl>
                                          <p:spTgt spid="162819">
                                            <p:txEl>
                                              <p:charRg st="6" end="3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62819">
                                            <p:txEl>
                                              <p:charRg st="30" end="55"/>
                                            </p:txEl>
                                          </p:spTgt>
                                        </p:tgtEl>
                                        <p:attrNameLst>
                                          <p:attrName>style.visibility</p:attrName>
                                        </p:attrNameLst>
                                      </p:cBhvr>
                                      <p:to>
                                        <p:strVal val="visible"/>
                                      </p:to>
                                    </p:set>
                                    <p:animEffect transition="in" filter="wipe(left)">
                                      <p:cBhvr>
                                        <p:cTn id="16" dur="500"/>
                                        <p:tgtEl>
                                          <p:spTgt spid="162819">
                                            <p:txEl>
                                              <p:charRg st="30" end="5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62819">
                                            <p:txEl>
                                              <p:charRg st="55" end="74"/>
                                            </p:txEl>
                                          </p:spTgt>
                                        </p:tgtEl>
                                        <p:attrNameLst>
                                          <p:attrName>style.visibility</p:attrName>
                                        </p:attrNameLst>
                                      </p:cBhvr>
                                      <p:to>
                                        <p:strVal val="visible"/>
                                      </p:to>
                                    </p:set>
                                    <p:animEffect transition="in" filter="wipe(left)">
                                      <p:cBhvr>
                                        <p:cTn id="21" dur="500"/>
                                        <p:tgtEl>
                                          <p:spTgt spid="162819">
                                            <p:txEl>
                                              <p:charRg st="55" end="7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62819">
                                            <p:txEl>
                                              <p:charRg st="74" end="99"/>
                                            </p:txEl>
                                          </p:spTgt>
                                        </p:tgtEl>
                                        <p:attrNameLst>
                                          <p:attrName>style.visibility</p:attrName>
                                        </p:attrNameLst>
                                      </p:cBhvr>
                                      <p:to>
                                        <p:strVal val="visible"/>
                                      </p:to>
                                    </p:set>
                                    <p:animEffect transition="in" filter="wipe(left)">
                                      <p:cBhvr>
                                        <p:cTn id="26" dur="500"/>
                                        <p:tgtEl>
                                          <p:spTgt spid="162819">
                                            <p:txEl>
                                              <p:charRg st="74" end="9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2"/>
          <p:cNvSpPr>
            <a:spLocks noGrp="1"/>
          </p:cNvSpPr>
          <p:nvPr>
            <p:ph type="title" idx="4294967295"/>
          </p:nvPr>
        </p:nvSpPr>
        <p:spPr>
          <a:xfrm>
            <a:off x="1368425" y="3997325"/>
            <a:ext cx="1547813" cy="563563"/>
          </a:xfrm>
        </p:spPr>
        <p:txBody>
          <a:bodyPr vert="horz" wrap="square" lIns="91440" tIns="45720" rIns="91440" bIns="45720" anchor="ctr" anchorCtr="0"/>
          <a:p>
            <a:pPr eaLnBrk="1" hangingPunct="1"/>
            <a:r>
              <a:rPr lang="zh-CN" altLang="en-US" sz="2400" dirty="0">
                <a:solidFill>
                  <a:srgbClr val="000033"/>
                </a:solidFill>
                <a:ea typeface="宋体" panose="02010600030101010101" pitchFamily="2" charset="-122"/>
              </a:rPr>
              <a:t>过程调用</a:t>
            </a:r>
            <a:endParaRPr lang="zh-CN" altLang="en-US" sz="2400" dirty="0">
              <a:solidFill>
                <a:srgbClr val="000033"/>
              </a:solidFill>
              <a:ea typeface="宋体" panose="02010600030101010101" pitchFamily="2" charset="-122"/>
            </a:endParaRPr>
          </a:p>
        </p:txBody>
      </p:sp>
      <p:sp>
        <p:nvSpPr>
          <p:cNvPr id="166915" name="Rectangle 3"/>
          <p:cNvSpPr>
            <a:spLocks noGrp="1"/>
          </p:cNvSpPr>
          <p:nvPr>
            <p:ph type="body" idx="4294967295"/>
          </p:nvPr>
        </p:nvSpPr>
        <p:spPr>
          <a:xfrm>
            <a:off x="3276600" y="3495675"/>
            <a:ext cx="1716088" cy="1800225"/>
          </a:xfrm>
        </p:spPr>
        <p:txBody>
          <a:bodyPr vert="horz" wrap="square" lIns="91440" tIns="45720" rIns="91440" bIns="45720" anchor="t" anchorCtr="0"/>
          <a:p>
            <a:pPr eaLnBrk="1" hangingPunct="1">
              <a:buNone/>
            </a:pPr>
            <a:r>
              <a:rPr lang="zh-CN" altLang="en-US" sz="2400" dirty="0">
                <a:solidFill>
                  <a:srgbClr val="000033"/>
                </a:solidFill>
                <a:ea typeface="宋体" panose="02010600030101010101" pitchFamily="2" charset="-122"/>
              </a:rPr>
              <a:t>段内调用</a:t>
            </a:r>
            <a:endParaRPr lang="zh-CN" altLang="en-US" sz="2400" dirty="0">
              <a:solidFill>
                <a:srgbClr val="000033"/>
              </a:solidFill>
              <a:ea typeface="宋体" panose="02010600030101010101" pitchFamily="2" charset="-122"/>
            </a:endParaRPr>
          </a:p>
          <a:p>
            <a:pPr eaLnBrk="1" hangingPunct="1"/>
            <a:endParaRPr lang="zh-CN" altLang="en-US" sz="2400" dirty="0">
              <a:solidFill>
                <a:srgbClr val="000033"/>
              </a:solidFill>
              <a:ea typeface="宋体" panose="02010600030101010101" pitchFamily="2" charset="-122"/>
            </a:endParaRPr>
          </a:p>
          <a:p>
            <a:pPr eaLnBrk="1" hangingPunct="1">
              <a:spcBef>
                <a:spcPct val="60000"/>
              </a:spcBef>
              <a:buNone/>
            </a:pPr>
            <a:r>
              <a:rPr lang="zh-CN" altLang="en-US" sz="2400" dirty="0">
                <a:solidFill>
                  <a:srgbClr val="000033"/>
                </a:solidFill>
                <a:ea typeface="宋体" panose="02010600030101010101" pitchFamily="2" charset="-122"/>
              </a:rPr>
              <a:t>段间调用</a:t>
            </a:r>
            <a:endParaRPr lang="zh-CN" altLang="en-US" sz="2400" dirty="0">
              <a:solidFill>
                <a:srgbClr val="000033"/>
              </a:solidFill>
              <a:ea typeface="宋体" panose="02010600030101010101" pitchFamily="2" charset="-122"/>
            </a:endParaRPr>
          </a:p>
        </p:txBody>
      </p:sp>
      <p:sp>
        <p:nvSpPr>
          <p:cNvPr id="166916" name="Text Box 5"/>
          <p:cNvSpPr txBox="1"/>
          <p:nvPr/>
        </p:nvSpPr>
        <p:spPr>
          <a:xfrm>
            <a:off x="5364163" y="3213100"/>
            <a:ext cx="2160587" cy="10160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rgbClr val="000033"/>
                </a:solidFill>
                <a:latin typeface="Times New Roman" panose="02020603050405020304" pitchFamily="18" charset="0"/>
                <a:ea typeface="宋体" panose="02010600030101010101" pitchFamily="2" charset="-122"/>
              </a:rPr>
              <a:t>段内直接调用</a:t>
            </a:r>
            <a:endParaRPr lang="zh-CN" altLang="en-US" sz="2400" b="1" dirty="0">
              <a:solidFill>
                <a:srgbClr val="000033"/>
              </a:solidFill>
              <a:latin typeface="Times New Roman" panose="02020603050405020304" pitchFamily="18" charset="0"/>
              <a:ea typeface="宋体" panose="02010600030101010101" pitchFamily="2" charset="-122"/>
            </a:endParaRPr>
          </a:p>
          <a:p>
            <a:pPr eaLnBrk="0" hangingPunct="0">
              <a:spcBef>
                <a:spcPct val="50000"/>
              </a:spcBef>
              <a:buFont typeface="Wingdings" panose="05000000000000000000" pitchFamily="2" charset="2"/>
            </a:pPr>
            <a:r>
              <a:rPr lang="zh-CN" altLang="en-US" sz="2400" b="1" dirty="0">
                <a:solidFill>
                  <a:srgbClr val="000033"/>
                </a:solidFill>
                <a:latin typeface="Times New Roman" panose="02020603050405020304" pitchFamily="18" charset="0"/>
                <a:ea typeface="宋体" panose="02010600030101010101" pitchFamily="2" charset="-122"/>
              </a:rPr>
              <a:t>段内间接调用</a:t>
            </a:r>
            <a:endParaRPr lang="zh-CN" altLang="en-US" sz="2400" b="1" dirty="0">
              <a:solidFill>
                <a:srgbClr val="000033"/>
              </a:solidFill>
              <a:latin typeface="Times New Roman" panose="02020603050405020304" pitchFamily="18" charset="0"/>
              <a:ea typeface="宋体" panose="02010600030101010101" pitchFamily="2" charset="-122"/>
            </a:endParaRPr>
          </a:p>
        </p:txBody>
      </p:sp>
      <p:sp>
        <p:nvSpPr>
          <p:cNvPr id="166917" name="Text Box 6"/>
          <p:cNvSpPr txBox="1"/>
          <p:nvPr/>
        </p:nvSpPr>
        <p:spPr>
          <a:xfrm>
            <a:off x="5354638" y="4459288"/>
            <a:ext cx="2159000" cy="10160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solidFill>
                  <a:srgbClr val="000033"/>
                </a:solidFill>
                <a:latin typeface="Times New Roman" panose="02020603050405020304" pitchFamily="18" charset="0"/>
                <a:ea typeface="宋体" panose="02010600030101010101" pitchFamily="2" charset="-122"/>
              </a:rPr>
              <a:t>段间直接调用</a:t>
            </a:r>
            <a:endParaRPr lang="zh-CN" altLang="en-US" sz="2400" b="1" dirty="0">
              <a:solidFill>
                <a:srgbClr val="000033"/>
              </a:solidFill>
              <a:latin typeface="Times New Roman" panose="02020603050405020304" pitchFamily="18" charset="0"/>
              <a:ea typeface="宋体" panose="02010600030101010101" pitchFamily="2" charset="-122"/>
            </a:endParaRPr>
          </a:p>
          <a:p>
            <a:pPr eaLnBrk="0" hangingPunct="0">
              <a:spcBef>
                <a:spcPct val="50000"/>
              </a:spcBef>
              <a:buFont typeface="Wingdings" panose="05000000000000000000" pitchFamily="2" charset="2"/>
            </a:pPr>
            <a:r>
              <a:rPr lang="zh-CN" altLang="en-US" sz="2400" b="1" dirty="0">
                <a:solidFill>
                  <a:srgbClr val="000033"/>
                </a:solidFill>
                <a:latin typeface="Times New Roman" panose="02020603050405020304" pitchFamily="18" charset="0"/>
                <a:ea typeface="宋体" panose="02010600030101010101" pitchFamily="2" charset="-122"/>
              </a:rPr>
              <a:t>段间间接调用</a:t>
            </a:r>
            <a:endParaRPr lang="zh-CN" altLang="en-US" sz="2400" b="1" dirty="0">
              <a:solidFill>
                <a:srgbClr val="000033"/>
              </a:solidFill>
              <a:latin typeface="Times New Roman" panose="02020603050405020304" pitchFamily="18" charset="0"/>
              <a:ea typeface="宋体" panose="02010600030101010101" pitchFamily="2" charset="-122"/>
            </a:endParaRPr>
          </a:p>
        </p:txBody>
      </p:sp>
      <p:sp>
        <p:nvSpPr>
          <p:cNvPr id="166918" name="AutoShape 7"/>
          <p:cNvSpPr/>
          <p:nvPr/>
        </p:nvSpPr>
        <p:spPr>
          <a:xfrm>
            <a:off x="2987675" y="3752850"/>
            <a:ext cx="215900" cy="1150938"/>
          </a:xfrm>
          <a:prstGeom prst="leftBrace">
            <a:avLst>
              <a:gd name="adj1" fmla="val 44078"/>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solidFill>
                <a:srgbClr val="000033"/>
              </a:solidFill>
              <a:latin typeface="Times New Roman" panose="02020603050405020304" pitchFamily="18" charset="0"/>
              <a:ea typeface="宋体" panose="02010600030101010101" pitchFamily="2" charset="-122"/>
            </a:endParaRPr>
          </a:p>
        </p:txBody>
      </p:sp>
      <p:sp>
        <p:nvSpPr>
          <p:cNvPr id="166919" name="AutoShape 8"/>
          <p:cNvSpPr/>
          <p:nvPr/>
        </p:nvSpPr>
        <p:spPr>
          <a:xfrm>
            <a:off x="5005388" y="3302000"/>
            <a:ext cx="152400" cy="914400"/>
          </a:xfrm>
          <a:prstGeom prst="leftBrace">
            <a:avLst>
              <a:gd name="adj1" fmla="val 50000"/>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solidFill>
                <a:srgbClr val="000033"/>
              </a:solidFill>
              <a:latin typeface="Times New Roman" panose="02020603050405020304" pitchFamily="18" charset="0"/>
              <a:ea typeface="宋体" panose="02010600030101010101" pitchFamily="2" charset="-122"/>
            </a:endParaRPr>
          </a:p>
        </p:txBody>
      </p:sp>
      <p:sp>
        <p:nvSpPr>
          <p:cNvPr id="166920" name="AutoShape 9"/>
          <p:cNvSpPr/>
          <p:nvPr/>
        </p:nvSpPr>
        <p:spPr>
          <a:xfrm>
            <a:off x="5005388" y="4560888"/>
            <a:ext cx="152400" cy="914400"/>
          </a:xfrm>
          <a:prstGeom prst="leftBrace">
            <a:avLst>
              <a:gd name="adj1" fmla="val 50000"/>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solidFill>
                <a:srgbClr val="000033"/>
              </a:solidFill>
              <a:latin typeface="Times New Roman" panose="02020603050405020304" pitchFamily="18" charset="0"/>
              <a:ea typeface="宋体" panose="02010600030101010101" pitchFamily="2" charset="-122"/>
            </a:endParaRPr>
          </a:p>
        </p:txBody>
      </p:sp>
      <p:sp>
        <p:nvSpPr>
          <p:cNvPr id="166921" name="Text Box 10"/>
          <p:cNvSpPr txBox="1"/>
          <p:nvPr/>
        </p:nvSpPr>
        <p:spPr>
          <a:xfrm>
            <a:off x="3348038" y="1773238"/>
            <a:ext cx="2357437" cy="522287"/>
          </a:xfrm>
          <a:prstGeom prst="rect">
            <a:avLst/>
          </a:prstGeom>
          <a:noFill/>
          <a:ln w="9525">
            <a:noFill/>
          </a:ln>
        </p:spPr>
        <p:txBody>
          <a:bodyPr wrap="none">
            <a:spAutoFit/>
          </a:bodyPr>
          <a:p>
            <a:pPr>
              <a:buFont typeface="Wingdings" panose="05000000000000000000" pitchFamily="2" charset="2"/>
            </a:pPr>
            <a:r>
              <a:rPr lang="en-US" altLang="zh-CN" sz="2800" b="1" dirty="0">
                <a:latin typeface="宋体" panose="02010600030101010101" pitchFamily="2" charset="-122"/>
                <a:ea typeface="宋体" panose="02010600030101010101" pitchFamily="2" charset="-122"/>
              </a:rPr>
              <a:t>CALL    OPRD</a:t>
            </a:r>
            <a:endParaRPr lang="en-US" altLang="zh-CN" sz="2800" b="1" dirty="0">
              <a:latin typeface="宋体" panose="02010600030101010101" pitchFamily="2" charset="-122"/>
              <a:ea typeface="宋体" panose="02010600030101010101" pitchFamily="2" charset="-122"/>
            </a:endParaRPr>
          </a:p>
        </p:txBody>
      </p:sp>
      <p:cxnSp>
        <p:nvCxnSpPr>
          <p:cNvPr id="166922" name="直接连接符 2"/>
          <p:cNvCxnSpPr/>
          <p:nvPr/>
        </p:nvCxnSpPr>
        <p:spPr>
          <a:xfrm>
            <a:off x="611188" y="2420938"/>
            <a:ext cx="7777162" cy="0"/>
          </a:xfrm>
          <a:prstGeom prst="line">
            <a:avLst/>
          </a:prstGeom>
          <a:ln w="38100" cap="flat" cmpd="sng">
            <a:solidFill>
              <a:schemeClr val="tx1"/>
            </a:solidFill>
            <a:prstDash val="solid"/>
            <a:headEnd type="none" w="med" len="med"/>
            <a:tailEnd type="none" w="med" len="med"/>
          </a:ln>
        </p:spPr>
      </p:cxnSp>
    </p:spTree>
  </p:cSld>
  <p:clrMapOvr>
    <a:masterClrMapping/>
  </p:clrMapOvr>
  <p:transition spd="slow"/>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7" name="Rectangle 3"/>
          <p:cNvSpPr>
            <a:spLocks noGrp="1"/>
          </p:cNvSpPr>
          <p:nvPr>
            <p:ph type="body" idx="4294967295"/>
          </p:nvPr>
        </p:nvSpPr>
        <p:spPr>
          <a:xfrm>
            <a:off x="681038" y="1916113"/>
            <a:ext cx="5765800" cy="3716337"/>
          </a:xfrm>
        </p:spPr>
        <p:txBody>
          <a:bodyPr vert="horz" wrap="square" lIns="91440" tIns="45720" rIns="91440" bIns="45720" anchor="t" anchorCtr="0"/>
          <a:p>
            <a:pPr eaLnBrk="1" hangingPunct="1">
              <a:spcAft>
                <a:spcPct val="30000"/>
              </a:spcAft>
              <a:buFont typeface="Wingdings" panose="05000000000000000000" pitchFamily="2" charset="2"/>
              <a:buChar char="Ø"/>
            </a:pPr>
            <a:r>
              <a:rPr lang="zh-CN" altLang="en-US" sz="2400" dirty="0">
                <a:ea typeface="宋体" panose="02010600030101010101" pitchFamily="2" charset="-122"/>
              </a:rPr>
              <a:t>被调用程序与调用程序在同一代码段</a:t>
            </a:r>
            <a:endParaRPr lang="zh-CN" altLang="en-US" sz="2400" dirty="0">
              <a:ea typeface="宋体" panose="02010600030101010101" pitchFamily="2" charset="-122"/>
            </a:endParaRPr>
          </a:p>
          <a:p>
            <a:pPr lvl="1" eaLnBrk="1" hangingPunct="1">
              <a:spcAft>
                <a:spcPct val="30000"/>
              </a:spcAft>
              <a:buFont typeface="Wingdings" panose="05000000000000000000" pitchFamily="2" charset="2"/>
              <a:buChar char="•"/>
            </a:pPr>
            <a:r>
              <a:rPr lang="zh-CN" altLang="en-US" dirty="0">
                <a:ea typeface="宋体" panose="02010600030101010101" pitchFamily="2" charset="-122"/>
              </a:rPr>
              <a:t>调用前只需保护断点的偏移地址</a:t>
            </a:r>
            <a:endParaRPr lang="zh-CN" altLang="en-US" dirty="0">
              <a:ea typeface="宋体" panose="02010600030101010101" pitchFamily="2" charset="-122"/>
            </a:endParaRPr>
          </a:p>
          <a:p>
            <a:pPr eaLnBrk="1" hangingPunct="1">
              <a:buFont typeface="Wingdings" panose="05000000000000000000" pitchFamily="2" charset="2"/>
              <a:buChar char="Ø"/>
            </a:pPr>
            <a:r>
              <a:rPr lang="zh-CN" altLang="en-US" sz="2400" dirty="0">
                <a:ea typeface="宋体" panose="02010600030101010101" pitchFamily="2" charset="-122"/>
              </a:rPr>
              <a:t>格式：</a:t>
            </a:r>
            <a:endParaRPr lang="zh-CN" altLang="en-US" sz="2400" dirty="0">
              <a:ea typeface="宋体" panose="02010600030101010101" pitchFamily="2" charset="-122"/>
            </a:endParaRPr>
          </a:p>
          <a:p>
            <a:pPr eaLnBrk="1" hangingPunct="1">
              <a:buNone/>
            </a:pPr>
            <a:r>
              <a:rPr lang="zh-CN" altLang="en-US" sz="2400" dirty="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CALL  NEAR  PROC</a:t>
            </a:r>
            <a:endParaRPr lang="en-US" altLang="zh-CN" sz="2400" dirty="0">
              <a:latin typeface="Times New Roman" panose="02020603050405020304" pitchFamily="18" charset="0"/>
              <a:ea typeface="宋体" panose="02010600030101010101" pitchFamily="2" charset="-122"/>
            </a:endParaRPr>
          </a:p>
          <a:p>
            <a:pPr eaLnBrk="1" hangingPunct="1">
              <a:spcBef>
                <a:spcPct val="50000"/>
              </a:spcBef>
              <a:buFont typeface="Wingdings" panose="05000000000000000000" pitchFamily="2" charset="2"/>
              <a:buChar char="•"/>
            </a:pPr>
            <a:endParaRPr lang="zh-CN" altLang="en-US" sz="2400" dirty="0">
              <a:latin typeface="Times New Roman" panose="02020603050405020304" pitchFamily="18" charset="0"/>
              <a:ea typeface="宋体" panose="02010600030101010101" pitchFamily="2" charset="-122"/>
            </a:endParaRPr>
          </a:p>
          <a:p>
            <a:pPr eaLnBrk="1" hangingPunct="1">
              <a:spcBef>
                <a:spcPct val="50000"/>
              </a:spcBef>
              <a:buFont typeface="Wingdings" panose="05000000000000000000" pitchFamily="2" charset="2"/>
              <a:buChar char="•"/>
            </a:pPr>
            <a:endParaRPr lang="zh-CN" altLang="en-US" sz="2400" dirty="0">
              <a:latin typeface="Times New Roman" panose="02020603050405020304" pitchFamily="18" charset="0"/>
              <a:ea typeface="宋体" panose="02010600030101010101" pitchFamily="2" charset="-122"/>
            </a:endParaRPr>
          </a:p>
          <a:p>
            <a:pPr eaLnBrk="1" hangingPunct="1">
              <a:spcBef>
                <a:spcPct val="50000"/>
              </a:spcBef>
              <a:buFont typeface="Wingdings" panose="05000000000000000000" pitchFamily="2" charset="2"/>
              <a:buChar char="Ø"/>
            </a:pPr>
            <a:r>
              <a:rPr lang="zh-CN" altLang="en-US" sz="2400" dirty="0">
                <a:latin typeface="Times New Roman" panose="02020603050405020304" pitchFamily="18" charset="0"/>
                <a:ea typeface="宋体" panose="02010600030101010101" pitchFamily="2" charset="-122"/>
              </a:rPr>
              <a:t>执行过程：</a:t>
            </a:r>
            <a:endParaRPr lang="zh-CN" altLang="en-US" sz="2400" dirty="0">
              <a:latin typeface="Times New Roman" panose="02020603050405020304" pitchFamily="18" charset="0"/>
              <a:ea typeface="宋体" panose="02010600030101010101" pitchFamily="2" charset="-122"/>
            </a:endParaRPr>
          </a:p>
        </p:txBody>
      </p:sp>
      <p:sp>
        <p:nvSpPr>
          <p:cNvPr id="164868" name="Line 4"/>
          <p:cNvSpPr/>
          <p:nvPr/>
        </p:nvSpPr>
        <p:spPr>
          <a:xfrm flipH="1">
            <a:off x="3273425" y="3975100"/>
            <a:ext cx="541338" cy="647700"/>
          </a:xfrm>
          <a:prstGeom prst="line">
            <a:avLst/>
          </a:prstGeom>
          <a:ln w="25400" cap="sq" cmpd="sng">
            <a:solidFill>
              <a:srgbClr val="FF6600"/>
            </a:solidFill>
            <a:prstDash val="solid"/>
            <a:headEnd type="none" w="med" len="med"/>
            <a:tailEnd type="triangle" w="lg" len="lg"/>
          </a:ln>
        </p:spPr>
      </p:sp>
      <p:sp>
        <p:nvSpPr>
          <p:cNvPr id="164869" name="Text Box 5"/>
          <p:cNvSpPr txBox="1"/>
          <p:nvPr/>
        </p:nvSpPr>
        <p:spPr>
          <a:xfrm>
            <a:off x="2457450" y="4598988"/>
            <a:ext cx="17526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近过程名</a:t>
            </a:r>
            <a:endParaRPr lang="zh-CN" altLang="en-US" sz="2400" b="1" dirty="0">
              <a:latin typeface="Times New Roman" panose="02020603050405020304" pitchFamily="18" charset="0"/>
              <a:ea typeface="宋体" panose="02010600030101010101" pitchFamily="2" charset="-122"/>
            </a:endParaRPr>
          </a:p>
        </p:txBody>
      </p:sp>
      <p:sp>
        <p:nvSpPr>
          <p:cNvPr id="164870" name="Line 6"/>
          <p:cNvSpPr/>
          <p:nvPr/>
        </p:nvSpPr>
        <p:spPr>
          <a:xfrm>
            <a:off x="6305550" y="3857625"/>
            <a:ext cx="0" cy="685800"/>
          </a:xfrm>
          <a:prstGeom prst="line">
            <a:avLst/>
          </a:prstGeom>
          <a:ln w="25400" cap="sq" cmpd="sng">
            <a:solidFill>
              <a:srgbClr val="FF6600"/>
            </a:solidFill>
            <a:prstDash val="solid"/>
            <a:headEnd type="none" w="med" len="med"/>
            <a:tailEnd type="triangle" w="lg" len="lg"/>
          </a:ln>
        </p:spPr>
      </p:sp>
      <p:sp>
        <p:nvSpPr>
          <p:cNvPr id="164871" name="Line 7"/>
          <p:cNvSpPr/>
          <p:nvPr/>
        </p:nvSpPr>
        <p:spPr>
          <a:xfrm flipV="1">
            <a:off x="6305550" y="3759200"/>
            <a:ext cx="1144588" cy="784225"/>
          </a:xfrm>
          <a:prstGeom prst="line">
            <a:avLst/>
          </a:prstGeom>
          <a:ln w="25400" cap="sq" cmpd="sng">
            <a:solidFill>
              <a:srgbClr val="FF6600"/>
            </a:solidFill>
            <a:prstDash val="solid"/>
            <a:headEnd type="none" w="med" len="med"/>
            <a:tailEnd type="triangle" w="lg" len="lg"/>
          </a:ln>
        </p:spPr>
      </p:sp>
      <p:sp>
        <p:nvSpPr>
          <p:cNvPr id="164872" name="Line 8"/>
          <p:cNvSpPr/>
          <p:nvPr/>
        </p:nvSpPr>
        <p:spPr>
          <a:xfrm>
            <a:off x="7450138" y="3992563"/>
            <a:ext cx="0" cy="2447925"/>
          </a:xfrm>
          <a:prstGeom prst="line">
            <a:avLst/>
          </a:prstGeom>
          <a:ln w="25400" cap="sq" cmpd="sng">
            <a:solidFill>
              <a:srgbClr val="FF6600"/>
            </a:solidFill>
            <a:prstDash val="solid"/>
            <a:headEnd type="none" w="med" len="med"/>
            <a:tailEnd type="triangle" w="lg" len="lg"/>
          </a:ln>
        </p:spPr>
      </p:sp>
      <p:sp>
        <p:nvSpPr>
          <p:cNvPr id="164873" name="Line 9"/>
          <p:cNvSpPr/>
          <p:nvPr/>
        </p:nvSpPr>
        <p:spPr>
          <a:xfrm flipH="1" flipV="1">
            <a:off x="6305550" y="4772025"/>
            <a:ext cx="1144588" cy="1435100"/>
          </a:xfrm>
          <a:prstGeom prst="line">
            <a:avLst/>
          </a:prstGeom>
          <a:ln w="25400" cap="sq" cmpd="sng">
            <a:solidFill>
              <a:srgbClr val="FF6600"/>
            </a:solidFill>
            <a:prstDash val="solid"/>
            <a:headEnd type="none" w="med" len="med"/>
            <a:tailEnd type="triangle" w="lg" len="lg"/>
          </a:ln>
        </p:spPr>
      </p:sp>
      <p:sp>
        <p:nvSpPr>
          <p:cNvPr id="164874" name="Line 10"/>
          <p:cNvSpPr/>
          <p:nvPr/>
        </p:nvSpPr>
        <p:spPr>
          <a:xfrm flipH="1">
            <a:off x="6297613" y="4772025"/>
            <a:ext cx="7937" cy="1508125"/>
          </a:xfrm>
          <a:prstGeom prst="line">
            <a:avLst/>
          </a:prstGeom>
          <a:ln w="25400" cap="sq" cmpd="sng">
            <a:solidFill>
              <a:srgbClr val="FF6600"/>
            </a:solidFill>
            <a:prstDash val="solid"/>
            <a:headEnd type="none" w="med" len="med"/>
            <a:tailEnd type="triangle" w="lg" len="lg"/>
          </a:ln>
        </p:spPr>
      </p:sp>
      <p:sp>
        <p:nvSpPr>
          <p:cNvPr id="164875" name="Oval 11"/>
          <p:cNvSpPr/>
          <p:nvPr/>
        </p:nvSpPr>
        <p:spPr>
          <a:xfrm>
            <a:off x="6134100" y="4619625"/>
            <a:ext cx="457200" cy="457200"/>
          </a:xfrm>
          <a:prstGeom prst="ellipse">
            <a:avLst/>
          </a:prstGeom>
          <a:noFill/>
          <a:ln w="25400" cap="flat" cmpd="sng">
            <a:solidFill>
              <a:schemeClr val="tx1"/>
            </a:solidFill>
            <a:prstDash val="dash"/>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64876" name="AutoShape 13"/>
          <p:cNvSpPr/>
          <p:nvPr/>
        </p:nvSpPr>
        <p:spPr>
          <a:xfrm>
            <a:off x="3978275" y="4335463"/>
            <a:ext cx="1384300" cy="576262"/>
          </a:xfrm>
          <a:prstGeom prst="wedgeRoundRectCallout">
            <a:avLst>
              <a:gd name="adj1" fmla="val 169162"/>
              <a:gd name="adj2" fmla="val -75528"/>
              <a:gd name="adj3" fmla="val 16667"/>
            </a:avLst>
          </a:prstGeom>
          <a:solidFill>
            <a:srgbClr val="339966"/>
          </a:solidFill>
          <a:ln w="25400" cap="sq" cmpd="sng">
            <a:solidFill>
              <a:srgbClr val="339966"/>
            </a:solidFill>
            <a:prstDash val="solid"/>
            <a:miter/>
            <a:headEnd type="none" w="med" len="med"/>
            <a:tailEnd type="none" w="med" len="med"/>
          </a:ln>
        </p:spPr>
        <p:txBody>
          <a:bodyPr/>
          <a:p>
            <a:pPr eaLnBrk="0" hangingPunct="0">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代码段</a:t>
            </a:r>
            <a:r>
              <a:rPr lang="en-US" altLang="zh-CN" sz="2400" b="1" dirty="0">
                <a:solidFill>
                  <a:schemeClr val="bg1"/>
                </a:solidFill>
                <a:latin typeface="Times New Roman" panose="02020603050405020304" pitchFamily="18" charset="0"/>
                <a:ea typeface="宋体" panose="02010600030101010101" pitchFamily="2" charset="-122"/>
              </a:rPr>
              <a:t>1</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64877" name="Oval 14"/>
          <p:cNvSpPr/>
          <p:nvPr/>
        </p:nvSpPr>
        <p:spPr>
          <a:xfrm>
            <a:off x="7204075" y="3571875"/>
            <a:ext cx="457200" cy="457200"/>
          </a:xfrm>
          <a:prstGeom prst="ellipse">
            <a:avLst/>
          </a:prstGeom>
          <a:noFill/>
          <a:ln w="25400" cap="flat" cmpd="sng">
            <a:solidFill>
              <a:schemeClr val="tx1"/>
            </a:solidFill>
            <a:prstDash val="dash"/>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64878" name="Text Box 17"/>
          <p:cNvSpPr txBox="1"/>
          <p:nvPr/>
        </p:nvSpPr>
        <p:spPr>
          <a:xfrm>
            <a:off x="5749925" y="3327400"/>
            <a:ext cx="1108075" cy="336550"/>
          </a:xfrm>
          <a:prstGeom prst="rect">
            <a:avLst/>
          </a:prstGeom>
          <a:noFill/>
          <a:ln w="9525">
            <a:noFill/>
          </a:ln>
        </p:spPr>
        <p:txBody>
          <a:bodyPr>
            <a:spAutoFit/>
          </a:bodyPr>
          <a:p>
            <a:pPr eaLnBrk="0" hangingPunct="0">
              <a:buFont typeface="Wingdings" panose="05000000000000000000" pitchFamily="2" charset="2"/>
            </a:pPr>
            <a:r>
              <a:rPr lang="zh-CN" altLang="en-US" sz="1600" b="1" dirty="0">
                <a:latin typeface="Times New Roman" panose="02020603050405020304" pitchFamily="18" charset="0"/>
                <a:ea typeface="宋体" panose="02010600030101010101" pitchFamily="2" charset="-122"/>
              </a:rPr>
              <a:t>调用程序</a:t>
            </a:r>
            <a:endParaRPr lang="zh-CN" altLang="en-US" sz="1600" b="1" dirty="0">
              <a:latin typeface="Times New Roman" panose="02020603050405020304" pitchFamily="18" charset="0"/>
              <a:ea typeface="宋体" panose="02010600030101010101" pitchFamily="2" charset="-122"/>
            </a:endParaRPr>
          </a:p>
        </p:txBody>
      </p:sp>
      <p:sp>
        <p:nvSpPr>
          <p:cNvPr id="164879" name="Text Box 18"/>
          <p:cNvSpPr txBox="1"/>
          <p:nvPr/>
        </p:nvSpPr>
        <p:spPr>
          <a:xfrm>
            <a:off x="6875463" y="3182938"/>
            <a:ext cx="1366837" cy="336550"/>
          </a:xfrm>
          <a:prstGeom prst="rect">
            <a:avLst/>
          </a:prstGeom>
          <a:noFill/>
          <a:ln w="9525">
            <a:noFill/>
          </a:ln>
        </p:spPr>
        <p:txBody>
          <a:bodyPr>
            <a:spAutoFit/>
          </a:bodyPr>
          <a:p>
            <a:pPr eaLnBrk="0" hangingPunct="0">
              <a:buFont typeface="Wingdings" panose="05000000000000000000" pitchFamily="2" charset="2"/>
            </a:pPr>
            <a:r>
              <a:rPr lang="zh-CN" altLang="en-US" sz="1600" b="1" dirty="0">
                <a:latin typeface="Times New Roman" panose="02020603050405020304" pitchFamily="18" charset="0"/>
                <a:ea typeface="宋体" panose="02010600030101010101" pitchFamily="2" charset="-122"/>
              </a:rPr>
              <a:t>被调用程序</a:t>
            </a:r>
            <a:endParaRPr lang="zh-CN" altLang="en-US" sz="1600" b="1" dirty="0">
              <a:latin typeface="Times New Roman" panose="02020603050405020304" pitchFamily="18" charset="0"/>
              <a:ea typeface="宋体" panose="02010600030101010101" pitchFamily="2" charset="-122"/>
            </a:endParaRPr>
          </a:p>
        </p:txBody>
      </p:sp>
      <p:sp>
        <p:nvSpPr>
          <p:cNvPr id="164880" name="AutoShape 19"/>
          <p:cNvSpPr/>
          <p:nvPr/>
        </p:nvSpPr>
        <p:spPr>
          <a:xfrm>
            <a:off x="7704138" y="5216525"/>
            <a:ext cx="1117600" cy="788988"/>
          </a:xfrm>
          <a:prstGeom prst="wedgeRoundRectCallout">
            <a:avLst>
              <a:gd name="adj1" fmla="val -54440"/>
              <a:gd name="adj2" fmla="val -191370"/>
              <a:gd name="adj3" fmla="val 16667"/>
            </a:avLst>
          </a:prstGeom>
          <a:solidFill>
            <a:srgbClr val="339966"/>
          </a:solidFill>
          <a:ln w="25400" cap="sq" cmpd="sng">
            <a:solidFill>
              <a:srgbClr val="339966"/>
            </a:solidFill>
            <a:prstDash val="solid"/>
            <a:miter/>
            <a:headEnd type="none" w="med" len="med"/>
            <a:tailEnd type="none" w="med" len="med"/>
          </a:ln>
        </p:spPr>
        <p:txBody>
          <a:bodyPr/>
          <a:p>
            <a:pPr eaLnBrk="0" hangingPunct="0">
              <a:buFont typeface="Wingdings" panose="05000000000000000000" pitchFamily="2" charset="2"/>
            </a:pPr>
            <a:r>
              <a:rPr lang="zh-CN" altLang="en-US" sz="2400" b="1" dirty="0">
                <a:solidFill>
                  <a:schemeClr val="bg1"/>
                </a:solidFill>
                <a:latin typeface="Times New Roman" panose="02020603050405020304" pitchFamily="18" charset="0"/>
                <a:ea typeface="宋体" panose="02010600030101010101" pitchFamily="2" charset="-122"/>
              </a:rPr>
              <a:t>代码段</a:t>
            </a:r>
            <a:r>
              <a:rPr lang="en-US" altLang="zh-CN" sz="2400" b="1" dirty="0">
                <a:solidFill>
                  <a:schemeClr val="bg1"/>
                </a:solidFill>
                <a:latin typeface="Times New Roman" panose="02020603050405020304" pitchFamily="18" charset="0"/>
                <a:ea typeface="宋体" panose="02010600030101010101" pitchFamily="2" charset="-122"/>
              </a:rPr>
              <a:t>1</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64881" name="Text Box 20"/>
          <p:cNvSpPr txBox="1"/>
          <p:nvPr/>
        </p:nvSpPr>
        <p:spPr>
          <a:xfrm>
            <a:off x="1041400" y="5786438"/>
            <a:ext cx="3600450" cy="777875"/>
          </a:xfrm>
          <a:prstGeom prst="rect">
            <a:avLst/>
          </a:prstGeom>
          <a:noFill/>
          <a:ln w="9525">
            <a:noFill/>
          </a:ln>
        </p:spPr>
        <p:txBody>
          <a:bodyPr>
            <a:spAutoFit/>
          </a:bodyPr>
          <a:p>
            <a:pPr eaLnBrk="0" hangingPunct="0">
              <a:spcBef>
                <a:spcPct val="50000"/>
              </a:spcBef>
              <a:buClr>
                <a:srgbClr val="FF0000"/>
              </a:buClr>
              <a:buSzPct val="60000"/>
              <a:buFont typeface="Wingdings" panose="05000000000000000000" pitchFamily="2" charset="2"/>
              <a:buChar char="n"/>
            </a:pPr>
            <a:r>
              <a:rPr lang="en-US" altLang="zh-CN" sz="2000" b="1" dirty="0">
                <a:latin typeface="Times New Roman" panose="02020603050405020304" pitchFamily="18" charset="0"/>
                <a:ea typeface="宋体" panose="02010600030101010101" pitchFamily="2" charset="-122"/>
              </a:rPr>
              <a:t> </a:t>
            </a:r>
            <a:r>
              <a:rPr lang="zh-CN" altLang="en-US" sz="2000" b="1" dirty="0">
                <a:latin typeface="Times New Roman" panose="02020603050405020304" pitchFamily="18" charset="0"/>
                <a:ea typeface="宋体" panose="02010600030101010101" pitchFamily="2" charset="-122"/>
              </a:rPr>
              <a:t>将断点的偏移地址压入堆栈</a:t>
            </a:r>
            <a:endParaRPr lang="zh-CN" altLang="en-US" sz="2000" b="1" dirty="0">
              <a:latin typeface="Times New Roman" panose="02020603050405020304" pitchFamily="18" charset="0"/>
              <a:ea typeface="宋体" panose="02010600030101010101" pitchFamily="2" charset="-122"/>
            </a:endParaRPr>
          </a:p>
          <a:p>
            <a:pPr eaLnBrk="0" hangingPunct="0">
              <a:spcBef>
                <a:spcPct val="25000"/>
              </a:spcBef>
              <a:buClr>
                <a:srgbClr val="FF0000"/>
              </a:buClr>
              <a:buSzPct val="60000"/>
              <a:buFont typeface="Wingdings" panose="05000000000000000000" pitchFamily="2" charset="2"/>
              <a:buChar char="n"/>
            </a:pPr>
            <a:r>
              <a:rPr lang="zh-CN" altLang="en-US" sz="2000" b="1" dirty="0">
                <a:latin typeface="Times New Roman" panose="02020603050405020304" pitchFamily="18" charset="0"/>
                <a:ea typeface="宋体" panose="02010600030101010101" pitchFamily="2" charset="-122"/>
              </a:rPr>
              <a:t> 根据过程名找子程序入口</a:t>
            </a:r>
            <a:endParaRPr lang="zh-CN" altLang="en-US" sz="2000" b="1" dirty="0">
              <a:latin typeface="Times New Roman" panose="02020603050405020304" pitchFamily="18" charset="0"/>
              <a:ea typeface="宋体" panose="02010600030101010101" pitchFamily="2" charset="-122"/>
            </a:endParaRPr>
          </a:p>
        </p:txBody>
      </p:sp>
      <p:sp>
        <p:nvSpPr>
          <p:cNvPr id="167953" name="Rectangle 2"/>
          <p:cNvSpPr txBox="1"/>
          <p:nvPr/>
        </p:nvSpPr>
        <p:spPr>
          <a:xfrm>
            <a:off x="755650" y="1052513"/>
            <a:ext cx="2808288" cy="563562"/>
          </a:xfrm>
          <a:prstGeom prst="rect">
            <a:avLst/>
          </a:prstGeom>
          <a:noFill/>
          <a:ln w="9525">
            <a:noFill/>
          </a:ln>
        </p:spPr>
        <p:txBody>
          <a:bodyPr anchor="ctr" anchorCtr="0"/>
          <a:p>
            <a:pPr>
              <a:buFont typeface="Wingdings" panose="05000000000000000000" pitchFamily="2" charset="2"/>
            </a:pPr>
            <a:r>
              <a:rPr lang="zh-CN" altLang="en-US" sz="2800" b="1" dirty="0">
                <a:solidFill>
                  <a:srgbClr val="000033"/>
                </a:solidFill>
                <a:latin typeface="宋体" panose="02010600030101010101" pitchFamily="2" charset="-122"/>
                <a:ea typeface="宋体" panose="02010600030101010101" pitchFamily="2" charset="-122"/>
              </a:rPr>
              <a:t>（</a:t>
            </a:r>
            <a:r>
              <a:rPr lang="en-US" altLang="zh-CN" sz="2800" b="1" dirty="0">
                <a:solidFill>
                  <a:srgbClr val="000033"/>
                </a:solidFill>
                <a:latin typeface="宋体" panose="02010600030101010101" pitchFamily="2" charset="-122"/>
                <a:ea typeface="宋体" panose="02010600030101010101" pitchFamily="2" charset="-122"/>
              </a:rPr>
              <a:t>1</a:t>
            </a:r>
            <a:r>
              <a:rPr lang="zh-CN" altLang="en-US" sz="2800" b="1" dirty="0">
                <a:solidFill>
                  <a:srgbClr val="000033"/>
                </a:solidFill>
                <a:latin typeface="宋体" panose="02010600030101010101" pitchFamily="2" charset="-122"/>
                <a:ea typeface="宋体" panose="02010600030101010101" pitchFamily="2" charset="-122"/>
              </a:rPr>
              <a:t>）段内调用</a:t>
            </a:r>
            <a:endParaRPr lang="zh-CN" altLang="en-US" sz="2800" b="1" dirty="0">
              <a:solidFill>
                <a:srgbClr val="000033"/>
              </a:solidFill>
              <a:latin typeface="宋体" panose="02010600030101010101" pitchFamily="2" charset="-122"/>
              <a:ea typeface="宋体" panose="02010600030101010101" pitchFamily="2" charset="-122"/>
            </a:endParaRPr>
          </a:p>
        </p:txBody>
      </p:sp>
      <p:sp>
        <p:nvSpPr>
          <p:cNvPr id="167954" name="文本框 1"/>
          <p:cNvSpPr txBox="1"/>
          <p:nvPr/>
        </p:nvSpPr>
        <p:spPr>
          <a:xfrm>
            <a:off x="6248400" y="1084263"/>
            <a:ext cx="2787650" cy="639762"/>
          </a:xfrm>
          <a:prstGeom prst="rect">
            <a:avLst/>
          </a:prstGeom>
          <a:noFill/>
          <a:ln w="19050" cap="flat" cmpd="sng">
            <a:solidFill>
              <a:schemeClr val="tx1"/>
            </a:solidFill>
            <a:prstDash val="solid"/>
            <a:round/>
            <a:headEnd type="none" w="med" len="med"/>
            <a:tailEnd type="none" w="med" len="med"/>
          </a:ln>
        </p:spPr>
        <p:txBody>
          <a:bodyPr>
            <a:spAutoFit/>
          </a:bodyPr>
          <a:p>
            <a:pPr>
              <a:buNone/>
            </a:pPr>
            <a:r>
              <a:rPr lang="en-US" altLang="zh-CN" dirty="0">
                <a:latin typeface="Arial" panose="020B0604020202020204" pitchFamily="34" charset="0"/>
                <a:ea typeface="宋体" panose="02010600030101010101" pitchFamily="2" charset="-122"/>
              </a:rPr>
              <a:t>PUSH IP</a:t>
            </a:r>
            <a:endParaRPr lang="en-US" altLang="zh-CN" dirty="0">
              <a:latin typeface="Arial" panose="020B0604020202020204" pitchFamily="34" charset="0"/>
              <a:ea typeface="宋体" panose="02010600030101010101" pitchFamily="2" charset="-122"/>
            </a:endParaRPr>
          </a:p>
          <a:p>
            <a:pPr>
              <a:buNone/>
            </a:pPr>
            <a:r>
              <a:rPr lang="en-US" altLang="zh-CN" dirty="0">
                <a:latin typeface="Arial" panose="020B0604020202020204" pitchFamily="34" charset="0"/>
                <a:ea typeface="宋体" panose="02010600030101010101" pitchFamily="2" charset="-122"/>
              </a:rPr>
              <a:t>JMP NEAR PTR PROC</a:t>
            </a:r>
            <a:endParaRPr lang="en-US" altLang="zh-CN" dirty="0">
              <a:latin typeface="Arial" panose="020B0604020202020204" pitchFamily="34"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64867">
                                            <p:txEl>
                                              <p:charRg st="0" end="17"/>
                                            </p:txEl>
                                          </p:spTgt>
                                        </p:tgtEl>
                                        <p:attrNameLst>
                                          <p:attrName>style.visibility</p:attrName>
                                        </p:attrNameLst>
                                      </p:cBhvr>
                                      <p:to>
                                        <p:strVal val="visible"/>
                                      </p:to>
                                    </p:set>
                                    <p:animEffect transition="in" filter="wipe(left)">
                                      <p:cBhvr>
                                        <p:cTn id="7" dur="500"/>
                                        <p:tgtEl>
                                          <p:spTgt spid="164867">
                                            <p:txEl>
                                              <p:charRg st="0"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4870"/>
                                        </p:tgtEl>
                                        <p:attrNameLst>
                                          <p:attrName>style.visibility</p:attrName>
                                        </p:attrNameLst>
                                      </p:cBhvr>
                                      <p:to>
                                        <p:strVal val="visible"/>
                                      </p:to>
                                    </p:set>
                                    <p:anim calcmode="lin" valueType="num">
                                      <p:cBhvr>
                                        <p:cTn id="12" dur="500" fill="hold"/>
                                        <p:tgtEl>
                                          <p:spTgt spid="164870"/>
                                        </p:tgtEl>
                                        <p:attrNameLst>
                                          <p:attrName>ppt_x</p:attrName>
                                        </p:attrNameLst>
                                      </p:cBhvr>
                                      <p:tavLst>
                                        <p:tav tm="0">
                                          <p:val>
                                            <p:strVal val="#ppt_x"/>
                                          </p:val>
                                        </p:tav>
                                        <p:tav tm="100000">
                                          <p:val>
                                            <p:strVal val="#ppt_x"/>
                                          </p:val>
                                        </p:tav>
                                      </p:tavLst>
                                    </p:anim>
                                    <p:anim calcmode="lin" valueType="num">
                                      <p:cBhvr>
                                        <p:cTn id="13" dur="500" fill="hold"/>
                                        <p:tgtEl>
                                          <p:spTgt spid="164870"/>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64871"/>
                                        </p:tgtEl>
                                        <p:attrNameLst>
                                          <p:attrName>style.visibility</p:attrName>
                                        </p:attrNameLst>
                                      </p:cBhvr>
                                      <p:to>
                                        <p:strVal val="visible"/>
                                      </p:to>
                                    </p:set>
                                    <p:anim calcmode="lin" valueType="num">
                                      <p:cBhvr>
                                        <p:cTn id="16" dur="500" fill="hold"/>
                                        <p:tgtEl>
                                          <p:spTgt spid="164871"/>
                                        </p:tgtEl>
                                        <p:attrNameLst>
                                          <p:attrName>ppt_x</p:attrName>
                                        </p:attrNameLst>
                                      </p:cBhvr>
                                      <p:tavLst>
                                        <p:tav tm="0">
                                          <p:val>
                                            <p:strVal val="#ppt_x"/>
                                          </p:val>
                                        </p:tav>
                                        <p:tav tm="100000">
                                          <p:val>
                                            <p:strVal val="#ppt_x"/>
                                          </p:val>
                                        </p:tav>
                                      </p:tavLst>
                                    </p:anim>
                                    <p:anim calcmode="lin" valueType="num">
                                      <p:cBhvr>
                                        <p:cTn id="17" dur="500" fill="hold"/>
                                        <p:tgtEl>
                                          <p:spTgt spid="164871"/>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64872"/>
                                        </p:tgtEl>
                                        <p:attrNameLst>
                                          <p:attrName>style.visibility</p:attrName>
                                        </p:attrNameLst>
                                      </p:cBhvr>
                                      <p:to>
                                        <p:strVal val="visible"/>
                                      </p:to>
                                    </p:set>
                                    <p:anim calcmode="lin" valueType="num">
                                      <p:cBhvr>
                                        <p:cTn id="20" dur="500" fill="hold"/>
                                        <p:tgtEl>
                                          <p:spTgt spid="164872"/>
                                        </p:tgtEl>
                                        <p:attrNameLst>
                                          <p:attrName>ppt_x</p:attrName>
                                        </p:attrNameLst>
                                      </p:cBhvr>
                                      <p:tavLst>
                                        <p:tav tm="0">
                                          <p:val>
                                            <p:strVal val="#ppt_x"/>
                                          </p:val>
                                        </p:tav>
                                        <p:tav tm="100000">
                                          <p:val>
                                            <p:strVal val="#ppt_x"/>
                                          </p:val>
                                        </p:tav>
                                      </p:tavLst>
                                    </p:anim>
                                    <p:anim calcmode="lin" valueType="num">
                                      <p:cBhvr>
                                        <p:cTn id="21" dur="500" fill="hold"/>
                                        <p:tgtEl>
                                          <p:spTgt spid="164872"/>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64873"/>
                                        </p:tgtEl>
                                        <p:attrNameLst>
                                          <p:attrName>style.visibility</p:attrName>
                                        </p:attrNameLst>
                                      </p:cBhvr>
                                      <p:to>
                                        <p:strVal val="visible"/>
                                      </p:to>
                                    </p:set>
                                    <p:anim calcmode="lin" valueType="num">
                                      <p:cBhvr>
                                        <p:cTn id="24" dur="500" fill="hold"/>
                                        <p:tgtEl>
                                          <p:spTgt spid="164873"/>
                                        </p:tgtEl>
                                        <p:attrNameLst>
                                          <p:attrName>ppt_x</p:attrName>
                                        </p:attrNameLst>
                                      </p:cBhvr>
                                      <p:tavLst>
                                        <p:tav tm="0">
                                          <p:val>
                                            <p:strVal val="#ppt_x"/>
                                          </p:val>
                                        </p:tav>
                                        <p:tav tm="100000">
                                          <p:val>
                                            <p:strVal val="#ppt_x"/>
                                          </p:val>
                                        </p:tav>
                                      </p:tavLst>
                                    </p:anim>
                                    <p:anim calcmode="lin" valueType="num">
                                      <p:cBhvr>
                                        <p:cTn id="25" dur="500" fill="hold"/>
                                        <p:tgtEl>
                                          <p:spTgt spid="164873"/>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64874"/>
                                        </p:tgtEl>
                                        <p:attrNameLst>
                                          <p:attrName>style.visibility</p:attrName>
                                        </p:attrNameLst>
                                      </p:cBhvr>
                                      <p:to>
                                        <p:strVal val="visible"/>
                                      </p:to>
                                    </p:set>
                                    <p:anim calcmode="lin" valueType="num">
                                      <p:cBhvr>
                                        <p:cTn id="28" dur="500" fill="hold"/>
                                        <p:tgtEl>
                                          <p:spTgt spid="164874"/>
                                        </p:tgtEl>
                                        <p:attrNameLst>
                                          <p:attrName>ppt_x</p:attrName>
                                        </p:attrNameLst>
                                      </p:cBhvr>
                                      <p:tavLst>
                                        <p:tav tm="0">
                                          <p:val>
                                            <p:strVal val="#ppt_x"/>
                                          </p:val>
                                        </p:tav>
                                        <p:tav tm="100000">
                                          <p:val>
                                            <p:strVal val="#ppt_x"/>
                                          </p:val>
                                        </p:tav>
                                      </p:tavLst>
                                    </p:anim>
                                    <p:anim calcmode="lin" valueType="num">
                                      <p:cBhvr>
                                        <p:cTn id="29" dur="500" fill="hold"/>
                                        <p:tgtEl>
                                          <p:spTgt spid="164874"/>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164875"/>
                                        </p:tgtEl>
                                        <p:attrNameLst>
                                          <p:attrName>style.visibility</p:attrName>
                                        </p:attrNameLst>
                                      </p:cBhvr>
                                      <p:to>
                                        <p:strVal val="visible"/>
                                      </p:to>
                                    </p:set>
                                    <p:anim calcmode="lin" valueType="num">
                                      <p:cBhvr>
                                        <p:cTn id="32" dur="500" fill="hold"/>
                                        <p:tgtEl>
                                          <p:spTgt spid="164875"/>
                                        </p:tgtEl>
                                        <p:attrNameLst>
                                          <p:attrName>ppt_x</p:attrName>
                                        </p:attrNameLst>
                                      </p:cBhvr>
                                      <p:tavLst>
                                        <p:tav tm="0">
                                          <p:val>
                                            <p:strVal val="#ppt_x"/>
                                          </p:val>
                                        </p:tav>
                                        <p:tav tm="100000">
                                          <p:val>
                                            <p:strVal val="#ppt_x"/>
                                          </p:val>
                                        </p:tav>
                                      </p:tavLst>
                                    </p:anim>
                                    <p:anim calcmode="lin" valueType="num">
                                      <p:cBhvr>
                                        <p:cTn id="33" dur="500" fill="hold"/>
                                        <p:tgtEl>
                                          <p:spTgt spid="164875"/>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64877"/>
                                        </p:tgtEl>
                                        <p:attrNameLst>
                                          <p:attrName>style.visibility</p:attrName>
                                        </p:attrNameLst>
                                      </p:cBhvr>
                                      <p:to>
                                        <p:strVal val="visible"/>
                                      </p:to>
                                    </p:set>
                                    <p:anim calcmode="lin" valueType="num">
                                      <p:cBhvr>
                                        <p:cTn id="36" dur="500" fill="hold"/>
                                        <p:tgtEl>
                                          <p:spTgt spid="164877"/>
                                        </p:tgtEl>
                                        <p:attrNameLst>
                                          <p:attrName>ppt_x</p:attrName>
                                        </p:attrNameLst>
                                      </p:cBhvr>
                                      <p:tavLst>
                                        <p:tav tm="0">
                                          <p:val>
                                            <p:strVal val="#ppt_x"/>
                                          </p:val>
                                        </p:tav>
                                        <p:tav tm="100000">
                                          <p:val>
                                            <p:strVal val="#ppt_x"/>
                                          </p:val>
                                        </p:tav>
                                      </p:tavLst>
                                    </p:anim>
                                    <p:anim calcmode="lin" valueType="num">
                                      <p:cBhvr>
                                        <p:cTn id="37" dur="500" fill="hold"/>
                                        <p:tgtEl>
                                          <p:spTgt spid="164877"/>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164879"/>
                                        </p:tgtEl>
                                        <p:attrNameLst>
                                          <p:attrName>style.visibility</p:attrName>
                                        </p:attrNameLst>
                                      </p:cBhvr>
                                      <p:to>
                                        <p:strVal val="visible"/>
                                      </p:to>
                                    </p:set>
                                    <p:anim calcmode="lin" valueType="num">
                                      <p:cBhvr>
                                        <p:cTn id="40" dur="500" fill="hold"/>
                                        <p:tgtEl>
                                          <p:spTgt spid="164879"/>
                                        </p:tgtEl>
                                        <p:attrNameLst>
                                          <p:attrName>ppt_x</p:attrName>
                                        </p:attrNameLst>
                                      </p:cBhvr>
                                      <p:tavLst>
                                        <p:tav tm="0">
                                          <p:val>
                                            <p:strVal val="#ppt_x"/>
                                          </p:val>
                                        </p:tav>
                                        <p:tav tm="100000">
                                          <p:val>
                                            <p:strVal val="#ppt_x"/>
                                          </p:val>
                                        </p:tav>
                                      </p:tavLst>
                                    </p:anim>
                                    <p:anim calcmode="lin" valueType="num">
                                      <p:cBhvr>
                                        <p:cTn id="41" dur="500" fill="hold"/>
                                        <p:tgtEl>
                                          <p:spTgt spid="164879"/>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164878"/>
                                        </p:tgtEl>
                                        <p:attrNameLst>
                                          <p:attrName>style.visibility</p:attrName>
                                        </p:attrNameLst>
                                      </p:cBhvr>
                                      <p:to>
                                        <p:strVal val="visible"/>
                                      </p:to>
                                    </p:set>
                                    <p:anim calcmode="lin" valueType="num">
                                      <p:cBhvr>
                                        <p:cTn id="44" dur="500" fill="hold"/>
                                        <p:tgtEl>
                                          <p:spTgt spid="164878"/>
                                        </p:tgtEl>
                                        <p:attrNameLst>
                                          <p:attrName>ppt_x</p:attrName>
                                        </p:attrNameLst>
                                      </p:cBhvr>
                                      <p:tavLst>
                                        <p:tav tm="0">
                                          <p:val>
                                            <p:strVal val="#ppt_x"/>
                                          </p:val>
                                        </p:tav>
                                        <p:tav tm="100000">
                                          <p:val>
                                            <p:strVal val="#ppt_x"/>
                                          </p:val>
                                        </p:tav>
                                      </p:tavLst>
                                    </p:anim>
                                    <p:anim calcmode="lin" valueType="num">
                                      <p:cBhvr>
                                        <p:cTn id="45" dur="500" fill="hold"/>
                                        <p:tgtEl>
                                          <p:spTgt spid="164878"/>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64876"/>
                                        </p:tgtEl>
                                        <p:attrNameLst>
                                          <p:attrName>style.visibility</p:attrName>
                                        </p:attrNameLst>
                                      </p:cBhvr>
                                      <p:to>
                                        <p:strVal val="visible"/>
                                      </p:to>
                                    </p:set>
                                    <p:anim calcmode="lin" valueType="num">
                                      <p:cBhvr>
                                        <p:cTn id="50" dur="500" fill="hold"/>
                                        <p:tgtEl>
                                          <p:spTgt spid="164876"/>
                                        </p:tgtEl>
                                        <p:attrNameLst>
                                          <p:attrName>ppt_x</p:attrName>
                                        </p:attrNameLst>
                                      </p:cBhvr>
                                      <p:tavLst>
                                        <p:tav tm="0">
                                          <p:val>
                                            <p:strVal val="#ppt_x"/>
                                          </p:val>
                                        </p:tav>
                                        <p:tav tm="100000">
                                          <p:val>
                                            <p:strVal val="#ppt_x"/>
                                          </p:val>
                                        </p:tav>
                                      </p:tavLst>
                                    </p:anim>
                                    <p:anim calcmode="lin" valueType="num">
                                      <p:cBhvr>
                                        <p:cTn id="51" dur="500" fill="hold"/>
                                        <p:tgtEl>
                                          <p:spTgt spid="164876"/>
                                        </p:tgtEl>
                                        <p:attrNameLst>
                                          <p:attrName>ppt_y</p:attrName>
                                        </p:attrNameLst>
                                      </p:cBhvr>
                                      <p:tavLst>
                                        <p:tav tm="0">
                                          <p:val>
                                            <p:strVal val="1+#ppt_h/2"/>
                                          </p:val>
                                        </p:tav>
                                        <p:tav tm="100000">
                                          <p:val>
                                            <p:strVal val="#ppt_y"/>
                                          </p:val>
                                        </p:tav>
                                      </p:tavLst>
                                    </p:anim>
                                  </p:childTnLst>
                                </p:cTn>
                              </p:par>
                            </p:childTnLst>
                          </p:cTn>
                        </p:par>
                        <p:par>
                          <p:cTn id="52" fill="hold">
                            <p:stCondLst>
                              <p:cond delay="500"/>
                            </p:stCondLst>
                            <p:childTnLst>
                              <p:par>
                                <p:cTn id="53" presetID="2" presetClass="entr" presetSubtype="2" fill="hold" grpId="0" nodeType="afterEffect">
                                  <p:stCondLst>
                                    <p:cond delay="500"/>
                                  </p:stCondLst>
                                  <p:childTnLst>
                                    <p:set>
                                      <p:cBhvr>
                                        <p:cTn id="54" dur="1" fill="hold">
                                          <p:stCondLst>
                                            <p:cond delay="0"/>
                                          </p:stCondLst>
                                        </p:cTn>
                                        <p:tgtEl>
                                          <p:spTgt spid="164880"/>
                                        </p:tgtEl>
                                        <p:attrNameLst>
                                          <p:attrName>style.visibility</p:attrName>
                                        </p:attrNameLst>
                                      </p:cBhvr>
                                      <p:to>
                                        <p:strVal val="visible"/>
                                      </p:to>
                                    </p:set>
                                    <p:anim calcmode="lin" valueType="num">
                                      <p:cBhvr>
                                        <p:cTn id="55" dur="500" fill="hold"/>
                                        <p:tgtEl>
                                          <p:spTgt spid="164880"/>
                                        </p:tgtEl>
                                        <p:attrNameLst>
                                          <p:attrName>ppt_x</p:attrName>
                                        </p:attrNameLst>
                                      </p:cBhvr>
                                      <p:tavLst>
                                        <p:tav tm="0">
                                          <p:val>
                                            <p:strVal val="1+#ppt_w/2"/>
                                          </p:val>
                                        </p:tav>
                                        <p:tav tm="100000">
                                          <p:val>
                                            <p:strVal val="#ppt_x"/>
                                          </p:val>
                                        </p:tav>
                                      </p:tavLst>
                                    </p:anim>
                                    <p:anim calcmode="lin" valueType="num">
                                      <p:cBhvr>
                                        <p:cTn id="56" dur="500" fill="hold"/>
                                        <p:tgtEl>
                                          <p:spTgt spid="164880"/>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8" presetClass="emph" presetSubtype="0" repeatCount="3000" fill="hold" grpId="1" nodeType="clickEffect">
                                  <p:stCondLst>
                                    <p:cond delay="0"/>
                                  </p:stCondLst>
                                  <p:childTnLst>
                                    <p:animRot by="21600000">
                                      <p:cBhvr>
                                        <p:cTn id="60" dur="1000" fill="hold"/>
                                        <p:tgtEl>
                                          <p:spTgt spid="164875"/>
                                        </p:tgtEl>
                                        <p:attrNameLst>
                                          <p:attrName>r</p:attrName>
                                        </p:attrNameLst>
                                      </p:cBhvr>
                                    </p:animRot>
                                  </p:childTnLst>
                                </p:cTn>
                              </p:par>
                            </p:childTnLst>
                          </p:cTn>
                        </p:par>
                        <p:par>
                          <p:cTn id="61" fill="hold">
                            <p:stCondLst>
                              <p:cond delay="1000"/>
                            </p:stCondLst>
                            <p:childTnLst>
                              <p:par>
                                <p:cTn id="62" presetID="18" presetClass="entr" presetSubtype="6" fill="hold" nodeType="afterEffect">
                                  <p:stCondLst>
                                    <p:cond delay="0"/>
                                  </p:stCondLst>
                                  <p:childTnLst>
                                    <p:set>
                                      <p:cBhvr>
                                        <p:cTn id="63" dur="1" fill="hold">
                                          <p:stCondLst>
                                            <p:cond delay="0"/>
                                          </p:stCondLst>
                                        </p:cTn>
                                        <p:tgtEl>
                                          <p:spTgt spid="164867">
                                            <p:txEl>
                                              <p:charRg st="17" end="32"/>
                                            </p:txEl>
                                          </p:spTgt>
                                        </p:tgtEl>
                                        <p:attrNameLst>
                                          <p:attrName>style.visibility</p:attrName>
                                        </p:attrNameLst>
                                      </p:cBhvr>
                                      <p:to>
                                        <p:strVal val="visible"/>
                                      </p:to>
                                    </p:set>
                                    <p:animEffect transition="in" filter="strips(downRight)">
                                      <p:cBhvr>
                                        <p:cTn id="64" dur="500"/>
                                        <p:tgtEl>
                                          <p:spTgt spid="164867">
                                            <p:txEl>
                                              <p:charRg st="17" end="32"/>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8" presetClass="entr" presetSubtype="6" fill="hold" nodeType="clickEffect">
                                  <p:stCondLst>
                                    <p:cond delay="0"/>
                                  </p:stCondLst>
                                  <p:childTnLst>
                                    <p:set>
                                      <p:cBhvr>
                                        <p:cTn id="68" dur="1" fill="hold">
                                          <p:stCondLst>
                                            <p:cond delay="0"/>
                                          </p:stCondLst>
                                        </p:cTn>
                                        <p:tgtEl>
                                          <p:spTgt spid="164867">
                                            <p:txEl>
                                              <p:charRg st="32" end="36"/>
                                            </p:txEl>
                                          </p:spTgt>
                                        </p:tgtEl>
                                        <p:attrNameLst>
                                          <p:attrName>style.visibility</p:attrName>
                                        </p:attrNameLst>
                                      </p:cBhvr>
                                      <p:to>
                                        <p:strVal val="visible"/>
                                      </p:to>
                                    </p:set>
                                    <p:animEffect transition="in" filter="strips(downRight)">
                                      <p:cBhvr>
                                        <p:cTn id="69" dur="500"/>
                                        <p:tgtEl>
                                          <p:spTgt spid="164867">
                                            <p:txEl>
                                              <p:charRg st="32" end="36"/>
                                            </p:txEl>
                                          </p:spTgt>
                                        </p:tgtEl>
                                      </p:cBhvr>
                                    </p:animEffect>
                                  </p:childTnLst>
                                </p:cTn>
                              </p:par>
                            </p:childTnLst>
                          </p:cTn>
                        </p:par>
                        <p:par>
                          <p:cTn id="70" fill="hold">
                            <p:stCondLst>
                              <p:cond delay="500"/>
                            </p:stCondLst>
                            <p:childTnLst>
                              <p:par>
                                <p:cTn id="71" presetID="18" presetClass="entr" presetSubtype="6" fill="hold" nodeType="afterEffect">
                                  <p:stCondLst>
                                    <p:cond delay="0"/>
                                  </p:stCondLst>
                                  <p:childTnLst>
                                    <p:set>
                                      <p:cBhvr>
                                        <p:cTn id="72" dur="1" fill="hold">
                                          <p:stCondLst>
                                            <p:cond delay="0"/>
                                          </p:stCondLst>
                                        </p:cTn>
                                        <p:tgtEl>
                                          <p:spTgt spid="164867">
                                            <p:txEl>
                                              <p:charRg st="36" end="61"/>
                                            </p:txEl>
                                          </p:spTgt>
                                        </p:tgtEl>
                                        <p:attrNameLst>
                                          <p:attrName>style.visibility</p:attrName>
                                        </p:attrNameLst>
                                      </p:cBhvr>
                                      <p:to>
                                        <p:strVal val="visible"/>
                                      </p:to>
                                    </p:set>
                                    <p:animEffect transition="in" filter="strips(downRight)">
                                      <p:cBhvr>
                                        <p:cTn id="73" dur="500"/>
                                        <p:tgtEl>
                                          <p:spTgt spid="164867">
                                            <p:txEl>
                                              <p:charRg st="36" end="61"/>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8" presetClass="entr" presetSubtype="12" fill="hold" nodeType="clickEffect">
                                  <p:stCondLst>
                                    <p:cond delay="0"/>
                                  </p:stCondLst>
                                  <p:childTnLst>
                                    <p:set>
                                      <p:cBhvr>
                                        <p:cTn id="77" dur="1" fill="hold">
                                          <p:stCondLst>
                                            <p:cond delay="0"/>
                                          </p:stCondLst>
                                        </p:cTn>
                                        <p:tgtEl>
                                          <p:spTgt spid="164868"/>
                                        </p:tgtEl>
                                        <p:attrNameLst>
                                          <p:attrName>style.visibility</p:attrName>
                                        </p:attrNameLst>
                                      </p:cBhvr>
                                      <p:to>
                                        <p:strVal val="visible"/>
                                      </p:to>
                                    </p:set>
                                    <p:animEffect transition="in" filter="strips(downLeft)">
                                      <p:cBhvr>
                                        <p:cTn id="78" dur="500"/>
                                        <p:tgtEl>
                                          <p:spTgt spid="164868"/>
                                        </p:tgtEl>
                                      </p:cBhvr>
                                    </p:animEffect>
                                  </p:childTnLst>
                                </p:cTn>
                              </p:par>
                            </p:childTnLst>
                          </p:cTn>
                        </p:par>
                        <p:par>
                          <p:cTn id="79" fill="hold">
                            <p:stCondLst>
                              <p:cond delay="500"/>
                            </p:stCondLst>
                            <p:childTnLst>
                              <p:par>
                                <p:cTn id="80" presetID="18" presetClass="entr" presetSubtype="6" fill="hold" grpId="0" nodeType="afterEffect">
                                  <p:stCondLst>
                                    <p:cond delay="0"/>
                                  </p:stCondLst>
                                  <p:childTnLst>
                                    <p:set>
                                      <p:cBhvr>
                                        <p:cTn id="81" dur="1" fill="hold">
                                          <p:stCondLst>
                                            <p:cond delay="0"/>
                                          </p:stCondLst>
                                        </p:cTn>
                                        <p:tgtEl>
                                          <p:spTgt spid="164869"/>
                                        </p:tgtEl>
                                        <p:attrNameLst>
                                          <p:attrName>style.visibility</p:attrName>
                                        </p:attrNameLst>
                                      </p:cBhvr>
                                      <p:to>
                                        <p:strVal val="visible"/>
                                      </p:to>
                                    </p:set>
                                    <p:animEffect transition="in" filter="strips(downRight)">
                                      <p:cBhvr>
                                        <p:cTn id="82" dur="500"/>
                                        <p:tgtEl>
                                          <p:spTgt spid="164869"/>
                                        </p:tgtEl>
                                      </p:cBhvr>
                                    </p:animEffect>
                                  </p:childTnLst>
                                </p:cTn>
                              </p:par>
                            </p:childTnLst>
                          </p:cTn>
                        </p:par>
                      </p:childTnLst>
                    </p:cTn>
                  </p:par>
                  <p:par>
                    <p:cTn id="83" fill="hold">
                      <p:stCondLst>
                        <p:cond delay="indefinite"/>
                      </p:stCondLst>
                      <p:childTnLst>
                        <p:par>
                          <p:cTn id="84" fill="hold">
                            <p:stCondLst>
                              <p:cond delay="0"/>
                            </p:stCondLst>
                            <p:childTnLst>
                              <p:par>
                                <p:cTn id="85" presetID="18" presetClass="entr" presetSubtype="6" fill="hold" nodeType="clickEffect">
                                  <p:stCondLst>
                                    <p:cond delay="0"/>
                                  </p:stCondLst>
                                  <p:childTnLst>
                                    <p:set>
                                      <p:cBhvr>
                                        <p:cTn id="86" dur="1" fill="hold">
                                          <p:stCondLst>
                                            <p:cond delay="0"/>
                                          </p:stCondLst>
                                        </p:cTn>
                                        <p:tgtEl>
                                          <p:spTgt spid="164867">
                                            <p:txEl>
                                              <p:charRg st="63" end="69"/>
                                            </p:txEl>
                                          </p:spTgt>
                                        </p:tgtEl>
                                        <p:attrNameLst>
                                          <p:attrName>style.visibility</p:attrName>
                                        </p:attrNameLst>
                                      </p:cBhvr>
                                      <p:to>
                                        <p:strVal val="visible"/>
                                      </p:to>
                                    </p:set>
                                    <p:animEffect transition="in" filter="strips(downRight)">
                                      <p:cBhvr>
                                        <p:cTn id="87" dur="500"/>
                                        <p:tgtEl>
                                          <p:spTgt spid="164867">
                                            <p:txEl>
                                              <p:charRg st="63" end="69"/>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grpId="0" nodeType="clickEffect">
                                  <p:stCondLst>
                                    <p:cond delay="0"/>
                                  </p:stCondLst>
                                  <p:childTnLst>
                                    <p:set>
                                      <p:cBhvr>
                                        <p:cTn id="91" dur="1" fill="hold">
                                          <p:stCondLst>
                                            <p:cond delay="0"/>
                                          </p:stCondLst>
                                        </p:cTn>
                                        <p:tgtEl>
                                          <p:spTgt spid="164881"/>
                                        </p:tgtEl>
                                        <p:attrNameLst>
                                          <p:attrName>style.visibility</p:attrName>
                                        </p:attrNameLst>
                                      </p:cBhvr>
                                      <p:to>
                                        <p:strVal val="visible"/>
                                      </p:to>
                                    </p:set>
                                    <p:anim calcmode="lin" valueType="num">
                                      <p:cBhvr>
                                        <p:cTn id="92" dur="500" fill="hold"/>
                                        <p:tgtEl>
                                          <p:spTgt spid="164881"/>
                                        </p:tgtEl>
                                        <p:attrNameLst>
                                          <p:attrName>ppt_x</p:attrName>
                                        </p:attrNameLst>
                                      </p:cBhvr>
                                      <p:tavLst>
                                        <p:tav tm="0">
                                          <p:val>
                                            <p:strVal val="#ppt_x"/>
                                          </p:val>
                                        </p:tav>
                                        <p:tav tm="100000">
                                          <p:val>
                                            <p:strVal val="#ppt_x"/>
                                          </p:val>
                                        </p:tav>
                                      </p:tavLst>
                                    </p:anim>
                                    <p:anim calcmode="lin" valueType="num">
                                      <p:cBhvr>
                                        <p:cTn id="93" dur="500" fill="hold"/>
                                        <p:tgtEl>
                                          <p:spTgt spid="1648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9" grpId="0"/>
      <p:bldP spid="164875" grpId="0" animBg="1"/>
      <p:bldP spid="164875" grpId="1" animBg="1"/>
      <p:bldP spid="164876" grpId="0" animBg="1"/>
      <p:bldP spid="164877" grpId="0" animBg="1"/>
      <p:bldP spid="164878" grpId="0"/>
      <p:bldP spid="164879" grpId="0"/>
      <p:bldP spid="164880" grpId="0" animBg="1"/>
      <p:bldP spid="164881"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灯片编号占位符 5"/>
          <p:cNvSpPr txBox="1">
            <a:spLocks noGrp="1"/>
          </p:cNvSpPr>
          <p:nvPr/>
        </p:nvSpPr>
        <p:spPr>
          <a:xfrm>
            <a:off x="7042150" y="6243638"/>
            <a:ext cx="1905000" cy="457200"/>
          </a:xfrm>
          <a:prstGeom prst="rect">
            <a:avLst/>
          </a:prstGeom>
          <a:noFill/>
          <a:ln w="9525">
            <a:noFill/>
          </a:ln>
        </p:spPr>
        <p:txBody>
          <a:bodyPr/>
          <a:p>
            <a:pPr algn="ctr"/>
            <a:fld id="{9A0DB2DC-4C9A-4742-B13C-FB6460FD3503}" type="slidenum">
              <a:rPr lang="zh-CN" altLang="en-US" sz="1400" dirty="0">
                <a:latin typeface="Tahoma" panose="020B0604030504040204" pitchFamily="34" charset="0"/>
                <a:ea typeface="宋体" panose="02010600030101010101" pitchFamily="2" charset="-122"/>
              </a:rPr>
            </a:fld>
            <a:endParaRPr lang="zh-CN" altLang="en-US" sz="1400" dirty="0">
              <a:latin typeface="Tahoma" panose="020B0604030504040204" pitchFamily="34" charset="0"/>
              <a:ea typeface="宋体" panose="02010600030101010101" pitchFamily="2" charset="-122"/>
            </a:endParaRPr>
          </a:p>
        </p:txBody>
      </p:sp>
      <p:sp>
        <p:nvSpPr>
          <p:cNvPr id="168963" name="Rectangle 2050"/>
          <p:cNvSpPr>
            <a:spLocks noGrp="1"/>
          </p:cNvSpPr>
          <p:nvPr>
            <p:ph type="title" idx="4294967295"/>
          </p:nvPr>
        </p:nvSpPr>
        <p:spPr>
          <a:xfrm>
            <a:off x="433388" y="992188"/>
            <a:ext cx="1112837" cy="563562"/>
          </a:xfrm>
        </p:spPr>
        <p:txBody>
          <a:bodyPr vert="horz" wrap="square" lIns="91440" tIns="45720" rIns="91440" bIns="45720" anchor="ctr" anchorCtr="0"/>
          <a:p>
            <a:pPr eaLnBrk="1" hangingPunct="1"/>
            <a:r>
              <a:rPr lang="en-US" altLang="zh-CN" dirty="0">
                <a:solidFill>
                  <a:srgbClr val="000033"/>
                </a:solidFill>
                <a:ea typeface="宋体" panose="02010600030101010101" pitchFamily="2" charset="-122"/>
              </a:rPr>
              <a:t>【</a:t>
            </a:r>
            <a:r>
              <a:rPr lang="zh-CN" altLang="en-US" dirty="0">
                <a:solidFill>
                  <a:srgbClr val="000033"/>
                </a:solidFill>
                <a:ea typeface="宋体" panose="02010600030101010101" pitchFamily="2" charset="-122"/>
              </a:rPr>
              <a:t>例</a:t>
            </a:r>
            <a:r>
              <a:rPr lang="en-US" altLang="zh-CN" dirty="0">
                <a:solidFill>
                  <a:srgbClr val="000033"/>
                </a:solidFill>
                <a:ea typeface="宋体" panose="02010600030101010101" pitchFamily="2" charset="-122"/>
              </a:rPr>
              <a:t>】</a:t>
            </a:r>
            <a:endParaRPr lang="zh-CN" altLang="en-US" dirty="0">
              <a:solidFill>
                <a:srgbClr val="000033"/>
              </a:solidFill>
              <a:ea typeface="宋体" panose="02010600030101010101" pitchFamily="2" charset="-122"/>
            </a:endParaRPr>
          </a:p>
        </p:txBody>
      </p:sp>
      <p:sp>
        <p:nvSpPr>
          <p:cNvPr id="165892" name="Rectangle 2051"/>
          <p:cNvSpPr>
            <a:spLocks noGrp="1"/>
          </p:cNvSpPr>
          <p:nvPr>
            <p:ph type="body" idx="4294967295"/>
          </p:nvPr>
        </p:nvSpPr>
        <p:spPr>
          <a:xfrm>
            <a:off x="323850" y="1989138"/>
            <a:ext cx="4468813" cy="1227137"/>
          </a:xfrm>
        </p:spPr>
        <p:txBody>
          <a:bodyPr vert="horz" wrap="square" lIns="91440" tIns="45720" rIns="91440" bIns="45720" anchor="t" anchorCtr="0"/>
          <a:p>
            <a:pPr eaLnBrk="1" hangingPunct="1">
              <a:buNone/>
            </a:pP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CALL  NEAR PROC</a:t>
            </a:r>
            <a:endParaRPr lang="en-US" altLang="zh-CN" sz="2400" dirty="0">
              <a:latin typeface="宋体" panose="02010600030101010101" pitchFamily="2" charset="-122"/>
              <a:ea typeface="宋体" panose="02010600030101010101" pitchFamily="2" charset="-122"/>
            </a:endParaRPr>
          </a:p>
          <a:p>
            <a:pPr eaLnBrk="1" hangingPunct="1">
              <a:lnSpc>
                <a:spcPct val="115000"/>
              </a:lnSpc>
              <a:spcBef>
                <a:spcPct val="75000"/>
              </a:spcBef>
              <a:buNone/>
            </a:pP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2</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CALL  WORD  PTR[SI]</a:t>
            </a:r>
            <a:endParaRPr lang="en-US" altLang="zh-CN" sz="2400" dirty="0">
              <a:latin typeface="宋体" panose="02010600030101010101" pitchFamily="2" charset="-122"/>
              <a:ea typeface="宋体" panose="02010600030101010101" pitchFamily="2" charset="-122"/>
            </a:endParaRPr>
          </a:p>
        </p:txBody>
      </p:sp>
      <p:sp>
        <p:nvSpPr>
          <p:cNvPr id="165893" name="Text Box 2052"/>
          <p:cNvSpPr txBox="1"/>
          <p:nvPr/>
        </p:nvSpPr>
        <p:spPr>
          <a:xfrm>
            <a:off x="4243388" y="2020888"/>
            <a:ext cx="3821112" cy="461962"/>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直接调用（</a:t>
            </a:r>
            <a:r>
              <a:rPr lang="en-US" altLang="zh-CN" sz="2400" b="1" dirty="0">
                <a:latin typeface="Times New Roman" panose="02020603050405020304" pitchFamily="18" charset="0"/>
                <a:ea typeface="宋体" panose="02010600030101010101" pitchFamily="2" charset="-122"/>
              </a:rPr>
              <a:t>NEAR</a:t>
            </a:r>
            <a:r>
              <a:rPr lang="zh-CN" altLang="en-US" sz="2400" b="1" dirty="0">
                <a:latin typeface="Times New Roman" panose="02020603050405020304" pitchFamily="18" charset="0"/>
                <a:ea typeface="宋体" panose="02010600030101010101" pitchFamily="2" charset="-122"/>
              </a:rPr>
              <a:t>可省略）</a:t>
            </a:r>
            <a:endParaRPr lang="zh-CN" altLang="en-US" sz="2400" b="1" dirty="0">
              <a:latin typeface="Times New Roman" panose="02020603050405020304" pitchFamily="18" charset="0"/>
              <a:ea typeface="宋体" panose="02010600030101010101" pitchFamily="2" charset="-122"/>
            </a:endParaRPr>
          </a:p>
        </p:txBody>
      </p:sp>
      <p:sp>
        <p:nvSpPr>
          <p:cNvPr id="165894" name="Text Box 2053"/>
          <p:cNvSpPr txBox="1"/>
          <p:nvPr/>
        </p:nvSpPr>
        <p:spPr>
          <a:xfrm>
            <a:off x="5027613" y="2646363"/>
            <a:ext cx="1489075"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间接调用</a:t>
            </a:r>
            <a:endParaRPr lang="zh-CN" altLang="en-US" sz="2400" b="1" dirty="0">
              <a:latin typeface="Times New Roman" panose="02020603050405020304" pitchFamily="18" charset="0"/>
              <a:ea typeface="宋体" panose="02010600030101010101" pitchFamily="2" charset="-122"/>
            </a:endParaRPr>
          </a:p>
        </p:txBody>
      </p:sp>
      <p:sp>
        <p:nvSpPr>
          <p:cNvPr id="165895" name="Line 2054"/>
          <p:cNvSpPr/>
          <p:nvPr/>
        </p:nvSpPr>
        <p:spPr>
          <a:xfrm>
            <a:off x="3595688" y="2249488"/>
            <a:ext cx="762000" cy="0"/>
          </a:xfrm>
          <a:prstGeom prst="line">
            <a:avLst/>
          </a:prstGeom>
          <a:ln w="25400" cap="sq" cmpd="sng">
            <a:solidFill>
              <a:srgbClr val="FF6600"/>
            </a:solidFill>
            <a:prstDash val="solid"/>
            <a:headEnd type="none" w="med" len="med"/>
            <a:tailEnd type="triangle" w="lg" len="lg"/>
          </a:ln>
        </p:spPr>
      </p:sp>
      <p:sp>
        <p:nvSpPr>
          <p:cNvPr id="165896" name="Line 2056"/>
          <p:cNvSpPr/>
          <p:nvPr/>
        </p:nvSpPr>
        <p:spPr>
          <a:xfrm>
            <a:off x="4243388" y="2852738"/>
            <a:ext cx="762000" cy="0"/>
          </a:xfrm>
          <a:prstGeom prst="line">
            <a:avLst/>
          </a:prstGeom>
          <a:ln w="25400" cap="sq" cmpd="sng">
            <a:solidFill>
              <a:srgbClr val="FF6600"/>
            </a:solidFill>
            <a:prstDash val="solid"/>
            <a:headEnd type="none" w="med" len="med"/>
            <a:tailEnd type="triangle" w="lg" len="lg"/>
          </a:ln>
        </p:spPr>
      </p:sp>
      <p:sp>
        <p:nvSpPr>
          <p:cNvPr id="165897" name="Rectangle 2057"/>
          <p:cNvSpPr/>
          <p:nvPr/>
        </p:nvSpPr>
        <p:spPr>
          <a:xfrm>
            <a:off x="6588125" y="3284538"/>
            <a:ext cx="1601788" cy="3313112"/>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65898" name="Line 2059"/>
          <p:cNvSpPr/>
          <p:nvPr/>
        </p:nvSpPr>
        <p:spPr>
          <a:xfrm>
            <a:off x="6588125" y="5226050"/>
            <a:ext cx="1600200" cy="0"/>
          </a:xfrm>
          <a:prstGeom prst="line">
            <a:avLst/>
          </a:prstGeom>
          <a:ln w="25400" cap="sq" cmpd="sng">
            <a:solidFill>
              <a:schemeClr val="tx1"/>
            </a:solidFill>
            <a:prstDash val="solid"/>
            <a:headEnd type="none" w="med" len="med"/>
            <a:tailEnd type="none" w="med" len="med"/>
          </a:ln>
        </p:spPr>
      </p:sp>
      <p:sp>
        <p:nvSpPr>
          <p:cNvPr id="165899" name="Line 2060"/>
          <p:cNvSpPr/>
          <p:nvPr/>
        </p:nvSpPr>
        <p:spPr>
          <a:xfrm>
            <a:off x="6588125" y="5607050"/>
            <a:ext cx="1600200" cy="0"/>
          </a:xfrm>
          <a:prstGeom prst="line">
            <a:avLst/>
          </a:prstGeom>
          <a:ln w="25400" cap="sq" cmpd="sng">
            <a:solidFill>
              <a:schemeClr val="tx1"/>
            </a:solidFill>
            <a:prstDash val="solid"/>
            <a:headEnd type="none" w="med" len="med"/>
            <a:tailEnd type="none" w="med" len="med"/>
          </a:ln>
        </p:spPr>
      </p:sp>
      <p:sp>
        <p:nvSpPr>
          <p:cNvPr id="165900" name="Line 2061"/>
          <p:cNvSpPr/>
          <p:nvPr/>
        </p:nvSpPr>
        <p:spPr>
          <a:xfrm>
            <a:off x="6589713" y="4464050"/>
            <a:ext cx="1600200" cy="0"/>
          </a:xfrm>
          <a:prstGeom prst="line">
            <a:avLst/>
          </a:prstGeom>
          <a:ln w="25400" cap="sq" cmpd="sng">
            <a:solidFill>
              <a:schemeClr val="tx1"/>
            </a:solidFill>
            <a:prstDash val="solid"/>
            <a:headEnd type="none" w="med" len="med"/>
            <a:tailEnd type="none" w="med" len="med"/>
          </a:ln>
        </p:spPr>
      </p:sp>
      <p:sp>
        <p:nvSpPr>
          <p:cNvPr id="165901" name="Line 2062"/>
          <p:cNvSpPr/>
          <p:nvPr/>
        </p:nvSpPr>
        <p:spPr>
          <a:xfrm>
            <a:off x="6589713" y="5988050"/>
            <a:ext cx="1600200" cy="0"/>
          </a:xfrm>
          <a:prstGeom prst="line">
            <a:avLst/>
          </a:prstGeom>
          <a:ln w="25400" cap="sq" cmpd="sng">
            <a:solidFill>
              <a:schemeClr val="tx1"/>
            </a:solidFill>
            <a:prstDash val="solid"/>
            <a:headEnd type="none" w="med" len="med"/>
            <a:tailEnd type="none" w="med" len="med"/>
          </a:ln>
        </p:spPr>
      </p:sp>
      <p:sp>
        <p:nvSpPr>
          <p:cNvPr id="165902" name="Text Box 2065"/>
          <p:cNvSpPr txBox="1"/>
          <p:nvPr/>
        </p:nvSpPr>
        <p:spPr>
          <a:xfrm>
            <a:off x="6985000" y="521176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44H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65903" name="Text Box 2066"/>
          <p:cNvSpPr txBox="1"/>
          <p:nvPr/>
        </p:nvSpPr>
        <p:spPr>
          <a:xfrm>
            <a:off x="6985000" y="559276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33H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65904" name="AutoShape 2067"/>
          <p:cNvSpPr/>
          <p:nvPr/>
        </p:nvSpPr>
        <p:spPr>
          <a:xfrm rot="10800000">
            <a:off x="8388350" y="5084763"/>
            <a:ext cx="144463" cy="1265237"/>
          </a:xfrm>
          <a:prstGeom prst="leftBrace">
            <a:avLst>
              <a:gd name="adj1" fmla="val 72417"/>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65905" name="Line 2069"/>
          <p:cNvSpPr/>
          <p:nvPr/>
        </p:nvSpPr>
        <p:spPr>
          <a:xfrm>
            <a:off x="6588125" y="4005263"/>
            <a:ext cx="1600200" cy="0"/>
          </a:xfrm>
          <a:prstGeom prst="line">
            <a:avLst/>
          </a:prstGeom>
          <a:ln w="25400" cap="sq" cmpd="sng">
            <a:solidFill>
              <a:schemeClr val="tx1"/>
            </a:solidFill>
            <a:prstDash val="solid"/>
            <a:headEnd type="none" w="med" len="med"/>
            <a:tailEnd type="none" w="med" len="med"/>
          </a:ln>
        </p:spPr>
      </p:sp>
      <p:sp>
        <p:nvSpPr>
          <p:cNvPr id="165906" name="Line 2070"/>
          <p:cNvSpPr/>
          <p:nvPr/>
        </p:nvSpPr>
        <p:spPr>
          <a:xfrm>
            <a:off x="6586538" y="3532188"/>
            <a:ext cx="1600200" cy="0"/>
          </a:xfrm>
          <a:prstGeom prst="line">
            <a:avLst/>
          </a:prstGeom>
          <a:ln w="25400" cap="sq" cmpd="sng">
            <a:solidFill>
              <a:schemeClr val="tx1"/>
            </a:solidFill>
            <a:prstDash val="solid"/>
            <a:headEnd type="none" w="med" len="med"/>
            <a:tailEnd type="none" w="med" len="med"/>
          </a:ln>
        </p:spPr>
      </p:sp>
      <p:sp>
        <p:nvSpPr>
          <p:cNvPr id="165907" name="Text Box 2071"/>
          <p:cNvSpPr txBox="1"/>
          <p:nvPr/>
        </p:nvSpPr>
        <p:spPr>
          <a:xfrm>
            <a:off x="6889750" y="357346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CALL</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65908" name="AutoShape 2072"/>
          <p:cNvSpPr/>
          <p:nvPr/>
        </p:nvSpPr>
        <p:spPr>
          <a:xfrm rot="10800000">
            <a:off x="8388350" y="3429000"/>
            <a:ext cx="144463" cy="1265238"/>
          </a:xfrm>
          <a:prstGeom prst="leftBrace">
            <a:avLst>
              <a:gd name="adj1" fmla="val 72417"/>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65909" name="Text Box 2073"/>
          <p:cNvSpPr txBox="1"/>
          <p:nvPr/>
        </p:nvSpPr>
        <p:spPr>
          <a:xfrm>
            <a:off x="8578850" y="3665538"/>
            <a:ext cx="457200" cy="915987"/>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代码段</a:t>
            </a:r>
            <a:endParaRPr lang="zh-CN" altLang="en-US" sz="2400" b="1" dirty="0">
              <a:latin typeface="Times New Roman" panose="02020603050405020304" pitchFamily="18" charset="0"/>
              <a:ea typeface="宋体" panose="02010600030101010101" pitchFamily="2" charset="-122"/>
            </a:endParaRPr>
          </a:p>
        </p:txBody>
      </p:sp>
      <p:sp>
        <p:nvSpPr>
          <p:cNvPr id="165910" name="Text Box 2074"/>
          <p:cNvSpPr txBox="1"/>
          <p:nvPr/>
        </p:nvSpPr>
        <p:spPr>
          <a:xfrm>
            <a:off x="8604250" y="5229225"/>
            <a:ext cx="457200" cy="915988"/>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数据段</a:t>
            </a:r>
            <a:endParaRPr lang="zh-CN" altLang="en-US" sz="2400" b="1" dirty="0">
              <a:latin typeface="Times New Roman" panose="02020603050405020304" pitchFamily="18" charset="0"/>
              <a:ea typeface="宋体" panose="02010600030101010101" pitchFamily="2" charset="-122"/>
            </a:endParaRPr>
          </a:p>
        </p:txBody>
      </p:sp>
      <p:sp>
        <p:nvSpPr>
          <p:cNvPr id="165911" name="Text Box 2075"/>
          <p:cNvSpPr txBox="1"/>
          <p:nvPr/>
        </p:nvSpPr>
        <p:spPr>
          <a:xfrm>
            <a:off x="7092950" y="4581525"/>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65912" name="Text Box 2076"/>
          <p:cNvSpPr txBox="1"/>
          <p:nvPr/>
        </p:nvSpPr>
        <p:spPr>
          <a:xfrm>
            <a:off x="1547813" y="3500438"/>
            <a:ext cx="2519362" cy="939800"/>
          </a:xfrm>
          <a:prstGeom prst="rect">
            <a:avLst/>
          </a:prstGeom>
          <a:solidFill>
            <a:srgbClr val="339966"/>
          </a:solidFill>
          <a:ln w="25400" cap="sq" cmpd="sng">
            <a:solidFill>
              <a:srgbClr val="339966"/>
            </a:solidFill>
            <a:prstDash val="solid"/>
            <a:miter/>
            <a:headEnd type="none" w="med" len="med"/>
            <a:tailEnd type="none" w="med" len="med"/>
          </a:ln>
        </p:spPr>
        <p:txBody>
          <a:bodyPr>
            <a:spAutoFit/>
          </a:bodyPr>
          <a:p>
            <a:pPr eaLnBrk="0" hangingPunct="0">
              <a:spcBef>
                <a:spcPct val="25000"/>
              </a:spcBef>
              <a:buFont typeface="Wingdings" panose="05000000000000000000" pitchFamily="2" charset="2"/>
            </a:pPr>
            <a:r>
              <a:rPr lang="zh-CN" altLang="en-US" sz="2400" b="1" dirty="0">
                <a:solidFill>
                  <a:schemeClr val="bg1"/>
                </a:solidFill>
                <a:latin typeface="宋体" panose="02010600030101010101" pitchFamily="2" charset="-122"/>
                <a:ea typeface="宋体" panose="02010600030101010101" pitchFamily="2" charset="-122"/>
              </a:rPr>
              <a:t>设：</a:t>
            </a:r>
            <a:r>
              <a:rPr lang="en-US" altLang="zh-CN" sz="2400" b="1" dirty="0">
                <a:solidFill>
                  <a:schemeClr val="bg1"/>
                </a:solidFill>
                <a:latin typeface="宋体" panose="02010600030101010101" pitchFamily="2" charset="-122"/>
                <a:ea typeface="宋体" panose="02010600030101010101" pitchFamily="2" charset="-122"/>
              </a:rPr>
              <a:t>SI=1200H </a:t>
            </a:r>
            <a:endParaRPr lang="en-US" altLang="zh-CN" sz="2400" b="1" dirty="0">
              <a:solidFill>
                <a:schemeClr val="bg1"/>
              </a:solidFill>
              <a:latin typeface="宋体" panose="02010600030101010101" pitchFamily="2" charset="-122"/>
              <a:ea typeface="宋体" panose="02010600030101010101" pitchFamily="2" charset="-122"/>
            </a:endParaRPr>
          </a:p>
          <a:p>
            <a:pPr eaLnBrk="0" hangingPunct="0">
              <a:spcBef>
                <a:spcPct val="25000"/>
              </a:spcBef>
              <a:buFont typeface="Wingdings" panose="05000000000000000000" pitchFamily="2" charset="2"/>
            </a:pPr>
            <a:r>
              <a:rPr lang="en-US" altLang="zh-CN" sz="2400" b="1" dirty="0">
                <a:solidFill>
                  <a:schemeClr val="bg1"/>
                </a:solidFill>
                <a:latin typeface="宋体" panose="02010600030101010101" pitchFamily="2" charset="-122"/>
                <a:ea typeface="宋体" panose="02010600030101010101" pitchFamily="2" charset="-122"/>
              </a:rPr>
              <a:t>    CS=6000H</a:t>
            </a:r>
            <a:endParaRPr lang="en-US" altLang="zh-CN" sz="2400" b="1" dirty="0">
              <a:solidFill>
                <a:schemeClr val="bg1"/>
              </a:solidFill>
              <a:latin typeface="宋体" panose="02010600030101010101" pitchFamily="2" charset="-122"/>
              <a:ea typeface="宋体" panose="02010600030101010101" pitchFamily="2" charset="-122"/>
            </a:endParaRPr>
          </a:p>
        </p:txBody>
      </p:sp>
      <p:sp>
        <p:nvSpPr>
          <p:cNvPr id="165913" name="Text Box 2077"/>
          <p:cNvSpPr txBox="1"/>
          <p:nvPr/>
        </p:nvSpPr>
        <p:spPr>
          <a:xfrm>
            <a:off x="5292725" y="5294313"/>
            <a:ext cx="1223963" cy="461962"/>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1200H</a:t>
            </a:r>
            <a:endParaRPr lang="en-US" altLang="zh-CN" sz="2400" b="1" dirty="0">
              <a:latin typeface="Times New Roman" panose="02020603050405020304" pitchFamily="18" charset="0"/>
              <a:ea typeface="宋体" panose="02010600030101010101" pitchFamily="2" charset="-122"/>
            </a:endParaRPr>
          </a:p>
        </p:txBody>
      </p:sp>
      <p:sp>
        <p:nvSpPr>
          <p:cNvPr id="165914" name="Text Box 2078"/>
          <p:cNvSpPr txBox="1"/>
          <p:nvPr/>
        </p:nvSpPr>
        <p:spPr>
          <a:xfrm>
            <a:off x="900113" y="4724400"/>
            <a:ext cx="3457575" cy="461963"/>
          </a:xfrm>
          <a:prstGeom prst="rect">
            <a:avLst/>
          </a:prstGeom>
          <a:solidFill>
            <a:srgbClr val="339966"/>
          </a:solidFill>
          <a:ln w="25400" cap="sq" cmpd="sng">
            <a:solidFill>
              <a:srgbClr val="339966"/>
            </a:solidFill>
            <a:prstDash val="solid"/>
            <a:miter/>
            <a:headEnd type="none" w="med" len="med"/>
            <a:tailEnd type="none" w="med" len="med"/>
          </a:ln>
        </p:spPr>
        <p:txBody>
          <a:bodyPr>
            <a:spAutoFit/>
          </a:bodyPr>
          <a:p>
            <a:pPr eaLnBrk="0" hangingPunct="0">
              <a:spcBef>
                <a:spcPct val="50000"/>
              </a:spcBef>
              <a:buFont typeface="Wingdings" panose="05000000000000000000" pitchFamily="2" charset="2"/>
            </a:pPr>
            <a:r>
              <a:rPr lang="zh-CN" altLang="en-US" sz="2400" b="1" dirty="0">
                <a:solidFill>
                  <a:schemeClr val="bg1"/>
                </a:solidFill>
                <a:latin typeface="宋体" panose="02010600030101010101" pitchFamily="2" charset="-122"/>
                <a:ea typeface="宋体" panose="02010600030101010101" pitchFamily="2" charset="-122"/>
              </a:rPr>
              <a:t>执行第（</a:t>
            </a:r>
            <a:r>
              <a:rPr lang="en-US" altLang="zh-CN" sz="2400" b="1" dirty="0">
                <a:solidFill>
                  <a:schemeClr val="bg1"/>
                </a:solidFill>
                <a:latin typeface="宋体" panose="02010600030101010101" pitchFamily="2" charset="-122"/>
                <a:ea typeface="宋体" panose="02010600030101010101" pitchFamily="2" charset="-122"/>
              </a:rPr>
              <a:t>2</a:t>
            </a:r>
            <a:r>
              <a:rPr lang="zh-CN" altLang="en-US" sz="2400" b="1" dirty="0">
                <a:solidFill>
                  <a:schemeClr val="bg1"/>
                </a:solidFill>
                <a:latin typeface="宋体" panose="02010600030101010101" pitchFamily="2" charset="-122"/>
                <a:ea typeface="宋体" panose="02010600030101010101" pitchFamily="2" charset="-122"/>
              </a:rPr>
              <a:t>）条指令后：</a:t>
            </a:r>
            <a:endParaRPr lang="zh-CN" altLang="en-US" sz="2400" b="1" dirty="0">
              <a:solidFill>
                <a:schemeClr val="bg1"/>
              </a:solidFill>
              <a:latin typeface="宋体" panose="02010600030101010101" pitchFamily="2" charset="-122"/>
              <a:ea typeface="宋体" panose="02010600030101010101" pitchFamily="2" charset="-122"/>
            </a:endParaRPr>
          </a:p>
        </p:txBody>
      </p:sp>
      <p:sp>
        <p:nvSpPr>
          <p:cNvPr id="165915" name="Text Box 2079"/>
          <p:cNvSpPr txBox="1"/>
          <p:nvPr/>
        </p:nvSpPr>
        <p:spPr>
          <a:xfrm>
            <a:off x="1625600" y="5410200"/>
            <a:ext cx="1655763" cy="461963"/>
          </a:xfrm>
          <a:prstGeom prst="rect">
            <a:avLst/>
          </a:prstGeom>
          <a:noFill/>
          <a:ln w="9525">
            <a:noFill/>
          </a:ln>
        </p:spPr>
        <p:txBody>
          <a:bodyPr>
            <a:spAutoFit/>
          </a:bodyPr>
          <a:p>
            <a:pPr eaLnBrk="0" hangingPunct="0">
              <a:spcBef>
                <a:spcPct val="20000"/>
              </a:spcBef>
              <a:buFont typeface="Wingdings" panose="05000000000000000000" pitchFamily="2" charset="2"/>
            </a:pPr>
            <a:r>
              <a:rPr lang="en-US" altLang="zh-CN" sz="2400" b="1" dirty="0">
                <a:latin typeface="宋体" panose="02010600030101010101" pitchFamily="2" charset="-122"/>
                <a:ea typeface="宋体" panose="02010600030101010101" pitchFamily="2" charset="-122"/>
              </a:rPr>
              <a:t>CS =6000H</a:t>
            </a:r>
            <a:endParaRPr lang="en-US" altLang="zh-CN" sz="2400" b="1" dirty="0">
              <a:latin typeface="宋体" panose="02010600030101010101" pitchFamily="2" charset="-122"/>
              <a:ea typeface="宋体" panose="02010600030101010101" pitchFamily="2" charset="-122"/>
            </a:endParaRPr>
          </a:p>
        </p:txBody>
      </p:sp>
      <p:sp>
        <p:nvSpPr>
          <p:cNvPr id="165916" name="Text Box 2082"/>
          <p:cNvSpPr txBox="1"/>
          <p:nvPr/>
        </p:nvSpPr>
        <p:spPr>
          <a:xfrm>
            <a:off x="1546225" y="5938838"/>
            <a:ext cx="1735138" cy="461962"/>
          </a:xfrm>
          <a:prstGeom prst="rect">
            <a:avLst/>
          </a:prstGeom>
          <a:noFill/>
          <a:ln w="9525">
            <a:noFill/>
          </a:ln>
        </p:spPr>
        <p:txBody>
          <a:bodyPr>
            <a:spAutoFit/>
          </a:bodyPr>
          <a:p>
            <a:pPr eaLnBrk="0" hangingPunct="0">
              <a:spcBef>
                <a:spcPct val="20000"/>
              </a:spcBef>
              <a:buFont typeface="Wingdings" panose="05000000000000000000" pitchFamily="2" charset="2"/>
            </a:pPr>
            <a:r>
              <a:rPr lang="en-US" altLang="zh-CN" sz="2400" b="1" dirty="0">
                <a:latin typeface="宋体" panose="02010600030101010101" pitchFamily="2" charset="-122"/>
                <a:ea typeface="宋体" panose="02010600030101010101" pitchFamily="2" charset="-122"/>
              </a:rPr>
              <a:t>IP =3344H</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5892">
                                            <p:txEl>
                                              <p:charRg st="0" end="19"/>
                                            </p:txEl>
                                          </p:spTgt>
                                        </p:tgtEl>
                                        <p:attrNameLst>
                                          <p:attrName>style.visibility</p:attrName>
                                        </p:attrNameLst>
                                      </p:cBhvr>
                                      <p:to>
                                        <p:strVal val="visible"/>
                                      </p:to>
                                    </p:set>
                                    <p:animEffect transition="in" filter="wipe(left)">
                                      <p:cBhvr>
                                        <p:cTn id="7" dur="500"/>
                                        <p:tgtEl>
                                          <p:spTgt spid="165892">
                                            <p:txEl>
                                              <p:charRg st="0" end="1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5895"/>
                                        </p:tgtEl>
                                        <p:attrNameLst>
                                          <p:attrName>style.visibility</p:attrName>
                                        </p:attrNameLst>
                                      </p:cBhvr>
                                      <p:to>
                                        <p:strVal val="visible"/>
                                      </p:to>
                                    </p:set>
                                    <p:animEffect transition="in" filter="wipe(left)">
                                      <p:cBhvr>
                                        <p:cTn id="12" dur="500"/>
                                        <p:tgtEl>
                                          <p:spTgt spid="16589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65893"/>
                                        </p:tgtEl>
                                        <p:attrNameLst>
                                          <p:attrName>style.visibility</p:attrName>
                                        </p:attrNameLst>
                                      </p:cBhvr>
                                      <p:to>
                                        <p:strVal val="visible"/>
                                      </p:to>
                                    </p:set>
                                    <p:animEffect transition="in" filter="wipe(left)">
                                      <p:cBhvr>
                                        <p:cTn id="16" dur="500"/>
                                        <p:tgtEl>
                                          <p:spTgt spid="16589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65892">
                                            <p:txEl>
                                              <p:charRg st="19" end="42"/>
                                            </p:txEl>
                                          </p:spTgt>
                                        </p:tgtEl>
                                        <p:attrNameLst>
                                          <p:attrName>style.visibility</p:attrName>
                                        </p:attrNameLst>
                                      </p:cBhvr>
                                      <p:to>
                                        <p:strVal val="visible"/>
                                      </p:to>
                                    </p:set>
                                    <p:animEffect transition="in" filter="wipe(left)">
                                      <p:cBhvr>
                                        <p:cTn id="21" dur="500"/>
                                        <p:tgtEl>
                                          <p:spTgt spid="165892">
                                            <p:txEl>
                                              <p:charRg st="19" end="4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6" fill="hold" nodeType="clickEffect">
                                  <p:stCondLst>
                                    <p:cond delay="0"/>
                                  </p:stCondLst>
                                  <p:childTnLst>
                                    <p:set>
                                      <p:cBhvr>
                                        <p:cTn id="25" dur="1" fill="hold">
                                          <p:stCondLst>
                                            <p:cond delay="0"/>
                                          </p:stCondLst>
                                        </p:cTn>
                                        <p:tgtEl>
                                          <p:spTgt spid="165896"/>
                                        </p:tgtEl>
                                        <p:attrNameLst>
                                          <p:attrName>style.visibility</p:attrName>
                                        </p:attrNameLst>
                                      </p:cBhvr>
                                      <p:to>
                                        <p:strVal val="visible"/>
                                      </p:to>
                                    </p:set>
                                    <p:animEffect transition="in" filter="strips(downRight)">
                                      <p:cBhvr>
                                        <p:cTn id="26" dur="500"/>
                                        <p:tgtEl>
                                          <p:spTgt spid="165896"/>
                                        </p:tgtEl>
                                      </p:cBhvr>
                                    </p:animEffect>
                                  </p:childTnLst>
                                </p:cTn>
                              </p:par>
                            </p:childTnLst>
                          </p:cTn>
                        </p:par>
                        <p:par>
                          <p:cTn id="27" fill="hold">
                            <p:stCondLst>
                              <p:cond delay="500"/>
                            </p:stCondLst>
                            <p:childTnLst>
                              <p:par>
                                <p:cTn id="28" presetID="18" presetClass="entr" presetSubtype="6" fill="hold" grpId="0" nodeType="afterEffect">
                                  <p:stCondLst>
                                    <p:cond delay="0"/>
                                  </p:stCondLst>
                                  <p:childTnLst>
                                    <p:set>
                                      <p:cBhvr>
                                        <p:cTn id="29" dur="1" fill="hold">
                                          <p:stCondLst>
                                            <p:cond delay="0"/>
                                          </p:stCondLst>
                                        </p:cTn>
                                        <p:tgtEl>
                                          <p:spTgt spid="165894"/>
                                        </p:tgtEl>
                                        <p:attrNameLst>
                                          <p:attrName>style.visibility</p:attrName>
                                        </p:attrNameLst>
                                      </p:cBhvr>
                                      <p:to>
                                        <p:strVal val="visible"/>
                                      </p:to>
                                    </p:set>
                                    <p:animEffect transition="in" filter="strips(downRight)">
                                      <p:cBhvr>
                                        <p:cTn id="30" dur="500"/>
                                        <p:tgtEl>
                                          <p:spTgt spid="165894"/>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65897"/>
                                        </p:tgtEl>
                                        <p:attrNameLst>
                                          <p:attrName>style.visibility</p:attrName>
                                        </p:attrNameLst>
                                      </p:cBhvr>
                                      <p:to>
                                        <p:strVal val="visible"/>
                                      </p:to>
                                    </p:set>
                                    <p:anim calcmode="lin" valueType="num">
                                      <p:cBhvr>
                                        <p:cTn id="35" dur="500" fill="hold"/>
                                        <p:tgtEl>
                                          <p:spTgt spid="165897"/>
                                        </p:tgtEl>
                                        <p:attrNameLst>
                                          <p:attrName>ppt_x</p:attrName>
                                        </p:attrNameLst>
                                      </p:cBhvr>
                                      <p:tavLst>
                                        <p:tav tm="0">
                                          <p:val>
                                            <p:strVal val="#ppt_x"/>
                                          </p:val>
                                        </p:tav>
                                        <p:tav tm="100000">
                                          <p:val>
                                            <p:strVal val="#ppt_x"/>
                                          </p:val>
                                        </p:tav>
                                      </p:tavLst>
                                    </p:anim>
                                    <p:anim calcmode="lin" valueType="num">
                                      <p:cBhvr>
                                        <p:cTn id="36" dur="500" fill="hold"/>
                                        <p:tgtEl>
                                          <p:spTgt spid="165897"/>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65898"/>
                                        </p:tgtEl>
                                        <p:attrNameLst>
                                          <p:attrName>style.visibility</p:attrName>
                                        </p:attrNameLst>
                                      </p:cBhvr>
                                      <p:to>
                                        <p:strVal val="visible"/>
                                      </p:to>
                                    </p:set>
                                    <p:anim calcmode="lin" valueType="num">
                                      <p:cBhvr>
                                        <p:cTn id="39" dur="500" fill="hold"/>
                                        <p:tgtEl>
                                          <p:spTgt spid="165898"/>
                                        </p:tgtEl>
                                        <p:attrNameLst>
                                          <p:attrName>ppt_x</p:attrName>
                                        </p:attrNameLst>
                                      </p:cBhvr>
                                      <p:tavLst>
                                        <p:tav tm="0">
                                          <p:val>
                                            <p:strVal val="#ppt_x"/>
                                          </p:val>
                                        </p:tav>
                                        <p:tav tm="100000">
                                          <p:val>
                                            <p:strVal val="#ppt_x"/>
                                          </p:val>
                                        </p:tav>
                                      </p:tavLst>
                                    </p:anim>
                                    <p:anim calcmode="lin" valueType="num">
                                      <p:cBhvr>
                                        <p:cTn id="40" dur="500" fill="hold"/>
                                        <p:tgtEl>
                                          <p:spTgt spid="165898"/>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65899"/>
                                        </p:tgtEl>
                                        <p:attrNameLst>
                                          <p:attrName>style.visibility</p:attrName>
                                        </p:attrNameLst>
                                      </p:cBhvr>
                                      <p:to>
                                        <p:strVal val="visible"/>
                                      </p:to>
                                    </p:set>
                                    <p:anim calcmode="lin" valueType="num">
                                      <p:cBhvr>
                                        <p:cTn id="43" dur="500" fill="hold"/>
                                        <p:tgtEl>
                                          <p:spTgt spid="165899"/>
                                        </p:tgtEl>
                                        <p:attrNameLst>
                                          <p:attrName>ppt_x</p:attrName>
                                        </p:attrNameLst>
                                      </p:cBhvr>
                                      <p:tavLst>
                                        <p:tav tm="0">
                                          <p:val>
                                            <p:strVal val="#ppt_x"/>
                                          </p:val>
                                        </p:tav>
                                        <p:tav tm="100000">
                                          <p:val>
                                            <p:strVal val="#ppt_x"/>
                                          </p:val>
                                        </p:tav>
                                      </p:tavLst>
                                    </p:anim>
                                    <p:anim calcmode="lin" valueType="num">
                                      <p:cBhvr>
                                        <p:cTn id="44" dur="500" fill="hold"/>
                                        <p:tgtEl>
                                          <p:spTgt spid="165899"/>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65900"/>
                                        </p:tgtEl>
                                        <p:attrNameLst>
                                          <p:attrName>style.visibility</p:attrName>
                                        </p:attrNameLst>
                                      </p:cBhvr>
                                      <p:to>
                                        <p:strVal val="visible"/>
                                      </p:to>
                                    </p:set>
                                    <p:anim calcmode="lin" valueType="num">
                                      <p:cBhvr>
                                        <p:cTn id="47" dur="500" fill="hold"/>
                                        <p:tgtEl>
                                          <p:spTgt spid="165900"/>
                                        </p:tgtEl>
                                        <p:attrNameLst>
                                          <p:attrName>ppt_x</p:attrName>
                                        </p:attrNameLst>
                                      </p:cBhvr>
                                      <p:tavLst>
                                        <p:tav tm="0">
                                          <p:val>
                                            <p:strVal val="#ppt_x"/>
                                          </p:val>
                                        </p:tav>
                                        <p:tav tm="100000">
                                          <p:val>
                                            <p:strVal val="#ppt_x"/>
                                          </p:val>
                                        </p:tav>
                                      </p:tavLst>
                                    </p:anim>
                                    <p:anim calcmode="lin" valueType="num">
                                      <p:cBhvr>
                                        <p:cTn id="48" dur="500" fill="hold"/>
                                        <p:tgtEl>
                                          <p:spTgt spid="165900"/>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65901"/>
                                        </p:tgtEl>
                                        <p:attrNameLst>
                                          <p:attrName>style.visibility</p:attrName>
                                        </p:attrNameLst>
                                      </p:cBhvr>
                                      <p:to>
                                        <p:strVal val="visible"/>
                                      </p:to>
                                    </p:set>
                                    <p:anim calcmode="lin" valueType="num">
                                      <p:cBhvr>
                                        <p:cTn id="51" dur="500" fill="hold"/>
                                        <p:tgtEl>
                                          <p:spTgt spid="165901"/>
                                        </p:tgtEl>
                                        <p:attrNameLst>
                                          <p:attrName>ppt_x</p:attrName>
                                        </p:attrNameLst>
                                      </p:cBhvr>
                                      <p:tavLst>
                                        <p:tav tm="0">
                                          <p:val>
                                            <p:strVal val="#ppt_x"/>
                                          </p:val>
                                        </p:tav>
                                        <p:tav tm="100000">
                                          <p:val>
                                            <p:strVal val="#ppt_x"/>
                                          </p:val>
                                        </p:tav>
                                      </p:tavLst>
                                    </p:anim>
                                    <p:anim calcmode="lin" valueType="num">
                                      <p:cBhvr>
                                        <p:cTn id="52" dur="500" fill="hold"/>
                                        <p:tgtEl>
                                          <p:spTgt spid="165901"/>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65904"/>
                                        </p:tgtEl>
                                        <p:attrNameLst>
                                          <p:attrName>style.visibility</p:attrName>
                                        </p:attrNameLst>
                                      </p:cBhvr>
                                      <p:to>
                                        <p:strVal val="visible"/>
                                      </p:to>
                                    </p:set>
                                    <p:anim calcmode="lin" valueType="num">
                                      <p:cBhvr>
                                        <p:cTn id="55" dur="500" fill="hold"/>
                                        <p:tgtEl>
                                          <p:spTgt spid="165904"/>
                                        </p:tgtEl>
                                        <p:attrNameLst>
                                          <p:attrName>ppt_x</p:attrName>
                                        </p:attrNameLst>
                                      </p:cBhvr>
                                      <p:tavLst>
                                        <p:tav tm="0">
                                          <p:val>
                                            <p:strVal val="#ppt_x"/>
                                          </p:val>
                                        </p:tav>
                                        <p:tav tm="100000">
                                          <p:val>
                                            <p:strVal val="#ppt_x"/>
                                          </p:val>
                                        </p:tav>
                                      </p:tavLst>
                                    </p:anim>
                                    <p:anim calcmode="lin" valueType="num">
                                      <p:cBhvr>
                                        <p:cTn id="56" dur="500" fill="hold"/>
                                        <p:tgtEl>
                                          <p:spTgt spid="165904"/>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65905"/>
                                        </p:tgtEl>
                                        <p:attrNameLst>
                                          <p:attrName>style.visibility</p:attrName>
                                        </p:attrNameLst>
                                      </p:cBhvr>
                                      <p:to>
                                        <p:strVal val="visible"/>
                                      </p:to>
                                    </p:set>
                                    <p:anim calcmode="lin" valueType="num">
                                      <p:cBhvr>
                                        <p:cTn id="59" dur="500" fill="hold"/>
                                        <p:tgtEl>
                                          <p:spTgt spid="165905"/>
                                        </p:tgtEl>
                                        <p:attrNameLst>
                                          <p:attrName>ppt_x</p:attrName>
                                        </p:attrNameLst>
                                      </p:cBhvr>
                                      <p:tavLst>
                                        <p:tav tm="0">
                                          <p:val>
                                            <p:strVal val="#ppt_x"/>
                                          </p:val>
                                        </p:tav>
                                        <p:tav tm="100000">
                                          <p:val>
                                            <p:strVal val="#ppt_x"/>
                                          </p:val>
                                        </p:tav>
                                      </p:tavLst>
                                    </p:anim>
                                    <p:anim calcmode="lin" valueType="num">
                                      <p:cBhvr>
                                        <p:cTn id="60" dur="500" fill="hold"/>
                                        <p:tgtEl>
                                          <p:spTgt spid="165905"/>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65906"/>
                                        </p:tgtEl>
                                        <p:attrNameLst>
                                          <p:attrName>style.visibility</p:attrName>
                                        </p:attrNameLst>
                                      </p:cBhvr>
                                      <p:to>
                                        <p:strVal val="visible"/>
                                      </p:to>
                                    </p:set>
                                    <p:anim calcmode="lin" valueType="num">
                                      <p:cBhvr>
                                        <p:cTn id="63" dur="500" fill="hold"/>
                                        <p:tgtEl>
                                          <p:spTgt spid="165906"/>
                                        </p:tgtEl>
                                        <p:attrNameLst>
                                          <p:attrName>ppt_x</p:attrName>
                                        </p:attrNameLst>
                                      </p:cBhvr>
                                      <p:tavLst>
                                        <p:tav tm="0">
                                          <p:val>
                                            <p:strVal val="#ppt_x"/>
                                          </p:val>
                                        </p:tav>
                                        <p:tav tm="100000">
                                          <p:val>
                                            <p:strVal val="#ppt_x"/>
                                          </p:val>
                                        </p:tav>
                                      </p:tavLst>
                                    </p:anim>
                                    <p:anim calcmode="lin" valueType="num">
                                      <p:cBhvr>
                                        <p:cTn id="64" dur="500" fill="hold"/>
                                        <p:tgtEl>
                                          <p:spTgt spid="165906"/>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65907"/>
                                        </p:tgtEl>
                                        <p:attrNameLst>
                                          <p:attrName>style.visibility</p:attrName>
                                        </p:attrNameLst>
                                      </p:cBhvr>
                                      <p:to>
                                        <p:strVal val="visible"/>
                                      </p:to>
                                    </p:set>
                                    <p:anim calcmode="lin" valueType="num">
                                      <p:cBhvr>
                                        <p:cTn id="67" dur="500" fill="hold"/>
                                        <p:tgtEl>
                                          <p:spTgt spid="165907"/>
                                        </p:tgtEl>
                                        <p:attrNameLst>
                                          <p:attrName>ppt_x</p:attrName>
                                        </p:attrNameLst>
                                      </p:cBhvr>
                                      <p:tavLst>
                                        <p:tav tm="0">
                                          <p:val>
                                            <p:strVal val="#ppt_x"/>
                                          </p:val>
                                        </p:tav>
                                        <p:tav tm="100000">
                                          <p:val>
                                            <p:strVal val="#ppt_x"/>
                                          </p:val>
                                        </p:tav>
                                      </p:tavLst>
                                    </p:anim>
                                    <p:anim calcmode="lin" valueType="num">
                                      <p:cBhvr>
                                        <p:cTn id="68" dur="500" fill="hold"/>
                                        <p:tgtEl>
                                          <p:spTgt spid="165907"/>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65908"/>
                                        </p:tgtEl>
                                        <p:attrNameLst>
                                          <p:attrName>style.visibility</p:attrName>
                                        </p:attrNameLst>
                                      </p:cBhvr>
                                      <p:to>
                                        <p:strVal val="visible"/>
                                      </p:to>
                                    </p:set>
                                    <p:anim calcmode="lin" valueType="num">
                                      <p:cBhvr>
                                        <p:cTn id="71" dur="500" fill="hold"/>
                                        <p:tgtEl>
                                          <p:spTgt spid="165908"/>
                                        </p:tgtEl>
                                        <p:attrNameLst>
                                          <p:attrName>ppt_x</p:attrName>
                                        </p:attrNameLst>
                                      </p:cBhvr>
                                      <p:tavLst>
                                        <p:tav tm="0">
                                          <p:val>
                                            <p:strVal val="#ppt_x"/>
                                          </p:val>
                                        </p:tav>
                                        <p:tav tm="100000">
                                          <p:val>
                                            <p:strVal val="#ppt_x"/>
                                          </p:val>
                                        </p:tav>
                                      </p:tavLst>
                                    </p:anim>
                                    <p:anim calcmode="lin" valueType="num">
                                      <p:cBhvr>
                                        <p:cTn id="72" dur="500" fill="hold"/>
                                        <p:tgtEl>
                                          <p:spTgt spid="165908"/>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65909"/>
                                        </p:tgtEl>
                                        <p:attrNameLst>
                                          <p:attrName>style.visibility</p:attrName>
                                        </p:attrNameLst>
                                      </p:cBhvr>
                                      <p:to>
                                        <p:strVal val="visible"/>
                                      </p:to>
                                    </p:set>
                                    <p:anim calcmode="lin" valueType="num">
                                      <p:cBhvr>
                                        <p:cTn id="75" dur="500" fill="hold"/>
                                        <p:tgtEl>
                                          <p:spTgt spid="165909"/>
                                        </p:tgtEl>
                                        <p:attrNameLst>
                                          <p:attrName>ppt_x</p:attrName>
                                        </p:attrNameLst>
                                      </p:cBhvr>
                                      <p:tavLst>
                                        <p:tav tm="0">
                                          <p:val>
                                            <p:strVal val="#ppt_x"/>
                                          </p:val>
                                        </p:tav>
                                        <p:tav tm="100000">
                                          <p:val>
                                            <p:strVal val="#ppt_x"/>
                                          </p:val>
                                        </p:tav>
                                      </p:tavLst>
                                    </p:anim>
                                    <p:anim calcmode="lin" valueType="num">
                                      <p:cBhvr>
                                        <p:cTn id="76" dur="500" fill="hold"/>
                                        <p:tgtEl>
                                          <p:spTgt spid="165909"/>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165910"/>
                                        </p:tgtEl>
                                        <p:attrNameLst>
                                          <p:attrName>style.visibility</p:attrName>
                                        </p:attrNameLst>
                                      </p:cBhvr>
                                      <p:to>
                                        <p:strVal val="visible"/>
                                      </p:to>
                                    </p:set>
                                    <p:anim calcmode="lin" valueType="num">
                                      <p:cBhvr>
                                        <p:cTn id="79" dur="500" fill="hold"/>
                                        <p:tgtEl>
                                          <p:spTgt spid="165910"/>
                                        </p:tgtEl>
                                        <p:attrNameLst>
                                          <p:attrName>ppt_x</p:attrName>
                                        </p:attrNameLst>
                                      </p:cBhvr>
                                      <p:tavLst>
                                        <p:tav tm="0">
                                          <p:val>
                                            <p:strVal val="#ppt_x"/>
                                          </p:val>
                                        </p:tav>
                                        <p:tav tm="100000">
                                          <p:val>
                                            <p:strVal val="#ppt_x"/>
                                          </p:val>
                                        </p:tav>
                                      </p:tavLst>
                                    </p:anim>
                                    <p:anim calcmode="lin" valueType="num">
                                      <p:cBhvr>
                                        <p:cTn id="80" dur="500" fill="hold"/>
                                        <p:tgtEl>
                                          <p:spTgt spid="165910"/>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165911"/>
                                        </p:tgtEl>
                                        <p:attrNameLst>
                                          <p:attrName>style.visibility</p:attrName>
                                        </p:attrNameLst>
                                      </p:cBhvr>
                                      <p:to>
                                        <p:strVal val="visible"/>
                                      </p:to>
                                    </p:set>
                                    <p:anim calcmode="lin" valueType="num">
                                      <p:cBhvr>
                                        <p:cTn id="83" dur="500" fill="hold"/>
                                        <p:tgtEl>
                                          <p:spTgt spid="165911"/>
                                        </p:tgtEl>
                                        <p:attrNameLst>
                                          <p:attrName>ppt_x</p:attrName>
                                        </p:attrNameLst>
                                      </p:cBhvr>
                                      <p:tavLst>
                                        <p:tav tm="0">
                                          <p:val>
                                            <p:strVal val="#ppt_x"/>
                                          </p:val>
                                        </p:tav>
                                        <p:tav tm="100000">
                                          <p:val>
                                            <p:strVal val="#ppt_x"/>
                                          </p:val>
                                        </p:tav>
                                      </p:tavLst>
                                    </p:anim>
                                    <p:anim calcmode="lin" valueType="num">
                                      <p:cBhvr>
                                        <p:cTn id="84" dur="500" fill="hold"/>
                                        <p:tgtEl>
                                          <p:spTgt spid="165911"/>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8" fill="hold" grpId="0" nodeType="clickEffect">
                                  <p:stCondLst>
                                    <p:cond delay="0"/>
                                  </p:stCondLst>
                                  <p:childTnLst>
                                    <p:set>
                                      <p:cBhvr>
                                        <p:cTn id="88" dur="1" fill="hold">
                                          <p:stCondLst>
                                            <p:cond delay="0"/>
                                          </p:stCondLst>
                                        </p:cTn>
                                        <p:tgtEl>
                                          <p:spTgt spid="165912"/>
                                        </p:tgtEl>
                                        <p:attrNameLst>
                                          <p:attrName>style.visibility</p:attrName>
                                        </p:attrNameLst>
                                      </p:cBhvr>
                                      <p:to>
                                        <p:strVal val="visible"/>
                                      </p:to>
                                    </p:set>
                                    <p:anim calcmode="lin" valueType="num">
                                      <p:cBhvr>
                                        <p:cTn id="89" dur="500" fill="hold"/>
                                        <p:tgtEl>
                                          <p:spTgt spid="165912"/>
                                        </p:tgtEl>
                                        <p:attrNameLst>
                                          <p:attrName>ppt_x</p:attrName>
                                        </p:attrNameLst>
                                      </p:cBhvr>
                                      <p:tavLst>
                                        <p:tav tm="0">
                                          <p:val>
                                            <p:strVal val="0-#ppt_w/2"/>
                                          </p:val>
                                        </p:tav>
                                        <p:tav tm="100000">
                                          <p:val>
                                            <p:strVal val="#ppt_x"/>
                                          </p:val>
                                        </p:tav>
                                      </p:tavLst>
                                    </p:anim>
                                    <p:anim calcmode="lin" valueType="num">
                                      <p:cBhvr>
                                        <p:cTn id="90" dur="500" fill="hold"/>
                                        <p:tgtEl>
                                          <p:spTgt spid="165912"/>
                                        </p:tgtEl>
                                        <p:attrNameLst>
                                          <p:attrName>ppt_y</p:attrName>
                                        </p:attrNameLst>
                                      </p:cBhvr>
                                      <p:tavLst>
                                        <p:tav tm="0">
                                          <p:val>
                                            <p:strVal val="#ppt_y"/>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165913"/>
                                        </p:tgtEl>
                                        <p:attrNameLst>
                                          <p:attrName>style.visibility</p:attrName>
                                        </p:attrNameLst>
                                      </p:cBhvr>
                                      <p:to>
                                        <p:strVal val="visible"/>
                                      </p:to>
                                    </p:set>
                                    <p:animEffect transition="in" filter="blinds(horizontal)">
                                      <p:cBhvr>
                                        <p:cTn id="95" dur="500"/>
                                        <p:tgtEl>
                                          <p:spTgt spid="165913"/>
                                        </p:tgtEl>
                                      </p:cBhvr>
                                    </p:animEffect>
                                  </p:childTnLst>
                                </p:cTn>
                              </p:par>
                            </p:childTnLst>
                          </p:cTn>
                        </p:par>
                        <p:par>
                          <p:cTn id="96" fill="hold">
                            <p:stCondLst>
                              <p:cond delay="500"/>
                            </p:stCondLst>
                            <p:childTnLst>
                              <p:par>
                                <p:cTn id="97" presetID="3" presetClass="entr" presetSubtype="10" fill="hold" grpId="0" nodeType="afterEffect">
                                  <p:stCondLst>
                                    <p:cond delay="0"/>
                                  </p:stCondLst>
                                  <p:childTnLst>
                                    <p:set>
                                      <p:cBhvr>
                                        <p:cTn id="98" dur="1" fill="hold">
                                          <p:stCondLst>
                                            <p:cond delay="0"/>
                                          </p:stCondLst>
                                        </p:cTn>
                                        <p:tgtEl>
                                          <p:spTgt spid="165902"/>
                                        </p:tgtEl>
                                        <p:attrNameLst>
                                          <p:attrName>style.visibility</p:attrName>
                                        </p:attrNameLst>
                                      </p:cBhvr>
                                      <p:to>
                                        <p:strVal val="visible"/>
                                      </p:to>
                                    </p:set>
                                    <p:animEffect transition="in" filter="blinds(horizontal)">
                                      <p:cBhvr>
                                        <p:cTn id="99" dur="500"/>
                                        <p:tgtEl>
                                          <p:spTgt spid="165902"/>
                                        </p:tgtEl>
                                      </p:cBhvr>
                                    </p:animEffect>
                                  </p:childTnLst>
                                </p:cTn>
                              </p:par>
                              <p:par>
                                <p:cTn id="100" presetID="2" presetClass="entr" presetSubtype="4" fill="hold" grpId="0" nodeType="withEffect">
                                  <p:stCondLst>
                                    <p:cond delay="0"/>
                                  </p:stCondLst>
                                  <p:childTnLst>
                                    <p:set>
                                      <p:cBhvr>
                                        <p:cTn id="101" dur="1" fill="hold">
                                          <p:stCondLst>
                                            <p:cond delay="0"/>
                                          </p:stCondLst>
                                        </p:cTn>
                                        <p:tgtEl>
                                          <p:spTgt spid="165903"/>
                                        </p:tgtEl>
                                        <p:attrNameLst>
                                          <p:attrName>style.visibility</p:attrName>
                                        </p:attrNameLst>
                                      </p:cBhvr>
                                      <p:to>
                                        <p:strVal val="visible"/>
                                      </p:to>
                                    </p:set>
                                    <p:anim calcmode="lin" valueType="num">
                                      <p:cBhvr>
                                        <p:cTn id="102" dur="500" fill="hold"/>
                                        <p:tgtEl>
                                          <p:spTgt spid="165903"/>
                                        </p:tgtEl>
                                        <p:attrNameLst>
                                          <p:attrName>ppt_x</p:attrName>
                                        </p:attrNameLst>
                                      </p:cBhvr>
                                      <p:tavLst>
                                        <p:tav tm="0">
                                          <p:val>
                                            <p:strVal val="#ppt_x"/>
                                          </p:val>
                                        </p:tav>
                                        <p:tav tm="100000">
                                          <p:val>
                                            <p:strVal val="#ppt_x"/>
                                          </p:val>
                                        </p:tav>
                                      </p:tavLst>
                                    </p:anim>
                                    <p:anim calcmode="lin" valueType="num">
                                      <p:cBhvr>
                                        <p:cTn id="103" dur="500" fill="hold"/>
                                        <p:tgtEl>
                                          <p:spTgt spid="165903"/>
                                        </p:tgtEl>
                                        <p:attrNameLst>
                                          <p:attrName>ppt_y</p:attrName>
                                        </p:attrNameLst>
                                      </p:cBhvr>
                                      <p:tavLst>
                                        <p:tav tm="0">
                                          <p:val>
                                            <p:strVal val="1+#ppt_h/2"/>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 presetClass="entr" presetSubtype="8" fill="hold" grpId="0" nodeType="clickEffect">
                                  <p:stCondLst>
                                    <p:cond delay="0"/>
                                  </p:stCondLst>
                                  <p:childTnLst>
                                    <p:set>
                                      <p:cBhvr>
                                        <p:cTn id="107" dur="1" fill="hold">
                                          <p:stCondLst>
                                            <p:cond delay="0"/>
                                          </p:stCondLst>
                                        </p:cTn>
                                        <p:tgtEl>
                                          <p:spTgt spid="165914"/>
                                        </p:tgtEl>
                                        <p:attrNameLst>
                                          <p:attrName>style.visibility</p:attrName>
                                        </p:attrNameLst>
                                      </p:cBhvr>
                                      <p:to>
                                        <p:strVal val="visible"/>
                                      </p:to>
                                    </p:set>
                                    <p:anim calcmode="lin" valueType="num">
                                      <p:cBhvr>
                                        <p:cTn id="108" dur="500" fill="hold"/>
                                        <p:tgtEl>
                                          <p:spTgt spid="165914"/>
                                        </p:tgtEl>
                                        <p:attrNameLst>
                                          <p:attrName>ppt_x</p:attrName>
                                        </p:attrNameLst>
                                      </p:cBhvr>
                                      <p:tavLst>
                                        <p:tav tm="0">
                                          <p:val>
                                            <p:strVal val="0-#ppt_w/2"/>
                                          </p:val>
                                        </p:tav>
                                        <p:tav tm="100000">
                                          <p:val>
                                            <p:strVal val="#ppt_x"/>
                                          </p:val>
                                        </p:tav>
                                      </p:tavLst>
                                    </p:anim>
                                    <p:anim calcmode="lin" valueType="num">
                                      <p:cBhvr>
                                        <p:cTn id="109" dur="500" fill="hold"/>
                                        <p:tgtEl>
                                          <p:spTgt spid="165914"/>
                                        </p:tgtEl>
                                        <p:attrNameLst>
                                          <p:attrName>ppt_y</p:attrName>
                                        </p:attrNameLst>
                                      </p:cBhvr>
                                      <p:tavLst>
                                        <p:tav tm="0">
                                          <p:val>
                                            <p:strVal val="#ppt_y"/>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165915"/>
                                        </p:tgtEl>
                                        <p:attrNameLst>
                                          <p:attrName>style.visibility</p:attrName>
                                        </p:attrNameLst>
                                      </p:cBhvr>
                                      <p:to>
                                        <p:strVal val="visible"/>
                                      </p:to>
                                    </p:set>
                                    <p:animEffect transition="in" filter="wipe(left)">
                                      <p:cBhvr>
                                        <p:cTn id="114" dur="500"/>
                                        <p:tgtEl>
                                          <p:spTgt spid="165915"/>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165916"/>
                                        </p:tgtEl>
                                        <p:attrNameLst>
                                          <p:attrName>style.visibility</p:attrName>
                                        </p:attrNameLst>
                                      </p:cBhvr>
                                      <p:to>
                                        <p:strVal val="visible"/>
                                      </p:to>
                                    </p:set>
                                    <p:animEffect transition="in" filter="wipe(left)">
                                      <p:cBhvr>
                                        <p:cTn id="119" dur="500"/>
                                        <p:tgtEl>
                                          <p:spTgt spid="165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3" grpId="0"/>
      <p:bldP spid="165894" grpId="0"/>
      <p:bldP spid="165897" grpId="0" animBg="1"/>
      <p:bldP spid="165902" grpId="0"/>
      <p:bldP spid="165903" grpId="0"/>
      <p:bldP spid="165904" grpId="0" animBg="1"/>
      <p:bldP spid="165907" grpId="0"/>
      <p:bldP spid="165908" grpId="0" animBg="1"/>
      <p:bldP spid="165909" grpId="0"/>
      <p:bldP spid="165910" grpId="0"/>
      <p:bldP spid="165911" grpId="0"/>
      <p:bldP spid="165912" grpId="0" animBg="1"/>
      <p:bldP spid="165913" grpId="0"/>
      <p:bldP spid="165914" grpId="0" animBg="1"/>
      <p:bldP spid="165915" grpId="0"/>
      <p:bldP spid="165916"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2"/>
          <p:cNvSpPr>
            <a:spLocks noGrp="1"/>
          </p:cNvSpPr>
          <p:nvPr>
            <p:ph type="title" idx="4294967295"/>
          </p:nvPr>
        </p:nvSpPr>
        <p:spPr>
          <a:xfrm>
            <a:off x="900113" y="923925"/>
            <a:ext cx="2701925" cy="563563"/>
          </a:xfrm>
        </p:spPr>
        <p:txBody>
          <a:bodyPr vert="horz" wrap="square" lIns="91440" tIns="45720" rIns="91440" bIns="45720" anchor="ctr" anchorCtr="0"/>
          <a:p>
            <a:pPr eaLnBrk="1" hangingPunct="1"/>
            <a:r>
              <a:rPr lang="zh-CN" altLang="en-US" dirty="0">
                <a:solidFill>
                  <a:srgbClr val="000033"/>
                </a:solidFill>
                <a:latin typeface="宋体" panose="02010600030101010101" pitchFamily="2" charset="-122"/>
                <a:ea typeface="宋体" panose="02010600030101010101" pitchFamily="2" charset="-122"/>
              </a:rPr>
              <a:t>（</a:t>
            </a:r>
            <a:r>
              <a:rPr lang="en-US" altLang="zh-CN" dirty="0">
                <a:solidFill>
                  <a:srgbClr val="000033"/>
                </a:solidFill>
                <a:latin typeface="宋体" panose="02010600030101010101" pitchFamily="2" charset="-122"/>
                <a:ea typeface="宋体" panose="02010600030101010101" pitchFamily="2" charset="-122"/>
              </a:rPr>
              <a:t>2</a:t>
            </a:r>
            <a:r>
              <a:rPr lang="zh-CN" altLang="en-US" dirty="0">
                <a:solidFill>
                  <a:srgbClr val="000033"/>
                </a:solidFill>
                <a:latin typeface="宋体" panose="02010600030101010101" pitchFamily="2" charset="-122"/>
                <a:ea typeface="宋体" panose="02010600030101010101" pitchFamily="2" charset="-122"/>
              </a:rPr>
              <a:t>）段间调用</a:t>
            </a:r>
            <a:endParaRPr lang="zh-CN" altLang="en-US" dirty="0">
              <a:solidFill>
                <a:srgbClr val="000033"/>
              </a:solidFill>
              <a:latin typeface="宋体" panose="02010600030101010101" pitchFamily="2" charset="-122"/>
              <a:ea typeface="宋体" panose="02010600030101010101" pitchFamily="2" charset="-122"/>
            </a:endParaRPr>
          </a:p>
        </p:txBody>
      </p:sp>
      <p:sp>
        <p:nvSpPr>
          <p:cNvPr id="166915" name="Rectangle 3"/>
          <p:cNvSpPr>
            <a:spLocks noGrp="1"/>
          </p:cNvSpPr>
          <p:nvPr>
            <p:ph type="body" idx="4294967295"/>
          </p:nvPr>
        </p:nvSpPr>
        <p:spPr>
          <a:xfrm>
            <a:off x="1182688" y="2017713"/>
            <a:ext cx="7134225" cy="2635250"/>
          </a:xfrm>
        </p:spPr>
        <p:txBody>
          <a:bodyPr vert="horz" wrap="square" lIns="91440" tIns="45720" rIns="91440" bIns="45720" anchor="t" anchorCtr="0"/>
          <a:p>
            <a:pPr eaLnBrk="1" hangingPunct="1">
              <a:lnSpc>
                <a:spcPct val="115000"/>
              </a:lnSpc>
              <a:spcAft>
                <a:spcPct val="30000"/>
              </a:spcAft>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子过程与原调用程序不在同一代码段</a:t>
            </a:r>
            <a:endParaRPr lang="zh-CN" altLang="en-US" sz="2400" dirty="0">
              <a:latin typeface="宋体" panose="02010600030101010101" pitchFamily="2" charset="-122"/>
              <a:ea typeface="宋体" panose="02010600030101010101" pitchFamily="2" charset="-122"/>
            </a:endParaRPr>
          </a:p>
          <a:p>
            <a:pPr eaLnBrk="1" hangingPunct="1">
              <a:lnSpc>
                <a:spcPct val="115000"/>
              </a:lnSpc>
              <a:spcAft>
                <a:spcPct val="30000"/>
              </a:spcAft>
              <a:buFont typeface="Wingdings" panose="05000000000000000000" pitchFamily="2" charset="2"/>
              <a:buChar char="Ø"/>
            </a:pPr>
            <a:endParaRPr lang="zh-CN" altLang="en-US" sz="2400" u="sng" dirty="0">
              <a:solidFill>
                <a:srgbClr val="FF0000"/>
              </a:solidFill>
              <a:latin typeface="宋体" panose="02010600030101010101" pitchFamily="2" charset="-122"/>
              <a:ea typeface="宋体" panose="02010600030101010101" pitchFamily="2" charset="-122"/>
            </a:endParaRPr>
          </a:p>
          <a:p>
            <a:pPr eaLnBrk="1" hangingPunct="1">
              <a:lnSpc>
                <a:spcPct val="115000"/>
              </a:lnSpc>
              <a:spcAft>
                <a:spcPct val="30000"/>
              </a:spcAft>
              <a:buFont typeface="Wingdings" panose="05000000000000000000" pitchFamily="2" charset="2"/>
              <a:buChar char="Ø"/>
            </a:pPr>
            <a:endParaRPr lang="zh-CN" altLang="en-US" sz="2400" dirty="0">
              <a:latin typeface="宋体" panose="02010600030101010101" pitchFamily="2" charset="-122"/>
              <a:ea typeface="宋体" panose="02010600030101010101" pitchFamily="2" charset="-122"/>
            </a:endParaRPr>
          </a:p>
          <a:p>
            <a:pPr eaLnBrk="1" hangingPunct="1">
              <a:lnSpc>
                <a:spcPct val="115000"/>
              </a:lnSpc>
              <a:spcBef>
                <a:spcPct val="0"/>
              </a:spcBef>
              <a:spcAft>
                <a:spcPct val="30000"/>
              </a:spcAft>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断点保护时的压栈顺序：先将断点的</a:t>
            </a:r>
            <a:r>
              <a:rPr lang="en-US" altLang="zh-CN" sz="2400" dirty="0">
                <a:latin typeface="宋体" panose="02010600030101010101" pitchFamily="2" charset="-122"/>
                <a:ea typeface="宋体" panose="02010600030101010101" pitchFamily="2" charset="-122"/>
              </a:rPr>
              <a:t>CS</a:t>
            </a:r>
            <a:r>
              <a:rPr lang="zh-CN" altLang="en-US" sz="2400" dirty="0">
                <a:latin typeface="宋体" panose="02010600030101010101" pitchFamily="2" charset="-122"/>
                <a:ea typeface="宋体" panose="02010600030101010101" pitchFamily="2" charset="-122"/>
              </a:rPr>
              <a:t>压栈，再压入</a:t>
            </a:r>
            <a:r>
              <a:rPr lang="en-US" altLang="zh-CN" sz="2400" dirty="0">
                <a:latin typeface="宋体" panose="02010600030101010101" pitchFamily="2" charset="-122"/>
                <a:ea typeface="宋体" panose="02010600030101010101" pitchFamily="2" charset="-122"/>
              </a:rPr>
              <a:t>IP。</a:t>
            </a:r>
            <a:endParaRPr lang="en-US" altLang="zh-CN" sz="2400" dirty="0">
              <a:latin typeface="宋体" panose="02010600030101010101" pitchFamily="2" charset="-122"/>
              <a:ea typeface="宋体" panose="02010600030101010101" pitchFamily="2" charset="-122"/>
            </a:endParaRPr>
          </a:p>
        </p:txBody>
      </p:sp>
      <p:sp>
        <p:nvSpPr>
          <p:cNvPr id="166916" name="Text Box 4"/>
          <p:cNvSpPr txBox="1"/>
          <p:nvPr/>
        </p:nvSpPr>
        <p:spPr>
          <a:xfrm>
            <a:off x="1547813" y="3133725"/>
            <a:ext cx="5761037" cy="517525"/>
          </a:xfrm>
          <a:prstGeom prst="rect">
            <a:avLst/>
          </a:prstGeom>
          <a:noFill/>
          <a:ln w="9525">
            <a:noFill/>
          </a:ln>
        </p:spPr>
        <p:txBody>
          <a:bodyPr>
            <a:spAutoFit/>
          </a:bodyPr>
          <a:p>
            <a:pPr eaLnBrk="0" hangingPunct="0">
              <a:lnSpc>
                <a:spcPct val="115000"/>
              </a:lnSpc>
              <a:spcBef>
                <a:spcPct val="20000"/>
              </a:spcBef>
              <a:spcAft>
                <a:spcPct val="30000"/>
              </a:spcAft>
              <a:buClr>
                <a:schemeClr val="folHlink"/>
              </a:buClr>
              <a:buSzPct val="60000"/>
              <a:buFont typeface="Wingdings" panose="05000000000000000000" pitchFamily="2" charset="2"/>
            </a:pPr>
            <a:r>
              <a:rPr lang="zh-CN" altLang="en-US" sz="2400" dirty="0">
                <a:solidFill>
                  <a:srgbClr val="FF0000"/>
                </a:solidFill>
                <a:latin typeface="宋体" panose="02010600030101010101" pitchFamily="2" charset="-122"/>
                <a:ea typeface="宋体" panose="02010600030101010101" pitchFamily="2" charset="-122"/>
              </a:rPr>
              <a:t>调用前需保护断点的段基地址和偏移地址</a:t>
            </a:r>
            <a:endParaRPr lang="zh-CN" altLang="en-US" sz="2400" dirty="0">
              <a:solidFill>
                <a:srgbClr val="FF0000"/>
              </a:solidFill>
              <a:latin typeface="宋体" panose="02010600030101010101" pitchFamily="2" charset="-122"/>
              <a:ea typeface="宋体" panose="02010600030101010101" pitchFamily="2" charset="-122"/>
            </a:endParaRPr>
          </a:p>
        </p:txBody>
      </p:sp>
      <p:sp>
        <p:nvSpPr>
          <p:cNvPr id="166917" name="Line 5"/>
          <p:cNvSpPr/>
          <p:nvPr/>
        </p:nvSpPr>
        <p:spPr>
          <a:xfrm>
            <a:off x="4211638" y="2636838"/>
            <a:ext cx="0" cy="576262"/>
          </a:xfrm>
          <a:prstGeom prst="line">
            <a:avLst/>
          </a:prstGeom>
          <a:ln w="25400" cap="sq" cmpd="sng">
            <a:solidFill>
              <a:srgbClr val="FF6600"/>
            </a:solidFill>
            <a:prstDash val="solid"/>
            <a:headEnd type="none" w="med" len="med"/>
            <a:tailEnd type="triangle" w="lg" len="lg"/>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6915">
                                            <p:txEl>
                                              <p:charRg st="0" end="17"/>
                                            </p:txEl>
                                          </p:spTgt>
                                        </p:tgtEl>
                                        <p:attrNameLst>
                                          <p:attrName>style.visibility</p:attrName>
                                        </p:attrNameLst>
                                      </p:cBhvr>
                                      <p:to>
                                        <p:strVal val="visible"/>
                                      </p:to>
                                    </p:set>
                                    <p:animEffect transition="in" filter="wipe(left)">
                                      <p:cBhvr>
                                        <p:cTn id="7" dur="500"/>
                                        <p:tgtEl>
                                          <p:spTgt spid="166915">
                                            <p:txEl>
                                              <p:charRg st="0"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66917"/>
                                        </p:tgtEl>
                                        <p:attrNameLst>
                                          <p:attrName>style.visibility</p:attrName>
                                        </p:attrNameLst>
                                      </p:cBhvr>
                                      <p:to>
                                        <p:strVal val="visible"/>
                                      </p:to>
                                    </p:set>
                                    <p:animEffect transition="in" filter="strips(downLeft)">
                                      <p:cBhvr>
                                        <p:cTn id="12" dur="500"/>
                                        <p:tgtEl>
                                          <p:spTgt spid="166917"/>
                                        </p:tgtEl>
                                      </p:cBhvr>
                                    </p:animEffect>
                                  </p:childTnLst>
                                </p:cTn>
                              </p:par>
                            </p:childTnLst>
                          </p:cTn>
                        </p:par>
                        <p:par>
                          <p:cTn id="13" fill="hold">
                            <p:stCondLst>
                              <p:cond delay="500"/>
                            </p:stCondLst>
                            <p:childTnLst>
                              <p:par>
                                <p:cTn id="14" presetID="22" presetClass="entr" presetSubtype="8" fill="hold" grpId="0" nodeType="afterEffect">
                                  <p:stCondLst>
                                    <p:cond delay="500"/>
                                  </p:stCondLst>
                                  <p:childTnLst>
                                    <p:set>
                                      <p:cBhvr>
                                        <p:cTn id="15" dur="1" fill="hold">
                                          <p:stCondLst>
                                            <p:cond delay="0"/>
                                          </p:stCondLst>
                                        </p:cTn>
                                        <p:tgtEl>
                                          <p:spTgt spid="166916"/>
                                        </p:tgtEl>
                                        <p:attrNameLst>
                                          <p:attrName>style.visibility</p:attrName>
                                        </p:attrNameLst>
                                      </p:cBhvr>
                                      <p:to>
                                        <p:strVal val="visible"/>
                                      </p:to>
                                    </p:set>
                                    <p:animEffect transition="in" filter="wipe(left)">
                                      <p:cBhvr>
                                        <p:cTn id="16" dur="500"/>
                                        <p:tgtEl>
                                          <p:spTgt spid="1669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66915">
                                            <p:txEl>
                                              <p:charRg st="19" end="47"/>
                                            </p:txEl>
                                          </p:spTgt>
                                        </p:tgtEl>
                                        <p:attrNameLst>
                                          <p:attrName>style.visibility</p:attrName>
                                        </p:attrNameLst>
                                      </p:cBhvr>
                                      <p:to>
                                        <p:strVal val="visible"/>
                                      </p:to>
                                    </p:set>
                                    <p:animEffect transition="in" filter="wipe(left)">
                                      <p:cBhvr>
                                        <p:cTn id="21" dur="500"/>
                                        <p:tgtEl>
                                          <p:spTgt spid="166915">
                                            <p:txEl>
                                              <p:charRg st="19" end="4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6"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灯片编号占位符 5"/>
          <p:cNvSpPr txBox="1">
            <a:spLocks noGrp="1"/>
          </p:cNvSpPr>
          <p:nvPr/>
        </p:nvSpPr>
        <p:spPr>
          <a:xfrm>
            <a:off x="7042150" y="6243638"/>
            <a:ext cx="1905000" cy="457200"/>
          </a:xfrm>
          <a:prstGeom prst="rect">
            <a:avLst/>
          </a:prstGeom>
          <a:noFill/>
          <a:ln w="9525">
            <a:noFill/>
          </a:ln>
        </p:spPr>
        <p:txBody>
          <a:bodyPr/>
          <a:p>
            <a:pPr algn="ctr"/>
            <a:fld id="{9A0DB2DC-4C9A-4742-B13C-FB6460FD3503}" type="slidenum">
              <a:rPr lang="zh-CN" altLang="en-US" sz="1400" dirty="0">
                <a:latin typeface="Tahoma" panose="020B0604030504040204" pitchFamily="34" charset="0"/>
                <a:ea typeface="宋体" panose="02010600030101010101" pitchFamily="2" charset="-122"/>
              </a:rPr>
            </a:fld>
            <a:endParaRPr lang="zh-CN" altLang="en-US" sz="1400" dirty="0">
              <a:latin typeface="Tahoma" panose="020B0604030504040204" pitchFamily="34" charset="0"/>
              <a:ea typeface="宋体" panose="02010600030101010101" pitchFamily="2" charset="-122"/>
            </a:endParaRPr>
          </a:p>
        </p:txBody>
      </p:sp>
      <p:sp>
        <p:nvSpPr>
          <p:cNvPr id="171011" name="Rectangle 2"/>
          <p:cNvSpPr>
            <a:spLocks noGrp="1"/>
          </p:cNvSpPr>
          <p:nvPr>
            <p:ph type="title" idx="4294967295"/>
          </p:nvPr>
        </p:nvSpPr>
        <p:spPr>
          <a:xfrm>
            <a:off x="684213" y="1052513"/>
            <a:ext cx="1150937" cy="563562"/>
          </a:xfrm>
        </p:spPr>
        <p:txBody>
          <a:bodyPr vert="horz" wrap="square" lIns="91440" tIns="45720" rIns="91440" bIns="45720" anchor="ctr" anchorCtr="0"/>
          <a:p>
            <a:pPr eaLnBrk="1" hangingPunct="1"/>
            <a:r>
              <a:rPr lang="en-US" altLang="zh-CN" dirty="0">
                <a:solidFill>
                  <a:srgbClr val="000033"/>
                </a:solidFill>
                <a:ea typeface="宋体" panose="02010600030101010101" pitchFamily="2" charset="-122"/>
              </a:rPr>
              <a:t>【</a:t>
            </a:r>
            <a:r>
              <a:rPr lang="zh-CN" altLang="en-US" dirty="0">
                <a:solidFill>
                  <a:srgbClr val="000033"/>
                </a:solidFill>
                <a:ea typeface="宋体" panose="02010600030101010101" pitchFamily="2" charset="-122"/>
              </a:rPr>
              <a:t>例</a:t>
            </a:r>
            <a:r>
              <a:rPr lang="en-US" altLang="zh-CN" dirty="0">
                <a:solidFill>
                  <a:srgbClr val="000033"/>
                </a:solidFill>
                <a:ea typeface="宋体" panose="02010600030101010101" pitchFamily="2" charset="-122"/>
              </a:rPr>
              <a:t>】</a:t>
            </a:r>
            <a:endParaRPr lang="zh-CN" altLang="en-US" dirty="0">
              <a:solidFill>
                <a:srgbClr val="000033"/>
              </a:solidFill>
              <a:ea typeface="宋体" panose="02010600030101010101" pitchFamily="2" charset="-122"/>
            </a:endParaRPr>
          </a:p>
        </p:txBody>
      </p:sp>
      <p:sp>
        <p:nvSpPr>
          <p:cNvPr id="167940" name="Rectangle 3"/>
          <p:cNvSpPr>
            <a:spLocks noGrp="1"/>
          </p:cNvSpPr>
          <p:nvPr>
            <p:ph type="body" idx="4294967295"/>
          </p:nvPr>
        </p:nvSpPr>
        <p:spPr>
          <a:xfrm>
            <a:off x="827088" y="1711325"/>
            <a:ext cx="5627687" cy="3382963"/>
          </a:xfrm>
        </p:spPr>
        <p:txBody>
          <a:bodyPr vert="horz" wrap="square" lIns="91440" tIns="45720" rIns="91440" bIns="45720" anchor="t" anchorCtr="0"/>
          <a:p>
            <a:pPr eaLnBrk="1" hangingPunct="1">
              <a:spcAft>
                <a:spcPct val="30000"/>
              </a:spcAft>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格式：</a:t>
            </a:r>
            <a:endParaRPr lang="zh-CN" altLang="en-US" sz="2400" dirty="0">
              <a:latin typeface="宋体" panose="02010600030101010101" pitchFamily="2" charset="-122"/>
              <a:ea typeface="宋体" panose="02010600030101010101" pitchFamily="2" charset="-122"/>
            </a:endParaRPr>
          </a:p>
          <a:p>
            <a:pPr eaLnBrk="1" hangingPunct="1">
              <a:spcAft>
                <a:spcPct val="45000"/>
              </a:spcAft>
              <a:buNone/>
            </a:pPr>
            <a:r>
              <a:rPr lang="zh-CN" altLang="en-US" sz="2400" dirty="0">
                <a:latin typeface="宋体" panose="02010600030101010101" pitchFamily="2" charset="-122"/>
                <a:ea typeface="宋体" panose="02010600030101010101" pitchFamily="2" charset="-122"/>
              </a:rPr>
              <a:t>    </a:t>
            </a:r>
            <a:r>
              <a:rPr lang="en-US" altLang="zh-CN" sz="2400" dirty="0">
                <a:latin typeface="宋体" panose="02010600030101010101" pitchFamily="2" charset="-122"/>
                <a:ea typeface="宋体" panose="02010600030101010101" pitchFamily="2" charset="-122"/>
              </a:rPr>
              <a:t>CALL  FAR  PROC</a:t>
            </a:r>
            <a:endParaRPr lang="en-US" altLang="zh-CN" sz="2400" b="0" dirty="0">
              <a:latin typeface="宋体" panose="02010600030101010101" pitchFamily="2" charset="-122"/>
              <a:ea typeface="宋体" panose="02010600030101010101" pitchFamily="2" charset="-122"/>
            </a:endParaRPr>
          </a:p>
          <a:p>
            <a:pPr eaLnBrk="1" hangingPunct="1">
              <a:lnSpc>
                <a:spcPct val="115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格式例：</a:t>
            </a:r>
            <a:endParaRPr lang="zh-CN" altLang="en-US" sz="2400" dirty="0">
              <a:latin typeface="宋体" panose="02010600030101010101" pitchFamily="2" charset="-122"/>
              <a:ea typeface="宋体" panose="02010600030101010101" pitchFamily="2" charset="-122"/>
            </a:endParaRPr>
          </a:p>
          <a:p>
            <a:pPr lvl="1" eaLnBrk="1" hangingPunct="1">
              <a:lnSpc>
                <a:spcPct val="115000"/>
              </a:lnSpc>
              <a:spcBef>
                <a:spcPct val="30000"/>
              </a:spcBef>
              <a:spcAft>
                <a:spcPct val="20000"/>
              </a:spcAft>
            </a:pPr>
            <a:r>
              <a:rPr lang="en-US" altLang="zh-CN" dirty="0">
                <a:latin typeface="宋体" panose="02010600030101010101" pitchFamily="2" charset="-122"/>
                <a:ea typeface="宋体" panose="02010600030101010101" pitchFamily="2" charset="-122"/>
              </a:rPr>
              <a:t>CALL  3000H</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2100H  </a:t>
            </a:r>
            <a:r>
              <a:rPr lang="zh-CN" altLang="en-US" dirty="0">
                <a:latin typeface="宋体" panose="02010600030101010101" pitchFamily="2" charset="-122"/>
                <a:ea typeface="宋体" panose="02010600030101010101" pitchFamily="2" charset="-122"/>
              </a:rPr>
              <a:t>（直接调用）</a:t>
            </a:r>
            <a:endParaRPr lang="en-US" altLang="zh-CN" dirty="0">
              <a:latin typeface="宋体" panose="02010600030101010101" pitchFamily="2" charset="-122"/>
              <a:ea typeface="宋体" panose="02010600030101010101" pitchFamily="2" charset="-122"/>
            </a:endParaRPr>
          </a:p>
          <a:p>
            <a:pPr lvl="1" eaLnBrk="1" hangingPunct="1">
              <a:lnSpc>
                <a:spcPct val="115000"/>
              </a:lnSpc>
            </a:pPr>
            <a:r>
              <a:rPr lang="en-US" altLang="zh-CN" dirty="0">
                <a:latin typeface="宋体" panose="02010600030101010101" pitchFamily="2" charset="-122"/>
                <a:ea typeface="宋体" panose="02010600030101010101" pitchFamily="2" charset="-122"/>
              </a:rPr>
              <a:t>CALL  DWORD  PTR[SI]</a:t>
            </a:r>
            <a:r>
              <a:rPr lang="zh-CN" altLang="en-US" dirty="0">
                <a:latin typeface="宋体" panose="02010600030101010101" pitchFamily="2" charset="-122"/>
                <a:ea typeface="宋体" panose="02010600030101010101" pitchFamily="2" charset="-122"/>
              </a:rPr>
              <a:t>（间接调用）</a:t>
            </a:r>
            <a:endParaRPr lang="zh-CN" altLang="en-US" dirty="0">
              <a:latin typeface="宋体" panose="02010600030101010101" pitchFamily="2" charset="-122"/>
              <a:ea typeface="宋体" panose="02010600030101010101" pitchFamily="2" charset="-122"/>
            </a:endParaRPr>
          </a:p>
        </p:txBody>
      </p:sp>
      <p:sp>
        <p:nvSpPr>
          <p:cNvPr id="167941" name="Rectangle 4"/>
          <p:cNvSpPr/>
          <p:nvPr/>
        </p:nvSpPr>
        <p:spPr>
          <a:xfrm>
            <a:off x="6588125" y="2205038"/>
            <a:ext cx="1601788" cy="4319587"/>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67942" name="Line 5"/>
          <p:cNvSpPr/>
          <p:nvPr/>
        </p:nvSpPr>
        <p:spPr>
          <a:xfrm>
            <a:off x="6588125" y="4217988"/>
            <a:ext cx="1600200" cy="0"/>
          </a:xfrm>
          <a:prstGeom prst="line">
            <a:avLst/>
          </a:prstGeom>
          <a:ln w="25400" cap="sq" cmpd="sng">
            <a:solidFill>
              <a:schemeClr val="tx1"/>
            </a:solidFill>
            <a:prstDash val="solid"/>
            <a:headEnd type="none" w="med" len="med"/>
            <a:tailEnd type="none" w="med" len="med"/>
          </a:ln>
        </p:spPr>
      </p:sp>
      <p:sp>
        <p:nvSpPr>
          <p:cNvPr id="167943" name="Line 6"/>
          <p:cNvSpPr/>
          <p:nvPr/>
        </p:nvSpPr>
        <p:spPr>
          <a:xfrm>
            <a:off x="6588125" y="4598988"/>
            <a:ext cx="1600200" cy="0"/>
          </a:xfrm>
          <a:prstGeom prst="line">
            <a:avLst/>
          </a:prstGeom>
          <a:ln w="25400" cap="sq" cmpd="sng">
            <a:solidFill>
              <a:schemeClr val="tx1"/>
            </a:solidFill>
            <a:prstDash val="solid"/>
            <a:headEnd type="none" w="med" len="med"/>
            <a:tailEnd type="none" w="med" len="med"/>
          </a:ln>
        </p:spPr>
      </p:sp>
      <p:sp>
        <p:nvSpPr>
          <p:cNvPr id="167944" name="Line 7"/>
          <p:cNvSpPr/>
          <p:nvPr/>
        </p:nvSpPr>
        <p:spPr>
          <a:xfrm>
            <a:off x="6589713" y="3455988"/>
            <a:ext cx="1600200" cy="0"/>
          </a:xfrm>
          <a:prstGeom prst="line">
            <a:avLst/>
          </a:prstGeom>
          <a:ln w="25400" cap="sq" cmpd="sng">
            <a:solidFill>
              <a:schemeClr val="tx1"/>
            </a:solidFill>
            <a:prstDash val="solid"/>
            <a:headEnd type="none" w="med" len="med"/>
            <a:tailEnd type="none" w="med" len="med"/>
          </a:ln>
        </p:spPr>
      </p:sp>
      <p:sp>
        <p:nvSpPr>
          <p:cNvPr id="167945" name="Line 8"/>
          <p:cNvSpPr/>
          <p:nvPr/>
        </p:nvSpPr>
        <p:spPr>
          <a:xfrm>
            <a:off x="6589713" y="4979988"/>
            <a:ext cx="1600200" cy="0"/>
          </a:xfrm>
          <a:prstGeom prst="line">
            <a:avLst/>
          </a:prstGeom>
          <a:ln w="25400" cap="sq" cmpd="sng">
            <a:solidFill>
              <a:schemeClr val="tx1"/>
            </a:solidFill>
            <a:prstDash val="solid"/>
            <a:headEnd type="none" w="med" len="med"/>
            <a:tailEnd type="none" w="med" len="med"/>
          </a:ln>
        </p:spPr>
      </p:sp>
      <p:sp>
        <p:nvSpPr>
          <p:cNvPr id="167946" name="Text Box 9"/>
          <p:cNvSpPr txBox="1"/>
          <p:nvPr/>
        </p:nvSpPr>
        <p:spPr>
          <a:xfrm>
            <a:off x="6985000" y="4203700"/>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XXH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67947" name="Text Box 10"/>
          <p:cNvSpPr txBox="1"/>
          <p:nvPr/>
        </p:nvSpPr>
        <p:spPr>
          <a:xfrm>
            <a:off x="6985000" y="4584700"/>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XXH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67948" name="AutoShape 11"/>
          <p:cNvSpPr/>
          <p:nvPr/>
        </p:nvSpPr>
        <p:spPr>
          <a:xfrm rot="10800000">
            <a:off x="8388350" y="4076700"/>
            <a:ext cx="144463" cy="1873250"/>
          </a:xfrm>
          <a:prstGeom prst="leftBrace">
            <a:avLst>
              <a:gd name="adj1" fmla="val 107217"/>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67949" name="Line 12"/>
          <p:cNvSpPr/>
          <p:nvPr/>
        </p:nvSpPr>
        <p:spPr>
          <a:xfrm>
            <a:off x="6588125" y="2997200"/>
            <a:ext cx="1600200" cy="0"/>
          </a:xfrm>
          <a:prstGeom prst="line">
            <a:avLst/>
          </a:prstGeom>
          <a:ln w="25400" cap="sq" cmpd="sng">
            <a:solidFill>
              <a:schemeClr val="tx1"/>
            </a:solidFill>
            <a:prstDash val="solid"/>
            <a:headEnd type="none" w="med" len="med"/>
            <a:tailEnd type="none" w="med" len="med"/>
          </a:ln>
        </p:spPr>
      </p:sp>
      <p:sp>
        <p:nvSpPr>
          <p:cNvPr id="167950" name="Line 13"/>
          <p:cNvSpPr/>
          <p:nvPr/>
        </p:nvSpPr>
        <p:spPr>
          <a:xfrm>
            <a:off x="6586538" y="2524125"/>
            <a:ext cx="1600200" cy="0"/>
          </a:xfrm>
          <a:prstGeom prst="line">
            <a:avLst/>
          </a:prstGeom>
          <a:ln w="25400" cap="sq" cmpd="sng">
            <a:solidFill>
              <a:schemeClr val="tx1"/>
            </a:solidFill>
            <a:prstDash val="solid"/>
            <a:headEnd type="none" w="med" len="med"/>
            <a:tailEnd type="none" w="med" len="med"/>
          </a:ln>
        </p:spPr>
      </p:sp>
      <p:sp>
        <p:nvSpPr>
          <p:cNvPr id="167951" name="Text Box 14"/>
          <p:cNvSpPr txBox="1"/>
          <p:nvPr/>
        </p:nvSpPr>
        <p:spPr>
          <a:xfrm>
            <a:off x="6889750" y="2565400"/>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CALL</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67952" name="AutoShape 15"/>
          <p:cNvSpPr/>
          <p:nvPr/>
        </p:nvSpPr>
        <p:spPr>
          <a:xfrm rot="10800000">
            <a:off x="8388350" y="2420938"/>
            <a:ext cx="144463" cy="1265237"/>
          </a:xfrm>
          <a:prstGeom prst="leftBrace">
            <a:avLst>
              <a:gd name="adj1" fmla="val 72417"/>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67953" name="Text Box 16"/>
          <p:cNvSpPr txBox="1"/>
          <p:nvPr/>
        </p:nvSpPr>
        <p:spPr>
          <a:xfrm>
            <a:off x="8578850" y="2657475"/>
            <a:ext cx="457200" cy="915988"/>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代码段</a:t>
            </a:r>
            <a:endParaRPr lang="zh-CN" altLang="en-US" sz="2400" b="1" dirty="0">
              <a:latin typeface="Times New Roman" panose="02020603050405020304" pitchFamily="18" charset="0"/>
              <a:ea typeface="宋体" panose="02010600030101010101" pitchFamily="2" charset="-122"/>
            </a:endParaRPr>
          </a:p>
        </p:txBody>
      </p:sp>
      <p:sp>
        <p:nvSpPr>
          <p:cNvPr id="167954" name="Text Box 17"/>
          <p:cNvSpPr txBox="1"/>
          <p:nvPr/>
        </p:nvSpPr>
        <p:spPr>
          <a:xfrm>
            <a:off x="8561388" y="4557713"/>
            <a:ext cx="457200" cy="915987"/>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数据段</a:t>
            </a:r>
            <a:endParaRPr lang="zh-CN" altLang="en-US" sz="2400" b="1" dirty="0">
              <a:latin typeface="Times New Roman" panose="02020603050405020304" pitchFamily="18" charset="0"/>
              <a:ea typeface="宋体" panose="02010600030101010101" pitchFamily="2" charset="-122"/>
            </a:endParaRPr>
          </a:p>
        </p:txBody>
      </p:sp>
      <p:sp>
        <p:nvSpPr>
          <p:cNvPr id="167955" name="Text Box 18"/>
          <p:cNvSpPr txBox="1"/>
          <p:nvPr/>
        </p:nvSpPr>
        <p:spPr>
          <a:xfrm>
            <a:off x="7092950" y="3573463"/>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67956" name="Text Box 19"/>
          <p:cNvSpPr txBox="1"/>
          <p:nvPr/>
        </p:nvSpPr>
        <p:spPr>
          <a:xfrm>
            <a:off x="5484813" y="4286250"/>
            <a:ext cx="527050" cy="461963"/>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SI</a:t>
            </a:r>
            <a:endParaRPr lang="en-US" altLang="zh-CN" sz="2400" b="1" dirty="0">
              <a:latin typeface="Times New Roman" panose="02020603050405020304" pitchFamily="18" charset="0"/>
              <a:ea typeface="宋体" panose="02010600030101010101" pitchFamily="2" charset="-122"/>
            </a:endParaRPr>
          </a:p>
        </p:txBody>
      </p:sp>
      <p:sp>
        <p:nvSpPr>
          <p:cNvPr id="167957" name="Line 20"/>
          <p:cNvSpPr/>
          <p:nvPr/>
        </p:nvSpPr>
        <p:spPr>
          <a:xfrm>
            <a:off x="6011863" y="4437063"/>
            <a:ext cx="504825" cy="0"/>
          </a:xfrm>
          <a:prstGeom prst="line">
            <a:avLst/>
          </a:prstGeom>
          <a:ln w="25400" cap="sq" cmpd="sng">
            <a:solidFill>
              <a:srgbClr val="FF6600"/>
            </a:solidFill>
            <a:prstDash val="solid"/>
            <a:headEnd type="none" w="med" len="med"/>
            <a:tailEnd type="triangle" w="lg" len="lg"/>
          </a:ln>
        </p:spPr>
      </p:sp>
      <p:sp>
        <p:nvSpPr>
          <p:cNvPr id="167958" name="Text Box 21"/>
          <p:cNvSpPr txBox="1"/>
          <p:nvPr/>
        </p:nvSpPr>
        <p:spPr>
          <a:xfrm>
            <a:off x="6991350" y="497681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XXH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67959" name="Line 22"/>
          <p:cNvSpPr/>
          <p:nvPr/>
        </p:nvSpPr>
        <p:spPr>
          <a:xfrm>
            <a:off x="6588125" y="5387975"/>
            <a:ext cx="1600200" cy="0"/>
          </a:xfrm>
          <a:prstGeom prst="line">
            <a:avLst/>
          </a:prstGeom>
          <a:ln w="25400" cap="sq" cmpd="sng">
            <a:solidFill>
              <a:schemeClr val="tx1"/>
            </a:solidFill>
            <a:prstDash val="solid"/>
            <a:headEnd type="none" w="med" len="med"/>
            <a:tailEnd type="none" w="med" len="med"/>
          </a:ln>
        </p:spPr>
      </p:sp>
      <p:sp>
        <p:nvSpPr>
          <p:cNvPr id="167960" name="Line 23"/>
          <p:cNvSpPr/>
          <p:nvPr/>
        </p:nvSpPr>
        <p:spPr>
          <a:xfrm>
            <a:off x="6588125" y="5791200"/>
            <a:ext cx="1600200" cy="0"/>
          </a:xfrm>
          <a:prstGeom prst="line">
            <a:avLst/>
          </a:prstGeom>
          <a:ln w="25400" cap="sq" cmpd="sng">
            <a:solidFill>
              <a:schemeClr val="tx1"/>
            </a:solidFill>
            <a:prstDash val="solid"/>
            <a:headEnd type="none" w="med" len="med"/>
            <a:tailEnd type="none" w="med" len="med"/>
          </a:ln>
        </p:spPr>
      </p:sp>
      <p:sp>
        <p:nvSpPr>
          <p:cNvPr id="167961" name="Text Box 24"/>
          <p:cNvSpPr txBox="1"/>
          <p:nvPr/>
        </p:nvSpPr>
        <p:spPr>
          <a:xfrm>
            <a:off x="7005638" y="5365750"/>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XXH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67962" name="AutoShape 28"/>
          <p:cNvSpPr/>
          <p:nvPr/>
        </p:nvSpPr>
        <p:spPr>
          <a:xfrm>
            <a:off x="6357938" y="4494213"/>
            <a:ext cx="73025" cy="504825"/>
          </a:xfrm>
          <a:prstGeom prst="leftBrace">
            <a:avLst>
              <a:gd name="adj1" fmla="val 57160"/>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67963" name="AutoShape 29"/>
          <p:cNvSpPr/>
          <p:nvPr/>
        </p:nvSpPr>
        <p:spPr>
          <a:xfrm>
            <a:off x="6357938" y="5127625"/>
            <a:ext cx="73025" cy="504825"/>
          </a:xfrm>
          <a:prstGeom prst="leftBrace">
            <a:avLst>
              <a:gd name="adj1" fmla="val 57160"/>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67964" name="Rectangle 31"/>
          <p:cNvSpPr/>
          <p:nvPr/>
        </p:nvSpPr>
        <p:spPr>
          <a:xfrm>
            <a:off x="2125663" y="5372100"/>
            <a:ext cx="1296987" cy="504825"/>
          </a:xfrm>
          <a:prstGeom prst="rect">
            <a:avLst/>
          </a:prstGeom>
          <a:no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67965" name="Rectangle 32"/>
          <p:cNvSpPr/>
          <p:nvPr/>
        </p:nvSpPr>
        <p:spPr>
          <a:xfrm>
            <a:off x="3779838" y="5373688"/>
            <a:ext cx="1296987" cy="504825"/>
          </a:xfrm>
          <a:prstGeom prst="rect">
            <a:avLst/>
          </a:prstGeom>
          <a:no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67966" name="Text Box 33"/>
          <p:cNvSpPr txBox="1"/>
          <p:nvPr/>
        </p:nvSpPr>
        <p:spPr>
          <a:xfrm>
            <a:off x="2452688" y="4908550"/>
            <a:ext cx="6477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CS</a:t>
            </a:r>
            <a:endParaRPr lang="en-US" altLang="zh-CN" sz="2000" b="1" dirty="0">
              <a:latin typeface="Times New Roman" panose="02020603050405020304" pitchFamily="18" charset="0"/>
              <a:ea typeface="宋体" panose="02010600030101010101" pitchFamily="2" charset="-122"/>
            </a:endParaRPr>
          </a:p>
        </p:txBody>
      </p:sp>
      <p:sp>
        <p:nvSpPr>
          <p:cNvPr id="167967" name="Text Box 34"/>
          <p:cNvSpPr txBox="1"/>
          <p:nvPr/>
        </p:nvSpPr>
        <p:spPr>
          <a:xfrm>
            <a:off x="4202113" y="4902200"/>
            <a:ext cx="574675"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IP</a:t>
            </a:r>
            <a:endParaRPr lang="en-US" altLang="zh-CN" sz="2000" b="1" dirty="0">
              <a:latin typeface="Times New Roman" panose="02020603050405020304" pitchFamily="18" charset="0"/>
              <a:ea typeface="宋体" panose="02010600030101010101" pitchFamily="2" charset="-122"/>
            </a:endParaRPr>
          </a:p>
        </p:txBody>
      </p:sp>
      <p:sp>
        <p:nvSpPr>
          <p:cNvPr id="167968" name="Freeform 35"/>
          <p:cNvSpPr/>
          <p:nvPr/>
        </p:nvSpPr>
        <p:spPr>
          <a:xfrm>
            <a:off x="4322763" y="4803775"/>
            <a:ext cx="1914525" cy="1541463"/>
          </a:xfrm>
          <a:custGeom>
            <a:avLst/>
            <a:gdLst>
              <a:gd name="txL" fmla="*/ 0 w 1206"/>
              <a:gd name="txT" fmla="*/ 0 h 971"/>
              <a:gd name="txR" fmla="*/ 1206 w 1206"/>
              <a:gd name="txB" fmla="*/ 971 h 971"/>
            </a:gdLst>
            <a:ahLst/>
            <a:cxnLst>
              <a:cxn ang="0">
                <a:pos x="2147483647" y="0"/>
              </a:cxn>
              <a:cxn ang="0">
                <a:pos x="2147483647" y="85685344"/>
              </a:cxn>
              <a:cxn ang="0">
                <a:pos x="2021165288" y="367942939"/>
              </a:cxn>
              <a:cxn ang="0">
                <a:pos x="1932959061" y="541834625"/>
              </a:cxn>
              <a:cxn ang="0">
                <a:pos x="1781749747" y="929938915"/>
              </a:cxn>
              <a:cxn ang="0">
                <a:pos x="1738907902" y="1277720503"/>
              </a:cxn>
              <a:cxn ang="0">
                <a:pos x="1630540037" y="1537295821"/>
              </a:cxn>
              <a:cxn ang="0">
                <a:pos x="1499493552" y="1819553739"/>
              </a:cxn>
              <a:cxn ang="0">
                <a:pos x="1239916770" y="2147483647"/>
              </a:cxn>
              <a:cxn ang="0">
                <a:pos x="1068546214" y="2147483647"/>
              </a:cxn>
              <a:cxn ang="0">
                <a:pos x="1003022178" y="2147483647"/>
              </a:cxn>
              <a:cxn ang="0">
                <a:pos x="244454363" y="2147483647"/>
              </a:cxn>
              <a:cxn ang="0">
                <a:pos x="47882168" y="2147483647"/>
              </a:cxn>
              <a:cxn ang="0">
                <a:pos x="5040312" y="1711187806"/>
              </a:cxn>
            </a:cxnLst>
            <a:rect l="txL" t="txT" r="txR" b="txB"/>
            <a:pathLst>
              <a:path w="1206" h="971">
                <a:moveTo>
                  <a:pt x="1206" y="0"/>
                </a:moveTo>
                <a:cubicBezTo>
                  <a:pt x="1101" y="5"/>
                  <a:pt x="1012" y="3"/>
                  <a:pt x="914" y="34"/>
                </a:cubicBezTo>
                <a:cubicBezTo>
                  <a:pt x="858" y="72"/>
                  <a:pt x="840" y="87"/>
                  <a:pt x="802" y="146"/>
                </a:cubicBezTo>
                <a:cubicBezTo>
                  <a:pt x="728" y="260"/>
                  <a:pt x="824" y="158"/>
                  <a:pt x="767" y="215"/>
                </a:cubicBezTo>
                <a:cubicBezTo>
                  <a:pt x="750" y="267"/>
                  <a:pt x="738" y="323"/>
                  <a:pt x="707" y="369"/>
                </a:cubicBezTo>
                <a:cubicBezTo>
                  <a:pt x="685" y="439"/>
                  <a:pt x="710" y="352"/>
                  <a:pt x="690" y="507"/>
                </a:cubicBezTo>
                <a:cubicBezTo>
                  <a:pt x="685" y="544"/>
                  <a:pt x="663" y="578"/>
                  <a:pt x="647" y="610"/>
                </a:cubicBezTo>
                <a:cubicBezTo>
                  <a:pt x="628" y="648"/>
                  <a:pt x="619" y="687"/>
                  <a:pt x="595" y="722"/>
                </a:cubicBezTo>
                <a:cubicBezTo>
                  <a:pt x="575" y="788"/>
                  <a:pt x="531" y="845"/>
                  <a:pt x="492" y="902"/>
                </a:cubicBezTo>
                <a:cubicBezTo>
                  <a:pt x="477" y="924"/>
                  <a:pt x="442" y="942"/>
                  <a:pt x="424" y="954"/>
                </a:cubicBezTo>
                <a:cubicBezTo>
                  <a:pt x="415" y="960"/>
                  <a:pt x="398" y="971"/>
                  <a:pt x="398" y="971"/>
                </a:cubicBezTo>
                <a:cubicBezTo>
                  <a:pt x="245" y="966"/>
                  <a:pt x="208" y="971"/>
                  <a:pt x="97" y="937"/>
                </a:cubicBezTo>
                <a:cubicBezTo>
                  <a:pt x="63" y="915"/>
                  <a:pt x="47" y="887"/>
                  <a:pt x="19" y="859"/>
                </a:cubicBezTo>
                <a:cubicBezTo>
                  <a:pt x="0" y="801"/>
                  <a:pt x="2" y="739"/>
                  <a:pt x="2" y="679"/>
                </a:cubicBezTo>
              </a:path>
            </a:pathLst>
          </a:custGeom>
          <a:noFill/>
          <a:ln w="25400" cap="sq" cmpd="sng">
            <a:solidFill>
              <a:srgbClr val="FF6600">
                <a:alpha val="100000"/>
              </a:srgbClr>
            </a:solidFill>
            <a:prstDash val="solid"/>
            <a:miter lim="800000"/>
            <a:headEnd type="none" w="med" len="med"/>
            <a:tailEnd type="triangle" w="lg" len="lg"/>
          </a:ln>
        </p:spPr>
        <p:txBody>
          <a:bodyPr/>
          <a:p>
            <a:endParaRPr lang="zh-CN" altLang="en-US"/>
          </a:p>
        </p:txBody>
      </p:sp>
      <p:sp>
        <p:nvSpPr>
          <p:cNvPr id="167969" name="Freeform 36"/>
          <p:cNvSpPr/>
          <p:nvPr/>
        </p:nvSpPr>
        <p:spPr>
          <a:xfrm>
            <a:off x="2633663" y="5373688"/>
            <a:ext cx="3576637" cy="1481137"/>
          </a:xfrm>
          <a:custGeom>
            <a:avLst/>
            <a:gdLst>
              <a:gd name="txL" fmla="*/ 0 w 2253"/>
              <a:gd name="txT" fmla="*/ 0 h 933"/>
              <a:gd name="txR" fmla="*/ 2253 w 2253"/>
              <a:gd name="txB" fmla="*/ 933 h 933"/>
            </a:gdLst>
            <a:ahLst/>
            <a:cxnLst>
              <a:cxn ang="0">
                <a:pos x="2147483647" y="0"/>
              </a:cxn>
              <a:cxn ang="0">
                <a:pos x="2147483647" y="22680605"/>
              </a:cxn>
              <a:cxn ang="0">
                <a:pos x="2147483647" y="42841849"/>
              </a:cxn>
              <a:cxn ang="0">
                <a:pos x="2147483647" y="196572119"/>
              </a:cxn>
              <a:cxn ang="0">
                <a:pos x="2147483647" y="304938029"/>
              </a:cxn>
              <a:cxn ang="0">
                <a:pos x="2147483647" y="433466814"/>
              </a:cxn>
              <a:cxn ang="0">
                <a:pos x="2147483647" y="630038883"/>
              </a:cxn>
              <a:cxn ang="0">
                <a:pos x="2147483647" y="693041958"/>
              </a:cxn>
              <a:cxn ang="0">
                <a:pos x="2147483647" y="738404743"/>
              </a:cxn>
              <a:cxn ang="0">
                <a:pos x="2147483647" y="1060984749"/>
              </a:cxn>
              <a:cxn ang="0">
                <a:pos x="2147483647" y="1126508772"/>
              </a:cxn>
              <a:cxn ang="0">
                <a:pos x="2147483647" y="1431448289"/>
              </a:cxn>
              <a:cxn ang="0">
                <a:pos x="2147483647" y="1602818811"/>
              </a:cxn>
              <a:cxn ang="0">
                <a:pos x="2147483647" y="1711185068"/>
              </a:cxn>
              <a:cxn ang="0">
                <a:pos x="2147483647" y="1776709092"/>
              </a:cxn>
              <a:cxn ang="0">
                <a:pos x="2147483647" y="1799391278"/>
              </a:cxn>
              <a:cxn ang="0">
                <a:pos x="2147483647" y="1927918376"/>
              </a:cxn>
              <a:cxn ang="0">
                <a:pos x="672880738" y="1885076539"/>
              </a:cxn>
              <a:cxn ang="0">
                <a:pos x="476308663" y="1799391278"/>
              </a:cxn>
              <a:cxn ang="0">
                <a:pos x="347781462" y="1733867255"/>
              </a:cxn>
              <a:cxn ang="0">
                <a:pos x="216733412" y="1648181597"/>
              </a:cxn>
              <a:cxn ang="0">
                <a:pos x="88204649" y="1386085504"/>
              </a:cxn>
              <a:cxn ang="0">
                <a:pos x="42841850" y="1257556818"/>
              </a:cxn>
              <a:cxn ang="0">
                <a:pos x="0" y="758565981"/>
              </a:cxn>
            </a:cxnLst>
            <a:rect l="txL" t="txT" r="txR" b="txB"/>
            <a:pathLst>
              <a:path w="2253" h="933">
                <a:moveTo>
                  <a:pt x="2253" y="0"/>
                </a:moveTo>
                <a:cubicBezTo>
                  <a:pt x="2244" y="3"/>
                  <a:pt x="2236" y="8"/>
                  <a:pt x="2227" y="9"/>
                </a:cubicBezTo>
                <a:cubicBezTo>
                  <a:pt x="2196" y="13"/>
                  <a:pt x="2163" y="10"/>
                  <a:pt x="2132" y="17"/>
                </a:cubicBezTo>
                <a:cubicBezTo>
                  <a:pt x="2102" y="23"/>
                  <a:pt x="2064" y="78"/>
                  <a:pt x="2064" y="78"/>
                </a:cubicBezTo>
                <a:cubicBezTo>
                  <a:pt x="2048" y="123"/>
                  <a:pt x="2065" y="85"/>
                  <a:pt x="2038" y="121"/>
                </a:cubicBezTo>
                <a:cubicBezTo>
                  <a:pt x="2026" y="137"/>
                  <a:pt x="2003" y="172"/>
                  <a:pt x="2003" y="172"/>
                </a:cubicBezTo>
                <a:cubicBezTo>
                  <a:pt x="1993" y="206"/>
                  <a:pt x="1968" y="219"/>
                  <a:pt x="1952" y="250"/>
                </a:cubicBezTo>
                <a:cubicBezTo>
                  <a:pt x="1948" y="258"/>
                  <a:pt x="1949" y="268"/>
                  <a:pt x="1943" y="275"/>
                </a:cubicBezTo>
                <a:cubicBezTo>
                  <a:pt x="1936" y="283"/>
                  <a:pt x="1926" y="287"/>
                  <a:pt x="1917" y="293"/>
                </a:cubicBezTo>
                <a:cubicBezTo>
                  <a:pt x="1902" y="339"/>
                  <a:pt x="1875" y="381"/>
                  <a:pt x="1849" y="421"/>
                </a:cubicBezTo>
                <a:cubicBezTo>
                  <a:pt x="1844" y="429"/>
                  <a:pt x="1844" y="439"/>
                  <a:pt x="1840" y="447"/>
                </a:cubicBezTo>
                <a:cubicBezTo>
                  <a:pt x="1817" y="489"/>
                  <a:pt x="1787" y="533"/>
                  <a:pt x="1754" y="568"/>
                </a:cubicBezTo>
                <a:cubicBezTo>
                  <a:pt x="1738" y="612"/>
                  <a:pt x="1751" y="587"/>
                  <a:pt x="1702" y="636"/>
                </a:cubicBezTo>
                <a:cubicBezTo>
                  <a:pt x="1688" y="650"/>
                  <a:pt x="1673" y="665"/>
                  <a:pt x="1659" y="679"/>
                </a:cubicBezTo>
                <a:cubicBezTo>
                  <a:pt x="1652" y="686"/>
                  <a:pt x="1650" y="698"/>
                  <a:pt x="1642" y="705"/>
                </a:cubicBezTo>
                <a:cubicBezTo>
                  <a:pt x="1635" y="711"/>
                  <a:pt x="1624" y="710"/>
                  <a:pt x="1616" y="714"/>
                </a:cubicBezTo>
                <a:cubicBezTo>
                  <a:pt x="1579" y="733"/>
                  <a:pt x="1545" y="752"/>
                  <a:pt x="1505" y="765"/>
                </a:cubicBezTo>
                <a:cubicBezTo>
                  <a:pt x="1092" y="762"/>
                  <a:pt x="636" y="933"/>
                  <a:pt x="267" y="748"/>
                </a:cubicBezTo>
                <a:cubicBezTo>
                  <a:pt x="240" y="734"/>
                  <a:pt x="219" y="723"/>
                  <a:pt x="189" y="714"/>
                </a:cubicBezTo>
                <a:cubicBezTo>
                  <a:pt x="94" y="650"/>
                  <a:pt x="230" y="739"/>
                  <a:pt x="138" y="688"/>
                </a:cubicBezTo>
                <a:cubicBezTo>
                  <a:pt x="120" y="678"/>
                  <a:pt x="86" y="654"/>
                  <a:pt x="86" y="654"/>
                </a:cubicBezTo>
                <a:cubicBezTo>
                  <a:pt x="73" y="611"/>
                  <a:pt x="61" y="590"/>
                  <a:pt x="35" y="550"/>
                </a:cubicBezTo>
                <a:cubicBezTo>
                  <a:pt x="25" y="535"/>
                  <a:pt x="17" y="499"/>
                  <a:pt x="17" y="499"/>
                </a:cubicBezTo>
                <a:cubicBezTo>
                  <a:pt x="13" y="432"/>
                  <a:pt x="0" y="367"/>
                  <a:pt x="0" y="301"/>
                </a:cubicBezTo>
              </a:path>
            </a:pathLst>
          </a:custGeom>
          <a:noFill/>
          <a:ln w="25400" cap="sq" cmpd="sng">
            <a:solidFill>
              <a:srgbClr val="FF6600">
                <a:alpha val="100000"/>
              </a:srgbClr>
            </a:solidFill>
            <a:prstDash val="solid"/>
            <a:miter lim="800000"/>
            <a:headEnd type="none" w="med" len="med"/>
            <a:tailEnd type="triangle" w="lg" len="lg"/>
          </a:ln>
        </p:spPr>
        <p:txBody>
          <a:bodyPr/>
          <a:p>
            <a:endParaRPr lang="zh-CN" altLang="en-US"/>
          </a:p>
        </p:txBody>
      </p:sp>
      <p:sp>
        <p:nvSpPr>
          <p:cNvPr id="171042" name="文本框 1"/>
          <p:cNvSpPr txBox="1"/>
          <p:nvPr/>
        </p:nvSpPr>
        <p:spPr>
          <a:xfrm>
            <a:off x="5399088" y="1014413"/>
            <a:ext cx="2787650" cy="914400"/>
          </a:xfrm>
          <a:prstGeom prst="rect">
            <a:avLst/>
          </a:prstGeom>
          <a:noFill/>
          <a:ln w="19050" cap="flat" cmpd="sng">
            <a:solidFill>
              <a:schemeClr val="tx1"/>
            </a:solidFill>
            <a:prstDash val="solid"/>
            <a:round/>
            <a:headEnd type="none" w="med" len="med"/>
            <a:tailEnd type="none" w="med" len="med"/>
          </a:ln>
        </p:spPr>
        <p:txBody>
          <a:bodyPr>
            <a:spAutoFit/>
          </a:bodyPr>
          <a:p>
            <a:pPr>
              <a:buNone/>
            </a:pPr>
            <a:r>
              <a:rPr lang="en-US" altLang="zh-CN" dirty="0">
                <a:latin typeface="Arial" panose="020B0604020202020204" pitchFamily="34" charset="0"/>
                <a:ea typeface="宋体" panose="02010600030101010101" pitchFamily="2" charset="-122"/>
              </a:rPr>
              <a:t>PUSH CS</a:t>
            </a:r>
            <a:endParaRPr lang="en-US" altLang="zh-CN" dirty="0">
              <a:latin typeface="Arial" panose="020B0604020202020204" pitchFamily="34" charset="0"/>
              <a:ea typeface="宋体" panose="02010600030101010101" pitchFamily="2" charset="-122"/>
            </a:endParaRPr>
          </a:p>
          <a:p>
            <a:pPr>
              <a:buNone/>
            </a:pPr>
            <a:r>
              <a:rPr lang="en-US" altLang="zh-CN" dirty="0">
                <a:latin typeface="Arial" panose="020B0604020202020204" pitchFamily="34" charset="0"/>
                <a:ea typeface="宋体" panose="02010600030101010101" pitchFamily="2" charset="-122"/>
              </a:rPr>
              <a:t>PUSH IP</a:t>
            </a:r>
            <a:endParaRPr lang="en-US" altLang="zh-CN" dirty="0">
              <a:latin typeface="Arial" panose="020B0604020202020204" pitchFamily="34" charset="0"/>
              <a:ea typeface="宋体" panose="02010600030101010101" pitchFamily="2" charset="-122"/>
            </a:endParaRPr>
          </a:p>
          <a:p>
            <a:pPr>
              <a:buNone/>
            </a:pPr>
            <a:r>
              <a:rPr lang="en-US" altLang="zh-CN" dirty="0">
                <a:latin typeface="Arial" panose="020B0604020202020204" pitchFamily="34" charset="0"/>
                <a:ea typeface="宋体" panose="02010600030101010101" pitchFamily="2" charset="-122"/>
              </a:rPr>
              <a:t>JMP FAR PTR PROC</a:t>
            </a:r>
            <a:endParaRPr lang="en-US" altLang="zh-CN" dirty="0">
              <a:latin typeface="Arial" panose="020B0604020202020204" pitchFamily="34"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7940">
                                            <p:txEl>
                                              <p:charRg st="0" end="4"/>
                                            </p:txEl>
                                          </p:spTgt>
                                        </p:tgtEl>
                                        <p:attrNameLst>
                                          <p:attrName>style.visibility</p:attrName>
                                        </p:attrNameLst>
                                      </p:cBhvr>
                                      <p:to>
                                        <p:strVal val="visible"/>
                                      </p:to>
                                    </p:set>
                                    <p:animEffect transition="in" filter="wipe(left)">
                                      <p:cBhvr>
                                        <p:cTn id="7" dur="500"/>
                                        <p:tgtEl>
                                          <p:spTgt spid="167940">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67940">
                                            <p:txEl>
                                              <p:charRg st="4" end="24"/>
                                            </p:txEl>
                                          </p:spTgt>
                                        </p:tgtEl>
                                        <p:attrNameLst>
                                          <p:attrName>style.visibility</p:attrName>
                                        </p:attrNameLst>
                                      </p:cBhvr>
                                      <p:to>
                                        <p:strVal val="visible"/>
                                      </p:to>
                                    </p:set>
                                    <p:animEffect transition="in" filter="wipe(left)">
                                      <p:cBhvr>
                                        <p:cTn id="11" dur="500"/>
                                        <p:tgtEl>
                                          <p:spTgt spid="167940">
                                            <p:txEl>
                                              <p:charRg st="4" end="2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67940">
                                            <p:txEl>
                                              <p:charRg st="24" end="29"/>
                                            </p:txEl>
                                          </p:spTgt>
                                        </p:tgtEl>
                                        <p:attrNameLst>
                                          <p:attrName>style.visibility</p:attrName>
                                        </p:attrNameLst>
                                      </p:cBhvr>
                                      <p:to>
                                        <p:strVal val="visible"/>
                                      </p:to>
                                    </p:set>
                                    <p:animEffect transition="in" filter="wipe(left)">
                                      <p:cBhvr>
                                        <p:cTn id="16" dur="500"/>
                                        <p:tgtEl>
                                          <p:spTgt spid="167940">
                                            <p:txEl>
                                              <p:charRg st="24" end="29"/>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67940">
                                            <p:txEl>
                                              <p:charRg st="29" end="55"/>
                                            </p:txEl>
                                          </p:spTgt>
                                        </p:tgtEl>
                                        <p:attrNameLst>
                                          <p:attrName>style.visibility</p:attrName>
                                        </p:attrNameLst>
                                      </p:cBhvr>
                                      <p:to>
                                        <p:strVal val="visible"/>
                                      </p:to>
                                    </p:set>
                                    <p:animEffect transition="in" filter="wipe(left)">
                                      <p:cBhvr>
                                        <p:cTn id="20" dur="500"/>
                                        <p:tgtEl>
                                          <p:spTgt spid="167940">
                                            <p:txEl>
                                              <p:charRg st="29" end="5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7940">
                                            <p:txEl>
                                              <p:charRg st="55" end="82"/>
                                            </p:txEl>
                                          </p:spTgt>
                                        </p:tgtEl>
                                        <p:attrNameLst>
                                          <p:attrName>style.visibility</p:attrName>
                                        </p:attrNameLst>
                                      </p:cBhvr>
                                      <p:to>
                                        <p:strVal val="visible"/>
                                      </p:to>
                                    </p:set>
                                    <p:animEffect transition="in" filter="wipe(left)">
                                      <p:cBhvr>
                                        <p:cTn id="25" dur="500"/>
                                        <p:tgtEl>
                                          <p:spTgt spid="167940">
                                            <p:txEl>
                                              <p:charRg st="55" end="8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67941"/>
                                        </p:tgtEl>
                                        <p:attrNameLst>
                                          <p:attrName>style.visibility</p:attrName>
                                        </p:attrNameLst>
                                      </p:cBhvr>
                                      <p:to>
                                        <p:strVal val="visible"/>
                                      </p:to>
                                    </p:set>
                                    <p:anim calcmode="lin" valueType="num">
                                      <p:cBhvr>
                                        <p:cTn id="30" dur="500" fill="hold"/>
                                        <p:tgtEl>
                                          <p:spTgt spid="167941"/>
                                        </p:tgtEl>
                                        <p:attrNameLst>
                                          <p:attrName>ppt_x</p:attrName>
                                        </p:attrNameLst>
                                      </p:cBhvr>
                                      <p:tavLst>
                                        <p:tav tm="0">
                                          <p:val>
                                            <p:strVal val="#ppt_x"/>
                                          </p:val>
                                        </p:tav>
                                        <p:tav tm="100000">
                                          <p:val>
                                            <p:strVal val="#ppt_x"/>
                                          </p:val>
                                        </p:tav>
                                      </p:tavLst>
                                    </p:anim>
                                    <p:anim calcmode="lin" valueType="num">
                                      <p:cBhvr>
                                        <p:cTn id="31" dur="500" fill="hold"/>
                                        <p:tgtEl>
                                          <p:spTgt spid="167941"/>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167942"/>
                                        </p:tgtEl>
                                        <p:attrNameLst>
                                          <p:attrName>style.visibility</p:attrName>
                                        </p:attrNameLst>
                                      </p:cBhvr>
                                      <p:to>
                                        <p:strVal val="visible"/>
                                      </p:to>
                                    </p:set>
                                    <p:anim calcmode="lin" valueType="num">
                                      <p:cBhvr>
                                        <p:cTn id="34" dur="500" fill="hold"/>
                                        <p:tgtEl>
                                          <p:spTgt spid="167942"/>
                                        </p:tgtEl>
                                        <p:attrNameLst>
                                          <p:attrName>ppt_x</p:attrName>
                                        </p:attrNameLst>
                                      </p:cBhvr>
                                      <p:tavLst>
                                        <p:tav tm="0">
                                          <p:val>
                                            <p:strVal val="#ppt_x"/>
                                          </p:val>
                                        </p:tav>
                                        <p:tav tm="100000">
                                          <p:val>
                                            <p:strVal val="#ppt_x"/>
                                          </p:val>
                                        </p:tav>
                                      </p:tavLst>
                                    </p:anim>
                                    <p:anim calcmode="lin" valueType="num">
                                      <p:cBhvr>
                                        <p:cTn id="35" dur="500" fill="hold"/>
                                        <p:tgtEl>
                                          <p:spTgt spid="167942"/>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167943"/>
                                        </p:tgtEl>
                                        <p:attrNameLst>
                                          <p:attrName>style.visibility</p:attrName>
                                        </p:attrNameLst>
                                      </p:cBhvr>
                                      <p:to>
                                        <p:strVal val="visible"/>
                                      </p:to>
                                    </p:set>
                                    <p:anim calcmode="lin" valueType="num">
                                      <p:cBhvr>
                                        <p:cTn id="38" dur="500" fill="hold"/>
                                        <p:tgtEl>
                                          <p:spTgt spid="167943"/>
                                        </p:tgtEl>
                                        <p:attrNameLst>
                                          <p:attrName>ppt_x</p:attrName>
                                        </p:attrNameLst>
                                      </p:cBhvr>
                                      <p:tavLst>
                                        <p:tav tm="0">
                                          <p:val>
                                            <p:strVal val="#ppt_x"/>
                                          </p:val>
                                        </p:tav>
                                        <p:tav tm="100000">
                                          <p:val>
                                            <p:strVal val="#ppt_x"/>
                                          </p:val>
                                        </p:tav>
                                      </p:tavLst>
                                    </p:anim>
                                    <p:anim calcmode="lin" valueType="num">
                                      <p:cBhvr>
                                        <p:cTn id="39" dur="500" fill="hold"/>
                                        <p:tgtEl>
                                          <p:spTgt spid="167943"/>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167944"/>
                                        </p:tgtEl>
                                        <p:attrNameLst>
                                          <p:attrName>style.visibility</p:attrName>
                                        </p:attrNameLst>
                                      </p:cBhvr>
                                      <p:to>
                                        <p:strVal val="visible"/>
                                      </p:to>
                                    </p:set>
                                    <p:anim calcmode="lin" valueType="num">
                                      <p:cBhvr>
                                        <p:cTn id="42" dur="500" fill="hold"/>
                                        <p:tgtEl>
                                          <p:spTgt spid="167944"/>
                                        </p:tgtEl>
                                        <p:attrNameLst>
                                          <p:attrName>ppt_x</p:attrName>
                                        </p:attrNameLst>
                                      </p:cBhvr>
                                      <p:tavLst>
                                        <p:tav tm="0">
                                          <p:val>
                                            <p:strVal val="#ppt_x"/>
                                          </p:val>
                                        </p:tav>
                                        <p:tav tm="100000">
                                          <p:val>
                                            <p:strVal val="#ppt_x"/>
                                          </p:val>
                                        </p:tav>
                                      </p:tavLst>
                                    </p:anim>
                                    <p:anim calcmode="lin" valueType="num">
                                      <p:cBhvr>
                                        <p:cTn id="43" dur="500" fill="hold"/>
                                        <p:tgtEl>
                                          <p:spTgt spid="167944"/>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167945"/>
                                        </p:tgtEl>
                                        <p:attrNameLst>
                                          <p:attrName>style.visibility</p:attrName>
                                        </p:attrNameLst>
                                      </p:cBhvr>
                                      <p:to>
                                        <p:strVal val="visible"/>
                                      </p:to>
                                    </p:set>
                                    <p:anim calcmode="lin" valueType="num">
                                      <p:cBhvr>
                                        <p:cTn id="46" dur="500" fill="hold"/>
                                        <p:tgtEl>
                                          <p:spTgt spid="167945"/>
                                        </p:tgtEl>
                                        <p:attrNameLst>
                                          <p:attrName>ppt_x</p:attrName>
                                        </p:attrNameLst>
                                      </p:cBhvr>
                                      <p:tavLst>
                                        <p:tav tm="0">
                                          <p:val>
                                            <p:strVal val="#ppt_x"/>
                                          </p:val>
                                        </p:tav>
                                        <p:tav tm="100000">
                                          <p:val>
                                            <p:strVal val="#ppt_x"/>
                                          </p:val>
                                        </p:tav>
                                      </p:tavLst>
                                    </p:anim>
                                    <p:anim calcmode="lin" valueType="num">
                                      <p:cBhvr>
                                        <p:cTn id="47" dur="500" fill="hold"/>
                                        <p:tgtEl>
                                          <p:spTgt spid="167945"/>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67948"/>
                                        </p:tgtEl>
                                        <p:attrNameLst>
                                          <p:attrName>style.visibility</p:attrName>
                                        </p:attrNameLst>
                                      </p:cBhvr>
                                      <p:to>
                                        <p:strVal val="visible"/>
                                      </p:to>
                                    </p:set>
                                    <p:anim calcmode="lin" valueType="num">
                                      <p:cBhvr>
                                        <p:cTn id="50" dur="500" fill="hold"/>
                                        <p:tgtEl>
                                          <p:spTgt spid="167948"/>
                                        </p:tgtEl>
                                        <p:attrNameLst>
                                          <p:attrName>ppt_x</p:attrName>
                                        </p:attrNameLst>
                                      </p:cBhvr>
                                      <p:tavLst>
                                        <p:tav tm="0">
                                          <p:val>
                                            <p:strVal val="#ppt_x"/>
                                          </p:val>
                                        </p:tav>
                                        <p:tav tm="100000">
                                          <p:val>
                                            <p:strVal val="#ppt_x"/>
                                          </p:val>
                                        </p:tav>
                                      </p:tavLst>
                                    </p:anim>
                                    <p:anim calcmode="lin" valueType="num">
                                      <p:cBhvr>
                                        <p:cTn id="51" dur="500" fill="hold"/>
                                        <p:tgtEl>
                                          <p:spTgt spid="167948"/>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167949"/>
                                        </p:tgtEl>
                                        <p:attrNameLst>
                                          <p:attrName>style.visibility</p:attrName>
                                        </p:attrNameLst>
                                      </p:cBhvr>
                                      <p:to>
                                        <p:strVal val="visible"/>
                                      </p:to>
                                    </p:set>
                                    <p:anim calcmode="lin" valueType="num">
                                      <p:cBhvr>
                                        <p:cTn id="54" dur="500" fill="hold"/>
                                        <p:tgtEl>
                                          <p:spTgt spid="167949"/>
                                        </p:tgtEl>
                                        <p:attrNameLst>
                                          <p:attrName>ppt_x</p:attrName>
                                        </p:attrNameLst>
                                      </p:cBhvr>
                                      <p:tavLst>
                                        <p:tav tm="0">
                                          <p:val>
                                            <p:strVal val="#ppt_x"/>
                                          </p:val>
                                        </p:tav>
                                        <p:tav tm="100000">
                                          <p:val>
                                            <p:strVal val="#ppt_x"/>
                                          </p:val>
                                        </p:tav>
                                      </p:tavLst>
                                    </p:anim>
                                    <p:anim calcmode="lin" valueType="num">
                                      <p:cBhvr>
                                        <p:cTn id="55" dur="500" fill="hold"/>
                                        <p:tgtEl>
                                          <p:spTgt spid="167949"/>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167950"/>
                                        </p:tgtEl>
                                        <p:attrNameLst>
                                          <p:attrName>style.visibility</p:attrName>
                                        </p:attrNameLst>
                                      </p:cBhvr>
                                      <p:to>
                                        <p:strVal val="visible"/>
                                      </p:to>
                                    </p:set>
                                    <p:anim calcmode="lin" valueType="num">
                                      <p:cBhvr>
                                        <p:cTn id="58" dur="500" fill="hold"/>
                                        <p:tgtEl>
                                          <p:spTgt spid="167950"/>
                                        </p:tgtEl>
                                        <p:attrNameLst>
                                          <p:attrName>ppt_x</p:attrName>
                                        </p:attrNameLst>
                                      </p:cBhvr>
                                      <p:tavLst>
                                        <p:tav tm="0">
                                          <p:val>
                                            <p:strVal val="#ppt_x"/>
                                          </p:val>
                                        </p:tav>
                                        <p:tav tm="100000">
                                          <p:val>
                                            <p:strVal val="#ppt_x"/>
                                          </p:val>
                                        </p:tav>
                                      </p:tavLst>
                                    </p:anim>
                                    <p:anim calcmode="lin" valueType="num">
                                      <p:cBhvr>
                                        <p:cTn id="59" dur="500" fill="hold"/>
                                        <p:tgtEl>
                                          <p:spTgt spid="167950"/>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167951"/>
                                        </p:tgtEl>
                                        <p:attrNameLst>
                                          <p:attrName>style.visibility</p:attrName>
                                        </p:attrNameLst>
                                      </p:cBhvr>
                                      <p:to>
                                        <p:strVal val="visible"/>
                                      </p:to>
                                    </p:set>
                                    <p:anim calcmode="lin" valueType="num">
                                      <p:cBhvr>
                                        <p:cTn id="62" dur="500" fill="hold"/>
                                        <p:tgtEl>
                                          <p:spTgt spid="167951"/>
                                        </p:tgtEl>
                                        <p:attrNameLst>
                                          <p:attrName>ppt_x</p:attrName>
                                        </p:attrNameLst>
                                      </p:cBhvr>
                                      <p:tavLst>
                                        <p:tav tm="0">
                                          <p:val>
                                            <p:strVal val="#ppt_x"/>
                                          </p:val>
                                        </p:tav>
                                        <p:tav tm="100000">
                                          <p:val>
                                            <p:strVal val="#ppt_x"/>
                                          </p:val>
                                        </p:tav>
                                      </p:tavLst>
                                    </p:anim>
                                    <p:anim calcmode="lin" valueType="num">
                                      <p:cBhvr>
                                        <p:cTn id="63" dur="500" fill="hold"/>
                                        <p:tgtEl>
                                          <p:spTgt spid="167951"/>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167952"/>
                                        </p:tgtEl>
                                        <p:attrNameLst>
                                          <p:attrName>style.visibility</p:attrName>
                                        </p:attrNameLst>
                                      </p:cBhvr>
                                      <p:to>
                                        <p:strVal val="visible"/>
                                      </p:to>
                                    </p:set>
                                    <p:anim calcmode="lin" valueType="num">
                                      <p:cBhvr>
                                        <p:cTn id="66" dur="500" fill="hold"/>
                                        <p:tgtEl>
                                          <p:spTgt spid="167952"/>
                                        </p:tgtEl>
                                        <p:attrNameLst>
                                          <p:attrName>ppt_x</p:attrName>
                                        </p:attrNameLst>
                                      </p:cBhvr>
                                      <p:tavLst>
                                        <p:tav tm="0">
                                          <p:val>
                                            <p:strVal val="#ppt_x"/>
                                          </p:val>
                                        </p:tav>
                                        <p:tav tm="100000">
                                          <p:val>
                                            <p:strVal val="#ppt_x"/>
                                          </p:val>
                                        </p:tav>
                                      </p:tavLst>
                                    </p:anim>
                                    <p:anim calcmode="lin" valueType="num">
                                      <p:cBhvr>
                                        <p:cTn id="67" dur="500" fill="hold"/>
                                        <p:tgtEl>
                                          <p:spTgt spid="167952"/>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167953"/>
                                        </p:tgtEl>
                                        <p:attrNameLst>
                                          <p:attrName>style.visibility</p:attrName>
                                        </p:attrNameLst>
                                      </p:cBhvr>
                                      <p:to>
                                        <p:strVal val="visible"/>
                                      </p:to>
                                    </p:set>
                                    <p:anim calcmode="lin" valueType="num">
                                      <p:cBhvr>
                                        <p:cTn id="70" dur="500" fill="hold"/>
                                        <p:tgtEl>
                                          <p:spTgt spid="167953"/>
                                        </p:tgtEl>
                                        <p:attrNameLst>
                                          <p:attrName>ppt_x</p:attrName>
                                        </p:attrNameLst>
                                      </p:cBhvr>
                                      <p:tavLst>
                                        <p:tav tm="0">
                                          <p:val>
                                            <p:strVal val="#ppt_x"/>
                                          </p:val>
                                        </p:tav>
                                        <p:tav tm="100000">
                                          <p:val>
                                            <p:strVal val="#ppt_x"/>
                                          </p:val>
                                        </p:tav>
                                      </p:tavLst>
                                    </p:anim>
                                    <p:anim calcmode="lin" valueType="num">
                                      <p:cBhvr>
                                        <p:cTn id="71" dur="500" fill="hold"/>
                                        <p:tgtEl>
                                          <p:spTgt spid="167953"/>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167954"/>
                                        </p:tgtEl>
                                        <p:attrNameLst>
                                          <p:attrName>style.visibility</p:attrName>
                                        </p:attrNameLst>
                                      </p:cBhvr>
                                      <p:to>
                                        <p:strVal val="visible"/>
                                      </p:to>
                                    </p:set>
                                    <p:anim calcmode="lin" valueType="num">
                                      <p:cBhvr>
                                        <p:cTn id="74" dur="500" fill="hold"/>
                                        <p:tgtEl>
                                          <p:spTgt spid="167954"/>
                                        </p:tgtEl>
                                        <p:attrNameLst>
                                          <p:attrName>ppt_x</p:attrName>
                                        </p:attrNameLst>
                                      </p:cBhvr>
                                      <p:tavLst>
                                        <p:tav tm="0">
                                          <p:val>
                                            <p:strVal val="#ppt_x"/>
                                          </p:val>
                                        </p:tav>
                                        <p:tav tm="100000">
                                          <p:val>
                                            <p:strVal val="#ppt_x"/>
                                          </p:val>
                                        </p:tav>
                                      </p:tavLst>
                                    </p:anim>
                                    <p:anim calcmode="lin" valueType="num">
                                      <p:cBhvr>
                                        <p:cTn id="75" dur="500" fill="hold"/>
                                        <p:tgtEl>
                                          <p:spTgt spid="167954"/>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167955"/>
                                        </p:tgtEl>
                                        <p:attrNameLst>
                                          <p:attrName>style.visibility</p:attrName>
                                        </p:attrNameLst>
                                      </p:cBhvr>
                                      <p:to>
                                        <p:strVal val="visible"/>
                                      </p:to>
                                    </p:set>
                                    <p:anim calcmode="lin" valueType="num">
                                      <p:cBhvr>
                                        <p:cTn id="78" dur="500" fill="hold"/>
                                        <p:tgtEl>
                                          <p:spTgt spid="167955"/>
                                        </p:tgtEl>
                                        <p:attrNameLst>
                                          <p:attrName>ppt_x</p:attrName>
                                        </p:attrNameLst>
                                      </p:cBhvr>
                                      <p:tavLst>
                                        <p:tav tm="0">
                                          <p:val>
                                            <p:strVal val="#ppt_x"/>
                                          </p:val>
                                        </p:tav>
                                        <p:tav tm="100000">
                                          <p:val>
                                            <p:strVal val="#ppt_x"/>
                                          </p:val>
                                        </p:tav>
                                      </p:tavLst>
                                    </p:anim>
                                    <p:anim calcmode="lin" valueType="num">
                                      <p:cBhvr>
                                        <p:cTn id="79" dur="500" fill="hold"/>
                                        <p:tgtEl>
                                          <p:spTgt spid="167955"/>
                                        </p:tgtEl>
                                        <p:attrNameLst>
                                          <p:attrName>ppt_y</p:attrName>
                                        </p:attrNameLst>
                                      </p:cBhvr>
                                      <p:tavLst>
                                        <p:tav tm="0">
                                          <p:val>
                                            <p:strVal val="1+#ppt_h/2"/>
                                          </p:val>
                                        </p:tav>
                                        <p:tav tm="100000">
                                          <p:val>
                                            <p:strVal val="#ppt_y"/>
                                          </p:val>
                                        </p:tav>
                                      </p:tavLst>
                                    </p:anim>
                                  </p:childTnLst>
                                </p:cTn>
                              </p:par>
                              <p:par>
                                <p:cTn id="80" presetID="2" presetClass="entr" presetSubtype="4" fill="hold" nodeType="withEffect">
                                  <p:stCondLst>
                                    <p:cond delay="0"/>
                                  </p:stCondLst>
                                  <p:childTnLst>
                                    <p:set>
                                      <p:cBhvr>
                                        <p:cTn id="81" dur="1" fill="hold">
                                          <p:stCondLst>
                                            <p:cond delay="0"/>
                                          </p:stCondLst>
                                        </p:cTn>
                                        <p:tgtEl>
                                          <p:spTgt spid="167959"/>
                                        </p:tgtEl>
                                        <p:attrNameLst>
                                          <p:attrName>style.visibility</p:attrName>
                                        </p:attrNameLst>
                                      </p:cBhvr>
                                      <p:to>
                                        <p:strVal val="visible"/>
                                      </p:to>
                                    </p:set>
                                    <p:anim calcmode="lin" valueType="num">
                                      <p:cBhvr>
                                        <p:cTn id="82" dur="500" fill="hold"/>
                                        <p:tgtEl>
                                          <p:spTgt spid="167959"/>
                                        </p:tgtEl>
                                        <p:attrNameLst>
                                          <p:attrName>ppt_x</p:attrName>
                                        </p:attrNameLst>
                                      </p:cBhvr>
                                      <p:tavLst>
                                        <p:tav tm="0">
                                          <p:val>
                                            <p:strVal val="#ppt_x"/>
                                          </p:val>
                                        </p:tav>
                                        <p:tav tm="100000">
                                          <p:val>
                                            <p:strVal val="#ppt_x"/>
                                          </p:val>
                                        </p:tav>
                                      </p:tavLst>
                                    </p:anim>
                                    <p:anim calcmode="lin" valueType="num">
                                      <p:cBhvr>
                                        <p:cTn id="83" dur="500" fill="hold"/>
                                        <p:tgtEl>
                                          <p:spTgt spid="167959"/>
                                        </p:tgtEl>
                                        <p:attrNameLst>
                                          <p:attrName>ppt_y</p:attrName>
                                        </p:attrNameLst>
                                      </p:cBhvr>
                                      <p:tavLst>
                                        <p:tav tm="0">
                                          <p:val>
                                            <p:strVal val="1+#ppt_h/2"/>
                                          </p:val>
                                        </p:tav>
                                        <p:tav tm="100000">
                                          <p:val>
                                            <p:strVal val="#ppt_y"/>
                                          </p:val>
                                        </p:tav>
                                      </p:tavLst>
                                    </p:anim>
                                  </p:childTnLst>
                                </p:cTn>
                              </p:par>
                              <p:par>
                                <p:cTn id="84" presetID="2" presetClass="entr" presetSubtype="4" fill="hold" nodeType="withEffect">
                                  <p:stCondLst>
                                    <p:cond delay="0"/>
                                  </p:stCondLst>
                                  <p:childTnLst>
                                    <p:set>
                                      <p:cBhvr>
                                        <p:cTn id="85" dur="1" fill="hold">
                                          <p:stCondLst>
                                            <p:cond delay="0"/>
                                          </p:stCondLst>
                                        </p:cTn>
                                        <p:tgtEl>
                                          <p:spTgt spid="167960"/>
                                        </p:tgtEl>
                                        <p:attrNameLst>
                                          <p:attrName>style.visibility</p:attrName>
                                        </p:attrNameLst>
                                      </p:cBhvr>
                                      <p:to>
                                        <p:strVal val="visible"/>
                                      </p:to>
                                    </p:set>
                                    <p:anim calcmode="lin" valueType="num">
                                      <p:cBhvr>
                                        <p:cTn id="86" dur="500" fill="hold"/>
                                        <p:tgtEl>
                                          <p:spTgt spid="167960"/>
                                        </p:tgtEl>
                                        <p:attrNameLst>
                                          <p:attrName>ppt_x</p:attrName>
                                        </p:attrNameLst>
                                      </p:cBhvr>
                                      <p:tavLst>
                                        <p:tav tm="0">
                                          <p:val>
                                            <p:strVal val="#ppt_x"/>
                                          </p:val>
                                        </p:tav>
                                        <p:tav tm="100000">
                                          <p:val>
                                            <p:strVal val="#ppt_x"/>
                                          </p:val>
                                        </p:tav>
                                      </p:tavLst>
                                    </p:anim>
                                    <p:anim calcmode="lin" valueType="num">
                                      <p:cBhvr>
                                        <p:cTn id="87" dur="500" fill="hold"/>
                                        <p:tgtEl>
                                          <p:spTgt spid="167960"/>
                                        </p:tgtEl>
                                        <p:attrNameLst>
                                          <p:attrName>ppt_y</p:attrName>
                                        </p:attrNameLst>
                                      </p:cBhvr>
                                      <p:tavLst>
                                        <p:tav tm="0">
                                          <p:val>
                                            <p:strVal val="1+#ppt_h/2"/>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2" presetClass="entr" presetSubtype="4" fill="hold" grpId="0" nodeType="clickEffect">
                                  <p:stCondLst>
                                    <p:cond delay="0"/>
                                  </p:stCondLst>
                                  <p:childTnLst>
                                    <p:set>
                                      <p:cBhvr>
                                        <p:cTn id="91" dur="1" fill="hold">
                                          <p:stCondLst>
                                            <p:cond delay="0"/>
                                          </p:stCondLst>
                                        </p:cTn>
                                        <p:tgtEl>
                                          <p:spTgt spid="167956"/>
                                        </p:tgtEl>
                                        <p:attrNameLst>
                                          <p:attrName>style.visibility</p:attrName>
                                        </p:attrNameLst>
                                      </p:cBhvr>
                                      <p:to>
                                        <p:strVal val="visible"/>
                                      </p:to>
                                    </p:set>
                                    <p:anim calcmode="lin" valueType="num">
                                      <p:cBhvr>
                                        <p:cTn id="92" dur="500" fill="hold"/>
                                        <p:tgtEl>
                                          <p:spTgt spid="167956"/>
                                        </p:tgtEl>
                                        <p:attrNameLst>
                                          <p:attrName>ppt_x</p:attrName>
                                        </p:attrNameLst>
                                      </p:cBhvr>
                                      <p:tavLst>
                                        <p:tav tm="0">
                                          <p:val>
                                            <p:strVal val="#ppt_x"/>
                                          </p:val>
                                        </p:tav>
                                        <p:tav tm="100000">
                                          <p:val>
                                            <p:strVal val="#ppt_x"/>
                                          </p:val>
                                        </p:tav>
                                      </p:tavLst>
                                    </p:anim>
                                    <p:anim calcmode="lin" valueType="num">
                                      <p:cBhvr>
                                        <p:cTn id="93" dur="500" fill="hold"/>
                                        <p:tgtEl>
                                          <p:spTgt spid="167956"/>
                                        </p:tgtEl>
                                        <p:attrNameLst>
                                          <p:attrName>ppt_y</p:attrName>
                                        </p:attrNameLst>
                                      </p:cBhvr>
                                      <p:tavLst>
                                        <p:tav tm="0">
                                          <p:val>
                                            <p:strVal val="1+#ppt_h/2"/>
                                          </p:val>
                                        </p:tav>
                                        <p:tav tm="100000">
                                          <p:val>
                                            <p:strVal val="#ppt_y"/>
                                          </p:val>
                                        </p:tav>
                                      </p:tavLst>
                                    </p:anim>
                                  </p:childTnLst>
                                </p:cTn>
                              </p:par>
                              <p:par>
                                <p:cTn id="94" presetID="2" presetClass="entr" presetSubtype="4" fill="hold" nodeType="withEffect">
                                  <p:stCondLst>
                                    <p:cond delay="0"/>
                                  </p:stCondLst>
                                  <p:childTnLst>
                                    <p:set>
                                      <p:cBhvr>
                                        <p:cTn id="95" dur="1" fill="hold">
                                          <p:stCondLst>
                                            <p:cond delay="0"/>
                                          </p:stCondLst>
                                        </p:cTn>
                                        <p:tgtEl>
                                          <p:spTgt spid="167957"/>
                                        </p:tgtEl>
                                        <p:attrNameLst>
                                          <p:attrName>style.visibility</p:attrName>
                                        </p:attrNameLst>
                                      </p:cBhvr>
                                      <p:to>
                                        <p:strVal val="visible"/>
                                      </p:to>
                                    </p:set>
                                    <p:anim calcmode="lin" valueType="num">
                                      <p:cBhvr>
                                        <p:cTn id="96" dur="500" fill="hold"/>
                                        <p:tgtEl>
                                          <p:spTgt spid="167957"/>
                                        </p:tgtEl>
                                        <p:attrNameLst>
                                          <p:attrName>ppt_x</p:attrName>
                                        </p:attrNameLst>
                                      </p:cBhvr>
                                      <p:tavLst>
                                        <p:tav tm="0">
                                          <p:val>
                                            <p:strVal val="#ppt_x"/>
                                          </p:val>
                                        </p:tav>
                                        <p:tav tm="100000">
                                          <p:val>
                                            <p:strVal val="#ppt_x"/>
                                          </p:val>
                                        </p:tav>
                                      </p:tavLst>
                                    </p:anim>
                                    <p:anim calcmode="lin" valueType="num">
                                      <p:cBhvr>
                                        <p:cTn id="97" dur="500" fill="hold"/>
                                        <p:tgtEl>
                                          <p:spTgt spid="167957"/>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grpId="0" nodeType="clickEffect">
                                  <p:stCondLst>
                                    <p:cond delay="0"/>
                                  </p:stCondLst>
                                  <p:childTnLst>
                                    <p:set>
                                      <p:cBhvr>
                                        <p:cTn id="101" dur="1" fill="hold">
                                          <p:stCondLst>
                                            <p:cond delay="0"/>
                                          </p:stCondLst>
                                        </p:cTn>
                                        <p:tgtEl>
                                          <p:spTgt spid="167946"/>
                                        </p:tgtEl>
                                        <p:attrNameLst>
                                          <p:attrName>style.visibility</p:attrName>
                                        </p:attrNameLst>
                                      </p:cBhvr>
                                      <p:to>
                                        <p:strVal val="visible"/>
                                      </p:to>
                                    </p:set>
                                    <p:anim calcmode="lin" valueType="num">
                                      <p:cBhvr>
                                        <p:cTn id="102" dur="500" fill="hold"/>
                                        <p:tgtEl>
                                          <p:spTgt spid="167946"/>
                                        </p:tgtEl>
                                        <p:attrNameLst>
                                          <p:attrName>ppt_x</p:attrName>
                                        </p:attrNameLst>
                                      </p:cBhvr>
                                      <p:tavLst>
                                        <p:tav tm="0">
                                          <p:val>
                                            <p:strVal val="#ppt_x"/>
                                          </p:val>
                                        </p:tav>
                                        <p:tav tm="100000">
                                          <p:val>
                                            <p:strVal val="#ppt_x"/>
                                          </p:val>
                                        </p:tav>
                                      </p:tavLst>
                                    </p:anim>
                                    <p:anim calcmode="lin" valueType="num">
                                      <p:cBhvr>
                                        <p:cTn id="103" dur="500" fill="hold"/>
                                        <p:tgtEl>
                                          <p:spTgt spid="167946"/>
                                        </p:tgtEl>
                                        <p:attrNameLst>
                                          <p:attrName>ppt_y</p:attrName>
                                        </p:attrNameLst>
                                      </p:cBhvr>
                                      <p:tavLst>
                                        <p:tav tm="0">
                                          <p:val>
                                            <p:strVal val="1+#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167947"/>
                                        </p:tgtEl>
                                        <p:attrNameLst>
                                          <p:attrName>style.visibility</p:attrName>
                                        </p:attrNameLst>
                                      </p:cBhvr>
                                      <p:to>
                                        <p:strVal val="visible"/>
                                      </p:to>
                                    </p:set>
                                    <p:anim calcmode="lin" valueType="num">
                                      <p:cBhvr>
                                        <p:cTn id="106" dur="500" fill="hold"/>
                                        <p:tgtEl>
                                          <p:spTgt spid="167947"/>
                                        </p:tgtEl>
                                        <p:attrNameLst>
                                          <p:attrName>ppt_x</p:attrName>
                                        </p:attrNameLst>
                                      </p:cBhvr>
                                      <p:tavLst>
                                        <p:tav tm="0">
                                          <p:val>
                                            <p:strVal val="#ppt_x"/>
                                          </p:val>
                                        </p:tav>
                                        <p:tav tm="100000">
                                          <p:val>
                                            <p:strVal val="#ppt_x"/>
                                          </p:val>
                                        </p:tav>
                                      </p:tavLst>
                                    </p:anim>
                                    <p:anim calcmode="lin" valueType="num">
                                      <p:cBhvr>
                                        <p:cTn id="107" dur="500" fill="hold"/>
                                        <p:tgtEl>
                                          <p:spTgt spid="167947"/>
                                        </p:tgtEl>
                                        <p:attrNameLst>
                                          <p:attrName>ppt_y</p:attrName>
                                        </p:attrNameLst>
                                      </p:cBhvr>
                                      <p:tavLst>
                                        <p:tav tm="0">
                                          <p:val>
                                            <p:strVal val="1+#ppt_h/2"/>
                                          </p:val>
                                        </p:tav>
                                        <p:tav tm="100000">
                                          <p:val>
                                            <p:strVal val="#ppt_y"/>
                                          </p:val>
                                        </p:tav>
                                      </p:tavLst>
                                    </p:anim>
                                  </p:childTnLst>
                                </p:cTn>
                              </p:par>
                              <p:par>
                                <p:cTn id="108" presetID="2" presetClass="entr" presetSubtype="4" fill="hold" grpId="0" nodeType="withEffect">
                                  <p:stCondLst>
                                    <p:cond delay="0"/>
                                  </p:stCondLst>
                                  <p:childTnLst>
                                    <p:set>
                                      <p:cBhvr>
                                        <p:cTn id="109" dur="1" fill="hold">
                                          <p:stCondLst>
                                            <p:cond delay="0"/>
                                          </p:stCondLst>
                                        </p:cTn>
                                        <p:tgtEl>
                                          <p:spTgt spid="167958"/>
                                        </p:tgtEl>
                                        <p:attrNameLst>
                                          <p:attrName>style.visibility</p:attrName>
                                        </p:attrNameLst>
                                      </p:cBhvr>
                                      <p:to>
                                        <p:strVal val="visible"/>
                                      </p:to>
                                    </p:set>
                                    <p:anim calcmode="lin" valueType="num">
                                      <p:cBhvr>
                                        <p:cTn id="110" dur="500" fill="hold"/>
                                        <p:tgtEl>
                                          <p:spTgt spid="167958"/>
                                        </p:tgtEl>
                                        <p:attrNameLst>
                                          <p:attrName>ppt_x</p:attrName>
                                        </p:attrNameLst>
                                      </p:cBhvr>
                                      <p:tavLst>
                                        <p:tav tm="0">
                                          <p:val>
                                            <p:strVal val="#ppt_x"/>
                                          </p:val>
                                        </p:tav>
                                        <p:tav tm="100000">
                                          <p:val>
                                            <p:strVal val="#ppt_x"/>
                                          </p:val>
                                        </p:tav>
                                      </p:tavLst>
                                    </p:anim>
                                    <p:anim calcmode="lin" valueType="num">
                                      <p:cBhvr>
                                        <p:cTn id="111" dur="500" fill="hold"/>
                                        <p:tgtEl>
                                          <p:spTgt spid="167958"/>
                                        </p:tgtEl>
                                        <p:attrNameLst>
                                          <p:attrName>ppt_y</p:attrName>
                                        </p:attrNameLst>
                                      </p:cBhvr>
                                      <p:tavLst>
                                        <p:tav tm="0">
                                          <p:val>
                                            <p:strVal val="1+#ppt_h/2"/>
                                          </p:val>
                                        </p:tav>
                                        <p:tav tm="100000">
                                          <p:val>
                                            <p:strVal val="#ppt_y"/>
                                          </p:val>
                                        </p:tav>
                                      </p:tavLst>
                                    </p:anim>
                                  </p:childTnLst>
                                </p:cTn>
                              </p:par>
                              <p:par>
                                <p:cTn id="112" presetID="2" presetClass="entr" presetSubtype="4" fill="hold" grpId="0" nodeType="withEffect">
                                  <p:stCondLst>
                                    <p:cond delay="0"/>
                                  </p:stCondLst>
                                  <p:childTnLst>
                                    <p:set>
                                      <p:cBhvr>
                                        <p:cTn id="113" dur="1" fill="hold">
                                          <p:stCondLst>
                                            <p:cond delay="0"/>
                                          </p:stCondLst>
                                        </p:cTn>
                                        <p:tgtEl>
                                          <p:spTgt spid="167961"/>
                                        </p:tgtEl>
                                        <p:attrNameLst>
                                          <p:attrName>style.visibility</p:attrName>
                                        </p:attrNameLst>
                                      </p:cBhvr>
                                      <p:to>
                                        <p:strVal val="visible"/>
                                      </p:to>
                                    </p:set>
                                    <p:anim calcmode="lin" valueType="num">
                                      <p:cBhvr>
                                        <p:cTn id="114" dur="500" fill="hold"/>
                                        <p:tgtEl>
                                          <p:spTgt spid="167961"/>
                                        </p:tgtEl>
                                        <p:attrNameLst>
                                          <p:attrName>ppt_x</p:attrName>
                                        </p:attrNameLst>
                                      </p:cBhvr>
                                      <p:tavLst>
                                        <p:tav tm="0">
                                          <p:val>
                                            <p:strVal val="#ppt_x"/>
                                          </p:val>
                                        </p:tav>
                                        <p:tav tm="100000">
                                          <p:val>
                                            <p:strVal val="#ppt_x"/>
                                          </p:val>
                                        </p:tav>
                                      </p:tavLst>
                                    </p:anim>
                                    <p:anim calcmode="lin" valueType="num">
                                      <p:cBhvr>
                                        <p:cTn id="115" dur="500" fill="hold"/>
                                        <p:tgtEl>
                                          <p:spTgt spid="167961"/>
                                        </p:tgtEl>
                                        <p:attrNameLst>
                                          <p:attrName>ppt_y</p:attrName>
                                        </p:attrNameLst>
                                      </p:cBhvr>
                                      <p:tavLst>
                                        <p:tav tm="0">
                                          <p:val>
                                            <p:strVal val="1+#ppt_h/2"/>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18" presetClass="entr" presetSubtype="12" fill="hold" grpId="0" nodeType="clickEffect">
                                  <p:stCondLst>
                                    <p:cond delay="0"/>
                                  </p:stCondLst>
                                  <p:childTnLst>
                                    <p:set>
                                      <p:cBhvr>
                                        <p:cTn id="119" dur="1" fill="hold">
                                          <p:stCondLst>
                                            <p:cond delay="0"/>
                                          </p:stCondLst>
                                        </p:cTn>
                                        <p:tgtEl>
                                          <p:spTgt spid="167962"/>
                                        </p:tgtEl>
                                        <p:attrNameLst>
                                          <p:attrName>style.visibility</p:attrName>
                                        </p:attrNameLst>
                                      </p:cBhvr>
                                      <p:to>
                                        <p:strVal val="visible"/>
                                      </p:to>
                                    </p:set>
                                    <p:animEffect transition="in" filter="strips(downLeft)">
                                      <p:cBhvr>
                                        <p:cTn id="120" dur="500"/>
                                        <p:tgtEl>
                                          <p:spTgt spid="167962"/>
                                        </p:tgtEl>
                                      </p:cBhvr>
                                    </p:animEffect>
                                  </p:childTnLst>
                                </p:cTn>
                              </p:par>
                            </p:childTnLst>
                          </p:cTn>
                        </p:par>
                        <p:par>
                          <p:cTn id="121" fill="hold">
                            <p:stCondLst>
                              <p:cond delay="500"/>
                            </p:stCondLst>
                            <p:childTnLst>
                              <p:par>
                                <p:cTn id="122" presetID="18" presetClass="entr" presetSubtype="12" fill="hold" nodeType="afterEffect">
                                  <p:stCondLst>
                                    <p:cond delay="0"/>
                                  </p:stCondLst>
                                  <p:childTnLst>
                                    <p:set>
                                      <p:cBhvr>
                                        <p:cTn id="123" dur="1" fill="hold">
                                          <p:stCondLst>
                                            <p:cond delay="0"/>
                                          </p:stCondLst>
                                        </p:cTn>
                                        <p:tgtEl>
                                          <p:spTgt spid="167968"/>
                                        </p:tgtEl>
                                        <p:attrNameLst>
                                          <p:attrName>style.visibility</p:attrName>
                                        </p:attrNameLst>
                                      </p:cBhvr>
                                      <p:to>
                                        <p:strVal val="visible"/>
                                      </p:to>
                                    </p:set>
                                    <p:animEffect transition="in" filter="strips(downLeft)">
                                      <p:cBhvr>
                                        <p:cTn id="124" dur="1000"/>
                                        <p:tgtEl>
                                          <p:spTgt spid="167968"/>
                                        </p:tgtEl>
                                      </p:cBhvr>
                                    </p:animEffect>
                                  </p:childTnLst>
                                </p:cTn>
                              </p:par>
                            </p:childTnLst>
                          </p:cTn>
                        </p:par>
                        <p:par>
                          <p:cTn id="125" fill="hold">
                            <p:stCondLst>
                              <p:cond delay="1500"/>
                            </p:stCondLst>
                            <p:childTnLst>
                              <p:par>
                                <p:cTn id="126" presetID="2" presetClass="entr" presetSubtype="8" fill="hold" grpId="0" nodeType="afterEffect">
                                  <p:stCondLst>
                                    <p:cond delay="0"/>
                                  </p:stCondLst>
                                  <p:childTnLst>
                                    <p:set>
                                      <p:cBhvr>
                                        <p:cTn id="127" dur="1" fill="hold">
                                          <p:stCondLst>
                                            <p:cond delay="0"/>
                                          </p:stCondLst>
                                        </p:cTn>
                                        <p:tgtEl>
                                          <p:spTgt spid="167965"/>
                                        </p:tgtEl>
                                        <p:attrNameLst>
                                          <p:attrName>style.visibility</p:attrName>
                                        </p:attrNameLst>
                                      </p:cBhvr>
                                      <p:to>
                                        <p:strVal val="visible"/>
                                      </p:to>
                                    </p:set>
                                    <p:anim calcmode="lin" valueType="num">
                                      <p:cBhvr>
                                        <p:cTn id="128" dur="500" fill="hold"/>
                                        <p:tgtEl>
                                          <p:spTgt spid="167965"/>
                                        </p:tgtEl>
                                        <p:attrNameLst>
                                          <p:attrName>ppt_x</p:attrName>
                                        </p:attrNameLst>
                                      </p:cBhvr>
                                      <p:tavLst>
                                        <p:tav tm="0">
                                          <p:val>
                                            <p:strVal val="0-#ppt_w/2"/>
                                          </p:val>
                                        </p:tav>
                                        <p:tav tm="100000">
                                          <p:val>
                                            <p:strVal val="#ppt_x"/>
                                          </p:val>
                                        </p:tav>
                                      </p:tavLst>
                                    </p:anim>
                                    <p:anim calcmode="lin" valueType="num">
                                      <p:cBhvr>
                                        <p:cTn id="129" dur="500" fill="hold"/>
                                        <p:tgtEl>
                                          <p:spTgt spid="167965"/>
                                        </p:tgtEl>
                                        <p:attrNameLst>
                                          <p:attrName>ppt_y</p:attrName>
                                        </p:attrNameLst>
                                      </p:cBhvr>
                                      <p:tavLst>
                                        <p:tav tm="0">
                                          <p:val>
                                            <p:strVal val="#ppt_y"/>
                                          </p:val>
                                        </p:tav>
                                        <p:tav tm="100000">
                                          <p:val>
                                            <p:strVal val="#ppt_y"/>
                                          </p:val>
                                        </p:tav>
                                      </p:tavLst>
                                    </p:anim>
                                  </p:childTnLst>
                                </p:cTn>
                              </p:par>
                              <p:par>
                                <p:cTn id="130" presetID="2" presetClass="entr" presetSubtype="8" fill="hold" grpId="0" nodeType="withEffect">
                                  <p:stCondLst>
                                    <p:cond delay="0"/>
                                  </p:stCondLst>
                                  <p:childTnLst>
                                    <p:set>
                                      <p:cBhvr>
                                        <p:cTn id="131" dur="1" fill="hold">
                                          <p:stCondLst>
                                            <p:cond delay="0"/>
                                          </p:stCondLst>
                                        </p:cTn>
                                        <p:tgtEl>
                                          <p:spTgt spid="167967"/>
                                        </p:tgtEl>
                                        <p:attrNameLst>
                                          <p:attrName>style.visibility</p:attrName>
                                        </p:attrNameLst>
                                      </p:cBhvr>
                                      <p:to>
                                        <p:strVal val="visible"/>
                                      </p:to>
                                    </p:set>
                                    <p:anim calcmode="lin" valueType="num">
                                      <p:cBhvr>
                                        <p:cTn id="132" dur="500" fill="hold"/>
                                        <p:tgtEl>
                                          <p:spTgt spid="167967"/>
                                        </p:tgtEl>
                                        <p:attrNameLst>
                                          <p:attrName>ppt_x</p:attrName>
                                        </p:attrNameLst>
                                      </p:cBhvr>
                                      <p:tavLst>
                                        <p:tav tm="0">
                                          <p:val>
                                            <p:strVal val="0-#ppt_w/2"/>
                                          </p:val>
                                        </p:tav>
                                        <p:tav tm="100000">
                                          <p:val>
                                            <p:strVal val="#ppt_x"/>
                                          </p:val>
                                        </p:tav>
                                      </p:tavLst>
                                    </p:anim>
                                    <p:anim calcmode="lin" valueType="num">
                                      <p:cBhvr>
                                        <p:cTn id="133" dur="500" fill="hold"/>
                                        <p:tgtEl>
                                          <p:spTgt spid="167967"/>
                                        </p:tgtEl>
                                        <p:attrNameLst>
                                          <p:attrName>ppt_y</p:attrName>
                                        </p:attrNameLst>
                                      </p:cBhvr>
                                      <p:tavLst>
                                        <p:tav tm="0">
                                          <p:val>
                                            <p:strVal val="#ppt_y"/>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ID="18" presetClass="entr" presetSubtype="12" fill="hold" grpId="0" nodeType="clickEffect">
                                  <p:stCondLst>
                                    <p:cond delay="0"/>
                                  </p:stCondLst>
                                  <p:childTnLst>
                                    <p:set>
                                      <p:cBhvr>
                                        <p:cTn id="137" dur="1" fill="hold">
                                          <p:stCondLst>
                                            <p:cond delay="0"/>
                                          </p:stCondLst>
                                        </p:cTn>
                                        <p:tgtEl>
                                          <p:spTgt spid="167963"/>
                                        </p:tgtEl>
                                        <p:attrNameLst>
                                          <p:attrName>style.visibility</p:attrName>
                                        </p:attrNameLst>
                                      </p:cBhvr>
                                      <p:to>
                                        <p:strVal val="visible"/>
                                      </p:to>
                                    </p:set>
                                    <p:animEffect transition="in" filter="strips(downLeft)">
                                      <p:cBhvr>
                                        <p:cTn id="138" dur="500"/>
                                        <p:tgtEl>
                                          <p:spTgt spid="167963"/>
                                        </p:tgtEl>
                                      </p:cBhvr>
                                    </p:animEffect>
                                  </p:childTnLst>
                                </p:cTn>
                              </p:par>
                            </p:childTnLst>
                          </p:cTn>
                        </p:par>
                        <p:par>
                          <p:cTn id="139" fill="hold">
                            <p:stCondLst>
                              <p:cond delay="500"/>
                            </p:stCondLst>
                            <p:childTnLst>
                              <p:par>
                                <p:cTn id="140" presetID="18" presetClass="entr" presetSubtype="12" fill="hold" nodeType="afterEffect">
                                  <p:stCondLst>
                                    <p:cond delay="0"/>
                                  </p:stCondLst>
                                  <p:childTnLst>
                                    <p:set>
                                      <p:cBhvr>
                                        <p:cTn id="141" dur="1" fill="hold">
                                          <p:stCondLst>
                                            <p:cond delay="0"/>
                                          </p:stCondLst>
                                        </p:cTn>
                                        <p:tgtEl>
                                          <p:spTgt spid="167969"/>
                                        </p:tgtEl>
                                        <p:attrNameLst>
                                          <p:attrName>style.visibility</p:attrName>
                                        </p:attrNameLst>
                                      </p:cBhvr>
                                      <p:to>
                                        <p:strVal val="visible"/>
                                      </p:to>
                                    </p:set>
                                    <p:animEffect transition="in" filter="strips(downLeft)">
                                      <p:cBhvr>
                                        <p:cTn id="142" dur="1000"/>
                                        <p:tgtEl>
                                          <p:spTgt spid="167969"/>
                                        </p:tgtEl>
                                      </p:cBhvr>
                                    </p:animEffect>
                                  </p:childTnLst>
                                </p:cTn>
                              </p:par>
                            </p:childTnLst>
                          </p:cTn>
                        </p:par>
                        <p:par>
                          <p:cTn id="143" fill="hold">
                            <p:stCondLst>
                              <p:cond delay="1500"/>
                            </p:stCondLst>
                            <p:childTnLst>
                              <p:par>
                                <p:cTn id="144" presetID="2" presetClass="entr" presetSubtype="8" fill="hold" grpId="0" nodeType="afterEffect">
                                  <p:stCondLst>
                                    <p:cond delay="0"/>
                                  </p:stCondLst>
                                  <p:childTnLst>
                                    <p:set>
                                      <p:cBhvr>
                                        <p:cTn id="145" dur="1" fill="hold">
                                          <p:stCondLst>
                                            <p:cond delay="0"/>
                                          </p:stCondLst>
                                        </p:cTn>
                                        <p:tgtEl>
                                          <p:spTgt spid="167964"/>
                                        </p:tgtEl>
                                        <p:attrNameLst>
                                          <p:attrName>style.visibility</p:attrName>
                                        </p:attrNameLst>
                                      </p:cBhvr>
                                      <p:to>
                                        <p:strVal val="visible"/>
                                      </p:to>
                                    </p:set>
                                    <p:anim calcmode="lin" valueType="num">
                                      <p:cBhvr>
                                        <p:cTn id="146" dur="500" fill="hold"/>
                                        <p:tgtEl>
                                          <p:spTgt spid="167964"/>
                                        </p:tgtEl>
                                        <p:attrNameLst>
                                          <p:attrName>ppt_x</p:attrName>
                                        </p:attrNameLst>
                                      </p:cBhvr>
                                      <p:tavLst>
                                        <p:tav tm="0">
                                          <p:val>
                                            <p:strVal val="0-#ppt_w/2"/>
                                          </p:val>
                                        </p:tav>
                                        <p:tav tm="100000">
                                          <p:val>
                                            <p:strVal val="#ppt_x"/>
                                          </p:val>
                                        </p:tav>
                                      </p:tavLst>
                                    </p:anim>
                                    <p:anim calcmode="lin" valueType="num">
                                      <p:cBhvr>
                                        <p:cTn id="147" dur="500" fill="hold"/>
                                        <p:tgtEl>
                                          <p:spTgt spid="167964"/>
                                        </p:tgtEl>
                                        <p:attrNameLst>
                                          <p:attrName>ppt_y</p:attrName>
                                        </p:attrNameLst>
                                      </p:cBhvr>
                                      <p:tavLst>
                                        <p:tav tm="0">
                                          <p:val>
                                            <p:strVal val="#ppt_y"/>
                                          </p:val>
                                        </p:tav>
                                        <p:tav tm="100000">
                                          <p:val>
                                            <p:strVal val="#ppt_y"/>
                                          </p:val>
                                        </p:tav>
                                      </p:tavLst>
                                    </p:anim>
                                  </p:childTnLst>
                                </p:cTn>
                              </p:par>
                              <p:par>
                                <p:cTn id="148" presetID="2" presetClass="entr" presetSubtype="8" fill="hold" grpId="0" nodeType="withEffect">
                                  <p:stCondLst>
                                    <p:cond delay="0"/>
                                  </p:stCondLst>
                                  <p:childTnLst>
                                    <p:set>
                                      <p:cBhvr>
                                        <p:cTn id="149" dur="1" fill="hold">
                                          <p:stCondLst>
                                            <p:cond delay="0"/>
                                          </p:stCondLst>
                                        </p:cTn>
                                        <p:tgtEl>
                                          <p:spTgt spid="167966"/>
                                        </p:tgtEl>
                                        <p:attrNameLst>
                                          <p:attrName>style.visibility</p:attrName>
                                        </p:attrNameLst>
                                      </p:cBhvr>
                                      <p:to>
                                        <p:strVal val="visible"/>
                                      </p:to>
                                    </p:set>
                                    <p:anim calcmode="lin" valueType="num">
                                      <p:cBhvr>
                                        <p:cTn id="150" dur="500" fill="hold"/>
                                        <p:tgtEl>
                                          <p:spTgt spid="167966"/>
                                        </p:tgtEl>
                                        <p:attrNameLst>
                                          <p:attrName>ppt_x</p:attrName>
                                        </p:attrNameLst>
                                      </p:cBhvr>
                                      <p:tavLst>
                                        <p:tav tm="0">
                                          <p:val>
                                            <p:strVal val="0-#ppt_w/2"/>
                                          </p:val>
                                        </p:tav>
                                        <p:tav tm="100000">
                                          <p:val>
                                            <p:strVal val="#ppt_x"/>
                                          </p:val>
                                        </p:tav>
                                      </p:tavLst>
                                    </p:anim>
                                    <p:anim calcmode="lin" valueType="num">
                                      <p:cBhvr>
                                        <p:cTn id="151" dur="500" fill="hold"/>
                                        <p:tgtEl>
                                          <p:spTgt spid="1679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1" grpId="0" animBg="1"/>
      <p:bldP spid="167946" grpId="0"/>
      <p:bldP spid="167947" grpId="0"/>
      <p:bldP spid="167948" grpId="0" animBg="1"/>
      <p:bldP spid="167951" grpId="0"/>
      <p:bldP spid="167952" grpId="0" animBg="1"/>
      <p:bldP spid="167953" grpId="0"/>
      <p:bldP spid="167954" grpId="0"/>
      <p:bldP spid="167955" grpId="0"/>
      <p:bldP spid="167956" grpId="0"/>
      <p:bldP spid="167958" grpId="0"/>
      <p:bldP spid="167961" grpId="0"/>
      <p:bldP spid="167962" grpId="0" animBg="1"/>
      <p:bldP spid="167963" grpId="0" animBg="1"/>
      <p:bldP spid="167964" grpId="0" animBg="1"/>
      <p:bldP spid="167965" grpId="0" animBg="1"/>
      <p:bldP spid="167966" grpId="0"/>
      <p:bldP spid="167967"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3"/>
          <p:cNvSpPr txBox="1"/>
          <p:nvPr/>
        </p:nvSpPr>
        <p:spPr>
          <a:xfrm>
            <a:off x="755650" y="1457325"/>
            <a:ext cx="6624638" cy="5616575"/>
          </a:xfrm>
          <a:prstGeom prst="rect">
            <a:avLst/>
          </a:prstGeom>
          <a:noFill/>
          <a:ln w="9525">
            <a:noFill/>
          </a:ln>
        </p:spPr>
        <p:txBody>
          <a:bodyPr/>
          <a:p>
            <a:pPr marL="342900" indent="-342900" defTabSz="914400" eaLnBrk="0" hangingPunct="0">
              <a:lnSpc>
                <a:spcPct val="120000"/>
              </a:lnSpc>
              <a:spcBef>
                <a:spcPct val="20000"/>
              </a:spcBef>
              <a:buClr>
                <a:schemeClr val="hlink"/>
              </a:buClr>
              <a:buFont typeface="Wingdings" panose="05000000000000000000" pitchFamily="2" charset="2"/>
              <a:buChar char="l"/>
              <a:tabLst>
                <a:tab pos="1438275" algn="l"/>
                <a:tab pos="2863850" algn="l"/>
              </a:tabLst>
            </a:pPr>
            <a:r>
              <a:rPr lang="zh-CN" altLang="en-US" sz="2400" b="1" dirty="0">
                <a:latin typeface="宋体" panose="02010600030101010101" pitchFamily="2" charset="-122"/>
                <a:ea typeface="宋体" panose="02010600030101010101" pitchFamily="2" charset="-122"/>
              </a:rPr>
              <a:t>根据段内和段间、有无参数，分成</a:t>
            </a:r>
            <a:r>
              <a:rPr lang="en-US" altLang="zh-CN" sz="2400" b="1" dirty="0">
                <a:latin typeface="宋体" panose="02010600030101010101" pitchFamily="2" charset="-122"/>
                <a:ea typeface="宋体" panose="02010600030101010101" pitchFamily="2" charset="-122"/>
              </a:rPr>
              <a:t>4</a:t>
            </a:r>
            <a:r>
              <a:rPr lang="zh-CN" altLang="en-US" sz="2400" b="1" dirty="0">
                <a:latin typeface="宋体" panose="02010600030101010101" pitchFamily="2" charset="-122"/>
                <a:ea typeface="宋体" panose="02010600030101010101" pitchFamily="2" charset="-122"/>
              </a:rPr>
              <a:t>种类型</a:t>
            </a:r>
            <a:endParaRPr lang="zh-CN" altLang="en-US" sz="2400" b="1" dirty="0">
              <a:latin typeface="宋体" panose="02010600030101010101" pitchFamily="2" charset="-122"/>
              <a:ea typeface="宋体" panose="02010600030101010101" pitchFamily="2" charset="-122"/>
            </a:endParaRPr>
          </a:p>
          <a:p>
            <a:pPr marL="742950" lvl="1" indent="-285750" defTabSz="914400" eaLnBrk="0" hangingPunct="0">
              <a:lnSpc>
                <a:spcPct val="120000"/>
              </a:lnSpc>
              <a:spcBef>
                <a:spcPct val="20000"/>
              </a:spcBef>
              <a:buClr>
                <a:schemeClr val="hlink"/>
              </a:buClr>
              <a:buFont typeface="Wingdings" panose="05000000000000000000" pitchFamily="2" charset="2"/>
              <a:tabLst>
                <a:tab pos="1438275" algn="l"/>
                <a:tab pos="2863850" algn="l"/>
              </a:tabLst>
            </a:pPr>
            <a:r>
              <a:rPr lang="en-US" altLang="zh-CN" sz="2400" b="1" dirty="0">
                <a:solidFill>
                  <a:schemeClr val="tx2"/>
                </a:solidFill>
                <a:latin typeface="宋体" panose="02010600030101010101" pitchFamily="2" charset="-122"/>
                <a:ea typeface="宋体" panose="02010600030101010101" pitchFamily="2" charset="-122"/>
              </a:rPr>
              <a:t>RET</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；无参数段内返回</a:t>
            </a:r>
            <a:endParaRPr lang="zh-CN" altLang="en-US" sz="2400" b="1" dirty="0">
              <a:latin typeface="宋体" panose="02010600030101010101" pitchFamily="2" charset="-122"/>
              <a:ea typeface="宋体" panose="02010600030101010101" pitchFamily="2" charset="-122"/>
            </a:endParaRPr>
          </a:p>
          <a:p>
            <a:pPr marL="742950" lvl="1" indent="-285750" defTabSz="914400" eaLnBrk="0" hangingPunct="0">
              <a:lnSpc>
                <a:spcPct val="120000"/>
              </a:lnSpc>
              <a:spcBef>
                <a:spcPct val="20000"/>
              </a:spcBef>
              <a:buClr>
                <a:schemeClr val="hlink"/>
              </a:buClr>
              <a:buFont typeface="Wingdings" panose="05000000000000000000" pitchFamily="2" charset="2"/>
              <a:tabLst>
                <a:tab pos="1438275" algn="l"/>
                <a:tab pos="2863850" algn="l"/>
              </a:tabLst>
            </a:pPr>
            <a:r>
              <a:rPr lang="en-US" altLang="zh-CN" sz="2400" b="1" dirty="0">
                <a:solidFill>
                  <a:schemeClr val="tx2"/>
                </a:solidFill>
                <a:latin typeface="宋体" panose="02010600030101010101" pitchFamily="2" charset="-122"/>
                <a:ea typeface="宋体" panose="02010600030101010101" pitchFamily="2" charset="-122"/>
              </a:rPr>
              <a:t>RET i16</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；有参数段内返回</a:t>
            </a:r>
            <a:endParaRPr lang="zh-CN" altLang="en-US" sz="2400" b="1" dirty="0">
              <a:latin typeface="宋体" panose="02010600030101010101" pitchFamily="2" charset="-122"/>
              <a:ea typeface="宋体" panose="02010600030101010101" pitchFamily="2" charset="-122"/>
            </a:endParaRPr>
          </a:p>
          <a:p>
            <a:pPr marL="742950" lvl="1" indent="-285750" defTabSz="914400" eaLnBrk="0" hangingPunct="0">
              <a:lnSpc>
                <a:spcPct val="120000"/>
              </a:lnSpc>
              <a:spcBef>
                <a:spcPct val="20000"/>
              </a:spcBef>
              <a:buClr>
                <a:schemeClr val="hlink"/>
              </a:buClr>
              <a:buFont typeface="Wingdings" panose="05000000000000000000" pitchFamily="2" charset="2"/>
              <a:tabLst>
                <a:tab pos="1438275" algn="l"/>
                <a:tab pos="2863850" algn="l"/>
              </a:tabLst>
            </a:pPr>
            <a:r>
              <a:rPr lang="en-US" altLang="zh-CN" sz="2400" b="1" dirty="0">
                <a:solidFill>
                  <a:schemeClr val="tx2"/>
                </a:solidFill>
                <a:latin typeface="宋体" panose="02010600030101010101" pitchFamily="2" charset="-122"/>
                <a:ea typeface="宋体" panose="02010600030101010101" pitchFamily="2" charset="-122"/>
              </a:rPr>
              <a:t>RETF</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；无参数段间返回</a:t>
            </a:r>
            <a:endParaRPr lang="zh-CN" altLang="en-US" sz="2400" b="1" dirty="0">
              <a:latin typeface="宋体" panose="02010600030101010101" pitchFamily="2" charset="-122"/>
              <a:ea typeface="宋体" panose="02010600030101010101" pitchFamily="2" charset="-122"/>
            </a:endParaRPr>
          </a:p>
          <a:p>
            <a:pPr marL="742950" lvl="1" indent="-285750" defTabSz="914400" eaLnBrk="0" hangingPunct="0">
              <a:lnSpc>
                <a:spcPct val="120000"/>
              </a:lnSpc>
              <a:spcBef>
                <a:spcPct val="20000"/>
              </a:spcBef>
              <a:buClr>
                <a:schemeClr val="hlink"/>
              </a:buClr>
              <a:buFont typeface="Wingdings" panose="05000000000000000000" pitchFamily="2" charset="2"/>
              <a:tabLst>
                <a:tab pos="1438275" algn="l"/>
                <a:tab pos="2863850" algn="l"/>
              </a:tabLst>
            </a:pPr>
            <a:r>
              <a:rPr lang="en-US" altLang="zh-CN" sz="2400" b="1" dirty="0">
                <a:solidFill>
                  <a:schemeClr val="tx2"/>
                </a:solidFill>
                <a:latin typeface="宋体" panose="02010600030101010101" pitchFamily="2" charset="-122"/>
                <a:ea typeface="宋体" panose="02010600030101010101" pitchFamily="2" charset="-122"/>
              </a:rPr>
              <a:t>RETF i16</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；有参数段间返回</a:t>
            </a:r>
            <a:endParaRPr lang="zh-CN" altLang="en-US" sz="2400" b="1" dirty="0">
              <a:latin typeface="宋体" panose="02010600030101010101" pitchFamily="2" charset="-122"/>
              <a:ea typeface="宋体" panose="02010600030101010101" pitchFamily="2" charset="-122"/>
            </a:endParaRPr>
          </a:p>
          <a:p>
            <a:pPr marL="342900" indent="-342900" defTabSz="914400" eaLnBrk="0" hangingPunct="0">
              <a:lnSpc>
                <a:spcPct val="120000"/>
              </a:lnSpc>
              <a:spcBef>
                <a:spcPct val="20000"/>
              </a:spcBef>
              <a:buClr>
                <a:schemeClr val="hlink"/>
              </a:buClr>
              <a:buFont typeface="Wingdings" panose="05000000000000000000" pitchFamily="2" charset="2"/>
              <a:buChar char="l"/>
              <a:tabLst>
                <a:tab pos="1438275" algn="l"/>
                <a:tab pos="2863850" algn="l"/>
              </a:tabLst>
            </a:pPr>
            <a:r>
              <a:rPr lang="zh-CN" altLang="en-US" sz="2400" b="1" dirty="0">
                <a:latin typeface="宋体" panose="02010600030101010101" pitchFamily="2" charset="-122"/>
                <a:ea typeface="宋体" panose="02010600030101010101" pitchFamily="2" charset="-122"/>
              </a:rPr>
              <a:t>需要弹出</a:t>
            </a:r>
            <a:r>
              <a:rPr lang="en-US" altLang="zh-CN" sz="2400" b="1" dirty="0">
                <a:latin typeface="宋体" panose="02010600030101010101" pitchFamily="2" charset="-122"/>
                <a:ea typeface="宋体" panose="02010600030101010101" pitchFamily="2" charset="-122"/>
              </a:rPr>
              <a:t>CALL</a:t>
            </a:r>
            <a:r>
              <a:rPr lang="zh-CN" altLang="en-US" sz="2400" b="1" dirty="0">
                <a:latin typeface="宋体" panose="02010600030101010101" pitchFamily="2" charset="-122"/>
                <a:ea typeface="宋体" panose="02010600030101010101" pitchFamily="2" charset="-122"/>
              </a:rPr>
              <a:t>指令压入堆栈的返回地址</a:t>
            </a:r>
            <a:endParaRPr lang="zh-CN" altLang="en-US" sz="2400" b="1" dirty="0">
              <a:latin typeface="宋体" panose="02010600030101010101" pitchFamily="2" charset="-122"/>
              <a:ea typeface="宋体" panose="02010600030101010101" pitchFamily="2" charset="-122"/>
            </a:endParaRPr>
          </a:p>
          <a:p>
            <a:pPr marL="742950" lvl="1" indent="-285750" defTabSz="914400" eaLnBrk="0" hangingPunct="0">
              <a:lnSpc>
                <a:spcPct val="120000"/>
              </a:lnSpc>
              <a:spcBef>
                <a:spcPct val="20000"/>
              </a:spcBef>
              <a:buClr>
                <a:schemeClr val="hlink"/>
              </a:buClr>
              <a:buFont typeface="Wingdings" panose="05000000000000000000" pitchFamily="2" charset="2"/>
              <a:buChar char="§"/>
              <a:tabLst>
                <a:tab pos="1438275" algn="l"/>
                <a:tab pos="2863850" algn="l"/>
              </a:tabLst>
            </a:pPr>
            <a:r>
              <a:rPr lang="zh-CN" altLang="en-US" sz="2400" b="1" dirty="0">
                <a:solidFill>
                  <a:schemeClr val="accent2"/>
                </a:solidFill>
                <a:latin typeface="宋体" panose="02010600030101010101" pitchFamily="2" charset="-122"/>
                <a:ea typeface="宋体" panose="02010600030101010101" pitchFamily="2" charset="-122"/>
              </a:rPr>
              <a:t>段内返回</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出栈偏移地址</a:t>
            </a:r>
            <a:r>
              <a:rPr lang="en-US" altLang="zh-CN" sz="2400" b="1" dirty="0">
                <a:latin typeface="宋体" panose="02010600030101010101" pitchFamily="2" charset="-122"/>
                <a:ea typeface="宋体" panose="02010600030101010101" pitchFamily="2" charset="-122"/>
              </a:rPr>
              <a:t>IP</a:t>
            </a:r>
            <a:endParaRPr lang="en-US" altLang="zh-CN" sz="2400" b="1" dirty="0">
              <a:latin typeface="宋体" panose="02010600030101010101" pitchFamily="2" charset="-122"/>
              <a:ea typeface="宋体" panose="02010600030101010101" pitchFamily="2" charset="-122"/>
            </a:endParaRPr>
          </a:p>
          <a:p>
            <a:pPr marL="742950" lvl="1" indent="-285750" defTabSz="914400" eaLnBrk="0" hangingPunct="0">
              <a:lnSpc>
                <a:spcPct val="120000"/>
              </a:lnSpc>
              <a:buClr>
                <a:schemeClr val="hlink"/>
              </a:buClr>
              <a:buFont typeface="Wingdings" panose="05000000000000000000" pitchFamily="2" charset="2"/>
              <a:tabLst>
                <a:tab pos="1438275" algn="l"/>
                <a:tab pos="2863850" algn="l"/>
              </a:tabLst>
            </a:pPr>
            <a:r>
              <a:rPr lang="en-US" altLang="zh-CN" sz="2400" b="1" dirty="0">
                <a:latin typeface="宋体" panose="02010600030101010101" pitchFamily="2" charset="-122"/>
                <a:ea typeface="宋体" panose="02010600030101010101" pitchFamily="2" charset="-122"/>
              </a:rPr>
              <a:t>		IP←SS:[SP]</a:t>
            </a: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SP←SP</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POP IP</a:t>
            </a:r>
            <a:endParaRPr lang="en-US" altLang="zh-CN" sz="2400" b="1" dirty="0">
              <a:latin typeface="宋体" panose="02010600030101010101" pitchFamily="2" charset="-122"/>
              <a:ea typeface="宋体" panose="02010600030101010101" pitchFamily="2" charset="-122"/>
            </a:endParaRPr>
          </a:p>
          <a:p>
            <a:pPr marL="742950" lvl="1" indent="-285750" defTabSz="914400" eaLnBrk="0" hangingPunct="0">
              <a:lnSpc>
                <a:spcPct val="120000"/>
              </a:lnSpc>
              <a:spcBef>
                <a:spcPct val="20000"/>
              </a:spcBef>
              <a:buClr>
                <a:schemeClr val="hlink"/>
              </a:buClr>
              <a:buFont typeface="Wingdings" panose="05000000000000000000" pitchFamily="2" charset="2"/>
              <a:buChar char="§"/>
              <a:tabLst>
                <a:tab pos="1438275" algn="l"/>
                <a:tab pos="2863850" algn="l"/>
              </a:tabLst>
            </a:pPr>
            <a:r>
              <a:rPr lang="zh-CN" altLang="en-US" sz="2400" b="1" dirty="0">
                <a:solidFill>
                  <a:schemeClr val="accent2"/>
                </a:solidFill>
                <a:latin typeface="宋体" panose="02010600030101010101" pitchFamily="2" charset="-122"/>
                <a:ea typeface="宋体" panose="02010600030101010101" pitchFamily="2" charset="-122"/>
              </a:rPr>
              <a:t>段间返回</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出栈偏移地址</a:t>
            </a:r>
            <a:r>
              <a:rPr lang="en-US" altLang="zh-CN" sz="2400" b="1" dirty="0">
                <a:latin typeface="宋体" panose="02010600030101010101" pitchFamily="2" charset="-122"/>
                <a:ea typeface="宋体" panose="02010600030101010101" pitchFamily="2" charset="-122"/>
              </a:rPr>
              <a:t>IP</a:t>
            </a:r>
            <a:r>
              <a:rPr lang="zh-CN" altLang="en-US" sz="2400" b="1" dirty="0">
                <a:latin typeface="宋体" panose="02010600030101010101" pitchFamily="2" charset="-122"/>
                <a:ea typeface="宋体" panose="02010600030101010101" pitchFamily="2" charset="-122"/>
              </a:rPr>
              <a:t>和段地址</a:t>
            </a:r>
            <a:r>
              <a:rPr lang="en-US" altLang="zh-CN" sz="2400" b="1" dirty="0">
                <a:latin typeface="宋体" panose="02010600030101010101" pitchFamily="2" charset="-122"/>
                <a:ea typeface="宋体" panose="02010600030101010101" pitchFamily="2" charset="-122"/>
              </a:rPr>
              <a:t>CS</a:t>
            </a:r>
            <a:endParaRPr lang="en-US" altLang="zh-CN" sz="2400" b="1" dirty="0">
              <a:latin typeface="宋体" panose="02010600030101010101" pitchFamily="2" charset="-122"/>
              <a:ea typeface="宋体" panose="02010600030101010101" pitchFamily="2" charset="-122"/>
            </a:endParaRPr>
          </a:p>
          <a:p>
            <a:pPr marL="742950" lvl="1" indent="-285750" defTabSz="914400" eaLnBrk="0" hangingPunct="0">
              <a:lnSpc>
                <a:spcPct val="120000"/>
              </a:lnSpc>
              <a:buClr>
                <a:schemeClr val="hlink"/>
              </a:buClr>
              <a:buFont typeface="Wingdings" panose="05000000000000000000" pitchFamily="2" charset="2"/>
              <a:tabLst>
                <a:tab pos="1438275" algn="l"/>
                <a:tab pos="2863850" algn="l"/>
              </a:tabLst>
            </a:pPr>
            <a:r>
              <a:rPr lang="en-US" altLang="zh-CN" sz="2400" b="1" dirty="0">
                <a:latin typeface="宋体" panose="02010600030101010101" pitchFamily="2" charset="-122"/>
                <a:ea typeface="宋体" panose="02010600030101010101" pitchFamily="2" charset="-122"/>
              </a:rPr>
              <a:t>		IP←SS:[SP]</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SP←SP</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 </a:t>
            </a:r>
            <a:r>
              <a:rPr lang="en-US" altLang="zh-CN" sz="2400" b="1" dirty="0">
                <a:latin typeface="宋体" panose="02010600030101010101" pitchFamily="2" charset="-122"/>
                <a:ea typeface="宋体" panose="02010600030101010101" pitchFamily="2" charset="-122"/>
              </a:rPr>
              <a:t>POP IP</a:t>
            </a:r>
            <a:endParaRPr lang="en-US" altLang="zh-CN" sz="2400" b="1" dirty="0">
              <a:latin typeface="宋体" panose="02010600030101010101" pitchFamily="2" charset="-122"/>
              <a:ea typeface="宋体" panose="02010600030101010101" pitchFamily="2" charset="-122"/>
            </a:endParaRPr>
          </a:p>
          <a:p>
            <a:pPr marL="742950" lvl="1" indent="-285750" defTabSz="914400" eaLnBrk="0" hangingPunct="0">
              <a:lnSpc>
                <a:spcPct val="120000"/>
              </a:lnSpc>
              <a:buClr>
                <a:schemeClr val="hlink"/>
              </a:buClr>
              <a:buFont typeface="Wingdings" panose="05000000000000000000" pitchFamily="2" charset="2"/>
              <a:tabLst>
                <a:tab pos="1438275" algn="l"/>
                <a:tab pos="2863850" algn="l"/>
              </a:tabLst>
            </a:pPr>
            <a:r>
              <a:rPr lang="en-US" altLang="zh-CN" sz="2400" b="1" dirty="0">
                <a:latin typeface="宋体" panose="02010600030101010101" pitchFamily="2" charset="-122"/>
                <a:ea typeface="宋体" panose="02010600030101010101" pitchFamily="2" charset="-122"/>
              </a:rPr>
              <a:t>		CS←SS:[SP]</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SP←SP</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2;  POP CS</a:t>
            </a:r>
            <a:endParaRPr lang="en-US" altLang="zh-CN" sz="2400" b="1" dirty="0">
              <a:latin typeface="宋体" panose="02010600030101010101" pitchFamily="2" charset="-122"/>
              <a:ea typeface="宋体" panose="02010600030101010101" pitchFamily="2" charset="-122"/>
            </a:endParaRPr>
          </a:p>
        </p:txBody>
      </p:sp>
      <p:sp>
        <p:nvSpPr>
          <p:cNvPr id="172035" name="AutoShape 4" descr="之字形"/>
          <p:cNvSpPr/>
          <p:nvPr/>
        </p:nvSpPr>
        <p:spPr>
          <a:xfrm>
            <a:off x="6835775" y="2228850"/>
            <a:ext cx="1833563" cy="936625"/>
          </a:xfrm>
          <a:prstGeom prst="wedgeRectCallout">
            <a:avLst>
              <a:gd name="adj1" fmla="val -83190"/>
              <a:gd name="adj2" fmla="val 5032"/>
            </a:avLst>
          </a:prstGeom>
          <a:pattFill prst="zigZag">
            <a:fgClr>
              <a:schemeClr val="accent1"/>
            </a:fgClr>
            <a:bgClr>
              <a:srgbClr val="FFFFFF"/>
            </a:bgClr>
          </a:pattFill>
          <a:ln w="12700" cap="sq" cmpd="sng">
            <a:solidFill>
              <a:schemeClr val="tx1"/>
            </a:solidFill>
            <a:prstDash val="solid"/>
            <a:miter/>
            <a:headEnd type="none" w="sm" len="sm"/>
            <a:tailEnd type="none" w="sm" len="sm"/>
          </a:ln>
        </p:spPr>
        <p:txBody>
          <a:bodyPr wrap="none" anchor="ctr" anchorCtr="0"/>
          <a:p>
            <a:pPr eaLnBrk="0" hangingPunct="0">
              <a:buFont typeface="Wingdings" panose="05000000000000000000" pitchFamily="2" charset="2"/>
            </a:pPr>
            <a:r>
              <a:rPr lang="en-US" altLang="zh-CN" sz="2400" b="1" dirty="0">
                <a:solidFill>
                  <a:schemeClr val="tx2"/>
                </a:solidFill>
                <a:latin typeface="Times New Roman" panose="02020603050405020304" pitchFamily="18" charset="0"/>
                <a:ea typeface="宋体" panose="02010600030101010101" pitchFamily="2" charset="-122"/>
              </a:rPr>
              <a:t>POP  IP</a:t>
            </a:r>
            <a:endParaRPr lang="en-US" altLang="zh-CN" sz="2400" b="1" dirty="0">
              <a:solidFill>
                <a:schemeClr val="tx2"/>
              </a:solidFill>
              <a:latin typeface="Times New Roman" panose="02020603050405020304" pitchFamily="18" charset="0"/>
              <a:ea typeface="宋体" panose="02010600030101010101" pitchFamily="2" charset="-122"/>
            </a:endParaRPr>
          </a:p>
          <a:p>
            <a:pPr eaLnBrk="0" hangingPunct="0">
              <a:buFont typeface="Wingdings" panose="05000000000000000000" pitchFamily="2" charset="2"/>
            </a:pPr>
            <a:r>
              <a:rPr lang="en-US" altLang="zh-CN" sz="2400" b="1" dirty="0">
                <a:solidFill>
                  <a:schemeClr val="tx2"/>
                </a:solidFill>
                <a:latin typeface="Times New Roman" panose="02020603050405020304" pitchFamily="18" charset="0"/>
                <a:ea typeface="宋体" panose="02010600030101010101" pitchFamily="2" charset="-122"/>
              </a:rPr>
              <a:t>SP=SP+i16</a:t>
            </a:r>
            <a:endParaRPr lang="en-US" altLang="zh-CN" sz="2400" b="1" dirty="0">
              <a:solidFill>
                <a:schemeClr val="tx2"/>
              </a:solidFill>
              <a:latin typeface="Times New Roman" panose="02020603050405020304" pitchFamily="18" charset="0"/>
              <a:ea typeface="宋体" panose="02010600030101010101" pitchFamily="2" charset="-122"/>
            </a:endParaRPr>
          </a:p>
        </p:txBody>
      </p:sp>
      <p:sp>
        <p:nvSpPr>
          <p:cNvPr id="172036" name="Rectangle 2"/>
          <p:cNvSpPr txBox="1"/>
          <p:nvPr/>
        </p:nvSpPr>
        <p:spPr>
          <a:xfrm>
            <a:off x="468313" y="806450"/>
            <a:ext cx="2808287" cy="563563"/>
          </a:xfrm>
          <a:prstGeom prst="rect">
            <a:avLst/>
          </a:prstGeom>
          <a:noFill/>
          <a:ln w="9525">
            <a:noFill/>
          </a:ln>
        </p:spPr>
        <p:txBody>
          <a:bodyPr anchor="ctr" anchorCtr="0"/>
          <a:p>
            <a:pPr>
              <a:buFont typeface="Wingdings" panose="05000000000000000000" pitchFamily="2" charset="2"/>
            </a:pPr>
            <a:r>
              <a:rPr lang="zh-CN" altLang="en-US" sz="2800" b="1" dirty="0">
                <a:solidFill>
                  <a:srgbClr val="000033"/>
                </a:solidFill>
                <a:latin typeface="宋体" panose="02010600030101010101" pitchFamily="2" charset="-122"/>
                <a:ea typeface="宋体" panose="02010600030101010101" pitchFamily="2" charset="-122"/>
              </a:rPr>
              <a:t>（</a:t>
            </a:r>
            <a:r>
              <a:rPr lang="en-US" altLang="zh-CN" sz="2800" b="1" dirty="0">
                <a:solidFill>
                  <a:srgbClr val="000033"/>
                </a:solidFill>
                <a:latin typeface="宋体" panose="02010600030101010101" pitchFamily="2" charset="-122"/>
                <a:ea typeface="宋体" panose="02010600030101010101" pitchFamily="2" charset="-122"/>
              </a:rPr>
              <a:t>3</a:t>
            </a:r>
            <a:r>
              <a:rPr lang="zh-CN" altLang="en-US" sz="2800" b="1" dirty="0">
                <a:solidFill>
                  <a:srgbClr val="000033"/>
                </a:solidFill>
                <a:latin typeface="宋体" panose="02010600030101010101" pitchFamily="2" charset="-122"/>
                <a:ea typeface="宋体" panose="02010600030101010101" pitchFamily="2" charset="-122"/>
              </a:rPr>
              <a:t>）返回指令</a:t>
            </a:r>
            <a:endParaRPr lang="zh-CN" altLang="en-US" sz="2800" b="1" dirty="0">
              <a:solidFill>
                <a:srgbClr val="000033"/>
              </a:solidFill>
              <a:latin typeface="宋体" panose="02010600030101010101" pitchFamily="2" charset="-122"/>
              <a:ea typeface="宋体" panose="02010600030101010101" pitchFamily="2" charset="-122"/>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7"/>
          <p:cNvSpPr/>
          <p:nvPr/>
        </p:nvSpPr>
        <p:spPr>
          <a:xfrm>
            <a:off x="5175250" y="6392863"/>
            <a:ext cx="3276600" cy="336550"/>
          </a:xfrm>
          <a:prstGeom prst="rect">
            <a:avLst/>
          </a:prstGeom>
          <a:solidFill>
            <a:schemeClr val="bg1"/>
          </a:solidFill>
          <a:ln w="9525">
            <a:noFill/>
          </a:ln>
        </p:spPr>
        <p:txBody>
          <a:bodyPr wrap="none" anchor="ctr" anchorCtr="0"/>
          <a:p>
            <a:pPr eaLnBrk="0" hangingPunct="0">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173059" name="AutoShape 8"/>
          <p:cNvSpPr/>
          <p:nvPr/>
        </p:nvSpPr>
        <p:spPr>
          <a:xfrm>
            <a:off x="571500" y="1125538"/>
            <a:ext cx="2632075" cy="457200"/>
          </a:xfrm>
          <a:prstGeom prst="flowChartAlternateProcess">
            <a:avLst/>
          </a:prstGeom>
          <a:noFill/>
          <a:ln w="28575">
            <a:noFill/>
          </a:ln>
        </p:spPr>
        <p:txBody>
          <a:bodyPr/>
          <a:p>
            <a:pPr eaLnBrk="0" hangingPunct="0">
              <a:lnSpc>
                <a:spcPct val="90000"/>
              </a:lnSpc>
              <a:buFont typeface="Wingdings" panose="05000000000000000000" pitchFamily="2" charset="2"/>
            </a:pP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例</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子程序</a:t>
            </a:r>
            <a:endParaRPr lang="zh-CN" altLang="en-US" sz="2800" b="1" dirty="0">
              <a:latin typeface="宋体" panose="02010600030101010101" pitchFamily="2" charset="-122"/>
              <a:ea typeface="宋体" panose="02010600030101010101" pitchFamily="2" charset="-122"/>
            </a:endParaRPr>
          </a:p>
        </p:txBody>
      </p:sp>
      <p:sp>
        <p:nvSpPr>
          <p:cNvPr id="173060" name="Rectangle 9"/>
          <p:cNvSpPr txBox="1"/>
          <p:nvPr/>
        </p:nvSpPr>
        <p:spPr>
          <a:xfrm>
            <a:off x="788988" y="1938338"/>
            <a:ext cx="7696200" cy="4648200"/>
          </a:xfrm>
          <a:prstGeom prst="rect">
            <a:avLst/>
          </a:prstGeom>
          <a:solidFill>
            <a:schemeClr val="bg1"/>
          </a:solidFill>
          <a:ln w="9525">
            <a:noFill/>
          </a:ln>
        </p:spPr>
        <p:txBody>
          <a:bodyPr/>
          <a:p>
            <a:pPr defTabSz="914400" eaLnBrk="0" hangingPunct="0">
              <a:lnSpc>
                <a:spcPct val="80000"/>
              </a:lnSpc>
              <a:spcBef>
                <a:spcPct val="20000"/>
              </a:spcBef>
              <a:buClr>
                <a:schemeClr val="hlink"/>
              </a:buClr>
              <a:buFont typeface="Wingdings" panose="05000000000000000000" pitchFamily="2" charset="2"/>
              <a:tabLst>
                <a:tab pos="1336675" algn="l"/>
                <a:tab pos="3425825" algn="l"/>
              </a:tabLst>
            </a:pPr>
            <a:r>
              <a:rPr lang="zh-CN" altLang="en-US" sz="2400" b="1" dirty="0">
                <a:solidFill>
                  <a:schemeClr val="tx2"/>
                </a:solidFill>
                <a:latin typeface="宋体" panose="02010600030101010101" pitchFamily="2" charset="-122"/>
                <a:ea typeface="宋体" panose="02010600030101010101" pitchFamily="2" charset="-122"/>
              </a:rPr>
              <a:t>；主程序</a:t>
            </a:r>
            <a:endParaRPr lang="zh-CN" altLang="en-US" sz="2400" b="1" dirty="0">
              <a:solidFill>
                <a:schemeClr val="tx2"/>
              </a:solidFill>
              <a:latin typeface="宋体" panose="02010600030101010101" pitchFamily="2" charset="-122"/>
              <a:ea typeface="宋体" panose="02010600030101010101" pitchFamily="2" charset="-122"/>
            </a:endParaRPr>
          </a:p>
          <a:p>
            <a:pPr defTabSz="914400" eaLnBrk="0" hangingPunct="0">
              <a:lnSpc>
                <a:spcPct val="50000"/>
              </a:lnSpc>
              <a:spcBef>
                <a:spcPct val="20000"/>
              </a:spcBef>
              <a:buClr>
                <a:schemeClr val="hlink"/>
              </a:buClr>
              <a:buFont typeface="Wingdings" panose="05000000000000000000" pitchFamily="2" charset="2"/>
              <a:tabLst>
                <a:tab pos="1336675" algn="l"/>
                <a:tab pos="3425825" algn="l"/>
              </a:tabLst>
            </a:pPr>
            <a:r>
              <a:rPr lang="zh-CN" altLang="en-US" sz="2400" b="1" dirty="0">
                <a:solidFill>
                  <a:schemeClr val="accent2"/>
                </a:solidFill>
                <a:latin typeface="宋体" panose="02010600030101010101" pitchFamily="2" charset="-122"/>
                <a:ea typeface="宋体" panose="02010600030101010101" pitchFamily="2" charset="-122"/>
              </a:rPr>
              <a:t>	</a:t>
            </a:r>
            <a:r>
              <a:rPr lang="en-US" altLang="zh-CN" sz="2400" b="1" dirty="0">
                <a:solidFill>
                  <a:schemeClr val="accent2"/>
                </a:solidFill>
                <a:latin typeface="宋体" panose="02010600030101010101" pitchFamily="2" charset="-122"/>
                <a:ea typeface="宋体" panose="02010600030101010101" pitchFamily="2" charset="-122"/>
              </a:rPr>
              <a:t>mov al,0fh	</a:t>
            </a:r>
            <a:r>
              <a:rPr lang="zh-CN" altLang="en-US" sz="2400" b="1" dirty="0">
                <a:latin typeface="宋体" panose="02010600030101010101" pitchFamily="2" charset="-122"/>
                <a:ea typeface="宋体" panose="02010600030101010101" pitchFamily="2" charset="-122"/>
              </a:rPr>
              <a:t>；提供参数</a:t>
            </a:r>
            <a:r>
              <a:rPr lang="en-US" altLang="zh-CN" sz="2400" b="1" dirty="0">
                <a:latin typeface="宋体" panose="02010600030101010101" pitchFamily="2" charset="-122"/>
                <a:ea typeface="宋体" panose="02010600030101010101" pitchFamily="2" charset="-122"/>
              </a:rPr>
              <a:t>AL</a:t>
            </a:r>
            <a:endParaRPr lang="en-US" altLang="zh-CN" sz="2400" b="1" dirty="0">
              <a:latin typeface="宋体" panose="02010600030101010101" pitchFamily="2" charset="-122"/>
              <a:ea typeface="宋体" panose="02010600030101010101" pitchFamily="2" charset="-122"/>
            </a:endParaRPr>
          </a:p>
          <a:p>
            <a:pPr defTabSz="914400" eaLnBrk="0" hangingPunct="0">
              <a:lnSpc>
                <a:spcPct val="90000"/>
              </a:lnSpc>
              <a:spcBef>
                <a:spcPct val="20000"/>
              </a:spcBef>
              <a:buClr>
                <a:schemeClr val="hlink"/>
              </a:buClr>
              <a:buFont typeface="Wingdings" panose="05000000000000000000" pitchFamily="2" charset="2"/>
              <a:tabLst>
                <a:tab pos="1336675" algn="l"/>
                <a:tab pos="3425825" algn="l"/>
              </a:tabLst>
            </a:pPr>
            <a:r>
              <a:rPr lang="en-US" altLang="zh-CN" sz="2400" b="1" dirty="0">
                <a:solidFill>
                  <a:schemeClr val="accent2"/>
                </a:solidFill>
                <a:latin typeface="宋体" panose="02010600030101010101" pitchFamily="2" charset="-122"/>
                <a:ea typeface="宋体" panose="02010600030101010101" pitchFamily="2" charset="-122"/>
              </a:rPr>
              <a:t>	</a:t>
            </a:r>
            <a:r>
              <a:rPr lang="en-US" altLang="zh-CN" sz="2400" b="1" dirty="0">
                <a:solidFill>
                  <a:schemeClr val="tx2"/>
                </a:solidFill>
                <a:latin typeface="宋体" panose="02010600030101010101" pitchFamily="2" charset="-122"/>
                <a:ea typeface="宋体" panose="02010600030101010101" pitchFamily="2" charset="-122"/>
              </a:rPr>
              <a:t>call</a:t>
            </a:r>
            <a:r>
              <a:rPr lang="en-US" altLang="zh-CN" sz="2400" b="1" dirty="0">
                <a:solidFill>
                  <a:schemeClr val="accent2"/>
                </a:solidFill>
                <a:latin typeface="宋体" panose="02010600030101010101" pitchFamily="2" charset="-122"/>
                <a:ea typeface="宋体" panose="02010600030101010101" pitchFamily="2" charset="-122"/>
              </a:rPr>
              <a:t> htoasc	</a:t>
            </a:r>
            <a:r>
              <a:rPr lang="zh-CN" altLang="en-US" sz="2400" b="1" dirty="0">
                <a:latin typeface="宋体" panose="02010600030101010101" pitchFamily="2" charset="-122"/>
                <a:ea typeface="宋体" panose="02010600030101010101" pitchFamily="2" charset="-122"/>
              </a:rPr>
              <a:t>；调用子程序</a:t>
            </a:r>
            <a:endParaRPr lang="zh-CN" altLang="en-US" sz="2400" b="1" dirty="0">
              <a:latin typeface="宋体" panose="02010600030101010101" pitchFamily="2" charset="-122"/>
              <a:ea typeface="宋体" panose="02010600030101010101" pitchFamily="2" charset="-122"/>
            </a:endParaRPr>
          </a:p>
          <a:p>
            <a:pPr defTabSz="914400" eaLnBrk="0" hangingPunct="0">
              <a:lnSpc>
                <a:spcPct val="60000"/>
              </a:lnSpc>
              <a:spcBef>
                <a:spcPct val="20000"/>
              </a:spcBef>
              <a:buClr>
                <a:schemeClr val="hlink"/>
              </a:buClr>
              <a:buFont typeface="Wingdings" panose="05000000000000000000" pitchFamily="2" charset="2"/>
              <a:tabLst>
                <a:tab pos="1336675" algn="l"/>
                <a:tab pos="3425825" algn="l"/>
              </a:tabLst>
            </a:pPr>
            <a:r>
              <a:rPr lang="zh-CN" altLang="en-US" sz="2400" b="1" dirty="0">
                <a:solidFill>
                  <a:schemeClr val="accent2"/>
                </a:solidFill>
                <a:latin typeface="宋体" panose="02010600030101010101" pitchFamily="2" charset="-122"/>
                <a:ea typeface="宋体" panose="02010600030101010101" pitchFamily="2" charset="-122"/>
              </a:rPr>
              <a:t>	</a:t>
            </a:r>
            <a:r>
              <a:rPr lang="en-US" altLang="zh-CN" sz="2400" b="1" dirty="0">
                <a:solidFill>
                  <a:schemeClr val="accent2"/>
                </a:solidFill>
                <a:latin typeface="宋体" panose="02010600030101010101" pitchFamily="2" charset="-122"/>
                <a:ea typeface="宋体" panose="02010600030101010101" pitchFamily="2" charset="-122"/>
              </a:rPr>
              <a:t>...</a:t>
            </a:r>
            <a:endParaRPr lang="en-US" altLang="zh-CN" sz="2400" b="1" dirty="0">
              <a:solidFill>
                <a:schemeClr val="accent2"/>
              </a:solidFill>
              <a:latin typeface="宋体" panose="02010600030101010101" pitchFamily="2" charset="-122"/>
              <a:ea typeface="宋体" panose="02010600030101010101" pitchFamily="2" charset="-122"/>
            </a:endParaRPr>
          </a:p>
          <a:p>
            <a:pPr defTabSz="914400" eaLnBrk="0" hangingPunct="0">
              <a:lnSpc>
                <a:spcPct val="80000"/>
              </a:lnSpc>
              <a:spcBef>
                <a:spcPct val="20000"/>
              </a:spcBef>
              <a:buClr>
                <a:schemeClr val="hlink"/>
              </a:buClr>
              <a:buFont typeface="Wingdings" panose="05000000000000000000" pitchFamily="2" charset="2"/>
              <a:tabLst>
                <a:tab pos="1336675" algn="l"/>
                <a:tab pos="3425825" algn="l"/>
              </a:tabLst>
            </a:pPr>
            <a:r>
              <a:rPr lang="zh-CN" altLang="en-US" sz="2400" b="1" dirty="0">
                <a:solidFill>
                  <a:schemeClr val="tx2"/>
                </a:solidFill>
                <a:latin typeface="宋体" panose="02010600030101010101" pitchFamily="2" charset="-122"/>
                <a:ea typeface="宋体" panose="02010600030101010101" pitchFamily="2" charset="-122"/>
              </a:rPr>
              <a:t>；子程序</a:t>
            </a:r>
            <a:r>
              <a:rPr lang="zh-CN" altLang="en-US" sz="2400" b="1" dirty="0">
                <a:latin typeface="宋体" panose="02010600030101010101" pitchFamily="2" charset="-122"/>
                <a:ea typeface="宋体" panose="02010600030101010101" pitchFamily="2" charset="-122"/>
              </a:rPr>
              <a:t>：将</a:t>
            </a:r>
            <a:r>
              <a:rPr lang="en-US" altLang="zh-CN" sz="2400" b="1" dirty="0">
                <a:latin typeface="宋体" panose="02010600030101010101" pitchFamily="2" charset="-122"/>
                <a:ea typeface="宋体" panose="02010600030101010101" pitchFamily="2" charset="-122"/>
              </a:rPr>
              <a:t>AL</a:t>
            </a:r>
            <a:r>
              <a:rPr lang="zh-CN" altLang="en-US" sz="2400" b="1" dirty="0">
                <a:latin typeface="宋体" panose="02010600030101010101" pitchFamily="2" charset="-122"/>
                <a:ea typeface="宋体" panose="02010600030101010101" pitchFamily="2" charset="-122"/>
              </a:rPr>
              <a:t>低</a:t>
            </a:r>
            <a:r>
              <a:rPr lang="en-US" altLang="zh-CN" sz="2400" b="1" dirty="0">
                <a:latin typeface="宋体" panose="02010600030101010101" pitchFamily="2" charset="-122"/>
                <a:ea typeface="宋体" panose="02010600030101010101" pitchFamily="2" charset="-122"/>
              </a:rPr>
              <a:t>4</a:t>
            </a:r>
            <a:r>
              <a:rPr lang="zh-CN" altLang="en-US" sz="2400" b="1" dirty="0">
                <a:latin typeface="宋体" panose="02010600030101010101" pitchFamily="2" charset="-122"/>
                <a:ea typeface="宋体" panose="02010600030101010101" pitchFamily="2" charset="-122"/>
              </a:rPr>
              <a:t>位的一位</a:t>
            </a:r>
            <a:r>
              <a:rPr lang="en-US" altLang="zh-CN" sz="2400" b="1" dirty="0">
                <a:latin typeface="宋体" panose="02010600030101010101" pitchFamily="2" charset="-122"/>
                <a:ea typeface="宋体" panose="02010600030101010101" pitchFamily="2" charset="-122"/>
              </a:rPr>
              <a:t>16</a:t>
            </a:r>
            <a:r>
              <a:rPr lang="zh-CN" altLang="en-US" sz="2400" b="1" dirty="0">
                <a:latin typeface="宋体" panose="02010600030101010101" pitchFamily="2" charset="-122"/>
                <a:ea typeface="宋体" panose="02010600030101010101" pitchFamily="2" charset="-122"/>
              </a:rPr>
              <a:t>进制数</a:t>
            </a:r>
            <a:r>
              <a:rPr lang="zh-CN" altLang="en-US" sz="2400" b="1" dirty="0">
                <a:solidFill>
                  <a:schemeClr val="tx2"/>
                </a:solidFill>
                <a:latin typeface="宋体" panose="02010600030101010101" pitchFamily="2" charset="-122"/>
                <a:ea typeface="宋体" panose="02010600030101010101" pitchFamily="2" charset="-122"/>
              </a:rPr>
              <a:t>转换</a:t>
            </a:r>
            <a:r>
              <a:rPr lang="zh-CN" altLang="en-US" sz="2400" b="1" dirty="0">
                <a:latin typeface="宋体" panose="02010600030101010101" pitchFamily="2" charset="-122"/>
                <a:ea typeface="宋体" panose="02010600030101010101" pitchFamily="2" charset="-122"/>
              </a:rPr>
              <a:t>成</a:t>
            </a:r>
            <a:r>
              <a:rPr lang="en-US" altLang="zh-CN" sz="2400" b="1" dirty="0">
                <a:latin typeface="宋体" panose="02010600030101010101" pitchFamily="2" charset="-122"/>
                <a:ea typeface="宋体" panose="02010600030101010101" pitchFamily="2" charset="-122"/>
              </a:rPr>
              <a:t>ASCII</a:t>
            </a:r>
            <a:r>
              <a:rPr lang="zh-CN" altLang="en-US" sz="2400" b="1" dirty="0">
                <a:latin typeface="宋体" panose="02010600030101010101" pitchFamily="2" charset="-122"/>
                <a:ea typeface="宋体" panose="02010600030101010101" pitchFamily="2" charset="-122"/>
              </a:rPr>
              <a:t>码</a:t>
            </a:r>
            <a:endParaRPr lang="zh-CN" altLang="en-US" sz="2400" b="1" dirty="0">
              <a:latin typeface="宋体" panose="02010600030101010101" pitchFamily="2" charset="-122"/>
              <a:ea typeface="宋体" panose="02010600030101010101" pitchFamily="2" charset="-122"/>
            </a:endParaRPr>
          </a:p>
          <a:p>
            <a:pPr defTabSz="914400" eaLnBrk="0" hangingPunct="0">
              <a:lnSpc>
                <a:spcPct val="90000"/>
              </a:lnSpc>
              <a:spcBef>
                <a:spcPct val="20000"/>
              </a:spcBef>
              <a:buClr>
                <a:schemeClr val="hlink"/>
              </a:buClr>
              <a:buFont typeface="Wingdings" panose="05000000000000000000" pitchFamily="2" charset="2"/>
              <a:tabLst>
                <a:tab pos="1336675" algn="l"/>
                <a:tab pos="3425825" algn="l"/>
              </a:tabLst>
            </a:pPr>
            <a:r>
              <a:rPr lang="en-US" altLang="zh-CN" sz="2400" b="1" dirty="0">
                <a:solidFill>
                  <a:schemeClr val="accent2"/>
                </a:solidFill>
                <a:latin typeface="宋体" panose="02010600030101010101" pitchFamily="2" charset="-122"/>
                <a:ea typeface="宋体" panose="02010600030101010101" pitchFamily="2" charset="-122"/>
              </a:rPr>
              <a:t>htoasc:	and al,0fh	</a:t>
            </a:r>
            <a:r>
              <a:rPr lang="zh-CN" altLang="en-US" sz="2400" b="1" dirty="0">
                <a:latin typeface="宋体" panose="02010600030101010101" pitchFamily="2" charset="-122"/>
                <a:ea typeface="宋体" panose="02010600030101010101" pitchFamily="2" charset="-122"/>
              </a:rPr>
              <a:t>；只取</a:t>
            </a:r>
            <a:r>
              <a:rPr lang="en-US" altLang="zh-CN" sz="2400" b="1" dirty="0">
                <a:latin typeface="宋体" panose="02010600030101010101" pitchFamily="2" charset="-122"/>
                <a:ea typeface="宋体" panose="02010600030101010101" pitchFamily="2" charset="-122"/>
              </a:rPr>
              <a:t>al</a:t>
            </a:r>
            <a:r>
              <a:rPr lang="zh-CN" altLang="en-US" sz="2400" b="1" dirty="0">
                <a:latin typeface="宋体" panose="02010600030101010101" pitchFamily="2" charset="-122"/>
                <a:ea typeface="宋体" panose="02010600030101010101" pitchFamily="2" charset="-122"/>
              </a:rPr>
              <a:t>的低</a:t>
            </a:r>
            <a:r>
              <a:rPr lang="en-US" altLang="zh-CN" sz="2400" b="1" dirty="0">
                <a:latin typeface="宋体" panose="02010600030101010101" pitchFamily="2" charset="-122"/>
                <a:ea typeface="宋体" panose="02010600030101010101" pitchFamily="2" charset="-122"/>
              </a:rPr>
              <a:t>4</a:t>
            </a:r>
            <a:r>
              <a:rPr lang="zh-CN" altLang="en-US" sz="2400" b="1" dirty="0">
                <a:latin typeface="宋体" panose="02010600030101010101" pitchFamily="2" charset="-122"/>
                <a:ea typeface="宋体" panose="02010600030101010101" pitchFamily="2" charset="-122"/>
              </a:rPr>
              <a:t>位</a:t>
            </a:r>
            <a:endParaRPr lang="zh-CN" altLang="en-US" sz="2400" b="1" dirty="0">
              <a:latin typeface="宋体" panose="02010600030101010101" pitchFamily="2" charset="-122"/>
              <a:ea typeface="宋体" panose="02010600030101010101" pitchFamily="2" charset="-122"/>
            </a:endParaRPr>
          </a:p>
          <a:p>
            <a:pPr defTabSz="914400" eaLnBrk="0" hangingPunct="0">
              <a:lnSpc>
                <a:spcPct val="90000"/>
              </a:lnSpc>
              <a:spcBef>
                <a:spcPct val="20000"/>
              </a:spcBef>
              <a:buClr>
                <a:schemeClr val="hlink"/>
              </a:buClr>
              <a:buFont typeface="Wingdings" panose="05000000000000000000" pitchFamily="2" charset="2"/>
              <a:tabLst>
                <a:tab pos="1336675" algn="l"/>
                <a:tab pos="3425825" algn="l"/>
              </a:tabLst>
            </a:pPr>
            <a:r>
              <a:rPr lang="zh-CN" altLang="en-US" sz="2400" b="1" dirty="0">
                <a:solidFill>
                  <a:schemeClr val="accent2"/>
                </a:solidFill>
                <a:latin typeface="宋体" panose="02010600030101010101" pitchFamily="2" charset="-122"/>
                <a:ea typeface="宋体" panose="02010600030101010101" pitchFamily="2" charset="-122"/>
              </a:rPr>
              <a:t>	</a:t>
            </a:r>
            <a:r>
              <a:rPr lang="en-US" altLang="zh-CN" sz="2400" b="1" dirty="0">
                <a:solidFill>
                  <a:schemeClr val="accent2"/>
                </a:solidFill>
                <a:latin typeface="宋体" panose="02010600030101010101" pitchFamily="2" charset="-122"/>
                <a:ea typeface="宋体" panose="02010600030101010101" pitchFamily="2" charset="-122"/>
              </a:rPr>
              <a:t>or al,30h	</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al</a:t>
            </a:r>
            <a:r>
              <a:rPr lang="zh-CN" altLang="en-US" sz="2400" b="1" dirty="0">
                <a:latin typeface="宋体" panose="02010600030101010101" pitchFamily="2" charset="-122"/>
                <a:ea typeface="宋体" panose="02010600030101010101" pitchFamily="2" charset="-122"/>
              </a:rPr>
              <a:t>高</a:t>
            </a:r>
            <a:r>
              <a:rPr lang="en-US" altLang="zh-CN" sz="2400" b="1" dirty="0">
                <a:latin typeface="宋体" panose="02010600030101010101" pitchFamily="2" charset="-122"/>
                <a:ea typeface="宋体" panose="02010600030101010101" pitchFamily="2" charset="-122"/>
              </a:rPr>
              <a:t>4</a:t>
            </a:r>
            <a:r>
              <a:rPr lang="zh-CN" altLang="en-US" sz="2400" b="1" dirty="0">
                <a:latin typeface="宋体" panose="02010600030101010101" pitchFamily="2" charset="-122"/>
                <a:ea typeface="宋体" panose="02010600030101010101" pitchFamily="2" charset="-122"/>
              </a:rPr>
              <a:t>位变成</a:t>
            </a:r>
            <a:r>
              <a:rPr lang="en-US" altLang="zh-CN" sz="2400" b="1" dirty="0">
                <a:latin typeface="宋体" panose="02010600030101010101" pitchFamily="2" charset="-122"/>
                <a:ea typeface="宋体" panose="02010600030101010101" pitchFamily="2" charset="-122"/>
              </a:rPr>
              <a:t>3</a:t>
            </a:r>
            <a:endParaRPr lang="en-US" altLang="zh-CN" sz="2400" b="1" dirty="0">
              <a:latin typeface="宋体" panose="02010600030101010101" pitchFamily="2" charset="-122"/>
              <a:ea typeface="宋体" panose="02010600030101010101" pitchFamily="2" charset="-122"/>
            </a:endParaRPr>
          </a:p>
          <a:p>
            <a:pPr defTabSz="914400" eaLnBrk="0" hangingPunct="0">
              <a:lnSpc>
                <a:spcPct val="90000"/>
              </a:lnSpc>
              <a:spcBef>
                <a:spcPct val="20000"/>
              </a:spcBef>
              <a:buClr>
                <a:schemeClr val="hlink"/>
              </a:buClr>
              <a:buFont typeface="Wingdings" panose="05000000000000000000" pitchFamily="2" charset="2"/>
              <a:tabLst>
                <a:tab pos="1336675" algn="l"/>
                <a:tab pos="3425825" algn="l"/>
              </a:tabLst>
            </a:pPr>
            <a:r>
              <a:rPr lang="en-US" altLang="zh-CN" sz="2400" b="1" dirty="0">
                <a:solidFill>
                  <a:schemeClr val="accent2"/>
                </a:solidFill>
                <a:latin typeface="宋体" panose="02010600030101010101" pitchFamily="2" charset="-122"/>
                <a:ea typeface="宋体" panose="02010600030101010101" pitchFamily="2" charset="-122"/>
              </a:rPr>
              <a:t>	cmp al,39h	</a:t>
            </a:r>
            <a:r>
              <a:rPr lang="zh-CN" altLang="en-US" sz="2400" b="1" dirty="0">
                <a:latin typeface="宋体" panose="02010600030101010101" pitchFamily="2" charset="-122"/>
                <a:ea typeface="宋体" panose="02010600030101010101" pitchFamily="2" charset="-122"/>
              </a:rPr>
              <a:t>；是</a:t>
            </a:r>
            <a:r>
              <a:rPr lang="en-US" altLang="zh-CN" sz="2400" b="1" dirty="0">
                <a:latin typeface="宋体" panose="02010600030101010101" pitchFamily="2" charset="-122"/>
                <a:ea typeface="宋体" panose="02010600030101010101" pitchFamily="2" charset="-122"/>
              </a:rPr>
              <a:t>0</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9</a:t>
            </a:r>
            <a:r>
              <a:rPr lang="zh-CN" altLang="en-US" sz="2400" b="1" dirty="0">
                <a:latin typeface="宋体" panose="02010600030101010101" pitchFamily="2" charset="-122"/>
                <a:ea typeface="宋体" panose="02010600030101010101" pitchFamily="2" charset="-122"/>
              </a:rPr>
              <a:t>，还是</a:t>
            </a:r>
            <a:r>
              <a:rPr lang="en-US" altLang="zh-CN" sz="2400" b="1" dirty="0">
                <a:latin typeface="宋体" panose="02010600030101010101" pitchFamily="2" charset="-122"/>
                <a:ea typeface="宋体" panose="02010600030101010101" pitchFamily="2" charset="-122"/>
              </a:rPr>
              <a:t>0Ah</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0Fh</a:t>
            </a:r>
            <a:endParaRPr lang="en-US" altLang="zh-CN" sz="2400" b="1" dirty="0">
              <a:latin typeface="宋体" panose="02010600030101010101" pitchFamily="2" charset="-122"/>
              <a:ea typeface="宋体" panose="02010600030101010101" pitchFamily="2" charset="-122"/>
            </a:endParaRPr>
          </a:p>
          <a:p>
            <a:pPr defTabSz="914400" eaLnBrk="0" hangingPunct="0">
              <a:lnSpc>
                <a:spcPct val="90000"/>
              </a:lnSpc>
              <a:spcBef>
                <a:spcPct val="20000"/>
              </a:spcBef>
              <a:buClr>
                <a:schemeClr val="hlink"/>
              </a:buClr>
              <a:buFont typeface="Wingdings" panose="05000000000000000000" pitchFamily="2" charset="2"/>
              <a:tabLst>
                <a:tab pos="1336675" algn="l"/>
                <a:tab pos="3425825" algn="l"/>
              </a:tabLst>
            </a:pPr>
            <a:r>
              <a:rPr lang="en-US" altLang="zh-CN" sz="2400" b="1" dirty="0">
                <a:solidFill>
                  <a:schemeClr val="accent2"/>
                </a:solidFill>
                <a:latin typeface="宋体" panose="02010600030101010101" pitchFamily="2" charset="-122"/>
                <a:ea typeface="宋体" panose="02010600030101010101" pitchFamily="2" charset="-122"/>
              </a:rPr>
              <a:t>	jbe htoend</a:t>
            </a:r>
            <a:endParaRPr lang="en-US" altLang="zh-CN" sz="2400" b="1" dirty="0">
              <a:solidFill>
                <a:schemeClr val="accent2"/>
              </a:solidFill>
              <a:latin typeface="宋体" panose="02010600030101010101" pitchFamily="2" charset="-122"/>
              <a:ea typeface="宋体" panose="02010600030101010101" pitchFamily="2" charset="-122"/>
            </a:endParaRPr>
          </a:p>
          <a:p>
            <a:pPr defTabSz="914400" eaLnBrk="0" hangingPunct="0">
              <a:lnSpc>
                <a:spcPct val="90000"/>
              </a:lnSpc>
              <a:spcBef>
                <a:spcPct val="20000"/>
              </a:spcBef>
              <a:buClr>
                <a:schemeClr val="hlink"/>
              </a:buClr>
              <a:buFont typeface="Wingdings" panose="05000000000000000000" pitchFamily="2" charset="2"/>
              <a:tabLst>
                <a:tab pos="1336675" algn="l"/>
                <a:tab pos="3425825" algn="l"/>
              </a:tabLst>
            </a:pPr>
            <a:r>
              <a:rPr lang="en-US" altLang="zh-CN" sz="2400" b="1" dirty="0">
                <a:solidFill>
                  <a:schemeClr val="accent2"/>
                </a:solidFill>
                <a:latin typeface="宋体" panose="02010600030101010101" pitchFamily="2" charset="-122"/>
                <a:ea typeface="宋体" panose="02010600030101010101" pitchFamily="2" charset="-122"/>
              </a:rPr>
              <a:t>	add al,7	</a:t>
            </a:r>
            <a:r>
              <a:rPr lang="zh-CN" altLang="en-US" sz="2400" b="1" dirty="0">
                <a:latin typeface="宋体" panose="02010600030101010101" pitchFamily="2" charset="-122"/>
                <a:ea typeface="宋体" panose="02010600030101010101" pitchFamily="2" charset="-122"/>
              </a:rPr>
              <a:t>；是</a:t>
            </a:r>
            <a:r>
              <a:rPr lang="en-US" altLang="zh-CN" sz="2400" b="1" dirty="0">
                <a:latin typeface="宋体" panose="02010600030101010101" pitchFamily="2" charset="-122"/>
                <a:ea typeface="宋体" panose="02010600030101010101" pitchFamily="2" charset="-122"/>
              </a:rPr>
              <a:t>0Ah</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0Fh</a:t>
            </a:r>
            <a:r>
              <a:rPr lang="zh-CN" altLang="en-US" sz="2400" b="1" dirty="0">
                <a:latin typeface="宋体" panose="02010600030101010101" pitchFamily="2" charset="-122"/>
                <a:ea typeface="宋体" panose="02010600030101010101" pitchFamily="2" charset="-122"/>
              </a:rPr>
              <a:t>，加上</a:t>
            </a:r>
            <a:r>
              <a:rPr lang="en-US" altLang="zh-CN" sz="2400" b="1" dirty="0">
                <a:latin typeface="宋体" panose="02010600030101010101" pitchFamily="2" charset="-122"/>
                <a:ea typeface="宋体" panose="02010600030101010101" pitchFamily="2" charset="-122"/>
              </a:rPr>
              <a:t>7</a:t>
            </a:r>
            <a:endParaRPr lang="en-US" altLang="zh-CN" sz="2400" b="1" dirty="0">
              <a:latin typeface="宋体" panose="02010600030101010101" pitchFamily="2" charset="-122"/>
              <a:ea typeface="宋体" panose="02010600030101010101" pitchFamily="2" charset="-122"/>
            </a:endParaRPr>
          </a:p>
          <a:p>
            <a:pPr defTabSz="914400" eaLnBrk="0" hangingPunct="0">
              <a:lnSpc>
                <a:spcPct val="90000"/>
              </a:lnSpc>
              <a:spcBef>
                <a:spcPct val="20000"/>
              </a:spcBef>
              <a:buClr>
                <a:schemeClr val="hlink"/>
              </a:buClr>
              <a:buFont typeface="Wingdings" panose="05000000000000000000" pitchFamily="2" charset="2"/>
              <a:tabLst>
                <a:tab pos="1336675" algn="l"/>
                <a:tab pos="3425825" algn="l"/>
              </a:tabLst>
            </a:pPr>
            <a:r>
              <a:rPr lang="en-US" altLang="zh-CN" sz="2400" b="1" dirty="0">
                <a:solidFill>
                  <a:schemeClr val="accent2"/>
                </a:solidFill>
                <a:latin typeface="宋体" panose="02010600030101010101" pitchFamily="2" charset="-122"/>
                <a:ea typeface="宋体" panose="02010600030101010101" pitchFamily="2" charset="-122"/>
              </a:rPr>
              <a:t>htoend:	</a:t>
            </a:r>
            <a:r>
              <a:rPr lang="en-US" altLang="zh-CN" sz="2400" b="1" dirty="0">
                <a:solidFill>
                  <a:schemeClr val="tx2"/>
                </a:solidFill>
                <a:latin typeface="宋体" panose="02010600030101010101" pitchFamily="2" charset="-122"/>
                <a:ea typeface="宋体" panose="02010600030101010101" pitchFamily="2" charset="-122"/>
              </a:rPr>
              <a:t>ret</a:t>
            </a:r>
            <a:r>
              <a:rPr lang="en-US" altLang="zh-CN" sz="2400" b="1" dirty="0">
                <a:solidFill>
                  <a:schemeClr val="accent2"/>
                </a:solidFill>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；子程序返回</a:t>
            </a:r>
            <a:endParaRPr lang="zh-CN" altLang="en-US" sz="2400" b="1" dirty="0">
              <a:latin typeface="宋体" panose="02010600030101010101" pitchFamily="2" charset="-122"/>
              <a:ea typeface="宋体" panose="02010600030101010101" pitchFamily="2" charset="-122"/>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528445" y="980440"/>
            <a:ext cx="4392295" cy="460375"/>
          </a:xfrm>
          <a:prstGeom prst="rect">
            <a:avLst/>
          </a:prstGeom>
          <a:noFill/>
        </p:spPr>
        <p:txBody>
          <a:bodyPr wrap="square" rtlCol="0" anchor="t">
            <a:spAutoFit/>
          </a:bodyPr>
          <a:p>
            <a:r>
              <a:rPr lang="en-US" altLang="zh-CN" sz="2400" b="1">
                <a:latin typeface="宋体" panose="02010600030101010101" pitchFamily="2" charset="-122"/>
                <a:ea typeface="宋体" panose="02010600030101010101" pitchFamily="2" charset="-122"/>
                <a:cs typeface="宋体" panose="02010600030101010101" pitchFamily="2" charset="-122"/>
              </a:rPr>
              <a:t>call </a:t>
            </a:r>
            <a:r>
              <a:rPr lang="zh-CN" altLang="en-US" sz="2400" b="1">
                <a:latin typeface="宋体" panose="02010600030101010101" pitchFamily="2" charset="-122"/>
                <a:ea typeface="宋体" panose="02010600030101010101" pitchFamily="2" charset="-122"/>
                <a:cs typeface="宋体" panose="02010600030101010101" pitchFamily="2" charset="-122"/>
              </a:rPr>
              <a:t>和</a:t>
            </a:r>
            <a:r>
              <a:rPr lang="en-US" altLang="zh-CN" sz="2400" b="1">
                <a:latin typeface="宋体" panose="02010600030101010101" pitchFamily="2" charset="-122"/>
                <a:ea typeface="宋体" panose="02010600030101010101" pitchFamily="2" charset="-122"/>
                <a:cs typeface="宋体" panose="02010600030101010101" pitchFamily="2" charset="-122"/>
              </a:rPr>
              <a:t> ret </a:t>
            </a:r>
            <a:r>
              <a:rPr lang="zh-CN" altLang="en-US" sz="2400" b="1">
                <a:latin typeface="宋体" panose="02010600030101010101" pitchFamily="2" charset="-122"/>
                <a:ea typeface="宋体" panose="02010600030101010101" pitchFamily="2" charset="-122"/>
                <a:cs typeface="宋体" panose="02010600030101010101" pitchFamily="2" charset="-122"/>
              </a:rPr>
              <a:t>的配合使用讨论</a:t>
            </a:r>
            <a:r>
              <a:rPr lang="en-US" altLang="zh-CN" sz="2400" b="1">
                <a:latin typeface="宋体" panose="02010600030101010101" pitchFamily="2" charset="-122"/>
                <a:ea typeface="宋体" panose="02010600030101010101" pitchFamily="2" charset="-122"/>
                <a:cs typeface="宋体" panose="02010600030101010101" pitchFamily="2" charset="-122"/>
              </a:rPr>
              <a:t>1</a:t>
            </a:r>
            <a:endParaRPr lang="en-US" altLang="zh-CN" sz="2400" b="1">
              <a:latin typeface="宋体" panose="02010600030101010101" pitchFamily="2" charset="-122"/>
              <a:ea typeface="宋体" panose="02010600030101010101" pitchFamily="2" charset="-122"/>
              <a:cs typeface="宋体" panose="02010600030101010101" pitchFamily="2" charset="-122"/>
            </a:endParaRPr>
          </a:p>
        </p:txBody>
      </p:sp>
      <p:sp>
        <p:nvSpPr>
          <p:cNvPr id="3" name="文本框 2"/>
          <p:cNvSpPr txBox="1"/>
          <p:nvPr/>
        </p:nvSpPr>
        <p:spPr>
          <a:xfrm>
            <a:off x="1528445" y="1557020"/>
            <a:ext cx="4572000" cy="368300"/>
          </a:xfrm>
          <a:prstGeom prst="rect">
            <a:avLst/>
          </a:prstGeom>
          <a:noFill/>
        </p:spPr>
        <p:txBody>
          <a:bodyPr wrap="square" rtlCol="0" anchor="t">
            <a:spAutoFit/>
          </a:bodyPr>
          <a:p>
            <a:r>
              <a:rPr lang="zh-CN" altLang="en-US"/>
              <a:t>下面程序结束前，</a:t>
            </a:r>
            <a:r>
              <a:rPr lang="en-US" altLang="zh-CN"/>
              <a:t>bx</a:t>
            </a:r>
            <a:r>
              <a:rPr lang="zh-CN" altLang="en-US"/>
              <a:t>中的值是多少？</a:t>
            </a:r>
            <a:endParaRPr lang="zh-CN" altLang="en-US"/>
          </a:p>
        </p:txBody>
      </p:sp>
      <p:pic>
        <p:nvPicPr>
          <p:cNvPr id="4" name="图片 3"/>
          <p:cNvPicPr>
            <a:picLocks noChangeAspect="1"/>
          </p:cNvPicPr>
          <p:nvPr/>
        </p:nvPicPr>
        <p:blipFill>
          <a:blip r:embed="rId1"/>
          <a:stretch>
            <a:fillRect/>
          </a:stretch>
        </p:blipFill>
        <p:spPr>
          <a:xfrm>
            <a:off x="1692275" y="2132965"/>
            <a:ext cx="4102100" cy="3933190"/>
          </a:xfrm>
          <a:prstGeom prst="rect">
            <a:avLst/>
          </a:prstGeom>
        </p:spPr>
      </p:pic>
    </p:spTree>
  </p:cSld>
  <p:clrMapOvr>
    <a:masterClrMapping/>
  </p:clrMapOvr>
  <p:transition spd="slow"/>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p:nvPr/>
        </p:nvPicPr>
        <p:blipFill>
          <a:blip r:embed="rId1"/>
          <a:stretch>
            <a:fillRect/>
          </a:stretch>
        </p:blipFill>
        <p:spPr>
          <a:xfrm>
            <a:off x="180340" y="1341120"/>
            <a:ext cx="4650105" cy="4157980"/>
          </a:xfrm>
          <a:prstGeom prst="rect">
            <a:avLst/>
          </a:prstGeom>
        </p:spPr>
      </p:pic>
      <p:pic>
        <p:nvPicPr>
          <p:cNvPr id="3" name="图片 2"/>
          <p:cNvPicPr>
            <a:picLocks noChangeAspect="1"/>
          </p:cNvPicPr>
          <p:nvPr/>
        </p:nvPicPr>
        <p:blipFill>
          <a:blip r:embed="rId2"/>
          <a:stretch>
            <a:fillRect/>
          </a:stretch>
        </p:blipFill>
        <p:spPr>
          <a:xfrm>
            <a:off x="3995420" y="2421255"/>
            <a:ext cx="4841875" cy="4118610"/>
          </a:xfrm>
          <a:prstGeom prst="rect">
            <a:avLst/>
          </a:prstGeom>
        </p:spPr>
      </p:pic>
      <p:sp>
        <p:nvSpPr>
          <p:cNvPr id="4" name="文本框 3"/>
          <p:cNvSpPr txBox="1"/>
          <p:nvPr/>
        </p:nvSpPr>
        <p:spPr>
          <a:xfrm>
            <a:off x="4643755" y="1341120"/>
            <a:ext cx="4392295" cy="460375"/>
          </a:xfrm>
          <a:prstGeom prst="rect">
            <a:avLst/>
          </a:prstGeom>
          <a:noFill/>
        </p:spPr>
        <p:txBody>
          <a:bodyPr wrap="square" rtlCol="0" anchor="t">
            <a:spAutoFit/>
          </a:bodyPr>
          <a:p>
            <a:r>
              <a:rPr lang="en-US" altLang="zh-CN" sz="2400" b="1">
                <a:latin typeface="宋体" panose="02010600030101010101" pitchFamily="2" charset="-122"/>
                <a:ea typeface="宋体" panose="02010600030101010101" pitchFamily="2" charset="-122"/>
                <a:cs typeface="宋体" panose="02010600030101010101" pitchFamily="2" charset="-122"/>
              </a:rPr>
              <a:t>call </a:t>
            </a:r>
            <a:r>
              <a:rPr lang="zh-CN" altLang="en-US" sz="2400" b="1">
                <a:latin typeface="宋体" panose="02010600030101010101" pitchFamily="2" charset="-122"/>
                <a:ea typeface="宋体" panose="02010600030101010101" pitchFamily="2" charset="-122"/>
                <a:cs typeface="宋体" panose="02010600030101010101" pitchFamily="2" charset="-122"/>
              </a:rPr>
              <a:t>和</a:t>
            </a:r>
            <a:r>
              <a:rPr lang="en-US" altLang="zh-CN" sz="2400" b="1">
                <a:latin typeface="宋体" panose="02010600030101010101" pitchFamily="2" charset="-122"/>
                <a:ea typeface="宋体" panose="02010600030101010101" pitchFamily="2" charset="-122"/>
                <a:cs typeface="宋体" panose="02010600030101010101" pitchFamily="2" charset="-122"/>
              </a:rPr>
              <a:t> ret </a:t>
            </a:r>
            <a:r>
              <a:rPr lang="zh-CN" altLang="en-US" sz="2400" b="1">
                <a:latin typeface="宋体" panose="02010600030101010101" pitchFamily="2" charset="-122"/>
                <a:ea typeface="宋体" panose="02010600030101010101" pitchFamily="2" charset="-122"/>
                <a:cs typeface="宋体" panose="02010600030101010101" pitchFamily="2" charset="-122"/>
              </a:rPr>
              <a:t>的配合使用讨论</a:t>
            </a:r>
            <a:r>
              <a:rPr lang="en-US" altLang="zh-CN" sz="2400" b="1">
                <a:latin typeface="宋体" panose="02010600030101010101" pitchFamily="2" charset="-122"/>
                <a:ea typeface="宋体" panose="02010600030101010101" pitchFamily="2" charset="-122"/>
                <a:cs typeface="宋体" panose="02010600030101010101" pitchFamily="2" charset="-122"/>
              </a:rPr>
              <a:t>2</a:t>
            </a:r>
            <a:endParaRPr lang="en-US" altLang="zh-CN" sz="2400" b="1">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700020" y="980440"/>
            <a:ext cx="3995420" cy="5445125"/>
          </a:xfrm>
          <a:prstGeom prst="rect">
            <a:avLst/>
          </a:prstGeom>
        </p:spPr>
      </p:pic>
      <p:sp>
        <p:nvSpPr>
          <p:cNvPr id="3" name="文本框 2"/>
          <p:cNvSpPr txBox="1"/>
          <p:nvPr/>
        </p:nvSpPr>
        <p:spPr>
          <a:xfrm>
            <a:off x="828040" y="1412875"/>
            <a:ext cx="456565" cy="4704715"/>
          </a:xfrm>
          <a:prstGeom prst="rect">
            <a:avLst/>
          </a:prstGeom>
          <a:noFill/>
          <a:ln w="6350">
            <a:solidFill>
              <a:schemeClr val="tx1"/>
            </a:solidFill>
          </a:ln>
        </p:spPr>
        <p:txBody>
          <a:bodyPr wrap="square" rtlCol="0" anchor="t">
            <a:noAutofit/>
          </a:bodyPr>
          <a:p>
            <a:r>
              <a:rPr lang="zh-CN" altLang="en-US" sz="2800">
                <a:solidFill>
                  <a:srgbClr val="FF0000"/>
                </a:solidFill>
              </a:rPr>
              <a:t>具有子程序的源程序框架</a:t>
            </a:r>
            <a:endParaRPr lang="zh-CN" altLang="en-US" sz="2800">
              <a:solidFill>
                <a:srgbClr val="FF0000"/>
              </a:solidFill>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3"/>
          <p:cNvSpPr>
            <a:spLocks noGrp="1"/>
          </p:cNvSpPr>
          <p:nvPr>
            <p:ph type="body" idx="4294967295"/>
          </p:nvPr>
        </p:nvSpPr>
        <p:spPr>
          <a:xfrm>
            <a:off x="1403350" y="1989138"/>
            <a:ext cx="5689600" cy="2376487"/>
          </a:xfrm>
        </p:spPr>
        <p:txBody>
          <a:bodyPr vert="horz" wrap="square" lIns="91440" tIns="45720" rIns="91440" bIns="45720" anchor="t" anchorCtr="0"/>
          <a:p>
            <a:pPr eaLnBrk="1" hangingPunct="1">
              <a:spcAft>
                <a:spcPct val="20000"/>
              </a:spcAft>
              <a:buFont typeface="Wingdings" panose="05000000000000000000" pitchFamily="2" charset="2"/>
              <a:buChar char="Ø"/>
            </a:pPr>
            <a:r>
              <a:rPr lang="zh-CN" altLang="en-US" dirty="0">
                <a:ea typeface="宋体" panose="02010600030101010101" pitchFamily="2" charset="-122"/>
              </a:rPr>
              <a:t>中断</a:t>
            </a:r>
            <a:endParaRPr lang="zh-CN" altLang="en-US" dirty="0">
              <a:ea typeface="宋体" panose="02010600030101010101" pitchFamily="2" charset="-122"/>
            </a:endParaRPr>
          </a:p>
          <a:p>
            <a:pPr eaLnBrk="1" hangingPunct="1">
              <a:spcAft>
                <a:spcPct val="20000"/>
              </a:spcAft>
              <a:buFont typeface="Wingdings" panose="05000000000000000000" pitchFamily="2" charset="2"/>
              <a:buChar char="Ø"/>
            </a:pPr>
            <a:r>
              <a:rPr lang="zh-CN" altLang="en-US" dirty="0">
                <a:ea typeface="宋体" panose="02010600030101010101" pitchFamily="2" charset="-122"/>
              </a:rPr>
              <a:t>中断源</a:t>
            </a:r>
            <a:endParaRPr lang="zh-CN" altLang="en-US" dirty="0">
              <a:ea typeface="宋体" panose="02010600030101010101" pitchFamily="2" charset="-122"/>
            </a:endParaRPr>
          </a:p>
          <a:p>
            <a:pPr eaLnBrk="1" hangingPunct="1">
              <a:spcAft>
                <a:spcPct val="20000"/>
              </a:spcAft>
              <a:buFont typeface="Wingdings" panose="05000000000000000000" pitchFamily="2" charset="2"/>
              <a:buChar char="Ø"/>
            </a:pPr>
            <a:r>
              <a:rPr lang="zh-CN" altLang="en-US" dirty="0">
                <a:ea typeface="宋体" panose="02010600030101010101" pitchFamily="2" charset="-122"/>
              </a:rPr>
              <a:t>中断的类型</a:t>
            </a:r>
            <a:endParaRPr lang="zh-CN" altLang="en-US" dirty="0">
              <a:ea typeface="宋体" panose="02010600030101010101" pitchFamily="2" charset="-122"/>
            </a:endParaRPr>
          </a:p>
          <a:p>
            <a:pPr eaLnBrk="1" hangingPunct="1">
              <a:spcAft>
                <a:spcPct val="20000"/>
              </a:spcAft>
              <a:buFont typeface="Wingdings" panose="05000000000000000000" pitchFamily="2" charset="2"/>
              <a:buChar char="Ø"/>
            </a:pPr>
            <a:r>
              <a:rPr lang="zh-CN" altLang="en-US" dirty="0">
                <a:ea typeface="宋体" panose="02010600030101010101" pitchFamily="2" charset="-122"/>
              </a:rPr>
              <a:t>中断指令</a:t>
            </a:r>
            <a:endParaRPr lang="zh-CN" altLang="en-US" dirty="0">
              <a:ea typeface="宋体" panose="02010600030101010101" pitchFamily="2" charset="-122"/>
            </a:endParaRPr>
          </a:p>
        </p:txBody>
      </p:sp>
      <p:sp>
        <p:nvSpPr>
          <p:cNvPr id="174083" name="Rectangle 2"/>
          <p:cNvSpPr>
            <a:spLocks noGrp="1"/>
          </p:cNvSpPr>
          <p:nvPr/>
        </p:nvSpPr>
        <p:spPr>
          <a:xfrm>
            <a:off x="1835150" y="115888"/>
            <a:ext cx="3959225" cy="563562"/>
          </a:xfrm>
          <a:prstGeom prst="rect">
            <a:avLst/>
          </a:prstGeom>
          <a:noFill/>
          <a:ln w="9525">
            <a:noFill/>
          </a:ln>
        </p:spPr>
        <p:txBody>
          <a:bodyPr anchor="ctr" anchorCtr="0"/>
          <a:p>
            <a:pPr>
              <a:buFont typeface="Wingdings" panose="05000000000000000000" pitchFamily="2" charset="2"/>
            </a:pPr>
            <a:r>
              <a:rPr lang="en-US" altLang="zh-CN" sz="3600" dirty="0">
                <a:solidFill>
                  <a:schemeClr val="bg1"/>
                </a:solidFill>
                <a:latin typeface="宋体" panose="02010600030101010101" pitchFamily="2" charset="-122"/>
                <a:ea typeface="宋体" panose="02010600030101010101" pitchFamily="2" charset="-122"/>
              </a:rPr>
              <a:t>3.4.5.4 </a:t>
            </a:r>
            <a:r>
              <a:rPr lang="zh-CN" altLang="en-US" sz="3600" dirty="0">
                <a:solidFill>
                  <a:schemeClr val="bg1"/>
                </a:solidFill>
                <a:latin typeface="宋体" panose="02010600030101010101" pitchFamily="2" charset="-122"/>
                <a:ea typeface="宋体" panose="02010600030101010101" pitchFamily="2" charset="-122"/>
              </a:rPr>
              <a:t>中断指令</a:t>
            </a:r>
            <a:endParaRPr lang="zh-CN" altLang="en-US" sz="3600" dirty="0">
              <a:solidFill>
                <a:schemeClr val="bg1"/>
              </a:solidFill>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9986">
                                            <p:txEl>
                                              <p:charRg st="0" end="3"/>
                                            </p:txEl>
                                          </p:spTgt>
                                        </p:tgtEl>
                                        <p:attrNameLst>
                                          <p:attrName>style.visibility</p:attrName>
                                        </p:attrNameLst>
                                      </p:cBhvr>
                                      <p:to>
                                        <p:strVal val="visible"/>
                                      </p:to>
                                    </p:set>
                                    <p:animEffect transition="in" filter="wipe(left)">
                                      <p:cBhvr>
                                        <p:cTn id="7" dur="500"/>
                                        <p:tgtEl>
                                          <p:spTgt spid="169986">
                                            <p:txEl>
                                              <p:charRg st="0" end="3"/>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69986">
                                            <p:txEl>
                                              <p:charRg st="3" end="7"/>
                                            </p:txEl>
                                          </p:spTgt>
                                        </p:tgtEl>
                                        <p:attrNameLst>
                                          <p:attrName>style.visibility</p:attrName>
                                        </p:attrNameLst>
                                      </p:cBhvr>
                                      <p:to>
                                        <p:strVal val="visible"/>
                                      </p:to>
                                    </p:set>
                                    <p:animEffect transition="in" filter="wipe(left)">
                                      <p:cBhvr>
                                        <p:cTn id="11" dur="500"/>
                                        <p:tgtEl>
                                          <p:spTgt spid="169986">
                                            <p:txEl>
                                              <p:charRg st="3" end="7"/>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69986">
                                            <p:txEl>
                                              <p:charRg st="7" end="13"/>
                                            </p:txEl>
                                          </p:spTgt>
                                        </p:tgtEl>
                                        <p:attrNameLst>
                                          <p:attrName>style.visibility</p:attrName>
                                        </p:attrNameLst>
                                      </p:cBhvr>
                                      <p:to>
                                        <p:strVal val="visible"/>
                                      </p:to>
                                    </p:set>
                                    <p:animEffect transition="in" filter="wipe(left)">
                                      <p:cBhvr>
                                        <p:cTn id="15" dur="500"/>
                                        <p:tgtEl>
                                          <p:spTgt spid="169986">
                                            <p:txEl>
                                              <p:charRg st="7" end="1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69986">
                                            <p:txEl>
                                              <p:charRg st="13" end="18"/>
                                            </p:txEl>
                                          </p:spTgt>
                                        </p:tgtEl>
                                        <p:attrNameLst>
                                          <p:attrName>style.visibility</p:attrName>
                                        </p:attrNameLst>
                                      </p:cBhvr>
                                      <p:to>
                                        <p:strVal val="visible"/>
                                      </p:to>
                                    </p:set>
                                    <p:animEffect transition="in" filter="wipe(left)">
                                      <p:cBhvr>
                                        <p:cTn id="20" dur="500"/>
                                        <p:tgtEl>
                                          <p:spTgt spid="169986">
                                            <p:txEl>
                                              <p:charRg st="13"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2"/>
          <p:cNvSpPr>
            <a:spLocks noGrp="1"/>
          </p:cNvSpPr>
          <p:nvPr>
            <p:ph type="title" idx="4294967295"/>
          </p:nvPr>
        </p:nvSpPr>
        <p:spPr>
          <a:xfrm>
            <a:off x="696913" y="1052513"/>
            <a:ext cx="3313112" cy="563562"/>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00033"/>
                </a:solidFill>
                <a:ea typeface="宋体" panose="02010600030101010101" pitchFamily="2" charset="-122"/>
              </a:rPr>
              <a:t>中断与过程调用</a:t>
            </a:r>
            <a:endParaRPr lang="zh-CN" altLang="en-US" dirty="0">
              <a:solidFill>
                <a:srgbClr val="000033"/>
              </a:solidFill>
              <a:ea typeface="宋体" panose="02010600030101010101" pitchFamily="2" charset="-122"/>
            </a:endParaRPr>
          </a:p>
        </p:txBody>
      </p:sp>
      <p:sp>
        <p:nvSpPr>
          <p:cNvPr id="171011" name="Rectangle 3"/>
          <p:cNvSpPr>
            <a:spLocks noGrp="1"/>
          </p:cNvSpPr>
          <p:nvPr>
            <p:ph type="body" idx="4294967295"/>
          </p:nvPr>
        </p:nvSpPr>
        <p:spPr>
          <a:xfrm>
            <a:off x="684213" y="1773238"/>
            <a:ext cx="7704137" cy="4114800"/>
          </a:xfrm>
        </p:spPr>
        <p:txBody>
          <a:bodyPr vert="horz" wrap="square" lIns="91440" tIns="45720" rIns="91440" bIns="45720" anchor="t" anchorCtr="0"/>
          <a:p>
            <a:pPr eaLnBrk="1" hangingPunct="1">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中断是随机事件或异常事件引起，调用则是事先已在程序中安排好；  </a:t>
            </a:r>
            <a:endParaRPr lang="zh-CN" altLang="en-US" sz="2400" dirty="0">
              <a:latin typeface="宋体" panose="02010600030101010101" pitchFamily="2" charset="-122"/>
              <a:ea typeface="宋体" panose="02010600030101010101" pitchFamily="2" charset="-122"/>
            </a:endParaRPr>
          </a:p>
          <a:p>
            <a:pPr eaLnBrk="1" hangingPunct="1">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响应中断请求不仅要保护断点地址，还要保护</a:t>
            </a:r>
            <a:r>
              <a:rPr lang="en-US" altLang="zh-CN" sz="2400" dirty="0">
                <a:latin typeface="宋体" panose="02010600030101010101" pitchFamily="2" charset="-122"/>
                <a:ea typeface="宋体" panose="02010600030101010101" pitchFamily="2" charset="-122"/>
              </a:rPr>
              <a:t>FLAGS</a:t>
            </a:r>
            <a:r>
              <a:rPr lang="zh-CN" altLang="en-US" sz="2400" dirty="0">
                <a:latin typeface="宋体" panose="02010600030101010101" pitchFamily="2" charset="-122"/>
                <a:ea typeface="宋体" panose="02010600030101010101" pitchFamily="2" charset="-122"/>
              </a:rPr>
              <a:t>内容；</a:t>
            </a:r>
            <a:endParaRPr lang="zh-CN" altLang="en-US" sz="2400" dirty="0">
              <a:latin typeface="宋体" panose="02010600030101010101" pitchFamily="2" charset="-122"/>
              <a:ea typeface="宋体" panose="02010600030101010101" pitchFamily="2" charset="-122"/>
            </a:endParaRPr>
          </a:p>
          <a:p>
            <a:pPr eaLnBrk="1" hangingPunct="1">
              <a:lnSpc>
                <a:spcPct val="150000"/>
              </a:lnSpc>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调用指令在指令中直接给出子程序入口地址，中断指令只给出中断向量码，入口地址则在向量码指向的内存单元中。</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1011">
                                            <p:txEl>
                                              <p:charRg st="0" end="33"/>
                                            </p:txEl>
                                          </p:spTgt>
                                        </p:tgtEl>
                                        <p:attrNameLst>
                                          <p:attrName>style.visibility</p:attrName>
                                        </p:attrNameLst>
                                      </p:cBhvr>
                                      <p:to>
                                        <p:strVal val="visible"/>
                                      </p:to>
                                    </p:set>
                                    <p:animEffect transition="in" filter="wipe(left)">
                                      <p:cBhvr>
                                        <p:cTn id="7" dur="500"/>
                                        <p:tgtEl>
                                          <p:spTgt spid="171011">
                                            <p:txEl>
                                              <p:charRg st="0" end="3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1011">
                                            <p:txEl>
                                              <p:charRg st="33" end="62"/>
                                            </p:txEl>
                                          </p:spTgt>
                                        </p:tgtEl>
                                        <p:attrNameLst>
                                          <p:attrName>style.visibility</p:attrName>
                                        </p:attrNameLst>
                                      </p:cBhvr>
                                      <p:to>
                                        <p:strVal val="visible"/>
                                      </p:to>
                                    </p:set>
                                    <p:animEffect transition="in" filter="wipe(left)">
                                      <p:cBhvr>
                                        <p:cTn id="12" dur="500"/>
                                        <p:tgtEl>
                                          <p:spTgt spid="171011">
                                            <p:txEl>
                                              <p:charRg st="33" end="6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1011">
                                            <p:txEl>
                                              <p:charRg st="62" end="114"/>
                                            </p:txEl>
                                          </p:spTgt>
                                        </p:tgtEl>
                                        <p:attrNameLst>
                                          <p:attrName>style.visibility</p:attrName>
                                        </p:attrNameLst>
                                      </p:cBhvr>
                                      <p:to>
                                        <p:strVal val="visible"/>
                                      </p:to>
                                    </p:set>
                                    <p:animEffect transition="in" filter="wipe(left)">
                                      <p:cBhvr>
                                        <p:cTn id="17" dur="500"/>
                                        <p:tgtEl>
                                          <p:spTgt spid="171011">
                                            <p:txEl>
                                              <p:charRg st="62" end="1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灯片编号占位符 5"/>
          <p:cNvSpPr txBox="1">
            <a:spLocks noGrp="1"/>
          </p:cNvSpPr>
          <p:nvPr/>
        </p:nvSpPr>
        <p:spPr>
          <a:xfrm>
            <a:off x="7042150" y="6243638"/>
            <a:ext cx="1905000" cy="457200"/>
          </a:xfrm>
          <a:prstGeom prst="rect">
            <a:avLst/>
          </a:prstGeom>
          <a:noFill/>
          <a:ln w="9525">
            <a:noFill/>
          </a:ln>
        </p:spPr>
        <p:txBody>
          <a:bodyPr/>
          <a:p>
            <a:pPr algn="ctr"/>
            <a:fld id="{9A0DB2DC-4C9A-4742-B13C-FB6460FD3503}" type="slidenum">
              <a:rPr lang="zh-CN" altLang="en-US" sz="1400" dirty="0">
                <a:latin typeface="Tahoma" panose="020B0604030504040204" pitchFamily="34" charset="0"/>
                <a:ea typeface="宋体" panose="02010600030101010101" pitchFamily="2" charset="-122"/>
              </a:rPr>
            </a:fld>
            <a:endParaRPr lang="zh-CN" altLang="en-US" sz="1400" dirty="0">
              <a:latin typeface="Tahoma" panose="020B0604030504040204" pitchFamily="34" charset="0"/>
              <a:ea typeface="宋体" panose="02010600030101010101" pitchFamily="2" charset="-122"/>
            </a:endParaRPr>
          </a:p>
        </p:txBody>
      </p:sp>
      <p:sp>
        <p:nvSpPr>
          <p:cNvPr id="176131" name="Rectangle 2"/>
          <p:cNvSpPr>
            <a:spLocks noGrp="1"/>
          </p:cNvSpPr>
          <p:nvPr>
            <p:ph type="title" idx="4294967295"/>
          </p:nvPr>
        </p:nvSpPr>
        <p:spPr>
          <a:xfrm>
            <a:off x="762000" y="804863"/>
            <a:ext cx="2657475" cy="841375"/>
          </a:xfrm>
        </p:spPr>
        <p:txBody>
          <a:bodyPr vert="horz" wrap="square" lIns="91440" tIns="45720" rIns="91440" bIns="45720" anchor="ctr" anchorCtr="0"/>
          <a:p>
            <a:pPr eaLnBrk="1" hangingPunct="1"/>
            <a:r>
              <a:rPr lang="zh-CN" altLang="en-US" dirty="0">
                <a:solidFill>
                  <a:srgbClr val="000033"/>
                </a:solidFill>
                <a:latin typeface="宋体" panose="02010600030101010101" pitchFamily="2" charset="-122"/>
                <a:ea typeface="宋体" panose="02010600030101010101" pitchFamily="2" charset="-122"/>
              </a:rPr>
              <a:t>（</a:t>
            </a:r>
            <a:r>
              <a:rPr lang="en-US" altLang="zh-CN" dirty="0">
                <a:solidFill>
                  <a:srgbClr val="000033"/>
                </a:solidFill>
                <a:latin typeface="宋体" panose="02010600030101010101" pitchFamily="2" charset="-122"/>
                <a:ea typeface="宋体" panose="02010600030101010101" pitchFamily="2" charset="-122"/>
              </a:rPr>
              <a:t>1</a:t>
            </a:r>
            <a:r>
              <a:rPr lang="zh-CN" altLang="en-US" dirty="0">
                <a:solidFill>
                  <a:srgbClr val="000033"/>
                </a:solidFill>
                <a:latin typeface="宋体" panose="02010600030101010101" pitchFamily="2" charset="-122"/>
                <a:ea typeface="宋体" panose="02010600030101010101" pitchFamily="2" charset="-122"/>
              </a:rPr>
              <a:t>）中断指令</a:t>
            </a:r>
            <a:endParaRPr lang="zh-CN" altLang="en-US" dirty="0">
              <a:solidFill>
                <a:srgbClr val="000033"/>
              </a:solidFill>
              <a:latin typeface="宋体" panose="02010600030101010101" pitchFamily="2" charset="-122"/>
              <a:ea typeface="宋体" panose="02010600030101010101" pitchFamily="2" charset="-122"/>
            </a:endParaRPr>
          </a:p>
        </p:txBody>
      </p:sp>
      <p:sp>
        <p:nvSpPr>
          <p:cNvPr id="172036" name="Rectangle 3"/>
          <p:cNvSpPr>
            <a:spLocks noGrp="1"/>
          </p:cNvSpPr>
          <p:nvPr>
            <p:ph type="body" idx="4294967295"/>
          </p:nvPr>
        </p:nvSpPr>
        <p:spPr>
          <a:xfrm>
            <a:off x="1042988" y="2060575"/>
            <a:ext cx="3605212" cy="2520950"/>
          </a:xfrm>
        </p:spPr>
        <p:txBody>
          <a:bodyPr vert="horz" wrap="square" lIns="91440" tIns="45720" rIns="91440" bIns="45720" anchor="t" anchorCtr="0"/>
          <a:p>
            <a:pPr eaLnBrk="1" hangingPunct="1">
              <a:buFont typeface="Wingdings" panose="05000000000000000000" pitchFamily="2" charset="2"/>
              <a:buChar char="l"/>
            </a:pPr>
            <a:r>
              <a:rPr lang="zh-CN" altLang="en-US" dirty="0">
                <a:ea typeface="宋体" panose="02010600030101010101" pitchFamily="2" charset="-122"/>
              </a:rPr>
              <a:t>格式：</a:t>
            </a:r>
            <a:endParaRPr lang="zh-CN" altLang="en-US" dirty="0">
              <a:ea typeface="宋体" panose="02010600030101010101" pitchFamily="2" charset="-122"/>
            </a:endParaRPr>
          </a:p>
          <a:p>
            <a:pPr eaLnBrk="1" hangingPunct="1">
              <a:buNone/>
            </a:pPr>
            <a:r>
              <a:rPr lang="zh-CN" altLang="en-US" dirty="0">
                <a:ea typeface="宋体" panose="02010600030101010101" pitchFamily="2" charset="-122"/>
              </a:rPr>
              <a:t>     </a:t>
            </a:r>
            <a:r>
              <a:rPr lang="en-US" altLang="zh-CN" dirty="0">
                <a:latin typeface="宋体" panose="02010600030101010101" pitchFamily="2" charset="-122"/>
                <a:ea typeface="宋体" panose="02010600030101010101" pitchFamily="2" charset="-122"/>
              </a:rPr>
              <a:t>INT  n</a:t>
            </a:r>
            <a:endParaRPr lang="en-US" altLang="zh-CN" dirty="0">
              <a:latin typeface="宋体" panose="02010600030101010101" pitchFamily="2" charset="-122"/>
              <a:ea typeface="宋体" panose="02010600030101010101" pitchFamily="2" charset="-122"/>
            </a:endParaRPr>
          </a:p>
          <a:p>
            <a:pPr eaLnBrk="1" hangingPunct="1">
              <a:spcBef>
                <a:spcPct val="50000"/>
              </a:spcBef>
              <a:buFont typeface="Wingdings" panose="05000000000000000000" pitchFamily="2" charset="2"/>
              <a:buChar char="l"/>
            </a:pPr>
            <a:r>
              <a:rPr lang="zh-CN" altLang="en-US" dirty="0">
                <a:ea typeface="宋体" panose="02010600030101010101" pitchFamily="2" charset="-122"/>
              </a:rPr>
              <a:t>说明：</a:t>
            </a:r>
            <a:endParaRPr lang="zh-CN" altLang="en-US" dirty="0">
              <a:ea typeface="宋体" panose="02010600030101010101" pitchFamily="2" charset="-122"/>
            </a:endParaRPr>
          </a:p>
          <a:p>
            <a:pPr eaLnBrk="1" hangingPunct="1">
              <a:buNone/>
            </a:pPr>
            <a:r>
              <a:rPr lang="en-US" altLang="zh-CN" dirty="0">
                <a:ea typeface="宋体" panose="02010600030101010101" pitchFamily="2" charset="-122"/>
              </a:rPr>
              <a:t>    </a:t>
            </a:r>
            <a:r>
              <a:rPr lang="en-US" altLang="zh-CN" dirty="0">
                <a:latin typeface="宋体" panose="02010600030101010101" pitchFamily="2" charset="-122"/>
                <a:ea typeface="宋体" panose="02010600030101010101" pitchFamily="2" charset="-122"/>
              </a:rPr>
              <a:t>nх4</a:t>
            </a:r>
            <a:endParaRPr lang="en-US" altLang="zh-CN" dirty="0">
              <a:solidFill>
                <a:srgbClr val="FF0000"/>
              </a:solidFill>
              <a:latin typeface="宋体" panose="02010600030101010101" pitchFamily="2" charset="-122"/>
              <a:ea typeface="宋体" panose="02010600030101010101" pitchFamily="2" charset="-122"/>
            </a:endParaRPr>
          </a:p>
        </p:txBody>
      </p:sp>
      <p:sp>
        <p:nvSpPr>
          <p:cNvPr id="172037" name="Rectangle 6"/>
          <p:cNvSpPr/>
          <p:nvPr/>
        </p:nvSpPr>
        <p:spPr>
          <a:xfrm>
            <a:off x="6719888" y="2708275"/>
            <a:ext cx="1601787" cy="381635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2038" name="Line 7"/>
          <p:cNvSpPr/>
          <p:nvPr/>
        </p:nvSpPr>
        <p:spPr>
          <a:xfrm>
            <a:off x="6719888" y="3622675"/>
            <a:ext cx="1600200" cy="0"/>
          </a:xfrm>
          <a:prstGeom prst="line">
            <a:avLst/>
          </a:prstGeom>
          <a:ln w="25400" cap="sq" cmpd="sng">
            <a:solidFill>
              <a:schemeClr val="tx1"/>
            </a:solidFill>
            <a:prstDash val="solid"/>
            <a:headEnd type="none" w="med" len="med"/>
            <a:tailEnd type="none" w="med" len="med"/>
          </a:ln>
        </p:spPr>
      </p:sp>
      <p:sp>
        <p:nvSpPr>
          <p:cNvPr id="172039" name="Line 8"/>
          <p:cNvSpPr/>
          <p:nvPr/>
        </p:nvSpPr>
        <p:spPr>
          <a:xfrm>
            <a:off x="6719888" y="4003675"/>
            <a:ext cx="1600200" cy="0"/>
          </a:xfrm>
          <a:prstGeom prst="line">
            <a:avLst/>
          </a:prstGeom>
          <a:ln w="25400" cap="sq" cmpd="sng">
            <a:solidFill>
              <a:schemeClr val="tx1"/>
            </a:solidFill>
            <a:prstDash val="solid"/>
            <a:headEnd type="none" w="med" len="med"/>
            <a:tailEnd type="none" w="med" len="med"/>
          </a:ln>
        </p:spPr>
      </p:sp>
      <p:sp>
        <p:nvSpPr>
          <p:cNvPr id="172040" name="Line 9"/>
          <p:cNvSpPr/>
          <p:nvPr/>
        </p:nvSpPr>
        <p:spPr>
          <a:xfrm>
            <a:off x="6719888" y="4384675"/>
            <a:ext cx="1600200" cy="0"/>
          </a:xfrm>
          <a:prstGeom prst="line">
            <a:avLst/>
          </a:prstGeom>
          <a:ln w="25400" cap="sq" cmpd="sng">
            <a:solidFill>
              <a:schemeClr val="tx1"/>
            </a:solidFill>
            <a:prstDash val="solid"/>
            <a:headEnd type="none" w="med" len="med"/>
            <a:tailEnd type="none" w="med" len="med"/>
          </a:ln>
        </p:spPr>
      </p:sp>
      <p:sp>
        <p:nvSpPr>
          <p:cNvPr id="172041" name="Line 10"/>
          <p:cNvSpPr/>
          <p:nvPr/>
        </p:nvSpPr>
        <p:spPr>
          <a:xfrm>
            <a:off x="6721475" y="3241675"/>
            <a:ext cx="1600200" cy="0"/>
          </a:xfrm>
          <a:prstGeom prst="line">
            <a:avLst/>
          </a:prstGeom>
          <a:ln w="25400" cap="sq" cmpd="sng">
            <a:solidFill>
              <a:schemeClr val="tx1"/>
            </a:solidFill>
            <a:prstDash val="solid"/>
            <a:headEnd type="none" w="med" len="med"/>
            <a:tailEnd type="none" w="med" len="med"/>
          </a:ln>
        </p:spPr>
      </p:sp>
      <p:sp>
        <p:nvSpPr>
          <p:cNvPr id="172042" name="Line 11"/>
          <p:cNvSpPr/>
          <p:nvPr/>
        </p:nvSpPr>
        <p:spPr>
          <a:xfrm>
            <a:off x="6721475" y="4765675"/>
            <a:ext cx="1600200" cy="0"/>
          </a:xfrm>
          <a:prstGeom prst="line">
            <a:avLst/>
          </a:prstGeom>
          <a:ln w="25400" cap="sq" cmpd="sng">
            <a:solidFill>
              <a:schemeClr val="tx1"/>
            </a:solidFill>
            <a:prstDash val="solid"/>
            <a:headEnd type="none" w="med" len="med"/>
            <a:tailEnd type="none" w="med" len="med"/>
          </a:ln>
        </p:spPr>
      </p:sp>
      <p:sp>
        <p:nvSpPr>
          <p:cNvPr id="172043" name="AutoShape 12"/>
          <p:cNvSpPr/>
          <p:nvPr/>
        </p:nvSpPr>
        <p:spPr>
          <a:xfrm>
            <a:off x="3059113" y="1844675"/>
            <a:ext cx="1655762" cy="863600"/>
          </a:xfrm>
          <a:prstGeom prst="wedgeRoundRectCallout">
            <a:avLst>
              <a:gd name="adj1" fmla="val -62079"/>
              <a:gd name="adj2" fmla="val 60662"/>
              <a:gd name="adj3" fmla="val 16667"/>
            </a:avLst>
          </a:prstGeom>
          <a:solidFill>
            <a:srgbClr val="FF6600"/>
          </a:solidFill>
          <a:ln w="25400" cap="sq" cmpd="sng">
            <a:solidFill>
              <a:srgbClr val="FF6600"/>
            </a:solidFill>
            <a:prstDash val="solid"/>
            <a:miter/>
            <a:headEnd type="none" w="med" len="med"/>
            <a:tailEnd type="none" w="med" len="med"/>
          </a:ln>
        </p:spPr>
        <p:txBody>
          <a:bodyPr/>
          <a:p>
            <a:pPr eaLnBrk="0" hangingPunct="0">
              <a:spcBef>
                <a:spcPct val="20000"/>
              </a:spcBef>
              <a:buFont typeface="Wingdings" panose="05000000000000000000" pitchFamily="2" charset="2"/>
            </a:pPr>
            <a:r>
              <a:rPr lang="zh-CN" altLang="en-US" sz="2000" b="1" dirty="0">
                <a:solidFill>
                  <a:schemeClr val="bg1"/>
                </a:solidFill>
                <a:latin typeface="Times New Roman" panose="02020603050405020304" pitchFamily="18" charset="0"/>
                <a:ea typeface="宋体" panose="02010600030101010101" pitchFamily="2" charset="-122"/>
              </a:rPr>
              <a:t>中断类型码</a:t>
            </a:r>
            <a:endParaRPr lang="zh-CN" altLang="en-US" sz="2000" b="1" dirty="0">
              <a:solidFill>
                <a:schemeClr val="bg1"/>
              </a:solidFill>
              <a:latin typeface="Times New Roman" panose="02020603050405020304" pitchFamily="18" charset="0"/>
              <a:ea typeface="宋体" panose="02010600030101010101" pitchFamily="2" charset="-122"/>
            </a:endParaRPr>
          </a:p>
          <a:p>
            <a:pPr eaLnBrk="0" hangingPunct="0">
              <a:spcBef>
                <a:spcPct val="2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n=0 〜 255</a:t>
            </a:r>
            <a:endParaRPr lang="zh-CN" altLang="en-US" sz="2000" b="1" dirty="0">
              <a:solidFill>
                <a:schemeClr val="bg1"/>
              </a:solidFill>
              <a:latin typeface="Times New Roman" panose="02020603050405020304" pitchFamily="18" charset="0"/>
              <a:ea typeface="宋体" panose="02010600030101010101" pitchFamily="2" charset="-122"/>
            </a:endParaRPr>
          </a:p>
        </p:txBody>
      </p:sp>
      <p:sp>
        <p:nvSpPr>
          <p:cNvPr id="172044" name="Text Box 13"/>
          <p:cNvSpPr txBox="1"/>
          <p:nvPr/>
        </p:nvSpPr>
        <p:spPr>
          <a:xfrm>
            <a:off x="5037138" y="3052763"/>
            <a:ext cx="1136650" cy="461962"/>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宋体" panose="02010600030101010101" pitchFamily="2" charset="-122"/>
                <a:ea typeface="宋体" panose="02010600030101010101" pitchFamily="2" charset="-122"/>
              </a:rPr>
              <a:t>n х4 </a:t>
            </a:r>
            <a:endParaRPr lang="en-US" altLang="zh-CN" sz="2400" b="1" dirty="0">
              <a:latin typeface="宋体" panose="02010600030101010101" pitchFamily="2" charset="-122"/>
              <a:ea typeface="宋体" panose="02010600030101010101" pitchFamily="2" charset="-122"/>
            </a:endParaRPr>
          </a:p>
        </p:txBody>
      </p:sp>
      <p:sp>
        <p:nvSpPr>
          <p:cNvPr id="172045" name="Line 14"/>
          <p:cNvSpPr/>
          <p:nvPr/>
        </p:nvSpPr>
        <p:spPr>
          <a:xfrm flipV="1">
            <a:off x="5957888" y="3355975"/>
            <a:ext cx="647700" cy="0"/>
          </a:xfrm>
          <a:prstGeom prst="line">
            <a:avLst/>
          </a:prstGeom>
          <a:ln w="25400" cap="sq" cmpd="sng">
            <a:solidFill>
              <a:srgbClr val="FF6600"/>
            </a:solidFill>
            <a:prstDash val="solid"/>
            <a:headEnd type="none" w="med" len="med"/>
            <a:tailEnd type="triangle" w="lg" len="lg"/>
          </a:ln>
        </p:spPr>
      </p:sp>
      <p:sp>
        <p:nvSpPr>
          <p:cNvPr id="172046" name="Text Box 15"/>
          <p:cNvSpPr txBox="1"/>
          <p:nvPr/>
        </p:nvSpPr>
        <p:spPr>
          <a:xfrm>
            <a:off x="7116763" y="3227388"/>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XXH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72047" name="Text Box 16"/>
          <p:cNvSpPr txBox="1"/>
          <p:nvPr/>
        </p:nvSpPr>
        <p:spPr>
          <a:xfrm>
            <a:off x="7116763" y="3608388"/>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XXH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72048" name="Text Box 17"/>
          <p:cNvSpPr txBox="1"/>
          <p:nvPr/>
        </p:nvSpPr>
        <p:spPr>
          <a:xfrm>
            <a:off x="7116763" y="3989388"/>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XXH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72049" name="Text Box 18"/>
          <p:cNvSpPr txBox="1"/>
          <p:nvPr/>
        </p:nvSpPr>
        <p:spPr>
          <a:xfrm>
            <a:off x="7116763" y="4370388"/>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XXH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72050" name="AutoShape 19"/>
          <p:cNvSpPr/>
          <p:nvPr/>
        </p:nvSpPr>
        <p:spPr>
          <a:xfrm>
            <a:off x="6840538" y="3389313"/>
            <a:ext cx="168275" cy="523875"/>
          </a:xfrm>
          <a:prstGeom prst="leftBrace">
            <a:avLst>
              <a:gd name="adj1" fmla="val 25741"/>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2051" name="AutoShape 20"/>
          <p:cNvSpPr/>
          <p:nvPr/>
        </p:nvSpPr>
        <p:spPr>
          <a:xfrm>
            <a:off x="6840538" y="4152900"/>
            <a:ext cx="168275" cy="493713"/>
          </a:xfrm>
          <a:prstGeom prst="leftBrace">
            <a:avLst>
              <a:gd name="adj1" fmla="val 24259"/>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2052" name="Text Box 23"/>
          <p:cNvSpPr txBox="1"/>
          <p:nvPr/>
        </p:nvSpPr>
        <p:spPr>
          <a:xfrm>
            <a:off x="4284663" y="4471988"/>
            <a:ext cx="1871662"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入口的段地址</a:t>
            </a:r>
            <a:endParaRPr lang="en-US" altLang="zh-CN" sz="2000" b="1" dirty="0">
              <a:latin typeface="Times New Roman" panose="02020603050405020304" pitchFamily="18" charset="0"/>
              <a:ea typeface="宋体" panose="02010600030101010101" pitchFamily="2" charset="-122"/>
            </a:endParaRPr>
          </a:p>
        </p:txBody>
      </p:sp>
      <p:sp>
        <p:nvSpPr>
          <p:cNvPr id="172053" name="Text Box 24"/>
          <p:cNvSpPr txBox="1"/>
          <p:nvPr/>
        </p:nvSpPr>
        <p:spPr>
          <a:xfrm>
            <a:off x="3851275" y="3752850"/>
            <a:ext cx="2047875"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入口的偏移地址</a:t>
            </a:r>
            <a:endParaRPr lang="en-US" altLang="zh-CN" sz="2000" b="1" dirty="0">
              <a:latin typeface="Times New Roman" panose="02020603050405020304" pitchFamily="18" charset="0"/>
              <a:ea typeface="宋体" panose="02010600030101010101" pitchFamily="2" charset="-122"/>
            </a:endParaRPr>
          </a:p>
        </p:txBody>
      </p:sp>
      <p:sp>
        <p:nvSpPr>
          <p:cNvPr id="172054" name="Line 26"/>
          <p:cNvSpPr/>
          <p:nvPr/>
        </p:nvSpPr>
        <p:spPr>
          <a:xfrm flipH="1">
            <a:off x="6011863" y="4364038"/>
            <a:ext cx="738187" cy="288925"/>
          </a:xfrm>
          <a:prstGeom prst="line">
            <a:avLst/>
          </a:prstGeom>
          <a:ln w="25400" cap="sq" cmpd="sng">
            <a:solidFill>
              <a:srgbClr val="FF6600"/>
            </a:solidFill>
            <a:prstDash val="solid"/>
            <a:headEnd type="oval" w="med" len="med"/>
            <a:tailEnd type="triangle" w="lg" len="lg"/>
          </a:ln>
        </p:spPr>
      </p:sp>
      <p:sp>
        <p:nvSpPr>
          <p:cNvPr id="172055" name="Line 27"/>
          <p:cNvSpPr/>
          <p:nvPr/>
        </p:nvSpPr>
        <p:spPr>
          <a:xfrm flipH="1">
            <a:off x="5795963" y="3571875"/>
            <a:ext cx="938212" cy="361950"/>
          </a:xfrm>
          <a:prstGeom prst="line">
            <a:avLst/>
          </a:prstGeom>
          <a:ln w="25400" cap="sq" cmpd="sng">
            <a:solidFill>
              <a:srgbClr val="FF6600"/>
            </a:solidFill>
            <a:prstDash val="solid"/>
            <a:headEnd type="oval" w="med" len="med"/>
            <a:tailEnd type="triangle" w="lg" len="lg"/>
          </a:ln>
        </p:spPr>
      </p:sp>
      <p:sp>
        <p:nvSpPr>
          <p:cNvPr id="172056" name="Text Box 28"/>
          <p:cNvSpPr txBox="1"/>
          <p:nvPr/>
        </p:nvSpPr>
        <p:spPr>
          <a:xfrm>
            <a:off x="468313" y="4941888"/>
            <a:ext cx="3671887" cy="82232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存放中断服务子程序入口地址的单元的偏移地址</a:t>
            </a:r>
            <a:endParaRPr lang="zh-CN" altLang="en-US" sz="2400" b="1" dirty="0">
              <a:latin typeface="Times New Roman" panose="02020603050405020304" pitchFamily="18" charset="0"/>
              <a:ea typeface="宋体" panose="02010600030101010101" pitchFamily="2" charset="-122"/>
            </a:endParaRPr>
          </a:p>
        </p:txBody>
      </p:sp>
      <p:sp>
        <p:nvSpPr>
          <p:cNvPr id="172057" name="Line 29"/>
          <p:cNvSpPr/>
          <p:nvPr/>
        </p:nvSpPr>
        <p:spPr>
          <a:xfrm>
            <a:off x="1908175" y="4365625"/>
            <a:ext cx="0" cy="576263"/>
          </a:xfrm>
          <a:prstGeom prst="line">
            <a:avLst/>
          </a:prstGeom>
          <a:ln w="25400" cap="sq" cmpd="sng">
            <a:solidFill>
              <a:srgbClr val="FF6600"/>
            </a:solidFill>
            <a:prstDash val="solid"/>
            <a:headEnd type="none" w="med" len="med"/>
            <a:tailEnd type="triangle" w="lg" len="lg"/>
          </a:ln>
        </p:spPr>
      </p:sp>
      <p:sp>
        <p:nvSpPr>
          <p:cNvPr id="172058" name="Line 37"/>
          <p:cNvSpPr/>
          <p:nvPr/>
        </p:nvSpPr>
        <p:spPr>
          <a:xfrm>
            <a:off x="6721475" y="5445125"/>
            <a:ext cx="1600200" cy="0"/>
          </a:xfrm>
          <a:prstGeom prst="line">
            <a:avLst/>
          </a:prstGeom>
          <a:ln w="25400" cap="sq" cmpd="sng">
            <a:solidFill>
              <a:schemeClr val="tx1"/>
            </a:solidFill>
            <a:prstDash val="solid"/>
            <a:headEnd type="none" w="med" len="med"/>
            <a:tailEnd type="none" w="med" len="med"/>
          </a:ln>
        </p:spPr>
      </p:sp>
      <p:sp>
        <p:nvSpPr>
          <p:cNvPr id="172059" name="Line 38"/>
          <p:cNvSpPr/>
          <p:nvPr/>
        </p:nvSpPr>
        <p:spPr>
          <a:xfrm>
            <a:off x="6721475" y="5876925"/>
            <a:ext cx="1600200" cy="0"/>
          </a:xfrm>
          <a:prstGeom prst="line">
            <a:avLst/>
          </a:prstGeom>
          <a:ln w="25400" cap="sq" cmpd="sng">
            <a:solidFill>
              <a:schemeClr val="tx1"/>
            </a:solidFill>
            <a:prstDash val="solid"/>
            <a:headEnd type="none" w="med" len="med"/>
            <a:tailEnd type="none" w="med" len="med"/>
          </a:ln>
        </p:spPr>
      </p:sp>
      <p:sp>
        <p:nvSpPr>
          <p:cNvPr id="172060" name="AutoShape 41"/>
          <p:cNvSpPr/>
          <p:nvPr/>
        </p:nvSpPr>
        <p:spPr>
          <a:xfrm rot="10800000">
            <a:off x="8405813" y="5229225"/>
            <a:ext cx="144462" cy="1079500"/>
          </a:xfrm>
          <a:prstGeom prst="leftBrace">
            <a:avLst>
              <a:gd name="adj1" fmla="val 61786"/>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2061" name="AutoShape 42"/>
          <p:cNvSpPr/>
          <p:nvPr/>
        </p:nvSpPr>
        <p:spPr>
          <a:xfrm rot="10800000">
            <a:off x="8405813" y="3067050"/>
            <a:ext cx="144462" cy="1873250"/>
          </a:xfrm>
          <a:prstGeom prst="leftBrace">
            <a:avLst>
              <a:gd name="adj1" fmla="val 107218"/>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2062" name="Text Box 43"/>
          <p:cNvSpPr txBox="1"/>
          <p:nvPr/>
        </p:nvSpPr>
        <p:spPr>
          <a:xfrm>
            <a:off x="8550275" y="5464175"/>
            <a:ext cx="457200" cy="915988"/>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代码段</a:t>
            </a:r>
            <a:endParaRPr lang="zh-CN" altLang="en-US" sz="2400" b="1" dirty="0">
              <a:latin typeface="Times New Roman" panose="02020603050405020304" pitchFamily="18" charset="0"/>
              <a:ea typeface="宋体" panose="02010600030101010101" pitchFamily="2" charset="-122"/>
            </a:endParaRPr>
          </a:p>
        </p:txBody>
      </p:sp>
      <p:sp>
        <p:nvSpPr>
          <p:cNvPr id="172063" name="Text Box 44"/>
          <p:cNvSpPr txBox="1"/>
          <p:nvPr/>
        </p:nvSpPr>
        <p:spPr>
          <a:xfrm>
            <a:off x="8578850" y="3521075"/>
            <a:ext cx="457200" cy="915988"/>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数据段</a:t>
            </a:r>
            <a:endParaRPr lang="zh-CN" altLang="en-US" sz="2400" b="1" dirty="0">
              <a:latin typeface="Times New Roman" panose="02020603050405020304" pitchFamily="18" charset="0"/>
              <a:ea typeface="宋体" panose="02010600030101010101" pitchFamily="2" charset="-122"/>
            </a:endParaRPr>
          </a:p>
        </p:txBody>
      </p:sp>
      <p:sp>
        <p:nvSpPr>
          <p:cNvPr id="172064" name="Text Box 45"/>
          <p:cNvSpPr txBox="1"/>
          <p:nvPr/>
        </p:nvSpPr>
        <p:spPr>
          <a:xfrm>
            <a:off x="7224713" y="4843463"/>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72065" name="Text Box 47"/>
          <p:cNvSpPr txBox="1"/>
          <p:nvPr/>
        </p:nvSpPr>
        <p:spPr>
          <a:xfrm>
            <a:off x="395288" y="5851525"/>
            <a:ext cx="4392612" cy="457200"/>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该单元在数据段，段地址</a:t>
            </a:r>
            <a:r>
              <a:rPr lang="en-US" altLang="zh-CN" sz="2400" b="1" dirty="0">
                <a:latin typeface="Times New Roman" panose="02020603050405020304" pitchFamily="18" charset="0"/>
                <a:ea typeface="宋体" panose="02010600030101010101" pitchFamily="2" charset="-122"/>
              </a:rPr>
              <a:t>=DS</a:t>
            </a:r>
            <a:endParaRPr lang="en-US" altLang="zh-CN" sz="2400" b="1" dirty="0">
              <a:latin typeface="Times New Roman" panose="02020603050405020304" pitchFamily="18" charset="0"/>
              <a:ea typeface="宋体" panose="02010600030101010101" pitchFamily="2" charset="-122"/>
            </a:endParaRPr>
          </a:p>
        </p:txBody>
      </p:sp>
      <p:sp>
        <p:nvSpPr>
          <p:cNvPr id="172066" name="Text Box 48"/>
          <p:cNvSpPr txBox="1"/>
          <p:nvPr/>
        </p:nvSpPr>
        <p:spPr>
          <a:xfrm>
            <a:off x="7253288" y="5995988"/>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2036">
                                            <p:txEl>
                                              <p:charRg st="0" end="4"/>
                                            </p:txEl>
                                          </p:spTgt>
                                        </p:tgtEl>
                                        <p:attrNameLst>
                                          <p:attrName>style.visibility</p:attrName>
                                        </p:attrNameLst>
                                      </p:cBhvr>
                                      <p:to>
                                        <p:strVal val="visible"/>
                                      </p:to>
                                    </p:set>
                                    <p:animEffect transition="in" filter="wipe(left)">
                                      <p:cBhvr>
                                        <p:cTn id="7" dur="500"/>
                                        <p:tgtEl>
                                          <p:spTgt spid="172036">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72036">
                                            <p:txEl>
                                              <p:charRg st="4" end="16"/>
                                            </p:txEl>
                                          </p:spTgt>
                                        </p:tgtEl>
                                        <p:attrNameLst>
                                          <p:attrName>style.visibility</p:attrName>
                                        </p:attrNameLst>
                                      </p:cBhvr>
                                      <p:to>
                                        <p:strVal val="visible"/>
                                      </p:to>
                                    </p:set>
                                    <p:animEffect transition="in" filter="wipe(left)">
                                      <p:cBhvr>
                                        <p:cTn id="11" dur="500"/>
                                        <p:tgtEl>
                                          <p:spTgt spid="172036">
                                            <p:txEl>
                                              <p:charRg st="4" end="16"/>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1" fill="hold" grpId="0" nodeType="clickEffect">
                                  <p:stCondLst>
                                    <p:cond delay="0"/>
                                  </p:stCondLst>
                                  <p:childTnLst>
                                    <p:set>
                                      <p:cBhvr>
                                        <p:cTn id="15" dur="1" fill="hold">
                                          <p:stCondLst>
                                            <p:cond delay="0"/>
                                          </p:stCondLst>
                                        </p:cTn>
                                        <p:tgtEl>
                                          <p:spTgt spid="172043"/>
                                        </p:tgtEl>
                                        <p:attrNameLst>
                                          <p:attrName>style.visibility</p:attrName>
                                        </p:attrNameLst>
                                      </p:cBhvr>
                                      <p:to>
                                        <p:strVal val="visible"/>
                                      </p:to>
                                    </p:set>
                                    <p:anim calcmode="lin" valueType="num">
                                      <p:cBhvr>
                                        <p:cTn id="16" dur="500" fill="hold"/>
                                        <p:tgtEl>
                                          <p:spTgt spid="172043"/>
                                        </p:tgtEl>
                                        <p:attrNameLst>
                                          <p:attrName>ppt_x</p:attrName>
                                        </p:attrNameLst>
                                      </p:cBhvr>
                                      <p:tavLst>
                                        <p:tav tm="0">
                                          <p:val>
                                            <p:strVal val="#ppt_x"/>
                                          </p:val>
                                        </p:tav>
                                        <p:tav tm="100000">
                                          <p:val>
                                            <p:strVal val="#ppt_x"/>
                                          </p:val>
                                        </p:tav>
                                      </p:tavLst>
                                    </p:anim>
                                    <p:anim calcmode="lin" valueType="num">
                                      <p:cBhvr>
                                        <p:cTn id="17" dur="500" fill="hold"/>
                                        <p:tgtEl>
                                          <p:spTgt spid="172043"/>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2036">
                                            <p:txEl>
                                              <p:charRg st="16" end="20"/>
                                            </p:txEl>
                                          </p:spTgt>
                                        </p:tgtEl>
                                        <p:attrNameLst>
                                          <p:attrName>style.visibility</p:attrName>
                                        </p:attrNameLst>
                                      </p:cBhvr>
                                      <p:to>
                                        <p:strVal val="visible"/>
                                      </p:to>
                                    </p:set>
                                    <p:animEffect transition="in" filter="wipe(left)">
                                      <p:cBhvr>
                                        <p:cTn id="22" dur="500"/>
                                        <p:tgtEl>
                                          <p:spTgt spid="172036">
                                            <p:txEl>
                                              <p:charRg st="16" end="2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2036">
                                            <p:txEl>
                                              <p:charRg st="20" end="28"/>
                                            </p:txEl>
                                          </p:spTgt>
                                        </p:tgtEl>
                                        <p:attrNameLst>
                                          <p:attrName>style.visibility</p:attrName>
                                        </p:attrNameLst>
                                      </p:cBhvr>
                                      <p:to>
                                        <p:strVal val="visible"/>
                                      </p:to>
                                    </p:set>
                                    <p:animEffect transition="in" filter="wipe(left)">
                                      <p:cBhvr>
                                        <p:cTn id="27" dur="500"/>
                                        <p:tgtEl>
                                          <p:spTgt spid="172036">
                                            <p:txEl>
                                              <p:charRg st="20" end="28"/>
                                            </p:txEl>
                                          </p:spTgt>
                                        </p:tgtEl>
                                      </p:cBhvr>
                                    </p:animEffect>
                                  </p:childTnLst>
                                </p:cTn>
                              </p:par>
                            </p:childTnLst>
                          </p:cTn>
                        </p:par>
                        <p:par>
                          <p:cTn id="28" fill="hold">
                            <p:stCondLst>
                              <p:cond delay="500"/>
                            </p:stCondLst>
                            <p:childTnLst>
                              <p:par>
                                <p:cTn id="29" presetID="22" presetClass="entr" presetSubtype="1" fill="hold" nodeType="afterEffect">
                                  <p:stCondLst>
                                    <p:cond delay="0"/>
                                  </p:stCondLst>
                                  <p:childTnLst>
                                    <p:set>
                                      <p:cBhvr>
                                        <p:cTn id="30" dur="1" fill="hold">
                                          <p:stCondLst>
                                            <p:cond delay="0"/>
                                          </p:stCondLst>
                                        </p:cTn>
                                        <p:tgtEl>
                                          <p:spTgt spid="172057"/>
                                        </p:tgtEl>
                                        <p:attrNameLst>
                                          <p:attrName>style.visibility</p:attrName>
                                        </p:attrNameLst>
                                      </p:cBhvr>
                                      <p:to>
                                        <p:strVal val="visible"/>
                                      </p:to>
                                    </p:set>
                                    <p:animEffect transition="in" filter="wipe(up)">
                                      <p:cBhvr>
                                        <p:cTn id="31" dur="500"/>
                                        <p:tgtEl>
                                          <p:spTgt spid="172057"/>
                                        </p:tgtEl>
                                      </p:cBhvr>
                                    </p:animEffect>
                                  </p:childTnLst>
                                </p:cTn>
                              </p:par>
                            </p:childTnLst>
                          </p:cTn>
                        </p:par>
                        <p:par>
                          <p:cTn id="32" fill="hold">
                            <p:stCondLst>
                              <p:cond delay="1000"/>
                            </p:stCondLst>
                            <p:childTnLst>
                              <p:par>
                                <p:cTn id="33" presetID="3" presetClass="entr" presetSubtype="10" fill="hold" grpId="0" nodeType="afterEffect">
                                  <p:stCondLst>
                                    <p:cond delay="0"/>
                                  </p:stCondLst>
                                  <p:childTnLst>
                                    <p:set>
                                      <p:cBhvr>
                                        <p:cTn id="34" dur="1" fill="hold">
                                          <p:stCondLst>
                                            <p:cond delay="0"/>
                                          </p:stCondLst>
                                        </p:cTn>
                                        <p:tgtEl>
                                          <p:spTgt spid="172056"/>
                                        </p:tgtEl>
                                        <p:attrNameLst>
                                          <p:attrName>style.visibility</p:attrName>
                                        </p:attrNameLst>
                                      </p:cBhvr>
                                      <p:to>
                                        <p:strVal val="visible"/>
                                      </p:to>
                                    </p:set>
                                    <p:animEffect transition="in" filter="blinds(horizontal)">
                                      <p:cBhvr>
                                        <p:cTn id="35" dur="500"/>
                                        <p:tgtEl>
                                          <p:spTgt spid="17205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72065"/>
                                        </p:tgtEl>
                                        <p:attrNameLst>
                                          <p:attrName>style.visibility</p:attrName>
                                        </p:attrNameLst>
                                      </p:cBhvr>
                                      <p:to>
                                        <p:strVal val="visible"/>
                                      </p:to>
                                    </p:set>
                                    <p:animEffect transition="in" filter="wipe(left)">
                                      <p:cBhvr>
                                        <p:cTn id="40" dur="500"/>
                                        <p:tgtEl>
                                          <p:spTgt spid="172065"/>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72037"/>
                                        </p:tgtEl>
                                        <p:attrNameLst>
                                          <p:attrName>style.visibility</p:attrName>
                                        </p:attrNameLst>
                                      </p:cBhvr>
                                      <p:to>
                                        <p:strVal val="visible"/>
                                      </p:to>
                                    </p:set>
                                    <p:anim calcmode="lin" valueType="num">
                                      <p:cBhvr>
                                        <p:cTn id="45" dur="500" fill="hold"/>
                                        <p:tgtEl>
                                          <p:spTgt spid="172037"/>
                                        </p:tgtEl>
                                        <p:attrNameLst>
                                          <p:attrName>ppt_x</p:attrName>
                                        </p:attrNameLst>
                                      </p:cBhvr>
                                      <p:tavLst>
                                        <p:tav tm="0">
                                          <p:val>
                                            <p:strVal val="#ppt_x"/>
                                          </p:val>
                                        </p:tav>
                                        <p:tav tm="100000">
                                          <p:val>
                                            <p:strVal val="#ppt_x"/>
                                          </p:val>
                                        </p:tav>
                                      </p:tavLst>
                                    </p:anim>
                                    <p:anim calcmode="lin" valueType="num">
                                      <p:cBhvr>
                                        <p:cTn id="46" dur="500" fill="hold"/>
                                        <p:tgtEl>
                                          <p:spTgt spid="172037"/>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72038"/>
                                        </p:tgtEl>
                                        <p:attrNameLst>
                                          <p:attrName>style.visibility</p:attrName>
                                        </p:attrNameLst>
                                      </p:cBhvr>
                                      <p:to>
                                        <p:strVal val="visible"/>
                                      </p:to>
                                    </p:set>
                                    <p:anim calcmode="lin" valueType="num">
                                      <p:cBhvr>
                                        <p:cTn id="49" dur="500" fill="hold"/>
                                        <p:tgtEl>
                                          <p:spTgt spid="172038"/>
                                        </p:tgtEl>
                                        <p:attrNameLst>
                                          <p:attrName>ppt_x</p:attrName>
                                        </p:attrNameLst>
                                      </p:cBhvr>
                                      <p:tavLst>
                                        <p:tav tm="0">
                                          <p:val>
                                            <p:strVal val="#ppt_x"/>
                                          </p:val>
                                        </p:tav>
                                        <p:tav tm="100000">
                                          <p:val>
                                            <p:strVal val="#ppt_x"/>
                                          </p:val>
                                        </p:tav>
                                      </p:tavLst>
                                    </p:anim>
                                    <p:anim calcmode="lin" valueType="num">
                                      <p:cBhvr>
                                        <p:cTn id="50" dur="500" fill="hold"/>
                                        <p:tgtEl>
                                          <p:spTgt spid="172038"/>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72039"/>
                                        </p:tgtEl>
                                        <p:attrNameLst>
                                          <p:attrName>style.visibility</p:attrName>
                                        </p:attrNameLst>
                                      </p:cBhvr>
                                      <p:to>
                                        <p:strVal val="visible"/>
                                      </p:to>
                                    </p:set>
                                    <p:anim calcmode="lin" valueType="num">
                                      <p:cBhvr>
                                        <p:cTn id="53" dur="500" fill="hold"/>
                                        <p:tgtEl>
                                          <p:spTgt spid="172039"/>
                                        </p:tgtEl>
                                        <p:attrNameLst>
                                          <p:attrName>ppt_x</p:attrName>
                                        </p:attrNameLst>
                                      </p:cBhvr>
                                      <p:tavLst>
                                        <p:tav tm="0">
                                          <p:val>
                                            <p:strVal val="#ppt_x"/>
                                          </p:val>
                                        </p:tav>
                                        <p:tav tm="100000">
                                          <p:val>
                                            <p:strVal val="#ppt_x"/>
                                          </p:val>
                                        </p:tav>
                                      </p:tavLst>
                                    </p:anim>
                                    <p:anim calcmode="lin" valueType="num">
                                      <p:cBhvr>
                                        <p:cTn id="54" dur="500" fill="hold"/>
                                        <p:tgtEl>
                                          <p:spTgt spid="172039"/>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72040"/>
                                        </p:tgtEl>
                                        <p:attrNameLst>
                                          <p:attrName>style.visibility</p:attrName>
                                        </p:attrNameLst>
                                      </p:cBhvr>
                                      <p:to>
                                        <p:strVal val="visible"/>
                                      </p:to>
                                    </p:set>
                                    <p:anim calcmode="lin" valueType="num">
                                      <p:cBhvr>
                                        <p:cTn id="57" dur="500" fill="hold"/>
                                        <p:tgtEl>
                                          <p:spTgt spid="172040"/>
                                        </p:tgtEl>
                                        <p:attrNameLst>
                                          <p:attrName>ppt_x</p:attrName>
                                        </p:attrNameLst>
                                      </p:cBhvr>
                                      <p:tavLst>
                                        <p:tav tm="0">
                                          <p:val>
                                            <p:strVal val="#ppt_x"/>
                                          </p:val>
                                        </p:tav>
                                        <p:tav tm="100000">
                                          <p:val>
                                            <p:strVal val="#ppt_x"/>
                                          </p:val>
                                        </p:tav>
                                      </p:tavLst>
                                    </p:anim>
                                    <p:anim calcmode="lin" valueType="num">
                                      <p:cBhvr>
                                        <p:cTn id="58" dur="500" fill="hold"/>
                                        <p:tgtEl>
                                          <p:spTgt spid="172040"/>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72041"/>
                                        </p:tgtEl>
                                        <p:attrNameLst>
                                          <p:attrName>style.visibility</p:attrName>
                                        </p:attrNameLst>
                                      </p:cBhvr>
                                      <p:to>
                                        <p:strVal val="visible"/>
                                      </p:to>
                                    </p:set>
                                    <p:anim calcmode="lin" valueType="num">
                                      <p:cBhvr>
                                        <p:cTn id="61" dur="500" fill="hold"/>
                                        <p:tgtEl>
                                          <p:spTgt spid="172041"/>
                                        </p:tgtEl>
                                        <p:attrNameLst>
                                          <p:attrName>ppt_x</p:attrName>
                                        </p:attrNameLst>
                                      </p:cBhvr>
                                      <p:tavLst>
                                        <p:tav tm="0">
                                          <p:val>
                                            <p:strVal val="#ppt_x"/>
                                          </p:val>
                                        </p:tav>
                                        <p:tav tm="100000">
                                          <p:val>
                                            <p:strVal val="#ppt_x"/>
                                          </p:val>
                                        </p:tav>
                                      </p:tavLst>
                                    </p:anim>
                                    <p:anim calcmode="lin" valueType="num">
                                      <p:cBhvr>
                                        <p:cTn id="62" dur="500" fill="hold"/>
                                        <p:tgtEl>
                                          <p:spTgt spid="172041"/>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172042"/>
                                        </p:tgtEl>
                                        <p:attrNameLst>
                                          <p:attrName>style.visibility</p:attrName>
                                        </p:attrNameLst>
                                      </p:cBhvr>
                                      <p:to>
                                        <p:strVal val="visible"/>
                                      </p:to>
                                    </p:set>
                                    <p:anim calcmode="lin" valueType="num">
                                      <p:cBhvr>
                                        <p:cTn id="65" dur="500" fill="hold"/>
                                        <p:tgtEl>
                                          <p:spTgt spid="172042"/>
                                        </p:tgtEl>
                                        <p:attrNameLst>
                                          <p:attrName>ppt_x</p:attrName>
                                        </p:attrNameLst>
                                      </p:cBhvr>
                                      <p:tavLst>
                                        <p:tav tm="0">
                                          <p:val>
                                            <p:strVal val="#ppt_x"/>
                                          </p:val>
                                        </p:tav>
                                        <p:tav tm="100000">
                                          <p:val>
                                            <p:strVal val="#ppt_x"/>
                                          </p:val>
                                        </p:tav>
                                      </p:tavLst>
                                    </p:anim>
                                    <p:anim calcmode="lin" valueType="num">
                                      <p:cBhvr>
                                        <p:cTn id="66" dur="500" fill="hold"/>
                                        <p:tgtEl>
                                          <p:spTgt spid="172042"/>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72046"/>
                                        </p:tgtEl>
                                        <p:attrNameLst>
                                          <p:attrName>style.visibility</p:attrName>
                                        </p:attrNameLst>
                                      </p:cBhvr>
                                      <p:to>
                                        <p:strVal val="visible"/>
                                      </p:to>
                                    </p:set>
                                    <p:anim calcmode="lin" valueType="num">
                                      <p:cBhvr>
                                        <p:cTn id="69" dur="500" fill="hold"/>
                                        <p:tgtEl>
                                          <p:spTgt spid="172046"/>
                                        </p:tgtEl>
                                        <p:attrNameLst>
                                          <p:attrName>ppt_x</p:attrName>
                                        </p:attrNameLst>
                                      </p:cBhvr>
                                      <p:tavLst>
                                        <p:tav tm="0">
                                          <p:val>
                                            <p:strVal val="#ppt_x"/>
                                          </p:val>
                                        </p:tav>
                                        <p:tav tm="100000">
                                          <p:val>
                                            <p:strVal val="#ppt_x"/>
                                          </p:val>
                                        </p:tav>
                                      </p:tavLst>
                                    </p:anim>
                                    <p:anim calcmode="lin" valueType="num">
                                      <p:cBhvr>
                                        <p:cTn id="70" dur="500" fill="hold"/>
                                        <p:tgtEl>
                                          <p:spTgt spid="172046"/>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72047"/>
                                        </p:tgtEl>
                                        <p:attrNameLst>
                                          <p:attrName>style.visibility</p:attrName>
                                        </p:attrNameLst>
                                      </p:cBhvr>
                                      <p:to>
                                        <p:strVal val="visible"/>
                                      </p:to>
                                    </p:set>
                                    <p:anim calcmode="lin" valueType="num">
                                      <p:cBhvr>
                                        <p:cTn id="73" dur="500" fill="hold"/>
                                        <p:tgtEl>
                                          <p:spTgt spid="172047"/>
                                        </p:tgtEl>
                                        <p:attrNameLst>
                                          <p:attrName>ppt_x</p:attrName>
                                        </p:attrNameLst>
                                      </p:cBhvr>
                                      <p:tavLst>
                                        <p:tav tm="0">
                                          <p:val>
                                            <p:strVal val="#ppt_x"/>
                                          </p:val>
                                        </p:tav>
                                        <p:tav tm="100000">
                                          <p:val>
                                            <p:strVal val="#ppt_x"/>
                                          </p:val>
                                        </p:tav>
                                      </p:tavLst>
                                    </p:anim>
                                    <p:anim calcmode="lin" valueType="num">
                                      <p:cBhvr>
                                        <p:cTn id="74" dur="500" fill="hold"/>
                                        <p:tgtEl>
                                          <p:spTgt spid="172047"/>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172048"/>
                                        </p:tgtEl>
                                        <p:attrNameLst>
                                          <p:attrName>style.visibility</p:attrName>
                                        </p:attrNameLst>
                                      </p:cBhvr>
                                      <p:to>
                                        <p:strVal val="visible"/>
                                      </p:to>
                                    </p:set>
                                    <p:anim calcmode="lin" valueType="num">
                                      <p:cBhvr>
                                        <p:cTn id="77" dur="500" fill="hold"/>
                                        <p:tgtEl>
                                          <p:spTgt spid="172048"/>
                                        </p:tgtEl>
                                        <p:attrNameLst>
                                          <p:attrName>ppt_x</p:attrName>
                                        </p:attrNameLst>
                                      </p:cBhvr>
                                      <p:tavLst>
                                        <p:tav tm="0">
                                          <p:val>
                                            <p:strVal val="#ppt_x"/>
                                          </p:val>
                                        </p:tav>
                                        <p:tav tm="100000">
                                          <p:val>
                                            <p:strVal val="#ppt_x"/>
                                          </p:val>
                                        </p:tav>
                                      </p:tavLst>
                                    </p:anim>
                                    <p:anim calcmode="lin" valueType="num">
                                      <p:cBhvr>
                                        <p:cTn id="78" dur="500" fill="hold"/>
                                        <p:tgtEl>
                                          <p:spTgt spid="172048"/>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172049"/>
                                        </p:tgtEl>
                                        <p:attrNameLst>
                                          <p:attrName>style.visibility</p:attrName>
                                        </p:attrNameLst>
                                      </p:cBhvr>
                                      <p:to>
                                        <p:strVal val="visible"/>
                                      </p:to>
                                    </p:set>
                                    <p:anim calcmode="lin" valueType="num">
                                      <p:cBhvr>
                                        <p:cTn id="81" dur="500" fill="hold"/>
                                        <p:tgtEl>
                                          <p:spTgt spid="172049"/>
                                        </p:tgtEl>
                                        <p:attrNameLst>
                                          <p:attrName>ppt_x</p:attrName>
                                        </p:attrNameLst>
                                      </p:cBhvr>
                                      <p:tavLst>
                                        <p:tav tm="0">
                                          <p:val>
                                            <p:strVal val="#ppt_x"/>
                                          </p:val>
                                        </p:tav>
                                        <p:tav tm="100000">
                                          <p:val>
                                            <p:strVal val="#ppt_x"/>
                                          </p:val>
                                        </p:tav>
                                      </p:tavLst>
                                    </p:anim>
                                    <p:anim calcmode="lin" valueType="num">
                                      <p:cBhvr>
                                        <p:cTn id="82" dur="500" fill="hold"/>
                                        <p:tgtEl>
                                          <p:spTgt spid="172049"/>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72058"/>
                                        </p:tgtEl>
                                        <p:attrNameLst>
                                          <p:attrName>style.visibility</p:attrName>
                                        </p:attrNameLst>
                                      </p:cBhvr>
                                      <p:to>
                                        <p:strVal val="visible"/>
                                      </p:to>
                                    </p:set>
                                    <p:anim calcmode="lin" valueType="num">
                                      <p:cBhvr>
                                        <p:cTn id="85" dur="500" fill="hold"/>
                                        <p:tgtEl>
                                          <p:spTgt spid="172058"/>
                                        </p:tgtEl>
                                        <p:attrNameLst>
                                          <p:attrName>ppt_x</p:attrName>
                                        </p:attrNameLst>
                                      </p:cBhvr>
                                      <p:tavLst>
                                        <p:tav tm="0">
                                          <p:val>
                                            <p:strVal val="#ppt_x"/>
                                          </p:val>
                                        </p:tav>
                                        <p:tav tm="100000">
                                          <p:val>
                                            <p:strVal val="#ppt_x"/>
                                          </p:val>
                                        </p:tav>
                                      </p:tavLst>
                                    </p:anim>
                                    <p:anim calcmode="lin" valueType="num">
                                      <p:cBhvr>
                                        <p:cTn id="86" dur="500" fill="hold"/>
                                        <p:tgtEl>
                                          <p:spTgt spid="172058"/>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172059"/>
                                        </p:tgtEl>
                                        <p:attrNameLst>
                                          <p:attrName>style.visibility</p:attrName>
                                        </p:attrNameLst>
                                      </p:cBhvr>
                                      <p:to>
                                        <p:strVal val="visible"/>
                                      </p:to>
                                    </p:set>
                                    <p:anim calcmode="lin" valueType="num">
                                      <p:cBhvr>
                                        <p:cTn id="89" dur="500" fill="hold"/>
                                        <p:tgtEl>
                                          <p:spTgt spid="172059"/>
                                        </p:tgtEl>
                                        <p:attrNameLst>
                                          <p:attrName>ppt_x</p:attrName>
                                        </p:attrNameLst>
                                      </p:cBhvr>
                                      <p:tavLst>
                                        <p:tav tm="0">
                                          <p:val>
                                            <p:strVal val="#ppt_x"/>
                                          </p:val>
                                        </p:tav>
                                        <p:tav tm="100000">
                                          <p:val>
                                            <p:strVal val="#ppt_x"/>
                                          </p:val>
                                        </p:tav>
                                      </p:tavLst>
                                    </p:anim>
                                    <p:anim calcmode="lin" valueType="num">
                                      <p:cBhvr>
                                        <p:cTn id="90" dur="500" fill="hold"/>
                                        <p:tgtEl>
                                          <p:spTgt spid="172059"/>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172060"/>
                                        </p:tgtEl>
                                        <p:attrNameLst>
                                          <p:attrName>style.visibility</p:attrName>
                                        </p:attrNameLst>
                                      </p:cBhvr>
                                      <p:to>
                                        <p:strVal val="visible"/>
                                      </p:to>
                                    </p:set>
                                    <p:anim calcmode="lin" valueType="num">
                                      <p:cBhvr>
                                        <p:cTn id="93" dur="500" fill="hold"/>
                                        <p:tgtEl>
                                          <p:spTgt spid="172060"/>
                                        </p:tgtEl>
                                        <p:attrNameLst>
                                          <p:attrName>ppt_x</p:attrName>
                                        </p:attrNameLst>
                                      </p:cBhvr>
                                      <p:tavLst>
                                        <p:tav tm="0">
                                          <p:val>
                                            <p:strVal val="#ppt_x"/>
                                          </p:val>
                                        </p:tav>
                                        <p:tav tm="100000">
                                          <p:val>
                                            <p:strVal val="#ppt_x"/>
                                          </p:val>
                                        </p:tav>
                                      </p:tavLst>
                                    </p:anim>
                                    <p:anim calcmode="lin" valueType="num">
                                      <p:cBhvr>
                                        <p:cTn id="94" dur="500" fill="hold"/>
                                        <p:tgtEl>
                                          <p:spTgt spid="172060"/>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172061"/>
                                        </p:tgtEl>
                                        <p:attrNameLst>
                                          <p:attrName>style.visibility</p:attrName>
                                        </p:attrNameLst>
                                      </p:cBhvr>
                                      <p:to>
                                        <p:strVal val="visible"/>
                                      </p:to>
                                    </p:set>
                                    <p:anim calcmode="lin" valueType="num">
                                      <p:cBhvr>
                                        <p:cTn id="97" dur="500" fill="hold"/>
                                        <p:tgtEl>
                                          <p:spTgt spid="172061"/>
                                        </p:tgtEl>
                                        <p:attrNameLst>
                                          <p:attrName>ppt_x</p:attrName>
                                        </p:attrNameLst>
                                      </p:cBhvr>
                                      <p:tavLst>
                                        <p:tav tm="0">
                                          <p:val>
                                            <p:strVal val="#ppt_x"/>
                                          </p:val>
                                        </p:tav>
                                        <p:tav tm="100000">
                                          <p:val>
                                            <p:strVal val="#ppt_x"/>
                                          </p:val>
                                        </p:tav>
                                      </p:tavLst>
                                    </p:anim>
                                    <p:anim calcmode="lin" valueType="num">
                                      <p:cBhvr>
                                        <p:cTn id="98" dur="500" fill="hold"/>
                                        <p:tgtEl>
                                          <p:spTgt spid="172061"/>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172062"/>
                                        </p:tgtEl>
                                        <p:attrNameLst>
                                          <p:attrName>style.visibility</p:attrName>
                                        </p:attrNameLst>
                                      </p:cBhvr>
                                      <p:to>
                                        <p:strVal val="visible"/>
                                      </p:to>
                                    </p:set>
                                    <p:anim calcmode="lin" valueType="num">
                                      <p:cBhvr>
                                        <p:cTn id="101" dur="500" fill="hold"/>
                                        <p:tgtEl>
                                          <p:spTgt spid="172062"/>
                                        </p:tgtEl>
                                        <p:attrNameLst>
                                          <p:attrName>ppt_x</p:attrName>
                                        </p:attrNameLst>
                                      </p:cBhvr>
                                      <p:tavLst>
                                        <p:tav tm="0">
                                          <p:val>
                                            <p:strVal val="#ppt_x"/>
                                          </p:val>
                                        </p:tav>
                                        <p:tav tm="100000">
                                          <p:val>
                                            <p:strVal val="#ppt_x"/>
                                          </p:val>
                                        </p:tav>
                                      </p:tavLst>
                                    </p:anim>
                                    <p:anim calcmode="lin" valueType="num">
                                      <p:cBhvr>
                                        <p:cTn id="102" dur="500" fill="hold"/>
                                        <p:tgtEl>
                                          <p:spTgt spid="172062"/>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172063"/>
                                        </p:tgtEl>
                                        <p:attrNameLst>
                                          <p:attrName>style.visibility</p:attrName>
                                        </p:attrNameLst>
                                      </p:cBhvr>
                                      <p:to>
                                        <p:strVal val="visible"/>
                                      </p:to>
                                    </p:set>
                                    <p:anim calcmode="lin" valueType="num">
                                      <p:cBhvr>
                                        <p:cTn id="105" dur="500" fill="hold"/>
                                        <p:tgtEl>
                                          <p:spTgt spid="172063"/>
                                        </p:tgtEl>
                                        <p:attrNameLst>
                                          <p:attrName>ppt_x</p:attrName>
                                        </p:attrNameLst>
                                      </p:cBhvr>
                                      <p:tavLst>
                                        <p:tav tm="0">
                                          <p:val>
                                            <p:strVal val="#ppt_x"/>
                                          </p:val>
                                        </p:tav>
                                        <p:tav tm="100000">
                                          <p:val>
                                            <p:strVal val="#ppt_x"/>
                                          </p:val>
                                        </p:tav>
                                      </p:tavLst>
                                    </p:anim>
                                    <p:anim calcmode="lin" valueType="num">
                                      <p:cBhvr>
                                        <p:cTn id="106" dur="500" fill="hold"/>
                                        <p:tgtEl>
                                          <p:spTgt spid="172063"/>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172064"/>
                                        </p:tgtEl>
                                        <p:attrNameLst>
                                          <p:attrName>style.visibility</p:attrName>
                                        </p:attrNameLst>
                                      </p:cBhvr>
                                      <p:to>
                                        <p:strVal val="visible"/>
                                      </p:to>
                                    </p:set>
                                    <p:anim calcmode="lin" valueType="num">
                                      <p:cBhvr>
                                        <p:cTn id="109" dur="500" fill="hold"/>
                                        <p:tgtEl>
                                          <p:spTgt spid="172064"/>
                                        </p:tgtEl>
                                        <p:attrNameLst>
                                          <p:attrName>ppt_x</p:attrName>
                                        </p:attrNameLst>
                                      </p:cBhvr>
                                      <p:tavLst>
                                        <p:tav tm="0">
                                          <p:val>
                                            <p:strVal val="#ppt_x"/>
                                          </p:val>
                                        </p:tav>
                                        <p:tav tm="100000">
                                          <p:val>
                                            <p:strVal val="#ppt_x"/>
                                          </p:val>
                                        </p:tav>
                                      </p:tavLst>
                                    </p:anim>
                                    <p:anim calcmode="lin" valueType="num">
                                      <p:cBhvr>
                                        <p:cTn id="110" dur="500" fill="hold"/>
                                        <p:tgtEl>
                                          <p:spTgt spid="172064"/>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172066"/>
                                        </p:tgtEl>
                                        <p:attrNameLst>
                                          <p:attrName>style.visibility</p:attrName>
                                        </p:attrNameLst>
                                      </p:cBhvr>
                                      <p:to>
                                        <p:strVal val="visible"/>
                                      </p:to>
                                    </p:set>
                                    <p:anim calcmode="lin" valueType="num">
                                      <p:cBhvr>
                                        <p:cTn id="113" dur="500" fill="hold"/>
                                        <p:tgtEl>
                                          <p:spTgt spid="172066"/>
                                        </p:tgtEl>
                                        <p:attrNameLst>
                                          <p:attrName>ppt_x</p:attrName>
                                        </p:attrNameLst>
                                      </p:cBhvr>
                                      <p:tavLst>
                                        <p:tav tm="0">
                                          <p:val>
                                            <p:strVal val="#ppt_x"/>
                                          </p:val>
                                        </p:tav>
                                        <p:tav tm="100000">
                                          <p:val>
                                            <p:strVal val="#ppt_x"/>
                                          </p:val>
                                        </p:tav>
                                      </p:tavLst>
                                    </p:anim>
                                    <p:anim calcmode="lin" valueType="num">
                                      <p:cBhvr>
                                        <p:cTn id="114" dur="500" fill="hold"/>
                                        <p:tgtEl>
                                          <p:spTgt spid="172066"/>
                                        </p:tgtEl>
                                        <p:attrNameLst>
                                          <p:attrName>ppt_y</p:attrName>
                                        </p:attrNameLst>
                                      </p:cBhvr>
                                      <p:tavLst>
                                        <p:tav tm="0">
                                          <p:val>
                                            <p:strVal val="1+#ppt_h/2"/>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2" presetClass="entr" presetSubtype="8" fill="hold" grpId="0" nodeType="clickEffect">
                                  <p:stCondLst>
                                    <p:cond delay="0"/>
                                  </p:stCondLst>
                                  <p:childTnLst>
                                    <p:set>
                                      <p:cBhvr>
                                        <p:cTn id="118" dur="1" fill="hold">
                                          <p:stCondLst>
                                            <p:cond delay="0"/>
                                          </p:stCondLst>
                                        </p:cTn>
                                        <p:tgtEl>
                                          <p:spTgt spid="172044"/>
                                        </p:tgtEl>
                                        <p:attrNameLst>
                                          <p:attrName>style.visibility</p:attrName>
                                        </p:attrNameLst>
                                      </p:cBhvr>
                                      <p:to>
                                        <p:strVal val="visible"/>
                                      </p:to>
                                    </p:set>
                                    <p:anim calcmode="lin" valueType="num">
                                      <p:cBhvr>
                                        <p:cTn id="119" dur="500" fill="hold"/>
                                        <p:tgtEl>
                                          <p:spTgt spid="172044"/>
                                        </p:tgtEl>
                                        <p:attrNameLst>
                                          <p:attrName>ppt_x</p:attrName>
                                        </p:attrNameLst>
                                      </p:cBhvr>
                                      <p:tavLst>
                                        <p:tav tm="0">
                                          <p:val>
                                            <p:strVal val="0-#ppt_w/2"/>
                                          </p:val>
                                        </p:tav>
                                        <p:tav tm="100000">
                                          <p:val>
                                            <p:strVal val="#ppt_x"/>
                                          </p:val>
                                        </p:tav>
                                      </p:tavLst>
                                    </p:anim>
                                    <p:anim calcmode="lin" valueType="num">
                                      <p:cBhvr>
                                        <p:cTn id="120" dur="500" fill="hold"/>
                                        <p:tgtEl>
                                          <p:spTgt spid="172044"/>
                                        </p:tgtEl>
                                        <p:attrNameLst>
                                          <p:attrName>ppt_y</p:attrName>
                                        </p:attrNameLst>
                                      </p:cBhvr>
                                      <p:tavLst>
                                        <p:tav tm="0">
                                          <p:val>
                                            <p:strVal val="#ppt_y"/>
                                          </p:val>
                                        </p:tav>
                                        <p:tav tm="100000">
                                          <p:val>
                                            <p:strVal val="#ppt_y"/>
                                          </p:val>
                                        </p:tav>
                                      </p:tavLst>
                                    </p:anim>
                                  </p:childTnLst>
                                </p:cTn>
                              </p:par>
                            </p:childTnLst>
                          </p:cTn>
                        </p:par>
                        <p:par>
                          <p:cTn id="121" fill="hold">
                            <p:stCondLst>
                              <p:cond delay="500"/>
                            </p:stCondLst>
                            <p:childTnLst>
                              <p:par>
                                <p:cTn id="122" presetID="18" presetClass="entr" presetSubtype="6" fill="hold" nodeType="afterEffect">
                                  <p:stCondLst>
                                    <p:cond delay="0"/>
                                  </p:stCondLst>
                                  <p:childTnLst>
                                    <p:set>
                                      <p:cBhvr>
                                        <p:cTn id="123" dur="1" fill="hold">
                                          <p:stCondLst>
                                            <p:cond delay="0"/>
                                          </p:stCondLst>
                                        </p:cTn>
                                        <p:tgtEl>
                                          <p:spTgt spid="172045"/>
                                        </p:tgtEl>
                                        <p:attrNameLst>
                                          <p:attrName>style.visibility</p:attrName>
                                        </p:attrNameLst>
                                      </p:cBhvr>
                                      <p:to>
                                        <p:strVal val="visible"/>
                                      </p:to>
                                    </p:set>
                                    <p:animEffect transition="in" filter="strips(downRight)">
                                      <p:cBhvr>
                                        <p:cTn id="124" dur="500"/>
                                        <p:tgtEl>
                                          <p:spTgt spid="172045"/>
                                        </p:tgtEl>
                                      </p:cBhvr>
                                    </p:animEffect>
                                  </p:childTnLst>
                                </p:cTn>
                              </p:par>
                            </p:childTnLst>
                          </p:cTn>
                        </p:par>
                      </p:childTnLst>
                    </p:cTn>
                  </p:par>
                  <p:par>
                    <p:cTn id="125" fill="hold">
                      <p:stCondLst>
                        <p:cond delay="indefinite"/>
                      </p:stCondLst>
                      <p:childTnLst>
                        <p:par>
                          <p:cTn id="126" fill="hold">
                            <p:stCondLst>
                              <p:cond delay="0"/>
                            </p:stCondLst>
                            <p:childTnLst>
                              <p:par>
                                <p:cTn id="127" presetID="18" presetClass="entr" presetSubtype="12" fill="hold" grpId="0" nodeType="clickEffect">
                                  <p:stCondLst>
                                    <p:cond delay="0"/>
                                  </p:stCondLst>
                                  <p:childTnLst>
                                    <p:set>
                                      <p:cBhvr>
                                        <p:cTn id="128" dur="1" fill="hold">
                                          <p:stCondLst>
                                            <p:cond delay="0"/>
                                          </p:stCondLst>
                                        </p:cTn>
                                        <p:tgtEl>
                                          <p:spTgt spid="172050"/>
                                        </p:tgtEl>
                                        <p:attrNameLst>
                                          <p:attrName>style.visibility</p:attrName>
                                        </p:attrNameLst>
                                      </p:cBhvr>
                                      <p:to>
                                        <p:strVal val="visible"/>
                                      </p:to>
                                    </p:set>
                                    <p:animEffect transition="in" filter="strips(downLeft)">
                                      <p:cBhvr>
                                        <p:cTn id="129" dur="500"/>
                                        <p:tgtEl>
                                          <p:spTgt spid="172050"/>
                                        </p:tgtEl>
                                      </p:cBhvr>
                                    </p:animEffect>
                                  </p:childTnLst>
                                </p:cTn>
                              </p:par>
                            </p:childTnLst>
                          </p:cTn>
                        </p:par>
                        <p:par>
                          <p:cTn id="130" fill="hold">
                            <p:stCondLst>
                              <p:cond delay="500"/>
                            </p:stCondLst>
                            <p:childTnLst>
                              <p:par>
                                <p:cTn id="131" presetID="18" presetClass="entr" presetSubtype="12" fill="hold" nodeType="afterEffect">
                                  <p:stCondLst>
                                    <p:cond delay="0"/>
                                  </p:stCondLst>
                                  <p:childTnLst>
                                    <p:set>
                                      <p:cBhvr>
                                        <p:cTn id="132" dur="1" fill="hold">
                                          <p:stCondLst>
                                            <p:cond delay="0"/>
                                          </p:stCondLst>
                                        </p:cTn>
                                        <p:tgtEl>
                                          <p:spTgt spid="172055"/>
                                        </p:tgtEl>
                                        <p:attrNameLst>
                                          <p:attrName>style.visibility</p:attrName>
                                        </p:attrNameLst>
                                      </p:cBhvr>
                                      <p:to>
                                        <p:strVal val="visible"/>
                                      </p:to>
                                    </p:set>
                                    <p:animEffect transition="in" filter="strips(downLeft)">
                                      <p:cBhvr>
                                        <p:cTn id="133" dur="500"/>
                                        <p:tgtEl>
                                          <p:spTgt spid="172055"/>
                                        </p:tgtEl>
                                      </p:cBhvr>
                                    </p:animEffect>
                                  </p:childTnLst>
                                </p:cTn>
                              </p:par>
                            </p:childTnLst>
                          </p:cTn>
                        </p:par>
                        <p:par>
                          <p:cTn id="134" fill="hold">
                            <p:stCondLst>
                              <p:cond delay="1000"/>
                            </p:stCondLst>
                            <p:childTnLst>
                              <p:par>
                                <p:cTn id="135" presetID="22" presetClass="entr" presetSubtype="8" fill="hold" grpId="0" nodeType="afterEffect">
                                  <p:stCondLst>
                                    <p:cond delay="0"/>
                                  </p:stCondLst>
                                  <p:childTnLst>
                                    <p:set>
                                      <p:cBhvr>
                                        <p:cTn id="136" dur="1" fill="hold">
                                          <p:stCondLst>
                                            <p:cond delay="0"/>
                                          </p:stCondLst>
                                        </p:cTn>
                                        <p:tgtEl>
                                          <p:spTgt spid="172053"/>
                                        </p:tgtEl>
                                        <p:attrNameLst>
                                          <p:attrName>style.visibility</p:attrName>
                                        </p:attrNameLst>
                                      </p:cBhvr>
                                      <p:to>
                                        <p:strVal val="visible"/>
                                      </p:to>
                                    </p:set>
                                    <p:animEffect transition="in" filter="wipe(left)">
                                      <p:cBhvr>
                                        <p:cTn id="137" dur="500"/>
                                        <p:tgtEl>
                                          <p:spTgt spid="172053"/>
                                        </p:tgtEl>
                                      </p:cBhvr>
                                    </p:animEffect>
                                  </p:childTnLst>
                                </p:cTn>
                              </p:par>
                            </p:childTnLst>
                          </p:cTn>
                        </p:par>
                      </p:childTnLst>
                    </p:cTn>
                  </p:par>
                  <p:par>
                    <p:cTn id="138" fill="hold">
                      <p:stCondLst>
                        <p:cond delay="indefinite"/>
                      </p:stCondLst>
                      <p:childTnLst>
                        <p:par>
                          <p:cTn id="139" fill="hold">
                            <p:stCondLst>
                              <p:cond delay="0"/>
                            </p:stCondLst>
                            <p:childTnLst>
                              <p:par>
                                <p:cTn id="140" presetID="18" presetClass="entr" presetSubtype="12" fill="hold" grpId="0" nodeType="clickEffect">
                                  <p:stCondLst>
                                    <p:cond delay="0"/>
                                  </p:stCondLst>
                                  <p:childTnLst>
                                    <p:set>
                                      <p:cBhvr>
                                        <p:cTn id="141" dur="1" fill="hold">
                                          <p:stCondLst>
                                            <p:cond delay="0"/>
                                          </p:stCondLst>
                                        </p:cTn>
                                        <p:tgtEl>
                                          <p:spTgt spid="172051"/>
                                        </p:tgtEl>
                                        <p:attrNameLst>
                                          <p:attrName>style.visibility</p:attrName>
                                        </p:attrNameLst>
                                      </p:cBhvr>
                                      <p:to>
                                        <p:strVal val="visible"/>
                                      </p:to>
                                    </p:set>
                                    <p:animEffect transition="in" filter="strips(downLeft)">
                                      <p:cBhvr>
                                        <p:cTn id="142" dur="500"/>
                                        <p:tgtEl>
                                          <p:spTgt spid="172051"/>
                                        </p:tgtEl>
                                      </p:cBhvr>
                                    </p:animEffect>
                                  </p:childTnLst>
                                </p:cTn>
                              </p:par>
                            </p:childTnLst>
                          </p:cTn>
                        </p:par>
                        <p:par>
                          <p:cTn id="143" fill="hold">
                            <p:stCondLst>
                              <p:cond delay="500"/>
                            </p:stCondLst>
                            <p:childTnLst>
                              <p:par>
                                <p:cTn id="144" presetID="18" presetClass="entr" presetSubtype="12" fill="hold" nodeType="afterEffect">
                                  <p:stCondLst>
                                    <p:cond delay="0"/>
                                  </p:stCondLst>
                                  <p:childTnLst>
                                    <p:set>
                                      <p:cBhvr>
                                        <p:cTn id="145" dur="1" fill="hold">
                                          <p:stCondLst>
                                            <p:cond delay="0"/>
                                          </p:stCondLst>
                                        </p:cTn>
                                        <p:tgtEl>
                                          <p:spTgt spid="172054"/>
                                        </p:tgtEl>
                                        <p:attrNameLst>
                                          <p:attrName>style.visibility</p:attrName>
                                        </p:attrNameLst>
                                      </p:cBhvr>
                                      <p:to>
                                        <p:strVal val="visible"/>
                                      </p:to>
                                    </p:set>
                                    <p:animEffect transition="in" filter="strips(downLeft)">
                                      <p:cBhvr>
                                        <p:cTn id="146" dur="500"/>
                                        <p:tgtEl>
                                          <p:spTgt spid="172054"/>
                                        </p:tgtEl>
                                      </p:cBhvr>
                                    </p:animEffect>
                                  </p:childTnLst>
                                </p:cTn>
                              </p:par>
                            </p:childTnLst>
                          </p:cTn>
                        </p:par>
                        <p:par>
                          <p:cTn id="147" fill="hold">
                            <p:stCondLst>
                              <p:cond delay="1000"/>
                            </p:stCondLst>
                            <p:childTnLst>
                              <p:par>
                                <p:cTn id="148" presetID="22" presetClass="entr" presetSubtype="8" fill="hold" grpId="0" nodeType="afterEffect">
                                  <p:stCondLst>
                                    <p:cond delay="0"/>
                                  </p:stCondLst>
                                  <p:childTnLst>
                                    <p:set>
                                      <p:cBhvr>
                                        <p:cTn id="149" dur="1" fill="hold">
                                          <p:stCondLst>
                                            <p:cond delay="0"/>
                                          </p:stCondLst>
                                        </p:cTn>
                                        <p:tgtEl>
                                          <p:spTgt spid="172052"/>
                                        </p:tgtEl>
                                        <p:attrNameLst>
                                          <p:attrName>style.visibility</p:attrName>
                                        </p:attrNameLst>
                                      </p:cBhvr>
                                      <p:to>
                                        <p:strVal val="visible"/>
                                      </p:to>
                                    </p:set>
                                    <p:animEffect transition="in" filter="wipe(left)">
                                      <p:cBhvr>
                                        <p:cTn id="150" dur="500"/>
                                        <p:tgtEl>
                                          <p:spTgt spid="17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7" grpId="0" animBg="1"/>
      <p:bldP spid="172043" grpId="0" animBg="1"/>
      <p:bldP spid="172044" grpId="0"/>
      <p:bldP spid="172046" grpId="0"/>
      <p:bldP spid="172047" grpId="0"/>
      <p:bldP spid="172048" grpId="0"/>
      <p:bldP spid="172049" grpId="0"/>
      <p:bldP spid="172050" grpId="0" animBg="1"/>
      <p:bldP spid="172051" grpId="0" animBg="1"/>
      <p:bldP spid="172052" grpId="0"/>
      <p:bldP spid="172053" grpId="0"/>
      <p:bldP spid="172056" grpId="0"/>
      <p:bldP spid="172060" grpId="0" animBg="1"/>
      <p:bldP spid="172061" grpId="0" animBg="1"/>
      <p:bldP spid="172062" grpId="0"/>
      <p:bldP spid="172063" grpId="0"/>
      <p:bldP spid="172064" grpId="0"/>
      <p:bldP spid="172065" grpId="0"/>
      <p:bldP spid="172066" grpId="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2"/>
          <p:cNvSpPr>
            <a:spLocks noGrp="1"/>
          </p:cNvSpPr>
          <p:nvPr>
            <p:ph type="title" idx="4294967295"/>
          </p:nvPr>
        </p:nvSpPr>
        <p:spPr>
          <a:xfrm>
            <a:off x="1004888" y="981075"/>
            <a:ext cx="4240212" cy="563563"/>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00033"/>
                </a:solidFill>
                <a:ea typeface="宋体" panose="02010600030101010101" pitchFamily="2" charset="-122"/>
              </a:rPr>
              <a:t>中断指令的执行过程</a:t>
            </a:r>
            <a:endParaRPr lang="zh-CN" altLang="en-US" dirty="0">
              <a:solidFill>
                <a:srgbClr val="000033"/>
              </a:solidFill>
              <a:ea typeface="宋体" panose="02010600030101010101" pitchFamily="2" charset="-122"/>
            </a:endParaRPr>
          </a:p>
        </p:txBody>
      </p:sp>
      <p:sp>
        <p:nvSpPr>
          <p:cNvPr id="173059" name="Rectangle 3"/>
          <p:cNvSpPr>
            <a:spLocks noGrp="1"/>
          </p:cNvSpPr>
          <p:nvPr>
            <p:ph type="body" idx="4294967295"/>
          </p:nvPr>
        </p:nvSpPr>
        <p:spPr>
          <a:xfrm>
            <a:off x="971550" y="2060575"/>
            <a:ext cx="7561263" cy="3313113"/>
          </a:xfrm>
        </p:spPr>
        <p:txBody>
          <a:bodyPr vert="horz" wrap="square" lIns="91440" tIns="45720" rIns="91440" bIns="45720" anchor="t" anchorCtr="0"/>
          <a:p>
            <a:pPr eaLnBrk="1" hangingPunct="1">
              <a:spcAft>
                <a:spcPct val="10000"/>
              </a:spcAft>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将</a:t>
            </a:r>
            <a:r>
              <a:rPr lang="en-US" altLang="zh-CN" dirty="0">
                <a:latin typeface="宋体" panose="02010600030101010101" pitchFamily="2" charset="-122"/>
                <a:ea typeface="宋体" panose="02010600030101010101" pitchFamily="2" charset="-122"/>
              </a:rPr>
              <a:t>FLAGS</a:t>
            </a:r>
            <a:r>
              <a:rPr lang="zh-CN" altLang="en-US" dirty="0">
                <a:latin typeface="宋体" panose="02010600030101010101" pitchFamily="2" charset="-122"/>
                <a:ea typeface="宋体" panose="02010600030101010101" pitchFamily="2" charset="-122"/>
              </a:rPr>
              <a:t>压入堆栈；</a:t>
            </a:r>
            <a:endParaRPr lang="zh-CN" altLang="en-US" dirty="0">
              <a:latin typeface="宋体" panose="02010600030101010101" pitchFamily="2" charset="-122"/>
              <a:ea typeface="宋体" panose="02010600030101010101" pitchFamily="2" charset="-122"/>
            </a:endParaRPr>
          </a:p>
          <a:p>
            <a:pPr eaLnBrk="1" hangingPunct="1">
              <a:spcAft>
                <a:spcPct val="10000"/>
              </a:spcAft>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将</a:t>
            </a:r>
            <a:r>
              <a:rPr lang="en-US" altLang="zh-CN" dirty="0">
                <a:latin typeface="宋体" panose="02010600030101010101" pitchFamily="2" charset="-122"/>
                <a:ea typeface="宋体" panose="02010600030101010101" pitchFamily="2" charset="-122"/>
              </a:rPr>
              <a:t>INT</a:t>
            </a:r>
            <a:r>
              <a:rPr lang="zh-CN" altLang="en-US" dirty="0">
                <a:latin typeface="宋体" panose="02010600030101010101" pitchFamily="2" charset="-122"/>
                <a:ea typeface="宋体" panose="02010600030101010101" pitchFamily="2" charset="-122"/>
              </a:rPr>
              <a:t>指令的下一条指令的</a:t>
            </a:r>
            <a:r>
              <a:rPr lang="en-US" altLang="zh-CN" dirty="0">
                <a:latin typeface="宋体" panose="02010600030101010101" pitchFamily="2" charset="-122"/>
                <a:ea typeface="宋体" panose="02010600030101010101" pitchFamily="2" charset="-122"/>
              </a:rPr>
              <a:t>CS、IP</a:t>
            </a:r>
            <a:r>
              <a:rPr lang="zh-CN" altLang="en-US" dirty="0">
                <a:latin typeface="宋体" panose="02010600030101010101" pitchFamily="2" charset="-122"/>
                <a:ea typeface="宋体" panose="02010600030101010101" pitchFamily="2" charset="-122"/>
              </a:rPr>
              <a:t>压栈；</a:t>
            </a:r>
            <a:endParaRPr lang="zh-CN" altLang="en-US" dirty="0">
              <a:latin typeface="宋体" panose="02010600030101010101" pitchFamily="2" charset="-122"/>
              <a:ea typeface="宋体" panose="02010600030101010101" pitchFamily="2" charset="-122"/>
            </a:endParaRPr>
          </a:p>
          <a:p>
            <a:pPr eaLnBrk="1" hangingPunct="1">
              <a:spcAft>
                <a:spcPct val="10000"/>
              </a:spcAft>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由</a:t>
            </a:r>
            <a:r>
              <a:rPr lang="en-US" altLang="zh-CN" dirty="0">
                <a:latin typeface="宋体" panose="02010600030101010101" pitchFamily="2" charset="-122"/>
                <a:ea typeface="宋体" panose="02010600030101010101" pitchFamily="2" charset="-122"/>
              </a:rPr>
              <a:t>n×4</a:t>
            </a:r>
            <a:r>
              <a:rPr lang="zh-CN" altLang="en-US" dirty="0">
                <a:latin typeface="宋体" panose="02010600030101010101" pitchFamily="2" charset="-122"/>
                <a:ea typeface="宋体" panose="02010600030101010101" pitchFamily="2" charset="-122"/>
              </a:rPr>
              <a:t>得到存放中断向量的地址；</a:t>
            </a:r>
            <a:endParaRPr lang="zh-CN" altLang="en-US" dirty="0">
              <a:latin typeface="宋体" panose="02010600030101010101" pitchFamily="2" charset="-122"/>
              <a:ea typeface="宋体" panose="02010600030101010101" pitchFamily="2" charset="-122"/>
            </a:endParaRPr>
          </a:p>
          <a:p>
            <a:pPr eaLnBrk="1" hangingPunct="1">
              <a:spcAft>
                <a:spcPct val="10000"/>
              </a:spcAft>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将中断向量（中断服务程序入口地址）送</a:t>
            </a:r>
            <a:r>
              <a:rPr lang="en-US" altLang="zh-CN" dirty="0">
                <a:latin typeface="宋体" panose="02010600030101010101" pitchFamily="2" charset="-122"/>
                <a:ea typeface="宋体" panose="02010600030101010101" pitchFamily="2" charset="-122"/>
              </a:rPr>
              <a:t>CS</a:t>
            </a:r>
            <a:r>
              <a:rPr lang="zh-CN" altLang="en-US" dirty="0">
                <a:latin typeface="宋体" panose="02010600030101010101" pitchFamily="2" charset="-122"/>
                <a:ea typeface="宋体" panose="02010600030101010101" pitchFamily="2" charset="-122"/>
              </a:rPr>
              <a:t>和</a:t>
            </a:r>
            <a:r>
              <a:rPr lang="en-US" altLang="zh-CN" dirty="0">
                <a:latin typeface="宋体" panose="02010600030101010101" pitchFamily="2" charset="-122"/>
                <a:ea typeface="宋体" panose="02010600030101010101" pitchFamily="2" charset="-122"/>
              </a:rPr>
              <a:t>IP</a:t>
            </a:r>
            <a:r>
              <a:rPr lang="zh-CN" altLang="en-US" dirty="0">
                <a:latin typeface="宋体" panose="02010600030101010101" pitchFamily="2" charset="-122"/>
                <a:ea typeface="宋体" panose="02010600030101010101" pitchFamily="2" charset="-122"/>
              </a:rPr>
              <a:t>寄存器；</a:t>
            </a:r>
            <a:endParaRPr lang="zh-CN" altLang="en-US" dirty="0">
              <a:latin typeface="宋体" panose="02010600030101010101" pitchFamily="2" charset="-122"/>
              <a:ea typeface="宋体" panose="02010600030101010101" pitchFamily="2" charset="-122"/>
            </a:endParaRPr>
          </a:p>
          <a:p>
            <a:pPr eaLnBrk="1" hangingPunct="1">
              <a:spcAft>
                <a:spcPct val="10000"/>
              </a:spcAft>
              <a:buFont typeface="Wingdings" panose="05000000000000000000" pitchFamily="2" charset="2"/>
              <a:buChar char="l"/>
            </a:pPr>
            <a:r>
              <a:rPr lang="zh-CN" altLang="en-US" dirty="0">
                <a:latin typeface="宋体" panose="02010600030101010101" pitchFamily="2" charset="-122"/>
                <a:ea typeface="宋体" panose="02010600030101010101" pitchFamily="2" charset="-122"/>
              </a:rPr>
              <a:t>转入中断服务程序。</a:t>
            </a:r>
            <a:endParaRPr lang="zh-CN" altLang="en-US" dirty="0">
              <a:latin typeface="宋体" panose="02010600030101010101" pitchFamily="2" charset="-122"/>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3059">
                                            <p:txEl>
                                              <p:charRg st="0" end="12"/>
                                            </p:txEl>
                                          </p:spTgt>
                                        </p:tgtEl>
                                        <p:attrNameLst>
                                          <p:attrName>style.visibility</p:attrName>
                                        </p:attrNameLst>
                                      </p:cBhvr>
                                      <p:to>
                                        <p:strVal val="visible"/>
                                      </p:to>
                                    </p:set>
                                    <p:animEffect transition="in" filter="wipe(left)">
                                      <p:cBhvr>
                                        <p:cTn id="7" dur="500"/>
                                        <p:tgtEl>
                                          <p:spTgt spid="173059">
                                            <p:txEl>
                                              <p:charRg st="0" end="1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3059">
                                            <p:txEl>
                                              <p:charRg st="12" end="34"/>
                                            </p:txEl>
                                          </p:spTgt>
                                        </p:tgtEl>
                                        <p:attrNameLst>
                                          <p:attrName>style.visibility</p:attrName>
                                        </p:attrNameLst>
                                      </p:cBhvr>
                                      <p:to>
                                        <p:strVal val="visible"/>
                                      </p:to>
                                    </p:set>
                                    <p:animEffect transition="in" filter="wipe(left)">
                                      <p:cBhvr>
                                        <p:cTn id="12" dur="500"/>
                                        <p:tgtEl>
                                          <p:spTgt spid="173059">
                                            <p:txEl>
                                              <p:charRg st="12" end="3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3059">
                                            <p:txEl>
                                              <p:charRg st="34" end="51"/>
                                            </p:txEl>
                                          </p:spTgt>
                                        </p:tgtEl>
                                        <p:attrNameLst>
                                          <p:attrName>style.visibility</p:attrName>
                                        </p:attrNameLst>
                                      </p:cBhvr>
                                      <p:to>
                                        <p:strVal val="visible"/>
                                      </p:to>
                                    </p:set>
                                    <p:animEffect transition="in" filter="wipe(left)">
                                      <p:cBhvr>
                                        <p:cTn id="17" dur="500"/>
                                        <p:tgtEl>
                                          <p:spTgt spid="173059">
                                            <p:txEl>
                                              <p:charRg st="34" end="5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73059">
                                            <p:txEl>
                                              <p:charRg st="51" end="79"/>
                                            </p:txEl>
                                          </p:spTgt>
                                        </p:tgtEl>
                                        <p:attrNameLst>
                                          <p:attrName>style.visibility</p:attrName>
                                        </p:attrNameLst>
                                      </p:cBhvr>
                                      <p:to>
                                        <p:strVal val="visible"/>
                                      </p:to>
                                    </p:set>
                                    <p:animEffect transition="in" filter="blinds(horizontal)">
                                      <p:cBhvr>
                                        <p:cTn id="22" dur="500"/>
                                        <p:tgtEl>
                                          <p:spTgt spid="173059">
                                            <p:txEl>
                                              <p:charRg st="51" end="7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3059">
                                            <p:txEl>
                                              <p:charRg st="79" end="89"/>
                                            </p:txEl>
                                          </p:spTgt>
                                        </p:tgtEl>
                                        <p:attrNameLst>
                                          <p:attrName>style.visibility</p:attrName>
                                        </p:attrNameLst>
                                      </p:cBhvr>
                                      <p:to>
                                        <p:strVal val="visible"/>
                                      </p:to>
                                    </p:set>
                                    <p:animEffect transition="in" filter="wipe(left)">
                                      <p:cBhvr>
                                        <p:cTn id="27" dur="500"/>
                                        <p:tgtEl>
                                          <p:spTgt spid="173059">
                                            <p:txEl>
                                              <p:charRg st="79" end="8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灯片编号占位符 5"/>
          <p:cNvSpPr txBox="1">
            <a:spLocks noGrp="1"/>
          </p:cNvSpPr>
          <p:nvPr/>
        </p:nvSpPr>
        <p:spPr>
          <a:xfrm>
            <a:off x="7042150" y="6243638"/>
            <a:ext cx="1905000" cy="457200"/>
          </a:xfrm>
          <a:prstGeom prst="rect">
            <a:avLst/>
          </a:prstGeom>
          <a:noFill/>
          <a:ln w="9525">
            <a:noFill/>
          </a:ln>
        </p:spPr>
        <p:txBody>
          <a:bodyPr/>
          <a:p>
            <a:pPr algn="ctr"/>
            <a:fld id="{9A0DB2DC-4C9A-4742-B13C-FB6460FD3503}" type="slidenum">
              <a:rPr lang="zh-CN" altLang="en-US" sz="1400" dirty="0">
                <a:latin typeface="Tahoma" panose="020B0604030504040204" pitchFamily="34" charset="0"/>
                <a:ea typeface="宋体" panose="02010600030101010101" pitchFamily="2" charset="-122"/>
              </a:rPr>
            </a:fld>
            <a:endParaRPr lang="zh-CN" altLang="en-US" sz="1400" dirty="0">
              <a:latin typeface="Tahoma" panose="020B0604030504040204" pitchFamily="34" charset="0"/>
              <a:ea typeface="宋体" panose="02010600030101010101" pitchFamily="2" charset="-122"/>
            </a:endParaRPr>
          </a:p>
        </p:txBody>
      </p:sp>
      <p:sp>
        <p:nvSpPr>
          <p:cNvPr id="178179" name="Rectangle 2"/>
          <p:cNvSpPr>
            <a:spLocks noGrp="1"/>
          </p:cNvSpPr>
          <p:nvPr>
            <p:ph type="title" idx="4294967295"/>
          </p:nvPr>
        </p:nvSpPr>
        <p:spPr>
          <a:xfrm>
            <a:off x="901700" y="1038225"/>
            <a:ext cx="3670300" cy="563563"/>
          </a:xfrm>
        </p:spPr>
        <p:txBody>
          <a:bodyPr vert="horz" wrap="square" lIns="91440" tIns="45720" rIns="91440" bIns="45720" anchor="ctr" anchorCtr="0"/>
          <a:p>
            <a:pPr eaLnBrk="1" hangingPunct="1"/>
            <a:r>
              <a:rPr lang="zh-CN" altLang="en-US" dirty="0">
                <a:solidFill>
                  <a:srgbClr val="000033"/>
                </a:solidFill>
                <a:ea typeface="宋体" panose="02010600030101010101" pitchFamily="2" charset="-122"/>
              </a:rPr>
              <a:t>中断指令的执行过程</a:t>
            </a:r>
            <a:endParaRPr lang="zh-CN" altLang="en-US" dirty="0">
              <a:solidFill>
                <a:srgbClr val="000033"/>
              </a:solidFill>
              <a:ea typeface="宋体" panose="02010600030101010101" pitchFamily="2" charset="-122"/>
            </a:endParaRPr>
          </a:p>
        </p:txBody>
      </p:sp>
      <p:sp>
        <p:nvSpPr>
          <p:cNvPr id="174084" name="Rectangle 4"/>
          <p:cNvSpPr/>
          <p:nvPr/>
        </p:nvSpPr>
        <p:spPr>
          <a:xfrm>
            <a:off x="6719888" y="2349500"/>
            <a:ext cx="1601787" cy="403225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4085" name="Line 5"/>
          <p:cNvSpPr/>
          <p:nvPr/>
        </p:nvSpPr>
        <p:spPr>
          <a:xfrm>
            <a:off x="6719888" y="3263900"/>
            <a:ext cx="1600200" cy="0"/>
          </a:xfrm>
          <a:prstGeom prst="line">
            <a:avLst/>
          </a:prstGeom>
          <a:ln w="25400" cap="sq" cmpd="sng">
            <a:solidFill>
              <a:schemeClr val="tx1"/>
            </a:solidFill>
            <a:prstDash val="solid"/>
            <a:headEnd type="none" w="med" len="med"/>
            <a:tailEnd type="none" w="med" len="med"/>
          </a:ln>
        </p:spPr>
      </p:sp>
      <p:sp>
        <p:nvSpPr>
          <p:cNvPr id="174086" name="Line 6"/>
          <p:cNvSpPr/>
          <p:nvPr/>
        </p:nvSpPr>
        <p:spPr>
          <a:xfrm>
            <a:off x="6719888" y="3644900"/>
            <a:ext cx="1600200" cy="0"/>
          </a:xfrm>
          <a:prstGeom prst="line">
            <a:avLst/>
          </a:prstGeom>
          <a:ln w="25400" cap="sq" cmpd="sng">
            <a:solidFill>
              <a:schemeClr val="tx1"/>
            </a:solidFill>
            <a:prstDash val="solid"/>
            <a:headEnd type="none" w="med" len="med"/>
            <a:tailEnd type="none" w="med" len="med"/>
          </a:ln>
        </p:spPr>
      </p:sp>
      <p:sp>
        <p:nvSpPr>
          <p:cNvPr id="174087" name="Line 7"/>
          <p:cNvSpPr/>
          <p:nvPr/>
        </p:nvSpPr>
        <p:spPr>
          <a:xfrm>
            <a:off x="6719888" y="4025900"/>
            <a:ext cx="1600200" cy="0"/>
          </a:xfrm>
          <a:prstGeom prst="line">
            <a:avLst/>
          </a:prstGeom>
          <a:ln w="25400" cap="sq" cmpd="sng">
            <a:solidFill>
              <a:schemeClr val="tx1"/>
            </a:solidFill>
            <a:prstDash val="solid"/>
            <a:headEnd type="none" w="med" len="med"/>
            <a:tailEnd type="none" w="med" len="med"/>
          </a:ln>
        </p:spPr>
      </p:sp>
      <p:sp>
        <p:nvSpPr>
          <p:cNvPr id="174088" name="Line 8"/>
          <p:cNvSpPr/>
          <p:nvPr/>
        </p:nvSpPr>
        <p:spPr>
          <a:xfrm>
            <a:off x="6721475" y="2882900"/>
            <a:ext cx="1600200" cy="0"/>
          </a:xfrm>
          <a:prstGeom prst="line">
            <a:avLst/>
          </a:prstGeom>
          <a:ln w="25400" cap="sq" cmpd="sng">
            <a:solidFill>
              <a:schemeClr val="tx1"/>
            </a:solidFill>
            <a:prstDash val="solid"/>
            <a:headEnd type="none" w="med" len="med"/>
            <a:tailEnd type="none" w="med" len="med"/>
          </a:ln>
        </p:spPr>
      </p:sp>
      <p:sp>
        <p:nvSpPr>
          <p:cNvPr id="174089" name="Line 9"/>
          <p:cNvSpPr/>
          <p:nvPr/>
        </p:nvSpPr>
        <p:spPr>
          <a:xfrm>
            <a:off x="6721475" y="4406900"/>
            <a:ext cx="1600200" cy="0"/>
          </a:xfrm>
          <a:prstGeom prst="line">
            <a:avLst/>
          </a:prstGeom>
          <a:ln w="25400" cap="sq" cmpd="sng">
            <a:solidFill>
              <a:schemeClr val="tx1"/>
            </a:solidFill>
            <a:prstDash val="solid"/>
            <a:headEnd type="none" w="med" len="med"/>
            <a:tailEnd type="none" w="med" len="med"/>
          </a:ln>
        </p:spPr>
      </p:sp>
      <p:sp>
        <p:nvSpPr>
          <p:cNvPr id="174090" name="Text Box 10"/>
          <p:cNvSpPr txBox="1"/>
          <p:nvPr/>
        </p:nvSpPr>
        <p:spPr>
          <a:xfrm>
            <a:off x="5037138" y="2693988"/>
            <a:ext cx="1136650" cy="519112"/>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latin typeface="Times New Roman" panose="02020603050405020304" pitchFamily="18" charset="0"/>
                <a:ea typeface="宋体" panose="02010600030101010101" pitchFamily="2" charset="-122"/>
              </a:rPr>
              <a:t>n×4</a:t>
            </a:r>
            <a:r>
              <a:rPr lang="en-US" altLang="zh-CN"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p:txBody>
      </p:sp>
      <p:sp>
        <p:nvSpPr>
          <p:cNvPr id="174091" name="Line 11"/>
          <p:cNvSpPr/>
          <p:nvPr/>
        </p:nvSpPr>
        <p:spPr>
          <a:xfrm flipV="1">
            <a:off x="5957888" y="2997200"/>
            <a:ext cx="647700" cy="0"/>
          </a:xfrm>
          <a:prstGeom prst="line">
            <a:avLst/>
          </a:prstGeom>
          <a:ln w="25400" cap="sq" cmpd="sng">
            <a:solidFill>
              <a:srgbClr val="FF6600"/>
            </a:solidFill>
            <a:prstDash val="solid"/>
            <a:headEnd type="none" w="med" len="med"/>
            <a:tailEnd type="triangle" w="lg" len="lg"/>
          </a:ln>
        </p:spPr>
      </p:sp>
      <p:sp>
        <p:nvSpPr>
          <p:cNvPr id="174092" name="Text Box 12"/>
          <p:cNvSpPr txBox="1"/>
          <p:nvPr/>
        </p:nvSpPr>
        <p:spPr>
          <a:xfrm>
            <a:off x="7116763" y="286861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22H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74093" name="Text Box 13"/>
          <p:cNvSpPr txBox="1"/>
          <p:nvPr/>
        </p:nvSpPr>
        <p:spPr>
          <a:xfrm>
            <a:off x="7116763" y="324961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11H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74094" name="Text Box 14"/>
          <p:cNvSpPr txBox="1"/>
          <p:nvPr/>
        </p:nvSpPr>
        <p:spPr>
          <a:xfrm>
            <a:off x="7116763" y="363061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00H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74095" name="Text Box 15"/>
          <p:cNvSpPr txBox="1"/>
          <p:nvPr/>
        </p:nvSpPr>
        <p:spPr>
          <a:xfrm>
            <a:off x="7116763" y="401161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67H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74096" name="AutoShape 16"/>
          <p:cNvSpPr/>
          <p:nvPr/>
        </p:nvSpPr>
        <p:spPr>
          <a:xfrm>
            <a:off x="6840538" y="3030538"/>
            <a:ext cx="168275" cy="523875"/>
          </a:xfrm>
          <a:prstGeom prst="leftBrace">
            <a:avLst>
              <a:gd name="adj1" fmla="val 25741"/>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4097" name="AutoShape 17"/>
          <p:cNvSpPr/>
          <p:nvPr/>
        </p:nvSpPr>
        <p:spPr>
          <a:xfrm>
            <a:off x="6840538" y="3794125"/>
            <a:ext cx="168275" cy="493713"/>
          </a:xfrm>
          <a:prstGeom prst="leftBrace">
            <a:avLst>
              <a:gd name="adj1" fmla="val 24259"/>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4098" name="Text Box 18"/>
          <p:cNvSpPr txBox="1"/>
          <p:nvPr/>
        </p:nvSpPr>
        <p:spPr>
          <a:xfrm>
            <a:off x="5219700" y="3141663"/>
            <a:ext cx="503238"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IP</a:t>
            </a:r>
            <a:endParaRPr lang="en-US" altLang="zh-CN" sz="2000" b="1" dirty="0">
              <a:latin typeface="Times New Roman" panose="02020603050405020304" pitchFamily="18" charset="0"/>
              <a:ea typeface="宋体" panose="02010600030101010101" pitchFamily="2" charset="-122"/>
            </a:endParaRPr>
          </a:p>
        </p:txBody>
      </p:sp>
      <p:sp>
        <p:nvSpPr>
          <p:cNvPr id="174099" name="Text Box 19"/>
          <p:cNvSpPr txBox="1"/>
          <p:nvPr/>
        </p:nvSpPr>
        <p:spPr>
          <a:xfrm>
            <a:off x="5130800" y="4149725"/>
            <a:ext cx="576263"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CS</a:t>
            </a:r>
            <a:endParaRPr lang="en-US" altLang="zh-CN" sz="2000" b="1" dirty="0">
              <a:latin typeface="Times New Roman" panose="02020603050405020304" pitchFamily="18" charset="0"/>
              <a:ea typeface="宋体" panose="02010600030101010101" pitchFamily="2" charset="-122"/>
            </a:endParaRPr>
          </a:p>
        </p:txBody>
      </p:sp>
      <p:sp>
        <p:nvSpPr>
          <p:cNvPr id="174100" name="Rectangle 20"/>
          <p:cNvSpPr/>
          <p:nvPr/>
        </p:nvSpPr>
        <p:spPr>
          <a:xfrm>
            <a:off x="4932363" y="3500438"/>
            <a:ext cx="1008062" cy="433387"/>
          </a:xfrm>
          <a:prstGeom prst="rect">
            <a:avLst/>
          </a:prstGeom>
          <a:no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4101" name="Rectangle 21"/>
          <p:cNvSpPr/>
          <p:nvPr/>
        </p:nvSpPr>
        <p:spPr>
          <a:xfrm>
            <a:off x="4929188" y="4508500"/>
            <a:ext cx="1008062" cy="433388"/>
          </a:xfrm>
          <a:prstGeom prst="rect">
            <a:avLst/>
          </a:prstGeom>
          <a:no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4102" name="Line 24"/>
          <p:cNvSpPr/>
          <p:nvPr/>
        </p:nvSpPr>
        <p:spPr>
          <a:xfrm>
            <a:off x="6721475" y="5086350"/>
            <a:ext cx="1600200" cy="0"/>
          </a:xfrm>
          <a:prstGeom prst="line">
            <a:avLst/>
          </a:prstGeom>
          <a:ln w="25400" cap="sq" cmpd="sng">
            <a:solidFill>
              <a:schemeClr val="tx1"/>
            </a:solidFill>
            <a:prstDash val="solid"/>
            <a:headEnd type="none" w="med" len="med"/>
            <a:tailEnd type="none" w="med" len="med"/>
          </a:ln>
        </p:spPr>
      </p:sp>
      <p:sp>
        <p:nvSpPr>
          <p:cNvPr id="174103" name="Line 25"/>
          <p:cNvSpPr/>
          <p:nvPr/>
        </p:nvSpPr>
        <p:spPr>
          <a:xfrm>
            <a:off x="6721475" y="5518150"/>
            <a:ext cx="1600200" cy="0"/>
          </a:xfrm>
          <a:prstGeom prst="line">
            <a:avLst/>
          </a:prstGeom>
          <a:ln w="25400" cap="sq" cmpd="sng">
            <a:solidFill>
              <a:schemeClr val="tx1"/>
            </a:solidFill>
            <a:prstDash val="solid"/>
            <a:headEnd type="none" w="med" len="med"/>
            <a:tailEnd type="none" w="med" len="med"/>
          </a:ln>
        </p:spPr>
      </p:sp>
      <p:sp>
        <p:nvSpPr>
          <p:cNvPr id="174104" name="Text Box 26"/>
          <p:cNvSpPr txBox="1"/>
          <p:nvPr/>
        </p:nvSpPr>
        <p:spPr>
          <a:xfrm>
            <a:off x="5610225" y="5157788"/>
            <a:ext cx="1122363"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68122H</a:t>
            </a:r>
            <a:endParaRPr lang="en-US" altLang="zh-CN" sz="2000" b="1" dirty="0">
              <a:latin typeface="Times New Roman" panose="02020603050405020304" pitchFamily="18" charset="0"/>
              <a:ea typeface="宋体" panose="02010600030101010101" pitchFamily="2" charset="-122"/>
            </a:endParaRPr>
          </a:p>
        </p:txBody>
      </p:sp>
      <p:sp>
        <p:nvSpPr>
          <p:cNvPr id="174105" name="Text Box 27"/>
          <p:cNvSpPr txBox="1"/>
          <p:nvPr/>
        </p:nvSpPr>
        <p:spPr>
          <a:xfrm>
            <a:off x="7110413" y="5091113"/>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MOV</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74106" name="AutoShape 28"/>
          <p:cNvSpPr/>
          <p:nvPr/>
        </p:nvSpPr>
        <p:spPr>
          <a:xfrm rot="10800000">
            <a:off x="8405813" y="4870450"/>
            <a:ext cx="144462" cy="1366838"/>
          </a:xfrm>
          <a:prstGeom prst="leftBrace">
            <a:avLst>
              <a:gd name="adj1" fmla="val 78233"/>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4107" name="AutoShape 29"/>
          <p:cNvSpPr/>
          <p:nvPr/>
        </p:nvSpPr>
        <p:spPr>
          <a:xfrm rot="10800000">
            <a:off x="8405813" y="2708275"/>
            <a:ext cx="144462" cy="1873250"/>
          </a:xfrm>
          <a:prstGeom prst="leftBrace">
            <a:avLst>
              <a:gd name="adj1" fmla="val 107218"/>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4108" name="Text Box 30"/>
          <p:cNvSpPr txBox="1"/>
          <p:nvPr/>
        </p:nvSpPr>
        <p:spPr>
          <a:xfrm>
            <a:off x="8550275" y="5105400"/>
            <a:ext cx="457200" cy="915988"/>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代码段</a:t>
            </a:r>
            <a:endParaRPr lang="zh-CN" altLang="en-US" sz="2400" b="1" dirty="0">
              <a:latin typeface="Times New Roman" panose="02020603050405020304" pitchFamily="18" charset="0"/>
              <a:ea typeface="宋体" panose="02010600030101010101" pitchFamily="2" charset="-122"/>
            </a:endParaRPr>
          </a:p>
        </p:txBody>
      </p:sp>
      <p:sp>
        <p:nvSpPr>
          <p:cNvPr id="174109" name="Text Box 31"/>
          <p:cNvSpPr txBox="1"/>
          <p:nvPr/>
        </p:nvSpPr>
        <p:spPr>
          <a:xfrm>
            <a:off x="8578850" y="3162300"/>
            <a:ext cx="457200" cy="915988"/>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数据段</a:t>
            </a:r>
            <a:endParaRPr lang="zh-CN" altLang="en-US" sz="2400" b="1" dirty="0">
              <a:latin typeface="Times New Roman" panose="02020603050405020304" pitchFamily="18" charset="0"/>
              <a:ea typeface="宋体" panose="02010600030101010101" pitchFamily="2" charset="-122"/>
            </a:endParaRPr>
          </a:p>
        </p:txBody>
      </p:sp>
      <p:sp>
        <p:nvSpPr>
          <p:cNvPr id="174110" name="Text Box 32"/>
          <p:cNvSpPr txBox="1"/>
          <p:nvPr/>
        </p:nvSpPr>
        <p:spPr>
          <a:xfrm>
            <a:off x="7224713" y="4484688"/>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74111" name="Line 33"/>
          <p:cNvSpPr/>
          <p:nvPr/>
        </p:nvSpPr>
        <p:spPr>
          <a:xfrm>
            <a:off x="6721475" y="5949950"/>
            <a:ext cx="1600200" cy="0"/>
          </a:xfrm>
          <a:prstGeom prst="line">
            <a:avLst/>
          </a:prstGeom>
          <a:ln w="25400" cap="sq" cmpd="sng">
            <a:solidFill>
              <a:schemeClr val="tx1"/>
            </a:solidFill>
            <a:prstDash val="solid"/>
            <a:headEnd type="none" w="med" len="med"/>
            <a:tailEnd type="none" w="med" len="med"/>
          </a:ln>
        </p:spPr>
      </p:sp>
      <p:sp>
        <p:nvSpPr>
          <p:cNvPr id="174112" name="Rectangle 34"/>
          <p:cNvSpPr/>
          <p:nvPr/>
        </p:nvSpPr>
        <p:spPr>
          <a:xfrm>
            <a:off x="1098550" y="2276475"/>
            <a:ext cx="1601788" cy="4319588"/>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4113" name="Line 35"/>
          <p:cNvSpPr/>
          <p:nvPr/>
        </p:nvSpPr>
        <p:spPr>
          <a:xfrm>
            <a:off x="1098550" y="3190875"/>
            <a:ext cx="1600200" cy="0"/>
          </a:xfrm>
          <a:prstGeom prst="line">
            <a:avLst/>
          </a:prstGeom>
          <a:ln w="25400" cap="sq" cmpd="sng">
            <a:solidFill>
              <a:schemeClr val="tx1"/>
            </a:solidFill>
            <a:prstDash val="solid"/>
            <a:headEnd type="none" w="med" len="med"/>
            <a:tailEnd type="none" w="med" len="med"/>
          </a:ln>
        </p:spPr>
      </p:sp>
      <p:sp>
        <p:nvSpPr>
          <p:cNvPr id="174114" name="Line 36"/>
          <p:cNvSpPr/>
          <p:nvPr/>
        </p:nvSpPr>
        <p:spPr>
          <a:xfrm>
            <a:off x="1098550" y="3571875"/>
            <a:ext cx="1600200" cy="0"/>
          </a:xfrm>
          <a:prstGeom prst="line">
            <a:avLst/>
          </a:prstGeom>
          <a:ln w="25400" cap="sq" cmpd="sng">
            <a:solidFill>
              <a:schemeClr val="tx1"/>
            </a:solidFill>
            <a:prstDash val="solid"/>
            <a:headEnd type="none" w="med" len="med"/>
            <a:tailEnd type="none" w="med" len="med"/>
          </a:ln>
        </p:spPr>
      </p:sp>
      <p:sp>
        <p:nvSpPr>
          <p:cNvPr id="174115" name="Line 37"/>
          <p:cNvSpPr/>
          <p:nvPr/>
        </p:nvSpPr>
        <p:spPr>
          <a:xfrm>
            <a:off x="1098550" y="3952875"/>
            <a:ext cx="1600200" cy="0"/>
          </a:xfrm>
          <a:prstGeom prst="line">
            <a:avLst/>
          </a:prstGeom>
          <a:ln w="25400" cap="sq" cmpd="sng">
            <a:solidFill>
              <a:schemeClr val="tx1"/>
            </a:solidFill>
            <a:prstDash val="solid"/>
            <a:headEnd type="none" w="med" len="med"/>
            <a:tailEnd type="none" w="med" len="med"/>
          </a:ln>
        </p:spPr>
      </p:sp>
      <p:sp>
        <p:nvSpPr>
          <p:cNvPr id="174116" name="Line 38"/>
          <p:cNvSpPr/>
          <p:nvPr/>
        </p:nvSpPr>
        <p:spPr>
          <a:xfrm>
            <a:off x="1100138" y="2809875"/>
            <a:ext cx="1600200" cy="0"/>
          </a:xfrm>
          <a:prstGeom prst="line">
            <a:avLst/>
          </a:prstGeom>
          <a:ln w="25400" cap="sq" cmpd="sng">
            <a:solidFill>
              <a:schemeClr val="tx1"/>
            </a:solidFill>
            <a:prstDash val="solid"/>
            <a:headEnd type="none" w="med" len="med"/>
            <a:tailEnd type="none" w="med" len="med"/>
          </a:ln>
        </p:spPr>
      </p:sp>
      <p:sp>
        <p:nvSpPr>
          <p:cNvPr id="174117" name="Line 39"/>
          <p:cNvSpPr/>
          <p:nvPr/>
        </p:nvSpPr>
        <p:spPr>
          <a:xfrm>
            <a:off x="1100138" y="4333875"/>
            <a:ext cx="1600200" cy="0"/>
          </a:xfrm>
          <a:prstGeom prst="line">
            <a:avLst/>
          </a:prstGeom>
          <a:ln w="25400" cap="sq" cmpd="sng">
            <a:solidFill>
              <a:schemeClr val="tx1"/>
            </a:solidFill>
            <a:prstDash val="solid"/>
            <a:headEnd type="none" w="med" len="med"/>
            <a:tailEnd type="none" w="med" len="med"/>
          </a:ln>
        </p:spPr>
      </p:sp>
      <p:sp>
        <p:nvSpPr>
          <p:cNvPr id="174118" name="Line 46"/>
          <p:cNvSpPr/>
          <p:nvPr/>
        </p:nvSpPr>
        <p:spPr>
          <a:xfrm>
            <a:off x="1100138" y="4725988"/>
            <a:ext cx="1600200" cy="0"/>
          </a:xfrm>
          <a:prstGeom prst="line">
            <a:avLst/>
          </a:prstGeom>
          <a:ln w="25400" cap="sq" cmpd="sng">
            <a:solidFill>
              <a:schemeClr val="tx1"/>
            </a:solidFill>
            <a:prstDash val="solid"/>
            <a:headEnd type="none" w="med" len="med"/>
            <a:tailEnd type="none" w="med" len="med"/>
          </a:ln>
        </p:spPr>
      </p:sp>
      <p:sp>
        <p:nvSpPr>
          <p:cNvPr id="174119" name="Line 47"/>
          <p:cNvSpPr/>
          <p:nvPr/>
        </p:nvSpPr>
        <p:spPr>
          <a:xfrm>
            <a:off x="1100138" y="5157788"/>
            <a:ext cx="1600200" cy="0"/>
          </a:xfrm>
          <a:prstGeom prst="line">
            <a:avLst/>
          </a:prstGeom>
          <a:ln w="25400" cap="sq" cmpd="sng">
            <a:solidFill>
              <a:schemeClr val="tx1"/>
            </a:solidFill>
            <a:prstDash val="solid"/>
            <a:headEnd type="none" w="med" len="med"/>
            <a:tailEnd type="none" w="med" len="med"/>
          </a:ln>
        </p:spPr>
      </p:sp>
      <p:sp>
        <p:nvSpPr>
          <p:cNvPr id="174120" name="AutoShape 50"/>
          <p:cNvSpPr/>
          <p:nvPr/>
        </p:nvSpPr>
        <p:spPr>
          <a:xfrm>
            <a:off x="809625" y="2635250"/>
            <a:ext cx="163513" cy="3529013"/>
          </a:xfrm>
          <a:prstGeom prst="leftBrace">
            <a:avLst>
              <a:gd name="adj1" fmla="val 178454"/>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4121" name="Text Box 52"/>
          <p:cNvSpPr txBox="1"/>
          <p:nvPr/>
        </p:nvSpPr>
        <p:spPr>
          <a:xfrm>
            <a:off x="371475" y="3932238"/>
            <a:ext cx="457200" cy="915987"/>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堆栈段</a:t>
            </a:r>
            <a:endParaRPr lang="zh-CN" altLang="en-US" sz="2400" b="1" dirty="0">
              <a:latin typeface="Times New Roman" panose="02020603050405020304" pitchFamily="18" charset="0"/>
              <a:ea typeface="宋体" panose="02010600030101010101" pitchFamily="2" charset="-122"/>
            </a:endParaRPr>
          </a:p>
        </p:txBody>
      </p:sp>
      <p:sp>
        <p:nvSpPr>
          <p:cNvPr id="174122" name="Line 54"/>
          <p:cNvSpPr/>
          <p:nvPr/>
        </p:nvSpPr>
        <p:spPr>
          <a:xfrm>
            <a:off x="1100138" y="5589588"/>
            <a:ext cx="1600200" cy="0"/>
          </a:xfrm>
          <a:prstGeom prst="line">
            <a:avLst/>
          </a:prstGeom>
          <a:ln w="25400" cap="sq" cmpd="sng">
            <a:solidFill>
              <a:schemeClr val="tx1"/>
            </a:solidFill>
            <a:prstDash val="solid"/>
            <a:headEnd type="none" w="med" len="med"/>
            <a:tailEnd type="none" w="med" len="med"/>
          </a:ln>
        </p:spPr>
      </p:sp>
      <p:sp>
        <p:nvSpPr>
          <p:cNvPr id="174123" name="Text Box 55"/>
          <p:cNvSpPr txBox="1"/>
          <p:nvPr/>
        </p:nvSpPr>
        <p:spPr>
          <a:xfrm>
            <a:off x="3492500" y="5589588"/>
            <a:ext cx="576263"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SP</a:t>
            </a:r>
            <a:endParaRPr lang="en-US" altLang="zh-CN" sz="2000" b="1" dirty="0">
              <a:latin typeface="Times New Roman" panose="02020603050405020304" pitchFamily="18" charset="0"/>
              <a:ea typeface="宋体" panose="02010600030101010101" pitchFamily="2" charset="-122"/>
            </a:endParaRPr>
          </a:p>
        </p:txBody>
      </p:sp>
      <p:sp>
        <p:nvSpPr>
          <p:cNvPr id="174124" name="Text Box 56"/>
          <p:cNvSpPr txBox="1"/>
          <p:nvPr/>
        </p:nvSpPr>
        <p:spPr>
          <a:xfrm>
            <a:off x="1327150" y="5162550"/>
            <a:ext cx="1211263"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FLAGS</a:t>
            </a:r>
            <a:r>
              <a:rPr lang="en-US" altLang="zh-CN" sz="1600" b="1" dirty="0">
                <a:solidFill>
                  <a:schemeClr val="bg1"/>
                </a:solidFill>
                <a:latin typeface="Times New Roman" panose="02020603050405020304" pitchFamily="18" charset="0"/>
                <a:ea typeface="宋体" panose="02010600030101010101" pitchFamily="2" charset="-122"/>
              </a:rPr>
              <a:t>H</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74125" name="Text Box 57"/>
          <p:cNvSpPr txBox="1"/>
          <p:nvPr/>
        </p:nvSpPr>
        <p:spPr>
          <a:xfrm>
            <a:off x="1314450" y="4724400"/>
            <a:ext cx="1211263"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FLAGS</a:t>
            </a:r>
            <a:r>
              <a:rPr lang="en-US" altLang="zh-CN" sz="1600" b="1" dirty="0">
                <a:solidFill>
                  <a:schemeClr val="bg1"/>
                </a:solidFill>
                <a:latin typeface="Times New Roman" panose="02020603050405020304" pitchFamily="18" charset="0"/>
                <a:ea typeface="宋体" panose="02010600030101010101" pitchFamily="2" charset="-122"/>
              </a:rPr>
              <a:t>L</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74126" name="Text Box 58"/>
          <p:cNvSpPr txBox="1"/>
          <p:nvPr/>
        </p:nvSpPr>
        <p:spPr>
          <a:xfrm>
            <a:off x="1558925" y="3565525"/>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IP</a:t>
            </a:r>
            <a:r>
              <a:rPr lang="en-US" altLang="zh-CN" sz="1600" b="1" dirty="0">
                <a:solidFill>
                  <a:schemeClr val="bg1"/>
                </a:solidFill>
                <a:latin typeface="Times New Roman" panose="02020603050405020304" pitchFamily="18" charset="0"/>
                <a:ea typeface="宋体" panose="02010600030101010101" pitchFamily="2" charset="-122"/>
              </a:rPr>
              <a:t>H</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74127" name="Text Box 59"/>
          <p:cNvSpPr txBox="1"/>
          <p:nvPr/>
        </p:nvSpPr>
        <p:spPr>
          <a:xfrm>
            <a:off x="1530350" y="3946525"/>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CS</a:t>
            </a:r>
            <a:r>
              <a:rPr lang="en-US" altLang="zh-CN" sz="1600" b="1" dirty="0">
                <a:solidFill>
                  <a:schemeClr val="bg1"/>
                </a:solidFill>
                <a:latin typeface="Times New Roman" panose="02020603050405020304" pitchFamily="18" charset="0"/>
                <a:ea typeface="宋体" panose="02010600030101010101" pitchFamily="2" charset="-122"/>
              </a:rPr>
              <a:t>L</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74128" name="Text Box 60"/>
          <p:cNvSpPr txBox="1"/>
          <p:nvPr/>
        </p:nvSpPr>
        <p:spPr>
          <a:xfrm>
            <a:off x="1530350" y="4327525"/>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CS</a:t>
            </a:r>
            <a:r>
              <a:rPr lang="en-US" altLang="zh-CN" sz="1600" b="1" dirty="0">
                <a:solidFill>
                  <a:schemeClr val="bg1"/>
                </a:solidFill>
                <a:latin typeface="Times New Roman" panose="02020603050405020304" pitchFamily="18" charset="0"/>
                <a:ea typeface="宋体" panose="02010600030101010101" pitchFamily="2" charset="-122"/>
              </a:rPr>
              <a:t>H</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74129" name="Text Box 61"/>
          <p:cNvSpPr txBox="1"/>
          <p:nvPr/>
        </p:nvSpPr>
        <p:spPr>
          <a:xfrm>
            <a:off x="1558925" y="3175000"/>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IP</a:t>
            </a:r>
            <a:r>
              <a:rPr lang="en-US" altLang="zh-CN" sz="1600" b="1" dirty="0">
                <a:solidFill>
                  <a:schemeClr val="bg1"/>
                </a:solidFill>
                <a:latin typeface="Times New Roman" panose="02020603050405020304" pitchFamily="18" charset="0"/>
                <a:ea typeface="宋体" panose="02010600030101010101" pitchFamily="2" charset="-122"/>
              </a:rPr>
              <a:t>L</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74130" name="Line 62"/>
          <p:cNvSpPr/>
          <p:nvPr/>
        </p:nvSpPr>
        <p:spPr>
          <a:xfrm flipH="1">
            <a:off x="2773363" y="5805488"/>
            <a:ext cx="719137" cy="0"/>
          </a:xfrm>
          <a:prstGeom prst="line">
            <a:avLst/>
          </a:prstGeom>
          <a:ln w="25400" cap="sq" cmpd="sng">
            <a:solidFill>
              <a:srgbClr val="FF6600"/>
            </a:solidFill>
            <a:prstDash val="solid"/>
            <a:headEnd type="none" w="med" len="med"/>
            <a:tailEnd type="triangle" w="lg" len="lg"/>
          </a:ln>
        </p:spPr>
      </p:sp>
      <p:sp>
        <p:nvSpPr>
          <p:cNvPr id="174131" name="Line 65"/>
          <p:cNvSpPr/>
          <p:nvPr/>
        </p:nvSpPr>
        <p:spPr>
          <a:xfrm>
            <a:off x="1101725" y="6019800"/>
            <a:ext cx="1600200" cy="0"/>
          </a:xfrm>
          <a:prstGeom prst="line">
            <a:avLst/>
          </a:prstGeom>
          <a:ln w="25400" cap="sq" cmpd="sng">
            <a:solidFill>
              <a:schemeClr val="tx1"/>
            </a:solidFill>
            <a:prstDash val="solid"/>
            <a:headEnd type="none" w="med" len="med"/>
            <a:tailEnd type="none" w="med" len="med"/>
          </a:ln>
        </p:spPr>
      </p:sp>
      <p:sp>
        <p:nvSpPr>
          <p:cNvPr id="174132" name="Text Box 66"/>
          <p:cNvSpPr txBox="1"/>
          <p:nvPr/>
        </p:nvSpPr>
        <p:spPr>
          <a:xfrm>
            <a:off x="1620838" y="6067425"/>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74133" name="Text Box 67"/>
          <p:cNvSpPr txBox="1"/>
          <p:nvPr/>
        </p:nvSpPr>
        <p:spPr>
          <a:xfrm>
            <a:off x="3490913" y="4724400"/>
            <a:ext cx="576262"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SP</a:t>
            </a:r>
            <a:endParaRPr lang="en-US" altLang="zh-CN" sz="2000" b="1" dirty="0">
              <a:latin typeface="Times New Roman" panose="02020603050405020304" pitchFamily="18" charset="0"/>
              <a:ea typeface="宋体" panose="02010600030101010101" pitchFamily="2" charset="-122"/>
            </a:endParaRPr>
          </a:p>
        </p:txBody>
      </p:sp>
      <p:sp>
        <p:nvSpPr>
          <p:cNvPr id="174134" name="Line 68"/>
          <p:cNvSpPr/>
          <p:nvPr/>
        </p:nvSpPr>
        <p:spPr>
          <a:xfrm flipH="1">
            <a:off x="2771775" y="4940300"/>
            <a:ext cx="719138" cy="0"/>
          </a:xfrm>
          <a:prstGeom prst="line">
            <a:avLst/>
          </a:prstGeom>
          <a:ln w="25400" cap="sq" cmpd="sng">
            <a:solidFill>
              <a:srgbClr val="FF6600"/>
            </a:solidFill>
            <a:prstDash val="solid"/>
            <a:headEnd type="none" w="med" len="med"/>
            <a:tailEnd type="triangle" w="lg" len="lg"/>
          </a:ln>
        </p:spPr>
      </p:sp>
      <p:sp>
        <p:nvSpPr>
          <p:cNvPr id="174135" name="Text Box 71"/>
          <p:cNvSpPr txBox="1"/>
          <p:nvPr/>
        </p:nvSpPr>
        <p:spPr>
          <a:xfrm>
            <a:off x="3563938" y="3141663"/>
            <a:ext cx="576262"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SP</a:t>
            </a:r>
            <a:endParaRPr lang="en-US" altLang="zh-CN" sz="2000" b="1" dirty="0">
              <a:latin typeface="Times New Roman" panose="02020603050405020304" pitchFamily="18" charset="0"/>
              <a:ea typeface="宋体" panose="02010600030101010101" pitchFamily="2" charset="-122"/>
            </a:endParaRPr>
          </a:p>
        </p:txBody>
      </p:sp>
      <p:sp>
        <p:nvSpPr>
          <p:cNvPr id="174136" name="Line 72"/>
          <p:cNvSpPr/>
          <p:nvPr/>
        </p:nvSpPr>
        <p:spPr>
          <a:xfrm flipH="1">
            <a:off x="2844800" y="3357563"/>
            <a:ext cx="719138" cy="0"/>
          </a:xfrm>
          <a:prstGeom prst="line">
            <a:avLst/>
          </a:prstGeom>
          <a:ln w="25400" cap="sq" cmpd="sng">
            <a:solidFill>
              <a:srgbClr val="FF6600"/>
            </a:solidFill>
            <a:prstDash val="solid"/>
            <a:headEnd type="none" w="med" len="med"/>
            <a:tailEnd type="triangle" w="lg" len="lg"/>
          </a:ln>
        </p:spPr>
      </p:sp>
      <p:sp>
        <p:nvSpPr>
          <p:cNvPr id="174137" name="Text Box 73"/>
          <p:cNvSpPr txBox="1"/>
          <p:nvPr/>
        </p:nvSpPr>
        <p:spPr>
          <a:xfrm>
            <a:off x="3548063" y="3940175"/>
            <a:ext cx="576262"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SP</a:t>
            </a:r>
            <a:endParaRPr lang="en-US" altLang="zh-CN" sz="2000" b="1" dirty="0">
              <a:latin typeface="Times New Roman" panose="02020603050405020304" pitchFamily="18" charset="0"/>
              <a:ea typeface="宋体" panose="02010600030101010101" pitchFamily="2" charset="-122"/>
            </a:endParaRPr>
          </a:p>
        </p:txBody>
      </p:sp>
      <p:sp>
        <p:nvSpPr>
          <p:cNvPr id="174138" name="Line 74"/>
          <p:cNvSpPr/>
          <p:nvPr/>
        </p:nvSpPr>
        <p:spPr>
          <a:xfrm flipH="1">
            <a:off x="2828925" y="4156075"/>
            <a:ext cx="719138" cy="0"/>
          </a:xfrm>
          <a:prstGeom prst="line">
            <a:avLst/>
          </a:prstGeom>
          <a:ln w="25400" cap="sq" cmpd="sng">
            <a:solidFill>
              <a:srgbClr val="FF6600"/>
            </a:solidFill>
            <a:prstDash val="solid"/>
            <a:headEnd type="none" w="med" len="med"/>
            <a:tailEnd type="triangle" w="lg" len="lg"/>
          </a:ln>
        </p:spPr>
      </p:sp>
      <p:sp>
        <p:nvSpPr>
          <p:cNvPr id="174139" name="Line 75"/>
          <p:cNvSpPr/>
          <p:nvPr/>
        </p:nvSpPr>
        <p:spPr>
          <a:xfrm flipH="1">
            <a:off x="5940425" y="3284538"/>
            <a:ext cx="936625" cy="431800"/>
          </a:xfrm>
          <a:prstGeom prst="line">
            <a:avLst/>
          </a:prstGeom>
          <a:ln w="25400" cap="sq" cmpd="sng">
            <a:solidFill>
              <a:srgbClr val="FF6600"/>
            </a:solidFill>
            <a:prstDash val="solid"/>
            <a:headEnd type="none" w="med" len="med"/>
            <a:tailEnd type="triangle" w="lg" len="lg"/>
          </a:ln>
        </p:spPr>
      </p:sp>
      <p:sp>
        <p:nvSpPr>
          <p:cNvPr id="174140" name="Line 76"/>
          <p:cNvSpPr/>
          <p:nvPr/>
        </p:nvSpPr>
        <p:spPr>
          <a:xfrm flipH="1">
            <a:off x="5940425" y="4019550"/>
            <a:ext cx="922338" cy="633413"/>
          </a:xfrm>
          <a:prstGeom prst="line">
            <a:avLst/>
          </a:prstGeom>
          <a:ln w="25400" cap="sq" cmpd="sng">
            <a:solidFill>
              <a:srgbClr val="FF6600"/>
            </a:solidFill>
            <a:prstDash val="solid"/>
            <a:headEnd type="none" w="med" len="med"/>
            <a:tailEnd type="triangle" w="lg" len="lg"/>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12"/>
                                        </p:tgtEl>
                                        <p:attrNameLst>
                                          <p:attrName>style.visibility</p:attrName>
                                        </p:attrNameLst>
                                      </p:cBhvr>
                                      <p:to>
                                        <p:strVal val="visible"/>
                                      </p:to>
                                    </p:set>
                                    <p:anim calcmode="lin" valueType="num">
                                      <p:cBhvr>
                                        <p:cTn id="7" dur="500" fill="hold"/>
                                        <p:tgtEl>
                                          <p:spTgt spid="174112"/>
                                        </p:tgtEl>
                                        <p:attrNameLst>
                                          <p:attrName>ppt_x</p:attrName>
                                        </p:attrNameLst>
                                      </p:cBhvr>
                                      <p:tavLst>
                                        <p:tav tm="0">
                                          <p:val>
                                            <p:strVal val="#ppt_x"/>
                                          </p:val>
                                        </p:tav>
                                        <p:tav tm="100000">
                                          <p:val>
                                            <p:strVal val="#ppt_x"/>
                                          </p:val>
                                        </p:tav>
                                      </p:tavLst>
                                    </p:anim>
                                    <p:anim calcmode="lin" valueType="num">
                                      <p:cBhvr>
                                        <p:cTn id="8" dur="500" fill="hold"/>
                                        <p:tgtEl>
                                          <p:spTgt spid="1741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4113"/>
                                        </p:tgtEl>
                                        <p:attrNameLst>
                                          <p:attrName>style.visibility</p:attrName>
                                        </p:attrNameLst>
                                      </p:cBhvr>
                                      <p:to>
                                        <p:strVal val="visible"/>
                                      </p:to>
                                    </p:set>
                                    <p:anim calcmode="lin" valueType="num">
                                      <p:cBhvr>
                                        <p:cTn id="11" dur="500" fill="hold"/>
                                        <p:tgtEl>
                                          <p:spTgt spid="174113"/>
                                        </p:tgtEl>
                                        <p:attrNameLst>
                                          <p:attrName>ppt_x</p:attrName>
                                        </p:attrNameLst>
                                      </p:cBhvr>
                                      <p:tavLst>
                                        <p:tav tm="0">
                                          <p:val>
                                            <p:strVal val="#ppt_x"/>
                                          </p:val>
                                        </p:tav>
                                        <p:tav tm="100000">
                                          <p:val>
                                            <p:strVal val="#ppt_x"/>
                                          </p:val>
                                        </p:tav>
                                      </p:tavLst>
                                    </p:anim>
                                    <p:anim calcmode="lin" valueType="num">
                                      <p:cBhvr>
                                        <p:cTn id="12" dur="500" fill="hold"/>
                                        <p:tgtEl>
                                          <p:spTgt spid="17411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4114"/>
                                        </p:tgtEl>
                                        <p:attrNameLst>
                                          <p:attrName>style.visibility</p:attrName>
                                        </p:attrNameLst>
                                      </p:cBhvr>
                                      <p:to>
                                        <p:strVal val="visible"/>
                                      </p:to>
                                    </p:set>
                                    <p:anim calcmode="lin" valueType="num">
                                      <p:cBhvr>
                                        <p:cTn id="15" dur="500" fill="hold"/>
                                        <p:tgtEl>
                                          <p:spTgt spid="174114"/>
                                        </p:tgtEl>
                                        <p:attrNameLst>
                                          <p:attrName>ppt_x</p:attrName>
                                        </p:attrNameLst>
                                      </p:cBhvr>
                                      <p:tavLst>
                                        <p:tav tm="0">
                                          <p:val>
                                            <p:strVal val="#ppt_x"/>
                                          </p:val>
                                        </p:tav>
                                        <p:tav tm="100000">
                                          <p:val>
                                            <p:strVal val="#ppt_x"/>
                                          </p:val>
                                        </p:tav>
                                      </p:tavLst>
                                    </p:anim>
                                    <p:anim calcmode="lin" valueType="num">
                                      <p:cBhvr>
                                        <p:cTn id="16" dur="500" fill="hold"/>
                                        <p:tgtEl>
                                          <p:spTgt spid="17411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74115"/>
                                        </p:tgtEl>
                                        <p:attrNameLst>
                                          <p:attrName>style.visibility</p:attrName>
                                        </p:attrNameLst>
                                      </p:cBhvr>
                                      <p:to>
                                        <p:strVal val="visible"/>
                                      </p:to>
                                    </p:set>
                                    <p:anim calcmode="lin" valueType="num">
                                      <p:cBhvr>
                                        <p:cTn id="19" dur="500" fill="hold"/>
                                        <p:tgtEl>
                                          <p:spTgt spid="174115"/>
                                        </p:tgtEl>
                                        <p:attrNameLst>
                                          <p:attrName>ppt_x</p:attrName>
                                        </p:attrNameLst>
                                      </p:cBhvr>
                                      <p:tavLst>
                                        <p:tav tm="0">
                                          <p:val>
                                            <p:strVal val="#ppt_x"/>
                                          </p:val>
                                        </p:tav>
                                        <p:tav tm="100000">
                                          <p:val>
                                            <p:strVal val="#ppt_x"/>
                                          </p:val>
                                        </p:tav>
                                      </p:tavLst>
                                    </p:anim>
                                    <p:anim calcmode="lin" valueType="num">
                                      <p:cBhvr>
                                        <p:cTn id="20" dur="500" fill="hold"/>
                                        <p:tgtEl>
                                          <p:spTgt spid="17411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74116"/>
                                        </p:tgtEl>
                                        <p:attrNameLst>
                                          <p:attrName>style.visibility</p:attrName>
                                        </p:attrNameLst>
                                      </p:cBhvr>
                                      <p:to>
                                        <p:strVal val="visible"/>
                                      </p:to>
                                    </p:set>
                                    <p:anim calcmode="lin" valueType="num">
                                      <p:cBhvr>
                                        <p:cTn id="23" dur="500" fill="hold"/>
                                        <p:tgtEl>
                                          <p:spTgt spid="174116"/>
                                        </p:tgtEl>
                                        <p:attrNameLst>
                                          <p:attrName>ppt_x</p:attrName>
                                        </p:attrNameLst>
                                      </p:cBhvr>
                                      <p:tavLst>
                                        <p:tav tm="0">
                                          <p:val>
                                            <p:strVal val="#ppt_x"/>
                                          </p:val>
                                        </p:tav>
                                        <p:tav tm="100000">
                                          <p:val>
                                            <p:strVal val="#ppt_x"/>
                                          </p:val>
                                        </p:tav>
                                      </p:tavLst>
                                    </p:anim>
                                    <p:anim calcmode="lin" valueType="num">
                                      <p:cBhvr>
                                        <p:cTn id="24" dur="500" fill="hold"/>
                                        <p:tgtEl>
                                          <p:spTgt spid="174116"/>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74117"/>
                                        </p:tgtEl>
                                        <p:attrNameLst>
                                          <p:attrName>style.visibility</p:attrName>
                                        </p:attrNameLst>
                                      </p:cBhvr>
                                      <p:to>
                                        <p:strVal val="visible"/>
                                      </p:to>
                                    </p:set>
                                    <p:anim calcmode="lin" valueType="num">
                                      <p:cBhvr>
                                        <p:cTn id="27" dur="500" fill="hold"/>
                                        <p:tgtEl>
                                          <p:spTgt spid="174117"/>
                                        </p:tgtEl>
                                        <p:attrNameLst>
                                          <p:attrName>ppt_x</p:attrName>
                                        </p:attrNameLst>
                                      </p:cBhvr>
                                      <p:tavLst>
                                        <p:tav tm="0">
                                          <p:val>
                                            <p:strVal val="#ppt_x"/>
                                          </p:val>
                                        </p:tav>
                                        <p:tav tm="100000">
                                          <p:val>
                                            <p:strVal val="#ppt_x"/>
                                          </p:val>
                                        </p:tav>
                                      </p:tavLst>
                                    </p:anim>
                                    <p:anim calcmode="lin" valueType="num">
                                      <p:cBhvr>
                                        <p:cTn id="28" dur="500" fill="hold"/>
                                        <p:tgtEl>
                                          <p:spTgt spid="174117"/>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74118"/>
                                        </p:tgtEl>
                                        <p:attrNameLst>
                                          <p:attrName>style.visibility</p:attrName>
                                        </p:attrNameLst>
                                      </p:cBhvr>
                                      <p:to>
                                        <p:strVal val="visible"/>
                                      </p:to>
                                    </p:set>
                                    <p:anim calcmode="lin" valueType="num">
                                      <p:cBhvr>
                                        <p:cTn id="31" dur="500" fill="hold"/>
                                        <p:tgtEl>
                                          <p:spTgt spid="174118"/>
                                        </p:tgtEl>
                                        <p:attrNameLst>
                                          <p:attrName>ppt_x</p:attrName>
                                        </p:attrNameLst>
                                      </p:cBhvr>
                                      <p:tavLst>
                                        <p:tav tm="0">
                                          <p:val>
                                            <p:strVal val="#ppt_x"/>
                                          </p:val>
                                        </p:tav>
                                        <p:tav tm="100000">
                                          <p:val>
                                            <p:strVal val="#ppt_x"/>
                                          </p:val>
                                        </p:tav>
                                      </p:tavLst>
                                    </p:anim>
                                    <p:anim calcmode="lin" valueType="num">
                                      <p:cBhvr>
                                        <p:cTn id="32" dur="500" fill="hold"/>
                                        <p:tgtEl>
                                          <p:spTgt spid="174118"/>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74119"/>
                                        </p:tgtEl>
                                        <p:attrNameLst>
                                          <p:attrName>style.visibility</p:attrName>
                                        </p:attrNameLst>
                                      </p:cBhvr>
                                      <p:to>
                                        <p:strVal val="visible"/>
                                      </p:to>
                                    </p:set>
                                    <p:anim calcmode="lin" valueType="num">
                                      <p:cBhvr>
                                        <p:cTn id="35" dur="500" fill="hold"/>
                                        <p:tgtEl>
                                          <p:spTgt spid="174119"/>
                                        </p:tgtEl>
                                        <p:attrNameLst>
                                          <p:attrName>ppt_x</p:attrName>
                                        </p:attrNameLst>
                                      </p:cBhvr>
                                      <p:tavLst>
                                        <p:tav tm="0">
                                          <p:val>
                                            <p:strVal val="#ppt_x"/>
                                          </p:val>
                                        </p:tav>
                                        <p:tav tm="100000">
                                          <p:val>
                                            <p:strVal val="#ppt_x"/>
                                          </p:val>
                                        </p:tav>
                                      </p:tavLst>
                                    </p:anim>
                                    <p:anim calcmode="lin" valueType="num">
                                      <p:cBhvr>
                                        <p:cTn id="36" dur="500" fill="hold"/>
                                        <p:tgtEl>
                                          <p:spTgt spid="17411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74120"/>
                                        </p:tgtEl>
                                        <p:attrNameLst>
                                          <p:attrName>style.visibility</p:attrName>
                                        </p:attrNameLst>
                                      </p:cBhvr>
                                      <p:to>
                                        <p:strVal val="visible"/>
                                      </p:to>
                                    </p:set>
                                    <p:anim calcmode="lin" valueType="num">
                                      <p:cBhvr>
                                        <p:cTn id="39" dur="500" fill="hold"/>
                                        <p:tgtEl>
                                          <p:spTgt spid="174120"/>
                                        </p:tgtEl>
                                        <p:attrNameLst>
                                          <p:attrName>ppt_x</p:attrName>
                                        </p:attrNameLst>
                                      </p:cBhvr>
                                      <p:tavLst>
                                        <p:tav tm="0">
                                          <p:val>
                                            <p:strVal val="#ppt_x"/>
                                          </p:val>
                                        </p:tav>
                                        <p:tav tm="100000">
                                          <p:val>
                                            <p:strVal val="#ppt_x"/>
                                          </p:val>
                                        </p:tav>
                                      </p:tavLst>
                                    </p:anim>
                                    <p:anim calcmode="lin" valueType="num">
                                      <p:cBhvr>
                                        <p:cTn id="40" dur="500" fill="hold"/>
                                        <p:tgtEl>
                                          <p:spTgt spid="17412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74121"/>
                                        </p:tgtEl>
                                        <p:attrNameLst>
                                          <p:attrName>style.visibility</p:attrName>
                                        </p:attrNameLst>
                                      </p:cBhvr>
                                      <p:to>
                                        <p:strVal val="visible"/>
                                      </p:to>
                                    </p:set>
                                    <p:anim calcmode="lin" valueType="num">
                                      <p:cBhvr>
                                        <p:cTn id="43" dur="500" fill="hold"/>
                                        <p:tgtEl>
                                          <p:spTgt spid="174121"/>
                                        </p:tgtEl>
                                        <p:attrNameLst>
                                          <p:attrName>ppt_x</p:attrName>
                                        </p:attrNameLst>
                                      </p:cBhvr>
                                      <p:tavLst>
                                        <p:tav tm="0">
                                          <p:val>
                                            <p:strVal val="#ppt_x"/>
                                          </p:val>
                                        </p:tav>
                                        <p:tav tm="100000">
                                          <p:val>
                                            <p:strVal val="#ppt_x"/>
                                          </p:val>
                                        </p:tav>
                                      </p:tavLst>
                                    </p:anim>
                                    <p:anim calcmode="lin" valueType="num">
                                      <p:cBhvr>
                                        <p:cTn id="44" dur="500" fill="hold"/>
                                        <p:tgtEl>
                                          <p:spTgt spid="174121"/>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74122"/>
                                        </p:tgtEl>
                                        <p:attrNameLst>
                                          <p:attrName>style.visibility</p:attrName>
                                        </p:attrNameLst>
                                      </p:cBhvr>
                                      <p:to>
                                        <p:strVal val="visible"/>
                                      </p:to>
                                    </p:set>
                                    <p:anim calcmode="lin" valueType="num">
                                      <p:cBhvr>
                                        <p:cTn id="47" dur="500" fill="hold"/>
                                        <p:tgtEl>
                                          <p:spTgt spid="174122"/>
                                        </p:tgtEl>
                                        <p:attrNameLst>
                                          <p:attrName>ppt_x</p:attrName>
                                        </p:attrNameLst>
                                      </p:cBhvr>
                                      <p:tavLst>
                                        <p:tav tm="0">
                                          <p:val>
                                            <p:strVal val="#ppt_x"/>
                                          </p:val>
                                        </p:tav>
                                        <p:tav tm="100000">
                                          <p:val>
                                            <p:strVal val="#ppt_x"/>
                                          </p:val>
                                        </p:tav>
                                      </p:tavLst>
                                    </p:anim>
                                    <p:anim calcmode="lin" valueType="num">
                                      <p:cBhvr>
                                        <p:cTn id="48" dur="500" fill="hold"/>
                                        <p:tgtEl>
                                          <p:spTgt spid="174122"/>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74131"/>
                                        </p:tgtEl>
                                        <p:attrNameLst>
                                          <p:attrName>style.visibility</p:attrName>
                                        </p:attrNameLst>
                                      </p:cBhvr>
                                      <p:to>
                                        <p:strVal val="visible"/>
                                      </p:to>
                                    </p:set>
                                    <p:anim calcmode="lin" valueType="num">
                                      <p:cBhvr>
                                        <p:cTn id="51" dur="500" fill="hold"/>
                                        <p:tgtEl>
                                          <p:spTgt spid="174131"/>
                                        </p:tgtEl>
                                        <p:attrNameLst>
                                          <p:attrName>ppt_x</p:attrName>
                                        </p:attrNameLst>
                                      </p:cBhvr>
                                      <p:tavLst>
                                        <p:tav tm="0">
                                          <p:val>
                                            <p:strVal val="#ppt_x"/>
                                          </p:val>
                                        </p:tav>
                                        <p:tav tm="100000">
                                          <p:val>
                                            <p:strVal val="#ppt_x"/>
                                          </p:val>
                                        </p:tav>
                                      </p:tavLst>
                                    </p:anim>
                                    <p:anim calcmode="lin" valueType="num">
                                      <p:cBhvr>
                                        <p:cTn id="52" dur="500" fill="hold"/>
                                        <p:tgtEl>
                                          <p:spTgt spid="174131"/>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74132"/>
                                        </p:tgtEl>
                                        <p:attrNameLst>
                                          <p:attrName>style.visibility</p:attrName>
                                        </p:attrNameLst>
                                      </p:cBhvr>
                                      <p:to>
                                        <p:strVal val="visible"/>
                                      </p:to>
                                    </p:set>
                                    <p:anim calcmode="lin" valueType="num">
                                      <p:cBhvr>
                                        <p:cTn id="55" dur="500" fill="hold"/>
                                        <p:tgtEl>
                                          <p:spTgt spid="174132"/>
                                        </p:tgtEl>
                                        <p:attrNameLst>
                                          <p:attrName>ppt_x</p:attrName>
                                        </p:attrNameLst>
                                      </p:cBhvr>
                                      <p:tavLst>
                                        <p:tav tm="0">
                                          <p:val>
                                            <p:strVal val="#ppt_x"/>
                                          </p:val>
                                        </p:tav>
                                        <p:tav tm="100000">
                                          <p:val>
                                            <p:strVal val="#ppt_x"/>
                                          </p:val>
                                        </p:tav>
                                      </p:tavLst>
                                    </p:anim>
                                    <p:anim calcmode="lin" valueType="num">
                                      <p:cBhvr>
                                        <p:cTn id="56" dur="500" fill="hold"/>
                                        <p:tgtEl>
                                          <p:spTgt spid="17413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74123"/>
                                        </p:tgtEl>
                                        <p:attrNameLst>
                                          <p:attrName>style.visibility</p:attrName>
                                        </p:attrNameLst>
                                      </p:cBhvr>
                                      <p:to>
                                        <p:strVal val="visible"/>
                                      </p:to>
                                    </p:set>
                                    <p:anim calcmode="lin" valueType="num">
                                      <p:cBhvr>
                                        <p:cTn id="61" dur="500" fill="hold"/>
                                        <p:tgtEl>
                                          <p:spTgt spid="174123"/>
                                        </p:tgtEl>
                                        <p:attrNameLst>
                                          <p:attrName>ppt_x</p:attrName>
                                        </p:attrNameLst>
                                      </p:cBhvr>
                                      <p:tavLst>
                                        <p:tav tm="0">
                                          <p:val>
                                            <p:strVal val="#ppt_x"/>
                                          </p:val>
                                        </p:tav>
                                        <p:tav tm="100000">
                                          <p:val>
                                            <p:strVal val="#ppt_x"/>
                                          </p:val>
                                        </p:tav>
                                      </p:tavLst>
                                    </p:anim>
                                    <p:anim calcmode="lin" valueType="num">
                                      <p:cBhvr>
                                        <p:cTn id="62" dur="500" fill="hold"/>
                                        <p:tgtEl>
                                          <p:spTgt spid="174123"/>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174130"/>
                                        </p:tgtEl>
                                        <p:attrNameLst>
                                          <p:attrName>style.visibility</p:attrName>
                                        </p:attrNameLst>
                                      </p:cBhvr>
                                      <p:to>
                                        <p:strVal val="visible"/>
                                      </p:to>
                                    </p:set>
                                    <p:anim calcmode="lin" valueType="num">
                                      <p:cBhvr>
                                        <p:cTn id="65" dur="500" fill="hold"/>
                                        <p:tgtEl>
                                          <p:spTgt spid="174130"/>
                                        </p:tgtEl>
                                        <p:attrNameLst>
                                          <p:attrName>ppt_x</p:attrName>
                                        </p:attrNameLst>
                                      </p:cBhvr>
                                      <p:tavLst>
                                        <p:tav tm="0">
                                          <p:val>
                                            <p:strVal val="#ppt_x"/>
                                          </p:val>
                                        </p:tav>
                                        <p:tav tm="100000">
                                          <p:val>
                                            <p:strVal val="#ppt_x"/>
                                          </p:val>
                                        </p:tav>
                                      </p:tavLst>
                                    </p:anim>
                                    <p:anim calcmode="lin" valueType="num">
                                      <p:cBhvr>
                                        <p:cTn id="66" dur="500" fill="hold"/>
                                        <p:tgtEl>
                                          <p:spTgt spid="174130"/>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1" fill="hold" grpId="0" nodeType="clickEffect">
                                  <p:stCondLst>
                                    <p:cond delay="0"/>
                                  </p:stCondLst>
                                  <p:childTnLst>
                                    <p:set>
                                      <p:cBhvr>
                                        <p:cTn id="70" dur="1" fill="hold">
                                          <p:stCondLst>
                                            <p:cond delay="0"/>
                                          </p:stCondLst>
                                        </p:cTn>
                                        <p:tgtEl>
                                          <p:spTgt spid="174133"/>
                                        </p:tgtEl>
                                        <p:attrNameLst>
                                          <p:attrName>style.visibility</p:attrName>
                                        </p:attrNameLst>
                                      </p:cBhvr>
                                      <p:to>
                                        <p:strVal val="visible"/>
                                      </p:to>
                                    </p:set>
                                    <p:anim calcmode="lin" valueType="num">
                                      <p:cBhvr>
                                        <p:cTn id="71" dur="500" fill="hold"/>
                                        <p:tgtEl>
                                          <p:spTgt spid="174133"/>
                                        </p:tgtEl>
                                        <p:attrNameLst>
                                          <p:attrName>ppt_x</p:attrName>
                                        </p:attrNameLst>
                                      </p:cBhvr>
                                      <p:tavLst>
                                        <p:tav tm="0">
                                          <p:val>
                                            <p:strVal val="#ppt_x"/>
                                          </p:val>
                                        </p:tav>
                                        <p:tav tm="100000">
                                          <p:val>
                                            <p:strVal val="#ppt_x"/>
                                          </p:val>
                                        </p:tav>
                                      </p:tavLst>
                                    </p:anim>
                                    <p:anim calcmode="lin" valueType="num">
                                      <p:cBhvr>
                                        <p:cTn id="72" dur="500" fill="hold"/>
                                        <p:tgtEl>
                                          <p:spTgt spid="174133"/>
                                        </p:tgtEl>
                                        <p:attrNameLst>
                                          <p:attrName>ppt_y</p:attrName>
                                        </p:attrNameLst>
                                      </p:cBhvr>
                                      <p:tavLst>
                                        <p:tav tm="0">
                                          <p:val>
                                            <p:strVal val="0-#ppt_h/2"/>
                                          </p:val>
                                        </p:tav>
                                        <p:tav tm="100000">
                                          <p:val>
                                            <p:strVal val="#ppt_y"/>
                                          </p:val>
                                        </p:tav>
                                      </p:tavLst>
                                    </p:anim>
                                  </p:childTnLst>
                                </p:cTn>
                              </p:par>
                              <p:par>
                                <p:cTn id="73" presetID="2" presetClass="entr" presetSubtype="1" fill="hold" nodeType="withEffect">
                                  <p:stCondLst>
                                    <p:cond delay="0"/>
                                  </p:stCondLst>
                                  <p:childTnLst>
                                    <p:set>
                                      <p:cBhvr>
                                        <p:cTn id="74" dur="1" fill="hold">
                                          <p:stCondLst>
                                            <p:cond delay="0"/>
                                          </p:stCondLst>
                                        </p:cTn>
                                        <p:tgtEl>
                                          <p:spTgt spid="174134"/>
                                        </p:tgtEl>
                                        <p:attrNameLst>
                                          <p:attrName>style.visibility</p:attrName>
                                        </p:attrNameLst>
                                      </p:cBhvr>
                                      <p:to>
                                        <p:strVal val="visible"/>
                                      </p:to>
                                    </p:set>
                                    <p:anim calcmode="lin" valueType="num">
                                      <p:cBhvr>
                                        <p:cTn id="75" dur="500" fill="hold"/>
                                        <p:tgtEl>
                                          <p:spTgt spid="174134"/>
                                        </p:tgtEl>
                                        <p:attrNameLst>
                                          <p:attrName>ppt_x</p:attrName>
                                        </p:attrNameLst>
                                      </p:cBhvr>
                                      <p:tavLst>
                                        <p:tav tm="0">
                                          <p:val>
                                            <p:strVal val="#ppt_x"/>
                                          </p:val>
                                        </p:tav>
                                        <p:tav tm="100000">
                                          <p:val>
                                            <p:strVal val="#ppt_x"/>
                                          </p:val>
                                        </p:tav>
                                      </p:tavLst>
                                    </p:anim>
                                    <p:anim calcmode="lin" valueType="num">
                                      <p:cBhvr>
                                        <p:cTn id="76" dur="500" fill="hold"/>
                                        <p:tgtEl>
                                          <p:spTgt spid="174134"/>
                                        </p:tgtEl>
                                        <p:attrNameLst>
                                          <p:attrName>ppt_y</p:attrName>
                                        </p:attrNameLst>
                                      </p:cBhvr>
                                      <p:tavLst>
                                        <p:tav tm="0">
                                          <p:val>
                                            <p:strVal val="0-#ppt_h/2"/>
                                          </p:val>
                                        </p:tav>
                                        <p:tav tm="100000">
                                          <p:val>
                                            <p:strVal val="#ppt_y"/>
                                          </p:val>
                                        </p:tav>
                                      </p:tavLst>
                                    </p:anim>
                                  </p:childTnLst>
                                </p:cTn>
                              </p:par>
                              <p:par>
                                <p:cTn id="77" presetID="2" presetClass="exit" presetSubtype="4" fill="hold" grpId="1" nodeType="withEffect">
                                  <p:stCondLst>
                                    <p:cond delay="0"/>
                                  </p:stCondLst>
                                  <p:childTnLst>
                                    <p:anim calcmode="lin" valueType="num">
                                      <p:cBhvr>
                                        <p:cTn id="78" dur="500"/>
                                        <p:tgtEl>
                                          <p:spTgt spid="174123"/>
                                        </p:tgtEl>
                                        <p:attrNameLst>
                                          <p:attrName>ppt_x</p:attrName>
                                        </p:attrNameLst>
                                      </p:cBhvr>
                                      <p:tavLst>
                                        <p:tav tm="0">
                                          <p:val>
                                            <p:strVal val="ppt_x"/>
                                          </p:val>
                                        </p:tav>
                                        <p:tav tm="100000">
                                          <p:val>
                                            <p:strVal val="ppt_x"/>
                                          </p:val>
                                        </p:tav>
                                      </p:tavLst>
                                    </p:anim>
                                    <p:anim calcmode="lin" valueType="num">
                                      <p:cBhvr>
                                        <p:cTn id="79" dur="500"/>
                                        <p:tgtEl>
                                          <p:spTgt spid="174123"/>
                                        </p:tgtEl>
                                        <p:attrNameLst>
                                          <p:attrName>ppt_y</p:attrName>
                                        </p:attrNameLst>
                                      </p:cBhvr>
                                      <p:tavLst>
                                        <p:tav tm="0">
                                          <p:val>
                                            <p:strVal val="ppt_y"/>
                                          </p:val>
                                        </p:tav>
                                        <p:tav tm="100000">
                                          <p:val>
                                            <p:strVal val="1+ppt_h/2"/>
                                          </p:val>
                                        </p:tav>
                                      </p:tavLst>
                                    </p:anim>
                                    <p:set>
                                      <p:cBhvr>
                                        <p:cTn id="80" dur="1" fill="hold">
                                          <p:stCondLst>
                                            <p:cond delay="499"/>
                                          </p:stCondLst>
                                        </p:cTn>
                                        <p:tgtEl>
                                          <p:spTgt spid="174123"/>
                                        </p:tgtEl>
                                        <p:attrNameLst>
                                          <p:attrName>style.visibility</p:attrName>
                                        </p:attrNameLst>
                                      </p:cBhvr>
                                      <p:to>
                                        <p:strVal val="hidden"/>
                                      </p:to>
                                    </p:set>
                                  </p:childTnLst>
                                </p:cTn>
                              </p:par>
                              <p:par>
                                <p:cTn id="81" presetID="2" presetClass="exit" presetSubtype="4" fill="hold" nodeType="withEffect">
                                  <p:stCondLst>
                                    <p:cond delay="0"/>
                                  </p:stCondLst>
                                  <p:childTnLst>
                                    <p:anim calcmode="lin" valueType="num">
                                      <p:cBhvr>
                                        <p:cTn id="82" dur="500"/>
                                        <p:tgtEl>
                                          <p:spTgt spid="174130"/>
                                        </p:tgtEl>
                                        <p:attrNameLst>
                                          <p:attrName>ppt_x</p:attrName>
                                        </p:attrNameLst>
                                      </p:cBhvr>
                                      <p:tavLst>
                                        <p:tav tm="0">
                                          <p:val>
                                            <p:strVal val="ppt_x"/>
                                          </p:val>
                                        </p:tav>
                                        <p:tav tm="100000">
                                          <p:val>
                                            <p:strVal val="ppt_x"/>
                                          </p:val>
                                        </p:tav>
                                      </p:tavLst>
                                    </p:anim>
                                    <p:anim calcmode="lin" valueType="num">
                                      <p:cBhvr>
                                        <p:cTn id="83" dur="500"/>
                                        <p:tgtEl>
                                          <p:spTgt spid="174130"/>
                                        </p:tgtEl>
                                        <p:attrNameLst>
                                          <p:attrName>ppt_y</p:attrName>
                                        </p:attrNameLst>
                                      </p:cBhvr>
                                      <p:tavLst>
                                        <p:tav tm="0">
                                          <p:val>
                                            <p:strVal val="ppt_y"/>
                                          </p:val>
                                        </p:tav>
                                        <p:tav tm="100000">
                                          <p:val>
                                            <p:strVal val="1+ppt_h/2"/>
                                          </p:val>
                                        </p:tav>
                                      </p:tavLst>
                                    </p:anim>
                                    <p:set>
                                      <p:cBhvr>
                                        <p:cTn id="84" dur="1" fill="hold">
                                          <p:stCondLst>
                                            <p:cond delay="499"/>
                                          </p:stCondLst>
                                        </p:cTn>
                                        <p:tgtEl>
                                          <p:spTgt spid="174130"/>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2" presetClass="entr" presetSubtype="1" fill="hold" grpId="0" nodeType="clickEffect">
                                  <p:stCondLst>
                                    <p:cond delay="0"/>
                                  </p:stCondLst>
                                  <p:childTnLst>
                                    <p:set>
                                      <p:cBhvr>
                                        <p:cTn id="88" dur="1" fill="hold">
                                          <p:stCondLst>
                                            <p:cond delay="0"/>
                                          </p:stCondLst>
                                        </p:cTn>
                                        <p:tgtEl>
                                          <p:spTgt spid="174124"/>
                                        </p:tgtEl>
                                        <p:attrNameLst>
                                          <p:attrName>style.visibility</p:attrName>
                                        </p:attrNameLst>
                                      </p:cBhvr>
                                      <p:to>
                                        <p:strVal val="visible"/>
                                      </p:to>
                                    </p:set>
                                    <p:anim calcmode="lin" valueType="num">
                                      <p:cBhvr>
                                        <p:cTn id="89" dur="1000" fill="hold"/>
                                        <p:tgtEl>
                                          <p:spTgt spid="174124"/>
                                        </p:tgtEl>
                                        <p:attrNameLst>
                                          <p:attrName>ppt_x</p:attrName>
                                        </p:attrNameLst>
                                      </p:cBhvr>
                                      <p:tavLst>
                                        <p:tav tm="0">
                                          <p:val>
                                            <p:strVal val="#ppt_x"/>
                                          </p:val>
                                        </p:tav>
                                        <p:tav tm="100000">
                                          <p:val>
                                            <p:strVal val="#ppt_x"/>
                                          </p:val>
                                        </p:tav>
                                      </p:tavLst>
                                    </p:anim>
                                    <p:anim calcmode="lin" valueType="num">
                                      <p:cBhvr>
                                        <p:cTn id="90" dur="1000" fill="hold"/>
                                        <p:tgtEl>
                                          <p:spTgt spid="174124"/>
                                        </p:tgtEl>
                                        <p:attrNameLst>
                                          <p:attrName>ppt_y</p:attrName>
                                        </p:attrNameLst>
                                      </p:cBhvr>
                                      <p:tavLst>
                                        <p:tav tm="0">
                                          <p:val>
                                            <p:strVal val="0-#ppt_h/2"/>
                                          </p:val>
                                        </p:tav>
                                        <p:tav tm="100000">
                                          <p:val>
                                            <p:strVal val="#ppt_y"/>
                                          </p:val>
                                        </p:tav>
                                      </p:tavLst>
                                    </p:anim>
                                  </p:childTnLst>
                                </p:cTn>
                              </p:par>
                            </p:childTnLst>
                          </p:cTn>
                        </p:par>
                        <p:par>
                          <p:cTn id="91" fill="hold">
                            <p:stCondLst>
                              <p:cond delay="1000"/>
                            </p:stCondLst>
                            <p:childTnLst>
                              <p:par>
                                <p:cTn id="92" presetID="2" presetClass="entr" presetSubtype="1" fill="hold" grpId="0" nodeType="afterEffect">
                                  <p:stCondLst>
                                    <p:cond delay="0"/>
                                  </p:stCondLst>
                                  <p:childTnLst>
                                    <p:set>
                                      <p:cBhvr>
                                        <p:cTn id="93" dur="1" fill="hold">
                                          <p:stCondLst>
                                            <p:cond delay="0"/>
                                          </p:stCondLst>
                                        </p:cTn>
                                        <p:tgtEl>
                                          <p:spTgt spid="174125"/>
                                        </p:tgtEl>
                                        <p:attrNameLst>
                                          <p:attrName>style.visibility</p:attrName>
                                        </p:attrNameLst>
                                      </p:cBhvr>
                                      <p:to>
                                        <p:strVal val="visible"/>
                                      </p:to>
                                    </p:set>
                                    <p:anim calcmode="lin" valueType="num">
                                      <p:cBhvr>
                                        <p:cTn id="94" dur="1000" fill="hold"/>
                                        <p:tgtEl>
                                          <p:spTgt spid="174125"/>
                                        </p:tgtEl>
                                        <p:attrNameLst>
                                          <p:attrName>ppt_x</p:attrName>
                                        </p:attrNameLst>
                                      </p:cBhvr>
                                      <p:tavLst>
                                        <p:tav tm="0">
                                          <p:val>
                                            <p:strVal val="#ppt_x"/>
                                          </p:val>
                                        </p:tav>
                                        <p:tav tm="100000">
                                          <p:val>
                                            <p:strVal val="#ppt_x"/>
                                          </p:val>
                                        </p:tav>
                                      </p:tavLst>
                                    </p:anim>
                                    <p:anim calcmode="lin" valueType="num">
                                      <p:cBhvr>
                                        <p:cTn id="95" dur="1000" fill="hold"/>
                                        <p:tgtEl>
                                          <p:spTgt spid="174125"/>
                                        </p:tgtEl>
                                        <p:attrNameLst>
                                          <p:attrName>ppt_y</p:attrName>
                                        </p:attrNameLst>
                                      </p:cBhvr>
                                      <p:tavLst>
                                        <p:tav tm="0">
                                          <p:val>
                                            <p:strVal val="0-#ppt_h/2"/>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 presetClass="entr" presetSubtype="1" fill="hold" grpId="0" nodeType="clickEffect">
                                  <p:stCondLst>
                                    <p:cond delay="0"/>
                                  </p:stCondLst>
                                  <p:childTnLst>
                                    <p:set>
                                      <p:cBhvr>
                                        <p:cTn id="99" dur="1" fill="hold">
                                          <p:stCondLst>
                                            <p:cond delay="0"/>
                                          </p:stCondLst>
                                        </p:cTn>
                                        <p:tgtEl>
                                          <p:spTgt spid="174137"/>
                                        </p:tgtEl>
                                        <p:attrNameLst>
                                          <p:attrName>style.visibility</p:attrName>
                                        </p:attrNameLst>
                                      </p:cBhvr>
                                      <p:to>
                                        <p:strVal val="visible"/>
                                      </p:to>
                                    </p:set>
                                    <p:anim calcmode="lin" valueType="num">
                                      <p:cBhvr>
                                        <p:cTn id="100" dur="500" fill="hold"/>
                                        <p:tgtEl>
                                          <p:spTgt spid="174137"/>
                                        </p:tgtEl>
                                        <p:attrNameLst>
                                          <p:attrName>ppt_x</p:attrName>
                                        </p:attrNameLst>
                                      </p:cBhvr>
                                      <p:tavLst>
                                        <p:tav tm="0">
                                          <p:val>
                                            <p:strVal val="#ppt_x"/>
                                          </p:val>
                                        </p:tav>
                                        <p:tav tm="100000">
                                          <p:val>
                                            <p:strVal val="#ppt_x"/>
                                          </p:val>
                                        </p:tav>
                                      </p:tavLst>
                                    </p:anim>
                                    <p:anim calcmode="lin" valueType="num">
                                      <p:cBhvr>
                                        <p:cTn id="101" dur="500" fill="hold"/>
                                        <p:tgtEl>
                                          <p:spTgt spid="174137"/>
                                        </p:tgtEl>
                                        <p:attrNameLst>
                                          <p:attrName>ppt_y</p:attrName>
                                        </p:attrNameLst>
                                      </p:cBhvr>
                                      <p:tavLst>
                                        <p:tav tm="0">
                                          <p:val>
                                            <p:strVal val="0-#ppt_h/2"/>
                                          </p:val>
                                        </p:tav>
                                        <p:tav tm="100000">
                                          <p:val>
                                            <p:strVal val="#ppt_y"/>
                                          </p:val>
                                        </p:tav>
                                      </p:tavLst>
                                    </p:anim>
                                  </p:childTnLst>
                                </p:cTn>
                              </p:par>
                              <p:par>
                                <p:cTn id="102" presetID="2" presetClass="entr" presetSubtype="1" fill="hold" nodeType="withEffect">
                                  <p:stCondLst>
                                    <p:cond delay="0"/>
                                  </p:stCondLst>
                                  <p:childTnLst>
                                    <p:set>
                                      <p:cBhvr>
                                        <p:cTn id="103" dur="1" fill="hold">
                                          <p:stCondLst>
                                            <p:cond delay="0"/>
                                          </p:stCondLst>
                                        </p:cTn>
                                        <p:tgtEl>
                                          <p:spTgt spid="174138"/>
                                        </p:tgtEl>
                                        <p:attrNameLst>
                                          <p:attrName>style.visibility</p:attrName>
                                        </p:attrNameLst>
                                      </p:cBhvr>
                                      <p:to>
                                        <p:strVal val="visible"/>
                                      </p:to>
                                    </p:set>
                                    <p:anim calcmode="lin" valueType="num">
                                      <p:cBhvr>
                                        <p:cTn id="104" dur="500" fill="hold"/>
                                        <p:tgtEl>
                                          <p:spTgt spid="174138"/>
                                        </p:tgtEl>
                                        <p:attrNameLst>
                                          <p:attrName>ppt_x</p:attrName>
                                        </p:attrNameLst>
                                      </p:cBhvr>
                                      <p:tavLst>
                                        <p:tav tm="0">
                                          <p:val>
                                            <p:strVal val="#ppt_x"/>
                                          </p:val>
                                        </p:tav>
                                        <p:tav tm="100000">
                                          <p:val>
                                            <p:strVal val="#ppt_x"/>
                                          </p:val>
                                        </p:tav>
                                      </p:tavLst>
                                    </p:anim>
                                    <p:anim calcmode="lin" valueType="num">
                                      <p:cBhvr>
                                        <p:cTn id="105" dur="500" fill="hold"/>
                                        <p:tgtEl>
                                          <p:spTgt spid="174138"/>
                                        </p:tgtEl>
                                        <p:attrNameLst>
                                          <p:attrName>ppt_y</p:attrName>
                                        </p:attrNameLst>
                                      </p:cBhvr>
                                      <p:tavLst>
                                        <p:tav tm="0">
                                          <p:val>
                                            <p:strVal val="0-#ppt_h/2"/>
                                          </p:val>
                                        </p:tav>
                                        <p:tav tm="100000">
                                          <p:val>
                                            <p:strVal val="#ppt_y"/>
                                          </p:val>
                                        </p:tav>
                                      </p:tavLst>
                                    </p:anim>
                                  </p:childTnLst>
                                </p:cTn>
                              </p:par>
                              <p:par>
                                <p:cTn id="106" presetID="2" presetClass="exit" presetSubtype="4" fill="hold" grpId="1" nodeType="withEffect">
                                  <p:stCondLst>
                                    <p:cond delay="0"/>
                                  </p:stCondLst>
                                  <p:childTnLst>
                                    <p:anim calcmode="lin" valueType="num">
                                      <p:cBhvr>
                                        <p:cTn id="107" dur="500"/>
                                        <p:tgtEl>
                                          <p:spTgt spid="174133"/>
                                        </p:tgtEl>
                                        <p:attrNameLst>
                                          <p:attrName>ppt_x</p:attrName>
                                        </p:attrNameLst>
                                      </p:cBhvr>
                                      <p:tavLst>
                                        <p:tav tm="0">
                                          <p:val>
                                            <p:strVal val="ppt_x"/>
                                          </p:val>
                                        </p:tav>
                                        <p:tav tm="100000">
                                          <p:val>
                                            <p:strVal val="ppt_x"/>
                                          </p:val>
                                        </p:tav>
                                      </p:tavLst>
                                    </p:anim>
                                    <p:anim calcmode="lin" valueType="num">
                                      <p:cBhvr>
                                        <p:cTn id="108" dur="500"/>
                                        <p:tgtEl>
                                          <p:spTgt spid="174133"/>
                                        </p:tgtEl>
                                        <p:attrNameLst>
                                          <p:attrName>ppt_y</p:attrName>
                                        </p:attrNameLst>
                                      </p:cBhvr>
                                      <p:tavLst>
                                        <p:tav tm="0">
                                          <p:val>
                                            <p:strVal val="ppt_y"/>
                                          </p:val>
                                        </p:tav>
                                        <p:tav tm="100000">
                                          <p:val>
                                            <p:strVal val="1+ppt_h/2"/>
                                          </p:val>
                                        </p:tav>
                                      </p:tavLst>
                                    </p:anim>
                                    <p:set>
                                      <p:cBhvr>
                                        <p:cTn id="109" dur="1" fill="hold">
                                          <p:stCondLst>
                                            <p:cond delay="499"/>
                                          </p:stCondLst>
                                        </p:cTn>
                                        <p:tgtEl>
                                          <p:spTgt spid="174133"/>
                                        </p:tgtEl>
                                        <p:attrNameLst>
                                          <p:attrName>style.visibility</p:attrName>
                                        </p:attrNameLst>
                                      </p:cBhvr>
                                      <p:to>
                                        <p:strVal val="hidden"/>
                                      </p:to>
                                    </p:set>
                                  </p:childTnLst>
                                </p:cTn>
                              </p:par>
                              <p:par>
                                <p:cTn id="110" presetID="2" presetClass="exit" presetSubtype="4" fill="hold" nodeType="withEffect">
                                  <p:stCondLst>
                                    <p:cond delay="0"/>
                                  </p:stCondLst>
                                  <p:childTnLst>
                                    <p:anim calcmode="lin" valueType="num">
                                      <p:cBhvr>
                                        <p:cTn id="111" dur="500"/>
                                        <p:tgtEl>
                                          <p:spTgt spid="174134"/>
                                        </p:tgtEl>
                                        <p:attrNameLst>
                                          <p:attrName>ppt_x</p:attrName>
                                        </p:attrNameLst>
                                      </p:cBhvr>
                                      <p:tavLst>
                                        <p:tav tm="0">
                                          <p:val>
                                            <p:strVal val="ppt_x"/>
                                          </p:val>
                                        </p:tav>
                                        <p:tav tm="100000">
                                          <p:val>
                                            <p:strVal val="ppt_x"/>
                                          </p:val>
                                        </p:tav>
                                      </p:tavLst>
                                    </p:anim>
                                    <p:anim calcmode="lin" valueType="num">
                                      <p:cBhvr>
                                        <p:cTn id="112" dur="500"/>
                                        <p:tgtEl>
                                          <p:spTgt spid="174134"/>
                                        </p:tgtEl>
                                        <p:attrNameLst>
                                          <p:attrName>ppt_y</p:attrName>
                                        </p:attrNameLst>
                                      </p:cBhvr>
                                      <p:tavLst>
                                        <p:tav tm="0">
                                          <p:val>
                                            <p:strVal val="ppt_y"/>
                                          </p:val>
                                        </p:tav>
                                        <p:tav tm="100000">
                                          <p:val>
                                            <p:strVal val="1+ppt_h/2"/>
                                          </p:val>
                                        </p:tav>
                                      </p:tavLst>
                                    </p:anim>
                                    <p:set>
                                      <p:cBhvr>
                                        <p:cTn id="113" dur="1" fill="hold">
                                          <p:stCondLst>
                                            <p:cond delay="499"/>
                                          </p:stCondLst>
                                        </p:cTn>
                                        <p:tgtEl>
                                          <p:spTgt spid="174134"/>
                                        </p:tgtEl>
                                        <p:attrNameLst>
                                          <p:attrName>style.visibility</p:attrName>
                                        </p:attrNameLst>
                                      </p:cBhvr>
                                      <p:to>
                                        <p:strVal val="hidden"/>
                                      </p:to>
                                    </p:set>
                                  </p:childTnLst>
                                </p:cTn>
                              </p:par>
                            </p:childTnLst>
                          </p:cTn>
                        </p:par>
                      </p:childTnLst>
                    </p:cTn>
                  </p:par>
                  <p:par>
                    <p:cTn id="114" fill="hold">
                      <p:stCondLst>
                        <p:cond delay="indefinite"/>
                      </p:stCondLst>
                      <p:childTnLst>
                        <p:par>
                          <p:cTn id="115" fill="hold">
                            <p:stCondLst>
                              <p:cond delay="0"/>
                            </p:stCondLst>
                            <p:childTnLst>
                              <p:par>
                                <p:cTn id="116" presetID="2" presetClass="entr" presetSubtype="1" fill="hold" grpId="0" nodeType="clickEffect">
                                  <p:stCondLst>
                                    <p:cond delay="0"/>
                                  </p:stCondLst>
                                  <p:childTnLst>
                                    <p:set>
                                      <p:cBhvr>
                                        <p:cTn id="117" dur="1" fill="hold">
                                          <p:stCondLst>
                                            <p:cond delay="0"/>
                                          </p:stCondLst>
                                        </p:cTn>
                                        <p:tgtEl>
                                          <p:spTgt spid="174128"/>
                                        </p:tgtEl>
                                        <p:attrNameLst>
                                          <p:attrName>style.visibility</p:attrName>
                                        </p:attrNameLst>
                                      </p:cBhvr>
                                      <p:to>
                                        <p:strVal val="visible"/>
                                      </p:to>
                                    </p:set>
                                    <p:anim calcmode="lin" valueType="num">
                                      <p:cBhvr>
                                        <p:cTn id="118" dur="1000" fill="hold"/>
                                        <p:tgtEl>
                                          <p:spTgt spid="174128"/>
                                        </p:tgtEl>
                                        <p:attrNameLst>
                                          <p:attrName>ppt_x</p:attrName>
                                        </p:attrNameLst>
                                      </p:cBhvr>
                                      <p:tavLst>
                                        <p:tav tm="0">
                                          <p:val>
                                            <p:strVal val="#ppt_x"/>
                                          </p:val>
                                        </p:tav>
                                        <p:tav tm="100000">
                                          <p:val>
                                            <p:strVal val="#ppt_x"/>
                                          </p:val>
                                        </p:tav>
                                      </p:tavLst>
                                    </p:anim>
                                    <p:anim calcmode="lin" valueType="num">
                                      <p:cBhvr>
                                        <p:cTn id="119" dur="1000" fill="hold"/>
                                        <p:tgtEl>
                                          <p:spTgt spid="174128"/>
                                        </p:tgtEl>
                                        <p:attrNameLst>
                                          <p:attrName>ppt_y</p:attrName>
                                        </p:attrNameLst>
                                      </p:cBhvr>
                                      <p:tavLst>
                                        <p:tav tm="0">
                                          <p:val>
                                            <p:strVal val="0-#ppt_h/2"/>
                                          </p:val>
                                        </p:tav>
                                        <p:tav tm="100000">
                                          <p:val>
                                            <p:strVal val="#ppt_y"/>
                                          </p:val>
                                        </p:tav>
                                      </p:tavLst>
                                    </p:anim>
                                  </p:childTnLst>
                                </p:cTn>
                              </p:par>
                            </p:childTnLst>
                          </p:cTn>
                        </p:par>
                        <p:par>
                          <p:cTn id="120" fill="hold">
                            <p:stCondLst>
                              <p:cond delay="1000"/>
                            </p:stCondLst>
                            <p:childTnLst>
                              <p:par>
                                <p:cTn id="121" presetID="2" presetClass="entr" presetSubtype="1" fill="hold" grpId="0" nodeType="afterEffect">
                                  <p:stCondLst>
                                    <p:cond delay="0"/>
                                  </p:stCondLst>
                                  <p:childTnLst>
                                    <p:set>
                                      <p:cBhvr>
                                        <p:cTn id="122" dur="1" fill="hold">
                                          <p:stCondLst>
                                            <p:cond delay="0"/>
                                          </p:stCondLst>
                                        </p:cTn>
                                        <p:tgtEl>
                                          <p:spTgt spid="174127"/>
                                        </p:tgtEl>
                                        <p:attrNameLst>
                                          <p:attrName>style.visibility</p:attrName>
                                        </p:attrNameLst>
                                      </p:cBhvr>
                                      <p:to>
                                        <p:strVal val="visible"/>
                                      </p:to>
                                    </p:set>
                                    <p:anim calcmode="lin" valueType="num">
                                      <p:cBhvr>
                                        <p:cTn id="123" dur="1000" fill="hold"/>
                                        <p:tgtEl>
                                          <p:spTgt spid="174127"/>
                                        </p:tgtEl>
                                        <p:attrNameLst>
                                          <p:attrName>ppt_x</p:attrName>
                                        </p:attrNameLst>
                                      </p:cBhvr>
                                      <p:tavLst>
                                        <p:tav tm="0">
                                          <p:val>
                                            <p:strVal val="#ppt_x"/>
                                          </p:val>
                                        </p:tav>
                                        <p:tav tm="100000">
                                          <p:val>
                                            <p:strVal val="#ppt_x"/>
                                          </p:val>
                                        </p:tav>
                                      </p:tavLst>
                                    </p:anim>
                                    <p:anim calcmode="lin" valueType="num">
                                      <p:cBhvr>
                                        <p:cTn id="124" dur="1000" fill="hold"/>
                                        <p:tgtEl>
                                          <p:spTgt spid="174127"/>
                                        </p:tgtEl>
                                        <p:attrNameLst>
                                          <p:attrName>ppt_y</p:attrName>
                                        </p:attrNameLst>
                                      </p:cBhvr>
                                      <p:tavLst>
                                        <p:tav tm="0">
                                          <p:val>
                                            <p:strVal val="0-#ppt_h/2"/>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2" presetClass="entr" presetSubtype="1" fill="hold" grpId="0" nodeType="clickEffect">
                                  <p:stCondLst>
                                    <p:cond delay="0"/>
                                  </p:stCondLst>
                                  <p:childTnLst>
                                    <p:set>
                                      <p:cBhvr>
                                        <p:cTn id="128" dur="1" fill="hold">
                                          <p:stCondLst>
                                            <p:cond delay="0"/>
                                          </p:stCondLst>
                                        </p:cTn>
                                        <p:tgtEl>
                                          <p:spTgt spid="174135"/>
                                        </p:tgtEl>
                                        <p:attrNameLst>
                                          <p:attrName>style.visibility</p:attrName>
                                        </p:attrNameLst>
                                      </p:cBhvr>
                                      <p:to>
                                        <p:strVal val="visible"/>
                                      </p:to>
                                    </p:set>
                                    <p:anim calcmode="lin" valueType="num">
                                      <p:cBhvr>
                                        <p:cTn id="129" dur="500" fill="hold"/>
                                        <p:tgtEl>
                                          <p:spTgt spid="174135"/>
                                        </p:tgtEl>
                                        <p:attrNameLst>
                                          <p:attrName>ppt_x</p:attrName>
                                        </p:attrNameLst>
                                      </p:cBhvr>
                                      <p:tavLst>
                                        <p:tav tm="0">
                                          <p:val>
                                            <p:strVal val="#ppt_x"/>
                                          </p:val>
                                        </p:tav>
                                        <p:tav tm="100000">
                                          <p:val>
                                            <p:strVal val="#ppt_x"/>
                                          </p:val>
                                        </p:tav>
                                      </p:tavLst>
                                    </p:anim>
                                    <p:anim calcmode="lin" valueType="num">
                                      <p:cBhvr>
                                        <p:cTn id="130" dur="500" fill="hold"/>
                                        <p:tgtEl>
                                          <p:spTgt spid="174135"/>
                                        </p:tgtEl>
                                        <p:attrNameLst>
                                          <p:attrName>ppt_y</p:attrName>
                                        </p:attrNameLst>
                                      </p:cBhvr>
                                      <p:tavLst>
                                        <p:tav tm="0">
                                          <p:val>
                                            <p:strVal val="0-#ppt_h/2"/>
                                          </p:val>
                                        </p:tav>
                                        <p:tav tm="100000">
                                          <p:val>
                                            <p:strVal val="#ppt_y"/>
                                          </p:val>
                                        </p:tav>
                                      </p:tavLst>
                                    </p:anim>
                                  </p:childTnLst>
                                </p:cTn>
                              </p:par>
                              <p:par>
                                <p:cTn id="131" presetID="2" presetClass="entr" presetSubtype="1" fill="hold" nodeType="withEffect">
                                  <p:stCondLst>
                                    <p:cond delay="0"/>
                                  </p:stCondLst>
                                  <p:childTnLst>
                                    <p:set>
                                      <p:cBhvr>
                                        <p:cTn id="132" dur="1" fill="hold">
                                          <p:stCondLst>
                                            <p:cond delay="0"/>
                                          </p:stCondLst>
                                        </p:cTn>
                                        <p:tgtEl>
                                          <p:spTgt spid="174136"/>
                                        </p:tgtEl>
                                        <p:attrNameLst>
                                          <p:attrName>style.visibility</p:attrName>
                                        </p:attrNameLst>
                                      </p:cBhvr>
                                      <p:to>
                                        <p:strVal val="visible"/>
                                      </p:to>
                                    </p:set>
                                    <p:anim calcmode="lin" valueType="num">
                                      <p:cBhvr>
                                        <p:cTn id="133" dur="500" fill="hold"/>
                                        <p:tgtEl>
                                          <p:spTgt spid="174136"/>
                                        </p:tgtEl>
                                        <p:attrNameLst>
                                          <p:attrName>ppt_x</p:attrName>
                                        </p:attrNameLst>
                                      </p:cBhvr>
                                      <p:tavLst>
                                        <p:tav tm="0">
                                          <p:val>
                                            <p:strVal val="#ppt_x"/>
                                          </p:val>
                                        </p:tav>
                                        <p:tav tm="100000">
                                          <p:val>
                                            <p:strVal val="#ppt_x"/>
                                          </p:val>
                                        </p:tav>
                                      </p:tavLst>
                                    </p:anim>
                                    <p:anim calcmode="lin" valueType="num">
                                      <p:cBhvr>
                                        <p:cTn id="134" dur="500" fill="hold"/>
                                        <p:tgtEl>
                                          <p:spTgt spid="174136"/>
                                        </p:tgtEl>
                                        <p:attrNameLst>
                                          <p:attrName>ppt_y</p:attrName>
                                        </p:attrNameLst>
                                      </p:cBhvr>
                                      <p:tavLst>
                                        <p:tav tm="0">
                                          <p:val>
                                            <p:strVal val="0-#ppt_h/2"/>
                                          </p:val>
                                        </p:tav>
                                        <p:tav tm="100000">
                                          <p:val>
                                            <p:strVal val="#ppt_y"/>
                                          </p:val>
                                        </p:tav>
                                      </p:tavLst>
                                    </p:anim>
                                  </p:childTnLst>
                                </p:cTn>
                              </p:par>
                              <p:par>
                                <p:cTn id="135" presetID="2" presetClass="exit" presetSubtype="4" fill="hold" grpId="1" nodeType="withEffect">
                                  <p:stCondLst>
                                    <p:cond delay="0"/>
                                  </p:stCondLst>
                                  <p:childTnLst>
                                    <p:anim calcmode="lin" valueType="num">
                                      <p:cBhvr>
                                        <p:cTn id="136" dur="500"/>
                                        <p:tgtEl>
                                          <p:spTgt spid="174137"/>
                                        </p:tgtEl>
                                        <p:attrNameLst>
                                          <p:attrName>ppt_x</p:attrName>
                                        </p:attrNameLst>
                                      </p:cBhvr>
                                      <p:tavLst>
                                        <p:tav tm="0">
                                          <p:val>
                                            <p:strVal val="ppt_x"/>
                                          </p:val>
                                        </p:tav>
                                        <p:tav tm="100000">
                                          <p:val>
                                            <p:strVal val="ppt_x"/>
                                          </p:val>
                                        </p:tav>
                                      </p:tavLst>
                                    </p:anim>
                                    <p:anim calcmode="lin" valueType="num">
                                      <p:cBhvr>
                                        <p:cTn id="137" dur="500"/>
                                        <p:tgtEl>
                                          <p:spTgt spid="174137"/>
                                        </p:tgtEl>
                                        <p:attrNameLst>
                                          <p:attrName>ppt_y</p:attrName>
                                        </p:attrNameLst>
                                      </p:cBhvr>
                                      <p:tavLst>
                                        <p:tav tm="0">
                                          <p:val>
                                            <p:strVal val="ppt_y"/>
                                          </p:val>
                                        </p:tav>
                                        <p:tav tm="100000">
                                          <p:val>
                                            <p:strVal val="1+ppt_h/2"/>
                                          </p:val>
                                        </p:tav>
                                      </p:tavLst>
                                    </p:anim>
                                    <p:set>
                                      <p:cBhvr>
                                        <p:cTn id="138" dur="1" fill="hold">
                                          <p:stCondLst>
                                            <p:cond delay="499"/>
                                          </p:stCondLst>
                                        </p:cTn>
                                        <p:tgtEl>
                                          <p:spTgt spid="174137"/>
                                        </p:tgtEl>
                                        <p:attrNameLst>
                                          <p:attrName>style.visibility</p:attrName>
                                        </p:attrNameLst>
                                      </p:cBhvr>
                                      <p:to>
                                        <p:strVal val="hidden"/>
                                      </p:to>
                                    </p:set>
                                  </p:childTnLst>
                                </p:cTn>
                              </p:par>
                              <p:par>
                                <p:cTn id="139" presetID="2" presetClass="exit" presetSubtype="4" fill="hold" nodeType="withEffect">
                                  <p:stCondLst>
                                    <p:cond delay="0"/>
                                  </p:stCondLst>
                                  <p:childTnLst>
                                    <p:anim calcmode="lin" valueType="num">
                                      <p:cBhvr>
                                        <p:cTn id="140" dur="500"/>
                                        <p:tgtEl>
                                          <p:spTgt spid="174138"/>
                                        </p:tgtEl>
                                        <p:attrNameLst>
                                          <p:attrName>ppt_x</p:attrName>
                                        </p:attrNameLst>
                                      </p:cBhvr>
                                      <p:tavLst>
                                        <p:tav tm="0">
                                          <p:val>
                                            <p:strVal val="ppt_x"/>
                                          </p:val>
                                        </p:tav>
                                        <p:tav tm="100000">
                                          <p:val>
                                            <p:strVal val="ppt_x"/>
                                          </p:val>
                                        </p:tav>
                                      </p:tavLst>
                                    </p:anim>
                                    <p:anim calcmode="lin" valueType="num">
                                      <p:cBhvr>
                                        <p:cTn id="141" dur="500"/>
                                        <p:tgtEl>
                                          <p:spTgt spid="174138"/>
                                        </p:tgtEl>
                                        <p:attrNameLst>
                                          <p:attrName>ppt_y</p:attrName>
                                        </p:attrNameLst>
                                      </p:cBhvr>
                                      <p:tavLst>
                                        <p:tav tm="0">
                                          <p:val>
                                            <p:strVal val="ppt_y"/>
                                          </p:val>
                                        </p:tav>
                                        <p:tav tm="100000">
                                          <p:val>
                                            <p:strVal val="1+ppt_h/2"/>
                                          </p:val>
                                        </p:tav>
                                      </p:tavLst>
                                    </p:anim>
                                    <p:set>
                                      <p:cBhvr>
                                        <p:cTn id="142" dur="1" fill="hold">
                                          <p:stCondLst>
                                            <p:cond delay="499"/>
                                          </p:stCondLst>
                                        </p:cTn>
                                        <p:tgtEl>
                                          <p:spTgt spid="174138"/>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2" presetClass="entr" presetSubtype="1" fill="hold" grpId="0" nodeType="clickEffect">
                                  <p:stCondLst>
                                    <p:cond delay="0"/>
                                  </p:stCondLst>
                                  <p:childTnLst>
                                    <p:set>
                                      <p:cBhvr>
                                        <p:cTn id="146" dur="1" fill="hold">
                                          <p:stCondLst>
                                            <p:cond delay="0"/>
                                          </p:stCondLst>
                                        </p:cTn>
                                        <p:tgtEl>
                                          <p:spTgt spid="174126"/>
                                        </p:tgtEl>
                                        <p:attrNameLst>
                                          <p:attrName>style.visibility</p:attrName>
                                        </p:attrNameLst>
                                      </p:cBhvr>
                                      <p:to>
                                        <p:strVal val="visible"/>
                                      </p:to>
                                    </p:set>
                                    <p:anim calcmode="lin" valueType="num">
                                      <p:cBhvr>
                                        <p:cTn id="147" dur="1000" fill="hold"/>
                                        <p:tgtEl>
                                          <p:spTgt spid="174126"/>
                                        </p:tgtEl>
                                        <p:attrNameLst>
                                          <p:attrName>ppt_x</p:attrName>
                                        </p:attrNameLst>
                                      </p:cBhvr>
                                      <p:tavLst>
                                        <p:tav tm="0">
                                          <p:val>
                                            <p:strVal val="#ppt_x"/>
                                          </p:val>
                                        </p:tav>
                                        <p:tav tm="100000">
                                          <p:val>
                                            <p:strVal val="#ppt_x"/>
                                          </p:val>
                                        </p:tav>
                                      </p:tavLst>
                                    </p:anim>
                                    <p:anim calcmode="lin" valueType="num">
                                      <p:cBhvr>
                                        <p:cTn id="148" dur="1000" fill="hold"/>
                                        <p:tgtEl>
                                          <p:spTgt spid="174126"/>
                                        </p:tgtEl>
                                        <p:attrNameLst>
                                          <p:attrName>ppt_y</p:attrName>
                                        </p:attrNameLst>
                                      </p:cBhvr>
                                      <p:tavLst>
                                        <p:tav tm="0">
                                          <p:val>
                                            <p:strVal val="0-#ppt_h/2"/>
                                          </p:val>
                                        </p:tav>
                                        <p:tav tm="100000">
                                          <p:val>
                                            <p:strVal val="#ppt_y"/>
                                          </p:val>
                                        </p:tav>
                                      </p:tavLst>
                                    </p:anim>
                                  </p:childTnLst>
                                </p:cTn>
                              </p:par>
                            </p:childTnLst>
                          </p:cTn>
                        </p:par>
                        <p:par>
                          <p:cTn id="149" fill="hold">
                            <p:stCondLst>
                              <p:cond delay="1000"/>
                            </p:stCondLst>
                            <p:childTnLst>
                              <p:par>
                                <p:cTn id="150" presetID="2" presetClass="entr" presetSubtype="1" fill="hold" grpId="0" nodeType="afterEffect">
                                  <p:stCondLst>
                                    <p:cond delay="0"/>
                                  </p:stCondLst>
                                  <p:childTnLst>
                                    <p:set>
                                      <p:cBhvr>
                                        <p:cTn id="151" dur="1" fill="hold">
                                          <p:stCondLst>
                                            <p:cond delay="0"/>
                                          </p:stCondLst>
                                        </p:cTn>
                                        <p:tgtEl>
                                          <p:spTgt spid="174129"/>
                                        </p:tgtEl>
                                        <p:attrNameLst>
                                          <p:attrName>style.visibility</p:attrName>
                                        </p:attrNameLst>
                                      </p:cBhvr>
                                      <p:to>
                                        <p:strVal val="visible"/>
                                      </p:to>
                                    </p:set>
                                    <p:anim calcmode="lin" valueType="num">
                                      <p:cBhvr>
                                        <p:cTn id="152" dur="1000" fill="hold"/>
                                        <p:tgtEl>
                                          <p:spTgt spid="174129"/>
                                        </p:tgtEl>
                                        <p:attrNameLst>
                                          <p:attrName>ppt_x</p:attrName>
                                        </p:attrNameLst>
                                      </p:cBhvr>
                                      <p:tavLst>
                                        <p:tav tm="0">
                                          <p:val>
                                            <p:strVal val="#ppt_x"/>
                                          </p:val>
                                        </p:tav>
                                        <p:tav tm="100000">
                                          <p:val>
                                            <p:strVal val="#ppt_x"/>
                                          </p:val>
                                        </p:tav>
                                      </p:tavLst>
                                    </p:anim>
                                    <p:anim calcmode="lin" valueType="num">
                                      <p:cBhvr>
                                        <p:cTn id="153" dur="1000" fill="hold"/>
                                        <p:tgtEl>
                                          <p:spTgt spid="174129"/>
                                        </p:tgtEl>
                                        <p:attrNameLst>
                                          <p:attrName>ppt_y</p:attrName>
                                        </p:attrNameLst>
                                      </p:cBhvr>
                                      <p:tavLst>
                                        <p:tav tm="0">
                                          <p:val>
                                            <p:strVal val="0-#ppt_h/2"/>
                                          </p:val>
                                        </p:tav>
                                        <p:tav tm="100000">
                                          <p:val>
                                            <p:strVal val="#ppt_y"/>
                                          </p:val>
                                        </p:tav>
                                      </p:tavLst>
                                    </p:anim>
                                  </p:childTnLst>
                                </p:cTn>
                              </p:par>
                            </p:childTnLst>
                          </p:cTn>
                        </p:par>
                      </p:childTnLst>
                    </p:cTn>
                  </p:par>
                  <p:par>
                    <p:cTn id="154" fill="hold">
                      <p:stCondLst>
                        <p:cond delay="indefinite"/>
                      </p:stCondLst>
                      <p:childTnLst>
                        <p:par>
                          <p:cTn id="155" fill="hold">
                            <p:stCondLst>
                              <p:cond delay="0"/>
                            </p:stCondLst>
                            <p:childTnLst>
                              <p:par>
                                <p:cTn id="156" presetID="2" presetClass="entr" presetSubtype="4" fill="hold" grpId="0" nodeType="clickEffect">
                                  <p:stCondLst>
                                    <p:cond delay="0"/>
                                  </p:stCondLst>
                                  <p:childTnLst>
                                    <p:set>
                                      <p:cBhvr>
                                        <p:cTn id="157" dur="1" fill="hold">
                                          <p:stCondLst>
                                            <p:cond delay="0"/>
                                          </p:stCondLst>
                                        </p:cTn>
                                        <p:tgtEl>
                                          <p:spTgt spid="174084"/>
                                        </p:tgtEl>
                                        <p:attrNameLst>
                                          <p:attrName>style.visibility</p:attrName>
                                        </p:attrNameLst>
                                      </p:cBhvr>
                                      <p:to>
                                        <p:strVal val="visible"/>
                                      </p:to>
                                    </p:set>
                                    <p:anim calcmode="lin" valueType="num">
                                      <p:cBhvr>
                                        <p:cTn id="158" dur="500" fill="hold"/>
                                        <p:tgtEl>
                                          <p:spTgt spid="174084"/>
                                        </p:tgtEl>
                                        <p:attrNameLst>
                                          <p:attrName>ppt_x</p:attrName>
                                        </p:attrNameLst>
                                      </p:cBhvr>
                                      <p:tavLst>
                                        <p:tav tm="0">
                                          <p:val>
                                            <p:strVal val="#ppt_x"/>
                                          </p:val>
                                        </p:tav>
                                        <p:tav tm="100000">
                                          <p:val>
                                            <p:strVal val="#ppt_x"/>
                                          </p:val>
                                        </p:tav>
                                      </p:tavLst>
                                    </p:anim>
                                    <p:anim calcmode="lin" valueType="num">
                                      <p:cBhvr>
                                        <p:cTn id="159" dur="500" fill="hold"/>
                                        <p:tgtEl>
                                          <p:spTgt spid="174084"/>
                                        </p:tgtEl>
                                        <p:attrNameLst>
                                          <p:attrName>ppt_y</p:attrName>
                                        </p:attrNameLst>
                                      </p:cBhvr>
                                      <p:tavLst>
                                        <p:tav tm="0">
                                          <p:val>
                                            <p:strVal val="1+#ppt_h/2"/>
                                          </p:val>
                                        </p:tav>
                                        <p:tav tm="100000">
                                          <p:val>
                                            <p:strVal val="#ppt_y"/>
                                          </p:val>
                                        </p:tav>
                                      </p:tavLst>
                                    </p:anim>
                                  </p:childTnLst>
                                </p:cTn>
                              </p:par>
                              <p:par>
                                <p:cTn id="160" presetID="2" presetClass="entr" presetSubtype="4" fill="hold" nodeType="withEffect">
                                  <p:stCondLst>
                                    <p:cond delay="0"/>
                                  </p:stCondLst>
                                  <p:childTnLst>
                                    <p:set>
                                      <p:cBhvr>
                                        <p:cTn id="161" dur="1" fill="hold">
                                          <p:stCondLst>
                                            <p:cond delay="0"/>
                                          </p:stCondLst>
                                        </p:cTn>
                                        <p:tgtEl>
                                          <p:spTgt spid="174085"/>
                                        </p:tgtEl>
                                        <p:attrNameLst>
                                          <p:attrName>style.visibility</p:attrName>
                                        </p:attrNameLst>
                                      </p:cBhvr>
                                      <p:to>
                                        <p:strVal val="visible"/>
                                      </p:to>
                                    </p:set>
                                    <p:anim calcmode="lin" valueType="num">
                                      <p:cBhvr>
                                        <p:cTn id="162" dur="500" fill="hold"/>
                                        <p:tgtEl>
                                          <p:spTgt spid="174085"/>
                                        </p:tgtEl>
                                        <p:attrNameLst>
                                          <p:attrName>ppt_x</p:attrName>
                                        </p:attrNameLst>
                                      </p:cBhvr>
                                      <p:tavLst>
                                        <p:tav tm="0">
                                          <p:val>
                                            <p:strVal val="#ppt_x"/>
                                          </p:val>
                                        </p:tav>
                                        <p:tav tm="100000">
                                          <p:val>
                                            <p:strVal val="#ppt_x"/>
                                          </p:val>
                                        </p:tav>
                                      </p:tavLst>
                                    </p:anim>
                                    <p:anim calcmode="lin" valueType="num">
                                      <p:cBhvr>
                                        <p:cTn id="163" dur="500" fill="hold"/>
                                        <p:tgtEl>
                                          <p:spTgt spid="174085"/>
                                        </p:tgtEl>
                                        <p:attrNameLst>
                                          <p:attrName>ppt_y</p:attrName>
                                        </p:attrNameLst>
                                      </p:cBhvr>
                                      <p:tavLst>
                                        <p:tav tm="0">
                                          <p:val>
                                            <p:strVal val="1+#ppt_h/2"/>
                                          </p:val>
                                        </p:tav>
                                        <p:tav tm="100000">
                                          <p:val>
                                            <p:strVal val="#ppt_y"/>
                                          </p:val>
                                        </p:tav>
                                      </p:tavLst>
                                    </p:anim>
                                  </p:childTnLst>
                                </p:cTn>
                              </p:par>
                              <p:par>
                                <p:cTn id="164" presetID="2" presetClass="entr" presetSubtype="4" fill="hold" nodeType="withEffect">
                                  <p:stCondLst>
                                    <p:cond delay="0"/>
                                  </p:stCondLst>
                                  <p:childTnLst>
                                    <p:set>
                                      <p:cBhvr>
                                        <p:cTn id="165" dur="1" fill="hold">
                                          <p:stCondLst>
                                            <p:cond delay="0"/>
                                          </p:stCondLst>
                                        </p:cTn>
                                        <p:tgtEl>
                                          <p:spTgt spid="174086"/>
                                        </p:tgtEl>
                                        <p:attrNameLst>
                                          <p:attrName>style.visibility</p:attrName>
                                        </p:attrNameLst>
                                      </p:cBhvr>
                                      <p:to>
                                        <p:strVal val="visible"/>
                                      </p:to>
                                    </p:set>
                                    <p:anim calcmode="lin" valueType="num">
                                      <p:cBhvr>
                                        <p:cTn id="166" dur="500" fill="hold"/>
                                        <p:tgtEl>
                                          <p:spTgt spid="174086"/>
                                        </p:tgtEl>
                                        <p:attrNameLst>
                                          <p:attrName>ppt_x</p:attrName>
                                        </p:attrNameLst>
                                      </p:cBhvr>
                                      <p:tavLst>
                                        <p:tav tm="0">
                                          <p:val>
                                            <p:strVal val="#ppt_x"/>
                                          </p:val>
                                        </p:tav>
                                        <p:tav tm="100000">
                                          <p:val>
                                            <p:strVal val="#ppt_x"/>
                                          </p:val>
                                        </p:tav>
                                      </p:tavLst>
                                    </p:anim>
                                    <p:anim calcmode="lin" valueType="num">
                                      <p:cBhvr>
                                        <p:cTn id="167" dur="500" fill="hold"/>
                                        <p:tgtEl>
                                          <p:spTgt spid="174086"/>
                                        </p:tgtEl>
                                        <p:attrNameLst>
                                          <p:attrName>ppt_y</p:attrName>
                                        </p:attrNameLst>
                                      </p:cBhvr>
                                      <p:tavLst>
                                        <p:tav tm="0">
                                          <p:val>
                                            <p:strVal val="1+#ppt_h/2"/>
                                          </p:val>
                                        </p:tav>
                                        <p:tav tm="100000">
                                          <p:val>
                                            <p:strVal val="#ppt_y"/>
                                          </p:val>
                                        </p:tav>
                                      </p:tavLst>
                                    </p:anim>
                                  </p:childTnLst>
                                </p:cTn>
                              </p:par>
                              <p:par>
                                <p:cTn id="168" presetID="2" presetClass="entr" presetSubtype="4" fill="hold" nodeType="withEffect">
                                  <p:stCondLst>
                                    <p:cond delay="0"/>
                                  </p:stCondLst>
                                  <p:childTnLst>
                                    <p:set>
                                      <p:cBhvr>
                                        <p:cTn id="169" dur="1" fill="hold">
                                          <p:stCondLst>
                                            <p:cond delay="0"/>
                                          </p:stCondLst>
                                        </p:cTn>
                                        <p:tgtEl>
                                          <p:spTgt spid="174087"/>
                                        </p:tgtEl>
                                        <p:attrNameLst>
                                          <p:attrName>style.visibility</p:attrName>
                                        </p:attrNameLst>
                                      </p:cBhvr>
                                      <p:to>
                                        <p:strVal val="visible"/>
                                      </p:to>
                                    </p:set>
                                    <p:anim calcmode="lin" valueType="num">
                                      <p:cBhvr>
                                        <p:cTn id="170" dur="500" fill="hold"/>
                                        <p:tgtEl>
                                          <p:spTgt spid="174087"/>
                                        </p:tgtEl>
                                        <p:attrNameLst>
                                          <p:attrName>ppt_x</p:attrName>
                                        </p:attrNameLst>
                                      </p:cBhvr>
                                      <p:tavLst>
                                        <p:tav tm="0">
                                          <p:val>
                                            <p:strVal val="#ppt_x"/>
                                          </p:val>
                                        </p:tav>
                                        <p:tav tm="100000">
                                          <p:val>
                                            <p:strVal val="#ppt_x"/>
                                          </p:val>
                                        </p:tav>
                                      </p:tavLst>
                                    </p:anim>
                                    <p:anim calcmode="lin" valueType="num">
                                      <p:cBhvr>
                                        <p:cTn id="171" dur="500" fill="hold"/>
                                        <p:tgtEl>
                                          <p:spTgt spid="174087"/>
                                        </p:tgtEl>
                                        <p:attrNameLst>
                                          <p:attrName>ppt_y</p:attrName>
                                        </p:attrNameLst>
                                      </p:cBhvr>
                                      <p:tavLst>
                                        <p:tav tm="0">
                                          <p:val>
                                            <p:strVal val="1+#ppt_h/2"/>
                                          </p:val>
                                        </p:tav>
                                        <p:tav tm="100000">
                                          <p:val>
                                            <p:strVal val="#ppt_y"/>
                                          </p:val>
                                        </p:tav>
                                      </p:tavLst>
                                    </p:anim>
                                  </p:childTnLst>
                                </p:cTn>
                              </p:par>
                              <p:par>
                                <p:cTn id="172" presetID="2" presetClass="entr" presetSubtype="4" fill="hold" nodeType="withEffect">
                                  <p:stCondLst>
                                    <p:cond delay="0"/>
                                  </p:stCondLst>
                                  <p:childTnLst>
                                    <p:set>
                                      <p:cBhvr>
                                        <p:cTn id="173" dur="1" fill="hold">
                                          <p:stCondLst>
                                            <p:cond delay="0"/>
                                          </p:stCondLst>
                                        </p:cTn>
                                        <p:tgtEl>
                                          <p:spTgt spid="174088"/>
                                        </p:tgtEl>
                                        <p:attrNameLst>
                                          <p:attrName>style.visibility</p:attrName>
                                        </p:attrNameLst>
                                      </p:cBhvr>
                                      <p:to>
                                        <p:strVal val="visible"/>
                                      </p:to>
                                    </p:set>
                                    <p:anim calcmode="lin" valueType="num">
                                      <p:cBhvr>
                                        <p:cTn id="174" dur="500" fill="hold"/>
                                        <p:tgtEl>
                                          <p:spTgt spid="174088"/>
                                        </p:tgtEl>
                                        <p:attrNameLst>
                                          <p:attrName>ppt_x</p:attrName>
                                        </p:attrNameLst>
                                      </p:cBhvr>
                                      <p:tavLst>
                                        <p:tav tm="0">
                                          <p:val>
                                            <p:strVal val="#ppt_x"/>
                                          </p:val>
                                        </p:tav>
                                        <p:tav tm="100000">
                                          <p:val>
                                            <p:strVal val="#ppt_x"/>
                                          </p:val>
                                        </p:tav>
                                      </p:tavLst>
                                    </p:anim>
                                    <p:anim calcmode="lin" valueType="num">
                                      <p:cBhvr>
                                        <p:cTn id="175" dur="500" fill="hold"/>
                                        <p:tgtEl>
                                          <p:spTgt spid="174088"/>
                                        </p:tgtEl>
                                        <p:attrNameLst>
                                          <p:attrName>ppt_y</p:attrName>
                                        </p:attrNameLst>
                                      </p:cBhvr>
                                      <p:tavLst>
                                        <p:tav tm="0">
                                          <p:val>
                                            <p:strVal val="1+#ppt_h/2"/>
                                          </p:val>
                                        </p:tav>
                                        <p:tav tm="100000">
                                          <p:val>
                                            <p:strVal val="#ppt_y"/>
                                          </p:val>
                                        </p:tav>
                                      </p:tavLst>
                                    </p:anim>
                                  </p:childTnLst>
                                </p:cTn>
                              </p:par>
                              <p:par>
                                <p:cTn id="176" presetID="2" presetClass="entr" presetSubtype="4" fill="hold" nodeType="withEffect">
                                  <p:stCondLst>
                                    <p:cond delay="0"/>
                                  </p:stCondLst>
                                  <p:childTnLst>
                                    <p:set>
                                      <p:cBhvr>
                                        <p:cTn id="177" dur="1" fill="hold">
                                          <p:stCondLst>
                                            <p:cond delay="0"/>
                                          </p:stCondLst>
                                        </p:cTn>
                                        <p:tgtEl>
                                          <p:spTgt spid="174089"/>
                                        </p:tgtEl>
                                        <p:attrNameLst>
                                          <p:attrName>style.visibility</p:attrName>
                                        </p:attrNameLst>
                                      </p:cBhvr>
                                      <p:to>
                                        <p:strVal val="visible"/>
                                      </p:to>
                                    </p:set>
                                    <p:anim calcmode="lin" valueType="num">
                                      <p:cBhvr>
                                        <p:cTn id="178" dur="500" fill="hold"/>
                                        <p:tgtEl>
                                          <p:spTgt spid="174089"/>
                                        </p:tgtEl>
                                        <p:attrNameLst>
                                          <p:attrName>ppt_x</p:attrName>
                                        </p:attrNameLst>
                                      </p:cBhvr>
                                      <p:tavLst>
                                        <p:tav tm="0">
                                          <p:val>
                                            <p:strVal val="#ppt_x"/>
                                          </p:val>
                                        </p:tav>
                                        <p:tav tm="100000">
                                          <p:val>
                                            <p:strVal val="#ppt_x"/>
                                          </p:val>
                                        </p:tav>
                                      </p:tavLst>
                                    </p:anim>
                                    <p:anim calcmode="lin" valueType="num">
                                      <p:cBhvr>
                                        <p:cTn id="179" dur="500" fill="hold"/>
                                        <p:tgtEl>
                                          <p:spTgt spid="174089"/>
                                        </p:tgtEl>
                                        <p:attrNameLst>
                                          <p:attrName>ppt_y</p:attrName>
                                        </p:attrNameLst>
                                      </p:cBhvr>
                                      <p:tavLst>
                                        <p:tav tm="0">
                                          <p:val>
                                            <p:strVal val="1+#ppt_h/2"/>
                                          </p:val>
                                        </p:tav>
                                        <p:tav tm="100000">
                                          <p:val>
                                            <p:strVal val="#ppt_y"/>
                                          </p:val>
                                        </p:tav>
                                      </p:tavLst>
                                    </p:anim>
                                  </p:childTnLst>
                                </p:cTn>
                              </p:par>
                              <p:par>
                                <p:cTn id="180" presetID="2" presetClass="entr" presetSubtype="4" fill="hold" nodeType="withEffect">
                                  <p:stCondLst>
                                    <p:cond delay="0"/>
                                  </p:stCondLst>
                                  <p:childTnLst>
                                    <p:set>
                                      <p:cBhvr>
                                        <p:cTn id="181" dur="1" fill="hold">
                                          <p:stCondLst>
                                            <p:cond delay="0"/>
                                          </p:stCondLst>
                                        </p:cTn>
                                        <p:tgtEl>
                                          <p:spTgt spid="174102"/>
                                        </p:tgtEl>
                                        <p:attrNameLst>
                                          <p:attrName>style.visibility</p:attrName>
                                        </p:attrNameLst>
                                      </p:cBhvr>
                                      <p:to>
                                        <p:strVal val="visible"/>
                                      </p:to>
                                    </p:set>
                                    <p:anim calcmode="lin" valueType="num">
                                      <p:cBhvr>
                                        <p:cTn id="182" dur="500" fill="hold"/>
                                        <p:tgtEl>
                                          <p:spTgt spid="174102"/>
                                        </p:tgtEl>
                                        <p:attrNameLst>
                                          <p:attrName>ppt_x</p:attrName>
                                        </p:attrNameLst>
                                      </p:cBhvr>
                                      <p:tavLst>
                                        <p:tav tm="0">
                                          <p:val>
                                            <p:strVal val="#ppt_x"/>
                                          </p:val>
                                        </p:tav>
                                        <p:tav tm="100000">
                                          <p:val>
                                            <p:strVal val="#ppt_x"/>
                                          </p:val>
                                        </p:tav>
                                      </p:tavLst>
                                    </p:anim>
                                    <p:anim calcmode="lin" valueType="num">
                                      <p:cBhvr>
                                        <p:cTn id="183" dur="500" fill="hold"/>
                                        <p:tgtEl>
                                          <p:spTgt spid="174102"/>
                                        </p:tgtEl>
                                        <p:attrNameLst>
                                          <p:attrName>ppt_y</p:attrName>
                                        </p:attrNameLst>
                                      </p:cBhvr>
                                      <p:tavLst>
                                        <p:tav tm="0">
                                          <p:val>
                                            <p:strVal val="1+#ppt_h/2"/>
                                          </p:val>
                                        </p:tav>
                                        <p:tav tm="100000">
                                          <p:val>
                                            <p:strVal val="#ppt_y"/>
                                          </p:val>
                                        </p:tav>
                                      </p:tavLst>
                                    </p:anim>
                                  </p:childTnLst>
                                </p:cTn>
                              </p:par>
                              <p:par>
                                <p:cTn id="184" presetID="2" presetClass="entr" presetSubtype="4" fill="hold" nodeType="withEffect">
                                  <p:stCondLst>
                                    <p:cond delay="0"/>
                                  </p:stCondLst>
                                  <p:childTnLst>
                                    <p:set>
                                      <p:cBhvr>
                                        <p:cTn id="185" dur="1" fill="hold">
                                          <p:stCondLst>
                                            <p:cond delay="0"/>
                                          </p:stCondLst>
                                        </p:cTn>
                                        <p:tgtEl>
                                          <p:spTgt spid="174103"/>
                                        </p:tgtEl>
                                        <p:attrNameLst>
                                          <p:attrName>style.visibility</p:attrName>
                                        </p:attrNameLst>
                                      </p:cBhvr>
                                      <p:to>
                                        <p:strVal val="visible"/>
                                      </p:to>
                                    </p:set>
                                    <p:anim calcmode="lin" valueType="num">
                                      <p:cBhvr>
                                        <p:cTn id="186" dur="500" fill="hold"/>
                                        <p:tgtEl>
                                          <p:spTgt spid="174103"/>
                                        </p:tgtEl>
                                        <p:attrNameLst>
                                          <p:attrName>ppt_x</p:attrName>
                                        </p:attrNameLst>
                                      </p:cBhvr>
                                      <p:tavLst>
                                        <p:tav tm="0">
                                          <p:val>
                                            <p:strVal val="#ppt_x"/>
                                          </p:val>
                                        </p:tav>
                                        <p:tav tm="100000">
                                          <p:val>
                                            <p:strVal val="#ppt_x"/>
                                          </p:val>
                                        </p:tav>
                                      </p:tavLst>
                                    </p:anim>
                                    <p:anim calcmode="lin" valueType="num">
                                      <p:cBhvr>
                                        <p:cTn id="187" dur="500" fill="hold"/>
                                        <p:tgtEl>
                                          <p:spTgt spid="174103"/>
                                        </p:tgtEl>
                                        <p:attrNameLst>
                                          <p:attrName>ppt_y</p:attrName>
                                        </p:attrNameLst>
                                      </p:cBhvr>
                                      <p:tavLst>
                                        <p:tav tm="0">
                                          <p:val>
                                            <p:strVal val="1+#ppt_h/2"/>
                                          </p:val>
                                        </p:tav>
                                        <p:tav tm="100000">
                                          <p:val>
                                            <p:strVal val="#ppt_y"/>
                                          </p:val>
                                        </p:tav>
                                      </p:tavLst>
                                    </p:anim>
                                  </p:childTnLst>
                                </p:cTn>
                              </p:par>
                              <p:par>
                                <p:cTn id="188" presetID="2" presetClass="entr" presetSubtype="4" fill="hold" grpId="0" nodeType="withEffect">
                                  <p:stCondLst>
                                    <p:cond delay="0"/>
                                  </p:stCondLst>
                                  <p:childTnLst>
                                    <p:set>
                                      <p:cBhvr>
                                        <p:cTn id="189" dur="1" fill="hold">
                                          <p:stCondLst>
                                            <p:cond delay="0"/>
                                          </p:stCondLst>
                                        </p:cTn>
                                        <p:tgtEl>
                                          <p:spTgt spid="174106"/>
                                        </p:tgtEl>
                                        <p:attrNameLst>
                                          <p:attrName>style.visibility</p:attrName>
                                        </p:attrNameLst>
                                      </p:cBhvr>
                                      <p:to>
                                        <p:strVal val="visible"/>
                                      </p:to>
                                    </p:set>
                                    <p:anim calcmode="lin" valueType="num">
                                      <p:cBhvr>
                                        <p:cTn id="190" dur="500" fill="hold"/>
                                        <p:tgtEl>
                                          <p:spTgt spid="174106"/>
                                        </p:tgtEl>
                                        <p:attrNameLst>
                                          <p:attrName>ppt_x</p:attrName>
                                        </p:attrNameLst>
                                      </p:cBhvr>
                                      <p:tavLst>
                                        <p:tav tm="0">
                                          <p:val>
                                            <p:strVal val="#ppt_x"/>
                                          </p:val>
                                        </p:tav>
                                        <p:tav tm="100000">
                                          <p:val>
                                            <p:strVal val="#ppt_x"/>
                                          </p:val>
                                        </p:tav>
                                      </p:tavLst>
                                    </p:anim>
                                    <p:anim calcmode="lin" valueType="num">
                                      <p:cBhvr>
                                        <p:cTn id="191" dur="500" fill="hold"/>
                                        <p:tgtEl>
                                          <p:spTgt spid="174106"/>
                                        </p:tgtEl>
                                        <p:attrNameLst>
                                          <p:attrName>ppt_y</p:attrName>
                                        </p:attrNameLst>
                                      </p:cBhvr>
                                      <p:tavLst>
                                        <p:tav tm="0">
                                          <p:val>
                                            <p:strVal val="1+#ppt_h/2"/>
                                          </p:val>
                                        </p:tav>
                                        <p:tav tm="100000">
                                          <p:val>
                                            <p:strVal val="#ppt_y"/>
                                          </p:val>
                                        </p:tav>
                                      </p:tavLst>
                                    </p:anim>
                                  </p:childTnLst>
                                </p:cTn>
                              </p:par>
                              <p:par>
                                <p:cTn id="192" presetID="2" presetClass="entr" presetSubtype="4" fill="hold" grpId="0" nodeType="withEffect">
                                  <p:stCondLst>
                                    <p:cond delay="0"/>
                                  </p:stCondLst>
                                  <p:childTnLst>
                                    <p:set>
                                      <p:cBhvr>
                                        <p:cTn id="193" dur="1" fill="hold">
                                          <p:stCondLst>
                                            <p:cond delay="0"/>
                                          </p:stCondLst>
                                        </p:cTn>
                                        <p:tgtEl>
                                          <p:spTgt spid="174107"/>
                                        </p:tgtEl>
                                        <p:attrNameLst>
                                          <p:attrName>style.visibility</p:attrName>
                                        </p:attrNameLst>
                                      </p:cBhvr>
                                      <p:to>
                                        <p:strVal val="visible"/>
                                      </p:to>
                                    </p:set>
                                    <p:anim calcmode="lin" valueType="num">
                                      <p:cBhvr>
                                        <p:cTn id="194" dur="500" fill="hold"/>
                                        <p:tgtEl>
                                          <p:spTgt spid="174107"/>
                                        </p:tgtEl>
                                        <p:attrNameLst>
                                          <p:attrName>ppt_x</p:attrName>
                                        </p:attrNameLst>
                                      </p:cBhvr>
                                      <p:tavLst>
                                        <p:tav tm="0">
                                          <p:val>
                                            <p:strVal val="#ppt_x"/>
                                          </p:val>
                                        </p:tav>
                                        <p:tav tm="100000">
                                          <p:val>
                                            <p:strVal val="#ppt_x"/>
                                          </p:val>
                                        </p:tav>
                                      </p:tavLst>
                                    </p:anim>
                                    <p:anim calcmode="lin" valueType="num">
                                      <p:cBhvr>
                                        <p:cTn id="195" dur="500" fill="hold"/>
                                        <p:tgtEl>
                                          <p:spTgt spid="174107"/>
                                        </p:tgtEl>
                                        <p:attrNameLst>
                                          <p:attrName>ppt_y</p:attrName>
                                        </p:attrNameLst>
                                      </p:cBhvr>
                                      <p:tavLst>
                                        <p:tav tm="0">
                                          <p:val>
                                            <p:strVal val="1+#ppt_h/2"/>
                                          </p:val>
                                        </p:tav>
                                        <p:tav tm="100000">
                                          <p:val>
                                            <p:strVal val="#ppt_y"/>
                                          </p:val>
                                        </p:tav>
                                      </p:tavLst>
                                    </p:anim>
                                  </p:childTnLst>
                                </p:cTn>
                              </p:par>
                              <p:par>
                                <p:cTn id="196" presetID="2" presetClass="entr" presetSubtype="4" fill="hold" grpId="0" nodeType="withEffect">
                                  <p:stCondLst>
                                    <p:cond delay="0"/>
                                  </p:stCondLst>
                                  <p:childTnLst>
                                    <p:set>
                                      <p:cBhvr>
                                        <p:cTn id="197" dur="1" fill="hold">
                                          <p:stCondLst>
                                            <p:cond delay="0"/>
                                          </p:stCondLst>
                                        </p:cTn>
                                        <p:tgtEl>
                                          <p:spTgt spid="174108"/>
                                        </p:tgtEl>
                                        <p:attrNameLst>
                                          <p:attrName>style.visibility</p:attrName>
                                        </p:attrNameLst>
                                      </p:cBhvr>
                                      <p:to>
                                        <p:strVal val="visible"/>
                                      </p:to>
                                    </p:set>
                                    <p:anim calcmode="lin" valueType="num">
                                      <p:cBhvr>
                                        <p:cTn id="198" dur="500" fill="hold"/>
                                        <p:tgtEl>
                                          <p:spTgt spid="174108"/>
                                        </p:tgtEl>
                                        <p:attrNameLst>
                                          <p:attrName>ppt_x</p:attrName>
                                        </p:attrNameLst>
                                      </p:cBhvr>
                                      <p:tavLst>
                                        <p:tav tm="0">
                                          <p:val>
                                            <p:strVal val="#ppt_x"/>
                                          </p:val>
                                        </p:tav>
                                        <p:tav tm="100000">
                                          <p:val>
                                            <p:strVal val="#ppt_x"/>
                                          </p:val>
                                        </p:tav>
                                      </p:tavLst>
                                    </p:anim>
                                    <p:anim calcmode="lin" valueType="num">
                                      <p:cBhvr>
                                        <p:cTn id="199" dur="500" fill="hold"/>
                                        <p:tgtEl>
                                          <p:spTgt spid="174108"/>
                                        </p:tgtEl>
                                        <p:attrNameLst>
                                          <p:attrName>ppt_y</p:attrName>
                                        </p:attrNameLst>
                                      </p:cBhvr>
                                      <p:tavLst>
                                        <p:tav tm="0">
                                          <p:val>
                                            <p:strVal val="1+#ppt_h/2"/>
                                          </p:val>
                                        </p:tav>
                                        <p:tav tm="100000">
                                          <p:val>
                                            <p:strVal val="#ppt_y"/>
                                          </p:val>
                                        </p:tav>
                                      </p:tavLst>
                                    </p:anim>
                                  </p:childTnLst>
                                </p:cTn>
                              </p:par>
                              <p:par>
                                <p:cTn id="200" presetID="2" presetClass="entr" presetSubtype="4" fill="hold" grpId="0" nodeType="withEffect">
                                  <p:stCondLst>
                                    <p:cond delay="0"/>
                                  </p:stCondLst>
                                  <p:childTnLst>
                                    <p:set>
                                      <p:cBhvr>
                                        <p:cTn id="201" dur="1" fill="hold">
                                          <p:stCondLst>
                                            <p:cond delay="0"/>
                                          </p:stCondLst>
                                        </p:cTn>
                                        <p:tgtEl>
                                          <p:spTgt spid="174109"/>
                                        </p:tgtEl>
                                        <p:attrNameLst>
                                          <p:attrName>style.visibility</p:attrName>
                                        </p:attrNameLst>
                                      </p:cBhvr>
                                      <p:to>
                                        <p:strVal val="visible"/>
                                      </p:to>
                                    </p:set>
                                    <p:anim calcmode="lin" valueType="num">
                                      <p:cBhvr>
                                        <p:cTn id="202" dur="500" fill="hold"/>
                                        <p:tgtEl>
                                          <p:spTgt spid="174109"/>
                                        </p:tgtEl>
                                        <p:attrNameLst>
                                          <p:attrName>ppt_x</p:attrName>
                                        </p:attrNameLst>
                                      </p:cBhvr>
                                      <p:tavLst>
                                        <p:tav tm="0">
                                          <p:val>
                                            <p:strVal val="#ppt_x"/>
                                          </p:val>
                                        </p:tav>
                                        <p:tav tm="100000">
                                          <p:val>
                                            <p:strVal val="#ppt_x"/>
                                          </p:val>
                                        </p:tav>
                                      </p:tavLst>
                                    </p:anim>
                                    <p:anim calcmode="lin" valueType="num">
                                      <p:cBhvr>
                                        <p:cTn id="203" dur="500" fill="hold"/>
                                        <p:tgtEl>
                                          <p:spTgt spid="174109"/>
                                        </p:tgtEl>
                                        <p:attrNameLst>
                                          <p:attrName>ppt_y</p:attrName>
                                        </p:attrNameLst>
                                      </p:cBhvr>
                                      <p:tavLst>
                                        <p:tav tm="0">
                                          <p:val>
                                            <p:strVal val="1+#ppt_h/2"/>
                                          </p:val>
                                        </p:tav>
                                        <p:tav tm="100000">
                                          <p:val>
                                            <p:strVal val="#ppt_y"/>
                                          </p:val>
                                        </p:tav>
                                      </p:tavLst>
                                    </p:anim>
                                  </p:childTnLst>
                                </p:cTn>
                              </p:par>
                              <p:par>
                                <p:cTn id="204" presetID="2" presetClass="entr" presetSubtype="4" fill="hold" grpId="0" nodeType="withEffect">
                                  <p:stCondLst>
                                    <p:cond delay="0"/>
                                  </p:stCondLst>
                                  <p:childTnLst>
                                    <p:set>
                                      <p:cBhvr>
                                        <p:cTn id="205" dur="1" fill="hold">
                                          <p:stCondLst>
                                            <p:cond delay="0"/>
                                          </p:stCondLst>
                                        </p:cTn>
                                        <p:tgtEl>
                                          <p:spTgt spid="174110"/>
                                        </p:tgtEl>
                                        <p:attrNameLst>
                                          <p:attrName>style.visibility</p:attrName>
                                        </p:attrNameLst>
                                      </p:cBhvr>
                                      <p:to>
                                        <p:strVal val="visible"/>
                                      </p:to>
                                    </p:set>
                                    <p:anim calcmode="lin" valueType="num">
                                      <p:cBhvr>
                                        <p:cTn id="206" dur="500" fill="hold"/>
                                        <p:tgtEl>
                                          <p:spTgt spid="174110"/>
                                        </p:tgtEl>
                                        <p:attrNameLst>
                                          <p:attrName>ppt_x</p:attrName>
                                        </p:attrNameLst>
                                      </p:cBhvr>
                                      <p:tavLst>
                                        <p:tav tm="0">
                                          <p:val>
                                            <p:strVal val="#ppt_x"/>
                                          </p:val>
                                        </p:tav>
                                        <p:tav tm="100000">
                                          <p:val>
                                            <p:strVal val="#ppt_x"/>
                                          </p:val>
                                        </p:tav>
                                      </p:tavLst>
                                    </p:anim>
                                    <p:anim calcmode="lin" valueType="num">
                                      <p:cBhvr>
                                        <p:cTn id="207" dur="500" fill="hold"/>
                                        <p:tgtEl>
                                          <p:spTgt spid="174110"/>
                                        </p:tgtEl>
                                        <p:attrNameLst>
                                          <p:attrName>ppt_y</p:attrName>
                                        </p:attrNameLst>
                                      </p:cBhvr>
                                      <p:tavLst>
                                        <p:tav tm="0">
                                          <p:val>
                                            <p:strVal val="1+#ppt_h/2"/>
                                          </p:val>
                                        </p:tav>
                                        <p:tav tm="100000">
                                          <p:val>
                                            <p:strVal val="#ppt_y"/>
                                          </p:val>
                                        </p:tav>
                                      </p:tavLst>
                                    </p:anim>
                                  </p:childTnLst>
                                </p:cTn>
                              </p:par>
                              <p:par>
                                <p:cTn id="208" presetID="2" presetClass="entr" presetSubtype="4" fill="hold" nodeType="withEffect">
                                  <p:stCondLst>
                                    <p:cond delay="0"/>
                                  </p:stCondLst>
                                  <p:childTnLst>
                                    <p:set>
                                      <p:cBhvr>
                                        <p:cTn id="209" dur="1" fill="hold">
                                          <p:stCondLst>
                                            <p:cond delay="0"/>
                                          </p:stCondLst>
                                        </p:cTn>
                                        <p:tgtEl>
                                          <p:spTgt spid="174111"/>
                                        </p:tgtEl>
                                        <p:attrNameLst>
                                          <p:attrName>style.visibility</p:attrName>
                                        </p:attrNameLst>
                                      </p:cBhvr>
                                      <p:to>
                                        <p:strVal val="visible"/>
                                      </p:to>
                                    </p:set>
                                    <p:anim calcmode="lin" valueType="num">
                                      <p:cBhvr>
                                        <p:cTn id="210" dur="500" fill="hold"/>
                                        <p:tgtEl>
                                          <p:spTgt spid="174111"/>
                                        </p:tgtEl>
                                        <p:attrNameLst>
                                          <p:attrName>ppt_x</p:attrName>
                                        </p:attrNameLst>
                                      </p:cBhvr>
                                      <p:tavLst>
                                        <p:tav tm="0">
                                          <p:val>
                                            <p:strVal val="#ppt_x"/>
                                          </p:val>
                                        </p:tav>
                                        <p:tav tm="100000">
                                          <p:val>
                                            <p:strVal val="#ppt_x"/>
                                          </p:val>
                                        </p:tav>
                                      </p:tavLst>
                                    </p:anim>
                                    <p:anim calcmode="lin" valueType="num">
                                      <p:cBhvr>
                                        <p:cTn id="211" dur="500" fill="hold"/>
                                        <p:tgtEl>
                                          <p:spTgt spid="174111"/>
                                        </p:tgtEl>
                                        <p:attrNameLst>
                                          <p:attrName>ppt_y</p:attrName>
                                        </p:attrNameLst>
                                      </p:cBhvr>
                                      <p:tavLst>
                                        <p:tav tm="0">
                                          <p:val>
                                            <p:strVal val="1+#ppt_h/2"/>
                                          </p:val>
                                        </p:tav>
                                        <p:tav tm="100000">
                                          <p:val>
                                            <p:strVal val="#ppt_y"/>
                                          </p:val>
                                        </p:tav>
                                      </p:tavLst>
                                    </p:anim>
                                  </p:childTnLst>
                                </p:cTn>
                              </p:par>
                            </p:childTnLst>
                          </p:cTn>
                        </p:par>
                      </p:childTnLst>
                    </p:cTn>
                  </p:par>
                  <p:par>
                    <p:cTn id="212" fill="hold">
                      <p:stCondLst>
                        <p:cond delay="indefinite"/>
                      </p:stCondLst>
                      <p:childTnLst>
                        <p:par>
                          <p:cTn id="213" fill="hold">
                            <p:stCondLst>
                              <p:cond delay="0"/>
                            </p:stCondLst>
                            <p:childTnLst>
                              <p:par>
                                <p:cTn id="214" presetID="18" presetClass="entr" presetSubtype="6" fill="hold" grpId="0" nodeType="clickEffect">
                                  <p:stCondLst>
                                    <p:cond delay="0"/>
                                  </p:stCondLst>
                                  <p:childTnLst>
                                    <p:set>
                                      <p:cBhvr>
                                        <p:cTn id="215" dur="1" fill="hold">
                                          <p:stCondLst>
                                            <p:cond delay="0"/>
                                          </p:stCondLst>
                                        </p:cTn>
                                        <p:tgtEl>
                                          <p:spTgt spid="174090"/>
                                        </p:tgtEl>
                                        <p:attrNameLst>
                                          <p:attrName>style.visibility</p:attrName>
                                        </p:attrNameLst>
                                      </p:cBhvr>
                                      <p:to>
                                        <p:strVal val="visible"/>
                                      </p:to>
                                    </p:set>
                                    <p:animEffect transition="in" filter="strips(downRight)">
                                      <p:cBhvr>
                                        <p:cTn id="216" dur="500"/>
                                        <p:tgtEl>
                                          <p:spTgt spid="174090"/>
                                        </p:tgtEl>
                                      </p:cBhvr>
                                    </p:animEffect>
                                  </p:childTnLst>
                                </p:cTn>
                              </p:par>
                            </p:childTnLst>
                          </p:cTn>
                        </p:par>
                        <p:par>
                          <p:cTn id="217" fill="hold">
                            <p:stCondLst>
                              <p:cond delay="500"/>
                            </p:stCondLst>
                            <p:childTnLst>
                              <p:par>
                                <p:cTn id="218" presetID="18" presetClass="entr" presetSubtype="6" fill="hold" nodeType="afterEffect">
                                  <p:stCondLst>
                                    <p:cond delay="0"/>
                                  </p:stCondLst>
                                  <p:childTnLst>
                                    <p:set>
                                      <p:cBhvr>
                                        <p:cTn id="219" dur="1" fill="hold">
                                          <p:stCondLst>
                                            <p:cond delay="0"/>
                                          </p:stCondLst>
                                        </p:cTn>
                                        <p:tgtEl>
                                          <p:spTgt spid="174091"/>
                                        </p:tgtEl>
                                        <p:attrNameLst>
                                          <p:attrName>style.visibility</p:attrName>
                                        </p:attrNameLst>
                                      </p:cBhvr>
                                      <p:to>
                                        <p:strVal val="visible"/>
                                      </p:to>
                                    </p:set>
                                    <p:animEffect transition="in" filter="strips(downRight)">
                                      <p:cBhvr>
                                        <p:cTn id="220" dur="500"/>
                                        <p:tgtEl>
                                          <p:spTgt spid="174091"/>
                                        </p:tgtEl>
                                      </p:cBhvr>
                                    </p:animEffect>
                                  </p:childTnLst>
                                </p:cTn>
                              </p:par>
                            </p:childTnLst>
                          </p:cTn>
                        </p:par>
                      </p:childTnLst>
                    </p:cTn>
                  </p:par>
                  <p:par>
                    <p:cTn id="221" fill="hold">
                      <p:stCondLst>
                        <p:cond delay="indefinite"/>
                      </p:stCondLst>
                      <p:childTnLst>
                        <p:par>
                          <p:cTn id="222" fill="hold">
                            <p:stCondLst>
                              <p:cond delay="0"/>
                            </p:stCondLst>
                            <p:childTnLst>
                              <p:par>
                                <p:cTn id="223" presetID="18" presetClass="entr" presetSubtype="6" fill="hold" grpId="0" nodeType="clickEffect">
                                  <p:stCondLst>
                                    <p:cond delay="0"/>
                                  </p:stCondLst>
                                  <p:childTnLst>
                                    <p:set>
                                      <p:cBhvr>
                                        <p:cTn id="224" dur="1" fill="hold">
                                          <p:stCondLst>
                                            <p:cond delay="0"/>
                                          </p:stCondLst>
                                        </p:cTn>
                                        <p:tgtEl>
                                          <p:spTgt spid="174092"/>
                                        </p:tgtEl>
                                        <p:attrNameLst>
                                          <p:attrName>style.visibility</p:attrName>
                                        </p:attrNameLst>
                                      </p:cBhvr>
                                      <p:to>
                                        <p:strVal val="visible"/>
                                      </p:to>
                                    </p:set>
                                    <p:animEffect transition="in" filter="strips(downRight)">
                                      <p:cBhvr>
                                        <p:cTn id="225" dur="500"/>
                                        <p:tgtEl>
                                          <p:spTgt spid="174092"/>
                                        </p:tgtEl>
                                      </p:cBhvr>
                                    </p:animEffect>
                                  </p:childTnLst>
                                </p:cTn>
                              </p:par>
                            </p:childTnLst>
                          </p:cTn>
                        </p:par>
                        <p:par>
                          <p:cTn id="226" fill="hold">
                            <p:stCondLst>
                              <p:cond delay="500"/>
                            </p:stCondLst>
                            <p:childTnLst>
                              <p:par>
                                <p:cTn id="227" presetID="18" presetClass="entr" presetSubtype="6" fill="hold" grpId="0" nodeType="afterEffect">
                                  <p:stCondLst>
                                    <p:cond delay="0"/>
                                  </p:stCondLst>
                                  <p:childTnLst>
                                    <p:set>
                                      <p:cBhvr>
                                        <p:cTn id="228" dur="1" fill="hold">
                                          <p:stCondLst>
                                            <p:cond delay="0"/>
                                          </p:stCondLst>
                                        </p:cTn>
                                        <p:tgtEl>
                                          <p:spTgt spid="174093"/>
                                        </p:tgtEl>
                                        <p:attrNameLst>
                                          <p:attrName>style.visibility</p:attrName>
                                        </p:attrNameLst>
                                      </p:cBhvr>
                                      <p:to>
                                        <p:strVal val="visible"/>
                                      </p:to>
                                    </p:set>
                                    <p:animEffect transition="in" filter="strips(downRight)">
                                      <p:cBhvr>
                                        <p:cTn id="229" dur="500"/>
                                        <p:tgtEl>
                                          <p:spTgt spid="174093"/>
                                        </p:tgtEl>
                                      </p:cBhvr>
                                    </p:animEffect>
                                  </p:childTnLst>
                                </p:cTn>
                              </p:par>
                            </p:childTnLst>
                          </p:cTn>
                        </p:par>
                        <p:par>
                          <p:cTn id="230" fill="hold">
                            <p:stCondLst>
                              <p:cond delay="1000"/>
                            </p:stCondLst>
                            <p:childTnLst>
                              <p:par>
                                <p:cTn id="231" presetID="18" presetClass="entr" presetSubtype="6" fill="hold" grpId="0" nodeType="afterEffect">
                                  <p:stCondLst>
                                    <p:cond delay="0"/>
                                  </p:stCondLst>
                                  <p:childTnLst>
                                    <p:set>
                                      <p:cBhvr>
                                        <p:cTn id="232" dur="1" fill="hold">
                                          <p:stCondLst>
                                            <p:cond delay="0"/>
                                          </p:stCondLst>
                                        </p:cTn>
                                        <p:tgtEl>
                                          <p:spTgt spid="174094"/>
                                        </p:tgtEl>
                                        <p:attrNameLst>
                                          <p:attrName>style.visibility</p:attrName>
                                        </p:attrNameLst>
                                      </p:cBhvr>
                                      <p:to>
                                        <p:strVal val="visible"/>
                                      </p:to>
                                    </p:set>
                                    <p:animEffect transition="in" filter="strips(downRight)">
                                      <p:cBhvr>
                                        <p:cTn id="233" dur="500"/>
                                        <p:tgtEl>
                                          <p:spTgt spid="174094"/>
                                        </p:tgtEl>
                                      </p:cBhvr>
                                    </p:animEffect>
                                  </p:childTnLst>
                                </p:cTn>
                              </p:par>
                            </p:childTnLst>
                          </p:cTn>
                        </p:par>
                        <p:par>
                          <p:cTn id="234" fill="hold">
                            <p:stCondLst>
                              <p:cond delay="1500"/>
                            </p:stCondLst>
                            <p:childTnLst>
                              <p:par>
                                <p:cTn id="235" presetID="18" presetClass="entr" presetSubtype="6" fill="hold" grpId="0" nodeType="afterEffect">
                                  <p:stCondLst>
                                    <p:cond delay="0"/>
                                  </p:stCondLst>
                                  <p:childTnLst>
                                    <p:set>
                                      <p:cBhvr>
                                        <p:cTn id="236" dur="1" fill="hold">
                                          <p:stCondLst>
                                            <p:cond delay="0"/>
                                          </p:stCondLst>
                                        </p:cTn>
                                        <p:tgtEl>
                                          <p:spTgt spid="174095"/>
                                        </p:tgtEl>
                                        <p:attrNameLst>
                                          <p:attrName>style.visibility</p:attrName>
                                        </p:attrNameLst>
                                      </p:cBhvr>
                                      <p:to>
                                        <p:strVal val="visible"/>
                                      </p:to>
                                    </p:set>
                                    <p:animEffect transition="in" filter="strips(downRight)">
                                      <p:cBhvr>
                                        <p:cTn id="237" dur="500"/>
                                        <p:tgtEl>
                                          <p:spTgt spid="174095"/>
                                        </p:tgtEl>
                                      </p:cBhvr>
                                    </p:animEffect>
                                  </p:childTnLst>
                                </p:cTn>
                              </p:par>
                            </p:childTnLst>
                          </p:cTn>
                        </p:par>
                      </p:childTnLst>
                    </p:cTn>
                  </p:par>
                  <p:par>
                    <p:cTn id="238" fill="hold">
                      <p:stCondLst>
                        <p:cond delay="indefinite"/>
                      </p:stCondLst>
                      <p:childTnLst>
                        <p:par>
                          <p:cTn id="239" fill="hold">
                            <p:stCondLst>
                              <p:cond delay="0"/>
                            </p:stCondLst>
                            <p:childTnLst>
                              <p:par>
                                <p:cTn id="240" presetID="18" presetClass="entr" presetSubtype="12" fill="hold" grpId="0" nodeType="clickEffect">
                                  <p:stCondLst>
                                    <p:cond delay="0"/>
                                  </p:stCondLst>
                                  <p:childTnLst>
                                    <p:set>
                                      <p:cBhvr>
                                        <p:cTn id="241" dur="1" fill="hold">
                                          <p:stCondLst>
                                            <p:cond delay="0"/>
                                          </p:stCondLst>
                                        </p:cTn>
                                        <p:tgtEl>
                                          <p:spTgt spid="174096"/>
                                        </p:tgtEl>
                                        <p:attrNameLst>
                                          <p:attrName>style.visibility</p:attrName>
                                        </p:attrNameLst>
                                      </p:cBhvr>
                                      <p:to>
                                        <p:strVal val="visible"/>
                                      </p:to>
                                    </p:set>
                                    <p:animEffect transition="in" filter="strips(downLeft)">
                                      <p:cBhvr>
                                        <p:cTn id="242" dur="500"/>
                                        <p:tgtEl>
                                          <p:spTgt spid="174096"/>
                                        </p:tgtEl>
                                      </p:cBhvr>
                                    </p:animEffect>
                                  </p:childTnLst>
                                </p:cTn>
                              </p:par>
                            </p:childTnLst>
                          </p:cTn>
                        </p:par>
                        <p:par>
                          <p:cTn id="243" fill="hold">
                            <p:stCondLst>
                              <p:cond delay="500"/>
                            </p:stCondLst>
                            <p:childTnLst>
                              <p:par>
                                <p:cTn id="244" presetID="18" presetClass="entr" presetSubtype="12" fill="hold" nodeType="afterEffect">
                                  <p:stCondLst>
                                    <p:cond delay="0"/>
                                  </p:stCondLst>
                                  <p:childTnLst>
                                    <p:set>
                                      <p:cBhvr>
                                        <p:cTn id="245" dur="1" fill="hold">
                                          <p:stCondLst>
                                            <p:cond delay="0"/>
                                          </p:stCondLst>
                                        </p:cTn>
                                        <p:tgtEl>
                                          <p:spTgt spid="174139"/>
                                        </p:tgtEl>
                                        <p:attrNameLst>
                                          <p:attrName>style.visibility</p:attrName>
                                        </p:attrNameLst>
                                      </p:cBhvr>
                                      <p:to>
                                        <p:strVal val="visible"/>
                                      </p:to>
                                    </p:set>
                                    <p:animEffect transition="in" filter="strips(downLeft)">
                                      <p:cBhvr>
                                        <p:cTn id="246" dur="500"/>
                                        <p:tgtEl>
                                          <p:spTgt spid="174139"/>
                                        </p:tgtEl>
                                      </p:cBhvr>
                                    </p:animEffect>
                                  </p:childTnLst>
                                </p:cTn>
                              </p:par>
                              <p:par>
                                <p:cTn id="247" presetID="18" presetClass="entr" presetSubtype="6" fill="hold" grpId="0" nodeType="withEffect">
                                  <p:stCondLst>
                                    <p:cond delay="0"/>
                                  </p:stCondLst>
                                  <p:childTnLst>
                                    <p:set>
                                      <p:cBhvr>
                                        <p:cTn id="248" dur="1" fill="hold">
                                          <p:stCondLst>
                                            <p:cond delay="0"/>
                                          </p:stCondLst>
                                        </p:cTn>
                                        <p:tgtEl>
                                          <p:spTgt spid="174098"/>
                                        </p:tgtEl>
                                        <p:attrNameLst>
                                          <p:attrName>style.visibility</p:attrName>
                                        </p:attrNameLst>
                                      </p:cBhvr>
                                      <p:to>
                                        <p:strVal val="visible"/>
                                      </p:to>
                                    </p:set>
                                    <p:animEffect transition="in" filter="strips(downRight)">
                                      <p:cBhvr>
                                        <p:cTn id="249" dur="500"/>
                                        <p:tgtEl>
                                          <p:spTgt spid="174098"/>
                                        </p:tgtEl>
                                      </p:cBhvr>
                                    </p:animEffect>
                                  </p:childTnLst>
                                </p:cTn>
                              </p:par>
                              <p:par>
                                <p:cTn id="250" presetID="18" presetClass="entr" presetSubtype="6" fill="hold" grpId="0" nodeType="withEffect">
                                  <p:stCondLst>
                                    <p:cond delay="0"/>
                                  </p:stCondLst>
                                  <p:childTnLst>
                                    <p:set>
                                      <p:cBhvr>
                                        <p:cTn id="251" dur="1" fill="hold">
                                          <p:stCondLst>
                                            <p:cond delay="0"/>
                                          </p:stCondLst>
                                        </p:cTn>
                                        <p:tgtEl>
                                          <p:spTgt spid="174100"/>
                                        </p:tgtEl>
                                        <p:attrNameLst>
                                          <p:attrName>style.visibility</p:attrName>
                                        </p:attrNameLst>
                                      </p:cBhvr>
                                      <p:to>
                                        <p:strVal val="visible"/>
                                      </p:to>
                                    </p:set>
                                    <p:animEffect transition="in" filter="strips(downRight)">
                                      <p:cBhvr>
                                        <p:cTn id="252" dur="500"/>
                                        <p:tgtEl>
                                          <p:spTgt spid="174100"/>
                                        </p:tgtEl>
                                      </p:cBhvr>
                                    </p:animEffect>
                                  </p:childTnLst>
                                </p:cTn>
                              </p:par>
                            </p:childTnLst>
                          </p:cTn>
                        </p:par>
                      </p:childTnLst>
                    </p:cTn>
                  </p:par>
                  <p:par>
                    <p:cTn id="253" fill="hold">
                      <p:stCondLst>
                        <p:cond delay="indefinite"/>
                      </p:stCondLst>
                      <p:childTnLst>
                        <p:par>
                          <p:cTn id="254" fill="hold">
                            <p:stCondLst>
                              <p:cond delay="0"/>
                            </p:stCondLst>
                            <p:childTnLst>
                              <p:par>
                                <p:cTn id="255" presetID="18" presetClass="entr" presetSubtype="12" fill="hold" grpId="0" nodeType="clickEffect">
                                  <p:stCondLst>
                                    <p:cond delay="0"/>
                                  </p:stCondLst>
                                  <p:childTnLst>
                                    <p:set>
                                      <p:cBhvr>
                                        <p:cTn id="256" dur="1" fill="hold">
                                          <p:stCondLst>
                                            <p:cond delay="0"/>
                                          </p:stCondLst>
                                        </p:cTn>
                                        <p:tgtEl>
                                          <p:spTgt spid="174097"/>
                                        </p:tgtEl>
                                        <p:attrNameLst>
                                          <p:attrName>style.visibility</p:attrName>
                                        </p:attrNameLst>
                                      </p:cBhvr>
                                      <p:to>
                                        <p:strVal val="visible"/>
                                      </p:to>
                                    </p:set>
                                    <p:animEffect transition="in" filter="strips(downLeft)">
                                      <p:cBhvr>
                                        <p:cTn id="257" dur="500"/>
                                        <p:tgtEl>
                                          <p:spTgt spid="174097"/>
                                        </p:tgtEl>
                                      </p:cBhvr>
                                    </p:animEffect>
                                  </p:childTnLst>
                                </p:cTn>
                              </p:par>
                            </p:childTnLst>
                          </p:cTn>
                        </p:par>
                        <p:par>
                          <p:cTn id="258" fill="hold">
                            <p:stCondLst>
                              <p:cond delay="500"/>
                            </p:stCondLst>
                            <p:childTnLst>
                              <p:par>
                                <p:cTn id="259" presetID="18" presetClass="entr" presetSubtype="12" fill="hold" nodeType="afterEffect">
                                  <p:stCondLst>
                                    <p:cond delay="0"/>
                                  </p:stCondLst>
                                  <p:childTnLst>
                                    <p:set>
                                      <p:cBhvr>
                                        <p:cTn id="260" dur="1" fill="hold">
                                          <p:stCondLst>
                                            <p:cond delay="0"/>
                                          </p:stCondLst>
                                        </p:cTn>
                                        <p:tgtEl>
                                          <p:spTgt spid="174140"/>
                                        </p:tgtEl>
                                        <p:attrNameLst>
                                          <p:attrName>style.visibility</p:attrName>
                                        </p:attrNameLst>
                                      </p:cBhvr>
                                      <p:to>
                                        <p:strVal val="visible"/>
                                      </p:to>
                                    </p:set>
                                    <p:animEffect transition="in" filter="strips(downLeft)">
                                      <p:cBhvr>
                                        <p:cTn id="261" dur="500"/>
                                        <p:tgtEl>
                                          <p:spTgt spid="174140"/>
                                        </p:tgtEl>
                                      </p:cBhvr>
                                    </p:animEffect>
                                  </p:childTnLst>
                                </p:cTn>
                              </p:par>
                              <p:par>
                                <p:cTn id="262" presetID="18" presetClass="entr" presetSubtype="6" fill="hold" grpId="0" nodeType="withEffect">
                                  <p:stCondLst>
                                    <p:cond delay="0"/>
                                  </p:stCondLst>
                                  <p:childTnLst>
                                    <p:set>
                                      <p:cBhvr>
                                        <p:cTn id="263" dur="1" fill="hold">
                                          <p:stCondLst>
                                            <p:cond delay="0"/>
                                          </p:stCondLst>
                                        </p:cTn>
                                        <p:tgtEl>
                                          <p:spTgt spid="174099"/>
                                        </p:tgtEl>
                                        <p:attrNameLst>
                                          <p:attrName>style.visibility</p:attrName>
                                        </p:attrNameLst>
                                      </p:cBhvr>
                                      <p:to>
                                        <p:strVal val="visible"/>
                                      </p:to>
                                    </p:set>
                                    <p:animEffect transition="in" filter="strips(downRight)">
                                      <p:cBhvr>
                                        <p:cTn id="264" dur="500"/>
                                        <p:tgtEl>
                                          <p:spTgt spid="174099"/>
                                        </p:tgtEl>
                                      </p:cBhvr>
                                    </p:animEffect>
                                  </p:childTnLst>
                                </p:cTn>
                              </p:par>
                              <p:par>
                                <p:cTn id="265" presetID="18" presetClass="entr" presetSubtype="6" fill="hold" grpId="0" nodeType="withEffect">
                                  <p:stCondLst>
                                    <p:cond delay="0"/>
                                  </p:stCondLst>
                                  <p:childTnLst>
                                    <p:set>
                                      <p:cBhvr>
                                        <p:cTn id="266" dur="1" fill="hold">
                                          <p:stCondLst>
                                            <p:cond delay="0"/>
                                          </p:stCondLst>
                                        </p:cTn>
                                        <p:tgtEl>
                                          <p:spTgt spid="174101"/>
                                        </p:tgtEl>
                                        <p:attrNameLst>
                                          <p:attrName>style.visibility</p:attrName>
                                        </p:attrNameLst>
                                      </p:cBhvr>
                                      <p:to>
                                        <p:strVal val="visible"/>
                                      </p:to>
                                    </p:set>
                                    <p:animEffect transition="in" filter="strips(downRight)">
                                      <p:cBhvr>
                                        <p:cTn id="267" dur="500"/>
                                        <p:tgtEl>
                                          <p:spTgt spid="174101"/>
                                        </p:tgtEl>
                                      </p:cBhvr>
                                    </p:animEffect>
                                  </p:childTnLst>
                                </p:cTn>
                              </p:par>
                            </p:childTnLst>
                          </p:cTn>
                        </p:par>
                      </p:childTnLst>
                    </p:cTn>
                  </p:par>
                  <p:par>
                    <p:cTn id="268" fill="hold">
                      <p:stCondLst>
                        <p:cond delay="indefinite"/>
                      </p:stCondLst>
                      <p:childTnLst>
                        <p:par>
                          <p:cTn id="269" fill="hold">
                            <p:stCondLst>
                              <p:cond delay="0"/>
                            </p:stCondLst>
                            <p:childTnLst>
                              <p:par>
                                <p:cTn id="270" presetID="2" presetClass="entr" presetSubtype="4" fill="hold" grpId="0" nodeType="clickEffect">
                                  <p:stCondLst>
                                    <p:cond delay="0"/>
                                  </p:stCondLst>
                                  <p:childTnLst>
                                    <p:set>
                                      <p:cBhvr>
                                        <p:cTn id="271" dur="1" fill="hold">
                                          <p:stCondLst>
                                            <p:cond delay="0"/>
                                          </p:stCondLst>
                                        </p:cTn>
                                        <p:tgtEl>
                                          <p:spTgt spid="174104"/>
                                        </p:tgtEl>
                                        <p:attrNameLst>
                                          <p:attrName>style.visibility</p:attrName>
                                        </p:attrNameLst>
                                      </p:cBhvr>
                                      <p:to>
                                        <p:strVal val="visible"/>
                                      </p:to>
                                    </p:set>
                                    <p:anim calcmode="lin" valueType="num">
                                      <p:cBhvr>
                                        <p:cTn id="272" dur="500" fill="hold"/>
                                        <p:tgtEl>
                                          <p:spTgt spid="174104"/>
                                        </p:tgtEl>
                                        <p:attrNameLst>
                                          <p:attrName>ppt_x</p:attrName>
                                        </p:attrNameLst>
                                      </p:cBhvr>
                                      <p:tavLst>
                                        <p:tav tm="0">
                                          <p:val>
                                            <p:strVal val="#ppt_x"/>
                                          </p:val>
                                        </p:tav>
                                        <p:tav tm="100000">
                                          <p:val>
                                            <p:strVal val="#ppt_x"/>
                                          </p:val>
                                        </p:tav>
                                      </p:tavLst>
                                    </p:anim>
                                    <p:anim calcmode="lin" valueType="num">
                                      <p:cBhvr>
                                        <p:cTn id="273" dur="500" fill="hold"/>
                                        <p:tgtEl>
                                          <p:spTgt spid="174104"/>
                                        </p:tgtEl>
                                        <p:attrNameLst>
                                          <p:attrName>ppt_y</p:attrName>
                                        </p:attrNameLst>
                                      </p:cBhvr>
                                      <p:tavLst>
                                        <p:tav tm="0">
                                          <p:val>
                                            <p:strVal val="1+#ppt_h/2"/>
                                          </p:val>
                                        </p:tav>
                                        <p:tav tm="100000">
                                          <p:val>
                                            <p:strVal val="#ppt_y"/>
                                          </p:val>
                                        </p:tav>
                                      </p:tavLst>
                                    </p:anim>
                                  </p:childTnLst>
                                </p:cTn>
                              </p:par>
                            </p:childTnLst>
                          </p:cTn>
                        </p:par>
                        <p:par>
                          <p:cTn id="274" fill="hold">
                            <p:stCondLst>
                              <p:cond delay="500"/>
                            </p:stCondLst>
                            <p:childTnLst>
                              <p:par>
                                <p:cTn id="275" presetID="18" presetClass="entr" presetSubtype="6" fill="hold" grpId="0" nodeType="afterEffect">
                                  <p:stCondLst>
                                    <p:cond delay="500"/>
                                  </p:stCondLst>
                                  <p:childTnLst>
                                    <p:set>
                                      <p:cBhvr>
                                        <p:cTn id="276" dur="1" fill="hold">
                                          <p:stCondLst>
                                            <p:cond delay="0"/>
                                          </p:stCondLst>
                                        </p:cTn>
                                        <p:tgtEl>
                                          <p:spTgt spid="174105"/>
                                        </p:tgtEl>
                                        <p:attrNameLst>
                                          <p:attrName>style.visibility</p:attrName>
                                        </p:attrNameLst>
                                      </p:cBhvr>
                                      <p:to>
                                        <p:strVal val="visible"/>
                                      </p:to>
                                    </p:set>
                                    <p:animEffect transition="in" filter="strips(downRight)">
                                      <p:cBhvr>
                                        <p:cTn id="277" dur="500"/>
                                        <p:tgtEl>
                                          <p:spTgt spid="174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4" grpId="0" animBg="1"/>
      <p:bldP spid="174090" grpId="0"/>
      <p:bldP spid="174092" grpId="0"/>
      <p:bldP spid="174093" grpId="0"/>
      <p:bldP spid="174094" grpId="0"/>
      <p:bldP spid="174095" grpId="0"/>
      <p:bldP spid="174096" grpId="0" animBg="1"/>
      <p:bldP spid="174097" grpId="0" animBg="1"/>
      <p:bldP spid="174098" grpId="0"/>
      <p:bldP spid="174099" grpId="0"/>
      <p:bldP spid="174100" grpId="0" animBg="1"/>
      <p:bldP spid="174101" grpId="0" animBg="1"/>
      <p:bldP spid="174104" grpId="0"/>
      <p:bldP spid="174105" grpId="0"/>
      <p:bldP spid="174106" grpId="0" animBg="1"/>
      <p:bldP spid="174107" grpId="0" animBg="1"/>
      <p:bldP spid="174108" grpId="0"/>
      <p:bldP spid="174109" grpId="0"/>
      <p:bldP spid="174110" grpId="0"/>
      <p:bldP spid="174112" grpId="0" animBg="1"/>
      <p:bldP spid="174120" grpId="0" animBg="1"/>
      <p:bldP spid="174121" grpId="0"/>
      <p:bldP spid="174123" grpId="0"/>
      <p:bldP spid="174123" grpId="1"/>
      <p:bldP spid="174124" grpId="0"/>
      <p:bldP spid="174125" grpId="0"/>
      <p:bldP spid="174126" grpId="0"/>
      <p:bldP spid="174127" grpId="0"/>
      <p:bldP spid="174128" grpId="0"/>
      <p:bldP spid="174129" grpId="0"/>
      <p:bldP spid="174132" grpId="0"/>
      <p:bldP spid="174133" grpId="0"/>
      <p:bldP spid="174133" grpId="1"/>
      <p:bldP spid="174135" grpId="0"/>
      <p:bldP spid="174137" grpId="0"/>
      <p:bldP spid="174137" grpId="1"/>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Grp="1"/>
          </p:cNvSpPr>
          <p:nvPr>
            <p:ph type="title" idx="4294967295"/>
          </p:nvPr>
        </p:nvSpPr>
        <p:spPr>
          <a:xfrm>
            <a:off x="614363" y="962025"/>
            <a:ext cx="1220787" cy="563563"/>
          </a:xfrm>
        </p:spPr>
        <p:txBody>
          <a:bodyPr vert="horz" wrap="square" lIns="91440" tIns="45720" rIns="91440" bIns="45720" anchor="ctr" anchorCtr="0"/>
          <a:p>
            <a:pPr marL="457200" indent="-457200" eaLnBrk="1" hangingPunct="1">
              <a:buFont typeface="Wingdings" panose="05000000000000000000" pitchFamily="2" charset="2"/>
              <a:buChar char="Ø"/>
            </a:pPr>
            <a:r>
              <a:rPr lang="zh-CN" altLang="en-US" dirty="0">
                <a:solidFill>
                  <a:srgbClr val="000033"/>
                </a:solidFill>
                <a:ea typeface="宋体" panose="02010600030101010101" pitchFamily="2" charset="-122"/>
              </a:rPr>
              <a:t>例</a:t>
            </a:r>
            <a:endParaRPr lang="zh-CN" altLang="en-US" dirty="0">
              <a:solidFill>
                <a:srgbClr val="000033"/>
              </a:solidFill>
              <a:ea typeface="宋体" panose="02010600030101010101" pitchFamily="2" charset="-122"/>
            </a:endParaRPr>
          </a:p>
        </p:txBody>
      </p:sp>
      <p:sp>
        <p:nvSpPr>
          <p:cNvPr id="175107" name="Rectangle 3"/>
          <p:cNvSpPr>
            <a:spLocks noGrp="1"/>
          </p:cNvSpPr>
          <p:nvPr>
            <p:ph type="body" idx="4294967295"/>
          </p:nvPr>
        </p:nvSpPr>
        <p:spPr>
          <a:xfrm>
            <a:off x="395288" y="2133600"/>
            <a:ext cx="3744912" cy="3322638"/>
          </a:xfrm>
        </p:spPr>
        <p:txBody>
          <a:bodyPr vert="horz" wrap="square" lIns="91440" tIns="45720" rIns="91440" bIns="45720" anchor="t" anchorCtr="0"/>
          <a:p>
            <a:pPr eaLnBrk="1" hangingPunct="1">
              <a:spcAft>
                <a:spcPct val="45000"/>
              </a:spcAft>
              <a:buNone/>
            </a:pPr>
            <a:r>
              <a:rPr lang="zh-CN" altLang="en-US" sz="2400" dirty="0">
                <a:latin typeface="Times New Roman" panose="02020603050405020304" pitchFamily="18" charset="0"/>
                <a:ea typeface="宋体" panose="02010600030101010101" pitchFamily="2" charset="-122"/>
              </a:rPr>
              <a:t>执行程序段：</a:t>
            </a:r>
            <a:endParaRPr lang="zh-CN" altLang="en-US" sz="2400" dirty="0">
              <a:latin typeface="Times New Roman" panose="02020603050405020304" pitchFamily="18" charset="0"/>
              <a:ea typeface="宋体" panose="02010600030101010101" pitchFamily="2" charset="-122"/>
            </a:endParaRPr>
          </a:p>
          <a:p>
            <a:pPr eaLnBrk="1" hangingPunct="1">
              <a:buNone/>
            </a:pPr>
            <a:r>
              <a:rPr lang="en-US" altLang="zh-CN" sz="20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CS       IP                </a:t>
            </a:r>
            <a:endParaRPr lang="en-US" altLang="zh-CN" sz="2400" dirty="0">
              <a:latin typeface="Times New Roman" panose="02020603050405020304" pitchFamily="18" charset="0"/>
              <a:ea typeface="宋体" panose="02010600030101010101" pitchFamily="2" charset="-122"/>
            </a:endParaRPr>
          </a:p>
          <a:p>
            <a:pPr eaLnBrk="1" hangingPunct="1">
              <a:buNone/>
            </a:pPr>
            <a:r>
              <a:rPr lang="en-US" altLang="zh-CN" sz="2400" dirty="0">
                <a:latin typeface="Times New Roman" panose="02020603050405020304" pitchFamily="18" charset="0"/>
                <a:ea typeface="宋体" panose="02010600030101010101" pitchFamily="2" charset="-122"/>
              </a:rPr>
              <a:t>                          </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000" dirty="0">
                <a:latin typeface="Times New Roman" panose="02020603050405020304" pitchFamily="18" charset="0"/>
                <a:ea typeface="宋体" panose="02010600030101010101" pitchFamily="2" charset="-122"/>
              </a:rPr>
              <a:t>6200H:0110H   INT  21H</a:t>
            </a:r>
            <a:endParaRPr lang="en-US" altLang="zh-CN" sz="2000" dirty="0">
              <a:latin typeface="Times New Roman" panose="02020603050405020304" pitchFamily="18" charset="0"/>
              <a:ea typeface="宋体" panose="02010600030101010101" pitchFamily="2" charset="-122"/>
            </a:endParaRPr>
          </a:p>
          <a:p>
            <a:pPr eaLnBrk="1" hangingPunct="1">
              <a:buNone/>
            </a:pPr>
            <a:r>
              <a:rPr lang="en-US" altLang="zh-CN" sz="2000" dirty="0">
                <a:latin typeface="Times New Roman" panose="02020603050405020304" pitchFamily="18" charset="0"/>
                <a:ea typeface="宋体" panose="02010600030101010101" pitchFamily="2" charset="-122"/>
              </a:rPr>
              <a:t>6200H:0112H   MOV  AX</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BX</a:t>
            </a:r>
            <a:endParaRPr lang="en-US" altLang="zh-CN" sz="2000" dirty="0">
              <a:latin typeface="Times New Roman" panose="02020603050405020304" pitchFamily="18" charset="0"/>
              <a:ea typeface="宋体" panose="02010600030101010101" pitchFamily="2" charset="-122"/>
            </a:endParaRPr>
          </a:p>
          <a:p>
            <a:pPr eaLnBrk="1" hangingPunct="1">
              <a:buNone/>
            </a:pPr>
            <a:r>
              <a:rPr lang="en-US" altLang="zh-CN" sz="2400" dirty="0">
                <a:latin typeface="Times New Roman" panose="02020603050405020304" pitchFamily="18" charset="0"/>
                <a:ea typeface="宋体" panose="02010600030101010101" pitchFamily="2" charset="-122"/>
              </a:rPr>
              <a:t>                          </a:t>
            </a:r>
            <a:r>
              <a:rPr lang="en-US" altLang="zh-CN"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p:txBody>
      </p:sp>
      <p:sp>
        <p:nvSpPr>
          <p:cNvPr id="175108" name="Rectangle 22"/>
          <p:cNvSpPr/>
          <p:nvPr/>
        </p:nvSpPr>
        <p:spPr>
          <a:xfrm>
            <a:off x="6713538" y="2727325"/>
            <a:ext cx="1601787" cy="358140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5109" name="Line 23"/>
          <p:cNvSpPr/>
          <p:nvPr/>
        </p:nvSpPr>
        <p:spPr>
          <a:xfrm>
            <a:off x="6713538" y="3656013"/>
            <a:ext cx="1600200" cy="0"/>
          </a:xfrm>
          <a:prstGeom prst="line">
            <a:avLst/>
          </a:prstGeom>
          <a:ln w="25400" cap="sq" cmpd="sng">
            <a:solidFill>
              <a:schemeClr val="tx1"/>
            </a:solidFill>
            <a:prstDash val="solid"/>
            <a:headEnd type="none" w="med" len="med"/>
            <a:tailEnd type="none" w="med" len="med"/>
          </a:ln>
        </p:spPr>
      </p:sp>
      <p:sp>
        <p:nvSpPr>
          <p:cNvPr id="175110" name="Line 24"/>
          <p:cNvSpPr/>
          <p:nvPr/>
        </p:nvSpPr>
        <p:spPr>
          <a:xfrm>
            <a:off x="6713538" y="4037013"/>
            <a:ext cx="1600200" cy="0"/>
          </a:xfrm>
          <a:prstGeom prst="line">
            <a:avLst/>
          </a:prstGeom>
          <a:ln w="25400" cap="sq" cmpd="sng">
            <a:solidFill>
              <a:schemeClr val="tx1"/>
            </a:solidFill>
            <a:prstDash val="solid"/>
            <a:headEnd type="none" w="med" len="med"/>
            <a:tailEnd type="none" w="med" len="med"/>
          </a:ln>
        </p:spPr>
      </p:sp>
      <p:sp>
        <p:nvSpPr>
          <p:cNvPr id="175111" name="Line 25"/>
          <p:cNvSpPr/>
          <p:nvPr/>
        </p:nvSpPr>
        <p:spPr>
          <a:xfrm>
            <a:off x="6713538" y="4418013"/>
            <a:ext cx="1600200" cy="0"/>
          </a:xfrm>
          <a:prstGeom prst="line">
            <a:avLst/>
          </a:prstGeom>
          <a:ln w="25400" cap="sq" cmpd="sng">
            <a:solidFill>
              <a:schemeClr val="tx1"/>
            </a:solidFill>
            <a:prstDash val="solid"/>
            <a:headEnd type="none" w="med" len="med"/>
            <a:tailEnd type="none" w="med" len="med"/>
          </a:ln>
        </p:spPr>
      </p:sp>
      <p:sp>
        <p:nvSpPr>
          <p:cNvPr id="175112" name="Line 26"/>
          <p:cNvSpPr/>
          <p:nvPr/>
        </p:nvSpPr>
        <p:spPr>
          <a:xfrm>
            <a:off x="6715125" y="3275013"/>
            <a:ext cx="1600200" cy="0"/>
          </a:xfrm>
          <a:prstGeom prst="line">
            <a:avLst/>
          </a:prstGeom>
          <a:ln w="25400" cap="sq" cmpd="sng">
            <a:solidFill>
              <a:schemeClr val="tx1"/>
            </a:solidFill>
            <a:prstDash val="solid"/>
            <a:headEnd type="none" w="med" len="med"/>
            <a:tailEnd type="none" w="med" len="med"/>
          </a:ln>
        </p:spPr>
      </p:sp>
      <p:sp>
        <p:nvSpPr>
          <p:cNvPr id="175113" name="Line 27"/>
          <p:cNvSpPr/>
          <p:nvPr/>
        </p:nvSpPr>
        <p:spPr>
          <a:xfrm>
            <a:off x="6715125" y="4799013"/>
            <a:ext cx="1600200" cy="0"/>
          </a:xfrm>
          <a:prstGeom prst="line">
            <a:avLst/>
          </a:prstGeom>
          <a:ln w="25400" cap="sq" cmpd="sng">
            <a:solidFill>
              <a:schemeClr val="tx1"/>
            </a:solidFill>
            <a:prstDash val="solid"/>
            <a:headEnd type="none" w="med" len="med"/>
            <a:tailEnd type="none" w="med" len="med"/>
          </a:ln>
        </p:spPr>
      </p:sp>
      <p:sp>
        <p:nvSpPr>
          <p:cNvPr id="175114" name="Line 28"/>
          <p:cNvSpPr/>
          <p:nvPr/>
        </p:nvSpPr>
        <p:spPr>
          <a:xfrm>
            <a:off x="5953125" y="5741988"/>
            <a:ext cx="609600" cy="0"/>
          </a:xfrm>
          <a:prstGeom prst="line">
            <a:avLst/>
          </a:prstGeom>
          <a:ln w="25400" cap="sq" cmpd="sng">
            <a:solidFill>
              <a:srgbClr val="FF6600"/>
            </a:solidFill>
            <a:prstDash val="solid"/>
            <a:headEnd type="none" w="med" len="med"/>
            <a:tailEnd type="triangle" w="lg" len="lg"/>
          </a:ln>
        </p:spPr>
      </p:sp>
      <p:sp>
        <p:nvSpPr>
          <p:cNvPr id="175115" name="Text Box 29"/>
          <p:cNvSpPr txBox="1"/>
          <p:nvPr/>
        </p:nvSpPr>
        <p:spPr>
          <a:xfrm>
            <a:off x="7167563" y="3260725"/>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12H</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75116" name="Text Box 30"/>
          <p:cNvSpPr txBox="1"/>
          <p:nvPr/>
        </p:nvSpPr>
        <p:spPr>
          <a:xfrm>
            <a:off x="7138988" y="3641725"/>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01H</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75117" name="Text Box 31"/>
          <p:cNvSpPr txBox="1"/>
          <p:nvPr/>
        </p:nvSpPr>
        <p:spPr>
          <a:xfrm>
            <a:off x="7110413" y="4022725"/>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00H</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75118" name="Text Box 32"/>
          <p:cNvSpPr txBox="1"/>
          <p:nvPr/>
        </p:nvSpPr>
        <p:spPr>
          <a:xfrm>
            <a:off x="7110413" y="4403725"/>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62H</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75119" name="Text Box 36"/>
          <p:cNvSpPr txBox="1"/>
          <p:nvPr/>
        </p:nvSpPr>
        <p:spPr>
          <a:xfrm>
            <a:off x="4752975" y="5522913"/>
            <a:ext cx="1419225"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SP=1200</a:t>
            </a:r>
            <a:endParaRPr lang="en-US" altLang="zh-CN" sz="2000" b="1" dirty="0">
              <a:latin typeface="Times New Roman" panose="02020603050405020304" pitchFamily="18" charset="0"/>
              <a:ea typeface="宋体" panose="02010600030101010101" pitchFamily="2" charset="-122"/>
            </a:endParaRPr>
          </a:p>
        </p:txBody>
      </p:sp>
      <p:sp>
        <p:nvSpPr>
          <p:cNvPr id="175120" name="Line 37"/>
          <p:cNvSpPr/>
          <p:nvPr/>
        </p:nvSpPr>
        <p:spPr>
          <a:xfrm>
            <a:off x="6715125" y="5970588"/>
            <a:ext cx="1600200" cy="0"/>
          </a:xfrm>
          <a:prstGeom prst="line">
            <a:avLst/>
          </a:prstGeom>
          <a:ln w="25400" cap="sq" cmpd="sng">
            <a:solidFill>
              <a:schemeClr val="tx1"/>
            </a:solidFill>
            <a:prstDash val="solid"/>
            <a:headEnd type="none" w="med" len="med"/>
            <a:tailEnd type="none" w="med" len="med"/>
          </a:ln>
        </p:spPr>
      </p:sp>
      <p:sp>
        <p:nvSpPr>
          <p:cNvPr id="175121" name="Rectangle 38"/>
          <p:cNvSpPr/>
          <p:nvPr/>
        </p:nvSpPr>
        <p:spPr>
          <a:xfrm>
            <a:off x="6715125" y="5561013"/>
            <a:ext cx="1600200" cy="381000"/>
          </a:xfrm>
          <a:prstGeom prst="rect">
            <a:avLst/>
          </a:prstGeom>
          <a:solidFill>
            <a:srgbClr val="C0C0C0"/>
          </a:solidFill>
          <a:ln w="25400" cap="sq" cmpd="sng">
            <a:solidFill>
              <a:srgbClr val="C0C0C0"/>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5122" name="Line 39"/>
          <p:cNvSpPr/>
          <p:nvPr/>
        </p:nvSpPr>
        <p:spPr>
          <a:xfrm>
            <a:off x="6715125" y="4799013"/>
            <a:ext cx="1600200" cy="0"/>
          </a:xfrm>
          <a:prstGeom prst="line">
            <a:avLst/>
          </a:prstGeom>
          <a:ln w="25400" cap="sq" cmpd="sng">
            <a:solidFill>
              <a:schemeClr val="tx1"/>
            </a:solidFill>
            <a:prstDash val="solid"/>
            <a:headEnd type="none" w="med" len="med"/>
            <a:tailEnd type="none" w="med" len="med"/>
          </a:ln>
        </p:spPr>
      </p:sp>
      <p:sp>
        <p:nvSpPr>
          <p:cNvPr id="175123" name="Line 40"/>
          <p:cNvSpPr/>
          <p:nvPr/>
        </p:nvSpPr>
        <p:spPr>
          <a:xfrm>
            <a:off x="6715125" y="5970588"/>
            <a:ext cx="1600200" cy="0"/>
          </a:xfrm>
          <a:prstGeom prst="line">
            <a:avLst/>
          </a:prstGeom>
          <a:ln w="25400" cap="sq" cmpd="sng">
            <a:solidFill>
              <a:schemeClr val="tx1"/>
            </a:solidFill>
            <a:prstDash val="solid"/>
            <a:headEnd type="none" w="med" len="med"/>
            <a:tailEnd type="none" w="med" len="med"/>
          </a:ln>
        </p:spPr>
      </p:sp>
      <p:sp>
        <p:nvSpPr>
          <p:cNvPr id="175124" name="Line 41"/>
          <p:cNvSpPr/>
          <p:nvPr/>
        </p:nvSpPr>
        <p:spPr>
          <a:xfrm>
            <a:off x="6715125" y="5165725"/>
            <a:ext cx="1600200" cy="0"/>
          </a:xfrm>
          <a:prstGeom prst="line">
            <a:avLst/>
          </a:prstGeom>
          <a:ln w="25400" cap="sq" cmpd="sng">
            <a:solidFill>
              <a:schemeClr val="tx1"/>
            </a:solidFill>
            <a:prstDash val="solid"/>
            <a:headEnd type="none" w="med" len="med"/>
            <a:tailEnd type="none" w="med" len="med"/>
          </a:ln>
        </p:spPr>
      </p:sp>
      <p:sp>
        <p:nvSpPr>
          <p:cNvPr id="175125" name="Line 42"/>
          <p:cNvSpPr/>
          <p:nvPr/>
        </p:nvSpPr>
        <p:spPr>
          <a:xfrm>
            <a:off x="6715125" y="5546725"/>
            <a:ext cx="1600200" cy="0"/>
          </a:xfrm>
          <a:prstGeom prst="line">
            <a:avLst/>
          </a:prstGeom>
          <a:ln w="25400" cap="sq" cmpd="sng">
            <a:solidFill>
              <a:schemeClr val="tx1"/>
            </a:solidFill>
            <a:prstDash val="solid"/>
            <a:headEnd type="none" w="med" len="med"/>
            <a:tailEnd type="none" w="med" len="med"/>
          </a:ln>
        </p:spPr>
      </p:sp>
      <p:sp>
        <p:nvSpPr>
          <p:cNvPr id="175126" name="Text Box 43"/>
          <p:cNvSpPr txBox="1"/>
          <p:nvPr/>
        </p:nvSpPr>
        <p:spPr>
          <a:xfrm>
            <a:off x="6834188" y="4784725"/>
            <a:ext cx="1447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FLAGS</a:t>
            </a:r>
            <a:r>
              <a:rPr lang="en-US" altLang="zh-CN" sz="1600" b="1" dirty="0">
                <a:solidFill>
                  <a:schemeClr val="bg1"/>
                </a:solidFill>
                <a:latin typeface="Times New Roman" panose="02020603050405020304" pitchFamily="18" charset="0"/>
                <a:ea typeface="宋体" panose="02010600030101010101" pitchFamily="2" charset="-122"/>
              </a:rPr>
              <a:t>L</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75127" name="Text Box 44"/>
          <p:cNvSpPr txBox="1"/>
          <p:nvPr/>
        </p:nvSpPr>
        <p:spPr>
          <a:xfrm>
            <a:off x="6819900" y="5132388"/>
            <a:ext cx="145415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FLAGS</a:t>
            </a:r>
            <a:r>
              <a:rPr lang="en-US" altLang="zh-CN" sz="1600" b="1" dirty="0">
                <a:solidFill>
                  <a:schemeClr val="bg1"/>
                </a:solidFill>
                <a:latin typeface="Times New Roman" panose="02020603050405020304" pitchFamily="18" charset="0"/>
                <a:ea typeface="宋体" panose="02010600030101010101" pitchFamily="2" charset="-122"/>
              </a:rPr>
              <a:t>H</a:t>
            </a:r>
            <a:endParaRPr lang="en-US" altLang="zh-CN" sz="1600" b="1" dirty="0">
              <a:solidFill>
                <a:schemeClr val="bg1"/>
              </a:solidFill>
              <a:latin typeface="Times New Roman" panose="02020603050405020304" pitchFamily="18" charset="0"/>
              <a:ea typeface="宋体" panose="02010600030101010101" pitchFamily="2" charset="-122"/>
            </a:endParaRPr>
          </a:p>
        </p:txBody>
      </p:sp>
      <p:sp>
        <p:nvSpPr>
          <p:cNvPr id="175128" name="Line 47"/>
          <p:cNvSpPr/>
          <p:nvPr/>
        </p:nvSpPr>
        <p:spPr>
          <a:xfrm>
            <a:off x="6010275" y="3489325"/>
            <a:ext cx="609600" cy="0"/>
          </a:xfrm>
          <a:prstGeom prst="line">
            <a:avLst/>
          </a:prstGeom>
          <a:ln w="25400" cap="sq" cmpd="sng">
            <a:solidFill>
              <a:srgbClr val="FF6600"/>
            </a:solidFill>
            <a:prstDash val="solid"/>
            <a:headEnd type="none" w="med" len="med"/>
            <a:tailEnd type="triangle" w="lg" len="lg"/>
          </a:ln>
        </p:spPr>
      </p:sp>
      <p:sp>
        <p:nvSpPr>
          <p:cNvPr id="175129" name="Text Box 48"/>
          <p:cNvSpPr txBox="1"/>
          <p:nvPr/>
        </p:nvSpPr>
        <p:spPr>
          <a:xfrm>
            <a:off x="4808538" y="3260725"/>
            <a:ext cx="1447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SP=11FA</a:t>
            </a:r>
            <a:endParaRPr lang="zh-CN" altLang="en-US" sz="2000" b="1" dirty="0">
              <a:latin typeface="Times New Roman" panose="02020603050405020304" pitchFamily="18" charset="0"/>
              <a:ea typeface="宋体" panose="02010600030101010101" pitchFamily="2" charset="-122"/>
            </a:endParaRPr>
          </a:p>
        </p:txBody>
      </p:sp>
      <p:sp>
        <p:nvSpPr>
          <p:cNvPr id="175130" name="AutoShape 50"/>
          <p:cNvSpPr/>
          <p:nvPr/>
        </p:nvSpPr>
        <p:spPr>
          <a:xfrm>
            <a:off x="4067175" y="1844675"/>
            <a:ext cx="1933575" cy="830263"/>
          </a:xfrm>
          <a:prstGeom prst="cloudCallout">
            <a:avLst>
              <a:gd name="adj1" fmla="val 14449"/>
              <a:gd name="adj2" fmla="val 121704"/>
            </a:avLst>
          </a:prstGeom>
          <a:solidFill>
            <a:srgbClr val="993300"/>
          </a:solidFill>
          <a:ln w="25400" cap="sq" cmpd="sng">
            <a:solidFill>
              <a:srgbClr val="993300"/>
            </a:solidFill>
            <a:prstDash val="solid"/>
            <a:headEnd type="none" w="med" len="med"/>
            <a:tailEnd type="none" w="med" len="med"/>
          </a:ln>
        </p:spPr>
        <p:txBody>
          <a:bodyPr/>
          <a:p>
            <a:pPr eaLnBrk="0" hangingPunct="0">
              <a:lnSpc>
                <a:spcPct val="80000"/>
              </a:lnSpc>
              <a:buFont typeface="Wingdings" panose="05000000000000000000" pitchFamily="2" charset="2"/>
            </a:pPr>
            <a:r>
              <a:rPr lang="zh-CN" altLang="en-US" sz="2000" b="1" dirty="0">
                <a:solidFill>
                  <a:schemeClr val="bg1"/>
                </a:solidFill>
                <a:latin typeface="Times New Roman" panose="02020603050405020304" pitchFamily="18" charset="0"/>
                <a:ea typeface="宋体" panose="02010600030101010101" pitchFamily="2" charset="-122"/>
              </a:rPr>
              <a:t>执行</a:t>
            </a:r>
            <a:r>
              <a:rPr lang="en-US" altLang="zh-CN" sz="2000" b="1" dirty="0">
                <a:solidFill>
                  <a:schemeClr val="bg1"/>
                </a:solidFill>
                <a:latin typeface="Times New Roman" panose="02020603050405020304" pitchFamily="18" charset="0"/>
                <a:ea typeface="宋体" panose="02010600030101010101" pitchFamily="2" charset="-122"/>
              </a:rPr>
              <a:t>INT</a:t>
            </a:r>
            <a:r>
              <a:rPr lang="zh-CN" altLang="en-US" sz="2000" b="1" dirty="0">
                <a:solidFill>
                  <a:schemeClr val="bg1"/>
                </a:solidFill>
                <a:latin typeface="Times New Roman" panose="02020603050405020304" pitchFamily="18" charset="0"/>
                <a:ea typeface="宋体" panose="02010600030101010101" pitchFamily="2" charset="-122"/>
              </a:rPr>
              <a:t>指令后</a:t>
            </a:r>
            <a:endParaRPr lang="zh-CN" altLang="en-US" sz="2000" b="1" dirty="0">
              <a:solidFill>
                <a:schemeClr val="bg1"/>
              </a:solidFill>
              <a:latin typeface="Times New Roman" panose="02020603050405020304" pitchFamily="18" charset="0"/>
              <a:ea typeface="宋体" panose="02010600030101010101" pitchFamily="2" charset="-122"/>
            </a:endParaRPr>
          </a:p>
        </p:txBody>
      </p:sp>
      <p:sp>
        <p:nvSpPr>
          <p:cNvPr id="175131" name="AutoShape 55"/>
          <p:cNvSpPr/>
          <p:nvPr/>
        </p:nvSpPr>
        <p:spPr>
          <a:xfrm rot="10800000">
            <a:off x="8462963" y="3500438"/>
            <a:ext cx="198437" cy="2160587"/>
          </a:xfrm>
          <a:prstGeom prst="leftBrace">
            <a:avLst>
              <a:gd name="adj1" fmla="val 90027"/>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5132" name="Text Box 56"/>
          <p:cNvSpPr txBox="1"/>
          <p:nvPr/>
        </p:nvSpPr>
        <p:spPr>
          <a:xfrm>
            <a:off x="8650288" y="4095750"/>
            <a:ext cx="457200" cy="915988"/>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堆栈段</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5107">
                                            <p:txEl>
                                              <p:charRg st="0" end="7"/>
                                            </p:txEl>
                                          </p:spTgt>
                                        </p:tgtEl>
                                        <p:attrNameLst>
                                          <p:attrName>style.visibility</p:attrName>
                                        </p:attrNameLst>
                                      </p:cBhvr>
                                      <p:to>
                                        <p:strVal val="visible"/>
                                      </p:to>
                                    </p:set>
                                    <p:animEffect transition="in" filter="wipe(left)">
                                      <p:cBhvr>
                                        <p:cTn id="7" dur="500"/>
                                        <p:tgtEl>
                                          <p:spTgt spid="175107">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5107">
                                            <p:txEl>
                                              <p:charRg st="7" end="36"/>
                                            </p:txEl>
                                          </p:spTgt>
                                        </p:tgtEl>
                                        <p:attrNameLst>
                                          <p:attrName>style.visibility</p:attrName>
                                        </p:attrNameLst>
                                      </p:cBhvr>
                                      <p:to>
                                        <p:strVal val="visible"/>
                                      </p:to>
                                    </p:set>
                                    <p:animEffect transition="in" filter="wipe(left)">
                                      <p:cBhvr>
                                        <p:cTn id="12" dur="500"/>
                                        <p:tgtEl>
                                          <p:spTgt spid="175107">
                                            <p:txEl>
                                              <p:charRg st="7" end="36"/>
                                            </p:txEl>
                                          </p:spTgt>
                                        </p:tgtEl>
                                      </p:cBhvr>
                                    </p:animEffect>
                                  </p:childTnLst>
                                </p:cTn>
                              </p:par>
                              <p:par>
                                <p:cTn id="13" presetID="22" presetClass="entr" presetSubtype="1" fill="hold" nodeType="withEffect">
                                  <p:stCondLst>
                                    <p:cond delay="0"/>
                                  </p:stCondLst>
                                  <p:childTnLst>
                                    <p:set>
                                      <p:cBhvr>
                                        <p:cTn id="14" dur="1" fill="hold">
                                          <p:stCondLst>
                                            <p:cond delay="0"/>
                                          </p:stCondLst>
                                        </p:cTn>
                                        <p:tgtEl>
                                          <p:spTgt spid="175107">
                                            <p:txEl>
                                              <p:charRg st="36" end="64"/>
                                            </p:txEl>
                                          </p:spTgt>
                                        </p:tgtEl>
                                        <p:attrNameLst>
                                          <p:attrName>style.visibility</p:attrName>
                                        </p:attrNameLst>
                                      </p:cBhvr>
                                      <p:to>
                                        <p:strVal val="visible"/>
                                      </p:to>
                                    </p:set>
                                    <p:animEffect transition="in" filter="wipe(up)">
                                      <p:cBhvr>
                                        <p:cTn id="15" dur="500"/>
                                        <p:tgtEl>
                                          <p:spTgt spid="175107">
                                            <p:txEl>
                                              <p:charRg st="36" end="64"/>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175107">
                                            <p:txEl>
                                              <p:charRg st="64" end="87"/>
                                            </p:txEl>
                                          </p:spTgt>
                                        </p:tgtEl>
                                        <p:attrNameLst>
                                          <p:attrName>style.visibility</p:attrName>
                                        </p:attrNameLst>
                                      </p:cBhvr>
                                      <p:to>
                                        <p:strVal val="visible"/>
                                      </p:to>
                                    </p:set>
                                    <p:animEffect transition="in" filter="wipe(left)">
                                      <p:cBhvr>
                                        <p:cTn id="18" dur="500"/>
                                        <p:tgtEl>
                                          <p:spTgt spid="175107">
                                            <p:txEl>
                                              <p:charRg st="64" end="87"/>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175107">
                                            <p:txEl>
                                              <p:charRg st="87" end="112"/>
                                            </p:txEl>
                                          </p:spTgt>
                                        </p:tgtEl>
                                        <p:attrNameLst>
                                          <p:attrName>style.visibility</p:attrName>
                                        </p:attrNameLst>
                                      </p:cBhvr>
                                      <p:to>
                                        <p:strVal val="visible"/>
                                      </p:to>
                                    </p:set>
                                    <p:animEffect transition="in" filter="wipe(left)">
                                      <p:cBhvr>
                                        <p:cTn id="21" dur="500"/>
                                        <p:tgtEl>
                                          <p:spTgt spid="175107">
                                            <p:txEl>
                                              <p:charRg st="87" end="112"/>
                                            </p:txEl>
                                          </p:spTgt>
                                        </p:tgtEl>
                                      </p:cBhvr>
                                    </p:animEffect>
                                  </p:childTnLst>
                                </p:cTn>
                              </p:par>
                              <p:par>
                                <p:cTn id="22" presetID="22" presetClass="entr" presetSubtype="1" fill="hold" nodeType="withEffect">
                                  <p:stCondLst>
                                    <p:cond delay="0"/>
                                  </p:stCondLst>
                                  <p:childTnLst>
                                    <p:set>
                                      <p:cBhvr>
                                        <p:cTn id="23" dur="1" fill="hold">
                                          <p:stCondLst>
                                            <p:cond delay="0"/>
                                          </p:stCondLst>
                                        </p:cTn>
                                        <p:tgtEl>
                                          <p:spTgt spid="175107">
                                            <p:txEl>
                                              <p:charRg st="112" end="140"/>
                                            </p:txEl>
                                          </p:spTgt>
                                        </p:tgtEl>
                                        <p:attrNameLst>
                                          <p:attrName>style.visibility</p:attrName>
                                        </p:attrNameLst>
                                      </p:cBhvr>
                                      <p:to>
                                        <p:strVal val="visible"/>
                                      </p:to>
                                    </p:set>
                                    <p:animEffect transition="in" filter="wipe(up)">
                                      <p:cBhvr>
                                        <p:cTn id="24" dur="500"/>
                                        <p:tgtEl>
                                          <p:spTgt spid="175107">
                                            <p:txEl>
                                              <p:charRg st="112" end="14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75108"/>
                                        </p:tgtEl>
                                        <p:attrNameLst>
                                          <p:attrName>style.visibility</p:attrName>
                                        </p:attrNameLst>
                                      </p:cBhvr>
                                      <p:to>
                                        <p:strVal val="visible"/>
                                      </p:to>
                                    </p:set>
                                    <p:anim calcmode="lin" valueType="num">
                                      <p:cBhvr>
                                        <p:cTn id="29" dur="500" fill="hold"/>
                                        <p:tgtEl>
                                          <p:spTgt spid="175108"/>
                                        </p:tgtEl>
                                        <p:attrNameLst>
                                          <p:attrName>ppt_x</p:attrName>
                                        </p:attrNameLst>
                                      </p:cBhvr>
                                      <p:tavLst>
                                        <p:tav tm="0">
                                          <p:val>
                                            <p:strVal val="#ppt_x"/>
                                          </p:val>
                                        </p:tav>
                                        <p:tav tm="100000">
                                          <p:val>
                                            <p:strVal val="#ppt_x"/>
                                          </p:val>
                                        </p:tav>
                                      </p:tavLst>
                                    </p:anim>
                                    <p:anim calcmode="lin" valueType="num">
                                      <p:cBhvr>
                                        <p:cTn id="30" dur="500" fill="hold"/>
                                        <p:tgtEl>
                                          <p:spTgt spid="175108"/>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75109"/>
                                        </p:tgtEl>
                                        <p:attrNameLst>
                                          <p:attrName>style.visibility</p:attrName>
                                        </p:attrNameLst>
                                      </p:cBhvr>
                                      <p:to>
                                        <p:strVal val="visible"/>
                                      </p:to>
                                    </p:set>
                                    <p:anim calcmode="lin" valueType="num">
                                      <p:cBhvr>
                                        <p:cTn id="33" dur="500" fill="hold"/>
                                        <p:tgtEl>
                                          <p:spTgt spid="175109"/>
                                        </p:tgtEl>
                                        <p:attrNameLst>
                                          <p:attrName>ppt_x</p:attrName>
                                        </p:attrNameLst>
                                      </p:cBhvr>
                                      <p:tavLst>
                                        <p:tav tm="0">
                                          <p:val>
                                            <p:strVal val="#ppt_x"/>
                                          </p:val>
                                        </p:tav>
                                        <p:tav tm="100000">
                                          <p:val>
                                            <p:strVal val="#ppt_x"/>
                                          </p:val>
                                        </p:tav>
                                      </p:tavLst>
                                    </p:anim>
                                    <p:anim calcmode="lin" valueType="num">
                                      <p:cBhvr>
                                        <p:cTn id="34" dur="500" fill="hold"/>
                                        <p:tgtEl>
                                          <p:spTgt spid="175109"/>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75110"/>
                                        </p:tgtEl>
                                        <p:attrNameLst>
                                          <p:attrName>style.visibility</p:attrName>
                                        </p:attrNameLst>
                                      </p:cBhvr>
                                      <p:to>
                                        <p:strVal val="visible"/>
                                      </p:to>
                                    </p:set>
                                    <p:anim calcmode="lin" valueType="num">
                                      <p:cBhvr>
                                        <p:cTn id="37" dur="500" fill="hold"/>
                                        <p:tgtEl>
                                          <p:spTgt spid="175110"/>
                                        </p:tgtEl>
                                        <p:attrNameLst>
                                          <p:attrName>ppt_x</p:attrName>
                                        </p:attrNameLst>
                                      </p:cBhvr>
                                      <p:tavLst>
                                        <p:tav tm="0">
                                          <p:val>
                                            <p:strVal val="#ppt_x"/>
                                          </p:val>
                                        </p:tav>
                                        <p:tav tm="100000">
                                          <p:val>
                                            <p:strVal val="#ppt_x"/>
                                          </p:val>
                                        </p:tav>
                                      </p:tavLst>
                                    </p:anim>
                                    <p:anim calcmode="lin" valueType="num">
                                      <p:cBhvr>
                                        <p:cTn id="38" dur="500" fill="hold"/>
                                        <p:tgtEl>
                                          <p:spTgt spid="175110"/>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75111"/>
                                        </p:tgtEl>
                                        <p:attrNameLst>
                                          <p:attrName>style.visibility</p:attrName>
                                        </p:attrNameLst>
                                      </p:cBhvr>
                                      <p:to>
                                        <p:strVal val="visible"/>
                                      </p:to>
                                    </p:set>
                                    <p:anim calcmode="lin" valueType="num">
                                      <p:cBhvr>
                                        <p:cTn id="41" dur="500" fill="hold"/>
                                        <p:tgtEl>
                                          <p:spTgt spid="175111"/>
                                        </p:tgtEl>
                                        <p:attrNameLst>
                                          <p:attrName>ppt_x</p:attrName>
                                        </p:attrNameLst>
                                      </p:cBhvr>
                                      <p:tavLst>
                                        <p:tav tm="0">
                                          <p:val>
                                            <p:strVal val="#ppt_x"/>
                                          </p:val>
                                        </p:tav>
                                        <p:tav tm="100000">
                                          <p:val>
                                            <p:strVal val="#ppt_x"/>
                                          </p:val>
                                        </p:tav>
                                      </p:tavLst>
                                    </p:anim>
                                    <p:anim calcmode="lin" valueType="num">
                                      <p:cBhvr>
                                        <p:cTn id="42" dur="500" fill="hold"/>
                                        <p:tgtEl>
                                          <p:spTgt spid="175111"/>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75112"/>
                                        </p:tgtEl>
                                        <p:attrNameLst>
                                          <p:attrName>style.visibility</p:attrName>
                                        </p:attrNameLst>
                                      </p:cBhvr>
                                      <p:to>
                                        <p:strVal val="visible"/>
                                      </p:to>
                                    </p:set>
                                    <p:anim calcmode="lin" valueType="num">
                                      <p:cBhvr>
                                        <p:cTn id="45" dur="500" fill="hold"/>
                                        <p:tgtEl>
                                          <p:spTgt spid="175112"/>
                                        </p:tgtEl>
                                        <p:attrNameLst>
                                          <p:attrName>ppt_x</p:attrName>
                                        </p:attrNameLst>
                                      </p:cBhvr>
                                      <p:tavLst>
                                        <p:tav tm="0">
                                          <p:val>
                                            <p:strVal val="#ppt_x"/>
                                          </p:val>
                                        </p:tav>
                                        <p:tav tm="100000">
                                          <p:val>
                                            <p:strVal val="#ppt_x"/>
                                          </p:val>
                                        </p:tav>
                                      </p:tavLst>
                                    </p:anim>
                                    <p:anim calcmode="lin" valueType="num">
                                      <p:cBhvr>
                                        <p:cTn id="46" dur="500" fill="hold"/>
                                        <p:tgtEl>
                                          <p:spTgt spid="175112"/>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75113"/>
                                        </p:tgtEl>
                                        <p:attrNameLst>
                                          <p:attrName>style.visibility</p:attrName>
                                        </p:attrNameLst>
                                      </p:cBhvr>
                                      <p:to>
                                        <p:strVal val="visible"/>
                                      </p:to>
                                    </p:set>
                                    <p:anim calcmode="lin" valueType="num">
                                      <p:cBhvr>
                                        <p:cTn id="49" dur="500" fill="hold"/>
                                        <p:tgtEl>
                                          <p:spTgt spid="175113"/>
                                        </p:tgtEl>
                                        <p:attrNameLst>
                                          <p:attrName>ppt_x</p:attrName>
                                        </p:attrNameLst>
                                      </p:cBhvr>
                                      <p:tavLst>
                                        <p:tav tm="0">
                                          <p:val>
                                            <p:strVal val="#ppt_x"/>
                                          </p:val>
                                        </p:tav>
                                        <p:tav tm="100000">
                                          <p:val>
                                            <p:strVal val="#ppt_x"/>
                                          </p:val>
                                        </p:tav>
                                      </p:tavLst>
                                    </p:anim>
                                    <p:anim calcmode="lin" valueType="num">
                                      <p:cBhvr>
                                        <p:cTn id="50" dur="500" fill="hold"/>
                                        <p:tgtEl>
                                          <p:spTgt spid="175113"/>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75120"/>
                                        </p:tgtEl>
                                        <p:attrNameLst>
                                          <p:attrName>style.visibility</p:attrName>
                                        </p:attrNameLst>
                                      </p:cBhvr>
                                      <p:to>
                                        <p:strVal val="visible"/>
                                      </p:to>
                                    </p:set>
                                    <p:anim calcmode="lin" valueType="num">
                                      <p:cBhvr>
                                        <p:cTn id="53" dur="500" fill="hold"/>
                                        <p:tgtEl>
                                          <p:spTgt spid="175120"/>
                                        </p:tgtEl>
                                        <p:attrNameLst>
                                          <p:attrName>ppt_x</p:attrName>
                                        </p:attrNameLst>
                                      </p:cBhvr>
                                      <p:tavLst>
                                        <p:tav tm="0">
                                          <p:val>
                                            <p:strVal val="#ppt_x"/>
                                          </p:val>
                                        </p:tav>
                                        <p:tav tm="100000">
                                          <p:val>
                                            <p:strVal val="#ppt_x"/>
                                          </p:val>
                                        </p:tav>
                                      </p:tavLst>
                                    </p:anim>
                                    <p:anim calcmode="lin" valueType="num">
                                      <p:cBhvr>
                                        <p:cTn id="54" dur="500" fill="hold"/>
                                        <p:tgtEl>
                                          <p:spTgt spid="175120"/>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75121"/>
                                        </p:tgtEl>
                                        <p:attrNameLst>
                                          <p:attrName>style.visibility</p:attrName>
                                        </p:attrNameLst>
                                      </p:cBhvr>
                                      <p:to>
                                        <p:strVal val="visible"/>
                                      </p:to>
                                    </p:set>
                                    <p:anim calcmode="lin" valueType="num">
                                      <p:cBhvr>
                                        <p:cTn id="57" dur="500" fill="hold"/>
                                        <p:tgtEl>
                                          <p:spTgt spid="175121"/>
                                        </p:tgtEl>
                                        <p:attrNameLst>
                                          <p:attrName>ppt_x</p:attrName>
                                        </p:attrNameLst>
                                      </p:cBhvr>
                                      <p:tavLst>
                                        <p:tav tm="0">
                                          <p:val>
                                            <p:strVal val="#ppt_x"/>
                                          </p:val>
                                        </p:tav>
                                        <p:tav tm="100000">
                                          <p:val>
                                            <p:strVal val="#ppt_x"/>
                                          </p:val>
                                        </p:tav>
                                      </p:tavLst>
                                    </p:anim>
                                    <p:anim calcmode="lin" valueType="num">
                                      <p:cBhvr>
                                        <p:cTn id="58" dur="500" fill="hold"/>
                                        <p:tgtEl>
                                          <p:spTgt spid="175121"/>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75122"/>
                                        </p:tgtEl>
                                        <p:attrNameLst>
                                          <p:attrName>style.visibility</p:attrName>
                                        </p:attrNameLst>
                                      </p:cBhvr>
                                      <p:to>
                                        <p:strVal val="visible"/>
                                      </p:to>
                                    </p:set>
                                    <p:anim calcmode="lin" valueType="num">
                                      <p:cBhvr>
                                        <p:cTn id="61" dur="500" fill="hold"/>
                                        <p:tgtEl>
                                          <p:spTgt spid="175122"/>
                                        </p:tgtEl>
                                        <p:attrNameLst>
                                          <p:attrName>ppt_x</p:attrName>
                                        </p:attrNameLst>
                                      </p:cBhvr>
                                      <p:tavLst>
                                        <p:tav tm="0">
                                          <p:val>
                                            <p:strVal val="#ppt_x"/>
                                          </p:val>
                                        </p:tav>
                                        <p:tav tm="100000">
                                          <p:val>
                                            <p:strVal val="#ppt_x"/>
                                          </p:val>
                                        </p:tav>
                                      </p:tavLst>
                                    </p:anim>
                                    <p:anim calcmode="lin" valueType="num">
                                      <p:cBhvr>
                                        <p:cTn id="62" dur="500" fill="hold"/>
                                        <p:tgtEl>
                                          <p:spTgt spid="175122"/>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175123"/>
                                        </p:tgtEl>
                                        <p:attrNameLst>
                                          <p:attrName>style.visibility</p:attrName>
                                        </p:attrNameLst>
                                      </p:cBhvr>
                                      <p:to>
                                        <p:strVal val="visible"/>
                                      </p:to>
                                    </p:set>
                                    <p:anim calcmode="lin" valueType="num">
                                      <p:cBhvr>
                                        <p:cTn id="65" dur="500" fill="hold"/>
                                        <p:tgtEl>
                                          <p:spTgt spid="175123"/>
                                        </p:tgtEl>
                                        <p:attrNameLst>
                                          <p:attrName>ppt_x</p:attrName>
                                        </p:attrNameLst>
                                      </p:cBhvr>
                                      <p:tavLst>
                                        <p:tav tm="0">
                                          <p:val>
                                            <p:strVal val="#ppt_x"/>
                                          </p:val>
                                        </p:tav>
                                        <p:tav tm="100000">
                                          <p:val>
                                            <p:strVal val="#ppt_x"/>
                                          </p:val>
                                        </p:tav>
                                      </p:tavLst>
                                    </p:anim>
                                    <p:anim calcmode="lin" valueType="num">
                                      <p:cBhvr>
                                        <p:cTn id="66" dur="500" fill="hold"/>
                                        <p:tgtEl>
                                          <p:spTgt spid="175123"/>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175124"/>
                                        </p:tgtEl>
                                        <p:attrNameLst>
                                          <p:attrName>style.visibility</p:attrName>
                                        </p:attrNameLst>
                                      </p:cBhvr>
                                      <p:to>
                                        <p:strVal val="visible"/>
                                      </p:to>
                                    </p:set>
                                    <p:anim calcmode="lin" valueType="num">
                                      <p:cBhvr>
                                        <p:cTn id="69" dur="500" fill="hold"/>
                                        <p:tgtEl>
                                          <p:spTgt spid="175124"/>
                                        </p:tgtEl>
                                        <p:attrNameLst>
                                          <p:attrName>ppt_x</p:attrName>
                                        </p:attrNameLst>
                                      </p:cBhvr>
                                      <p:tavLst>
                                        <p:tav tm="0">
                                          <p:val>
                                            <p:strVal val="#ppt_x"/>
                                          </p:val>
                                        </p:tav>
                                        <p:tav tm="100000">
                                          <p:val>
                                            <p:strVal val="#ppt_x"/>
                                          </p:val>
                                        </p:tav>
                                      </p:tavLst>
                                    </p:anim>
                                    <p:anim calcmode="lin" valueType="num">
                                      <p:cBhvr>
                                        <p:cTn id="70" dur="500" fill="hold"/>
                                        <p:tgtEl>
                                          <p:spTgt spid="175124"/>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75131"/>
                                        </p:tgtEl>
                                        <p:attrNameLst>
                                          <p:attrName>style.visibility</p:attrName>
                                        </p:attrNameLst>
                                      </p:cBhvr>
                                      <p:to>
                                        <p:strVal val="visible"/>
                                      </p:to>
                                    </p:set>
                                    <p:anim calcmode="lin" valueType="num">
                                      <p:cBhvr>
                                        <p:cTn id="73" dur="500" fill="hold"/>
                                        <p:tgtEl>
                                          <p:spTgt spid="175131"/>
                                        </p:tgtEl>
                                        <p:attrNameLst>
                                          <p:attrName>ppt_x</p:attrName>
                                        </p:attrNameLst>
                                      </p:cBhvr>
                                      <p:tavLst>
                                        <p:tav tm="0">
                                          <p:val>
                                            <p:strVal val="#ppt_x"/>
                                          </p:val>
                                        </p:tav>
                                        <p:tav tm="100000">
                                          <p:val>
                                            <p:strVal val="#ppt_x"/>
                                          </p:val>
                                        </p:tav>
                                      </p:tavLst>
                                    </p:anim>
                                    <p:anim calcmode="lin" valueType="num">
                                      <p:cBhvr>
                                        <p:cTn id="74" dur="500" fill="hold"/>
                                        <p:tgtEl>
                                          <p:spTgt spid="175131"/>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175132"/>
                                        </p:tgtEl>
                                        <p:attrNameLst>
                                          <p:attrName>style.visibility</p:attrName>
                                        </p:attrNameLst>
                                      </p:cBhvr>
                                      <p:to>
                                        <p:strVal val="visible"/>
                                      </p:to>
                                    </p:set>
                                    <p:anim calcmode="lin" valueType="num">
                                      <p:cBhvr>
                                        <p:cTn id="77" dur="500" fill="hold"/>
                                        <p:tgtEl>
                                          <p:spTgt spid="175132"/>
                                        </p:tgtEl>
                                        <p:attrNameLst>
                                          <p:attrName>ppt_x</p:attrName>
                                        </p:attrNameLst>
                                      </p:cBhvr>
                                      <p:tavLst>
                                        <p:tav tm="0">
                                          <p:val>
                                            <p:strVal val="#ppt_x"/>
                                          </p:val>
                                        </p:tav>
                                        <p:tav tm="100000">
                                          <p:val>
                                            <p:strVal val="#ppt_x"/>
                                          </p:val>
                                        </p:tav>
                                      </p:tavLst>
                                    </p:anim>
                                    <p:anim calcmode="lin" valueType="num">
                                      <p:cBhvr>
                                        <p:cTn id="78" dur="500" fill="hold"/>
                                        <p:tgtEl>
                                          <p:spTgt spid="175132"/>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75125"/>
                                        </p:tgtEl>
                                        <p:attrNameLst>
                                          <p:attrName>style.visibility</p:attrName>
                                        </p:attrNameLst>
                                      </p:cBhvr>
                                      <p:to>
                                        <p:strVal val="visible"/>
                                      </p:to>
                                    </p:set>
                                    <p:anim calcmode="lin" valueType="num">
                                      <p:cBhvr>
                                        <p:cTn id="81" dur="500" fill="hold"/>
                                        <p:tgtEl>
                                          <p:spTgt spid="175125"/>
                                        </p:tgtEl>
                                        <p:attrNameLst>
                                          <p:attrName>ppt_x</p:attrName>
                                        </p:attrNameLst>
                                      </p:cBhvr>
                                      <p:tavLst>
                                        <p:tav tm="0">
                                          <p:val>
                                            <p:strVal val="#ppt_x"/>
                                          </p:val>
                                        </p:tav>
                                        <p:tav tm="100000">
                                          <p:val>
                                            <p:strVal val="#ppt_x"/>
                                          </p:val>
                                        </p:tav>
                                      </p:tavLst>
                                    </p:anim>
                                    <p:anim calcmode="lin" valueType="num">
                                      <p:cBhvr>
                                        <p:cTn id="82" dur="500" fill="hold"/>
                                        <p:tgtEl>
                                          <p:spTgt spid="175125"/>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75114"/>
                                        </p:tgtEl>
                                        <p:attrNameLst>
                                          <p:attrName>style.visibility</p:attrName>
                                        </p:attrNameLst>
                                      </p:cBhvr>
                                      <p:to>
                                        <p:strVal val="visible"/>
                                      </p:to>
                                    </p:set>
                                    <p:animEffect transition="in" filter="wipe(left)">
                                      <p:cBhvr>
                                        <p:cTn id="87" dur="500"/>
                                        <p:tgtEl>
                                          <p:spTgt spid="175114"/>
                                        </p:tgtEl>
                                      </p:cBhvr>
                                    </p:animEffect>
                                  </p:childTnLst>
                                </p:cTn>
                              </p:par>
                              <p:par>
                                <p:cTn id="88" presetID="2" presetClass="entr" presetSubtype="4" fill="hold" grpId="0" nodeType="withEffect">
                                  <p:stCondLst>
                                    <p:cond delay="0"/>
                                  </p:stCondLst>
                                  <p:childTnLst>
                                    <p:set>
                                      <p:cBhvr>
                                        <p:cTn id="89" dur="1" fill="hold">
                                          <p:stCondLst>
                                            <p:cond delay="0"/>
                                          </p:stCondLst>
                                        </p:cTn>
                                        <p:tgtEl>
                                          <p:spTgt spid="175119"/>
                                        </p:tgtEl>
                                        <p:attrNameLst>
                                          <p:attrName>style.visibility</p:attrName>
                                        </p:attrNameLst>
                                      </p:cBhvr>
                                      <p:to>
                                        <p:strVal val="visible"/>
                                      </p:to>
                                    </p:set>
                                    <p:anim calcmode="lin" valueType="num">
                                      <p:cBhvr>
                                        <p:cTn id="90" dur="500" fill="hold"/>
                                        <p:tgtEl>
                                          <p:spTgt spid="175119"/>
                                        </p:tgtEl>
                                        <p:attrNameLst>
                                          <p:attrName>ppt_x</p:attrName>
                                        </p:attrNameLst>
                                      </p:cBhvr>
                                      <p:tavLst>
                                        <p:tav tm="0">
                                          <p:val>
                                            <p:strVal val="#ppt_x"/>
                                          </p:val>
                                        </p:tav>
                                        <p:tav tm="100000">
                                          <p:val>
                                            <p:strVal val="#ppt_x"/>
                                          </p:val>
                                        </p:tav>
                                      </p:tavLst>
                                    </p:anim>
                                    <p:anim calcmode="lin" valueType="num">
                                      <p:cBhvr>
                                        <p:cTn id="91" dur="500" fill="hold"/>
                                        <p:tgtEl>
                                          <p:spTgt spid="175119"/>
                                        </p:tgtEl>
                                        <p:attrNameLst>
                                          <p:attrName>ppt_y</p:attrName>
                                        </p:attrNameLst>
                                      </p:cBhvr>
                                      <p:tavLst>
                                        <p:tav tm="0">
                                          <p:val>
                                            <p:strVal val="1+#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1" fill="hold" grpId="0" nodeType="clickEffect">
                                  <p:stCondLst>
                                    <p:cond delay="0"/>
                                  </p:stCondLst>
                                  <p:childTnLst>
                                    <p:set>
                                      <p:cBhvr>
                                        <p:cTn id="95" dur="1" fill="hold">
                                          <p:stCondLst>
                                            <p:cond delay="0"/>
                                          </p:stCondLst>
                                        </p:cTn>
                                        <p:tgtEl>
                                          <p:spTgt spid="175127"/>
                                        </p:tgtEl>
                                        <p:attrNameLst>
                                          <p:attrName>style.visibility</p:attrName>
                                        </p:attrNameLst>
                                      </p:cBhvr>
                                      <p:to>
                                        <p:strVal val="visible"/>
                                      </p:to>
                                    </p:set>
                                    <p:anim calcmode="lin" valueType="num">
                                      <p:cBhvr>
                                        <p:cTn id="96" dur="1000" fill="hold"/>
                                        <p:tgtEl>
                                          <p:spTgt spid="175127"/>
                                        </p:tgtEl>
                                        <p:attrNameLst>
                                          <p:attrName>ppt_x</p:attrName>
                                        </p:attrNameLst>
                                      </p:cBhvr>
                                      <p:tavLst>
                                        <p:tav tm="0">
                                          <p:val>
                                            <p:strVal val="#ppt_x"/>
                                          </p:val>
                                        </p:tav>
                                        <p:tav tm="100000">
                                          <p:val>
                                            <p:strVal val="#ppt_x"/>
                                          </p:val>
                                        </p:tav>
                                      </p:tavLst>
                                    </p:anim>
                                    <p:anim calcmode="lin" valueType="num">
                                      <p:cBhvr>
                                        <p:cTn id="97" dur="1000" fill="hold"/>
                                        <p:tgtEl>
                                          <p:spTgt spid="175127"/>
                                        </p:tgtEl>
                                        <p:attrNameLst>
                                          <p:attrName>ppt_y</p:attrName>
                                        </p:attrNameLst>
                                      </p:cBhvr>
                                      <p:tavLst>
                                        <p:tav tm="0">
                                          <p:val>
                                            <p:strVal val="0-#ppt_h/2"/>
                                          </p:val>
                                        </p:tav>
                                        <p:tav tm="100000">
                                          <p:val>
                                            <p:strVal val="#ppt_y"/>
                                          </p:val>
                                        </p:tav>
                                      </p:tavLst>
                                    </p:anim>
                                  </p:childTnLst>
                                </p:cTn>
                              </p:par>
                            </p:childTnLst>
                          </p:cTn>
                        </p:par>
                        <p:par>
                          <p:cTn id="98" fill="hold">
                            <p:stCondLst>
                              <p:cond delay="1000"/>
                            </p:stCondLst>
                            <p:childTnLst>
                              <p:par>
                                <p:cTn id="99" presetID="2" presetClass="entr" presetSubtype="1" fill="hold" grpId="0" nodeType="afterEffect">
                                  <p:stCondLst>
                                    <p:cond delay="0"/>
                                  </p:stCondLst>
                                  <p:childTnLst>
                                    <p:set>
                                      <p:cBhvr>
                                        <p:cTn id="100" dur="1" fill="hold">
                                          <p:stCondLst>
                                            <p:cond delay="0"/>
                                          </p:stCondLst>
                                        </p:cTn>
                                        <p:tgtEl>
                                          <p:spTgt spid="175126"/>
                                        </p:tgtEl>
                                        <p:attrNameLst>
                                          <p:attrName>style.visibility</p:attrName>
                                        </p:attrNameLst>
                                      </p:cBhvr>
                                      <p:to>
                                        <p:strVal val="visible"/>
                                      </p:to>
                                    </p:set>
                                    <p:anim calcmode="lin" valueType="num">
                                      <p:cBhvr>
                                        <p:cTn id="101" dur="1000" fill="hold"/>
                                        <p:tgtEl>
                                          <p:spTgt spid="175126"/>
                                        </p:tgtEl>
                                        <p:attrNameLst>
                                          <p:attrName>ppt_x</p:attrName>
                                        </p:attrNameLst>
                                      </p:cBhvr>
                                      <p:tavLst>
                                        <p:tav tm="0">
                                          <p:val>
                                            <p:strVal val="#ppt_x"/>
                                          </p:val>
                                        </p:tav>
                                        <p:tav tm="100000">
                                          <p:val>
                                            <p:strVal val="#ppt_x"/>
                                          </p:val>
                                        </p:tav>
                                      </p:tavLst>
                                    </p:anim>
                                    <p:anim calcmode="lin" valueType="num">
                                      <p:cBhvr>
                                        <p:cTn id="102" dur="1000" fill="hold"/>
                                        <p:tgtEl>
                                          <p:spTgt spid="175126"/>
                                        </p:tgtEl>
                                        <p:attrNameLst>
                                          <p:attrName>ppt_y</p:attrName>
                                        </p:attrNameLst>
                                      </p:cBhvr>
                                      <p:tavLst>
                                        <p:tav tm="0">
                                          <p:val>
                                            <p:strVal val="0-#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1" fill="hold" grpId="0" nodeType="clickEffect">
                                  <p:stCondLst>
                                    <p:cond delay="0"/>
                                  </p:stCondLst>
                                  <p:childTnLst>
                                    <p:set>
                                      <p:cBhvr>
                                        <p:cTn id="106" dur="1" fill="hold">
                                          <p:stCondLst>
                                            <p:cond delay="0"/>
                                          </p:stCondLst>
                                        </p:cTn>
                                        <p:tgtEl>
                                          <p:spTgt spid="175118"/>
                                        </p:tgtEl>
                                        <p:attrNameLst>
                                          <p:attrName>style.visibility</p:attrName>
                                        </p:attrNameLst>
                                      </p:cBhvr>
                                      <p:to>
                                        <p:strVal val="visible"/>
                                      </p:to>
                                    </p:set>
                                    <p:anim calcmode="lin" valueType="num">
                                      <p:cBhvr>
                                        <p:cTn id="107" dur="1000" fill="hold"/>
                                        <p:tgtEl>
                                          <p:spTgt spid="175118"/>
                                        </p:tgtEl>
                                        <p:attrNameLst>
                                          <p:attrName>ppt_x</p:attrName>
                                        </p:attrNameLst>
                                      </p:cBhvr>
                                      <p:tavLst>
                                        <p:tav tm="0">
                                          <p:val>
                                            <p:strVal val="#ppt_x"/>
                                          </p:val>
                                        </p:tav>
                                        <p:tav tm="100000">
                                          <p:val>
                                            <p:strVal val="#ppt_x"/>
                                          </p:val>
                                        </p:tav>
                                      </p:tavLst>
                                    </p:anim>
                                    <p:anim calcmode="lin" valueType="num">
                                      <p:cBhvr>
                                        <p:cTn id="108" dur="1000" fill="hold"/>
                                        <p:tgtEl>
                                          <p:spTgt spid="175118"/>
                                        </p:tgtEl>
                                        <p:attrNameLst>
                                          <p:attrName>ppt_y</p:attrName>
                                        </p:attrNameLst>
                                      </p:cBhvr>
                                      <p:tavLst>
                                        <p:tav tm="0">
                                          <p:val>
                                            <p:strVal val="0-#ppt_h/2"/>
                                          </p:val>
                                        </p:tav>
                                        <p:tav tm="100000">
                                          <p:val>
                                            <p:strVal val="#ppt_y"/>
                                          </p:val>
                                        </p:tav>
                                      </p:tavLst>
                                    </p:anim>
                                  </p:childTnLst>
                                </p:cTn>
                              </p:par>
                            </p:childTnLst>
                          </p:cTn>
                        </p:par>
                        <p:par>
                          <p:cTn id="109" fill="hold">
                            <p:stCondLst>
                              <p:cond delay="1000"/>
                            </p:stCondLst>
                            <p:childTnLst>
                              <p:par>
                                <p:cTn id="110" presetID="2" presetClass="entr" presetSubtype="1" fill="hold" grpId="0" nodeType="afterEffect">
                                  <p:stCondLst>
                                    <p:cond delay="0"/>
                                  </p:stCondLst>
                                  <p:childTnLst>
                                    <p:set>
                                      <p:cBhvr>
                                        <p:cTn id="111" dur="1" fill="hold">
                                          <p:stCondLst>
                                            <p:cond delay="0"/>
                                          </p:stCondLst>
                                        </p:cTn>
                                        <p:tgtEl>
                                          <p:spTgt spid="175117"/>
                                        </p:tgtEl>
                                        <p:attrNameLst>
                                          <p:attrName>style.visibility</p:attrName>
                                        </p:attrNameLst>
                                      </p:cBhvr>
                                      <p:to>
                                        <p:strVal val="visible"/>
                                      </p:to>
                                    </p:set>
                                    <p:anim calcmode="lin" valueType="num">
                                      <p:cBhvr>
                                        <p:cTn id="112" dur="1000" fill="hold"/>
                                        <p:tgtEl>
                                          <p:spTgt spid="175117"/>
                                        </p:tgtEl>
                                        <p:attrNameLst>
                                          <p:attrName>ppt_x</p:attrName>
                                        </p:attrNameLst>
                                      </p:cBhvr>
                                      <p:tavLst>
                                        <p:tav tm="0">
                                          <p:val>
                                            <p:strVal val="#ppt_x"/>
                                          </p:val>
                                        </p:tav>
                                        <p:tav tm="100000">
                                          <p:val>
                                            <p:strVal val="#ppt_x"/>
                                          </p:val>
                                        </p:tav>
                                      </p:tavLst>
                                    </p:anim>
                                    <p:anim calcmode="lin" valueType="num">
                                      <p:cBhvr>
                                        <p:cTn id="113" dur="1000" fill="hold"/>
                                        <p:tgtEl>
                                          <p:spTgt spid="175117"/>
                                        </p:tgtEl>
                                        <p:attrNameLst>
                                          <p:attrName>ppt_y</p:attrName>
                                        </p:attrNameLst>
                                      </p:cBhvr>
                                      <p:tavLst>
                                        <p:tav tm="0">
                                          <p:val>
                                            <p:strVal val="0-#ppt_h/2"/>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 presetClass="entr" presetSubtype="1" fill="hold" grpId="0" nodeType="clickEffect">
                                  <p:stCondLst>
                                    <p:cond delay="0"/>
                                  </p:stCondLst>
                                  <p:childTnLst>
                                    <p:set>
                                      <p:cBhvr>
                                        <p:cTn id="117" dur="1" fill="hold">
                                          <p:stCondLst>
                                            <p:cond delay="0"/>
                                          </p:stCondLst>
                                        </p:cTn>
                                        <p:tgtEl>
                                          <p:spTgt spid="175116"/>
                                        </p:tgtEl>
                                        <p:attrNameLst>
                                          <p:attrName>style.visibility</p:attrName>
                                        </p:attrNameLst>
                                      </p:cBhvr>
                                      <p:to>
                                        <p:strVal val="visible"/>
                                      </p:to>
                                    </p:set>
                                    <p:anim calcmode="lin" valueType="num">
                                      <p:cBhvr>
                                        <p:cTn id="118" dur="1000" fill="hold"/>
                                        <p:tgtEl>
                                          <p:spTgt spid="175116"/>
                                        </p:tgtEl>
                                        <p:attrNameLst>
                                          <p:attrName>ppt_x</p:attrName>
                                        </p:attrNameLst>
                                      </p:cBhvr>
                                      <p:tavLst>
                                        <p:tav tm="0">
                                          <p:val>
                                            <p:strVal val="#ppt_x"/>
                                          </p:val>
                                        </p:tav>
                                        <p:tav tm="100000">
                                          <p:val>
                                            <p:strVal val="#ppt_x"/>
                                          </p:val>
                                        </p:tav>
                                      </p:tavLst>
                                    </p:anim>
                                    <p:anim calcmode="lin" valueType="num">
                                      <p:cBhvr>
                                        <p:cTn id="119" dur="1000" fill="hold"/>
                                        <p:tgtEl>
                                          <p:spTgt spid="175116"/>
                                        </p:tgtEl>
                                        <p:attrNameLst>
                                          <p:attrName>ppt_y</p:attrName>
                                        </p:attrNameLst>
                                      </p:cBhvr>
                                      <p:tavLst>
                                        <p:tav tm="0">
                                          <p:val>
                                            <p:strVal val="0-#ppt_h/2"/>
                                          </p:val>
                                        </p:tav>
                                        <p:tav tm="100000">
                                          <p:val>
                                            <p:strVal val="#ppt_y"/>
                                          </p:val>
                                        </p:tav>
                                      </p:tavLst>
                                    </p:anim>
                                  </p:childTnLst>
                                </p:cTn>
                              </p:par>
                            </p:childTnLst>
                          </p:cTn>
                        </p:par>
                        <p:par>
                          <p:cTn id="120" fill="hold">
                            <p:stCondLst>
                              <p:cond delay="1000"/>
                            </p:stCondLst>
                            <p:childTnLst>
                              <p:par>
                                <p:cTn id="121" presetID="2" presetClass="entr" presetSubtype="1" fill="hold" grpId="0" nodeType="afterEffect">
                                  <p:stCondLst>
                                    <p:cond delay="0"/>
                                  </p:stCondLst>
                                  <p:childTnLst>
                                    <p:set>
                                      <p:cBhvr>
                                        <p:cTn id="122" dur="1" fill="hold">
                                          <p:stCondLst>
                                            <p:cond delay="0"/>
                                          </p:stCondLst>
                                        </p:cTn>
                                        <p:tgtEl>
                                          <p:spTgt spid="175115"/>
                                        </p:tgtEl>
                                        <p:attrNameLst>
                                          <p:attrName>style.visibility</p:attrName>
                                        </p:attrNameLst>
                                      </p:cBhvr>
                                      <p:to>
                                        <p:strVal val="visible"/>
                                      </p:to>
                                    </p:set>
                                    <p:anim calcmode="lin" valueType="num">
                                      <p:cBhvr>
                                        <p:cTn id="123" dur="1000" fill="hold"/>
                                        <p:tgtEl>
                                          <p:spTgt spid="175115"/>
                                        </p:tgtEl>
                                        <p:attrNameLst>
                                          <p:attrName>ppt_x</p:attrName>
                                        </p:attrNameLst>
                                      </p:cBhvr>
                                      <p:tavLst>
                                        <p:tav tm="0">
                                          <p:val>
                                            <p:strVal val="#ppt_x"/>
                                          </p:val>
                                        </p:tav>
                                        <p:tav tm="100000">
                                          <p:val>
                                            <p:strVal val="#ppt_x"/>
                                          </p:val>
                                        </p:tav>
                                      </p:tavLst>
                                    </p:anim>
                                    <p:anim calcmode="lin" valueType="num">
                                      <p:cBhvr>
                                        <p:cTn id="124" dur="1000" fill="hold"/>
                                        <p:tgtEl>
                                          <p:spTgt spid="175115"/>
                                        </p:tgtEl>
                                        <p:attrNameLst>
                                          <p:attrName>ppt_y</p:attrName>
                                        </p:attrNameLst>
                                      </p:cBhvr>
                                      <p:tavLst>
                                        <p:tav tm="0">
                                          <p:val>
                                            <p:strVal val="0-#ppt_h/2"/>
                                          </p:val>
                                        </p:tav>
                                        <p:tav tm="100000">
                                          <p:val>
                                            <p:strVal val="#ppt_y"/>
                                          </p:val>
                                        </p:tav>
                                      </p:tavLst>
                                    </p:anim>
                                  </p:childTnLst>
                                </p:cTn>
                              </p:par>
                            </p:childTnLst>
                          </p:cTn>
                        </p:par>
                        <p:par>
                          <p:cTn id="125" fill="hold">
                            <p:stCondLst>
                              <p:cond delay="2000"/>
                            </p:stCondLst>
                            <p:childTnLst>
                              <p:par>
                                <p:cTn id="126" presetID="22" presetClass="entr" presetSubtype="8" fill="hold" nodeType="afterEffect">
                                  <p:stCondLst>
                                    <p:cond delay="0"/>
                                  </p:stCondLst>
                                  <p:childTnLst>
                                    <p:set>
                                      <p:cBhvr>
                                        <p:cTn id="127" dur="1" fill="hold">
                                          <p:stCondLst>
                                            <p:cond delay="0"/>
                                          </p:stCondLst>
                                        </p:cTn>
                                        <p:tgtEl>
                                          <p:spTgt spid="175128"/>
                                        </p:tgtEl>
                                        <p:attrNameLst>
                                          <p:attrName>style.visibility</p:attrName>
                                        </p:attrNameLst>
                                      </p:cBhvr>
                                      <p:to>
                                        <p:strVal val="visible"/>
                                      </p:to>
                                    </p:set>
                                    <p:animEffect transition="in" filter="wipe(left)">
                                      <p:cBhvr>
                                        <p:cTn id="128" dur="500"/>
                                        <p:tgtEl>
                                          <p:spTgt spid="175128"/>
                                        </p:tgtEl>
                                      </p:cBhvr>
                                    </p:animEffect>
                                  </p:childTnLst>
                                </p:cTn>
                              </p:par>
                              <p:par>
                                <p:cTn id="129" presetID="22" presetClass="entr" presetSubtype="8" fill="hold" grpId="0" nodeType="withEffect">
                                  <p:stCondLst>
                                    <p:cond delay="0"/>
                                  </p:stCondLst>
                                  <p:childTnLst>
                                    <p:set>
                                      <p:cBhvr>
                                        <p:cTn id="130" dur="1" fill="hold">
                                          <p:stCondLst>
                                            <p:cond delay="0"/>
                                          </p:stCondLst>
                                        </p:cTn>
                                        <p:tgtEl>
                                          <p:spTgt spid="175129"/>
                                        </p:tgtEl>
                                        <p:attrNameLst>
                                          <p:attrName>style.visibility</p:attrName>
                                        </p:attrNameLst>
                                      </p:cBhvr>
                                      <p:to>
                                        <p:strVal val="visible"/>
                                      </p:to>
                                    </p:set>
                                    <p:animEffect transition="in" filter="wipe(left)">
                                      <p:cBhvr>
                                        <p:cTn id="131" dur="500"/>
                                        <p:tgtEl>
                                          <p:spTgt spid="175129"/>
                                        </p:tgtEl>
                                      </p:cBhvr>
                                    </p:animEffect>
                                  </p:childTnLst>
                                </p:cTn>
                              </p:par>
                            </p:childTnLst>
                          </p:cTn>
                        </p:par>
                        <p:par>
                          <p:cTn id="132" fill="hold">
                            <p:stCondLst>
                              <p:cond delay="2500"/>
                            </p:stCondLst>
                            <p:childTnLst>
                              <p:par>
                                <p:cTn id="133" presetID="2" presetClass="entr" presetSubtype="1" fill="hold" grpId="0" nodeType="afterEffect">
                                  <p:stCondLst>
                                    <p:cond delay="0"/>
                                  </p:stCondLst>
                                  <p:childTnLst>
                                    <p:set>
                                      <p:cBhvr>
                                        <p:cTn id="134" dur="1" fill="hold">
                                          <p:stCondLst>
                                            <p:cond delay="0"/>
                                          </p:stCondLst>
                                        </p:cTn>
                                        <p:tgtEl>
                                          <p:spTgt spid="175130"/>
                                        </p:tgtEl>
                                        <p:attrNameLst>
                                          <p:attrName>style.visibility</p:attrName>
                                        </p:attrNameLst>
                                      </p:cBhvr>
                                      <p:to>
                                        <p:strVal val="visible"/>
                                      </p:to>
                                    </p:set>
                                    <p:anim calcmode="lin" valueType="num">
                                      <p:cBhvr>
                                        <p:cTn id="135" dur="500" fill="hold"/>
                                        <p:tgtEl>
                                          <p:spTgt spid="175130"/>
                                        </p:tgtEl>
                                        <p:attrNameLst>
                                          <p:attrName>ppt_x</p:attrName>
                                        </p:attrNameLst>
                                      </p:cBhvr>
                                      <p:tavLst>
                                        <p:tav tm="0">
                                          <p:val>
                                            <p:strVal val="#ppt_x"/>
                                          </p:val>
                                        </p:tav>
                                        <p:tav tm="100000">
                                          <p:val>
                                            <p:strVal val="#ppt_x"/>
                                          </p:val>
                                        </p:tav>
                                      </p:tavLst>
                                    </p:anim>
                                    <p:anim calcmode="lin" valueType="num">
                                      <p:cBhvr>
                                        <p:cTn id="136" dur="500" fill="hold"/>
                                        <p:tgtEl>
                                          <p:spTgt spid="17513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8" grpId="0" animBg="1"/>
      <p:bldP spid="175115" grpId="0"/>
      <p:bldP spid="175116" grpId="0"/>
      <p:bldP spid="175117" grpId="0"/>
      <p:bldP spid="175118" grpId="0"/>
      <p:bldP spid="175119" grpId="0"/>
      <p:bldP spid="175121" grpId="0" animBg="1"/>
      <p:bldP spid="175126" grpId="0"/>
      <p:bldP spid="175127" grpId="0"/>
      <p:bldP spid="175129" grpId="0"/>
      <p:bldP spid="175130" grpId="0" animBg="1"/>
      <p:bldP spid="175131" grpId="0" animBg="1"/>
      <p:bldP spid="175132" grpId="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灯片编号占位符 5"/>
          <p:cNvSpPr txBox="1">
            <a:spLocks noGrp="1"/>
          </p:cNvSpPr>
          <p:nvPr/>
        </p:nvSpPr>
        <p:spPr>
          <a:xfrm>
            <a:off x="7042150" y="6243638"/>
            <a:ext cx="1905000" cy="457200"/>
          </a:xfrm>
          <a:prstGeom prst="rect">
            <a:avLst/>
          </a:prstGeom>
          <a:noFill/>
          <a:ln w="9525">
            <a:noFill/>
          </a:ln>
        </p:spPr>
        <p:txBody>
          <a:bodyPr/>
          <a:p>
            <a:pPr algn="ctr"/>
            <a:fld id="{9A0DB2DC-4C9A-4742-B13C-FB6460FD3503}" type="slidenum">
              <a:rPr lang="zh-CN" altLang="en-US" sz="1400" dirty="0">
                <a:latin typeface="Tahoma" panose="020B0604030504040204" pitchFamily="34" charset="0"/>
                <a:ea typeface="宋体" panose="02010600030101010101" pitchFamily="2" charset="-122"/>
              </a:rPr>
            </a:fld>
            <a:endParaRPr lang="zh-CN" altLang="en-US" sz="1400" dirty="0">
              <a:latin typeface="Tahoma" panose="020B0604030504040204" pitchFamily="34" charset="0"/>
              <a:ea typeface="宋体" panose="02010600030101010101" pitchFamily="2" charset="-122"/>
            </a:endParaRPr>
          </a:p>
        </p:txBody>
      </p:sp>
      <p:sp>
        <p:nvSpPr>
          <p:cNvPr id="176131" name="Rectangle 3"/>
          <p:cNvSpPr>
            <a:spLocks noGrp="1"/>
          </p:cNvSpPr>
          <p:nvPr>
            <p:ph type="body" idx="4294967295"/>
          </p:nvPr>
        </p:nvSpPr>
        <p:spPr>
          <a:xfrm>
            <a:off x="468313" y="2060575"/>
            <a:ext cx="4017962" cy="1655763"/>
          </a:xfrm>
        </p:spPr>
        <p:txBody>
          <a:bodyPr vert="horz" wrap="square" lIns="91440" tIns="45720" rIns="91440" bIns="45720" anchor="t" anchorCtr="0"/>
          <a:p>
            <a:pPr eaLnBrk="1" hangingPunct="1">
              <a:spcAft>
                <a:spcPct val="30000"/>
              </a:spcAft>
              <a:buFont typeface="Wingdings" panose="05000000000000000000" pitchFamily="2" charset="2"/>
              <a:buChar char="l"/>
            </a:pPr>
            <a:r>
              <a:rPr lang="zh-CN" altLang="en-US" sz="2400" dirty="0">
                <a:latin typeface="宋体" panose="02010600030101010101" pitchFamily="2" charset="-122"/>
                <a:ea typeface="宋体" panose="02010600030101010101" pitchFamily="2" charset="-122"/>
              </a:rPr>
              <a:t>执行</a:t>
            </a:r>
            <a:r>
              <a:rPr lang="en-US" altLang="zh-CN" sz="2400" dirty="0">
                <a:latin typeface="宋体" panose="02010600030101010101" pitchFamily="2" charset="-122"/>
                <a:ea typeface="宋体" panose="02010600030101010101" pitchFamily="2" charset="-122"/>
              </a:rPr>
              <a:t>INT 21H</a:t>
            </a:r>
            <a:r>
              <a:rPr lang="zh-CN" altLang="en-US" sz="2400" dirty="0">
                <a:latin typeface="宋体" panose="02010600030101010101" pitchFamily="2" charset="-122"/>
                <a:ea typeface="宋体" panose="02010600030101010101" pitchFamily="2" charset="-122"/>
              </a:rPr>
              <a:t>指令后</a:t>
            </a:r>
            <a:endParaRPr lang="zh-CN" altLang="en-US" sz="2400" dirty="0">
              <a:latin typeface="宋体" panose="02010600030101010101" pitchFamily="2" charset="-122"/>
              <a:ea typeface="宋体" panose="02010600030101010101" pitchFamily="2" charset="-122"/>
            </a:endParaRPr>
          </a:p>
          <a:p>
            <a:pPr eaLnBrk="1" hangingPunct="1">
              <a:spcAft>
                <a:spcPct val="10000"/>
              </a:spcAft>
              <a:buNone/>
            </a:pPr>
            <a:r>
              <a:rPr lang="en-US" altLang="zh-CN" sz="2400" dirty="0">
                <a:latin typeface="宋体" panose="02010600030101010101" pitchFamily="2" charset="-122"/>
                <a:ea typeface="宋体" panose="02010600030101010101" pitchFamily="2" charset="-122"/>
              </a:rPr>
              <a:t>     IP=[21Hх4]</a:t>
            </a:r>
            <a:endParaRPr lang="en-US" altLang="zh-CN" sz="2400" dirty="0">
              <a:latin typeface="宋体" panose="02010600030101010101" pitchFamily="2" charset="-122"/>
              <a:ea typeface="宋体" panose="02010600030101010101" pitchFamily="2" charset="-122"/>
            </a:endParaRPr>
          </a:p>
          <a:p>
            <a:pPr eaLnBrk="1" hangingPunct="1">
              <a:buNone/>
            </a:pPr>
            <a:r>
              <a:rPr lang="en-US" altLang="zh-CN" sz="2400" dirty="0">
                <a:latin typeface="宋体" panose="02010600030101010101" pitchFamily="2" charset="-122"/>
                <a:ea typeface="宋体" panose="02010600030101010101" pitchFamily="2" charset="-122"/>
              </a:rPr>
              <a:t>     CS==[</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21Hх4</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+2]</a:t>
            </a:r>
            <a:endParaRPr lang="en-US" altLang="zh-CN" sz="2400" dirty="0">
              <a:latin typeface="宋体" panose="02010600030101010101" pitchFamily="2" charset="-122"/>
              <a:ea typeface="宋体" panose="02010600030101010101" pitchFamily="2" charset="-122"/>
            </a:endParaRPr>
          </a:p>
          <a:p>
            <a:pPr eaLnBrk="1" hangingPunct="1">
              <a:buNone/>
            </a:pPr>
            <a:endParaRPr lang="en-US" altLang="zh-CN" sz="2400" dirty="0">
              <a:ea typeface="宋体" panose="02010600030101010101" pitchFamily="2" charset="-122"/>
            </a:endParaRPr>
          </a:p>
        </p:txBody>
      </p:sp>
      <p:sp>
        <p:nvSpPr>
          <p:cNvPr id="176132" name="Rectangle 4"/>
          <p:cNvSpPr/>
          <p:nvPr/>
        </p:nvSpPr>
        <p:spPr>
          <a:xfrm>
            <a:off x="6635750" y="1989138"/>
            <a:ext cx="1601788" cy="4679950"/>
          </a:xfrm>
          <a:prstGeom prst="rect">
            <a:avLst/>
          </a:prstGeom>
          <a:solidFill>
            <a:srgbClr val="339966"/>
          </a:solidFill>
          <a:ln w="25400" cap="sq" cmpd="sng">
            <a:solidFill>
              <a:srgbClr val="339966"/>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6133" name="Line 5"/>
          <p:cNvSpPr/>
          <p:nvPr/>
        </p:nvSpPr>
        <p:spPr>
          <a:xfrm>
            <a:off x="6635750" y="3052763"/>
            <a:ext cx="1600200" cy="0"/>
          </a:xfrm>
          <a:prstGeom prst="line">
            <a:avLst/>
          </a:prstGeom>
          <a:ln w="25400" cap="sq" cmpd="sng">
            <a:solidFill>
              <a:schemeClr val="tx1"/>
            </a:solidFill>
            <a:prstDash val="solid"/>
            <a:headEnd type="none" w="med" len="med"/>
            <a:tailEnd type="none" w="med" len="med"/>
          </a:ln>
        </p:spPr>
      </p:sp>
      <p:sp>
        <p:nvSpPr>
          <p:cNvPr id="176134" name="Line 6"/>
          <p:cNvSpPr/>
          <p:nvPr/>
        </p:nvSpPr>
        <p:spPr>
          <a:xfrm>
            <a:off x="6635750" y="3433763"/>
            <a:ext cx="1600200" cy="0"/>
          </a:xfrm>
          <a:prstGeom prst="line">
            <a:avLst/>
          </a:prstGeom>
          <a:ln w="25400" cap="sq" cmpd="sng">
            <a:solidFill>
              <a:schemeClr val="tx1"/>
            </a:solidFill>
            <a:prstDash val="solid"/>
            <a:headEnd type="none" w="med" len="med"/>
            <a:tailEnd type="none" w="med" len="med"/>
          </a:ln>
        </p:spPr>
      </p:sp>
      <p:sp>
        <p:nvSpPr>
          <p:cNvPr id="176135" name="Line 7"/>
          <p:cNvSpPr/>
          <p:nvPr/>
        </p:nvSpPr>
        <p:spPr>
          <a:xfrm>
            <a:off x="6635750" y="3814763"/>
            <a:ext cx="1600200" cy="0"/>
          </a:xfrm>
          <a:prstGeom prst="line">
            <a:avLst/>
          </a:prstGeom>
          <a:ln w="25400" cap="sq" cmpd="sng">
            <a:solidFill>
              <a:schemeClr val="tx1"/>
            </a:solidFill>
            <a:prstDash val="solid"/>
            <a:headEnd type="none" w="med" len="med"/>
            <a:tailEnd type="none" w="med" len="med"/>
          </a:ln>
        </p:spPr>
      </p:sp>
      <p:sp>
        <p:nvSpPr>
          <p:cNvPr id="176136" name="Line 8"/>
          <p:cNvSpPr/>
          <p:nvPr/>
        </p:nvSpPr>
        <p:spPr>
          <a:xfrm>
            <a:off x="6637338" y="2671763"/>
            <a:ext cx="1600200" cy="0"/>
          </a:xfrm>
          <a:prstGeom prst="line">
            <a:avLst/>
          </a:prstGeom>
          <a:ln w="25400" cap="sq" cmpd="sng">
            <a:solidFill>
              <a:schemeClr val="tx1"/>
            </a:solidFill>
            <a:prstDash val="solid"/>
            <a:headEnd type="none" w="med" len="med"/>
            <a:tailEnd type="none" w="med" len="med"/>
          </a:ln>
        </p:spPr>
      </p:sp>
      <p:sp>
        <p:nvSpPr>
          <p:cNvPr id="176137" name="Line 9"/>
          <p:cNvSpPr/>
          <p:nvPr/>
        </p:nvSpPr>
        <p:spPr>
          <a:xfrm>
            <a:off x="6637338" y="4195763"/>
            <a:ext cx="1600200" cy="0"/>
          </a:xfrm>
          <a:prstGeom prst="line">
            <a:avLst/>
          </a:prstGeom>
          <a:ln w="25400" cap="sq" cmpd="sng">
            <a:solidFill>
              <a:schemeClr val="tx1"/>
            </a:solidFill>
            <a:prstDash val="solid"/>
            <a:headEnd type="none" w="med" len="med"/>
            <a:tailEnd type="none" w="med" len="med"/>
          </a:ln>
        </p:spPr>
      </p:sp>
      <p:sp>
        <p:nvSpPr>
          <p:cNvPr id="176138" name="Text Box 10"/>
          <p:cNvSpPr txBox="1"/>
          <p:nvPr/>
        </p:nvSpPr>
        <p:spPr>
          <a:xfrm>
            <a:off x="4932363" y="2522538"/>
            <a:ext cx="1144587" cy="519112"/>
          </a:xfrm>
          <a:prstGeom prst="rect">
            <a:avLst/>
          </a:prstGeom>
          <a:noFill/>
          <a:ln w="9525">
            <a:noFill/>
          </a:ln>
        </p:spPr>
        <p:txBody>
          <a:bodyPr>
            <a:spAutoFit/>
          </a:bodyPr>
          <a:p>
            <a:pPr eaLnBrk="0" hangingPunct="0">
              <a:spcBef>
                <a:spcPct val="1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0084H</a:t>
            </a:r>
            <a:r>
              <a:rPr lang="en-US" altLang="zh-CN"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p:txBody>
      </p:sp>
      <p:sp>
        <p:nvSpPr>
          <p:cNvPr id="176139" name="Line 11"/>
          <p:cNvSpPr/>
          <p:nvPr/>
        </p:nvSpPr>
        <p:spPr>
          <a:xfrm>
            <a:off x="5875338" y="2824163"/>
            <a:ext cx="609600" cy="0"/>
          </a:xfrm>
          <a:prstGeom prst="line">
            <a:avLst/>
          </a:prstGeom>
          <a:ln w="25400" cap="sq" cmpd="sng">
            <a:solidFill>
              <a:srgbClr val="339966"/>
            </a:solidFill>
            <a:prstDash val="solid"/>
            <a:headEnd type="none" w="med" len="med"/>
            <a:tailEnd type="triangle" w="lg" len="lg"/>
          </a:ln>
        </p:spPr>
      </p:sp>
      <p:sp>
        <p:nvSpPr>
          <p:cNvPr id="176140" name="Text Box 12"/>
          <p:cNvSpPr txBox="1"/>
          <p:nvPr/>
        </p:nvSpPr>
        <p:spPr>
          <a:xfrm>
            <a:off x="7105650" y="2657475"/>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23H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76141" name="Text Box 13"/>
          <p:cNvSpPr txBox="1"/>
          <p:nvPr/>
        </p:nvSpPr>
        <p:spPr>
          <a:xfrm>
            <a:off x="7105650" y="3038475"/>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11H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76142" name="Text Box 14"/>
          <p:cNvSpPr txBox="1"/>
          <p:nvPr/>
        </p:nvSpPr>
        <p:spPr>
          <a:xfrm>
            <a:off x="7105650" y="3419475"/>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00H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76143" name="Text Box 15"/>
          <p:cNvSpPr txBox="1"/>
          <p:nvPr/>
        </p:nvSpPr>
        <p:spPr>
          <a:xfrm>
            <a:off x="7105650" y="3800475"/>
            <a:ext cx="1066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20H</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76144" name="AutoShape 16"/>
          <p:cNvSpPr/>
          <p:nvPr/>
        </p:nvSpPr>
        <p:spPr>
          <a:xfrm>
            <a:off x="6713538" y="2747963"/>
            <a:ext cx="152400" cy="609600"/>
          </a:xfrm>
          <a:prstGeom prst="leftBrace">
            <a:avLst>
              <a:gd name="adj1" fmla="val 33074"/>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6145" name="AutoShape 17"/>
          <p:cNvSpPr/>
          <p:nvPr/>
        </p:nvSpPr>
        <p:spPr>
          <a:xfrm>
            <a:off x="6713538" y="3509963"/>
            <a:ext cx="152400" cy="609600"/>
          </a:xfrm>
          <a:prstGeom prst="leftBrace">
            <a:avLst>
              <a:gd name="adj1" fmla="val 33074"/>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6146" name="Line 18"/>
          <p:cNvSpPr/>
          <p:nvPr/>
        </p:nvSpPr>
        <p:spPr>
          <a:xfrm flipH="1">
            <a:off x="5799138" y="3128963"/>
            <a:ext cx="838200" cy="228600"/>
          </a:xfrm>
          <a:prstGeom prst="line">
            <a:avLst/>
          </a:prstGeom>
          <a:ln w="25400" cap="sq" cmpd="sng">
            <a:solidFill>
              <a:srgbClr val="FF6600"/>
            </a:solidFill>
            <a:prstDash val="solid"/>
            <a:headEnd type="oval" w="med" len="med"/>
            <a:tailEnd type="triangle" w="lg" len="lg"/>
          </a:ln>
        </p:spPr>
      </p:sp>
      <p:sp>
        <p:nvSpPr>
          <p:cNvPr id="176147" name="Line 19"/>
          <p:cNvSpPr/>
          <p:nvPr/>
        </p:nvSpPr>
        <p:spPr>
          <a:xfrm flipH="1">
            <a:off x="5951538" y="3890963"/>
            <a:ext cx="685800" cy="152400"/>
          </a:xfrm>
          <a:prstGeom prst="line">
            <a:avLst/>
          </a:prstGeom>
          <a:ln w="25400" cap="sq" cmpd="sng">
            <a:solidFill>
              <a:srgbClr val="FF6600"/>
            </a:solidFill>
            <a:prstDash val="solid"/>
            <a:headEnd type="oval" w="med" len="med"/>
            <a:tailEnd type="triangle" w="lg" len="lg"/>
          </a:ln>
        </p:spPr>
      </p:sp>
      <p:sp>
        <p:nvSpPr>
          <p:cNvPr id="176148" name="Text Box 20"/>
          <p:cNvSpPr txBox="1"/>
          <p:nvPr/>
        </p:nvSpPr>
        <p:spPr>
          <a:xfrm>
            <a:off x="5265738" y="3128963"/>
            <a:ext cx="6096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IP </a:t>
            </a:r>
            <a:endParaRPr lang="en-US" altLang="zh-CN" sz="2000" b="1" dirty="0">
              <a:latin typeface="Times New Roman" panose="02020603050405020304" pitchFamily="18" charset="0"/>
              <a:ea typeface="宋体" panose="02010600030101010101" pitchFamily="2" charset="-122"/>
            </a:endParaRPr>
          </a:p>
        </p:txBody>
      </p:sp>
      <p:sp>
        <p:nvSpPr>
          <p:cNvPr id="176149" name="Text Box 21"/>
          <p:cNvSpPr txBox="1"/>
          <p:nvPr/>
        </p:nvSpPr>
        <p:spPr>
          <a:xfrm>
            <a:off x="5341938" y="3814763"/>
            <a:ext cx="6858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CS</a:t>
            </a:r>
            <a:endParaRPr lang="en-US" altLang="zh-CN" sz="2000" b="1" dirty="0">
              <a:latin typeface="Times New Roman" panose="02020603050405020304" pitchFamily="18" charset="0"/>
              <a:ea typeface="宋体" panose="02010600030101010101" pitchFamily="2" charset="-122"/>
            </a:endParaRPr>
          </a:p>
        </p:txBody>
      </p:sp>
      <p:sp>
        <p:nvSpPr>
          <p:cNvPr id="176150" name="AutoShape 22"/>
          <p:cNvSpPr/>
          <p:nvPr/>
        </p:nvSpPr>
        <p:spPr>
          <a:xfrm rot="10800000">
            <a:off x="8316913" y="2420938"/>
            <a:ext cx="215900" cy="2376487"/>
          </a:xfrm>
          <a:prstGeom prst="leftBrace">
            <a:avLst>
              <a:gd name="adj1" fmla="val 91014"/>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6151" name="Text Box 23"/>
          <p:cNvSpPr txBox="1"/>
          <p:nvPr/>
        </p:nvSpPr>
        <p:spPr>
          <a:xfrm>
            <a:off x="8521700" y="3160713"/>
            <a:ext cx="457200" cy="915987"/>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数据段</a:t>
            </a:r>
            <a:endParaRPr lang="zh-CN" altLang="en-US" sz="2400" b="1" dirty="0">
              <a:latin typeface="Times New Roman" panose="02020603050405020304" pitchFamily="18" charset="0"/>
              <a:ea typeface="宋体" panose="02010600030101010101" pitchFamily="2" charset="-122"/>
            </a:endParaRPr>
          </a:p>
        </p:txBody>
      </p:sp>
      <p:sp>
        <p:nvSpPr>
          <p:cNvPr id="176152" name="Line 24"/>
          <p:cNvSpPr/>
          <p:nvPr/>
        </p:nvSpPr>
        <p:spPr>
          <a:xfrm>
            <a:off x="6630988" y="4611688"/>
            <a:ext cx="1600200" cy="0"/>
          </a:xfrm>
          <a:prstGeom prst="line">
            <a:avLst/>
          </a:prstGeom>
          <a:ln w="25400" cap="sq" cmpd="sng">
            <a:solidFill>
              <a:schemeClr val="tx1"/>
            </a:solidFill>
            <a:prstDash val="solid"/>
            <a:headEnd type="none" w="med" len="med"/>
            <a:tailEnd type="none" w="med" len="med"/>
          </a:ln>
        </p:spPr>
      </p:sp>
      <p:sp>
        <p:nvSpPr>
          <p:cNvPr id="176153" name="Line 25"/>
          <p:cNvSpPr/>
          <p:nvPr/>
        </p:nvSpPr>
        <p:spPr>
          <a:xfrm>
            <a:off x="6632575" y="5229225"/>
            <a:ext cx="1600200" cy="0"/>
          </a:xfrm>
          <a:prstGeom prst="line">
            <a:avLst/>
          </a:prstGeom>
          <a:ln w="25400" cap="sq" cmpd="sng">
            <a:solidFill>
              <a:schemeClr val="tx1"/>
            </a:solidFill>
            <a:prstDash val="solid"/>
            <a:headEnd type="none" w="med" len="med"/>
            <a:tailEnd type="none" w="med" len="med"/>
          </a:ln>
        </p:spPr>
      </p:sp>
      <p:sp>
        <p:nvSpPr>
          <p:cNvPr id="176154" name="Text Box 26"/>
          <p:cNvSpPr txBox="1"/>
          <p:nvPr/>
        </p:nvSpPr>
        <p:spPr>
          <a:xfrm>
            <a:off x="7153275" y="4772025"/>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76155" name="Text Box 27"/>
          <p:cNvSpPr txBox="1"/>
          <p:nvPr/>
        </p:nvSpPr>
        <p:spPr>
          <a:xfrm>
            <a:off x="7164388" y="2179638"/>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76156" name="AutoShape 28"/>
          <p:cNvSpPr/>
          <p:nvPr/>
        </p:nvSpPr>
        <p:spPr>
          <a:xfrm rot="10800000">
            <a:off x="8345488" y="5013325"/>
            <a:ext cx="215900" cy="1368425"/>
          </a:xfrm>
          <a:prstGeom prst="leftBrace">
            <a:avLst>
              <a:gd name="adj1" fmla="val 52407"/>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6157" name="Line 29"/>
          <p:cNvSpPr/>
          <p:nvPr/>
        </p:nvSpPr>
        <p:spPr>
          <a:xfrm>
            <a:off x="6630988" y="5661025"/>
            <a:ext cx="1600200" cy="0"/>
          </a:xfrm>
          <a:prstGeom prst="line">
            <a:avLst/>
          </a:prstGeom>
          <a:ln w="25400" cap="sq" cmpd="sng">
            <a:solidFill>
              <a:schemeClr val="tx1"/>
            </a:solidFill>
            <a:prstDash val="solid"/>
            <a:headEnd type="none" w="med" len="med"/>
            <a:tailEnd type="none" w="med" len="med"/>
          </a:ln>
        </p:spPr>
      </p:sp>
      <p:sp>
        <p:nvSpPr>
          <p:cNvPr id="176158" name="Line 30"/>
          <p:cNvSpPr/>
          <p:nvPr/>
        </p:nvSpPr>
        <p:spPr>
          <a:xfrm>
            <a:off x="6630988" y="6092825"/>
            <a:ext cx="1600200" cy="0"/>
          </a:xfrm>
          <a:prstGeom prst="line">
            <a:avLst/>
          </a:prstGeom>
          <a:ln w="25400" cap="sq" cmpd="sng">
            <a:solidFill>
              <a:schemeClr val="tx1"/>
            </a:solidFill>
            <a:prstDash val="solid"/>
            <a:headEnd type="none" w="med" len="med"/>
            <a:tailEnd type="none" w="med" len="med"/>
          </a:ln>
        </p:spPr>
      </p:sp>
      <p:sp>
        <p:nvSpPr>
          <p:cNvPr id="176159" name="Text Box 31"/>
          <p:cNvSpPr txBox="1"/>
          <p:nvPr/>
        </p:nvSpPr>
        <p:spPr>
          <a:xfrm>
            <a:off x="7150100" y="6140450"/>
            <a:ext cx="533400" cy="457200"/>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400" b="1" dirty="0">
                <a:solidFill>
                  <a:schemeClr val="bg1"/>
                </a:solidFill>
                <a:latin typeface="Times New Roman" panose="02020603050405020304" pitchFamily="18" charset="0"/>
                <a:ea typeface="宋体" panose="02010600030101010101" pitchFamily="2" charset="-122"/>
              </a:rPr>
              <a:t>┇</a:t>
            </a:r>
            <a:endParaRPr lang="en-US" altLang="zh-CN" sz="2400" b="1" dirty="0">
              <a:solidFill>
                <a:schemeClr val="bg1"/>
              </a:solidFill>
              <a:latin typeface="Times New Roman" panose="02020603050405020304" pitchFamily="18" charset="0"/>
              <a:ea typeface="宋体" panose="02010600030101010101" pitchFamily="2" charset="-122"/>
            </a:endParaRPr>
          </a:p>
        </p:txBody>
      </p:sp>
      <p:sp>
        <p:nvSpPr>
          <p:cNvPr id="176160" name="Text Box 32"/>
          <p:cNvSpPr txBox="1"/>
          <p:nvPr/>
        </p:nvSpPr>
        <p:spPr>
          <a:xfrm>
            <a:off x="8532813" y="5249863"/>
            <a:ext cx="457200" cy="915987"/>
          </a:xfrm>
          <a:prstGeom prst="rect">
            <a:avLst/>
          </a:prstGeom>
          <a:noFill/>
          <a:ln w="9525">
            <a:noFill/>
          </a:ln>
        </p:spPr>
        <p:txBody>
          <a:bodyPr>
            <a:spAutoFit/>
          </a:bodyPr>
          <a:p>
            <a:pPr algn="ctr" eaLnBrk="0" hangingPunct="0">
              <a:spcBef>
                <a:spcPct val="50000"/>
              </a:spcBef>
              <a:buFont typeface="Wingdings" panose="05000000000000000000" pitchFamily="2" charset="2"/>
            </a:pPr>
            <a:r>
              <a:rPr lang="zh-CN" altLang="en-US" sz="2400" b="1" dirty="0">
                <a:latin typeface="Times New Roman" panose="02020603050405020304" pitchFamily="18" charset="0"/>
                <a:ea typeface="宋体" panose="02010600030101010101" pitchFamily="2" charset="-122"/>
              </a:rPr>
              <a:t>代码段</a:t>
            </a:r>
            <a:endParaRPr lang="zh-CN" altLang="en-US" sz="2400" b="1" dirty="0">
              <a:latin typeface="Times New Roman" panose="02020603050405020304" pitchFamily="18" charset="0"/>
              <a:ea typeface="宋体" panose="02010600030101010101" pitchFamily="2" charset="-122"/>
            </a:endParaRPr>
          </a:p>
        </p:txBody>
      </p:sp>
      <p:sp>
        <p:nvSpPr>
          <p:cNvPr id="176161" name="Text Box 33"/>
          <p:cNvSpPr txBox="1"/>
          <p:nvPr/>
        </p:nvSpPr>
        <p:spPr>
          <a:xfrm>
            <a:off x="7134225" y="5243513"/>
            <a:ext cx="922338" cy="396875"/>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000" b="1" dirty="0">
                <a:solidFill>
                  <a:schemeClr val="bg1"/>
                </a:solidFill>
                <a:latin typeface="Times New Roman" panose="02020603050405020304" pitchFamily="18" charset="0"/>
                <a:ea typeface="宋体" panose="02010600030101010101" pitchFamily="2" charset="-122"/>
              </a:rPr>
              <a:t>XX</a:t>
            </a:r>
            <a:endParaRPr lang="en-US" altLang="zh-CN" sz="2000" b="1" dirty="0">
              <a:solidFill>
                <a:schemeClr val="bg1"/>
              </a:solidFill>
              <a:latin typeface="Times New Roman" panose="02020603050405020304" pitchFamily="18" charset="0"/>
              <a:ea typeface="宋体" panose="02010600030101010101" pitchFamily="2" charset="-122"/>
            </a:endParaRPr>
          </a:p>
        </p:txBody>
      </p:sp>
      <p:sp>
        <p:nvSpPr>
          <p:cNvPr id="176162" name="AutoShape 34"/>
          <p:cNvSpPr/>
          <p:nvPr/>
        </p:nvSpPr>
        <p:spPr>
          <a:xfrm>
            <a:off x="6929438" y="5340350"/>
            <a:ext cx="163512" cy="896938"/>
          </a:xfrm>
          <a:prstGeom prst="leftBrace">
            <a:avLst>
              <a:gd name="adj1" fmla="val 45356"/>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6163" name="Text Box 35"/>
          <p:cNvSpPr txBox="1"/>
          <p:nvPr/>
        </p:nvSpPr>
        <p:spPr>
          <a:xfrm>
            <a:off x="5372100" y="5141913"/>
            <a:ext cx="1144588" cy="519112"/>
          </a:xfrm>
          <a:prstGeom prst="rect">
            <a:avLst/>
          </a:prstGeom>
          <a:noFill/>
          <a:ln w="9525">
            <a:noFill/>
          </a:ln>
        </p:spPr>
        <p:txBody>
          <a:bodyPr>
            <a:spAutoFit/>
          </a:bodyPr>
          <a:p>
            <a:pPr eaLnBrk="0" hangingPunct="0">
              <a:spcBef>
                <a:spcPct val="10000"/>
              </a:spcBef>
              <a:buFont typeface="Wingdings" panose="05000000000000000000" pitchFamily="2" charset="2"/>
            </a:pPr>
            <a:r>
              <a:rPr lang="en-US" altLang="zh-CN" sz="2000" b="1" dirty="0">
                <a:latin typeface="Times New Roman" panose="02020603050405020304" pitchFamily="18" charset="0"/>
                <a:ea typeface="宋体" panose="02010600030101010101" pitchFamily="2" charset="-122"/>
              </a:rPr>
              <a:t>21123H</a:t>
            </a:r>
            <a:r>
              <a:rPr lang="en-US" altLang="zh-CN" sz="2800" b="1" dirty="0">
                <a:latin typeface="Times New Roman" panose="02020603050405020304" pitchFamily="18" charset="0"/>
                <a:ea typeface="宋体" panose="02010600030101010101" pitchFamily="2" charset="-122"/>
              </a:rPr>
              <a:t> </a:t>
            </a:r>
            <a:endParaRPr lang="en-US" altLang="zh-CN" sz="2800" b="1" dirty="0">
              <a:latin typeface="Times New Roman" panose="02020603050405020304" pitchFamily="18" charset="0"/>
              <a:ea typeface="宋体" panose="02010600030101010101" pitchFamily="2" charset="-122"/>
            </a:endParaRPr>
          </a:p>
        </p:txBody>
      </p:sp>
      <p:sp>
        <p:nvSpPr>
          <p:cNvPr id="176164" name="Line 36"/>
          <p:cNvSpPr/>
          <p:nvPr/>
        </p:nvSpPr>
        <p:spPr>
          <a:xfrm flipH="1">
            <a:off x="5724525" y="5797550"/>
            <a:ext cx="1128713" cy="223838"/>
          </a:xfrm>
          <a:prstGeom prst="line">
            <a:avLst/>
          </a:prstGeom>
          <a:ln w="25400" cap="sq" cmpd="sng">
            <a:solidFill>
              <a:srgbClr val="FF6600"/>
            </a:solidFill>
            <a:prstDash val="solid"/>
            <a:headEnd type="oval" w="med" len="med"/>
            <a:tailEnd type="triangle" w="lg" len="lg"/>
          </a:ln>
        </p:spPr>
      </p:sp>
      <p:sp>
        <p:nvSpPr>
          <p:cNvPr id="176165" name="Text Box 37"/>
          <p:cNvSpPr txBox="1"/>
          <p:nvPr/>
        </p:nvSpPr>
        <p:spPr>
          <a:xfrm>
            <a:off x="3635375" y="5876925"/>
            <a:ext cx="2376488" cy="396875"/>
          </a:xfrm>
          <a:prstGeom prst="rect">
            <a:avLst/>
          </a:prstGeom>
          <a:noFill/>
          <a:ln w="9525">
            <a:noFill/>
          </a:ln>
        </p:spPr>
        <p:txBody>
          <a:bodyPr>
            <a:spAutoFit/>
          </a:bodyPr>
          <a:p>
            <a:pPr eaLnBrk="0" hangingPunct="0">
              <a:spcBef>
                <a:spcPct val="1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中断服务子程序</a:t>
            </a:r>
            <a:endParaRPr lang="zh-CN" altLang="en-US" sz="2800" b="1" dirty="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6131">
                                            <p:txEl>
                                              <p:charRg st="0" end="13"/>
                                            </p:txEl>
                                          </p:spTgt>
                                        </p:tgtEl>
                                        <p:attrNameLst>
                                          <p:attrName>style.visibility</p:attrName>
                                        </p:attrNameLst>
                                      </p:cBhvr>
                                      <p:to>
                                        <p:strVal val="visible"/>
                                      </p:to>
                                    </p:set>
                                    <p:animEffect transition="in" filter="wipe(left)">
                                      <p:cBhvr>
                                        <p:cTn id="7" dur="500"/>
                                        <p:tgtEl>
                                          <p:spTgt spid="176131">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6131">
                                            <p:txEl>
                                              <p:charRg st="13" end="29"/>
                                            </p:txEl>
                                          </p:spTgt>
                                        </p:tgtEl>
                                        <p:attrNameLst>
                                          <p:attrName>style.visibility</p:attrName>
                                        </p:attrNameLst>
                                      </p:cBhvr>
                                      <p:to>
                                        <p:strVal val="visible"/>
                                      </p:to>
                                    </p:set>
                                    <p:animEffect transition="in" filter="wipe(left)">
                                      <p:cBhvr>
                                        <p:cTn id="12" dur="500"/>
                                        <p:tgtEl>
                                          <p:spTgt spid="176131">
                                            <p:txEl>
                                              <p:charRg st="13" end="2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6131">
                                            <p:txEl>
                                              <p:charRg st="29" end="50"/>
                                            </p:txEl>
                                          </p:spTgt>
                                        </p:tgtEl>
                                        <p:attrNameLst>
                                          <p:attrName>style.visibility</p:attrName>
                                        </p:attrNameLst>
                                      </p:cBhvr>
                                      <p:to>
                                        <p:strVal val="visible"/>
                                      </p:to>
                                    </p:set>
                                    <p:animEffect transition="in" filter="wipe(left)">
                                      <p:cBhvr>
                                        <p:cTn id="17" dur="500"/>
                                        <p:tgtEl>
                                          <p:spTgt spid="176131">
                                            <p:txEl>
                                              <p:charRg st="29" end="5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76132"/>
                                        </p:tgtEl>
                                        <p:attrNameLst>
                                          <p:attrName>style.visibility</p:attrName>
                                        </p:attrNameLst>
                                      </p:cBhvr>
                                      <p:to>
                                        <p:strVal val="visible"/>
                                      </p:to>
                                    </p:set>
                                    <p:anim calcmode="lin" valueType="num">
                                      <p:cBhvr>
                                        <p:cTn id="22" dur="500" fill="hold"/>
                                        <p:tgtEl>
                                          <p:spTgt spid="176132"/>
                                        </p:tgtEl>
                                        <p:attrNameLst>
                                          <p:attrName>ppt_x</p:attrName>
                                        </p:attrNameLst>
                                      </p:cBhvr>
                                      <p:tavLst>
                                        <p:tav tm="0">
                                          <p:val>
                                            <p:strVal val="#ppt_x"/>
                                          </p:val>
                                        </p:tav>
                                        <p:tav tm="100000">
                                          <p:val>
                                            <p:strVal val="#ppt_x"/>
                                          </p:val>
                                        </p:tav>
                                      </p:tavLst>
                                    </p:anim>
                                    <p:anim calcmode="lin" valueType="num">
                                      <p:cBhvr>
                                        <p:cTn id="23" dur="500" fill="hold"/>
                                        <p:tgtEl>
                                          <p:spTgt spid="176132"/>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176133"/>
                                        </p:tgtEl>
                                        <p:attrNameLst>
                                          <p:attrName>style.visibility</p:attrName>
                                        </p:attrNameLst>
                                      </p:cBhvr>
                                      <p:to>
                                        <p:strVal val="visible"/>
                                      </p:to>
                                    </p:set>
                                    <p:anim calcmode="lin" valueType="num">
                                      <p:cBhvr>
                                        <p:cTn id="26" dur="500" fill="hold"/>
                                        <p:tgtEl>
                                          <p:spTgt spid="176133"/>
                                        </p:tgtEl>
                                        <p:attrNameLst>
                                          <p:attrName>ppt_x</p:attrName>
                                        </p:attrNameLst>
                                      </p:cBhvr>
                                      <p:tavLst>
                                        <p:tav tm="0">
                                          <p:val>
                                            <p:strVal val="#ppt_x"/>
                                          </p:val>
                                        </p:tav>
                                        <p:tav tm="100000">
                                          <p:val>
                                            <p:strVal val="#ppt_x"/>
                                          </p:val>
                                        </p:tav>
                                      </p:tavLst>
                                    </p:anim>
                                    <p:anim calcmode="lin" valueType="num">
                                      <p:cBhvr>
                                        <p:cTn id="27" dur="500" fill="hold"/>
                                        <p:tgtEl>
                                          <p:spTgt spid="176133"/>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176134"/>
                                        </p:tgtEl>
                                        <p:attrNameLst>
                                          <p:attrName>style.visibility</p:attrName>
                                        </p:attrNameLst>
                                      </p:cBhvr>
                                      <p:to>
                                        <p:strVal val="visible"/>
                                      </p:to>
                                    </p:set>
                                    <p:anim calcmode="lin" valueType="num">
                                      <p:cBhvr>
                                        <p:cTn id="30" dur="500" fill="hold"/>
                                        <p:tgtEl>
                                          <p:spTgt spid="176134"/>
                                        </p:tgtEl>
                                        <p:attrNameLst>
                                          <p:attrName>ppt_x</p:attrName>
                                        </p:attrNameLst>
                                      </p:cBhvr>
                                      <p:tavLst>
                                        <p:tav tm="0">
                                          <p:val>
                                            <p:strVal val="#ppt_x"/>
                                          </p:val>
                                        </p:tav>
                                        <p:tav tm="100000">
                                          <p:val>
                                            <p:strVal val="#ppt_x"/>
                                          </p:val>
                                        </p:tav>
                                      </p:tavLst>
                                    </p:anim>
                                    <p:anim calcmode="lin" valueType="num">
                                      <p:cBhvr>
                                        <p:cTn id="31" dur="500" fill="hold"/>
                                        <p:tgtEl>
                                          <p:spTgt spid="176134"/>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176135"/>
                                        </p:tgtEl>
                                        <p:attrNameLst>
                                          <p:attrName>style.visibility</p:attrName>
                                        </p:attrNameLst>
                                      </p:cBhvr>
                                      <p:to>
                                        <p:strVal val="visible"/>
                                      </p:to>
                                    </p:set>
                                    <p:anim calcmode="lin" valueType="num">
                                      <p:cBhvr>
                                        <p:cTn id="34" dur="500" fill="hold"/>
                                        <p:tgtEl>
                                          <p:spTgt spid="176135"/>
                                        </p:tgtEl>
                                        <p:attrNameLst>
                                          <p:attrName>ppt_x</p:attrName>
                                        </p:attrNameLst>
                                      </p:cBhvr>
                                      <p:tavLst>
                                        <p:tav tm="0">
                                          <p:val>
                                            <p:strVal val="#ppt_x"/>
                                          </p:val>
                                        </p:tav>
                                        <p:tav tm="100000">
                                          <p:val>
                                            <p:strVal val="#ppt_x"/>
                                          </p:val>
                                        </p:tav>
                                      </p:tavLst>
                                    </p:anim>
                                    <p:anim calcmode="lin" valueType="num">
                                      <p:cBhvr>
                                        <p:cTn id="35" dur="500" fill="hold"/>
                                        <p:tgtEl>
                                          <p:spTgt spid="176135"/>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176136"/>
                                        </p:tgtEl>
                                        <p:attrNameLst>
                                          <p:attrName>style.visibility</p:attrName>
                                        </p:attrNameLst>
                                      </p:cBhvr>
                                      <p:to>
                                        <p:strVal val="visible"/>
                                      </p:to>
                                    </p:set>
                                    <p:anim calcmode="lin" valueType="num">
                                      <p:cBhvr>
                                        <p:cTn id="38" dur="500" fill="hold"/>
                                        <p:tgtEl>
                                          <p:spTgt spid="176136"/>
                                        </p:tgtEl>
                                        <p:attrNameLst>
                                          <p:attrName>ppt_x</p:attrName>
                                        </p:attrNameLst>
                                      </p:cBhvr>
                                      <p:tavLst>
                                        <p:tav tm="0">
                                          <p:val>
                                            <p:strVal val="#ppt_x"/>
                                          </p:val>
                                        </p:tav>
                                        <p:tav tm="100000">
                                          <p:val>
                                            <p:strVal val="#ppt_x"/>
                                          </p:val>
                                        </p:tav>
                                      </p:tavLst>
                                    </p:anim>
                                    <p:anim calcmode="lin" valueType="num">
                                      <p:cBhvr>
                                        <p:cTn id="39" dur="500" fill="hold"/>
                                        <p:tgtEl>
                                          <p:spTgt spid="176136"/>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176137"/>
                                        </p:tgtEl>
                                        <p:attrNameLst>
                                          <p:attrName>style.visibility</p:attrName>
                                        </p:attrNameLst>
                                      </p:cBhvr>
                                      <p:to>
                                        <p:strVal val="visible"/>
                                      </p:to>
                                    </p:set>
                                    <p:anim calcmode="lin" valueType="num">
                                      <p:cBhvr>
                                        <p:cTn id="42" dur="500" fill="hold"/>
                                        <p:tgtEl>
                                          <p:spTgt spid="176137"/>
                                        </p:tgtEl>
                                        <p:attrNameLst>
                                          <p:attrName>ppt_x</p:attrName>
                                        </p:attrNameLst>
                                      </p:cBhvr>
                                      <p:tavLst>
                                        <p:tav tm="0">
                                          <p:val>
                                            <p:strVal val="#ppt_x"/>
                                          </p:val>
                                        </p:tav>
                                        <p:tav tm="100000">
                                          <p:val>
                                            <p:strVal val="#ppt_x"/>
                                          </p:val>
                                        </p:tav>
                                      </p:tavLst>
                                    </p:anim>
                                    <p:anim calcmode="lin" valueType="num">
                                      <p:cBhvr>
                                        <p:cTn id="43" dur="500" fill="hold"/>
                                        <p:tgtEl>
                                          <p:spTgt spid="176137"/>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76150"/>
                                        </p:tgtEl>
                                        <p:attrNameLst>
                                          <p:attrName>style.visibility</p:attrName>
                                        </p:attrNameLst>
                                      </p:cBhvr>
                                      <p:to>
                                        <p:strVal val="visible"/>
                                      </p:to>
                                    </p:set>
                                    <p:anim calcmode="lin" valueType="num">
                                      <p:cBhvr>
                                        <p:cTn id="46" dur="500" fill="hold"/>
                                        <p:tgtEl>
                                          <p:spTgt spid="176150"/>
                                        </p:tgtEl>
                                        <p:attrNameLst>
                                          <p:attrName>ppt_x</p:attrName>
                                        </p:attrNameLst>
                                      </p:cBhvr>
                                      <p:tavLst>
                                        <p:tav tm="0">
                                          <p:val>
                                            <p:strVal val="#ppt_x"/>
                                          </p:val>
                                        </p:tav>
                                        <p:tav tm="100000">
                                          <p:val>
                                            <p:strVal val="#ppt_x"/>
                                          </p:val>
                                        </p:tav>
                                      </p:tavLst>
                                    </p:anim>
                                    <p:anim calcmode="lin" valueType="num">
                                      <p:cBhvr>
                                        <p:cTn id="47" dur="500" fill="hold"/>
                                        <p:tgtEl>
                                          <p:spTgt spid="176150"/>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76151"/>
                                        </p:tgtEl>
                                        <p:attrNameLst>
                                          <p:attrName>style.visibility</p:attrName>
                                        </p:attrNameLst>
                                      </p:cBhvr>
                                      <p:to>
                                        <p:strVal val="visible"/>
                                      </p:to>
                                    </p:set>
                                    <p:anim calcmode="lin" valueType="num">
                                      <p:cBhvr>
                                        <p:cTn id="50" dur="500" fill="hold"/>
                                        <p:tgtEl>
                                          <p:spTgt spid="176151"/>
                                        </p:tgtEl>
                                        <p:attrNameLst>
                                          <p:attrName>ppt_x</p:attrName>
                                        </p:attrNameLst>
                                      </p:cBhvr>
                                      <p:tavLst>
                                        <p:tav tm="0">
                                          <p:val>
                                            <p:strVal val="#ppt_x"/>
                                          </p:val>
                                        </p:tav>
                                        <p:tav tm="100000">
                                          <p:val>
                                            <p:strVal val="#ppt_x"/>
                                          </p:val>
                                        </p:tav>
                                      </p:tavLst>
                                    </p:anim>
                                    <p:anim calcmode="lin" valueType="num">
                                      <p:cBhvr>
                                        <p:cTn id="51" dur="500" fill="hold"/>
                                        <p:tgtEl>
                                          <p:spTgt spid="176151"/>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176152"/>
                                        </p:tgtEl>
                                        <p:attrNameLst>
                                          <p:attrName>style.visibility</p:attrName>
                                        </p:attrNameLst>
                                      </p:cBhvr>
                                      <p:to>
                                        <p:strVal val="visible"/>
                                      </p:to>
                                    </p:set>
                                    <p:anim calcmode="lin" valueType="num">
                                      <p:cBhvr>
                                        <p:cTn id="54" dur="500" fill="hold"/>
                                        <p:tgtEl>
                                          <p:spTgt spid="176152"/>
                                        </p:tgtEl>
                                        <p:attrNameLst>
                                          <p:attrName>ppt_x</p:attrName>
                                        </p:attrNameLst>
                                      </p:cBhvr>
                                      <p:tavLst>
                                        <p:tav tm="0">
                                          <p:val>
                                            <p:strVal val="#ppt_x"/>
                                          </p:val>
                                        </p:tav>
                                        <p:tav tm="100000">
                                          <p:val>
                                            <p:strVal val="#ppt_x"/>
                                          </p:val>
                                        </p:tav>
                                      </p:tavLst>
                                    </p:anim>
                                    <p:anim calcmode="lin" valueType="num">
                                      <p:cBhvr>
                                        <p:cTn id="55" dur="500" fill="hold"/>
                                        <p:tgtEl>
                                          <p:spTgt spid="176152"/>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176153"/>
                                        </p:tgtEl>
                                        <p:attrNameLst>
                                          <p:attrName>style.visibility</p:attrName>
                                        </p:attrNameLst>
                                      </p:cBhvr>
                                      <p:to>
                                        <p:strVal val="visible"/>
                                      </p:to>
                                    </p:set>
                                    <p:anim calcmode="lin" valueType="num">
                                      <p:cBhvr>
                                        <p:cTn id="58" dur="500" fill="hold"/>
                                        <p:tgtEl>
                                          <p:spTgt spid="176153"/>
                                        </p:tgtEl>
                                        <p:attrNameLst>
                                          <p:attrName>ppt_x</p:attrName>
                                        </p:attrNameLst>
                                      </p:cBhvr>
                                      <p:tavLst>
                                        <p:tav tm="0">
                                          <p:val>
                                            <p:strVal val="#ppt_x"/>
                                          </p:val>
                                        </p:tav>
                                        <p:tav tm="100000">
                                          <p:val>
                                            <p:strVal val="#ppt_x"/>
                                          </p:val>
                                        </p:tav>
                                      </p:tavLst>
                                    </p:anim>
                                    <p:anim calcmode="lin" valueType="num">
                                      <p:cBhvr>
                                        <p:cTn id="59" dur="500" fill="hold"/>
                                        <p:tgtEl>
                                          <p:spTgt spid="176153"/>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176156"/>
                                        </p:tgtEl>
                                        <p:attrNameLst>
                                          <p:attrName>style.visibility</p:attrName>
                                        </p:attrNameLst>
                                      </p:cBhvr>
                                      <p:to>
                                        <p:strVal val="visible"/>
                                      </p:to>
                                    </p:set>
                                    <p:anim calcmode="lin" valueType="num">
                                      <p:cBhvr>
                                        <p:cTn id="62" dur="500" fill="hold"/>
                                        <p:tgtEl>
                                          <p:spTgt spid="176156"/>
                                        </p:tgtEl>
                                        <p:attrNameLst>
                                          <p:attrName>ppt_x</p:attrName>
                                        </p:attrNameLst>
                                      </p:cBhvr>
                                      <p:tavLst>
                                        <p:tav tm="0">
                                          <p:val>
                                            <p:strVal val="#ppt_x"/>
                                          </p:val>
                                        </p:tav>
                                        <p:tav tm="100000">
                                          <p:val>
                                            <p:strVal val="#ppt_x"/>
                                          </p:val>
                                        </p:tav>
                                      </p:tavLst>
                                    </p:anim>
                                    <p:anim calcmode="lin" valueType="num">
                                      <p:cBhvr>
                                        <p:cTn id="63" dur="500" fill="hold"/>
                                        <p:tgtEl>
                                          <p:spTgt spid="176156"/>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176157"/>
                                        </p:tgtEl>
                                        <p:attrNameLst>
                                          <p:attrName>style.visibility</p:attrName>
                                        </p:attrNameLst>
                                      </p:cBhvr>
                                      <p:to>
                                        <p:strVal val="visible"/>
                                      </p:to>
                                    </p:set>
                                    <p:anim calcmode="lin" valueType="num">
                                      <p:cBhvr>
                                        <p:cTn id="66" dur="500" fill="hold"/>
                                        <p:tgtEl>
                                          <p:spTgt spid="176157"/>
                                        </p:tgtEl>
                                        <p:attrNameLst>
                                          <p:attrName>ppt_x</p:attrName>
                                        </p:attrNameLst>
                                      </p:cBhvr>
                                      <p:tavLst>
                                        <p:tav tm="0">
                                          <p:val>
                                            <p:strVal val="#ppt_x"/>
                                          </p:val>
                                        </p:tav>
                                        <p:tav tm="100000">
                                          <p:val>
                                            <p:strVal val="#ppt_x"/>
                                          </p:val>
                                        </p:tav>
                                      </p:tavLst>
                                    </p:anim>
                                    <p:anim calcmode="lin" valueType="num">
                                      <p:cBhvr>
                                        <p:cTn id="67" dur="500" fill="hold"/>
                                        <p:tgtEl>
                                          <p:spTgt spid="176157"/>
                                        </p:tgtEl>
                                        <p:attrNameLst>
                                          <p:attrName>ppt_y</p:attrName>
                                        </p:attrNameLst>
                                      </p:cBhvr>
                                      <p:tavLst>
                                        <p:tav tm="0">
                                          <p:val>
                                            <p:strVal val="1+#ppt_h/2"/>
                                          </p:val>
                                        </p:tav>
                                        <p:tav tm="100000">
                                          <p:val>
                                            <p:strVal val="#ppt_y"/>
                                          </p:val>
                                        </p:tav>
                                      </p:tavLst>
                                    </p:anim>
                                  </p:childTnLst>
                                </p:cTn>
                              </p:par>
                              <p:par>
                                <p:cTn id="68" presetID="2" presetClass="entr" presetSubtype="4" fill="hold" nodeType="withEffect">
                                  <p:stCondLst>
                                    <p:cond delay="0"/>
                                  </p:stCondLst>
                                  <p:childTnLst>
                                    <p:set>
                                      <p:cBhvr>
                                        <p:cTn id="69" dur="1" fill="hold">
                                          <p:stCondLst>
                                            <p:cond delay="0"/>
                                          </p:stCondLst>
                                        </p:cTn>
                                        <p:tgtEl>
                                          <p:spTgt spid="176158"/>
                                        </p:tgtEl>
                                        <p:attrNameLst>
                                          <p:attrName>style.visibility</p:attrName>
                                        </p:attrNameLst>
                                      </p:cBhvr>
                                      <p:to>
                                        <p:strVal val="visible"/>
                                      </p:to>
                                    </p:set>
                                    <p:anim calcmode="lin" valueType="num">
                                      <p:cBhvr>
                                        <p:cTn id="70" dur="500" fill="hold"/>
                                        <p:tgtEl>
                                          <p:spTgt spid="176158"/>
                                        </p:tgtEl>
                                        <p:attrNameLst>
                                          <p:attrName>ppt_x</p:attrName>
                                        </p:attrNameLst>
                                      </p:cBhvr>
                                      <p:tavLst>
                                        <p:tav tm="0">
                                          <p:val>
                                            <p:strVal val="#ppt_x"/>
                                          </p:val>
                                        </p:tav>
                                        <p:tav tm="100000">
                                          <p:val>
                                            <p:strVal val="#ppt_x"/>
                                          </p:val>
                                        </p:tav>
                                      </p:tavLst>
                                    </p:anim>
                                    <p:anim calcmode="lin" valueType="num">
                                      <p:cBhvr>
                                        <p:cTn id="71" dur="500" fill="hold"/>
                                        <p:tgtEl>
                                          <p:spTgt spid="176158"/>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176160"/>
                                        </p:tgtEl>
                                        <p:attrNameLst>
                                          <p:attrName>style.visibility</p:attrName>
                                        </p:attrNameLst>
                                      </p:cBhvr>
                                      <p:to>
                                        <p:strVal val="visible"/>
                                      </p:to>
                                    </p:set>
                                    <p:anim calcmode="lin" valueType="num">
                                      <p:cBhvr>
                                        <p:cTn id="74" dur="500" fill="hold"/>
                                        <p:tgtEl>
                                          <p:spTgt spid="176160"/>
                                        </p:tgtEl>
                                        <p:attrNameLst>
                                          <p:attrName>ppt_x</p:attrName>
                                        </p:attrNameLst>
                                      </p:cBhvr>
                                      <p:tavLst>
                                        <p:tav tm="0">
                                          <p:val>
                                            <p:strVal val="#ppt_x"/>
                                          </p:val>
                                        </p:tav>
                                        <p:tav tm="100000">
                                          <p:val>
                                            <p:strVal val="#ppt_x"/>
                                          </p:val>
                                        </p:tav>
                                      </p:tavLst>
                                    </p:anim>
                                    <p:anim calcmode="lin" valueType="num">
                                      <p:cBhvr>
                                        <p:cTn id="75" dur="500" fill="hold"/>
                                        <p:tgtEl>
                                          <p:spTgt spid="176160"/>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18" presetClass="entr" presetSubtype="6" fill="hold" grpId="0" nodeType="clickEffect">
                                  <p:stCondLst>
                                    <p:cond delay="0"/>
                                  </p:stCondLst>
                                  <p:childTnLst>
                                    <p:set>
                                      <p:cBhvr>
                                        <p:cTn id="79" dur="1" fill="hold">
                                          <p:stCondLst>
                                            <p:cond delay="0"/>
                                          </p:stCondLst>
                                        </p:cTn>
                                        <p:tgtEl>
                                          <p:spTgt spid="176138"/>
                                        </p:tgtEl>
                                        <p:attrNameLst>
                                          <p:attrName>style.visibility</p:attrName>
                                        </p:attrNameLst>
                                      </p:cBhvr>
                                      <p:to>
                                        <p:strVal val="visible"/>
                                      </p:to>
                                    </p:set>
                                    <p:animEffect transition="in" filter="strips(downRight)">
                                      <p:cBhvr>
                                        <p:cTn id="80" dur="500"/>
                                        <p:tgtEl>
                                          <p:spTgt spid="176138"/>
                                        </p:tgtEl>
                                      </p:cBhvr>
                                    </p:animEffect>
                                  </p:childTnLst>
                                </p:cTn>
                              </p:par>
                            </p:childTnLst>
                          </p:cTn>
                        </p:par>
                        <p:par>
                          <p:cTn id="81" fill="hold">
                            <p:stCondLst>
                              <p:cond delay="500"/>
                            </p:stCondLst>
                            <p:childTnLst>
                              <p:par>
                                <p:cTn id="82" presetID="18" presetClass="entr" presetSubtype="6" fill="hold" nodeType="afterEffect">
                                  <p:stCondLst>
                                    <p:cond delay="0"/>
                                  </p:stCondLst>
                                  <p:childTnLst>
                                    <p:set>
                                      <p:cBhvr>
                                        <p:cTn id="83" dur="1" fill="hold">
                                          <p:stCondLst>
                                            <p:cond delay="0"/>
                                          </p:stCondLst>
                                        </p:cTn>
                                        <p:tgtEl>
                                          <p:spTgt spid="176139"/>
                                        </p:tgtEl>
                                        <p:attrNameLst>
                                          <p:attrName>style.visibility</p:attrName>
                                        </p:attrNameLst>
                                      </p:cBhvr>
                                      <p:to>
                                        <p:strVal val="visible"/>
                                      </p:to>
                                    </p:set>
                                    <p:animEffect transition="in" filter="strips(downRight)">
                                      <p:cBhvr>
                                        <p:cTn id="84" dur="500"/>
                                        <p:tgtEl>
                                          <p:spTgt spid="176139"/>
                                        </p:tgtEl>
                                      </p:cBhvr>
                                    </p:animEffect>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176140"/>
                                        </p:tgtEl>
                                        <p:attrNameLst>
                                          <p:attrName>style.visibility</p:attrName>
                                        </p:attrNameLst>
                                      </p:cBhvr>
                                      <p:to>
                                        <p:strVal val="visible"/>
                                      </p:to>
                                    </p:set>
                                    <p:anim calcmode="lin" valueType="num">
                                      <p:cBhvr>
                                        <p:cTn id="89" dur="500" fill="hold"/>
                                        <p:tgtEl>
                                          <p:spTgt spid="176140"/>
                                        </p:tgtEl>
                                        <p:attrNameLst>
                                          <p:attrName>ppt_x</p:attrName>
                                        </p:attrNameLst>
                                      </p:cBhvr>
                                      <p:tavLst>
                                        <p:tav tm="0">
                                          <p:val>
                                            <p:strVal val="#ppt_x"/>
                                          </p:val>
                                        </p:tav>
                                        <p:tav tm="100000">
                                          <p:val>
                                            <p:strVal val="#ppt_x"/>
                                          </p:val>
                                        </p:tav>
                                      </p:tavLst>
                                    </p:anim>
                                    <p:anim calcmode="lin" valueType="num">
                                      <p:cBhvr>
                                        <p:cTn id="90" dur="500" fill="hold"/>
                                        <p:tgtEl>
                                          <p:spTgt spid="176140"/>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176159"/>
                                        </p:tgtEl>
                                        <p:attrNameLst>
                                          <p:attrName>style.visibility</p:attrName>
                                        </p:attrNameLst>
                                      </p:cBhvr>
                                      <p:to>
                                        <p:strVal val="visible"/>
                                      </p:to>
                                    </p:set>
                                    <p:anim calcmode="lin" valueType="num">
                                      <p:cBhvr>
                                        <p:cTn id="93" dur="500" fill="hold"/>
                                        <p:tgtEl>
                                          <p:spTgt spid="176159"/>
                                        </p:tgtEl>
                                        <p:attrNameLst>
                                          <p:attrName>ppt_x</p:attrName>
                                        </p:attrNameLst>
                                      </p:cBhvr>
                                      <p:tavLst>
                                        <p:tav tm="0">
                                          <p:val>
                                            <p:strVal val="#ppt_x"/>
                                          </p:val>
                                        </p:tav>
                                        <p:tav tm="100000">
                                          <p:val>
                                            <p:strVal val="#ppt_x"/>
                                          </p:val>
                                        </p:tav>
                                      </p:tavLst>
                                    </p:anim>
                                    <p:anim calcmode="lin" valueType="num">
                                      <p:cBhvr>
                                        <p:cTn id="94" dur="500" fill="hold"/>
                                        <p:tgtEl>
                                          <p:spTgt spid="176159"/>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176141"/>
                                        </p:tgtEl>
                                        <p:attrNameLst>
                                          <p:attrName>style.visibility</p:attrName>
                                        </p:attrNameLst>
                                      </p:cBhvr>
                                      <p:to>
                                        <p:strVal val="visible"/>
                                      </p:to>
                                    </p:set>
                                    <p:anim calcmode="lin" valueType="num">
                                      <p:cBhvr>
                                        <p:cTn id="97" dur="500" fill="hold"/>
                                        <p:tgtEl>
                                          <p:spTgt spid="176141"/>
                                        </p:tgtEl>
                                        <p:attrNameLst>
                                          <p:attrName>ppt_x</p:attrName>
                                        </p:attrNameLst>
                                      </p:cBhvr>
                                      <p:tavLst>
                                        <p:tav tm="0">
                                          <p:val>
                                            <p:strVal val="#ppt_x"/>
                                          </p:val>
                                        </p:tav>
                                        <p:tav tm="100000">
                                          <p:val>
                                            <p:strVal val="#ppt_x"/>
                                          </p:val>
                                        </p:tav>
                                      </p:tavLst>
                                    </p:anim>
                                    <p:anim calcmode="lin" valueType="num">
                                      <p:cBhvr>
                                        <p:cTn id="98" dur="500" fill="hold"/>
                                        <p:tgtEl>
                                          <p:spTgt spid="176141"/>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176142"/>
                                        </p:tgtEl>
                                        <p:attrNameLst>
                                          <p:attrName>style.visibility</p:attrName>
                                        </p:attrNameLst>
                                      </p:cBhvr>
                                      <p:to>
                                        <p:strVal val="visible"/>
                                      </p:to>
                                    </p:set>
                                    <p:anim calcmode="lin" valueType="num">
                                      <p:cBhvr>
                                        <p:cTn id="101" dur="500" fill="hold"/>
                                        <p:tgtEl>
                                          <p:spTgt spid="176142"/>
                                        </p:tgtEl>
                                        <p:attrNameLst>
                                          <p:attrName>ppt_x</p:attrName>
                                        </p:attrNameLst>
                                      </p:cBhvr>
                                      <p:tavLst>
                                        <p:tav tm="0">
                                          <p:val>
                                            <p:strVal val="#ppt_x"/>
                                          </p:val>
                                        </p:tav>
                                        <p:tav tm="100000">
                                          <p:val>
                                            <p:strVal val="#ppt_x"/>
                                          </p:val>
                                        </p:tav>
                                      </p:tavLst>
                                    </p:anim>
                                    <p:anim calcmode="lin" valueType="num">
                                      <p:cBhvr>
                                        <p:cTn id="102" dur="500" fill="hold"/>
                                        <p:tgtEl>
                                          <p:spTgt spid="176142"/>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176143"/>
                                        </p:tgtEl>
                                        <p:attrNameLst>
                                          <p:attrName>style.visibility</p:attrName>
                                        </p:attrNameLst>
                                      </p:cBhvr>
                                      <p:to>
                                        <p:strVal val="visible"/>
                                      </p:to>
                                    </p:set>
                                    <p:anim calcmode="lin" valueType="num">
                                      <p:cBhvr>
                                        <p:cTn id="105" dur="500" fill="hold"/>
                                        <p:tgtEl>
                                          <p:spTgt spid="176143"/>
                                        </p:tgtEl>
                                        <p:attrNameLst>
                                          <p:attrName>ppt_x</p:attrName>
                                        </p:attrNameLst>
                                      </p:cBhvr>
                                      <p:tavLst>
                                        <p:tav tm="0">
                                          <p:val>
                                            <p:strVal val="#ppt_x"/>
                                          </p:val>
                                        </p:tav>
                                        <p:tav tm="100000">
                                          <p:val>
                                            <p:strVal val="#ppt_x"/>
                                          </p:val>
                                        </p:tav>
                                      </p:tavLst>
                                    </p:anim>
                                    <p:anim calcmode="lin" valueType="num">
                                      <p:cBhvr>
                                        <p:cTn id="106" dur="500" fill="hold"/>
                                        <p:tgtEl>
                                          <p:spTgt spid="176143"/>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176155"/>
                                        </p:tgtEl>
                                        <p:attrNameLst>
                                          <p:attrName>style.visibility</p:attrName>
                                        </p:attrNameLst>
                                      </p:cBhvr>
                                      <p:to>
                                        <p:strVal val="visible"/>
                                      </p:to>
                                    </p:set>
                                    <p:anim calcmode="lin" valueType="num">
                                      <p:cBhvr>
                                        <p:cTn id="109" dur="500" fill="hold"/>
                                        <p:tgtEl>
                                          <p:spTgt spid="176155"/>
                                        </p:tgtEl>
                                        <p:attrNameLst>
                                          <p:attrName>ppt_x</p:attrName>
                                        </p:attrNameLst>
                                      </p:cBhvr>
                                      <p:tavLst>
                                        <p:tav tm="0">
                                          <p:val>
                                            <p:strVal val="#ppt_x"/>
                                          </p:val>
                                        </p:tav>
                                        <p:tav tm="100000">
                                          <p:val>
                                            <p:strVal val="#ppt_x"/>
                                          </p:val>
                                        </p:tav>
                                      </p:tavLst>
                                    </p:anim>
                                    <p:anim calcmode="lin" valueType="num">
                                      <p:cBhvr>
                                        <p:cTn id="110" dur="500" fill="hold"/>
                                        <p:tgtEl>
                                          <p:spTgt spid="176155"/>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176154"/>
                                        </p:tgtEl>
                                        <p:attrNameLst>
                                          <p:attrName>style.visibility</p:attrName>
                                        </p:attrNameLst>
                                      </p:cBhvr>
                                      <p:to>
                                        <p:strVal val="visible"/>
                                      </p:to>
                                    </p:set>
                                    <p:anim calcmode="lin" valueType="num">
                                      <p:cBhvr>
                                        <p:cTn id="113" dur="500" fill="hold"/>
                                        <p:tgtEl>
                                          <p:spTgt spid="176154"/>
                                        </p:tgtEl>
                                        <p:attrNameLst>
                                          <p:attrName>ppt_x</p:attrName>
                                        </p:attrNameLst>
                                      </p:cBhvr>
                                      <p:tavLst>
                                        <p:tav tm="0">
                                          <p:val>
                                            <p:strVal val="#ppt_x"/>
                                          </p:val>
                                        </p:tav>
                                        <p:tav tm="100000">
                                          <p:val>
                                            <p:strVal val="#ppt_x"/>
                                          </p:val>
                                        </p:tav>
                                      </p:tavLst>
                                    </p:anim>
                                    <p:anim calcmode="lin" valueType="num">
                                      <p:cBhvr>
                                        <p:cTn id="114" dur="500" fill="hold"/>
                                        <p:tgtEl>
                                          <p:spTgt spid="176154"/>
                                        </p:tgtEl>
                                        <p:attrNameLst>
                                          <p:attrName>ppt_y</p:attrName>
                                        </p:attrNameLst>
                                      </p:cBhvr>
                                      <p:tavLst>
                                        <p:tav tm="0">
                                          <p:val>
                                            <p:strVal val="1+#ppt_h/2"/>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18" presetClass="entr" presetSubtype="12" fill="hold" grpId="0" nodeType="clickEffect">
                                  <p:stCondLst>
                                    <p:cond delay="0"/>
                                  </p:stCondLst>
                                  <p:childTnLst>
                                    <p:set>
                                      <p:cBhvr>
                                        <p:cTn id="118" dur="1" fill="hold">
                                          <p:stCondLst>
                                            <p:cond delay="0"/>
                                          </p:stCondLst>
                                        </p:cTn>
                                        <p:tgtEl>
                                          <p:spTgt spid="176144"/>
                                        </p:tgtEl>
                                        <p:attrNameLst>
                                          <p:attrName>style.visibility</p:attrName>
                                        </p:attrNameLst>
                                      </p:cBhvr>
                                      <p:to>
                                        <p:strVal val="visible"/>
                                      </p:to>
                                    </p:set>
                                    <p:animEffect transition="in" filter="strips(downLeft)">
                                      <p:cBhvr>
                                        <p:cTn id="119" dur="500"/>
                                        <p:tgtEl>
                                          <p:spTgt spid="176144"/>
                                        </p:tgtEl>
                                      </p:cBhvr>
                                    </p:animEffect>
                                  </p:childTnLst>
                                </p:cTn>
                              </p:par>
                            </p:childTnLst>
                          </p:cTn>
                        </p:par>
                        <p:par>
                          <p:cTn id="120" fill="hold">
                            <p:stCondLst>
                              <p:cond delay="500"/>
                            </p:stCondLst>
                            <p:childTnLst>
                              <p:par>
                                <p:cTn id="121" presetID="18" presetClass="entr" presetSubtype="12" fill="hold" nodeType="afterEffect">
                                  <p:stCondLst>
                                    <p:cond delay="0"/>
                                  </p:stCondLst>
                                  <p:childTnLst>
                                    <p:set>
                                      <p:cBhvr>
                                        <p:cTn id="122" dur="1" fill="hold">
                                          <p:stCondLst>
                                            <p:cond delay="0"/>
                                          </p:stCondLst>
                                        </p:cTn>
                                        <p:tgtEl>
                                          <p:spTgt spid="176146"/>
                                        </p:tgtEl>
                                        <p:attrNameLst>
                                          <p:attrName>style.visibility</p:attrName>
                                        </p:attrNameLst>
                                      </p:cBhvr>
                                      <p:to>
                                        <p:strVal val="visible"/>
                                      </p:to>
                                    </p:set>
                                    <p:animEffect transition="in" filter="strips(downLeft)">
                                      <p:cBhvr>
                                        <p:cTn id="123" dur="500"/>
                                        <p:tgtEl>
                                          <p:spTgt spid="176146"/>
                                        </p:tgtEl>
                                      </p:cBhvr>
                                    </p:animEffect>
                                  </p:childTnLst>
                                </p:cTn>
                              </p:par>
                            </p:childTnLst>
                          </p:cTn>
                        </p:par>
                        <p:par>
                          <p:cTn id="124" fill="hold">
                            <p:stCondLst>
                              <p:cond delay="1000"/>
                            </p:stCondLst>
                            <p:childTnLst>
                              <p:par>
                                <p:cTn id="125" presetID="18" presetClass="entr" presetSubtype="6" fill="hold" grpId="0" nodeType="afterEffect">
                                  <p:stCondLst>
                                    <p:cond delay="0"/>
                                  </p:stCondLst>
                                  <p:childTnLst>
                                    <p:set>
                                      <p:cBhvr>
                                        <p:cTn id="126" dur="1" fill="hold">
                                          <p:stCondLst>
                                            <p:cond delay="0"/>
                                          </p:stCondLst>
                                        </p:cTn>
                                        <p:tgtEl>
                                          <p:spTgt spid="176148"/>
                                        </p:tgtEl>
                                        <p:attrNameLst>
                                          <p:attrName>style.visibility</p:attrName>
                                        </p:attrNameLst>
                                      </p:cBhvr>
                                      <p:to>
                                        <p:strVal val="visible"/>
                                      </p:to>
                                    </p:set>
                                    <p:animEffect transition="in" filter="strips(downRight)">
                                      <p:cBhvr>
                                        <p:cTn id="127" dur="500"/>
                                        <p:tgtEl>
                                          <p:spTgt spid="176148"/>
                                        </p:tgtEl>
                                      </p:cBhvr>
                                    </p:animEffect>
                                  </p:childTnLst>
                                </p:cTn>
                              </p:par>
                            </p:childTnLst>
                          </p:cTn>
                        </p:par>
                      </p:childTnLst>
                    </p:cTn>
                  </p:par>
                  <p:par>
                    <p:cTn id="128" fill="hold">
                      <p:stCondLst>
                        <p:cond delay="indefinite"/>
                      </p:stCondLst>
                      <p:childTnLst>
                        <p:par>
                          <p:cTn id="129" fill="hold">
                            <p:stCondLst>
                              <p:cond delay="0"/>
                            </p:stCondLst>
                            <p:childTnLst>
                              <p:par>
                                <p:cTn id="130" presetID="18" presetClass="entr" presetSubtype="12" fill="hold" grpId="0" nodeType="clickEffect">
                                  <p:stCondLst>
                                    <p:cond delay="0"/>
                                  </p:stCondLst>
                                  <p:childTnLst>
                                    <p:set>
                                      <p:cBhvr>
                                        <p:cTn id="131" dur="1" fill="hold">
                                          <p:stCondLst>
                                            <p:cond delay="0"/>
                                          </p:stCondLst>
                                        </p:cTn>
                                        <p:tgtEl>
                                          <p:spTgt spid="176145"/>
                                        </p:tgtEl>
                                        <p:attrNameLst>
                                          <p:attrName>style.visibility</p:attrName>
                                        </p:attrNameLst>
                                      </p:cBhvr>
                                      <p:to>
                                        <p:strVal val="visible"/>
                                      </p:to>
                                    </p:set>
                                    <p:animEffect transition="in" filter="strips(downLeft)">
                                      <p:cBhvr>
                                        <p:cTn id="132" dur="500"/>
                                        <p:tgtEl>
                                          <p:spTgt spid="176145"/>
                                        </p:tgtEl>
                                      </p:cBhvr>
                                    </p:animEffect>
                                  </p:childTnLst>
                                </p:cTn>
                              </p:par>
                            </p:childTnLst>
                          </p:cTn>
                        </p:par>
                        <p:par>
                          <p:cTn id="133" fill="hold">
                            <p:stCondLst>
                              <p:cond delay="500"/>
                            </p:stCondLst>
                            <p:childTnLst>
                              <p:par>
                                <p:cTn id="134" presetID="18" presetClass="entr" presetSubtype="12" fill="hold" nodeType="afterEffect">
                                  <p:stCondLst>
                                    <p:cond delay="0"/>
                                  </p:stCondLst>
                                  <p:childTnLst>
                                    <p:set>
                                      <p:cBhvr>
                                        <p:cTn id="135" dur="1" fill="hold">
                                          <p:stCondLst>
                                            <p:cond delay="0"/>
                                          </p:stCondLst>
                                        </p:cTn>
                                        <p:tgtEl>
                                          <p:spTgt spid="176147"/>
                                        </p:tgtEl>
                                        <p:attrNameLst>
                                          <p:attrName>style.visibility</p:attrName>
                                        </p:attrNameLst>
                                      </p:cBhvr>
                                      <p:to>
                                        <p:strVal val="visible"/>
                                      </p:to>
                                    </p:set>
                                    <p:animEffect transition="in" filter="strips(downLeft)">
                                      <p:cBhvr>
                                        <p:cTn id="136" dur="500"/>
                                        <p:tgtEl>
                                          <p:spTgt spid="176147"/>
                                        </p:tgtEl>
                                      </p:cBhvr>
                                    </p:animEffect>
                                  </p:childTnLst>
                                </p:cTn>
                              </p:par>
                            </p:childTnLst>
                          </p:cTn>
                        </p:par>
                        <p:par>
                          <p:cTn id="137" fill="hold">
                            <p:stCondLst>
                              <p:cond delay="1000"/>
                            </p:stCondLst>
                            <p:childTnLst>
                              <p:par>
                                <p:cTn id="138" presetID="18" presetClass="entr" presetSubtype="6" fill="hold" grpId="0" nodeType="afterEffect">
                                  <p:stCondLst>
                                    <p:cond delay="0"/>
                                  </p:stCondLst>
                                  <p:childTnLst>
                                    <p:set>
                                      <p:cBhvr>
                                        <p:cTn id="139" dur="1" fill="hold">
                                          <p:stCondLst>
                                            <p:cond delay="0"/>
                                          </p:stCondLst>
                                        </p:cTn>
                                        <p:tgtEl>
                                          <p:spTgt spid="176149"/>
                                        </p:tgtEl>
                                        <p:attrNameLst>
                                          <p:attrName>style.visibility</p:attrName>
                                        </p:attrNameLst>
                                      </p:cBhvr>
                                      <p:to>
                                        <p:strVal val="visible"/>
                                      </p:to>
                                    </p:set>
                                    <p:animEffect transition="in" filter="strips(downRight)">
                                      <p:cBhvr>
                                        <p:cTn id="140" dur="500"/>
                                        <p:tgtEl>
                                          <p:spTgt spid="176149"/>
                                        </p:tgtEl>
                                      </p:cBhvr>
                                    </p:animEffect>
                                  </p:childTnLst>
                                </p:cTn>
                              </p:par>
                            </p:childTnLst>
                          </p:cTn>
                        </p:par>
                      </p:childTnLst>
                    </p:cTn>
                  </p:par>
                  <p:par>
                    <p:cTn id="141" fill="hold">
                      <p:stCondLst>
                        <p:cond delay="indefinite"/>
                      </p:stCondLst>
                      <p:childTnLst>
                        <p:par>
                          <p:cTn id="142" fill="hold">
                            <p:stCondLst>
                              <p:cond delay="0"/>
                            </p:stCondLst>
                            <p:childTnLst>
                              <p:par>
                                <p:cTn id="143" presetID="18" presetClass="entr" presetSubtype="6" fill="hold" grpId="0" nodeType="clickEffect">
                                  <p:stCondLst>
                                    <p:cond delay="0"/>
                                  </p:stCondLst>
                                  <p:childTnLst>
                                    <p:set>
                                      <p:cBhvr>
                                        <p:cTn id="144" dur="1" fill="hold">
                                          <p:stCondLst>
                                            <p:cond delay="0"/>
                                          </p:stCondLst>
                                        </p:cTn>
                                        <p:tgtEl>
                                          <p:spTgt spid="176163"/>
                                        </p:tgtEl>
                                        <p:attrNameLst>
                                          <p:attrName>style.visibility</p:attrName>
                                        </p:attrNameLst>
                                      </p:cBhvr>
                                      <p:to>
                                        <p:strVal val="visible"/>
                                      </p:to>
                                    </p:set>
                                    <p:animEffect transition="in" filter="strips(downRight)">
                                      <p:cBhvr>
                                        <p:cTn id="145" dur="500"/>
                                        <p:tgtEl>
                                          <p:spTgt spid="176163"/>
                                        </p:tgtEl>
                                      </p:cBhvr>
                                    </p:animEffect>
                                  </p:childTnLst>
                                </p:cTn>
                              </p:par>
                            </p:childTnLst>
                          </p:cTn>
                        </p:par>
                      </p:childTnLst>
                    </p:cTn>
                  </p:par>
                  <p:par>
                    <p:cTn id="146" fill="hold">
                      <p:stCondLst>
                        <p:cond delay="indefinite"/>
                      </p:stCondLst>
                      <p:childTnLst>
                        <p:par>
                          <p:cTn id="147" fill="hold">
                            <p:stCondLst>
                              <p:cond delay="0"/>
                            </p:stCondLst>
                            <p:childTnLst>
                              <p:par>
                                <p:cTn id="148" presetID="18" presetClass="entr" presetSubtype="6" fill="hold" grpId="0" nodeType="clickEffect">
                                  <p:stCondLst>
                                    <p:cond delay="0"/>
                                  </p:stCondLst>
                                  <p:childTnLst>
                                    <p:set>
                                      <p:cBhvr>
                                        <p:cTn id="149" dur="1" fill="hold">
                                          <p:stCondLst>
                                            <p:cond delay="0"/>
                                          </p:stCondLst>
                                        </p:cTn>
                                        <p:tgtEl>
                                          <p:spTgt spid="176161"/>
                                        </p:tgtEl>
                                        <p:attrNameLst>
                                          <p:attrName>style.visibility</p:attrName>
                                        </p:attrNameLst>
                                      </p:cBhvr>
                                      <p:to>
                                        <p:strVal val="visible"/>
                                      </p:to>
                                    </p:set>
                                    <p:animEffect transition="in" filter="strips(downRight)">
                                      <p:cBhvr>
                                        <p:cTn id="150" dur="500"/>
                                        <p:tgtEl>
                                          <p:spTgt spid="176161"/>
                                        </p:tgtEl>
                                      </p:cBhvr>
                                    </p:animEffect>
                                  </p:childTnLst>
                                </p:cTn>
                              </p:par>
                            </p:childTnLst>
                          </p:cTn>
                        </p:par>
                        <p:par>
                          <p:cTn id="151" fill="hold">
                            <p:stCondLst>
                              <p:cond delay="500"/>
                            </p:stCondLst>
                            <p:childTnLst>
                              <p:par>
                                <p:cTn id="152" presetID="18" presetClass="entr" presetSubtype="12" fill="hold" grpId="0" nodeType="afterEffect">
                                  <p:stCondLst>
                                    <p:cond delay="0"/>
                                  </p:stCondLst>
                                  <p:childTnLst>
                                    <p:set>
                                      <p:cBhvr>
                                        <p:cTn id="153" dur="1" fill="hold">
                                          <p:stCondLst>
                                            <p:cond delay="0"/>
                                          </p:stCondLst>
                                        </p:cTn>
                                        <p:tgtEl>
                                          <p:spTgt spid="176162"/>
                                        </p:tgtEl>
                                        <p:attrNameLst>
                                          <p:attrName>style.visibility</p:attrName>
                                        </p:attrNameLst>
                                      </p:cBhvr>
                                      <p:to>
                                        <p:strVal val="visible"/>
                                      </p:to>
                                    </p:set>
                                    <p:animEffect transition="in" filter="strips(downLeft)">
                                      <p:cBhvr>
                                        <p:cTn id="154" dur="500"/>
                                        <p:tgtEl>
                                          <p:spTgt spid="176162"/>
                                        </p:tgtEl>
                                      </p:cBhvr>
                                    </p:animEffect>
                                  </p:childTnLst>
                                </p:cTn>
                              </p:par>
                            </p:childTnLst>
                          </p:cTn>
                        </p:par>
                        <p:par>
                          <p:cTn id="155" fill="hold">
                            <p:stCondLst>
                              <p:cond delay="1000"/>
                            </p:stCondLst>
                            <p:childTnLst>
                              <p:par>
                                <p:cTn id="156" presetID="18" presetClass="entr" presetSubtype="12" fill="hold" nodeType="afterEffect">
                                  <p:stCondLst>
                                    <p:cond delay="0"/>
                                  </p:stCondLst>
                                  <p:childTnLst>
                                    <p:set>
                                      <p:cBhvr>
                                        <p:cTn id="157" dur="1" fill="hold">
                                          <p:stCondLst>
                                            <p:cond delay="0"/>
                                          </p:stCondLst>
                                        </p:cTn>
                                        <p:tgtEl>
                                          <p:spTgt spid="176164"/>
                                        </p:tgtEl>
                                        <p:attrNameLst>
                                          <p:attrName>style.visibility</p:attrName>
                                        </p:attrNameLst>
                                      </p:cBhvr>
                                      <p:to>
                                        <p:strVal val="visible"/>
                                      </p:to>
                                    </p:set>
                                    <p:animEffect transition="in" filter="strips(downLeft)">
                                      <p:cBhvr>
                                        <p:cTn id="158" dur="500"/>
                                        <p:tgtEl>
                                          <p:spTgt spid="176164"/>
                                        </p:tgtEl>
                                      </p:cBhvr>
                                    </p:animEffect>
                                  </p:childTnLst>
                                </p:cTn>
                              </p:par>
                            </p:childTnLst>
                          </p:cTn>
                        </p:par>
                        <p:par>
                          <p:cTn id="159" fill="hold">
                            <p:stCondLst>
                              <p:cond delay="1500"/>
                            </p:stCondLst>
                            <p:childTnLst>
                              <p:par>
                                <p:cTn id="160" presetID="22" presetClass="entr" presetSubtype="8" fill="hold" grpId="0" nodeType="afterEffect">
                                  <p:stCondLst>
                                    <p:cond delay="0"/>
                                  </p:stCondLst>
                                  <p:childTnLst>
                                    <p:set>
                                      <p:cBhvr>
                                        <p:cTn id="161" dur="1" fill="hold">
                                          <p:stCondLst>
                                            <p:cond delay="0"/>
                                          </p:stCondLst>
                                        </p:cTn>
                                        <p:tgtEl>
                                          <p:spTgt spid="176165"/>
                                        </p:tgtEl>
                                        <p:attrNameLst>
                                          <p:attrName>style.visibility</p:attrName>
                                        </p:attrNameLst>
                                      </p:cBhvr>
                                      <p:to>
                                        <p:strVal val="visible"/>
                                      </p:to>
                                    </p:set>
                                    <p:animEffect transition="in" filter="wipe(left)">
                                      <p:cBhvr>
                                        <p:cTn id="162" dur="500"/>
                                        <p:tgtEl>
                                          <p:spTgt spid="176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2" grpId="0" animBg="1"/>
      <p:bldP spid="176138" grpId="0"/>
      <p:bldP spid="176140" grpId="0"/>
      <p:bldP spid="176141" grpId="0"/>
      <p:bldP spid="176142" grpId="0"/>
      <p:bldP spid="176143" grpId="0"/>
      <p:bldP spid="176144" grpId="0" animBg="1"/>
      <p:bldP spid="176145" grpId="0" animBg="1"/>
      <p:bldP spid="176148" grpId="0"/>
      <p:bldP spid="176149" grpId="0"/>
      <p:bldP spid="176150" grpId="0" animBg="1"/>
      <p:bldP spid="176151" grpId="0"/>
      <p:bldP spid="176154" grpId="0"/>
      <p:bldP spid="176155" grpId="0"/>
      <p:bldP spid="176156" grpId="0" animBg="1"/>
      <p:bldP spid="176159" grpId="0"/>
      <p:bldP spid="176160" grpId="0"/>
      <p:bldP spid="176161" grpId="0"/>
      <p:bldP spid="176162" grpId="0" animBg="1"/>
      <p:bldP spid="176163" grpId="0"/>
      <p:bldP spid="176165"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2"/>
          <p:cNvSpPr>
            <a:spLocks noGrp="1"/>
          </p:cNvSpPr>
          <p:nvPr>
            <p:ph type="title" idx="4294967295"/>
          </p:nvPr>
        </p:nvSpPr>
        <p:spPr>
          <a:xfrm>
            <a:off x="987425" y="1042988"/>
            <a:ext cx="3384550" cy="563562"/>
          </a:xfrm>
        </p:spPr>
        <p:txBody>
          <a:bodyPr vert="horz" wrap="square" lIns="91440" tIns="45720" rIns="91440" bIns="45720" anchor="ctr" anchorCtr="0"/>
          <a:p>
            <a:pPr eaLnBrk="1" hangingPunct="1"/>
            <a:r>
              <a:rPr lang="zh-CN" altLang="en-US" dirty="0">
                <a:solidFill>
                  <a:srgbClr val="000033"/>
                </a:solidFill>
                <a:latin typeface="宋体" panose="02010600030101010101" pitchFamily="2" charset="-122"/>
                <a:ea typeface="宋体" panose="02010600030101010101" pitchFamily="2" charset="-122"/>
              </a:rPr>
              <a:t>（</a:t>
            </a:r>
            <a:r>
              <a:rPr lang="en-US" altLang="zh-CN" dirty="0">
                <a:solidFill>
                  <a:srgbClr val="000033"/>
                </a:solidFill>
                <a:latin typeface="宋体" panose="02010600030101010101" pitchFamily="2" charset="-122"/>
                <a:ea typeface="宋体" panose="02010600030101010101" pitchFamily="2" charset="-122"/>
              </a:rPr>
              <a:t>2</a:t>
            </a:r>
            <a:r>
              <a:rPr lang="zh-CN" altLang="en-US" dirty="0">
                <a:solidFill>
                  <a:srgbClr val="000033"/>
                </a:solidFill>
                <a:latin typeface="宋体" panose="02010600030101010101" pitchFamily="2" charset="-122"/>
                <a:ea typeface="宋体" panose="02010600030101010101" pitchFamily="2" charset="-122"/>
              </a:rPr>
              <a:t>）溢出中断指令</a:t>
            </a:r>
            <a:endParaRPr lang="zh-CN" altLang="en-US" dirty="0">
              <a:solidFill>
                <a:srgbClr val="000033"/>
              </a:solidFill>
              <a:latin typeface="宋体" panose="02010600030101010101" pitchFamily="2" charset="-122"/>
              <a:ea typeface="宋体" panose="02010600030101010101" pitchFamily="2" charset="-122"/>
            </a:endParaRPr>
          </a:p>
        </p:txBody>
      </p:sp>
      <p:sp>
        <p:nvSpPr>
          <p:cNvPr id="177155" name="Rectangle 3"/>
          <p:cNvSpPr>
            <a:spLocks noGrp="1"/>
          </p:cNvSpPr>
          <p:nvPr>
            <p:ph type="body" idx="4294967295"/>
          </p:nvPr>
        </p:nvSpPr>
        <p:spPr>
          <a:xfrm>
            <a:off x="1182688" y="2093913"/>
            <a:ext cx="7772400" cy="3886200"/>
          </a:xfrm>
        </p:spPr>
        <p:txBody>
          <a:bodyPr vert="horz" wrap="square" lIns="91440" tIns="45720" rIns="91440" bIns="45720" anchor="t" anchorCtr="0"/>
          <a:p>
            <a:pPr eaLnBrk="1" hangingPunct="1">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格式：</a:t>
            </a:r>
            <a:endParaRPr lang="zh-CN" altLang="en-US" dirty="0">
              <a:latin typeface="宋体" panose="02010600030101010101" pitchFamily="2" charset="-122"/>
              <a:ea typeface="宋体" panose="02010600030101010101" pitchFamily="2" charset="-122"/>
            </a:endParaRPr>
          </a:p>
          <a:p>
            <a:pPr eaLnBrk="1" hangingPunct="1">
              <a:spcBef>
                <a:spcPct val="40000"/>
              </a:spcBef>
              <a:spcAft>
                <a:spcPct val="40000"/>
              </a:spcAft>
              <a:buNone/>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INTO  </a:t>
            </a:r>
            <a:endParaRPr lang="en-US" altLang="zh-CN" dirty="0">
              <a:latin typeface="宋体" panose="02010600030101010101" pitchFamily="2" charset="-122"/>
              <a:ea typeface="宋体" panose="02010600030101010101" pitchFamily="2" charset="-122"/>
            </a:endParaRPr>
          </a:p>
          <a:p>
            <a:pPr eaLnBrk="1" hangingPunct="1">
              <a:spcAft>
                <a:spcPct val="30000"/>
              </a:spcAft>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若</a:t>
            </a:r>
            <a:r>
              <a:rPr lang="en-US" altLang="zh-CN" sz="2400" dirty="0">
                <a:latin typeface="宋体" panose="02010600030101010101" pitchFamily="2" charset="-122"/>
                <a:ea typeface="宋体" panose="02010600030101010101" pitchFamily="2" charset="-122"/>
              </a:rPr>
              <a:t>OF=1,</a:t>
            </a:r>
            <a:r>
              <a:rPr lang="zh-CN" altLang="en-US" sz="2400" dirty="0">
                <a:latin typeface="宋体" panose="02010600030101010101" pitchFamily="2" charset="-122"/>
                <a:ea typeface="宋体" panose="02010600030101010101" pitchFamily="2" charset="-122"/>
              </a:rPr>
              <a:t>则启动一个类型为4的中断过程,给出一个出错标志,如果</a:t>
            </a:r>
            <a:r>
              <a:rPr lang="en-US" altLang="zh-CN" sz="2400" dirty="0">
                <a:latin typeface="宋体" panose="02010600030101010101" pitchFamily="2" charset="-122"/>
                <a:ea typeface="宋体" panose="02010600030101010101" pitchFamily="2" charset="-122"/>
              </a:rPr>
              <a:t>OF=0,</a:t>
            </a:r>
            <a:r>
              <a:rPr lang="zh-CN" altLang="en-US" sz="2400" dirty="0">
                <a:latin typeface="宋体" panose="02010600030101010101" pitchFamily="2" charset="-122"/>
                <a:ea typeface="宋体" panose="02010600030101010101" pitchFamily="2" charset="-122"/>
              </a:rPr>
              <a:t>不做任何操作。</a:t>
            </a:r>
            <a:endParaRPr lang="zh-CN" altLang="en-US" sz="2400" dirty="0">
              <a:latin typeface="宋体" panose="02010600030101010101" pitchFamily="2" charset="-122"/>
              <a:ea typeface="宋体" panose="02010600030101010101" pitchFamily="2" charset="-122"/>
            </a:endParaRPr>
          </a:p>
          <a:p>
            <a:pPr eaLnBrk="1" hangingPunct="1">
              <a:buFont typeface="Wingdings" panose="05000000000000000000" pitchFamily="2" charset="2"/>
              <a:buChar char="Ø"/>
            </a:pPr>
            <a:r>
              <a:rPr lang="en-US" altLang="zh-CN" sz="2400" dirty="0">
                <a:latin typeface="宋体" panose="02010600030101010101" pitchFamily="2" charset="-122"/>
                <a:ea typeface="宋体" panose="02010600030101010101" pitchFamily="2" charset="-122"/>
              </a:rPr>
              <a:t>INTO</a:t>
            </a:r>
            <a:r>
              <a:rPr lang="zh-CN" altLang="en-US" sz="2400" dirty="0">
                <a:latin typeface="宋体" panose="02010600030101010101" pitchFamily="2" charset="-122"/>
                <a:ea typeface="宋体" panose="02010600030101010101" pitchFamily="2" charset="-122"/>
              </a:rPr>
              <a:t>指令通常安排在有符号数加减运算指令之后。</a:t>
            </a:r>
            <a:endParaRPr lang="en-US" altLang="zh-CN" sz="2400" dirty="0">
              <a:latin typeface="宋体" panose="02010600030101010101" pitchFamily="2" charset="-122"/>
              <a:ea typeface="宋体" panose="02010600030101010101" pitchFamily="2" charset="-122"/>
            </a:endParaRPr>
          </a:p>
        </p:txBody>
      </p:sp>
      <p:sp>
        <p:nvSpPr>
          <p:cNvPr id="177156" name="Text Box 4"/>
          <p:cNvSpPr txBox="1"/>
          <p:nvPr/>
        </p:nvSpPr>
        <p:spPr>
          <a:xfrm>
            <a:off x="3709988" y="2457450"/>
            <a:ext cx="1219200" cy="396875"/>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000" b="1" dirty="0">
                <a:latin typeface="Times New Roman" panose="02020603050405020304" pitchFamily="18" charset="0"/>
                <a:ea typeface="宋体" panose="02010600030101010101" pitchFamily="2" charset="-122"/>
              </a:rPr>
              <a:t>相当于</a:t>
            </a:r>
            <a:endParaRPr lang="zh-CN" altLang="en-US" sz="2000" b="1" dirty="0">
              <a:latin typeface="Times New Roman" panose="02020603050405020304" pitchFamily="18" charset="0"/>
              <a:ea typeface="宋体" panose="02010600030101010101" pitchFamily="2" charset="-122"/>
            </a:endParaRPr>
          </a:p>
        </p:txBody>
      </p:sp>
      <p:sp>
        <p:nvSpPr>
          <p:cNvPr id="177157" name="Text Box 5"/>
          <p:cNvSpPr txBox="1"/>
          <p:nvPr/>
        </p:nvSpPr>
        <p:spPr>
          <a:xfrm>
            <a:off x="5570538" y="2693988"/>
            <a:ext cx="1371600" cy="519112"/>
          </a:xfrm>
          <a:prstGeom prst="rect">
            <a:avLst/>
          </a:prstGeom>
          <a:noFill/>
          <a:ln w="9525">
            <a:noFill/>
          </a:ln>
        </p:spPr>
        <p:txBody>
          <a:bodyPr>
            <a:spAutoFit/>
          </a:bodyPr>
          <a:p>
            <a:pPr eaLnBrk="0" hangingPunct="0">
              <a:spcBef>
                <a:spcPct val="50000"/>
              </a:spcBef>
              <a:buFont typeface="Wingdings" panose="05000000000000000000" pitchFamily="2" charset="2"/>
            </a:pPr>
            <a:r>
              <a:rPr lang="en-US" altLang="zh-CN" sz="2800" b="1" dirty="0">
                <a:latin typeface="宋体" panose="02010600030101010101" pitchFamily="2" charset="-122"/>
                <a:ea typeface="宋体" panose="02010600030101010101" pitchFamily="2" charset="-122"/>
              </a:rPr>
              <a:t>INT  4</a:t>
            </a:r>
            <a:endParaRPr lang="en-US" altLang="zh-CN" sz="2800" b="1" dirty="0">
              <a:latin typeface="宋体" panose="02010600030101010101" pitchFamily="2" charset="-122"/>
              <a:ea typeface="宋体" panose="02010600030101010101" pitchFamily="2" charset="-122"/>
            </a:endParaRPr>
          </a:p>
        </p:txBody>
      </p:sp>
      <p:sp>
        <p:nvSpPr>
          <p:cNvPr id="177158" name="Line 6"/>
          <p:cNvSpPr/>
          <p:nvPr/>
        </p:nvSpPr>
        <p:spPr>
          <a:xfrm>
            <a:off x="3817938" y="2997200"/>
            <a:ext cx="1676400" cy="0"/>
          </a:xfrm>
          <a:prstGeom prst="line">
            <a:avLst/>
          </a:prstGeom>
          <a:ln w="25400" cap="sq" cmpd="sng">
            <a:solidFill>
              <a:srgbClr val="FF6600"/>
            </a:solidFill>
            <a:prstDash val="solid"/>
            <a:headEnd type="none" w="med" len="med"/>
            <a:tailEnd type="triangle" w="lg" len="lg"/>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7155">
                                            <p:txEl>
                                              <p:charRg st="0" end="4"/>
                                            </p:txEl>
                                          </p:spTgt>
                                        </p:tgtEl>
                                        <p:attrNameLst>
                                          <p:attrName>style.visibility</p:attrName>
                                        </p:attrNameLst>
                                      </p:cBhvr>
                                      <p:to>
                                        <p:strVal val="visible"/>
                                      </p:to>
                                    </p:set>
                                    <p:animEffect transition="in" filter="wipe(left)">
                                      <p:cBhvr>
                                        <p:cTn id="7" dur="500"/>
                                        <p:tgtEl>
                                          <p:spTgt spid="177155">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77155">
                                            <p:txEl>
                                              <p:charRg st="4" end="20"/>
                                            </p:txEl>
                                          </p:spTgt>
                                        </p:tgtEl>
                                        <p:attrNameLst>
                                          <p:attrName>style.visibility</p:attrName>
                                        </p:attrNameLst>
                                      </p:cBhvr>
                                      <p:to>
                                        <p:strVal val="visible"/>
                                      </p:to>
                                    </p:set>
                                    <p:animEffect transition="in" filter="wipe(left)">
                                      <p:cBhvr>
                                        <p:cTn id="11" dur="500"/>
                                        <p:tgtEl>
                                          <p:spTgt spid="177155">
                                            <p:txEl>
                                              <p:charRg st="4" end="20"/>
                                            </p:txEl>
                                          </p:spTgt>
                                        </p:tgtEl>
                                      </p:cBhvr>
                                    </p:animEffect>
                                  </p:childTnLst>
                                </p:cTn>
                              </p:par>
                            </p:childTnLst>
                          </p:cTn>
                        </p:par>
                        <p:par>
                          <p:cTn id="12" fill="hold">
                            <p:stCondLst>
                              <p:cond delay="1000"/>
                            </p:stCondLst>
                            <p:childTnLst>
                              <p:par>
                                <p:cTn id="13" presetID="22" presetClass="entr" presetSubtype="8" fill="hold" nodeType="afterEffect">
                                  <p:stCondLst>
                                    <p:cond delay="500"/>
                                  </p:stCondLst>
                                  <p:childTnLst>
                                    <p:set>
                                      <p:cBhvr>
                                        <p:cTn id="14" dur="1" fill="hold">
                                          <p:stCondLst>
                                            <p:cond delay="0"/>
                                          </p:stCondLst>
                                        </p:cTn>
                                        <p:tgtEl>
                                          <p:spTgt spid="177158"/>
                                        </p:tgtEl>
                                        <p:attrNameLst>
                                          <p:attrName>style.visibility</p:attrName>
                                        </p:attrNameLst>
                                      </p:cBhvr>
                                      <p:to>
                                        <p:strVal val="visible"/>
                                      </p:to>
                                    </p:set>
                                    <p:animEffect transition="in" filter="wipe(left)">
                                      <p:cBhvr>
                                        <p:cTn id="15" dur="500"/>
                                        <p:tgtEl>
                                          <p:spTgt spid="177158"/>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177156"/>
                                        </p:tgtEl>
                                        <p:attrNameLst>
                                          <p:attrName>style.visibility</p:attrName>
                                        </p:attrNameLst>
                                      </p:cBhvr>
                                      <p:to>
                                        <p:strVal val="visible"/>
                                      </p:to>
                                    </p:set>
                                    <p:animEffect transition="in" filter="wipe(left)">
                                      <p:cBhvr>
                                        <p:cTn id="19" dur="500"/>
                                        <p:tgtEl>
                                          <p:spTgt spid="177156"/>
                                        </p:tgtEl>
                                      </p:cBhvr>
                                    </p:animEffect>
                                  </p:childTnLst>
                                </p:cTn>
                              </p:par>
                            </p:childTnLst>
                          </p:cTn>
                        </p:par>
                        <p:par>
                          <p:cTn id="20" fill="hold">
                            <p:stCondLst>
                              <p:cond delay="2500"/>
                            </p:stCondLst>
                            <p:childTnLst>
                              <p:par>
                                <p:cTn id="21" presetID="22" presetClass="entr" presetSubtype="8" fill="hold" grpId="0" nodeType="afterEffect">
                                  <p:stCondLst>
                                    <p:cond delay="0"/>
                                  </p:stCondLst>
                                  <p:childTnLst>
                                    <p:set>
                                      <p:cBhvr>
                                        <p:cTn id="22" dur="1" fill="hold">
                                          <p:stCondLst>
                                            <p:cond delay="0"/>
                                          </p:stCondLst>
                                        </p:cTn>
                                        <p:tgtEl>
                                          <p:spTgt spid="177157"/>
                                        </p:tgtEl>
                                        <p:attrNameLst>
                                          <p:attrName>style.visibility</p:attrName>
                                        </p:attrNameLst>
                                      </p:cBhvr>
                                      <p:to>
                                        <p:strVal val="visible"/>
                                      </p:to>
                                    </p:set>
                                    <p:animEffect transition="in" filter="wipe(left)">
                                      <p:cBhvr>
                                        <p:cTn id="23" dur="500"/>
                                        <p:tgtEl>
                                          <p:spTgt spid="17715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77155">
                                            <p:txEl>
                                              <p:charRg st="20" end="65"/>
                                            </p:txEl>
                                          </p:spTgt>
                                        </p:tgtEl>
                                        <p:attrNameLst>
                                          <p:attrName>style.visibility</p:attrName>
                                        </p:attrNameLst>
                                      </p:cBhvr>
                                      <p:to>
                                        <p:strVal val="visible"/>
                                      </p:to>
                                    </p:set>
                                    <p:animEffect transition="in" filter="blinds(horizontal)">
                                      <p:cBhvr>
                                        <p:cTn id="28" dur="500"/>
                                        <p:tgtEl>
                                          <p:spTgt spid="177155">
                                            <p:txEl>
                                              <p:charRg st="20" end="6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77155">
                                            <p:txEl>
                                              <p:charRg st="65" end="90"/>
                                            </p:txEl>
                                          </p:spTgt>
                                        </p:tgtEl>
                                        <p:attrNameLst>
                                          <p:attrName>style.visibility</p:attrName>
                                        </p:attrNameLst>
                                      </p:cBhvr>
                                      <p:to>
                                        <p:strVal val="visible"/>
                                      </p:to>
                                    </p:set>
                                    <p:animEffect transition="in" filter="blinds(horizontal)">
                                      <p:cBhvr>
                                        <p:cTn id="33" dur="500"/>
                                        <p:tgtEl>
                                          <p:spTgt spid="177155">
                                            <p:txEl>
                                              <p:charRg st="65" end="9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6" grpId="0"/>
      <p:bldP spid="177157" grpId="0"/>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2"/>
          <p:cNvSpPr>
            <a:spLocks noGrp="1"/>
          </p:cNvSpPr>
          <p:nvPr>
            <p:ph type="title" idx="4294967295"/>
          </p:nvPr>
        </p:nvSpPr>
        <p:spPr>
          <a:xfrm>
            <a:off x="1042988" y="1027113"/>
            <a:ext cx="3540125" cy="581025"/>
          </a:xfrm>
        </p:spPr>
        <p:txBody>
          <a:bodyPr vert="horz" wrap="square" lIns="91440" tIns="45720" rIns="91440" bIns="45720" anchor="ctr" anchorCtr="0"/>
          <a:p>
            <a:pPr eaLnBrk="1" hangingPunct="1"/>
            <a:r>
              <a:rPr lang="zh-CN" altLang="en-US" dirty="0">
                <a:solidFill>
                  <a:srgbClr val="000033"/>
                </a:solidFill>
                <a:latin typeface="宋体" panose="02010600030101010101" pitchFamily="2" charset="-122"/>
                <a:ea typeface="宋体" panose="02010600030101010101" pitchFamily="2" charset="-122"/>
              </a:rPr>
              <a:t>（</a:t>
            </a:r>
            <a:r>
              <a:rPr lang="en-US" altLang="zh-CN" dirty="0">
                <a:solidFill>
                  <a:srgbClr val="000033"/>
                </a:solidFill>
                <a:latin typeface="宋体" panose="02010600030101010101" pitchFamily="2" charset="-122"/>
                <a:ea typeface="宋体" panose="02010600030101010101" pitchFamily="2" charset="-122"/>
              </a:rPr>
              <a:t>3</a:t>
            </a:r>
            <a:r>
              <a:rPr lang="zh-CN" altLang="en-US" dirty="0">
                <a:solidFill>
                  <a:srgbClr val="000033"/>
                </a:solidFill>
                <a:latin typeface="宋体" panose="02010600030101010101" pitchFamily="2" charset="-122"/>
                <a:ea typeface="宋体" panose="02010600030101010101" pitchFamily="2" charset="-122"/>
              </a:rPr>
              <a:t>）中断返回指令</a:t>
            </a:r>
            <a:endParaRPr lang="zh-CN" altLang="en-US" dirty="0">
              <a:solidFill>
                <a:srgbClr val="000033"/>
              </a:solidFill>
              <a:latin typeface="宋体" panose="02010600030101010101" pitchFamily="2" charset="-122"/>
              <a:ea typeface="宋体" panose="02010600030101010101" pitchFamily="2" charset="-122"/>
            </a:endParaRPr>
          </a:p>
        </p:txBody>
      </p:sp>
      <p:sp>
        <p:nvSpPr>
          <p:cNvPr id="178179" name="Rectangle 3"/>
          <p:cNvSpPr>
            <a:spLocks noGrp="1"/>
          </p:cNvSpPr>
          <p:nvPr>
            <p:ph type="body" idx="4294967295"/>
          </p:nvPr>
        </p:nvSpPr>
        <p:spPr>
          <a:xfrm>
            <a:off x="1182688" y="2017713"/>
            <a:ext cx="7772400" cy="2590800"/>
          </a:xfrm>
        </p:spPr>
        <p:txBody>
          <a:bodyPr vert="horz" wrap="square" lIns="91440" tIns="45720" rIns="91440" bIns="45720" anchor="t" anchorCtr="0"/>
          <a:p>
            <a:pPr eaLnBrk="1" hangingPunct="1">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格式：</a:t>
            </a:r>
            <a:endParaRPr lang="zh-CN" altLang="en-US" dirty="0">
              <a:latin typeface="宋体" panose="02010600030101010101" pitchFamily="2" charset="-122"/>
              <a:ea typeface="宋体" panose="02010600030101010101" pitchFamily="2" charset="-122"/>
            </a:endParaRPr>
          </a:p>
          <a:p>
            <a:pPr eaLnBrk="1" hangingPunct="1">
              <a:lnSpc>
                <a:spcPct val="105000"/>
              </a:lnSpc>
              <a:spcBef>
                <a:spcPct val="35000"/>
              </a:spcBef>
              <a:buNone/>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IRET</a:t>
            </a:r>
            <a:endParaRPr lang="en-US" altLang="zh-CN" dirty="0">
              <a:latin typeface="宋体" panose="02010600030101010101" pitchFamily="2" charset="-122"/>
              <a:ea typeface="宋体" panose="02010600030101010101" pitchFamily="2" charset="-122"/>
            </a:endParaRPr>
          </a:p>
          <a:p>
            <a:pPr eaLnBrk="1" hangingPunct="1">
              <a:spcBef>
                <a:spcPct val="55000"/>
              </a:spcBef>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中断服务程序的最后一条指令，负责</a:t>
            </a:r>
            <a:endParaRPr lang="zh-CN" altLang="en-US" dirty="0">
              <a:latin typeface="宋体" panose="02010600030101010101" pitchFamily="2" charset="-122"/>
              <a:ea typeface="宋体" panose="02010600030101010101" pitchFamily="2" charset="-122"/>
            </a:endParaRPr>
          </a:p>
        </p:txBody>
      </p:sp>
      <p:sp>
        <p:nvSpPr>
          <p:cNvPr id="178180" name="AutoShape 4"/>
          <p:cNvSpPr/>
          <p:nvPr/>
        </p:nvSpPr>
        <p:spPr>
          <a:xfrm>
            <a:off x="7596188" y="3644900"/>
            <a:ext cx="763587" cy="1079500"/>
          </a:xfrm>
          <a:prstGeom prst="curvedLeftArrow">
            <a:avLst>
              <a:gd name="adj1" fmla="val 4751"/>
              <a:gd name="adj2" fmla="val 17803"/>
              <a:gd name="adj3" fmla="val 13180"/>
            </a:avLst>
          </a:prstGeom>
          <a:solidFill>
            <a:srgbClr val="FF6600"/>
          </a:solidFill>
          <a:ln w="25400" cap="sq" cmpd="sng">
            <a:solidFill>
              <a:srgbClr val="FF6600"/>
            </a:solidFill>
            <a:prstDash val="solid"/>
            <a:miter/>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
        <p:nvSpPr>
          <p:cNvPr id="178181" name="Text Box 5"/>
          <p:cNvSpPr txBox="1"/>
          <p:nvPr/>
        </p:nvSpPr>
        <p:spPr>
          <a:xfrm>
            <a:off x="3581400" y="4068763"/>
            <a:ext cx="3581400" cy="1160462"/>
          </a:xfrm>
          <a:prstGeom prst="rect">
            <a:avLst/>
          </a:prstGeom>
          <a:noFill/>
          <a:ln w="9525">
            <a:noFill/>
          </a:ln>
        </p:spPr>
        <p:txBody>
          <a:bodyPr>
            <a:spAutoFit/>
          </a:bodyPr>
          <a:p>
            <a:pPr eaLnBrk="0" hangingPunct="0">
              <a:spcBef>
                <a:spcPct val="50000"/>
              </a:spcBef>
              <a:buFont typeface="Wingdings" panose="05000000000000000000" pitchFamily="2" charset="2"/>
            </a:pPr>
            <a:r>
              <a:rPr lang="zh-CN" altLang="en-US" sz="2800" b="1" dirty="0">
                <a:latin typeface="Times New Roman" panose="02020603050405020304" pitchFamily="18" charset="0"/>
                <a:ea typeface="宋体" panose="02010600030101010101" pitchFamily="2" charset="-122"/>
              </a:rPr>
              <a:t>恢复断点</a:t>
            </a:r>
            <a:endParaRPr lang="zh-CN" altLang="en-US" sz="2800" b="1" dirty="0">
              <a:latin typeface="Times New Roman" panose="02020603050405020304" pitchFamily="18" charset="0"/>
              <a:ea typeface="宋体" panose="02010600030101010101" pitchFamily="2" charset="-122"/>
            </a:endParaRPr>
          </a:p>
          <a:p>
            <a:pPr eaLnBrk="0" hangingPunct="0">
              <a:spcBef>
                <a:spcPct val="50000"/>
              </a:spcBef>
              <a:buFont typeface="Wingdings" panose="05000000000000000000" pitchFamily="2" charset="2"/>
            </a:pPr>
            <a:r>
              <a:rPr lang="zh-CN" altLang="en-US" sz="2800" b="1" dirty="0">
                <a:latin typeface="Times New Roman" panose="02020603050405020304" pitchFamily="18" charset="0"/>
                <a:ea typeface="宋体" panose="02010600030101010101" pitchFamily="2" charset="-122"/>
              </a:rPr>
              <a:t>恢复标志寄存器内容</a:t>
            </a:r>
            <a:endParaRPr lang="zh-CN" altLang="en-US" sz="2800" b="1" dirty="0">
              <a:latin typeface="Times New Roman" panose="02020603050405020304" pitchFamily="18" charset="0"/>
              <a:ea typeface="宋体" panose="02010600030101010101" pitchFamily="2" charset="-122"/>
            </a:endParaRPr>
          </a:p>
        </p:txBody>
      </p:sp>
      <p:sp>
        <p:nvSpPr>
          <p:cNvPr id="178182" name="AutoShape 6"/>
          <p:cNvSpPr/>
          <p:nvPr/>
        </p:nvSpPr>
        <p:spPr>
          <a:xfrm>
            <a:off x="7019925" y="4149725"/>
            <a:ext cx="304800" cy="914400"/>
          </a:xfrm>
          <a:prstGeom prst="rightBrace">
            <a:avLst>
              <a:gd name="adj1" fmla="val 25000"/>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8179">
                                            <p:txEl>
                                              <p:charRg st="0" end="4"/>
                                            </p:txEl>
                                          </p:spTgt>
                                        </p:tgtEl>
                                        <p:attrNameLst>
                                          <p:attrName>style.visibility</p:attrName>
                                        </p:attrNameLst>
                                      </p:cBhvr>
                                      <p:to>
                                        <p:strVal val="visible"/>
                                      </p:to>
                                    </p:set>
                                    <p:animEffect transition="in" filter="wipe(left)">
                                      <p:cBhvr>
                                        <p:cTn id="7" dur="500"/>
                                        <p:tgtEl>
                                          <p:spTgt spid="178179">
                                            <p:txEl>
                                              <p:charRg st="0" end="4"/>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78179">
                                            <p:txEl>
                                              <p:charRg st="4" end="17"/>
                                            </p:txEl>
                                          </p:spTgt>
                                        </p:tgtEl>
                                        <p:attrNameLst>
                                          <p:attrName>style.visibility</p:attrName>
                                        </p:attrNameLst>
                                      </p:cBhvr>
                                      <p:to>
                                        <p:strVal val="visible"/>
                                      </p:to>
                                    </p:set>
                                    <p:animEffect transition="in" filter="wipe(left)">
                                      <p:cBhvr>
                                        <p:cTn id="11" dur="500"/>
                                        <p:tgtEl>
                                          <p:spTgt spid="178179">
                                            <p:txEl>
                                              <p:charRg st="4" end="17"/>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78179">
                                            <p:txEl>
                                              <p:charRg st="17" end="34"/>
                                            </p:txEl>
                                          </p:spTgt>
                                        </p:tgtEl>
                                        <p:attrNameLst>
                                          <p:attrName>style.visibility</p:attrName>
                                        </p:attrNameLst>
                                      </p:cBhvr>
                                      <p:to>
                                        <p:strVal val="visible"/>
                                      </p:to>
                                    </p:set>
                                    <p:animEffect transition="in" filter="wipe(left)">
                                      <p:cBhvr>
                                        <p:cTn id="16" dur="500"/>
                                        <p:tgtEl>
                                          <p:spTgt spid="178179">
                                            <p:txEl>
                                              <p:charRg st="17" end="34"/>
                                            </p:txEl>
                                          </p:spTgt>
                                        </p:tgtEl>
                                      </p:cBhvr>
                                    </p:animEffect>
                                  </p:childTnLst>
                                </p:cTn>
                              </p:par>
                            </p:childTnLst>
                          </p:cTn>
                        </p:par>
                        <p:par>
                          <p:cTn id="17" fill="hold">
                            <p:stCondLst>
                              <p:cond delay="500"/>
                            </p:stCondLst>
                            <p:childTnLst>
                              <p:par>
                                <p:cTn id="18" presetID="18" presetClass="entr" presetSubtype="12" fill="hold" grpId="0" nodeType="afterEffect">
                                  <p:stCondLst>
                                    <p:cond delay="0"/>
                                  </p:stCondLst>
                                  <p:childTnLst>
                                    <p:set>
                                      <p:cBhvr>
                                        <p:cTn id="19" dur="1" fill="hold">
                                          <p:stCondLst>
                                            <p:cond delay="0"/>
                                          </p:stCondLst>
                                        </p:cTn>
                                        <p:tgtEl>
                                          <p:spTgt spid="178180"/>
                                        </p:tgtEl>
                                        <p:attrNameLst>
                                          <p:attrName>style.visibility</p:attrName>
                                        </p:attrNameLst>
                                      </p:cBhvr>
                                      <p:to>
                                        <p:strVal val="visible"/>
                                      </p:to>
                                    </p:set>
                                    <p:animEffect transition="in" filter="strips(downLeft)">
                                      <p:cBhvr>
                                        <p:cTn id="20" dur="500"/>
                                        <p:tgtEl>
                                          <p:spTgt spid="178180"/>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178181">
                                            <p:txEl>
                                              <p:charRg st="0" end="5"/>
                                            </p:txEl>
                                          </p:spTgt>
                                        </p:tgtEl>
                                        <p:attrNameLst>
                                          <p:attrName>style.visibility</p:attrName>
                                        </p:attrNameLst>
                                      </p:cBhvr>
                                      <p:to>
                                        <p:strVal val="visible"/>
                                      </p:to>
                                    </p:set>
                                    <p:animEffect transition="in" filter="wipe(left)">
                                      <p:cBhvr>
                                        <p:cTn id="24" dur="500"/>
                                        <p:tgtEl>
                                          <p:spTgt spid="178181">
                                            <p:txEl>
                                              <p:charRg st="0" end="5"/>
                                            </p:txEl>
                                          </p:spTgt>
                                        </p:tgtEl>
                                      </p:cBhvr>
                                    </p:animEffect>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178181">
                                            <p:txEl>
                                              <p:charRg st="5" end="15"/>
                                            </p:txEl>
                                          </p:spTgt>
                                        </p:tgtEl>
                                        <p:attrNameLst>
                                          <p:attrName>style.visibility</p:attrName>
                                        </p:attrNameLst>
                                      </p:cBhvr>
                                      <p:to>
                                        <p:strVal val="visible"/>
                                      </p:to>
                                    </p:set>
                                    <p:animEffect transition="in" filter="wipe(left)">
                                      <p:cBhvr>
                                        <p:cTn id="28" dur="500"/>
                                        <p:tgtEl>
                                          <p:spTgt spid="178181">
                                            <p:txEl>
                                              <p:charRg st="5" end="15"/>
                                            </p:txEl>
                                          </p:spTgt>
                                        </p:tgtEl>
                                      </p:cBhvr>
                                    </p:animEffect>
                                  </p:childTnLst>
                                </p:cTn>
                              </p:par>
                            </p:childTnLst>
                          </p:cTn>
                        </p:par>
                        <p:par>
                          <p:cTn id="29" fill="hold">
                            <p:stCondLst>
                              <p:cond delay="2000"/>
                            </p:stCondLst>
                            <p:childTnLst>
                              <p:par>
                                <p:cTn id="30" presetID="22" presetClass="entr" presetSubtype="1" fill="hold" grpId="0" nodeType="afterEffect">
                                  <p:stCondLst>
                                    <p:cond delay="0"/>
                                  </p:stCondLst>
                                  <p:childTnLst>
                                    <p:set>
                                      <p:cBhvr>
                                        <p:cTn id="31" dur="1" fill="hold">
                                          <p:stCondLst>
                                            <p:cond delay="0"/>
                                          </p:stCondLst>
                                        </p:cTn>
                                        <p:tgtEl>
                                          <p:spTgt spid="178182"/>
                                        </p:tgtEl>
                                        <p:attrNameLst>
                                          <p:attrName>style.visibility</p:attrName>
                                        </p:attrNameLst>
                                      </p:cBhvr>
                                      <p:to>
                                        <p:strVal val="visible"/>
                                      </p:to>
                                    </p:set>
                                    <p:animEffect transition="in" filter="wipe(up)">
                                      <p:cBhvr>
                                        <p:cTn id="32" dur="500"/>
                                        <p:tgtEl>
                                          <p:spTgt spid="178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0" grpId="0" animBg="1"/>
      <p:bldP spid="178182" grpId="0" animBg="1"/>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2"/>
          <p:cNvSpPr>
            <a:spLocks noGrp="1"/>
          </p:cNvSpPr>
          <p:nvPr>
            <p:ph type="title" idx="4294967295"/>
          </p:nvPr>
        </p:nvSpPr>
        <p:spPr>
          <a:xfrm>
            <a:off x="827088" y="1125538"/>
            <a:ext cx="4198937" cy="563562"/>
          </a:xfrm>
        </p:spPr>
        <p:txBody>
          <a:bodyPr vert="horz" wrap="square" lIns="91440" tIns="45720" rIns="91440" bIns="45720" anchor="ctr" anchorCtr="0"/>
          <a:p>
            <a:pPr eaLnBrk="1" hangingPunct="1"/>
            <a:r>
              <a:rPr lang="zh-CN" altLang="en-US" dirty="0">
                <a:solidFill>
                  <a:srgbClr val="000033"/>
                </a:solidFill>
                <a:ea typeface="宋体" panose="02010600030101010101" pitchFamily="2" charset="-122"/>
              </a:rPr>
              <a:t>（</a:t>
            </a:r>
            <a:r>
              <a:rPr lang="en-US" altLang="zh-CN" dirty="0">
                <a:solidFill>
                  <a:srgbClr val="000033"/>
                </a:solidFill>
                <a:ea typeface="宋体" panose="02010600030101010101" pitchFamily="2" charset="-122"/>
              </a:rPr>
              <a:t>6</a:t>
            </a:r>
            <a:r>
              <a:rPr lang="zh-CN" altLang="en-US" dirty="0">
                <a:solidFill>
                  <a:srgbClr val="000033"/>
                </a:solidFill>
                <a:ea typeface="宋体" panose="02010600030101010101" pitchFamily="2" charset="-122"/>
              </a:rPr>
              <a:t>）处理器控制指令</a:t>
            </a:r>
            <a:endParaRPr lang="zh-CN" altLang="en-US" dirty="0">
              <a:solidFill>
                <a:srgbClr val="000033"/>
              </a:solidFill>
              <a:ea typeface="宋体" panose="02010600030101010101" pitchFamily="2" charset="-122"/>
            </a:endParaRPr>
          </a:p>
        </p:txBody>
      </p:sp>
      <p:sp>
        <p:nvSpPr>
          <p:cNvPr id="179203" name="Rectangle 3"/>
          <p:cNvSpPr>
            <a:spLocks noGrp="1"/>
          </p:cNvSpPr>
          <p:nvPr>
            <p:ph type="body" idx="4294967295"/>
          </p:nvPr>
        </p:nvSpPr>
        <p:spPr>
          <a:xfrm>
            <a:off x="1908175" y="2349500"/>
            <a:ext cx="2808288" cy="1103313"/>
          </a:xfrm>
        </p:spPr>
        <p:txBody>
          <a:bodyPr vert="horz" wrap="square" lIns="91440" tIns="45720" rIns="91440" bIns="45720" anchor="t" anchorCtr="0"/>
          <a:p>
            <a:pPr eaLnBrk="1" hangingPunct="1">
              <a:spcAft>
                <a:spcPct val="40000"/>
              </a:spcAft>
              <a:buNone/>
            </a:pPr>
            <a:r>
              <a:rPr lang="zh-CN" altLang="en-US" sz="2400" dirty="0">
                <a:ea typeface="宋体" panose="02010600030101010101" pitchFamily="2" charset="-122"/>
              </a:rPr>
              <a:t>对标志位的操作</a:t>
            </a:r>
            <a:endParaRPr lang="zh-CN" altLang="en-US" sz="2400" dirty="0">
              <a:ea typeface="宋体" panose="02010600030101010101" pitchFamily="2" charset="-122"/>
            </a:endParaRPr>
          </a:p>
          <a:p>
            <a:pPr eaLnBrk="1" hangingPunct="1">
              <a:spcBef>
                <a:spcPct val="40000"/>
              </a:spcBef>
              <a:buNone/>
            </a:pPr>
            <a:r>
              <a:rPr lang="zh-CN" altLang="en-US" sz="2400" dirty="0">
                <a:ea typeface="宋体" panose="02010600030101010101" pitchFamily="2" charset="-122"/>
              </a:rPr>
              <a:t>与外部设备的同步</a:t>
            </a:r>
            <a:endParaRPr lang="zh-CN" altLang="en-US" sz="2400" dirty="0">
              <a:ea typeface="宋体" panose="02010600030101010101" pitchFamily="2" charset="-122"/>
            </a:endParaRPr>
          </a:p>
        </p:txBody>
      </p:sp>
      <p:sp>
        <p:nvSpPr>
          <p:cNvPr id="179204" name="AutoShape 4"/>
          <p:cNvSpPr/>
          <p:nvPr/>
        </p:nvSpPr>
        <p:spPr>
          <a:xfrm>
            <a:off x="1692275" y="2566988"/>
            <a:ext cx="215900" cy="863600"/>
          </a:xfrm>
          <a:prstGeom prst="leftBrace">
            <a:avLst>
              <a:gd name="adj1" fmla="val 33074"/>
              <a:gd name="adj2" fmla="val 50000"/>
            </a:avLst>
          </a:prstGeom>
          <a:noFill/>
          <a:ln w="25400" cap="sq" cmpd="sng">
            <a:solidFill>
              <a:srgbClr val="FF6600"/>
            </a:solidFill>
            <a:prstDash val="solid"/>
            <a:headEnd type="none" w="med" len="med"/>
            <a:tailEnd type="none" w="med" len="med"/>
          </a:ln>
        </p:spPr>
        <p:txBody>
          <a:bodyPr wrap="none" anchor="ctr" anchorCtr="0"/>
          <a:p>
            <a:pPr eaLnBrk="0" hangingPunct="0">
              <a:buFont typeface="Wingdings" panose="05000000000000000000" pitchFamily="2" charset="2"/>
            </a:pPr>
            <a:endParaRPr lang="zh-CN" altLang="zh-CN" sz="2400" dirty="0">
              <a:latin typeface="Times New Roman" panose="02020603050405020304" pitchFamily="18"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9203">
                                            <p:txEl>
                                              <p:charRg st="0" end="8"/>
                                            </p:txEl>
                                          </p:spTgt>
                                        </p:tgtEl>
                                        <p:attrNameLst>
                                          <p:attrName>style.visibility</p:attrName>
                                        </p:attrNameLst>
                                      </p:cBhvr>
                                      <p:to>
                                        <p:strVal val="visible"/>
                                      </p:to>
                                    </p:set>
                                    <p:animEffect transition="in" filter="wipe(left)">
                                      <p:cBhvr>
                                        <p:cTn id="7" dur="500"/>
                                        <p:tgtEl>
                                          <p:spTgt spid="179203">
                                            <p:txEl>
                                              <p:charRg st="0" end="8"/>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79203">
                                            <p:txEl>
                                              <p:charRg st="8" end="17"/>
                                            </p:txEl>
                                          </p:spTgt>
                                        </p:tgtEl>
                                        <p:attrNameLst>
                                          <p:attrName>style.visibility</p:attrName>
                                        </p:attrNameLst>
                                      </p:cBhvr>
                                      <p:to>
                                        <p:strVal val="visible"/>
                                      </p:to>
                                    </p:set>
                                    <p:animEffect transition="in" filter="wipe(left)">
                                      <p:cBhvr>
                                        <p:cTn id="11" dur="500"/>
                                        <p:tgtEl>
                                          <p:spTgt spid="179203">
                                            <p:txEl>
                                              <p:charRg st="8" end="17"/>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79204"/>
                                        </p:tgtEl>
                                        <p:attrNameLst>
                                          <p:attrName>style.visibility</p:attrName>
                                        </p:attrNameLst>
                                      </p:cBhvr>
                                      <p:to>
                                        <p:strVal val="visible"/>
                                      </p:to>
                                    </p:set>
                                    <p:animEffect transition="in" filter="wipe(up)">
                                      <p:cBhvr>
                                        <p:cTn id="15" dur="500"/>
                                        <p:tgtEl>
                                          <p:spTgt spid="179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4" grpId="0" animBg="1"/>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Rectangle 3"/>
          <p:cNvSpPr>
            <a:spLocks noGrp="1"/>
          </p:cNvSpPr>
          <p:nvPr>
            <p:ph type="title" idx="4294967295"/>
          </p:nvPr>
        </p:nvSpPr>
        <p:spPr>
          <a:xfrm>
            <a:off x="1828800" y="152400"/>
            <a:ext cx="1879600" cy="563563"/>
          </a:xfrm>
        </p:spPr>
        <p:txBody>
          <a:bodyPr vert="horz" wrap="square" lIns="91440" tIns="45720" rIns="91440" bIns="45720" anchor="ctr" anchorCtr="0"/>
          <a:p>
            <a:pPr eaLnBrk="1" hangingPunct="1"/>
            <a:r>
              <a:rPr lang="zh-CN" altLang="en-US" dirty="0">
                <a:ea typeface="宋体" panose="02010600030101010101" pitchFamily="2" charset="-122"/>
              </a:rPr>
              <a:t>结束语</a:t>
            </a:r>
            <a:endParaRPr lang="zh-CN" altLang="en-US" dirty="0">
              <a:ea typeface="宋体" panose="02010600030101010101" pitchFamily="2" charset="-122"/>
            </a:endParaRPr>
          </a:p>
        </p:txBody>
      </p:sp>
      <p:sp>
        <p:nvSpPr>
          <p:cNvPr id="184323" name="Rectangle 4"/>
          <p:cNvSpPr>
            <a:spLocks noGrp="1"/>
          </p:cNvSpPr>
          <p:nvPr>
            <p:ph type="body" idx="4294967295"/>
          </p:nvPr>
        </p:nvSpPr>
        <p:spPr>
          <a:xfrm>
            <a:off x="971550" y="2205038"/>
            <a:ext cx="7072313" cy="3205162"/>
          </a:xfrm>
        </p:spPr>
        <p:txBody>
          <a:bodyPr vert="horz" wrap="square" lIns="91440" tIns="45720" rIns="91440" bIns="45720" anchor="t" anchorCtr="0"/>
          <a:p>
            <a:pPr eaLnBrk="1" hangingPunct="1">
              <a:spcAft>
                <a:spcPct val="30000"/>
              </a:spcAft>
              <a:buNone/>
            </a:pPr>
            <a:r>
              <a:rPr lang="zh-CN" altLang="en-US" sz="3200" dirty="0">
                <a:solidFill>
                  <a:srgbClr val="990033"/>
                </a:solidFill>
                <a:ea typeface="宋体" panose="02010600030101010101" pitchFamily="2" charset="-122"/>
              </a:rPr>
              <a:t>掌握：</a:t>
            </a:r>
            <a:endParaRPr lang="zh-CN" altLang="en-US" sz="3200" dirty="0">
              <a:solidFill>
                <a:srgbClr val="990033"/>
              </a:solidFill>
              <a:ea typeface="宋体" panose="02010600030101010101" pitchFamily="2" charset="-122"/>
            </a:endParaRPr>
          </a:p>
          <a:p>
            <a:pPr eaLnBrk="1" hangingPunct="1">
              <a:lnSpc>
                <a:spcPct val="130000"/>
              </a:lnSpc>
              <a:buFont typeface="Wingdings" panose="05000000000000000000" pitchFamily="2" charset="2"/>
              <a:buChar char="Ø"/>
            </a:pPr>
            <a:r>
              <a:rPr lang="zh-CN" altLang="en-US" dirty="0">
                <a:ea typeface="宋体" panose="02010600030101010101" pitchFamily="2" charset="-122"/>
              </a:rPr>
              <a:t>指令的格式及意义；</a:t>
            </a:r>
            <a:endParaRPr lang="zh-CN" altLang="en-US" dirty="0">
              <a:ea typeface="宋体" panose="02010600030101010101" pitchFamily="2" charset="-122"/>
            </a:endParaRPr>
          </a:p>
          <a:p>
            <a:pPr eaLnBrk="1" hangingPunct="1">
              <a:lnSpc>
                <a:spcPct val="130000"/>
              </a:lnSpc>
              <a:buFont typeface="Wingdings" panose="05000000000000000000" pitchFamily="2" charset="2"/>
              <a:buChar char="Ø"/>
            </a:pPr>
            <a:r>
              <a:rPr lang="zh-CN" altLang="en-US" dirty="0">
                <a:ea typeface="宋体" panose="02010600030101010101" pitchFamily="2" charset="-122"/>
              </a:rPr>
              <a:t>指令对操作数的要求及对标志位的影响；</a:t>
            </a:r>
            <a:endParaRPr lang="zh-CN" altLang="en-US" dirty="0">
              <a:ea typeface="宋体" panose="02010600030101010101" pitchFamily="2" charset="-122"/>
            </a:endParaRPr>
          </a:p>
          <a:p>
            <a:pPr eaLnBrk="1" hangingPunct="1">
              <a:lnSpc>
                <a:spcPct val="130000"/>
              </a:lnSpc>
              <a:buFont typeface="Wingdings" panose="05000000000000000000" pitchFamily="2" charset="2"/>
              <a:buChar char="Ø"/>
            </a:pPr>
            <a:r>
              <a:rPr lang="zh-CN" altLang="en-US" dirty="0">
                <a:ea typeface="宋体" panose="02010600030101010101" pitchFamily="2" charset="-122"/>
              </a:rPr>
              <a:t>指令的应用。</a:t>
            </a:r>
            <a:endParaRPr lang="zh-CN" altLang="en-US" dirty="0">
              <a:ea typeface="宋体" panose="02010600030101010101" pitchFamily="2" charset="-122"/>
            </a:endParaRPr>
          </a:p>
        </p:txBody>
      </p:sp>
    </p:spTree>
  </p:cSld>
  <p:clrMapOvr>
    <a:masterClrMapping/>
  </p:clrMapOvr>
  <p:transition spd="slow"/>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WordArt 2"/>
          <p:cNvSpPr>
            <a:spLocks noTextEdit="1"/>
          </p:cNvSpPr>
          <p:nvPr/>
        </p:nvSpPr>
        <p:spPr>
          <a:xfrm>
            <a:off x="2743200" y="2895600"/>
            <a:ext cx="4876800" cy="762000"/>
          </a:xfrm>
          <a:prstGeom prst="rect">
            <a:avLst/>
          </a:prstGeom>
        </p:spPr>
        <p:txBody>
          <a:bodyPr wrap="none" fromWordArt="1">
            <a:prstTxWarp prst="textDeflate">
              <a:avLst>
                <a:gd name="adj" fmla="val 0"/>
              </a:avLst>
            </a:prstTxWarp>
            <a:normAutofit/>
          </a:bodyPr>
          <a:p>
            <a:pPr algn="ctr" eaLnBrk="0" hangingPunct="0"/>
            <a:r>
              <a:rPr lang="zh-CN" altLang="en-US" sz="3600" b="1">
                <a:ln w="19050" cap="flat" cmpd="sng">
                  <a:solidFill>
                    <a:srgbClr val="FFFFFF"/>
                  </a:solidFill>
                  <a:prstDash val="solid"/>
                  <a:headEnd type="none" w="med" len="med"/>
                  <a:tailEnd type="none" w="med" len="med"/>
                </a:ln>
                <a:gradFill rotWithShape="1">
                  <a:gsLst>
                    <a:gs pos="0">
                      <a:schemeClr val="hlink"/>
                    </a:gs>
                    <a:gs pos="100000">
                      <a:schemeClr val="folHlink"/>
                    </a:gs>
                  </a:gsLst>
                  <a:lin ang="0" scaled="1"/>
                  <a:tileRect/>
                </a:gradFill>
                <a:effectLst>
                  <a:outerShdw dist="53882" dir="2699999" algn="ctr" rotWithShape="0">
                    <a:schemeClr val="tx1">
                      <a:alpha val="50000"/>
                    </a:schemeClr>
                  </a:outerShdw>
                </a:effectLst>
                <a:latin typeface="Arial" panose="020B0604020202020204" pitchFamily="34" charset="0"/>
                <a:ea typeface="Arial" panose="020B0604020202020204" pitchFamily="34" charset="0"/>
              </a:rPr>
              <a:t>Thank You !</a:t>
            </a:r>
            <a:endParaRPr lang="zh-CN" altLang="en-US" sz="3600" b="1">
              <a:ln w="19050" cap="flat" cmpd="sng">
                <a:solidFill>
                  <a:srgbClr val="FFFFFF"/>
                </a:solidFill>
                <a:prstDash val="solid"/>
                <a:headEnd type="none" w="med" len="med"/>
                <a:tailEnd type="none" w="med" len="med"/>
              </a:ln>
              <a:gradFill rotWithShape="1">
                <a:gsLst>
                  <a:gs pos="0">
                    <a:schemeClr val="hlink"/>
                  </a:gs>
                  <a:gs pos="100000">
                    <a:schemeClr val="folHlink"/>
                  </a:gs>
                </a:gsLst>
                <a:lin ang="0" scaled="1"/>
                <a:tileRect/>
              </a:gradFill>
              <a:effectLst>
                <a:outerShdw dist="53882" dir="2699999" algn="ctr" rotWithShape="0">
                  <a:schemeClr val="tx1">
                    <a:alpha val="50000"/>
                  </a:schemeClr>
                </a:outerShdw>
              </a:effectLst>
              <a:latin typeface="Arial" panose="020B0604020202020204" pitchFamily="34" charset="0"/>
              <a:ea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85346"/>
                                        </p:tgtEl>
                                        <p:attrNameLst>
                                          <p:attrName>style.visibility</p:attrName>
                                        </p:attrNameLst>
                                      </p:cBhvr>
                                      <p:to>
                                        <p:strVal val="visible"/>
                                      </p:to>
                                    </p:set>
                                    <p:anim calcmode="lin" valueType="num">
                                      <p:cBhvr>
                                        <p:cTn id="7" dur="500" fill="hold"/>
                                        <p:tgtEl>
                                          <p:spTgt spid="185346"/>
                                        </p:tgtEl>
                                        <p:attrNameLst>
                                          <p:attrName>ppt_w</p:attrName>
                                        </p:attrNameLst>
                                      </p:cBhvr>
                                      <p:tavLst>
                                        <p:tav tm="0">
                                          <p:val>
                                            <p:fltVal val="0.000000"/>
                                          </p:val>
                                        </p:tav>
                                        <p:tav tm="100000">
                                          <p:val>
                                            <p:strVal val="#ppt_w"/>
                                          </p:val>
                                        </p:tav>
                                      </p:tavLst>
                                    </p:anim>
                                    <p:anim calcmode="lin" valueType="num">
                                      <p:cBhvr>
                                        <p:cTn id="8" dur="500" fill="hold"/>
                                        <p:tgtEl>
                                          <p:spTgt spid="185346"/>
                                        </p:tgtEl>
                                        <p:attrNameLst>
                                          <p:attrName>ppt_h</p:attrName>
                                        </p:attrNameLst>
                                      </p:cBhvr>
                                      <p:tavLst>
                                        <p:tav tm="0">
                                          <p:val>
                                            <p:fltVal val="0.000000"/>
                                          </p:val>
                                        </p:tav>
                                        <p:tav tm="100000">
                                          <p:val>
                                            <p:strVal val="#ppt_h"/>
                                          </p:val>
                                        </p:tav>
                                      </p:tavLst>
                                    </p:anim>
                                    <p:animEffect transition="in" filter="fade">
                                      <p:cBhvr>
                                        <p:cTn id="9" dur="500"/>
                                        <p:tgtEl>
                                          <p:spTgt spid="185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DIAGRAM_VIRTUALLY_FRAME" val="{&quot;height&quot;:328.50000000000006,&quot;left&quot;:65.25,&quot;top&quot;:159.12503937007872,&quot;width&quot;:552}"/>
</p:tagLst>
</file>

<file path=ppt/tags/tag2.xml><?xml version="1.0" encoding="utf-8"?>
<p:tagLst xmlns:p="http://schemas.openxmlformats.org/presentationml/2006/main">
  <p:tag name="KSO_WM_DIAGRAM_VIRTUALLY_FRAME" val="{&quot;height&quot;:328.50000000000006,&quot;left&quot;:65.25,&quot;top&quot;:159.12503937007872,&quot;width&quot;:552}"/>
</p:tagLst>
</file>

<file path=ppt/tags/tag3.xml><?xml version="1.0" encoding="utf-8"?>
<p:tagLst xmlns:p="http://schemas.openxmlformats.org/presentationml/2006/main">
  <p:tag name="KSO_WM_DIAGRAM_VIRTUALLY_FRAME" val="{&quot;height&quot;:328.50000000000006,&quot;left&quot;:65.25,&quot;top&quot;:159.12503937007872,&quot;width&quot;:552}"/>
</p:tagLst>
</file>

<file path=ppt/tags/tag4.xml><?xml version="1.0" encoding="utf-8"?>
<p:tagLst xmlns:p="http://schemas.openxmlformats.org/presentationml/2006/main">
  <p:tag name="KSO_WM_DIAGRAM_VIRTUALLY_FRAME" val="{&quot;height&quot;:328.50000000000006,&quot;left&quot;:65.25,&quot;top&quot;:159.12503937007872,&quot;width&quot;:552}"/>
</p:tagLst>
</file>

<file path=ppt/tags/tag5.xml><?xml version="1.0" encoding="utf-8"?>
<p:tagLst xmlns:p="http://schemas.openxmlformats.org/presentationml/2006/main">
  <p:tag name="KSO_WM_DIAGRAM_VIRTUALLY_FRAME" val="{&quot;height&quot;:328.50000000000006,&quot;left&quot;:65.25,&quot;top&quot;:159.12503937007872,&quot;width&quot;:552}"/>
</p:tagLst>
</file>

<file path=ppt/tags/tag6.xml><?xml version="1.0" encoding="utf-8"?>
<p:tagLst xmlns:p="http://schemas.openxmlformats.org/presentationml/2006/main">
  <p:tag name="KSO_WM_DIAGRAM_VIRTUALLY_FRAME" val="{&quot;height&quot;:328.50000000000006,&quot;left&quot;:65.25,&quot;top&quot;:159.12503937007872,&quot;width&quot;:552}"/>
</p:tagLst>
</file>

<file path=ppt/tags/tag7.xml><?xml version="1.0" encoding="utf-8"?>
<p:tagLst xmlns:p="http://schemas.openxmlformats.org/presentationml/2006/main">
  <p:tag name="KSO_WM_DIAGRAM_VIRTUALLY_FRAME" val="{&quot;height&quot;:328.50000000000006,&quot;left&quot;:65.25,&quot;top&quot;:159.12503937007872,&quot;width&quot;:552}"/>
</p:tagLst>
</file>

<file path=ppt/tags/tag8.xml><?xml version="1.0" encoding="utf-8"?>
<p:tagLst xmlns:p="http://schemas.openxmlformats.org/presentationml/2006/main">
  <p:tag name="KSO_WM_DIAGRAM_VIRTUALLY_FRAME" val="{&quot;height&quot;:328.50000000000006,&quot;left&quot;:65.25,&quot;top&quot;:159.12503937007872,&quot;width&quot;:552}"/>
</p:tagLst>
</file>

<file path=ppt/tags/tag9.xml><?xml version="1.0" encoding="utf-8"?>
<p:tagLst xmlns:p="http://schemas.openxmlformats.org/presentationml/2006/main">
  <p:tag name="KSO_WM_DIAGRAM_VIRTUALLY_FRAME" val="{&quot;height&quot;:328.50000000000006,&quot;left&quot;:65.25,&quot;top&quot;:159.12503937007872,&quot;width&quot;:552}"/>
</p:tagLst>
</file>

<file path=ppt/tags/tag10.xml><?xml version="1.0" encoding="utf-8"?>
<p:tagLst xmlns:p="http://schemas.openxmlformats.org/presentationml/2006/main">
  <p:tag name="KSO_WM_DIAGRAM_VIRTUALLY_FRAME" val="{&quot;height&quot;:328.50000000000006,&quot;left&quot;:65.25,&quot;top&quot;:159.12503937007872,&quot;width&quot;:552}"/>
</p:tagLst>
</file>

<file path=ppt/tags/tag11.xml><?xml version="1.0" encoding="utf-8"?>
<p:tagLst xmlns:p="http://schemas.openxmlformats.org/presentationml/2006/main">
  <p:tag name="KSO_WM_DIAGRAM_VIRTUALLY_FRAME" val="{&quot;height&quot;:328.50000000000006,&quot;left&quot;:65.25,&quot;top&quot;:159.12503937007872,&quot;width&quot;:552}"/>
</p:tagLst>
</file>

<file path=ppt/tags/tag12.xml><?xml version="1.0" encoding="utf-8"?>
<p:tagLst xmlns:p="http://schemas.openxmlformats.org/presentationml/2006/main">
  <p:tag name="KSO_WM_DIAGRAM_VIRTUALLY_FRAME" val="{&quot;height&quot;:328.50000000000006,&quot;left&quot;:65.25,&quot;top&quot;:159.12503937007872,&quot;width&quot;:552}"/>
</p:tagLst>
</file>

<file path=ppt/tags/tag13.xml><?xml version="1.0" encoding="utf-8"?>
<p:tagLst xmlns:p="http://schemas.openxmlformats.org/presentationml/2006/main">
  <p:tag name="KSO_WM_DIAGRAM_VIRTUALLY_FRAME" val="{&quot;height&quot;:328.50000000000006,&quot;left&quot;:65.25,&quot;top&quot;:159.12503937007872,&quot;width&quot;:552}"/>
</p:tagLst>
</file>

<file path=ppt/tags/tag14.xml><?xml version="1.0" encoding="utf-8"?>
<p:tagLst xmlns:p="http://schemas.openxmlformats.org/presentationml/2006/main">
  <p:tag name="KSO_WM_DIAGRAM_VIRTUALLY_FRAME" val="{&quot;height&quot;:328.50000000000006,&quot;left&quot;:65.25,&quot;top&quot;:159.12503937007872,&quot;width&quot;:552}"/>
</p:tagLst>
</file>

<file path=ppt/tags/tag15.xml><?xml version="1.0" encoding="utf-8"?>
<p:tagLst xmlns:p="http://schemas.openxmlformats.org/presentationml/2006/main">
  <p:tag name="KSO_WM_DIAGRAM_VIRTUALLY_FRAME" val="{&quot;height&quot;:328.50000000000006,&quot;left&quot;:65.25,&quot;top&quot;:159.12503937007872,&quot;width&quot;:552}"/>
</p:tagLst>
</file>

<file path=ppt/tags/tag16.xml><?xml version="1.0" encoding="utf-8"?>
<p:tagLst xmlns:p="http://schemas.openxmlformats.org/presentationml/2006/main">
  <p:tag name="KSO_WM_DIAGRAM_VIRTUALLY_FRAME" val="{&quot;height&quot;:328.50000000000006,&quot;left&quot;:65.25,&quot;top&quot;:159.12503937007872,&quot;width&quot;:552}"/>
</p:tagLst>
</file>

<file path=ppt/tags/tag17.xml><?xml version="1.0" encoding="utf-8"?>
<p:tagLst xmlns:p="http://schemas.openxmlformats.org/presentationml/2006/main">
  <p:tag name="KSO_WM_DIAGRAM_VIRTUALLY_FRAME" val="{&quot;height&quot;:328.50000000000006,&quot;left&quot;:65.25,&quot;top&quot;:159.12503937007872,&quot;width&quot;:552}"/>
</p:tagLst>
</file>

<file path=ppt/tags/tag18.xml><?xml version="1.0" encoding="utf-8"?>
<p:tagLst xmlns:p="http://schemas.openxmlformats.org/presentationml/2006/main">
  <p:tag name="KSO_WM_DIAGRAM_VIRTUALLY_FRAME" val="{&quot;height&quot;:328.50000000000006,&quot;left&quot;:65.25,&quot;top&quot;:159.12503937007872,&quot;width&quot;:552}"/>
</p:tagLst>
</file>

<file path=ppt/tags/tag19.xml><?xml version="1.0" encoding="utf-8"?>
<p:tagLst xmlns:p="http://schemas.openxmlformats.org/presentationml/2006/main">
  <p:tag name="COMMONDATA" val="eyJoZGlkIjoiOTdhNWNjNzkyNjhlYTk0YzYzZDdhYzA5YzlmNTk1YTUifQ=="/>
</p:tagLst>
</file>

<file path=ppt/theme/theme1.xml><?xml version="1.0" encoding="utf-8"?>
<a:theme xmlns:a="http://schemas.openxmlformats.org/drawingml/2006/main" name="062TGp_hosting_blue_v3">
  <a:themeElements>
    <a:clrScheme name="062TGp_hosting_blue_v3 3">
      <a:dk1>
        <a:srgbClr val="000066"/>
      </a:dk1>
      <a:lt1>
        <a:srgbClr val="FFFFFF"/>
      </a:lt1>
      <a:dk2>
        <a:srgbClr val="3C68F4"/>
      </a:dk2>
      <a:lt2>
        <a:srgbClr val="DDDDDD"/>
      </a:lt2>
      <a:accent1>
        <a:srgbClr val="96DAF2"/>
      </a:accent1>
      <a:accent2>
        <a:srgbClr val="8C50E4"/>
      </a:accent2>
      <a:accent3>
        <a:srgbClr val="FFFFFF"/>
      </a:accent3>
      <a:accent4>
        <a:srgbClr val="000056"/>
      </a:accent4>
      <a:accent5>
        <a:srgbClr val="C9EAF7"/>
      </a:accent5>
      <a:accent6>
        <a:srgbClr val="7E48CF"/>
      </a:accent6>
      <a:hlink>
        <a:srgbClr val="8A9EB2"/>
      </a:hlink>
      <a:folHlink>
        <a:srgbClr val="AFC456"/>
      </a:folHlink>
    </a:clrScheme>
    <a:fontScheme name="062TGp_hosting_blue_v3">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altLang="zh-CN"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altLang="zh-CN"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062TGp_hosting_blue_v3 1">
        <a:dk1>
          <a:srgbClr val="663300"/>
        </a:dk1>
        <a:lt1>
          <a:srgbClr val="FFFFFF"/>
        </a:lt1>
        <a:dk2>
          <a:srgbClr val="669900"/>
        </a:dk2>
        <a:lt2>
          <a:srgbClr val="DDDDDD"/>
        </a:lt2>
        <a:accent1>
          <a:srgbClr val="B1C137"/>
        </a:accent1>
        <a:accent2>
          <a:srgbClr val="CFA437"/>
        </a:accent2>
        <a:accent3>
          <a:srgbClr val="FFFFFF"/>
        </a:accent3>
        <a:accent4>
          <a:srgbClr val="562A00"/>
        </a:accent4>
        <a:accent5>
          <a:srgbClr val="D5DDAE"/>
        </a:accent5>
        <a:accent6>
          <a:srgbClr val="BB9431"/>
        </a:accent6>
        <a:hlink>
          <a:srgbClr val="B2572A"/>
        </a:hlink>
        <a:folHlink>
          <a:srgbClr val="3672AE"/>
        </a:folHlink>
      </a:clrScheme>
      <a:clrMap bg1="lt1" tx1="dk1" bg2="lt2" tx2="dk2" accent1="accent1" accent2="accent2" accent3="accent3" accent4="accent4" accent5="accent5" accent6="accent6" hlink="hlink" folHlink="folHlink"/>
    </a:extraClrScheme>
    <a:extraClrScheme>
      <a:clrScheme name="062TGp_hosting_blue_v3 2">
        <a:dk1>
          <a:srgbClr val="000066"/>
        </a:dk1>
        <a:lt1>
          <a:srgbClr val="FFFFFF"/>
        </a:lt1>
        <a:dk2>
          <a:srgbClr val="1D98C3"/>
        </a:dk2>
        <a:lt2>
          <a:srgbClr val="DDDDDD"/>
        </a:lt2>
        <a:accent1>
          <a:srgbClr val="96B0F2"/>
        </a:accent1>
        <a:accent2>
          <a:srgbClr val="5375E1"/>
        </a:accent2>
        <a:accent3>
          <a:srgbClr val="FFFFFF"/>
        </a:accent3>
        <a:accent4>
          <a:srgbClr val="000056"/>
        </a:accent4>
        <a:accent5>
          <a:srgbClr val="C9D4F7"/>
        </a:accent5>
        <a:accent6>
          <a:srgbClr val="4A69CC"/>
        </a:accent6>
        <a:hlink>
          <a:srgbClr val="97BD37"/>
        </a:hlink>
        <a:folHlink>
          <a:srgbClr val="008080"/>
        </a:folHlink>
      </a:clrScheme>
      <a:clrMap bg1="lt1" tx1="dk1" bg2="lt2" tx2="dk2" accent1="accent1" accent2="accent2" accent3="accent3" accent4="accent4" accent5="accent5" accent6="accent6" hlink="hlink" folHlink="folHlink"/>
    </a:extraClrScheme>
    <a:extraClrScheme>
      <a:clrScheme name="062TGp_hosting_blue_v3 3">
        <a:dk1>
          <a:srgbClr val="000066"/>
        </a:dk1>
        <a:lt1>
          <a:srgbClr val="FFFFFF"/>
        </a:lt1>
        <a:dk2>
          <a:srgbClr val="3C68F4"/>
        </a:dk2>
        <a:lt2>
          <a:srgbClr val="DDDDDD"/>
        </a:lt2>
        <a:accent1>
          <a:srgbClr val="96DAF2"/>
        </a:accent1>
        <a:accent2>
          <a:srgbClr val="8C50E4"/>
        </a:accent2>
        <a:accent3>
          <a:srgbClr val="FFFFFF"/>
        </a:accent3>
        <a:accent4>
          <a:srgbClr val="000056"/>
        </a:accent4>
        <a:accent5>
          <a:srgbClr val="C9EAF7"/>
        </a:accent5>
        <a:accent6>
          <a:srgbClr val="7E48CF"/>
        </a:accent6>
        <a:hlink>
          <a:srgbClr val="8A9EB2"/>
        </a:hlink>
        <a:folHlink>
          <a:srgbClr val="AFC45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062TGp_hosting_blue_v3">
  <a:themeElements>
    <a:clrScheme name="1_062TGp_hosting_blue_v3 3">
      <a:dk1>
        <a:srgbClr val="000066"/>
      </a:dk1>
      <a:lt1>
        <a:srgbClr val="FFFFFF"/>
      </a:lt1>
      <a:dk2>
        <a:srgbClr val="3C68F4"/>
      </a:dk2>
      <a:lt2>
        <a:srgbClr val="DDDDDD"/>
      </a:lt2>
      <a:accent1>
        <a:srgbClr val="96DAF2"/>
      </a:accent1>
      <a:accent2>
        <a:srgbClr val="8C50E4"/>
      </a:accent2>
      <a:accent3>
        <a:srgbClr val="FFFFFF"/>
      </a:accent3>
      <a:accent4>
        <a:srgbClr val="000056"/>
      </a:accent4>
      <a:accent5>
        <a:srgbClr val="C9EAF7"/>
      </a:accent5>
      <a:accent6>
        <a:srgbClr val="7E48CF"/>
      </a:accent6>
      <a:hlink>
        <a:srgbClr val="8A9EB2"/>
      </a:hlink>
      <a:folHlink>
        <a:srgbClr val="AFC456"/>
      </a:folHlink>
    </a:clrScheme>
    <a:fontScheme name="1_062TGp_hosting_blue_v3">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altLang="zh-CN"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en-US" altLang="zh-CN"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062TGp_hosting_blue_v3 1">
        <a:dk1>
          <a:srgbClr val="663300"/>
        </a:dk1>
        <a:lt1>
          <a:srgbClr val="FFFFFF"/>
        </a:lt1>
        <a:dk2>
          <a:srgbClr val="669900"/>
        </a:dk2>
        <a:lt2>
          <a:srgbClr val="DDDDDD"/>
        </a:lt2>
        <a:accent1>
          <a:srgbClr val="B1C137"/>
        </a:accent1>
        <a:accent2>
          <a:srgbClr val="CFA437"/>
        </a:accent2>
        <a:accent3>
          <a:srgbClr val="FFFFFF"/>
        </a:accent3>
        <a:accent4>
          <a:srgbClr val="562A00"/>
        </a:accent4>
        <a:accent5>
          <a:srgbClr val="D5DDAE"/>
        </a:accent5>
        <a:accent6>
          <a:srgbClr val="BB9431"/>
        </a:accent6>
        <a:hlink>
          <a:srgbClr val="B2572A"/>
        </a:hlink>
        <a:folHlink>
          <a:srgbClr val="3672AE"/>
        </a:folHlink>
      </a:clrScheme>
      <a:clrMap bg1="lt1" tx1="dk1" bg2="lt2" tx2="dk2" accent1="accent1" accent2="accent2" accent3="accent3" accent4="accent4" accent5="accent5" accent6="accent6" hlink="hlink" folHlink="folHlink"/>
    </a:extraClrScheme>
    <a:extraClrScheme>
      <a:clrScheme name="1_062TGp_hosting_blue_v3 2">
        <a:dk1>
          <a:srgbClr val="000066"/>
        </a:dk1>
        <a:lt1>
          <a:srgbClr val="FFFFFF"/>
        </a:lt1>
        <a:dk2>
          <a:srgbClr val="1D98C3"/>
        </a:dk2>
        <a:lt2>
          <a:srgbClr val="DDDDDD"/>
        </a:lt2>
        <a:accent1>
          <a:srgbClr val="96B0F2"/>
        </a:accent1>
        <a:accent2>
          <a:srgbClr val="5375E1"/>
        </a:accent2>
        <a:accent3>
          <a:srgbClr val="FFFFFF"/>
        </a:accent3>
        <a:accent4>
          <a:srgbClr val="000056"/>
        </a:accent4>
        <a:accent5>
          <a:srgbClr val="C9D4F7"/>
        </a:accent5>
        <a:accent6>
          <a:srgbClr val="4A69CC"/>
        </a:accent6>
        <a:hlink>
          <a:srgbClr val="97BD37"/>
        </a:hlink>
        <a:folHlink>
          <a:srgbClr val="008080"/>
        </a:folHlink>
      </a:clrScheme>
      <a:clrMap bg1="lt1" tx1="dk1" bg2="lt2" tx2="dk2" accent1="accent1" accent2="accent2" accent3="accent3" accent4="accent4" accent5="accent5" accent6="accent6" hlink="hlink" folHlink="folHlink"/>
    </a:extraClrScheme>
    <a:extraClrScheme>
      <a:clrScheme name="1_062TGp_hosting_blue_v3 3">
        <a:dk1>
          <a:srgbClr val="000066"/>
        </a:dk1>
        <a:lt1>
          <a:srgbClr val="FFFFFF"/>
        </a:lt1>
        <a:dk2>
          <a:srgbClr val="3C68F4"/>
        </a:dk2>
        <a:lt2>
          <a:srgbClr val="DDDDDD"/>
        </a:lt2>
        <a:accent1>
          <a:srgbClr val="96DAF2"/>
        </a:accent1>
        <a:accent2>
          <a:srgbClr val="8C50E4"/>
        </a:accent2>
        <a:accent3>
          <a:srgbClr val="FFFFFF"/>
        </a:accent3>
        <a:accent4>
          <a:srgbClr val="000056"/>
        </a:accent4>
        <a:accent5>
          <a:srgbClr val="C9EAF7"/>
        </a:accent5>
        <a:accent6>
          <a:srgbClr val="7E48CF"/>
        </a:accent6>
        <a:hlink>
          <a:srgbClr val="8A9EB2"/>
        </a:hlink>
        <a:folHlink>
          <a:srgbClr val="AFC45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24414</Words>
  <Application>WPS 演示</Application>
  <PresentationFormat>全屏显示(4:3)</PresentationFormat>
  <Paragraphs>2794</Paragraphs>
  <Slides>185</Slides>
  <Notes>6</Notes>
  <HiddenSlides>0</HiddenSlides>
  <MMClips>0</MMClips>
  <ScaleCrop>false</ScaleCrop>
  <HeadingPairs>
    <vt:vector size="8" baseType="variant">
      <vt:variant>
        <vt:lpstr>已用的字体</vt:lpstr>
      </vt:variant>
      <vt:variant>
        <vt:i4>24</vt:i4>
      </vt:variant>
      <vt:variant>
        <vt:lpstr>主题</vt:lpstr>
      </vt:variant>
      <vt:variant>
        <vt:i4>2</vt:i4>
      </vt:variant>
      <vt:variant>
        <vt:lpstr>嵌入 OLE 服务器</vt:lpstr>
      </vt:variant>
      <vt:variant>
        <vt:i4>0</vt:i4>
      </vt:variant>
      <vt:variant>
        <vt:lpstr>幻灯片标题</vt:lpstr>
      </vt:variant>
      <vt:variant>
        <vt:i4>185</vt:i4>
      </vt:variant>
    </vt:vector>
  </HeadingPairs>
  <TitlesOfParts>
    <vt:vector size="211" baseType="lpstr">
      <vt:lpstr>Arial</vt:lpstr>
      <vt:lpstr>宋体</vt:lpstr>
      <vt:lpstr>Wingdings</vt:lpstr>
      <vt:lpstr>Calibri</vt:lpstr>
      <vt:lpstr>隶书</vt:lpstr>
      <vt:lpstr>Times New Roman</vt:lpstr>
      <vt:lpstr>Verdana</vt:lpstr>
      <vt:lpstr>楷体_GB2312</vt:lpstr>
      <vt:lpstr>新宋体</vt:lpstr>
      <vt:lpstr>微软雅黑</vt:lpstr>
      <vt:lpstr>Arial Unicode MS</vt:lpstr>
      <vt:lpstr>黑体</vt:lpstr>
      <vt:lpstr>Symbol</vt:lpstr>
      <vt:lpstr>Tahoma</vt:lpstr>
      <vt:lpstr>_x000B__x000C_</vt:lpstr>
      <vt:lpstr>SWAstro</vt:lpstr>
      <vt:lpstr>PMingLiU</vt:lpstr>
      <vt:lpstr>MingLiU-ExtB</vt:lpstr>
      <vt:lpstr>PMingLiU</vt:lpstr>
      <vt:lpstr>Symbol</vt:lpstr>
      <vt:lpstr>Wingdings</vt:lpstr>
      <vt:lpstr>_x000B__x000C_</vt:lpstr>
      <vt:lpstr>楷体_GB2312</vt:lpstr>
      <vt:lpstr>方正楷体_GB2312</vt:lpstr>
      <vt:lpstr>062TGp_hosting_blue_v3</vt:lpstr>
      <vt:lpstr>1_062TGp_hosting_blue_v3</vt:lpstr>
      <vt:lpstr>汇编语言与微机原理</vt:lpstr>
      <vt:lpstr>Di            第三章 指令系统 </vt:lpstr>
      <vt:lpstr>3.1 指令与指令系统</vt:lpstr>
      <vt:lpstr>PowerPoint 演示文稿</vt:lpstr>
      <vt:lpstr>指令的执行速度</vt:lpstr>
      <vt:lpstr>PowerPoint 演示文稿</vt:lpstr>
      <vt:lpstr>PowerPoint 演示文稿</vt:lpstr>
      <vt:lpstr>PowerPoint 演示文稿</vt:lpstr>
      <vt:lpstr> （1）一般数据传送指令</vt:lpstr>
      <vt:lpstr>PowerPoint 演示文稿</vt:lpstr>
      <vt:lpstr>PowerPoint 演示文稿</vt:lpstr>
      <vt:lpstr>例1</vt:lpstr>
      <vt:lpstr>例2例</vt:lpstr>
      <vt:lpstr>PowerPoint 演示文稿</vt:lpstr>
      <vt:lpstr>上段程序在代码段中的存放形式</vt:lpstr>
      <vt:lpstr>数据段中的分布 </vt:lpstr>
      <vt:lpstr>（2）堆栈操作指令</vt:lpstr>
      <vt:lpstr>压栈指令 PUSH</vt:lpstr>
      <vt:lpstr>压栈指令的操作</vt:lpstr>
      <vt:lpstr>出栈指令POP</vt:lpstr>
      <vt:lpstr>出栈指令的操作</vt:lpstr>
      <vt:lpstr>堆栈操作指令说明</vt:lpstr>
      <vt:lpstr>例：</vt:lpstr>
      <vt:lpstr>（3）交换指令</vt:lpstr>
      <vt:lpstr>（4）查表指令</vt:lpstr>
      <vt:lpstr>例：</vt:lpstr>
      <vt:lpstr>PowerPoint 演示文稿</vt:lpstr>
      <vt:lpstr>（5）字位扩展指令 </vt:lpstr>
      <vt:lpstr>字节到字的扩展指令</vt:lpstr>
      <vt:lpstr>字到双字的扩展指令</vt:lpstr>
      <vt:lpstr>例：</vt:lpstr>
      <vt:lpstr>PowerPoint 演示文稿</vt:lpstr>
      <vt:lpstr>PowerPoint 演示文稿</vt:lpstr>
      <vt:lpstr>例：</vt:lpstr>
      <vt:lpstr>PowerPoint 演示文稿</vt:lpstr>
      <vt:lpstr>（1）取偏移地址指令LEA</vt:lpstr>
      <vt:lpstr>PowerPoint 演示文稿</vt:lpstr>
      <vt:lpstr>PowerPoint 演示文稿</vt:lpstr>
      <vt:lpstr>PowerPoint 演示文稿</vt:lpstr>
      <vt:lpstr>PowerPoint 演示文稿</vt:lpstr>
      <vt:lpstr>（2）LDS指令</vt:lpstr>
      <vt:lpstr>PowerPoint 演示文稿</vt:lpstr>
      <vt:lpstr>PowerPoint 演示文稿</vt:lpstr>
      <vt:lpstr>PowerPoint 演示文稿</vt:lpstr>
      <vt:lpstr>（1）LAHF，SAHF</vt:lpstr>
      <vt:lpstr>（2）PUSHF，POPF</vt:lpstr>
      <vt:lpstr>PowerPoint 演示文稿</vt:lpstr>
      <vt:lpstr>PowerPoint 演示文稿</vt:lpstr>
      <vt:lpstr>（1）ADD指令</vt:lpstr>
      <vt:lpstr>PowerPoint 演示文稿</vt:lpstr>
      <vt:lpstr>PowerPoint 演示文稿</vt:lpstr>
      <vt:lpstr>（2）ADC指令</vt:lpstr>
      <vt:lpstr>例：求两个20B数的和</vt:lpstr>
      <vt:lpstr>（3）INC指令</vt:lpstr>
      <vt:lpstr>PowerPoint 演示文稿</vt:lpstr>
      <vt:lpstr>（1）SUB指令</vt:lpstr>
      <vt:lpstr>（2）SBB指令</vt:lpstr>
      <vt:lpstr>（3）DEC指令</vt:lpstr>
      <vt:lpstr>例：</vt:lpstr>
      <vt:lpstr>（4）NEG指令（求补指令）</vt:lpstr>
      <vt:lpstr>（5）CMP指令</vt:lpstr>
      <vt:lpstr>PowerPoint 演示文稿</vt:lpstr>
      <vt:lpstr>PowerPoint 演示文稿</vt:lpstr>
      <vt:lpstr>例：</vt:lpstr>
      <vt:lpstr>PowerPoint 演示文稿</vt:lpstr>
      <vt:lpstr>（1）无符号数乘法指令</vt:lpstr>
      <vt:lpstr>PowerPoint 演示文稿</vt:lpstr>
      <vt:lpstr>（2）带符号数乘法指令</vt:lpstr>
      <vt:lpstr>PowerPoint 演示文稿</vt:lpstr>
      <vt:lpstr>PowerPoint 演示文稿</vt:lpstr>
      <vt:lpstr>PowerPoint 演示文稿</vt:lpstr>
      <vt:lpstr>（1）无符号数除法指令</vt:lpstr>
      <vt:lpstr>PowerPoint 演示文稿</vt:lpstr>
      <vt:lpstr>（2）有符号数除法指令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（1）“与”指令AND：</vt:lpstr>
      <vt:lpstr>“与”指令的应用</vt:lpstr>
      <vt:lpstr>PowerPoint 演示文稿</vt:lpstr>
      <vt:lpstr>PowerPoint 演示文稿</vt:lpstr>
      <vt:lpstr>PowerPoint 演示文稿</vt:lpstr>
      <vt:lpstr>（2）“或”运算指令OR</vt:lpstr>
      <vt:lpstr>“或”指令的应用</vt:lpstr>
      <vt:lpstr>【例】奇偶校验</vt:lpstr>
      <vt:lpstr>（3）“非”运算指令</vt:lpstr>
      <vt:lpstr>（4）“异或”运算指令</vt:lpstr>
      <vt:lpstr>（5）“测试”指令TEST</vt:lpstr>
      <vt:lpstr>PowerPoint 演示文稿</vt:lpstr>
      <vt:lpstr>PowerPoint 演示文稿</vt:lpstr>
      <vt:lpstr>（1）非循环移位指令</vt:lpstr>
      <vt:lpstr>算术左移和逻辑左移</vt:lpstr>
      <vt:lpstr>PowerPoint 演示文稿</vt:lpstr>
      <vt:lpstr>PowerPoint 演示文稿</vt:lpstr>
      <vt:lpstr>PowerPoint 演示文稿</vt:lpstr>
      <vt:lpstr>逻辑右移SHR</vt:lpstr>
      <vt:lpstr>例1：</vt:lpstr>
      <vt:lpstr>PowerPoint 演示文稿</vt:lpstr>
      <vt:lpstr>PowerPoint 演示文稿</vt:lpstr>
      <vt:lpstr>算术右移</vt:lpstr>
      <vt:lpstr>PowerPoint 演示文稿</vt:lpstr>
      <vt:lpstr>（2）循环移位指令</vt:lpstr>
      <vt:lpstr>不带进位的循环移位</vt:lpstr>
      <vt:lpstr>带进位的循环移位</vt:lpstr>
      <vt:lpstr>PowerPoint 演示文稿</vt:lpstr>
      <vt:lpstr>PowerPoint 演示文稿</vt:lpstr>
      <vt:lpstr>重复前缀</vt:lpstr>
      <vt:lpstr>串操作指令流程(以传送操作为例)</vt:lpstr>
      <vt:lpstr>串操作指令</vt:lpstr>
      <vt:lpstr>（1）串传送指令</vt:lpstr>
      <vt:lpstr>PowerPoint 演示文稿</vt:lpstr>
      <vt:lpstr>PowerPoint 演示文稿</vt:lpstr>
      <vt:lpstr>（2）串比较指令</vt:lpstr>
      <vt:lpstr>PowerPoint 演示文稿</vt:lpstr>
      <vt:lpstr>（3）串扫描指令</vt:lpstr>
      <vt:lpstr>PowerPoint 演示文稿</vt:lpstr>
      <vt:lpstr>（4）串装入指令</vt:lpstr>
      <vt:lpstr>（5）串存储指令</vt:lpstr>
      <vt:lpstr>PowerPoint 演示文稿</vt:lpstr>
      <vt:lpstr>PowerPoint 演示文稿</vt:lpstr>
      <vt:lpstr>PowerPoint 演示文稿</vt:lpstr>
      <vt:lpstr>PowerPoint 演示文稿</vt:lpstr>
      <vt:lpstr>PowerPoint 演示文稿</vt:lpstr>
      <vt:lpstr>PowerPoint 演示文稿</vt:lpstr>
      <vt:lpstr>（1）段内相对转移</vt:lpstr>
      <vt:lpstr>PowerPoint 演示文稿</vt:lpstr>
      <vt:lpstr>PowerPoint 演示文稿</vt:lpstr>
      <vt:lpstr>（2）段内间接转移</vt:lpstr>
      <vt:lpstr>【例】</vt:lpstr>
      <vt:lpstr>【例】</vt:lpstr>
      <vt:lpstr>（3）段间直接转移</vt:lpstr>
      <vt:lpstr>（4）段间间接转移</vt:lpstr>
      <vt:lpstr>【例】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（1）无条件循环指令</vt:lpstr>
      <vt:lpstr>PowerPoint 演示文稿</vt:lpstr>
      <vt:lpstr>PowerPoint 演示文稿</vt:lpstr>
      <vt:lpstr>PowerPoint 演示文稿</vt:lpstr>
      <vt:lpstr>PowerPoint 演示文稿</vt:lpstr>
      <vt:lpstr>调用指令的执行过程</vt:lpstr>
      <vt:lpstr>过程调用</vt:lpstr>
      <vt:lpstr>PowerPoint 演示文稿</vt:lpstr>
      <vt:lpstr>【例】</vt:lpstr>
      <vt:lpstr>（2）段间调用</vt:lpstr>
      <vt:lpstr>【例】</vt:lpstr>
      <vt:lpstr>PowerPoint 演示文稿</vt:lpstr>
      <vt:lpstr>PowerPoint 演示文稿</vt:lpstr>
      <vt:lpstr>PowerPoint 演示文稿</vt:lpstr>
      <vt:lpstr>PowerPoint 演示文稿</vt:lpstr>
      <vt:lpstr>PowerPoint 演示文稿</vt:lpstr>
      <vt:lpstr>PowerPoint 演示文稿</vt:lpstr>
      <vt:lpstr>中断与过程调用</vt:lpstr>
      <vt:lpstr>（1）中断指令</vt:lpstr>
      <vt:lpstr>中断指令的执行过程</vt:lpstr>
      <vt:lpstr>中断指令的执行过程</vt:lpstr>
      <vt:lpstr>例</vt:lpstr>
      <vt:lpstr>PowerPoint 演示文稿</vt:lpstr>
      <vt:lpstr>（2）溢出中断指令</vt:lpstr>
      <vt:lpstr>（3）中断返回指令</vt:lpstr>
      <vt:lpstr>（6）处理器控制指令</vt:lpstr>
      <vt:lpstr>结束语</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湖熟现代农业示范园农业物联网建设方案</dc:title>
  <dc:creator>a</dc:creator>
  <cp:lastModifiedBy>2017</cp:lastModifiedBy>
  <cp:revision>758</cp:revision>
  <dcterms:created xsi:type="dcterms:W3CDTF">2015-10-08T06:13:00Z</dcterms:created>
  <dcterms:modified xsi:type="dcterms:W3CDTF">2026-03-30T01:14:13Z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33656E0CD9694CB08AAF03AD7DFCE2D5</vt:lpwstr>
  </property>
</Properties>
</file>